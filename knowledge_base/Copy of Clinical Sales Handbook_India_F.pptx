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retendard Bold" charset="1" panose="02000803000000020004"/>
      <p:regular r:id="rId14"/>
    </p:embeddedFont>
    <p:embeddedFont>
      <p:font typeface="Pretendard" charset="1" panose="02000503000000020004"/>
      <p:regular r:id="rId15"/>
    </p:embeddedFont>
    <p:embeddedFont>
      <p:font typeface="Gotham Italics" charset="1" panose="00000000000000000000"/>
      <p:regular r:id="rId16"/>
    </p:embeddedFont>
    <p:embeddedFont>
      <p:font typeface="프리텐다드 Semi-Bold" charset="1" panose="02000703000000020004"/>
      <p:regular r:id="rId17"/>
    </p:embeddedFont>
    <p:embeddedFont>
      <p:font typeface="Pretendard Medium" charset="1" panose="02000603000000020004"/>
      <p:regular r:id="rId18"/>
    </p:embeddedFont>
    <p:embeddedFont>
      <p:font typeface="Canva Sans Bold" charset="1" panose="020B0803030501040103"/>
      <p:regular r:id="rId19"/>
    </p:embeddedFont>
    <p:embeddedFont>
      <p:font typeface="Pretendard Heavy" charset="1" panose="02000A0300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0389" y="2244868"/>
            <a:ext cx="13320673" cy="2090707"/>
            <a:chOff x="0" y="0"/>
            <a:chExt cx="13052628" cy="2048637"/>
          </a:xfrm>
        </p:grpSpPr>
        <p:sp>
          <p:nvSpPr>
            <p:cNvPr name="Freeform 3" id="3"/>
            <p:cNvSpPr/>
            <p:nvPr/>
          </p:nvSpPr>
          <p:spPr>
            <a:xfrm flipH="false" flipV="false" rot="0">
              <a:off x="0" y="0"/>
              <a:ext cx="13052625" cy="2048638"/>
            </a:xfrm>
            <a:custGeom>
              <a:avLst/>
              <a:gdLst/>
              <a:ahLst/>
              <a:cxnLst/>
              <a:rect r="r" b="b" t="t" l="l"/>
              <a:pathLst>
                <a:path h="2048638" w="13052625">
                  <a:moveTo>
                    <a:pt x="0" y="0"/>
                  </a:moveTo>
                  <a:lnTo>
                    <a:pt x="13052625" y="0"/>
                  </a:lnTo>
                  <a:lnTo>
                    <a:pt x="13052625" y="2048638"/>
                  </a:lnTo>
                  <a:lnTo>
                    <a:pt x="0" y="2048638"/>
                  </a:lnTo>
                  <a:close/>
                </a:path>
              </a:pathLst>
            </a:custGeom>
            <a:blipFill>
              <a:blip r:embed="rId2">
                <a:alphaModFix amt="0"/>
              </a:blip>
              <a:stretch>
                <a:fillRect l="0" t="-112226" r="0" b="-36066"/>
              </a:stretch>
            </a:blipFill>
          </p:spPr>
        </p:sp>
        <p:sp>
          <p:nvSpPr>
            <p:cNvPr name="TextBox 4" id="4"/>
            <p:cNvSpPr txBox="true"/>
            <p:nvPr/>
          </p:nvSpPr>
          <p:spPr>
            <a:xfrm>
              <a:off x="0" y="-9525"/>
              <a:ext cx="13052628" cy="2058162"/>
            </a:xfrm>
            <a:prstGeom prst="rect">
              <a:avLst/>
            </a:prstGeom>
          </p:spPr>
          <p:txBody>
            <a:bodyPr anchor="ctr" rtlCol="false" tIns="0" lIns="0" bIns="0" rIns="0"/>
            <a:lstStyle/>
            <a:p>
              <a:pPr algn="l">
                <a:lnSpc>
                  <a:spcPts val="12251"/>
                </a:lnSpc>
              </a:pPr>
              <a:r>
                <a:rPr lang="en-US" sz="10209" b="true">
                  <a:solidFill>
                    <a:srgbClr val="181D27"/>
                  </a:solidFill>
                  <a:latin typeface="Pretendard Bold"/>
                  <a:ea typeface="Pretendard Bold"/>
                  <a:cs typeface="Pretendard Bold"/>
                  <a:sym typeface="Pretendard Bold"/>
                </a:rPr>
                <a:t>Competitor Analysis </a:t>
              </a:r>
            </a:p>
          </p:txBody>
        </p:sp>
      </p:grpSp>
      <p:grpSp>
        <p:nvGrpSpPr>
          <p:cNvPr name="Group 5" id="5"/>
          <p:cNvGrpSpPr/>
          <p:nvPr/>
        </p:nvGrpSpPr>
        <p:grpSpPr>
          <a:xfrm rot="0">
            <a:off x="1390389" y="8436858"/>
            <a:ext cx="13320673" cy="872261"/>
            <a:chOff x="0" y="0"/>
            <a:chExt cx="13052628" cy="854709"/>
          </a:xfrm>
        </p:grpSpPr>
        <p:sp>
          <p:nvSpPr>
            <p:cNvPr name="Freeform 6" id="6"/>
            <p:cNvSpPr/>
            <p:nvPr/>
          </p:nvSpPr>
          <p:spPr>
            <a:xfrm flipH="false" flipV="false" rot="0">
              <a:off x="0" y="0"/>
              <a:ext cx="13052625" cy="854708"/>
            </a:xfrm>
            <a:custGeom>
              <a:avLst/>
              <a:gdLst/>
              <a:ahLst/>
              <a:cxnLst/>
              <a:rect r="r" b="b" t="t" l="l"/>
              <a:pathLst>
                <a:path h="854708" w="13052625">
                  <a:moveTo>
                    <a:pt x="0" y="0"/>
                  </a:moveTo>
                  <a:lnTo>
                    <a:pt x="13052625" y="0"/>
                  </a:lnTo>
                  <a:lnTo>
                    <a:pt x="13052625" y="854708"/>
                  </a:lnTo>
                  <a:lnTo>
                    <a:pt x="0" y="854708"/>
                  </a:lnTo>
                  <a:close/>
                </a:path>
              </a:pathLst>
            </a:custGeom>
            <a:blipFill>
              <a:blip r:embed="rId2">
                <a:alphaModFix amt="0"/>
              </a:blip>
              <a:stretch>
                <a:fillRect l="0" t="-247564" r="0" b="-247564"/>
              </a:stretch>
            </a:blipFill>
          </p:spPr>
        </p:sp>
        <p:sp>
          <p:nvSpPr>
            <p:cNvPr name="TextBox 7" id="7"/>
            <p:cNvSpPr txBox="true"/>
            <p:nvPr/>
          </p:nvSpPr>
          <p:spPr>
            <a:xfrm>
              <a:off x="0" y="-9525"/>
              <a:ext cx="13052628" cy="864234"/>
            </a:xfrm>
            <a:prstGeom prst="rect">
              <a:avLst/>
            </a:prstGeom>
          </p:spPr>
          <p:txBody>
            <a:bodyPr anchor="ctr" rtlCol="false" tIns="0" lIns="0" bIns="0" rIns="0"/>
            <a:lstStyle/>
            <a:p>
              <a:pPr algn="l">
                <a:lnSpc>
                  <a:spcPts val="1962"/>
                </a:lnSpc>
              </a:pPr>
              <a:r>
                <a:rPr lang="en-US" sz="1635" b="true">
                  <a:solidFill>
                    <a:srgbClr val="5E6470"/>
                  </a:solidFill>
                  <a:latin typeface="Pretendard Bold"/>
                  <a:ea typeface="Pretendard Bold"/>
                  <a:cs typeface="Pretendard Bold"/>
                  <a:sym typeface="Pretendard Bold"/>
                </a:rPr>
                <a:t>Clinical</a:t>
              </a:r>
              <a:r>
                <a:rPr lang="en-US" sz="1635" b="true">
                  <a:solidFill>
                    <a:srgbClr val="5E6470"/>
                  </a:solidFill>
                  <a:latin typeface="Pretendard Bold"/>
                  <a:ea typeface="Pretendard Bold"/>
                  <a:cs typeface="Pretendard Bold"/>
                  <a:sym typeface="Pretendard Bold"/>
                </a:rPr>
                <a:t> Workshop</a:t>
              </a:r>
            </a:p>
            <a:p>
              <a:pPr algn="l">
                <a:lnSpc>
                  <a:spcPts val="1962"/>
                </a:lnSpc>
              </a:pPr>
              <a:r>
                <a:rPr lang="en-US" sz="1635" b="true">
                  <a:solidFill>
                    <a:srgbClr val="5E6470"/>
                  </a:solidFill>
                  <a:latin typeface="Pretendard Bold"/>
                  <a:ea typeface="Pretendard Bold"/>
                  <a:cs typeface="Pretendard Bold"/>
                  <a:sym typeface="Pretendard Bold"/>
                </a:rPr>
                <a:t>InBody India  ·  2026</a:t>
              </a:r>
            </a:p>
          </p:txBody>
        </p:sp>
      </p:grpSp>
      <p:sp>
        <p:nvSpPr>
          <p:cNvPr name="Freeform 8" id="8"/>
          <p:cNvSpPr/>
          <p:nvPr/>
        </p:nvSpPr>
        <p:spPr>
          <a:xfrm flipH="false" flipV="false" rot="0">
            <a:off x="15322908" y="676275"/>
            <a:ext cx="2082060" cy="591958"/>
          </a:xfrm>
          <a:custGeom>
            <a:avLst/>
            <a:gdLst/>
            <a:ahLst/>
            <a:cxnLst/>
            <a:rect r="r" b="b" t="t" l="l"/>
            <a:pathLst>
              <a:path h="591958" w="2082060">
                <a:moveTo>
                  <a:pt x="0" y="0"/>
                </a:moveTo>
                <a:lnTo>
                  <a:pt x="2082060" y="0"/>
                </a:lnTo>
                <a:lnTo>
                  <a:pt x="2082060" y="591958"/>
                </a:lnTo>
                <a:lnTo>
                  <a:pt x="0" y="591958"/>
                </a:lnTo>
                <a:lnTo>
                  <a:pt x="0" y="0"/>
                </a:lnTo>
                <a:close/>
              </a:path>
            </a:pathLst>
          </a:custGeom>
          <a:blipFill>
            <a:blip r:embed="rId3"/>
            <a:stretch>
              <a:fillRect l="0" t="0" r="0" b="0"/>
            </a:stretch>
          </a:blipFill>
        </p:spPr>
      </p:sp>
      <p:sp>
        <p:nvSpPr>
          <p:cNvPr name="TextBox 9" id="9"/>
          <p:cNvSpPr txBox="true"/>
          <p:nvPr/>
        </p:nvSpPr>
        <p:spPr>
          <a:xfrm rot="0">
            <a:off x="1650273" y="4410009"/>
            <a:ext cx="8038278" cy="1095375"/>
          </a:xfrm>
          <a:prstGeom prst="rect">
            <a:avLst/>
          </a:prstGeom>
        </p:spPr>
        <p:txBody>
          <a:bodyPr anchor="t" rtlCol="false" tIns="0" lIns="0" bIns="0" rIns="0">
            <a:spAutoFit/>
          </a:bodyPr>
          <a:lstStyle/>
          <a:p>
            <a:pPr algn="l">
              <a:lnSpc>
                <a:spcPts val="2889"/>
              </a:lnSpc>
            </a:pPr>
            <a:r>
              <a:rPr lang="en-US" sz="2407">
                <a:solidFill>
                  <a:srgbClr val="971B2F"/>
                </a:solidFill>
                <a:latin typeface="Pretendard"/>
                <a:ea typeface="Pretendard"/>
                <a:cs typeface="Pretendard"/>
                <a:sym typeface="Pretendard"/>
              </a:rPr>
              <a:t>A comparative overview of competing body composition analyzers, key features, and competitive gaps.</a:t>
            </a:r>
          </a:p>
          <a:p>
            <a:pPr algn="l">
              <a:lnSpc>
                <a:spcPts val="288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1814"/>
            <a:ext cx="18688694" cy="815730"/>
            <a:chOff x="0" y="0"/>
            <a:chExt cx="8051325" cy="351427"/>
          </a:xfrm>
        </p:grpSpPr>
        <p:sp>
          <p:nvSpPr>
            <p:cNvPr name="Freeform 3" id="3"/>
            <p:cNvSpPr/>
            <p:nvPr/>
          </p:nvSpPr>
          <p:spPr>
            <a:xfrm flipH="false" flipV="false" rot="0">
              <a:off x="0" y="0"/>
              <a:ext cx="8051325" cy="351427"/>
            </a:xfrm>
            <a:custGeom>
              <a:avLst/>
              <a:gdLst/>
              <a:ahLst/>
              <a:cxnLst/>
              <a:rect r="r" b="b" t="t" l="l"/>
              <a:pathLst>
                <a:path h="351427" w="8051325">
                  <a:moveTo>
                    <a:pt x="0" y="0"/>
                  </a:moveTo>
                  <a:lnTo>
                    <a:pt x="8051325" y="0"/>
                  </a:lnTo>
                  <a:lnTo>
                    <a:pt x="8051325" y="351427"/>
                  </a:lnTo>
                  <a:lnTo>
                    <a:pt x="0" y="351427"/>
                  </a:lnTo>
                  <a:close/>
                </a:path>
              </a:pathLst>
            </a:custGeom>
            <a:solidFill>
              <a:srgbClr val="FFFFFF">
                <a:alpha val="69804"/>
              </a:srgbClr>
            </a:solidFill>
          </p:spPr>
        </p:sp>
        <p:sp>
          <p:nvSpPr>
            <p:cNvPr name="TextBox 4" id="4"/>
            <p:cNvSpPr txBox="true"/>
            <p:nvPr/>
          </p:nvSpPr>
          <p:spPr>
            <a:xfrm>
              <a:off x="0" y="-9525"/>
              <a:ext cx="8051325" cy="360952"/>
            </a:xfrm>
            <a:prstGeom prst="rect">
              <a:avLst/>
            </a:prstGeom>
          </p:spPr>
          <p:txBody>
            <a:bodyPr anchor="ctr" rtlCol="false" tIns="69432" lIns="69432" bIns="69432" rIns="69432"/>
            <a:lstStyle/>
            <a:p>
              <a:pPr algn="ctr">
                <a:lnSpc>
                  <a:spcPts val="2582"/>
                </a:lnSpc>
              </a:pPr>
            </a:p>
          </p:txBody>
        </p:sp>
      </p:grpSp>
      <p:grpSp>
        <p:nvGrpSpPr>
          <p:cNvPr name="Group 5" id="5"/>
          <p:cNvGrpSpPr/>
          <p:nvPr/>
        </p:nvGrpSpPr>
        <p:grpSpPr>
          <a:xfrm rot="0">
            <a:off x="-116008" y="0"/>
            <a:ext cx="18520017" cy="1199668"/>
            <a:chOff x="0" y="0"/>
            <a:chExt cx="4723370" cy="305965"/>
          </a:xfrm>
        </p:grpSpPr>
        <p:sp>
          <p:nvSpPr>
            <p:cNvPr name="Freeform 6" id="6"/>
            <p:cNvSpPr/>
            <p:nvPr/>
          </p:nvSpPr>
          <p:spPr>
            <a:xfrm flipH="false" flipV="false" rot="0">
              <a:off x="0" y="0"/>
              <a:ext cx="4723370" cy="305965"/>
            </a:xfrm>
            <a:custGeom>
              <a:avLst/>
              <a:gdLst/>
              <a:ahLst/>
              <a:cxnLst/>
              <a:rect r="r" b="b" t="t" l="l"/>
              <a:pathLst>
                <a:path h="305965" w="4723370">
                  <a:moveTo>
                    <a:pt x="0" y="0"/>
                  </a:moveTo>
                  <a:lnTo>
                    <a:pt x="4723370" y="0"/>
                  </a:lnTo>
                  <a:lnTo>
                    <a:pt x="4723370" y="305965"/>
                  </a:lnTo>
                  <a:lnTo>
                    <a:pt x="0" y="305965"/>
                  </a:lnTo>
                  <a:close/>
                </a:path>
              </a:pathLst>
            </a:custGeom>
            <a:solidFill>
              <a:srgbClr val="F0F2F5"/>
            </a:solidFill>
          </p:spPr>
        </p:sp>
        <p:sp>
          <p:nvSpPr>
            <p:cNvPr name="TextBox 7" id="7"/>
            <p:cNvSpPr txBox="true"/>
            <p:nvPr/>
          </p:nvSpPr>
          <p:spPr>
            <a:xfrm>
              <a:off x="0" y="-19050"/>
              <a:ext cx="4723370" cy="325015"/>
            </a:xfrm>
            <a:prstGeom prst="rect">
              <a:avLst/>
            </a:prstGeom>
          </p:spPr>
          <p:txBody>
            <a:bodyPr anchor="ctr" rtlCol="false" tIns="69432" lIns="69432" bIns="69432" rIns="69432"/>
            <a:lstStyle/>
            <a:p>
              <a:pPr algn="ctr">
                <a:lnSpc>
                  <a:spcPts val="1599"/>
                </a:lnSpc>
              </a:pPr>
            </a:p>
          </p:txBody>
        </p:sp>
      </p:grpSp>
      <p:sp>
        <p:nvSpPr>
          <p:cNvPr name="Freeform 8" id="8"/>
          <p:cNvSpPr/>
          <p:nvPr/>
        </p:nvSpPr>
        <p:spPr>
          <a:xfrm flipH="false" flipV="false" rot="0">
            <a:off x="-336445" y="266457"/>
            <a:ext cx="19025139" cy="762243"/>
          </a:xfrm>
          <a:custGeom>
            <a:avLst/>
            <a:gdLst/>
            <a:ahLst/>
            <a:cxnLst/>
            <a:rect r="r" b="b" t="t" l="l"/>
            <a:pathLst>
              <a:path h="762243" w="19025139">
                <a:moveTo>
                  <a:pt x="0" y="0"/>
                </a:moveTo>
                <a:lnTo>
                  <a:pt x="19025139" y="0"/>
                </a:lnTo>
                <a:lnTo>
                  <a:pt x="19025139" y="762243"/>
                </a:lnTo>
                <a:lnTo>
                  <a:pt x="0" y="762243"/>
                </a:lnTo>
                <a:lnTo>
                  <a:pt x="0" y="0"/>
                </a:lnTo>
                <a:close/>
              </a:path>
            </a:pathLst>
          </a:custGeom>
          <a:blipFill>
            <a:blip r:embed="rId2"/>
            <a:stretch>
              <a:fillRect l="0" t="-1896850" r="0" b="-12381"/>
            </a:stretch>
          </a:blipFill>
        </p:spPr>
      </p:sp>
      <p:sp>
        <p:nvSpPr>
          <p:cNvPr name="TextBox 9" id="9"/>
          <p:cNvSpPr txBox="true"/>
          <p:nvPr/>
        </p:nvSpPr>
        <p:spPr>
          <a:xfrm rot="0">
            <a:off x="134143" y="1345300"/>
            <a:ext cx="16760807" cy="666750"/>
          </a:xfrm>
          <a:prstGeom prst="rect">
            <a:avLst/>
          </a:prstGeom>
        </p:spPr>
        <p:txBody>
          <a:bodyPr anchor="t" rtlCol="false" tIns="0" lIns="0" bIns="0" rIns="0">
            <a:spAutoFit/>
          </a:bodyPr>
          <a:lstStyle/>
          <a:p>
            <a:pPr algn="l" marL="0" indent="0" lvl="0">
              <a:lnSpc>
                <a:spcPts val="2666"/>
              </a:lnSpc>
            </a:pPr>
            <a:r>
              <a:rPr lang="en-US" sz="2222" i="true">
                <a:solidFill>
                  <a:srgbClr val="101820"/>
                </a:solidFill>
                <a:latin typeface="Gotham Italics"/>
                <a:ea typeface="Gotham Italics"/>
                <a:cs typeface="Gotham Italics"/>
                <a:sym typeface="Gotham Italics"/>
              </a:rPr>
              <a:t>Tanita has</a:t>
            </a:r>
            <a:r>
              <a:rPr lang="en-US" sz="2222" i="true">
                <a:solidFill>
                  <a:srgbClr val="101820"/>
                </a:solidFill>
                <a:latin typeface="Gotham Italics"/>
                <a:ea typeface="Gotham Italics"/>
                <a:cs typeface="Gotham Italics"/>
                <a:sym typeface="Gotham Italics"/>
              </a:rPr>
              <a:t> a broad product range, from professional segmental analyzers such as the MC-980MA Plus to po</a:t>
            </a:r>
            <a:r>
              <a:rPr lang="en-US" sz="2222" i="true">
                <a:solidFill>
                  <a:srgbClr val="101820"/>
                </a:solidFill>
                <a:latin typeface="Gotham Italics"/>
                <a:ea typeface="Gotham Italics"/>
                <a:cs typeface="Gotham Italics"/>
                <a:sym typeface="Gotham Italics"/>
              </a:rPr>
              <a:t>r</a:t>
            </a:r>
            <a:r>
              <a:rPr lang="en-US" sz="2222" i="true">
                <a:solidFill>
                  <a:srgbClr val="101820"/>
                </a:solidFill>
                <a:latin typeface="Gotham Italics"/>
                <a:ea typeface="Gotham Italics"/>
                <a:cs typeface="Gotham Italics"/>
                <a:sym typeface="Gotham Italics"/>
              </a:rPr>
              <a:t>tabl</a:t>
            </a:r>
            <a:r>
              <a:rPr lang="en-US" sz="2222" i="true">
                <a:solidFill>
                  <a:srgbClr val="101820"/>
                </a:solidFill>
                <a:latin typeface="Gotham Italics"/>
                <a:ea typeface="Gotham Italics"/>
                <a:cs typeface="Gotham Italics"/>
                <a:sym typeface="Gotham Italics"/>
              </a:rPr>
              <a:t>e a</a:t>
            </a:r>
            <a:r>
              <a:rPr lang="en-US" sz="2222" i="true">
                <a:solidFill>
                  <a:srgbClr val="101820"/>
                </a:solidFill>
                <a:latin typeface="Gotham Italics"/>
                <a:ea typeface="Gotham Italics"/>
                <a:cs typeface="Gotham Italics"/>
                <a:sym typeface="Gotham Italics"/>
              </a:rPr>
              <a:t>nd consum</a:t>
            </a:r>
            <a:r>
              <a:rPr lang="en-US" sz="2222" i="true">
                <a:solidFill>
                  <a:srgbClr val="101820"/>
                </a:solidFill>
                <a:latin typeface="Gotham Italics"/>
                <a:ea typeface="Gotham Italics"/>
                <a:cs typeface="Gotham Italics"/>
                <a:sym typeface="Gotham Italics"/>
              </a:rPr>
              <a:t>er </a:t>
            </a:r>
            <a:r>
              <a:rPr lang="en-US" sz="2222" i="true">
                <a:solidFill>
                  <a:srgbClr val="101820"/>
                </a:solidFill>
                <a:latin typeface="Gotham Italics"/>
                <a:ea typeface="Gotham Italics"/>
                <a:cs typeface="Gotham Italics"/>
                <a:sym typeface="Gotham Italics"/>
              </a:rPr>
              <a:t>body com</a:t>
            </a:r>
            <a:r>
              <a:rPr lang="en-US" sz="2222" i="true">
                <a:solidFill>
                  <a:srgbClr val="101820"/>
                </a:solidFill>
                <a:latin typeface="Gotham Italics"/>
                <a:ea typeface="Gotham Italics"/>
                <a:cs typeface="Gotham Italics"/>
                <a:sym typeface="Gotham Italics"/>
              </a:rPr>
              <a:t>p</a:t>
            </a:r>
            <a:r>
              <a:rPr lang="en-US" sz="2222" i="true">
                <a:solidFill>
                  <a:srgbClr val="101820"/>
                </a:solidFill>
                <a:latin typeface="Gotham Italics"/>
                <a:ea typeface="Gotham Italics"/>
                <a:cs typeface="Gotham Italics"/>
                <a:sym typeface="Gotham Italics"/>
              </a:rPr>
              <a:t>o</a:t>
            </a:r>
            <a:r>
              <a:rPr lang="en-US" sz="2222" i="true">
                <a:solidFill>
                  <a:srgbClr val="101820"/>
                </a:solidFill>
                <a:latin typeface="Gotham Italics"/>
                <a:ea typeface="Gotham Italics"/>
                <a:cs typeface="Gotham Italics"/>
                <a:sym typeface="Gotham Italics"/>
              </a:rPr>
              <a:t>sition</a:t>
            </a:r>
            <a:r>
              <a:rPr lang="en-US" sz="2222" i="true">
                <a:solidFill>
                  <a:srgbClr val="101820"/>
                </a:solidFill>
                <a:latin typeface="Gotham Italics"/>
                <a:ea typeface="Gotham Italics"/>
                <a:cs typeface="Gotham Italics"/>
                <a:sym typeface="Gotham Italics"/>
              </a:rPr>
              <a:t> monitors</a:t>
            </a:r>
          </a:p>
        </p:txBody>
      </p:sp>
      <p:grpSp>
        <p:nvGrpSpPr>
          <p:cNvPr name="Group 10" id="10"/>
          <p:cNvGrpSpPr/>
          <p:nvPr/>
        </p:nvGrpSpPr>
        <p:grpSpPr>
          <a:xfrm rot="0">
            <a:off x="329374" y="2126350"/>
            <a:ext cx="15120324" cy="2147284"/>
            <a:chOff x="0" y="0"/>
            <a:chExt cx="20160432" cy="2863045"/>
          </a:xfrm>
        </p:grpSpPr>
        <p:sp>
          <p:nvSpPr>
            <p:cNvPr name="TextBox 11" id="1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12" id="12"/>
            <p:cNvGrpSpPr/>
            <p:nvPr/>
          </p:nvGrpSpPr>
          <p:grpSpPr>
            <a:xfrm rot="0">
              <a:off x="0" y="266157"/>
              <a:ext cx="20160432" cy="2596889"/>
              <a:chOff x="0" y="0"/>
              <a:chExt cx="5807147" cy="748025"/>
            </a:xfrm>
          </p:grpSpPr>
          <p:sp>
            <p:nvSpPr>
              <p:cNvPr name="Freeform 13" id="13"/>
              <p:cNvSpPr/>
              <p:nvPr/>
            </p:nvSpPr>
            <p:spPr>
              <a:xfrm flipH="false" flipV="false" rot="0">
                <a:off x="0" y="0"/>
                <a:ext cx="5807147" cy="748025"/>
              </a:xfrm>
              <a:custGeom>
                <a:avLst/>
                <a:gdLst/>
                <a:ahLst/>
                <a:cxnLst/>
                <a:rect r="r" b="b" t="t" l="l"/>
                <a:pathLst>
                  <a:path h="748025" w="5807147">
                    <a:moveTo>
                      <a:pt x="5034" y="0"/>
                    </a:moveTo>
                    <a:lnTo>
                      <a:pt x="5802113" y="0"/>
                    </a:lnTo>
                    <a:cubicBezTo>
                      <a:pt x="5803448" y="0"/>
                      <a:pt x="5804728" y="530"/>
                      <a:pt x="5805672" y="1474"/>
                    </a:cubicBezTo>
                    <a:cubicBezTo>
                      <a:pt x="5806617" y="2419"/>
                      <a:pt x="5807147" y="3699"/>
                      <a:pt x="5807147" y="5034"/>
                    </a:cubicBezTo>
                    <a:lnTo>
                      <a:pt x="5807147" y="742991"/>
                    </a:lnTo>
                    <a:cubicBezTo>
                      <a:pt x="5807147" y="744326"/>
                      <a:pt x="5806617" y="745607"/>
                      <a:pt x="5805672" y="746551"/>
                    </a:cubicBezTo>
                    <a:cubicBezTo>
                      <a:pt x="5804728" y="747495"/>
                      <a:pt x="5803448" y="748025"/>
                      <a:pt x="5802113" y="748025"/>
                    </a:cubicBezTo>
                    <a:lnTo>
                      <a:pt x="5034" y="748025"/>
                    </a:lnTo>
                    <a:cubicBezTo>
                      <a:pt x="3699" y="748025"/>
                      <a:pt x="2419" y="747495"/>
                      <a:pt x="1474" y="746551"/>
                    </a:cubicBezTo>
                    <a:cubicBezTo>
                      <a:pt x="530" y="745607"/>
                      <a:pt x="0" y="744326"/>
                      <a:pt x="0" y="742991"/>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14" id="14"/>
              <p:cNvSpPr txBox="true"/>
              <p:nvPr/>
            </p:nvSpPr>
            <p:spPr>
              <a:xfrm>
                <a:off x="0" y="-38100"/>
                <a:ext cx="5807147" cy="786125"/>
              </a:xfrm>
              <a:prstGeom prst="rect">
                <a:avLst/>
              </a:prstGeom>
            </p:spPr>
            <p:txBody>
              <a:bodyPr anchor="ctr" rtlCol="false" tIns="14634" lIns="14634" bIns="14634" rIns="14634"/>
              <a:lstStyle/>
              <a:p>
                <a:pPr algn="ctr">
                  <a:lnSpc>
                    <a:spcPts val="1711"/>
                  </a:lnSpc>
                </a:pPr>
              </a:p>
            </p:txBody>
          </p:sp>
        </p:grpSp>
        <p:grpSp>
          <p:nvGrpSpPr>
            <p:cNvPr name="Group 15" id="15"/>
            <p:cNvGrpSpPr/>
            <p:nvPr/>
          </p:nvGrpSpPr>
          <p:grpSpPr>
            <a:xfrm rot="0">
              <a:off x="0" y="266157"/>
              <a:ext cx="20160432" cy="447972"/>
              <a:chOff x="0" y="0"/>
              <a:chExt cx="5883307" cy="130729"/>
            </a:xfrm>
          </p:grpSpPr>
          <p:sp>
            <p:nvSpPr>
              <p:cNvPr name="Freeform 16" id="1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17" id="1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18" id="18"/>
            <p:cNvGrpSpPr/>
            <p:nvPr/>
          </p:nvGrpSpPr>
          <p:grpSpPr>
            <a:xfrm rot="0">
              <a:off x="0" y="535143"/>
              <a:ext cx="20160432" cy="447972"/>
              <a:chOff x="0" y="0"/>
              <a:chExt cx="5883307" cy="130729"/>
            </a:xfrm>
          </p:grpSpPr>
          <p:sp>
            <p:nvSpPr>
              <p:cNvPr name="Freeform 19" id="1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20" id="2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21" id="21"/>
            <p:cNvSpPr txBox="true"/>
            <p:nvPr/>
          </p:nvSpPr>
          <p:spPr>
            <a:xfrm rot="0">
              <a:off x="194826" y="1487936"/>
              <a:ext cx="19770780" cy="8588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V</a:t>
              </a:r>
              <a:r>
                <a:rPr lang="en-US" b="true" sz="1966" spc="-98" strike="noStrike" u="none">
                  <a:solidFill>
                    <a:srgbClr val="101820"/>
                  </a:solidFill>
                  <a:latin typeface="Pretendard Medium"/>
                  <a:ea typeface="Pretendard Medium"/>
                  <a:cs typeface="Pretendard Medium"/>
                  <a:sym typeface="Pretendard Medium"/>
                </a:rPr>
                <a:t>alues are calculated from prediction equations built on reference groups, so accuracy can drop for people who differ from those groups (athletes, elderly, patients with fluid shifts).</a:t>
              </a:r>
            </a:p>
          </p:txBody>
        </p:sp>
        <p:sp>
          <p:nvSpPr>
            <p:cNvPr name="TextBox 22" id="22"/>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Empirical estimation</a:t>
              </a:r>
            </a:p>
          </p:txBody>
        </p:sp>
      </p:grpSp>
      <p:sp>
        <p:nvSpPr>
          <p:cNvPr name="TextBox 23" id="23"/>
          <p:cNvSpPr txBox="true"/>
          <p:nvPr/>
        </p:nvSpPr>
        <p:spPr>
          <a:xfrm rot="0">
            <a:off x="329374" y="241353"/>
            <a:ext cx="1558670" cy="706192"/>
          </a:xfrm>
          <a:prstGeom prst="rect">
            <a:avLst/>
          </a:prstGeom>
        </p:spPr>
        <p:txBody>
          <a:bodyPr anchor="t" rtlCol="false" tIns="0" lIns="0" bIns="0" rIns="0">
            <a:spAutoFit/>
          </a:bodyPr>
          <a:lstStyle/>
          <a:p>
            <a:pPr algn="ctr">
              <a:lnSpc>
                <a:spcPts val="5728"/>
              </a:lnSpc>
            </a:pPr>
            <a:r>
              <a:rPr lang="en-US" b="true" sz="4091">
                <a:solidFill>
                  <a:srgbClr val="9E002D"/>
                </a:solidFill>
                <a:latin typeface="Canva Sans Bold"/>
                <a:ea typeface="Canva Sans Bold"/>
                <a:cs typeface="Canva Sans Bold"/>
                <a:sym typeface="Canva Sans Bold"/>
              </a:rPr>
              <a:t>Tanita</a:t>
            </a:r>
          </a:p>
        </p:txBody>
      </p:sp>
      <p:grpSp>
        <p:nvGrpSpPr>
          <p:cNvPr name="Group 24" id="24"/>
          <p:cNvGrpSpPr/>
          <p:nvPr/>
        </p:nvGrpSpPr>
        <p:grpSpPr>
          <a:xfrm rot="0">
            <a:off x="329374" y="4416509"/>
            <a:ext cx="15120324" cy="1930714"/>
            <a:chOff x="0" y="0"/>
            <a:chExt cx="20160432" cy="2574285"/>
          </a:xfrm>
        </p:grpSpPr>
        <p:sp>
          <p:nvSpPr>
            <p:cNvPr name="TextBox 25" id="25"/>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26" id="26"/>
            <p:cNvGrpSpPr/>
            <p:nvPr/>
          </p:nvGrpSpPr>
          <p:grpSpPr>
            <a:xfrm rot="0">
              <a:off x="0" y="266157"/>
              <a:ext cx="20160432" cy="2308129"/>
              <a:chOff x="0" y="0"/>
              <a:chExt cx="5807147" cy="664849"/>
            </a:xfrm>
          </p:grpSpPr>
          <p:sp>
            <p:nvSpPr>
              <p:cNvPr name="Freeform 27" id="27"/>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28" id="28"/>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29" id="29"/>
            <p:cNvGrpSpPr/>
            <p:nvPr/>
          </p:nvGrpSpPr>
          <p:grpSpPr>
            <a:xfrm rot="0">
              <a:off x="0" y="266157"/>
              <a:ext cx="20160432" cy="447972"/>
              <a:chOff x="0" y="0"/>
              <a:chExt cx="5883307" cy="130729"/>
            </a:xfrm>
          </p:grpSpPr>
          <p:sp>
            <p:nvSpPr>
              <p:cNvPr name="Freeform 30" id="30"/>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31" id="31"/>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32" id="32"/>
            <p:cNvGrpSpPr/>
            <p:nvPr/>
          </p:nvGrpSpPr>
          <p:grpSpPr>
            <a:xfrm rot="0">
              <a:off x="0" y="535143"/>
              <a:ext cx="20160432" cy="447972"/>
              <a:chOff x="0" y="0"/>
              <a:chExt cx="5883307" cy="130729"/>
            </a:xfrm>
          </p:grpSpPr>
          <p:sp>
            <p:nvSpPr>
              <p:cNvPr name="Freeform 33" id="33"/>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34" id="3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35" id="35"/>
            <p:cNvSpPr txBox="true"/>
            <p:nvPr/>
          </p:nvSpPr>
          <p:spPr>
            <a:xfrm rot="0">
              <a:off x="194826" y="1487936"/>
              <a:ext cx="19770780" cy="4270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Accuracy</a:t>
              </a:r>
              <a:r>
                <a:rPr lang="en-US" b="true" sz="1966" spc="-98" strike="noStrike" u="none">
                  <a:solidFill>
                    <a:srgbClr val="101820"/>
                  </a:solidFill>
                  <a:latin typeface="Pretendard Medium"/>
                  <a:ea typeface="Pretendard Medium"/>
                  <a:cs typeface="Pretendard Medium"/>
                  <a:sym typeface="Pretendard Medium"/>
                </a:rPr>
                <a:t> </a:t>
              </a:r>
              <a:r>
                <a:rPr lang="en-US" b="true" sz="1966" spc="-98" strike="noStrike" u="none">
                  <a:solidFill>
                    <a:srgbClr val="101820"/>
                  </a:solidFill>
                  <a:latin typeface="Pretendard Medium"/>
                  <a:ea typeface="Pretendard Medium"/>
                  <a:cs typeface="Pretendard Medium"/>
                  <a:sym typeface="Pretendard Medium"/>
                </a:rPr>
                <a:t>stu</a:t>
              </a:r>
              <a:r>
                <a:rPr lang="en-US" b="true" sz="1966" spc="-98" strike="noStrike" u="none">
                  <a:solidFill>
                    <a:srgbClr val="101820"/>
                  </a:solidFill>
                  <a:latin typeface="Pretendard Medium"/>
                  <a:ea typeface="Pretendard Medium"/>
                  <a:cs typeface="Pretendard Medium"/>
                  <a:sym typeface="Pretendard Medium"/>
                </a:rPr>
                <a:t>d</a:t>
              </a:r>
              <a:r>
                <a:rPr lang="en-US" b="true" sz="1966" spc="-98" strike="noStrike" u="none">
                  <a:solidFill>
                    <a:srgbClr val="101820"/>
                  </a:solidFill>
                  <a:latin typeface="Pretendard Medium"/>
                  <a:ea typeface="Pretendard Medium"/>
                  <a:cs typeface="Pretendard Medium"/>
                  <a:sym typeface="Pretendard Medium"/>
                </a:rPr>
                <a:t>ies</a:t>
              </a:r>
              <a:r>
                <a:rPr lang="en-US" b="true" sz="1966" spc="-98" strike="noStrike" u="none">
                  <a:solidFill>
                    <a:srgbClr val="101820"/>
                  </a:solidFill>
                  <a:latin typeface="Pretendard Medium"/>
                  <a:ea typeface="Pretendard Medium"/>
                  <a:cs typeface="Pretendard Medium"/>
                  <a:sym typeface="Pretendard Medium"/>
                </a:rPr>
                <a:t> </a:t>
              </a:r>
              <a:r>
                <a:rPr lang="en-US" b="true" sz="1966" spc="-98" strike="noStrike" u="none">
                  <a:solidFill>
                    <a:srgbClr val="101820"/>
                  </a:solidFill>
                  <a:latin typeface="Pretendard Medium"/>
                  <a:ea typeface="Pretendard Medium"/>
                  <a:cs typeface="Pretendard Medium"/>
                  <a:sym typeface="Pretendard Medium"/>
                </a:rPr>
                <a:t>a</a:t>
              </a:r>
              <a:r>
                <a:rPr lang="en-US" b="true" sz="1966" spc="-98" strike="noStrike" u="none">
                  <a:solidFill>
                    <a:srgbClr val="101820"/>
                  </a:solidFill>
                  <a:latin typeface="Pretendard Medium"/>
                  <a:ea typeface="Pretendard Medium"/>
                  <a:cs typeface="Pretendard Medium"/>
                  <a:sym typeface="Pretendard Medium"/>
                </a:rPr>
                <a:t>re </a:t>
              </a:r>
              <a:r>
                <a:rPr lang="en-US" b="true" sz="1966" spc="-98" strike="noStrike" u="none">
                  <a:solidFill>
                    <a:srgbClr val="101820"/>
                  </a:solidFill>
                  <a:latin typeface="Pretendard Medium"/>
                  <a:ea typeface="Pretendard Medium"/>
                  <a:cs typeface="Pretendard Medium"/>
                  <a:sym typeface="Pretendard Medium"/>
                </a:rPr>
                <a:t>n</a:t>
              </a:r>
              <a:r>
                <a:rPr lang="en-US" b="true" sz="1966" spc="-98" strike="noStrike" u="none">
                  <a:solidFill>
                    <a:srgbClr val="101820"/>
                  </a:solidFill>
                  <a:latin typeface="Pretendard Medium"/>
                  <a:ea typeface="Pretendard Medium"/>
                  <a:cs typeface="Pretendard Medium"/>
                  <a:sym typeface="Pretendard Medium"/>
                </a:rPr>
                <a:t>o</a:t>
              </a:r>
              <a:r>
                <a:rPr lang="en-US" b="true" sz="1966" spc="-98" strike="noStrike" u="none">
                  <a:solidFill>
                    <a:srgbClr val="101820"/>
                  </a:solidFill>
                  <a:latin typeface="Pretendard Medium"/>
                  <a:ea typeface="Pretendard Medium"/>
                  <a:cs typeface="Pretendard Medium"/>
                  <a:sym typeface="Pretendard Medium"/>
                </a:rPr>
                <a:t>t</a:t>
              </a:r>
              <a:r>
                <a:rPr lang="en-US" b="true" sz="1966" spc="-98" strike="noStrike" u="none">
                  <a:solidFill>
                    <a:srgbClr val="101820"/>
                  </a:solidFill>
                  <a:latin typeface="Pretendard Medium"/>
                  <a:ea typeface="Pretendard Medium"/>
                  <a:cs typeface="Pretendard Medium"/>
                  <a:sym typeface="Pretendard Medium"/>
                </a:rPr>
                <a:t> shown , </a:t>
              </a:r>
              <a:r>
                <a:rPr lang="en-US" b="true" sz="1966" spc="-98" strike="noStrike" u="none">
                  <a:solidFill>
                    <a:srgbClr val="101820"/>
                  </a:solidFill>
                  <a:latin typeface="Pretendard Medium"/>
                  <a:ea typeface="Pretendard Medium"/>
                  <a:cs typeface="Pretendard Medium"/>
                  <a:sym typeface="Pretendard Medium"/>
                </a:rPr>
                <a:t>an</a:t>
              </a:r>
              <a:r>
                <a:rPr lang="en-US" b="true" sz="1966" spc="-98" strike="noStrike" u="none">
                  <a:solidFill>
                    <a:srgbClr val="101820"/>
                  </a:solidFill>
                  <a:latin typeface="Pretendard Medium"/>
                  <a:ea typeface="Pretendard Medium"/>
                  <a:cs typeface="Pretendard Medium"/>
                  <a:sym typeface="Pretendard Medium"/>
                </a:rPr>
                <a:t>d</a:t>
              </a:r>
              <a:r>
                <a:rPr lang="en-US" b="true" sz="1966" spc="-98" strike="noStrike" u="none">
                  <a:solidFill>
                    <a:srgbClr val="101820"/>
                  </a:solidFill>
                  <a:latin typeface="Pretendard Medium"/>
                  <a:ea typeface="Pretendard Medium"/>
                  <a:cs typeface="Pretendard Medium"/>
                  <a:sym typeface="Pretendard Medium"/>
                </a:rPr>
                <a:t> c</a:t>
              </a:r>
              <a:r>
                <a:rPr lang="en-US" b="true" sz="1966" spc="-98" strike="noStrike" u="none">
                  <a:solidFill>
                    <a:srgbClr val="101820"/>
                  </a:solidFill>
                  <a:latin typeface="Pretendard Medium"/>
                  <a:ea typeface="Pretendard Medium"/>
                  <a:cs typeface="Pretendard Medium"/>
                  <a:sym typeface="Pretendard Medium"/>
                </a:rPr>
                <a:t>er</a:t>
              </a:r>
              <a:r>
                <a:rPr lang="en-US" b="true" sz="1966" spc="-98" strike="noStrike" u="none">
                  <a:solidFill>
                    <a:srgbClr val="101820"/>
                  </a:solidFill>
                  <a:latin typeface="Pretendard Medium"/>
                  <a:ea typeface="Pretendard Medium"/>
                  <a:cs typeface="Pretendard Medium"/>
                  <a:sym typeface="Pretendard Medium"/>
                </a:rPr>
                <a:t>tific</a:t>
              </a:r>
              <a:r>
                <a:rPr lang="en-US" b="true" sz="1966" spc="-98" strike="noStrike" u="none">
                  <a:solidFill>
                    <a:srgbClr val="101820"/>
                  </a:solidFill>
                  <a:latin typeface="Pretendard Medium"/>
                  <a:ea typeface="Pretendard Medium"/>
                  <a:cs typeface="Pretendard Medium"/>
                  <a:sym typeface="Pretendard Medium"/>
                </a:rPr>
                <a:t>ati</a:t>
              </a:r>
              <a:r>
                <a:rPr lang="en-US" b="true" sz="1966" spc="-98" strike="noStrike" u="none">
                  <a:solidFill>
                    <a:srgbClr val="101820"/>
                  </a:solidFill>
                  <a:latin typeface="Pretendard Medium"/>
                  <a:ea typeface="Pretendard Medium"/>
                  <a:cs typeface="Pretendard Medium"/>
                  <a:sym typeface="Pretendard Medium"/>
                </a:rPr>
                <a:t>o</a:t>
              </a:r>
              <a:r>
                <a:rPr lang="en-US" b="true" sz="1966" spc="-98" strike="noStrike" u="none">
                  <a:solidFill>
                    <a:srgbClr val="101820"/>
                  </a:solidFill>
                  <a:latin typeface="Pretendard Medium"/>
                  <a:ea typeface="Pretendard Medium"/>
                  <a:cs typeface="Pretendard Medium"/>
                  <a:sym typeface="Pretendard Medium"/>
                </a:rPr>
                <a:t>n</a:t>
              </a:r>
              <a:r>
                <a:rPr lang="en-US" b="true" sz="1966" spc="-98" strike="noStrike" u="none">
                  <a:solidFill>
                    <a:srgbClr val="101820"/>
                  </a:solidFill>
                  <a:latin typeface="Pretendard Medium"/>
                  <a:ea typeface="Pretendard Medium"/>
                  <a:cs typeface="Pretendard Medium"/>
                  <a:sym typeface="Pretendard Medium"/>
                </a:rPr>
                <a:t> i</a:t>
              </a:r>
              <a:r>
                <a:rPr lang="en-US" b="true" sz="1966" spc="-98" strike="noStrike" u="none">
                  <a:solidFill>
                    <a:srgbClr val="101820"/>
                  </a:solidFill>
                  <a:latin typeface="Pretendard Medium"/>
                  <a:ea typeface="Pretendard Medium"/>
                  <a:cs typeface="Pretendard Medium"/>
                  <a:sym typeface="Pretendard Medium"/>
                </a:rPr>
                <a:t>s </a:t>
              </a:r>
              <a:r>
                <a:rPr lang="en-US" b="true" sz="1966" spc="-98" strike="noStrike" u="none">
                  <a:solidFill>
                    <a:srgbClr val="101820"/>
                  </a:solidFill>
                  <a:latin typeface="Pretendard Medium"/>
                  <a:ea typeface="Pretendard Medium"/>
                  <a:cs typeface="Pretendard Medium"/>
                  <a:sym typeface="Pretendard Medium"/>
                </a:rPr>
                <a:t>blank</a:t>
              </a:r>
              <a:r>
                <a:rPr lang="en-US" b="true" sz="1966" spc="-98" strike="noStrike" u="none">
                  <a:solidFill>
                    <a:srgbClr val="101820"/>
                  </a:solidFill>
                  <a:latin typeface="Pretendard Medium"/>
                  <a:ea typeface="Pretendard Medium"/>
                  <a:cs typeface="Pretendard Medium"/>
                  <a:sym typeface="Pretendard Medium"/>
                </a:rPr>
                <a:t> f</a:t>
              </a:r>
              <a:r>
                <a:rPr lang="en-US" b="true" sz="1966" spc="-98" strike="noStrike" u="none">
                  <a:solidFill>
                    <a:srgbClr val="101820"/>
                  </a:solidFill>
                  <a:latin typeface="Pretendard Medium"/>
                  <a:ea typeface="Pretendard Medium"/>
                  <a:cs typeface="Pretendard Medium"/>
                  <a:sym typeface="Pretendard Medium"/>
                </a:rPr>
                <a:t>or SOme of there products.</a:t>
              </a:r>
            </a:p>
          </p:txBody>
        </p:sp>
        <p:sp>
          <p:nvSpPr>
            <p:cNvPr name="TextBox 36" id="36"/>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No val</a:t>
              </a:r>
              <a:r>
                <a:rPr lang="en-US" b="true" sz="2180">
                  <a:solidFill>
                    <a:srgbClr val="FFFFFF"/>
                  </a:solidFill>
                  <a:latin typeface="Pretendard Bold"/>
                  <a:ea typeface="Pretendard Bold"/>
                  <a:cs typeface="Pretendard Bold"/>
                  <a:sym typeface="Pretendard Bold"/>
                </a:rPr>
                <a:t>idation research or full certification shown</a:t>
              </a:r>
            </a:p>
          </p:txBody>
        </p:sp>
      </p:grpSp>
      <p:grpSp>
        <p:nvGrpSpPr>
          <p:cNvPr name="Group 37" id="37"/>
          <p:cNvGrpSpPr/>
          <p:nvPr/>
        </p:nvGrpSpPr>
        <p:grpSpPr>
          <a:xfrm rot="0">
            <a:off x="329374" y="6347223"/>
            <a:ext cx="15120324" cy="1930714"/>
            <a:chOff x="0" y="0"/>
            <a:chExt cx="20160432" cy="2574285"/>
          </a:xfrm>
        </p:grpSpPr>
        <p:sp>
          <p:nvSpPr>
            <p:cNvPr name="TextBox 38" id="38"/>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39" id="39"/>
            <p:cNvGrpSpPr/>
            <p:nvPr/>
          </p:nvGrpSpPr>
          <p:grpSpPr>
            <a:xfrm rot="0">
              <a:off x="0" y="266157"/>
              <a:ext cx="20160432" cy="2308129"/>
              <a:chOff x="0" y="0"/>
              <a:chExt cx="5807147" cy="664849"/>
            </a:xfrm>
          </p:grpSpPr>
          <p:sp>
            <p:nvSpPr>
              <p:cNvPr name="Freeform 40" id="40"/>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41" id="41"/>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42" id="42"/>
            <p:cNvGrpSpPr/>
            <p:nvPr/>
          </p:nvGrpSpPr>
          <p:grpSpPr>
            <a:xfrm rot="0">
              <a:off x="0" y="266157"/>
              <a:ext cx="20160432" cy="447972"/>
              <a:chOff x="0" y="0"/>
              <a:chExt cx="5883307" cy="130729"/>
            </a:xfrm>
          </p:grpSpPr>
          <p:sp>
            <p:nvSpPr>
              <p:cNvPr name="Freeform 43" id="43"/>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44" id="4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45" id="45"/>
            <p:cNvGrpSpPr/>
            <p:nvPr/>
          </p:nvGrpSpPr>
          <p:grpSpPr>
            <a:xfrm rot="0">
              <a:off x="0" y="535143"/>
              <a:ext cx="20160432" cy="447972"/>
              <a:chOff x="0" y="0"/>
              <a:chExt cx="5883307" cy="130729"/>
            </a:xfrm>
          </p:grpSpPr>
          <p:sp>
            <p:nvSpPr>
              <p:cNvPr name="Freeform 46" id="46"/>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47" id="4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48" id="48"/>
            <p:cNvSpPr txBox="true"/>
            <p:nvPr/>
          </p:nvSpPr>
          <p:spPr>
            <a:xfrm rot="0">
              <a:off x="0" y="1391646"/>
              <a:ext cx="19770780" cy="4270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 The MC-780MA uses three frequencies, compared with six in the MC-980MA Plus.</a:t>
              </a:r>
            </a:p>
          </p:txBody>
        </p:sp>
        <p:sp>
          <p:nvSpPr>
            <p:cNvPr name="TextBox 49" id="49"/>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Limited frequency op</a:t>
              </a:r>
              <a:r>
                <a:rPr lang="en-US" b="true" sz="2180">
                  <a:solidFill>
                    <a:srgbClr val="FFFFFF"/>
                  </a:solidFill>
                  <a:latin typeface="Pretendard Bold"/>
                  <a:ea typeface="Pretendard Bold"/>
                  <a:cs typeface="Pretendard Bold"/>
                  <a:sym typeface="Pretendard Bold"/>
                </a:rPr>
                <a:t>tions in selected models</a:t>
              </a:r>
            </a:p>
          </p:txBody>
        </p:sp>
      </p:grpSp>
      <p:grpSp>
        <p:nvGrpSpPr>
          <p:cNvPr name="Group 50" id="50"/>
          <p:cNvGrpSpPr/>
          <p:nvPr/>
        </p:nvGrpSpPr>
        <p:grpSpPr>
          <a:xfrm rot="0">
            <a:off x="329374" y="8277937"/>
            <a:ext cx="15120324" cy="1930714"/>
            <a:chOff x="0" y="0"/>
            <a:chExt cx="20160432" cy="2574285"/>
          </a:xfrm>
        </p:grpSpPr>
        <p:sp>
          <p:nvSpPr>
            <p:cNvPr name="TextBox 51" id="5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52" id="52"/>
            <p:cNvGrpSpPr/>
            <p:nvPr/>
          </p:nvGrpSpPr>
          <p:grpSpPr>
            <a:xfrm rot="0">
              <a:off x="0" y="266157"/>
              <a:ext cx="20160432" cy="2308129"/>
              <a:chOff x="0" y="0"/>
              <a:chExt cx="5807147" cy="664849"/>
            </a:xfrm>
          </p:grpSpPr>
          <p:sp>
            <p:nvSpPr>
              <p:cNvPr name="Freeform 53" id="5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54" id="5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55" id="55"/>
            <p:cNvGrpSpPr/>
            <p:nvPr/>
          </p:nvGrpSpPr>
          <p:grpSpPr>
            <a:xfrm rot="0">
              <a:off x="0" y="266157"/>
              <a:ext cx="20160432" cy="447972"/>
              <a:chOff x="0" y="0"/>
              <a:chExt cx="5883307" cy="130729"/>
            </a:xfrm>
          </p:grpSpPr>
          <p:sp>
            <p:nvSpPr>
              <p:cNvPr name="Freeform 56" id="5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57" id="5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58" id="58"/>
            <p:cNvGrpSpPr/>
            <p:nvPr/>
          </p:nvGrpSpPr>
          <p:grpSpPr>
            <a:xfrm rot="0">
              <a:off x="0" y="535143"/>
              <a:ext cx="20160432" cy="447972"/>
              <a:chOff x="0" y="0"/>
              <a:chExt cx="5883307" cy="130729"/>
            </a:xfrm>
          </p:grpSpPr>
          <p:sp>
            <p:nvSpPr>
              <p:cNvPr name="Freeform 59" id="5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60" id="6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61" id="61"/>
            <p:cNvSpPr txBox="true"/>
            <p:nvPr/>
          </p:nvSpPr>
          <p:spPr>
            <a:xfrm rot="0">
              <a:off x="0" y="1391646"/>
              <a:ext cx="19770780" cy="4270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 The MC-780MA uses three frequencies, compared with six in the MC-980MA Plus.</a:t>
              </a:r>
            </a:p>
          </p:txBody>
        </p:sp>
        <p:sp>
          <p:nvSpPr>
            <p:cNvPr name="TextBox 62" id="62"/>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Limited frequency op</a:t>
              </a:r>
              <a:r>
                <a:rPr lang="en-US" b="true" sz="2180">
                  <a:solidFill>
                    <a:srgbClr val="FFFFFF"/>
                  </a:solidFill>
                  <a:latin typeface="Pretendard Bold"/>
                  <a:ea typeface="Pretendard Bold"/>
                  <a:cs typeface="Pretendard Bold"/>
                  <a:sym typeface="Pretendard Bold"/>
                </a:rPr>
                <a:t>tions in selected models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1814"/>
            <a:ext cx="18688694" cy="815730"/>
            <a:chOff x="0" y="0"/>
            <a:chExt cx="8051325" cy="351427"/>
          </a:xfrm>
        </p:grpSpPr>
        <p:sp>
          <p:nvSpPr>
            <p:cNvPr name="Freeform 3" id="3"/>
            <p:cNvSpPr/>
            <p:nvPr/>
          </p:nvSpPr>
          <p:spPr>
            <a:xfrm flipH="false" flipV="false" rot="0">
              <a:off x="0" y="0"/>
              <a:ext cx="8051325" cy="351427"/>
            </a:xfrm>
            <a:custGeom>
              <a:avLst/>
              <a:gdLst/>
              <a:ahLst/>
              <a:cxnLst/>
              <a:rect r="r" b="b" t="t" l="l"/>
              <a:pathLst>
                <a:path h="351427" w="8051325">
                  <a:moveTo>
                    <a:pt x="0" y="0"/>
                  </a:moveTo>
                  <a:lnTo>
                    <a:pt x="8051325" y="0"/>
                  </a:lnTo>
                  <a:lnTo>
                    <a:pt x="8051325" y="351427"/>
                  </a:lnTo>
                  <a:lnTo>
                    <a:pt x="0" y="351427"/>
                  </a:lnTo>
                  <a:close/>
                </a:path>
              </a:pathLst>
            </a:custGeom>
            <a:solidFill>
              <a:srgbClr val="FFFFFF">
                <a:alpha val="69804"/>
              </a:srgbClr>
            </a:solidFill>
          </p:spPr>
        </p:sp>
        <p:sp>
          <p:nvSpPr>
            <p:cNvPr name="TextBox 4" id="4"/>
            <p:cNvSpPr txBox="true"/>
            <p:nvPr/>
          </p:nvSpPr>
          <p:spPr>
            <a:xfrm>
              <a:off x="0" y="-9525"/>
              <a:ext cx="8051325" cy="360952"/>
            </a:xfrm>
            <a:prstGeom prst="rect">
              <a:avLst/>
            </a:prstGeom>
          </p:spPr>
          <p:txBody>
            <a:bodyPr anchor="ctr" rtlCol="false" tIns="69432" lIns="69432" bIns="69432" rIns="69432"/>
            <a:lstStyle/>
            <a:p>
              <a:pPr algn="ctr">
                <a:lnSpc>
                  <a:spcPts val="2582"/>
                </a:lnSpc>
              </a:pPr>
            </a:p>
          </p:txBody>
        </p:sp>
      </p:grpSp>
      <p:grpSp>
        <p:nvGrpSpPr>
          <p:cNvPr name="Group 5" id="5"/>
          <p:cNvGrpSpPr/>
          <p:nvPr/>
        </p:nvGrpSpPr>
        <p:grpSpPr>
          <a:xfrm rot="0">
            <a:off x="-116008" y="0"/>
            <a:ext cx="18520017" cy="1199668"/>
            <a:chOff x="0" y="0"/>
            <a:chExt cx="4723370" cy="305965"/>
          </a:xfrm>
        </p:grpSpPr>
        <p:sp>
          <p:nvSpPr>
            <p:cNvPr name="Freeform 6" id="6"/>
            <p:cNvSpPr/>
            <p:nvPr/>
          </p:nvSpPr>
          <p:spPr>
            <a:xfrm flipH="false" flipV="false" rot="0">
              <a:off x="0" y="0"/>
              <a:ext cx="4723370" cy="305965"/>
            </a:xfrm>
            <a:custGeom>
              <a:avLst/>
              <a:gdLst/>
              <a:ahLst/>
              <a:cxnLst/>
              <a:rect r="r" b="b" t="t" l="l"/>
              <a:pathLst>
                <a:path h="305965" w="4723370">
                  <a:moveTo>
                    <a:pt x="0" y="0"/>
                  </a:moveTo>
                  <a:lnTo>
                    <a:pt x="4723370" y="0"/>
                  </a:lnTo>
                  <a:lnTo>
                    <a:pt x="4723370" y="305965"/>
                  </a:lnTo>
                  <a:lnTo>
                    <a:pt x="0" y="305965"/>
                  </a:lnTo>
                  <a:close/>
                </a:path>
              </a:pathLst>
            </a:custGeom>
            <a:solidFill>
              <a:srgbClr val="F0F2F5"/>
            </a:solidFill>
          </p:spPr>
        </p:sp>
        <p:sp>
          <p:nvSpPr>
            <p:cNvPr name="TextBox 7" id="7"/>
            <p:cNvSpPr txBox="true"/>
            <p:nvPr/>
          </p:nvSpPr>
          <p:spPr>
            <a:xfrm>
              <a:off x="0" y="-19050"/>
              <a:ext cx="4723370" cy="325015"/>
            </a:xfrm>
            <a:prstGeom prst="rect">
              <a:avLst/>
            </a:prstGeom>
          </p:spPr>
          <p:txBody>
            <a:bodyPr anchor="ctr" rtlCol="false" tIns="69432" lIns="69432" bIns="69432" rIns="69432"/>
            <a:lstStyle/>
            <a:p>
              <a:pPr algn="ctr">
                <a:lnSpc>
                  <a:spcPts val="1599"/>
                </a:lnSpc>
              </a:pPr>
            </a:p>
          </p:txBody>
        </p:sp>
      </p:grpSp>
      <p:sp>
        <p:nvSpPr>
          <p:cNvPr name="Freeform 8" id="8"/>
          <p:cNvSpPr/>
          <p:nvPr/>
        </p:nvSpPr>
        <p:spPr>
          <a:xfrm flipH="false" flipV="false" rot="0">
            <a:off x="-336445" y="266457"/>
            <a:ext cx="19025139" cy="762243"/>
          </a:xfrm>
          <a:custGeom>
            <a:avLst/>
            <a:gdLst/>
            <a:ahLst/>
            <a:cxnLst/>
            <a:rect r="r" b="b" t="t" l="l"/>
            <a:pathLst>
              <a:path h="762243" w="19025139">
                <a:moveTo>
                  <a:pt x="0" y="0"/>
                </a:moveTo>
                <a:lnTo>
                  <a:pt x="19025139" y="0"/>
                </a:lnTo>
                <a:lnTo>
                  <a:pt x="19025139" y="762243"/>
                </a:lnTo>
                <a:lnTo>
                  <a:pt x="0" y="762243"/>
                </a:lnTo>
                <a:lnTo>
                  <a:pt x="0" y="0"/>
                </a:lnTo>
                <a:close/>
              </a:path>
            </a:pathLst>
          </a:custGeom>
          <a:blipFill>
            <a:blip r:embed="rId2"/>
            <a:stretch>
              <a:fillRect l="0" t="-1896850" r="0" b="-12381"/>
            </a:stretch>
          </a:blipFill>
        </p:spPr>
      </p:sp>
      <p:sp>
        <p:nvSpPr>
          <p:cNvPr name="TextBox 9" id="9"/>
          <p:cNvSpPr txBox="true"/>
          <p:nvPr/>
        </p:nvSpPr>
        <p:spPr>
          <a:xfrm rot="0">
            <a:off x="134143" y="1345300"/>
            <a:ext cx="16760807" cy="666750"/>
          </a:xfrm>
          <a:prstGeom prst="rect">
            <a:avLst/>
          </a:prstGeom>
        </p:spPr>
        <p:txBody>
          <a:bodyPr anchor="t" rtlCol="false" tIns="0" lIns="0" bIns="0" rIns="0">
            <a:spAutoFit/>
          </a:bodyPr>
          <a:lstStyle/>
          <a:p>
            <a:pPr algn="l" marL="0" indent="0" lvl="0">
              <a:lnSpc>
                <a:spcPts val="2666"/>
              </a:lnSpc>
            </a:pPr>
            <a:r>
              <a:rPr lang="en-US" sz="2222" i="true">
                <a:solidFill>
                  <a:srgbClr val="101820"/>
                </a:solidFill>
                <a:latin typeface="Gotham Italics"/>
                <a:ea typeface="Gotham Italics"/>
                <a:cs typeface="Gotham Italics"/>
                <a:sym typeface="Gotham Italics"/>
              </a:rPr>
              <a:t>ACCUNIQ models</a:t>
            </a:r>
            <a:r>
              <a:rPr lang="en-US" sz="2222" i="true">
                <a:solidFill>
                  <a:srgbClr val="101820"/>
                </a:solidFill>
                <a:latin typeface="Gotham Italics"/>
                <a:ea typeface="Gotham Italics"/>
                <a:cs typeface="Gotham Italics"/>
                <a:sym typeface="Gotham Italics"/>
              </a:rPr>
              <a:t> mainly differ in measurement technology, detail</a:t>
            </a:r>
            <a:r>
              <a:rPr lang="en-US" sz="2222" i="true">
                <a:solidFill>
                  <a:srgbClr val="101820"/>
                </a:solidFill>
                <a:latin typeface="Gotham Italics"/>
                <a:ea typeface="Gotham Italics"/>
                <a:cs typeface="Gotham Italics"/>
                <a:sym typeface="Gotham Italics"/>
              </a:rPr>
              <a:t>e</a:t>
            </a:r>
            <a:r>
              <a:rPr lang="en-US" sz="2222" i="true">
                <a:solidFill>
                  <a:srgbClr val="101820"/>
                </a:solidFill>
                <a:latin typeface="Gotham Italics"/>
                <a:ea typeface="Gotham Italics"/>
                <a:cs typeface="Gotham Italics"/>
                <a:sym typeface="Gotham Italics"/>
              </a:rPr>
              <a:t>d body com</a:t>
            </a:r>
            <a:r>
              <a:rPr lang="en-US" sz="2222" i="true">
                <a:solidFill>
                  <a:srgbClr val="101820"/>
                </a:solidFill>
                <a:latin typeface="Gotham Italics"/>
                <a:ea typeface="Gotham Italics"/>
                <a:cs typeface="Gotham Italics"/>
                <a:sym typeface="Gotham Italics"/>
              </a:rPr>
              <a:t>p</a:t>
            </a:r>
            <a:r>
              <a:rPr lang="en-US" sz="2222" i="true">
                <a:solidFill>
                  <a:srgbClr val="101820"/>
                </a:solidFill>
                <a:latin typeface="Gotham Italics"/>
                <a:ea typeface="Gotham Italics"/>
                <a:cs typeface="Gotham Italics"/>
                <a:sym typeface="Gotham Italics"/>
              </a:rPr>
              <a:t>o</a:t>
            </a:r>
            <a:r>
              <a:rPr lang="en-US" sz="2222" i="true">
                <a:solidFill>
                  <a:srgbClr val="101820"/>
                </a:solidFill>
                <a:latin typeface="Gotham Italics"/>
                <a:ea typeface="Gotham Italics"/>
                <a:cs typeface="Gotham Italics"/>
                <a:sym typeface="Gotham Italics"/>
              </a:rPr>
              <a:t>sition</a:t>
            </a:r>
            <a:r>
              <a:rPr lang="en-US" sz="2222" i="true">
                <a:solidFill>
                  <a:srgbClr val="101820"/>
                </a:solidFill>
                <a:latin typeface="Gotham Italics"/>
                <a:ea typeface="Gotham Italics"/>
                <a:cs typeface="Gotham Italics"/>
                <a:sym typeface="Gotham Italics"/>
              </a:rPr>
              <a:t> analysis, report features and connectivity. </a:t>
            </a:r>
          </a:p>
        </p:txBody>
      </p:sp>
      <p:grpSp>
        <p:nvGrpSpPr>
          <p:cNvPr name="Group 10" id="10"/>
          <p:cNvGrpSpPr/>
          <p:nvPr/>
        </p:nvGrpSpPr>
        <p:grpSpPr>
          <a:xfrm rot="0">
            <a:off x="329374" y="2126350"/>
            <a:ext cx="15120324" cy="2147284"/>
            <a:chOff x="0" y="0"/>
            <a:chExt cx="20160432" cy="2863045"/>
          </a:xfrm>
        </p:grpSpPr>
        <p:sp>
          <p:nvSpPr>
            <p:cNvPr name="TextBox 11" id="1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12" id="12"/>
            <p:cNvGrpSpPr/>
            <p:nvPr/>
          </p:nvGrpSpPr>
          <p:grpSpPr>
            <a:xfrm rot="0">
              <a:off x="0" y="266157"/>
              <a:ext cx="20160432" cy="2596889"/>
              <a:chOff x="0" y="0"/>
              <a:chExt cx="5807147" cy="748025"/>
            </a:xfrm>
          </p:grpSpPr>
          <p:sp>
            <p:nvSpPr>
              <p:cNvPr name="Freeform 13" id="13"/>
              <p:cNvSpPr/>
              <p:nvPr/>
            </p:nvSpPr>
            <p:spPr>
              <a:xfrm flipH="false" flipV="false" rot="0">
                <a:off x="0" y="0"/>
                <a:ext cx="5807147" cy="748025"/>
              </a:xfrm>
              <a:custGeom>
                <a:avLst/>
                <a:gdLst/>
                <a:ahLst/>
                <a:cxnLst/>
                <a:rect r="r" b="b" t="t" l="l"/>
                <a:pathLst>
                  <a:path h="748025" w="5807147">
                    <a:moveTo>
                      <a:pt x="5034" y="0"/>
                    </a:moveTo>
                    <a:lnTo>
                      <a:pt x="5802113" y="0"/>
                    </a:lnTo>
                    <a:cubicBezTo>
                      <a:pt x="5803448" y="0"/>
                      <a:pt x="5804728" y="530"/>
                      <a:pt x="5805672" y="1474"/>
                    </a:cubicBezTo>
                    <a:cubicBezTo>
                      <a:pt x="5806617" y="2419"/>
                      <a:pt x="5807147" y="3699"/>
                      <a:pt x="5807147" y="5034"/>
                    </a:cubicBezTo>
                    <a:lnTo>
                      <a:pt x="5807147" y="742991"/>
                    </a:lnTo>
                    <a:cubicBezTo>
                      <a:pt x="5807147" y="744326"/>
                      <a:pt x="5806617" y="745607"/>
                      <a:pt x="5805672" y="746551"/>
                    </a:cubicBezTo>
                    <a:cubicBezTo>
                      <a:pt x="5804728" y="747495"/>
                      <a:pt x="5803448" y="748025"/>
                      <a:pt x="5802113" y="748025"/>
                    </a:cubicBezTo>
                    <a:lnTo>
                      <a:pt x="5034" y="748025"/>
                    </a:lnTo>
                    <a:cubicBezTo>
                      <a:pt x="3699" y="748025"/>
                      <a:pt x="2419" y="747495"/>
                      <a:pt x="1474" y="746551"/>
                    </a:cubicBezTo>
                    <a:cubicBezTo>
                      <a:pt x="530" y="745607"/>
                      <a:pt x="0" y="744326"/>
                      <a:pt x="0" y="742991"/>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14" id="14"/>
              <p:cNvSpPr txBox="true"/>
              <p:nvPr/>
            </p:nvSpPr>
            <p:spPr>
              <a:xfrm>
                <a:off x="0" y="-38100"/>
                <a:ext cx="5807147" cy="786125"/>
              </a:xfrm>
              <a:prstGeom prst="rect">
                <a:avLst/>
              </a:prstGeom>
            </p:spPr>
            <p:txBody>
              <a:bodyPr anchor="ctr" rtlCol="false" tIns="14634" lIns="14634" bIns="14634" rIns="14634"/>
              <a:lstStyle/>
              <a:p>
                <a:pPr algn="ctr">
                  <a:lnSpc>
                    <a:spcPts val="1711"/>
                  </a:lnSpc>
                </a:pPr>
              </a:p>
            </p:txBody>
          </p:sp>
        </p:grpSp>
        <p:grpSp>
          <p:nvGrpSpPr>
            <p:cNvPr name="Group 15" id="15"/>
            <p:cNvGrpSpPr/>
            <p:nvPr/>
          </p:nvGrpSpPr>
          <p:grpSpPr>
            <a:xfrm rot="0">
              <a:off x="0" y="266157"/>
              <a:ext cx="20160432" cy="447972"/>
              <a:chOff x="0" y="0"/>
              <a:chExt cx="5883307" cy="130729"/>
            </a:xfrm>
          </p:grpSpPr>
          <p:sp>
            <p:nvSpPr>
              <p:cNvPr name="Freeform 16" id="1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17" id="1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18" id="18"/>
            <p:cNvGrpSpPr/>
            <p:nvPr/>
          </p:nvGrpSpPr>
          <p:grpSpPr>
            <a:xfrm rot="0">
              <a:off x="0" y="535143"/>
              <a:ext cx="20160432" cy="447972"/>
              <a:chOff x="0" y="0"/>
              <a:chExt cx="5883307" cy="130729"/>
            </a:xfrm>
          </p:grpSpPr>
          <p:sp>
            <p:nvSpPr>
              <p:cNvPr name="Freeform 19" id="1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20" id="2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21" id="21"/>
            <p:cNvSpPr txBox="true"/>
            <p:nvPr/>
          </p:nvSpPr>
          <p:spPr>
            <a:xfrm rot="0">
              <a:off x="194826" y="1211099"/>
              <a:ext cx="19770780" cy="10388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BC310, BC300 &amp; i35 have fewer freq</a:t>
              </a:r>
              <a:r>
                <a:rPr lang="en-US" b="true" sz="2400" spc="-120" strike="noStrike" u="none">
                  <a:solidFill>
                    <a:srgbClr val="101820"/>
                  </a:solidFill>
                  <a:latin typeface="Pretendard Medium"/>
                  <a:ea typeface="Pretendard Medium"/>
                  <a:cs typeface="Pretendard Medium"/>
                  <a:sym typeface="Pretendard Medium"/>
                </a:rPr>
                <a:t>uencies ; lacks ’s phase-angle and detailed water-analysis features. Mobile-app, QR-code and cloud-dashboard features are not listed as supported.</a:t>
              </a:r>
            </a:p>
          </p:txBody>
        </p:sp>
        <p:sp>
          <p:nvSpPr>
            <p:cNvPr name="TextBox 22" id="22"/>
            <p:cNvSpPr txBox="true"/>
            <p:nvPr/>
          </p:nvSpPr>
          <p:spPr>
            <a:xfrm rot="0">
              <a:off x="194826" y="317804"/>
              <a:ext cx="13547822" cy="873125"/>
            </a:xfrm>
            <a:prstGeom prst="rect">
              <a:avLst/>
            </a:prstGeom>
          </p:spPr>
          <p:txBody>
            <a:bodyPr anchor="t" rtlCol="false" tIns="0" lIns="0" bIns="0" rIns="0">
              <a:spAutoFit/>
            </a:bodyPr>
            <a:lstStyle/>
            <a:p>
              <a:pPr algn="l">
                <a:lnSpc>
                  <a:spcPts val="2616"/>
                </a:lnSpc>
              </a:pPr>
              <a:r>
                <a:rPr lang="en-US" sz="2180" b="true">
                  <a:solidFill>
                    <a:srgbClr val="FFFFFF"/>
                  </a:solidFill>
                  <a:latin typeface="Pretendard Bold"/>
                  <a:ea typeface="Pretendard Bold"/>
                  <a:cs typeface="Pretendard Bold"/>
                  <a:sym typeface="Pretendard Bold"/>
                </a:rPr>
                <a:t>-</a:t>
              </a:r>
            </a:p>
            <a:p>
              <a:pPr algn="l">
                <a:lnSpc>
                  <a:spcPts val="2616"/>
                </a:lnSpc>
                <a:spcBef>
                  <a:spcPct val="0"/>
                </a:spcBef>
              </a:pPr>
            </a:p>
          </p:txBody>
        </p:sp>
      </p:grpSp>
      <p:sp>
        <p:nvSpPr>
          <p:cNvPr name="TextBox 23" id="23"/>
          <p:cNvSpPr txBox="true"/>
          <p:nvPr/>
        </p:nvSpPr>
        <p:spPr>
          <a:xfrm rot="0">
            <a:off x="0" y="250878"/>
            <a:ext cx="3074556" cy="679661"/>
          </a:xfrm>
          <a:prstGeom prst="rect">
            <a:avLst/>
          </a:prstGeom>
        </p:spPr>
        <p:txBody>
          <a:bodyPr anchor="t" rtlCol="false" tIns="0" lIns="0" bIns="0" rIns="0">
            <a:spAutoFit/>
          </a:bodyPr>
          <a:lstStyle/>
          <a:p>
            <a:pPr algn="ctr">
              <a:lnSpc>
                <a:spcPts val="5588"/>
              </a:lnSpc>
            </a:pPr>
            <a:r>
              <a:rPr lang="en-US" sz="3991" b="true">
                <a:solidFill>
                  <a:srgbClr val="9E002D"/>
                </a:solidFill>
                <a:latin typeface="Canva Sans Bold"/>
                <a:ea typeface="Canva Sans Bold"/>
                <a:cs typeface="Canva Sans Bold"/>
                <a:sym typeface="Canva Sans Bold"/>
              </a:rPr>
              <a:t>Accuniq</a:t>
            </a:r>
          </a:p>
        </p:txBody>
      </p:sp>
      <p:grpSp>
        <p:nvGrpSpPr>
          <p:cNvPr name="Group 24" id="24"/>
          <p:cNvGrpSpPr/>
          <p:nvPr/>
        </p:nvGrpSpPr>
        <p:grpSpPr>
          <a:xfrm rot="0">
            <a:off x="329374" y="4416509"/>
            <a:ext cx="15120324" cy="1930714"/>
            <a:chOff x="0" y="0"/>
            <a:chExt cx="20160432" cy="2574285"/>
          </a:xfrm>
        </p:grpSpPr>
        <p:sp>
          <p:nvSpPr>
            <p:cNvPr name="TextBox 25" id="25"/>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26" id="26"/>
            <p:cNvGrpSpPr/>
            <p:nvPr/>
          </p:nvGrpSpPr>
          <p:grpSpPr>
            <a:xfrm rot="0">
              <a:off x="0" y="266157"/>
              <a:ext cx="20160432" cy="2308129"/>
              <a:chOff x="0" y="0"/>
              <a:chExt cx="5807147" cy="664849"/>
            </a:xfrm>
          </p:grpSpPr>
          <p:sp>
            <p:nvSpPr>
              <p:cNvPr name="Freeform 27" id="27"/>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28" id="28"/>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29" id="29"/>
            <p:cNvGrpSpPr/>
            <p:nvPr/>
          </p:nvGrpSpPr>
          <p:grpSpPr>
            <a:xfrm rot="0">
              <a:off x="0" y="266157"/>
              <a:ext cx="20160432" cy="447972"/>
              <a:chOff x="0" y="0"/>
              <a:chExt cx="5883307" cy="130729"/>
            </a:xfrm>
          </p:grpSpPr>
          <p:sp>
            <p:nvSpPr>
              <p:cNvPr name="Freeform 30" id="30"/>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31" id="31"/>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32" id="32"/>
            <p:cNvGrpSpPr/>
            <p:nvPr/>
          </p:nvGrpSpPr>
          <p:grpSpPr>
            <a:xfrm rot="0">
              <a:off x="0" y="535143"/>
              <a:ext cx="20160432" cy="447972"/>
              <a:chOff x="0" y="0"/>
              <a:chExt cx="5883307" cy="130729"/>
            </a:xfrm>
          </p:grpSpPr>
          <p:sp>
            <p:nvSpPr>
              <p:cNvPr name="Freeform 33" id="33"/>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34" id="3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35" id="35"/>
            <p:cNvSpPr txBox="true"/>
            <p:nvPr/>
          </p:nvSpPr>
          <p:spPr>
            <a:xfrm rot="0">
              <a:off x="194826" y="1211396"/>
              <a:ext cx="19770780" cy="10388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Hand-grip electrodes contact may</a:t>
              </a:r>
              <a:r>
                <a:rPr lang="en-US" b="true" sz="2400" spc="-120" strike="noStrike" u="none">
                  <a:solidFill>
                    <a:srgbClr val="101820"/>
                  </a:solidFill>
                  <a:latin typeface="Pretendard Medium"/>
                  <a:ea typeface="Pretendard Medium"/>
                  <a:cs typeface="Pretendard Medium"/>
                  <a:sym typeface="Pretendard Medium"/>
                </a:rPr>
                <a:t> be more sensitive to inconsistent hand positioning or grip, potentially affecting measurement reproducibility if contact is poor.</a:t>
              </a:r>
              <a:r>
                <a:rPr lang="en-US" b="true" sz="2400" spc="-120" strike="noStrike" u="none">
                  <a:solidFill>
                    <a:srgbClr val="101820"/>
                  </a:solidFill>
                  <a:latin typeface="Pretendard Medium"/>
                  <a:ea typeface="Pretendard Medium"/>
                  <a:cs typeface="Pretendard Medium"/>
                  <a:sym typeface="Pretendard Medium"/>
                </a:rPr>
                <a:t> </a:t>
              </a:r>
            </a:p>
          </p:txBody>
        </p:sp>
        <p:sp>
          <p:nvSpPr>
            <p:cNvPr name="TextBox 36" id="36"/>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grpSp>
        <p:nvGrpSpPr>
          <p:cNvPr name="Group 37" id="37"/>
          <p:cNvGrpSpPr/>
          <p:nvPr/>
        </p:nvGrpSpPr>
        <p:grpSpPr>
          <a:xfrm rot="0">
            <a:off x="329374" y="6347223"/>
            <a:ext cx="15120324" cy="1930714"/>
            <a:chOff x="0" y="0"/>
            <a:chExt cx="20160432" cy="2574285"/>
          </a:xfrm>
        </p:grpSpPr>
        <p:sp>
          <p:nvSpPr>
            <p:cNvPr name="TextBox 38" id="38"/>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39" id="39"/>
            <p:cNvGrpSpPr/>
            <p:nvPr/>
          </p:nvGrpSpPr>
          <p:grpSpPr>
            <a:xfrm rot="0">
              <a:off x="0" y="266157"/>
              <a:ext cx="20160432" cy="2308129"/>
              <a:chOff x="0" y="0"/>
              <a:chExt cx="5807147" cy="664849"/>
            </a:xfrm>
          </p:grpSpPr>
          <p:sp>
            <p:nvSpPr>
              <p:cNvPr name="Freeform 40" id="40"/>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41" id="41"/>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42" id="42"/>
            <p:cNvGrpSpPr/>
            <p:nvPr/>
          </p:nvGrpSpPr>
          <p:grpSpPr>
            <a:xfrm rot="0">
              <a:off x="0" y="266157"/>
              <a:ext cx="20160432" cy="447972"/>
              <a:chOff x="0" y="0"/>
              <a:chExt cx="5883307" cy="130729"/>
            </a:xfrm>
          </p:grpSpPr>
          <p:sp>
            <p:nvSpPr>
              <p:cNvPr name="Freeform 43" id="43"/>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44" id="4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45" id="45"/>
            <p:cNvGrpSpPr/>
            <p:nvPr/>
          </p:nvGrpSpPr>
          <p:grpSpPr>
            <a:xfrm rot="0">
              <a:off x="0" y="535143"/>
              <a:ext cx="20160432" cy="447972"/>
              <a:chOff x="0" y="0"/>
              <a:chExt cx="5883307" cy="130729"/>
            </a:xfrm>
          </p:grpSpPr>
          <p:sp>
            <p:nvSpPr>
              <p:cNvPr name="Freeform 46" id="46"/>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47" id="4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48" id="48"/>
            <p:cNvSpPr txBox="true"/>
            <p:nvPr/>
          </p:nvSpPr>
          <p:spPr>
            <a:xfrm rot="0">
              <a:off x="0" y="1382121"/>
              <a:ext cx="19770780" cy="518160"/>
            </a:xfrm>
            <a:prstGeom prst="rect">
              <a:avLst/>
            </a:prstGeom>
          </p:spPr>
          <p:txBody>
            <a:bodyPr anchor="t" rtlCol="false" tIns="0" lIns="0" bIns="0" rIns="0">
              <a:spAutoFit/>
            </a:bodyPr>
            <a:lstStyle/>
            <a:p>
              <a:pPr algn="l" marL="0" indent="0" lvl="0">
                <a:lnSpc>
                  <a:spcPts val="3120"/>
                </a:lnSpc>
                <a:spcBef>
                  <a:spcPct val="0"/>
                </a:spcBef>
              </a:pPr>
              <a:r>
                <a:rPr lang="en-US" sz="2400" spc="-120">
                  <a:solidFill>
                    <a:srgbClr val="101820"/>
                  </a:solidFill>
                  <a:latin typeface="Pretendard"/>
                  <a:ea typeface="Pretendard"/>
                  <a:cs typeface="Pretendard"/>
                  <a:sym typeface="Pretendard"/>
                </a:rPr>
                <a:t>Models do not use3 MHz measurement; therefore, they lack this additional high-frequency measurement capability </a:t>
              </a:r>
            </a:p>
          </p:txBody>
        </p:sp>
        <p:sp>
          <p:nvSpPr>
            <p:cNvPr name="TextBox 49" id="49"/>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grpSp>
        <p:nvGrpSpPr>
          <p:cNvPr name="Group 50" id="50"/>
          <p:cNvGrpSpPr/>
          <p:nvPr/>
        </p:nvGrpSpPr>
        <p:grpSpPr>
          <a:xfrm rot="0">
            <a:off x="183254" y="8277937"/>
            <a:ext cx="15266444" cy="1815736"/>
            <a:chOff x="0" y="0"/>
            <a:chExt cx="20355258" cy="2420981"/>
          </a:xfrm>
        </p:grpSpPr>
        <p:sp>
          <p:nvSpPr>
            <p:cNvPr name="TextBox 51" id="51"/>
            <p:cNvSpPr txBox="true"/>
            <p:nvPr/>
          </p:nvSpPr>
          <p:spPr>
            <a:xfrm rot="0">
              <a:off x="3924386"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52" id="52"/>
            <p:cNvGrpSpPr/>
            <p:nvPr/>
          </p:nvGrpSpPr>
          <p:grpSpPr>
            <a:xfrm rot="0">
              <a:off x="0" y="112852"/>
              <a:ext cx="20160432" cy="2308129"/>
              <a:chOff x="0" y="0"/>
              <a:chExt cx="5807147" cy="664849"/>
            </a:xfrm>
          </p:grpSpPr>
          <p:sp>
            <p:nvSpPr>
              <p:cNvPr name="Freeform 53" id="5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54" id="5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55" id="55"/>
            <p:cNvGrpSpPr/>
            <p:nvPr/>
          </p:nvGrpSpPr>
          <p:grpSpPr>
            <a:xfrm rot="0">
              <a:off x="194826" y="266157"/>
              <a:ext cx="20160432" cy="447972"/>
              <a:chOff x="0" y="0"/>
              <a:chExt cx="5883307" cy="130729"/>
            </a:xfrm>
          </p:grpSpPr>
          <p:sp>
            <p:nvSpPr>
              <p:cNvPr name="Freeform 56" id="5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57" id="5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58" id="58"/>
            <p:cNvGrpSpPr/>
            <p:nvPr/>
          </p:nvGrpSpPr>
          <p:grpSpPr>
            <a:xfrm rot="0">
              <a:off x="194826" y="535143"/>
              <a:ext cx="20160432" cy="447972"/>
              <a:chOff x="0" y="0"/>
              <a:chExt cx="5883307" cy="130729"/>
            </a:xfrm>
          </p:grpSpPr>
          <p:sp>
            <p:nvSpPr>
              <p:cNvPr name="Freeform 59" id="5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60" id="6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61" id="61"/>
            <p:cNvSpPr txBox="true"/>
            <p:nvPr/>
          </p:nvSpPr>
          <p:spPr>
            <a:xfrm rot="0">
              <a:off x="194826" y="1382121"/>
              <a:ext cx="19770780" cy="5181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BC300, BC310, BC380 and i35 do not provide BC720’s specific segmental ICW, ECW and ECW/TBW. W and ECW/TBW.</a:t>
              </a:r>
            </a:p>
          </p:txBody>
        </p:sp>
        <p:sp>
          <p:nvSpPr>
            <p:cNvPr name="TextBox 62" id="62"/>
            <p:cNvSpPr txBox="true"/>
            <p:nvPr/>
          </p:nvSpPr>
          <p:spPr>
            <a:xfrm rot="0">
              <a:off x="408066"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1814"/>
            <a:ext cx="18688694" cy="815730"/>
            <a:chOff x="0" y="0"/>
            <a:chExt cx="8051325" cy="351427"/>
          </a:xfrm>
        </p:grpSpPr>
        <p:sp>
          <p:nvSpPr>
            <p:cNvPr name="Freeform 3" id="3"/>
            <p:cNvSpPr/>
            <p:nvPr/>
          </p:nvSpPr>
          <p:spPr>
            <a:xfrm flipH="false" flipV="false" rot="0">
              <a:off x="0" y="0"/>
              <a:ext cx="8051325" cy="351427"/>
            </a:xfrm>
            <a:custGeom>
              <a:avLst/>
              <a:gdLst/>
              <a:ahLst/>
              <a:cxnLst/>
              <a:rect r="r" b="b" t="t" l="l"/>
              <a:pathLst>
                <a:path h="351427" w="8051325">
                  <a:moveTo>
                    <a:pt x="0" y="0"/>
                  </a:moveTo>
                  <a:lnTo>
                    <a:pt x="8051325" y="0"/>
                  </a:lnTo>
                  <a:lnTo>
                    <a:pt x="8051325" y="351427"/>
                  </a:lnTo>
                  <a:lnTo>
                    <a:pt x="0" y="351427"/>
                  </a:lnTo>
                  <a:close/>
                </a:path>
              </a:pathLst>
            </a:custGeom>
            <a:solidFill>
              <a:srgbClr val="FFFFFF">
                <a:alpha val="69804"/>
              </a:srgbClr>
            </a:solidFill>
          </p:spPr>
        </p:sp>
        <p:sp>
          <p:nvSpPr>
            <p:cNvPr name="TextBox 4" id="4"/>
            <p:cNvSpPr txBox="true"/>
            <p:nvPr/>
          </p:nvSpPr>
          <p:spPr>
            <a:xfrm>
              <a:off x="0" y="-9525"/>
              <a:ext cx="8051325" cy="360952"/>
            </a:xfrm>
            <a:prstGeom prst="rect">
              <a:avLst/>
            </a:prstGeom>
          </p:spPr>
          <p:txBody>
            <a:bodyPr anchor="ctr" rtlCol="false" tIns="69432" lIns="69432" bIns="69432" rIns="69432"/>
            <a:lstStyle/>
            <a:p>
              <a:pPr algn="ctr">
                <a:lnSpc>
                  <a:spcPts val="2582"/>
                </a:lnSpc>
              </a:pPr>
            </a:p>
          </p:txBody>
        </p:sp>
      </p:grpSp>
      <p:grpSp>
        <p:nvGrpSpPr>
          <p:cNvPr name="Group 5" id="5"/>
          <p:cNvGrpSpPr/>
          <p:nvPr/>
        </p:nvGrpSpPr>
        <p:grpSpPr>
          <a:xfrm rot="0">
            <a:off x="-116008" y="0"/>
            <a:ext cx="18520017" cy="1199668"/>
            <a:chOff x="0" y="0"/>
            <a:chExt cx="4723370" cy="305965"/>
          </a:xfrm>
        </p:grpSpPr>
        <p:sp>
          <p:nvSpPr>
            <p:cNvPr name="Freeform 6" id="6"/>
            <p:cNvSpPr/>
            <p:nvPr/>
          </p:nvSpPr>
          <p:spPr>
            <a:xfrm flipH="false" flipV="false" rot="0">
              <a:off x="0" y="0"/>
              <a:ext cx="4723370" cy="305965"/>
            </a:xfrm>
            <a:custGeom>
              <a:avLst/>
              <a:gdLst/>
              <a:ahLst/>
              <a:cxnLst/>
              <a:rect r="r" b="b" t="t" l="l"/>
              <a:pathLst>
                <a:path h="305965" w="4723370">
                  <a:moveTo>
                    <a:pt x="0" y="0"/>
                  </a:moveTo>
                  <a:lnTo>
                    <a:pt x="4723370" y="0"/>
                  </a:lnTo>
                  <a:lnTo>
                    <a:pt x="4723370" y="305965"/>
                  </a:lnTo>
                  <a:lnTo>
                    <a:pt x="0" y="305965"/>
                  </a:lnTo>
                  <a:close/>
                </a:path>
              </a:pathLst>
            </a:custGeom>
            <a:solidFill>
              <a:srgbClr val="F0F2F5"/>
            </a:solidFill>
          </p:spPr>
        </p:sp>
        <p:sp>
          <p:nvSpPr>
            <p:cNvPr name="TextBox 7" id="7"/>
            <p:cNvSpPr txBox="true"/>
            <p:nvPr/>
          </p:nvSpPr>
          <p:spPr>
            <a:xfrm>
              <a:off x="0" y="-19050"/>
              <a:ext cx="4723370" cy="325015"/>
            </a:xfrm>
            <a:prstGeom prst="rect">
              <a:avLst/>
            </a:prstGeom>
          </p:spPr>
          <p:txBody>
            <a:bodyPr anchor="ctr" rtlCol="false" tIns="69432" lIns="69432" bIns="69432" rIns="69432"/>
            <a:lstStyle/>
            <a:p>
              <a:pPr algn="ctr">
                <a:lnSpc>
                  <a:spcPts val="1599"/>
                </a:lnSpc>
              </a:pPr>
            </a:p>
          </p:txBody>
        </p:sp>
      </p:grpSp>
      <p:sp>
        <p:nvSpPr>
          <p:cNvPr name="Freeform 8" id="8"/>
          <p:cNvSpPr/>
          <p:nvPr/>
        </p:nvSpPr>
        <p:spPr>
          <a:xfrm flipH="false" flipV="false" rot="0">
            <a:off x="-336445" y="266457"/>
            <a:ext cx="19025139" cy="762243"/>
          </a:xfrm>
          <a:custGeom>
            <a:avLst/>
            <a:gdLst/>
            <a:ahLst/>
            <a:cxnLst/>
            <a:rect r="r" b="b" t="t" l="l"/>
            <a:pathLst>
              <a:path h="762243" w="19025139">
                <a:moveTo>
                  <a:pt x="0" y="0"/>
                </a:moveTo>
                <a:lnTo>
                  <a:pt x="19025139" y="0"/>
                </a:lnTo>
                <a:lnTo>
                  <a:pt x="19025139" y="762243"/>
                </a:lnTo>
                <a:lnTo>
                  <a:pt x="0" y="762243"/>
                </a:lnTo>
                <a:lnTo>
                  <a:pt x="0" y="0"/>
                </a:lnTo>
                <a:close/>
              </a:path>
            </a:pathLst>
          </a:custGeom>
          <a:blipFill>
            <a:blip r:embed="rId2"/>
            <a:stretch>
              <a:fillRect l="0" t="-1896850" r="0" b="-12381"/>
            </a:stretch>
          </a:blipFill>
        </p:spPr>
      </p:sp>
      <p:sp>
        <p:nvSpPr>
          <p:cNvPr name="TextBox 9" id="9"/>
          <p:cNvSpPr txBox="true"/>
          <p:nvPr/>
        </p:nvSpPr>
        <p:spPr>
          <a:xfrm rot="0">
            <a:off x="329374" y="1329634"/>
            <a:ext cx="17497146" cy="666750"/>
          </a:xfrm>
          <a:prstGeom prst="rect">
            <a:avLst/>
          </a:prstGeom>
        </p:spPr>
        <p:txBody>
          <a:bodyPr anchor="t" rtlCol="false" tIns="0" lIns="0" bIns="0" rIns="0">
            <a:spAutoFit/>
          </a:bodyPr>
          <a:lstStyle/>
          <a:p>
            <a:pPr algn="l" marL="0" indent="0" lvl="0">
              <a:lnSpc>
                <a:spcPts val="2666"/>
              </a:lnSpc>
            </a:pPr>
            <a:r>
              <a:rPr lang="en-US" sz="2222" i="true">
                <a:solidFill>
                  <a:srgbClr val="101820"/>
                </a:solidFill>
                <a:latin typeface="Gotham Italics"/>
                <a:ea typeface="Gotham Italics"/>
                <a:cs typeface="Gotham Italics"/>
                <a:sym typeface="Gotham Italics"/>
              </a:rPr>
              <a:t>Bodystat offers </a:t>
            </a:r>
            <a:r>
              <a:rPr lang="en-US" sz="2222" i="true">
                <a:solidFill>
                  <a:srgbClr val="101820"/>
                </a:solidFill>
                <a:latin typeface="Gotham Italics"/>
                <a:ea typeface="Gotham Italics"/>
                <a:cs typeface="Gotham Italics"/>
                <a:sym typeface="Gotham Italics"/>
              </a:rPr>
              <a:t>BIS devices. Its Multiscan 5000 is a portable BIS analyzer, while other devices offer mo</a:t>
            </a:r>
            <a:r>
              <a:rPr lang="en-US" sz="2222" i="true">
                <a:solidFill>
                  <a:srgbClr val="101820"/>
                </a:solidFill>
                <a:latin typeface="Gotham Italics"/>
                <a:ea typeface="Gotham Italics"/>
                <a:cs typeface="Gotham Italics"/>
                <a:sym typeface="Gotham Italics"/>
              </a:rPr>
              <a:t>re basi</a:t>
            </a:r>
            <a:r>
              <a:rPr lang="en-US" sz="2222" i="true">
                <a:solidFill>
                  <a:srgbClr val="101820"/>
                </a:solidFill>
                <a:latin typeface="Gotham Italics"/>
                <a:ea typeface="Gotham Italics"/>
                <a:cs typeface="Gotham Italics"/>
                <a:sym typeface="Gotham Italics"/>
              </a:rPr>
              <a:t>c measurem</a:t>
            </a:r>
            <a:r>
              <a:rPr lang="en-US" sz="2222" i="true">
                <a:solidFill>
                  <a:srgbClr val="101820"/>
                </a:solidFill>
                <a:latin typeface="Gotham Italics"/>
                <a:ea typeface="Gotham Italics"/>
                <a:cs typeface="Gotham Italics"/>
                <a:sym typeface="Gotham Italics"/>
              </a:rPr>
              <a:t>en</a:t>
            </a:r>
            <a:r>
              <a:rPr lang="en-US" sz="2222" i="true">
                <a:solidFill>
                  <a:srgbClr val="101820"/>
                </a:solidFill>
                <a:latin typeface="Gotham Italics"/>
                <a:ea typeface="Gotham Italics"/>
                <a:cs typeface="Gotham Italics"/>
                <a:sym typeface="Gotham Italics"/>
              </a:rPr>
              <a:t>ts.</a:t>
            </a:r>
          </a:p>
        </p:txBody>
      </p:sp>
      <p:grpSp>
        <p:nvGrpSpPr>
          <p:cNvPr name="Group 10" id="10"/>
          <p:cNvGrpSpPr/>
          <p:nvPr/>
        </p:nvGrpSpPr>
        <p:grpSpPr>
          <a:xfrm rot="0">
            <a:off x="329374" y="2126350"/>
            <a:ext cx="15120324" cy="1930714"/>
            <a:chOff x="0" y="0"/>
            <a:chExt cx="20160432" cy="2574285"/>
          </a:xfrm>
        </p:grpSpPr>
        <p:sp>
          <p:nvSpPr>
            <p:cNvPr name="TextBox 11" id="1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12" id="12"/>
            <p:cNvGrpSpPr/>
            <p:nvPr/>
          </p:nvGrpSpPr>
          <p:grpSpPr>
            <a:xfrm rot="0">
              <a:off x="0" y="266157"/>
              <a:ext cx="20160432" cy="2308129"/>
              <a:chOff x="0" y="0"/>
              <a:chExt cx="5807147" cy="664849"/>
            </a:xfrm>
          </p:grpSpPr>
          <p:sp>
            <p:nvSpPr>
              <p:cNvPr name="Freeform 13" id="1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14" id="1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15" id="15"/>
            <p:cNvGrpSpPr/>
            <p:nvPr/>
          </p:nvGrpSpPr>
          <p:grpSpPr>
            <a:xfrm rot="0">
              <a:off x="0" y="266157"/>
              <a:ext cx="20160432" cy="447972"/>
              <a:chOff x="0" y="0"/>
              <a:chExt cx="5883307" cy="130729"/>
            </a:xfrm>
          </p:grpSpPr>
          <p:sp>
            <p:nvSpPr>
              <p:cNvPr name="Freeform 16" id="1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17" id="1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18" id="18"/>
            <p:cNvGrpSpPr/>
            <p:nvPr/>
          </p:nvGrpSpPr>
          <p:grpSpPr>
            <a:xfrm rot="0">
              <a:off x="0" y="535143"/>
              <a:ext cx="20160432" cy="447972"/>
              <a:chOff x="0" y="0"/>
              <a:chExt cx="5883307" cy="130729"/>
            </a:xfrm>
          </p:grpSpPr>
          <p:sp>
            <p:nvSpPr>
              <p:cNvPr name="Freeform 19" id="1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20" id="2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21" id="21"/>
            <p:cNvSpPr txBox="true"/>
            <p:nvPr/>
          </p:nvSpPr>
          <p:spPr>
            <a:xfrm rot="0">
              <a:off x="194826" y="1487936"/>
              <a:ext cx="19770780" cy="427077"/>
            </a:xfrm>
            <a:prstGeom prst="rect">
              <a:avLst/>
            </a:prstGeom>
          </p:spPr>
          <p:txBody>
            <a:bodyPr anchor="t" rtlCol="false" tIns="0" lIns="0" bIns="0" rIns="0">
              <a:spAutoFit/>
            </a:bodyPr>
            <a:lstStyle/>
            <a:p>
              <a:pPr algn="l" marL="0" indent="0" lvl="0">
                <a:lnSpc>
                  <a:spcPts val="2556"/>
                </a:lnSpc>
                <a:spcBef>
                  <a:spcPct val="0"/>
                </a:spcBef>
              </a:pPr>
              <a:r>
                <a:rPr lang="en-US" b="true" sz="1966" spc="-98" strike="noStrike" u="none">
                  <a:solidFill>
                    <a:srgbClr val="101820"/>
                  </a:solidFill>
                  <a:latin typeface="Pretendard Medium"/>
                  <a:ea typeface="Pretendard Medium"/>
                  <a:cs typeface="Pretendard Medium"/>
                  <a:sym typeface="Pretendard Medium"/>
                </a:rPr>
                <a:t>Th</a:t>
              </a:r>
              <a:r>
                <a:rPr lang="en-US" b="true" sz="1966" spc="-98" strike="noStrike" u="none">
                  <a:solidFill>
                    <a:srgbClr val="101820"/>
                  </a:solidFill>
                  <a:latin typeface="Pretendard Medium"/>
                  <a:ea typeface="Pretendard Medium"/>
                  <a:cs typeface="Pretendard Medium"/>
                  <a:sym typeface="Pretendard Medium"/>
                </a:rPr>
                <a:t>e</a:t>
              </a:r>
              <a:r>
                <a:rPr lang="en-US" b="true" sz="1966" spc="-98" strike="noStrike" u="none">
                  <a:solidFill>
                    <a:srgbClr val="101820"/>
                  </a:solidFill>
                  <a:latin typeface="Pretendard Medium"/>
                  <a:ea typeface="Pretendard Medium"/>
                  <a:cs typeface="Pretendard Medium"/>
                  <a:sym typeface="Pretendard Medium"/>
                </a:rPr>
                <a:t> s</a:t>
              </a:r>
              <a:r>
                <a:rPr lang="en-US" b="true" sz="1966" spc="-98" strike="noStrike" u="none">
                  <a:solidFill>
                    <a:srgbClr val="101820"/>
                  </a:solidFill>
                  <a:latin typeface="Pretendard Medium"/>
                  <a:ea typeface="Pretendard Medium"/>
                  <a:cs typeface="Pretendard Medium"/>
                  <a:sym typeface="Pretendard Medium"/>
                </a:rPr>
                <a:t>u</a:t>
              </a:r>
              <a:r>
                <a:rPr lang="en-US" b="true" sz="1966" spc="-98" strike="noStrike" u="none">
                  <a:solidFill>
                    <a:srgbClr val="101820"/>
                  </a:solidFill>
                  <a:latin typeface="Pretendard Medium"/>
                  <a:ea typeface="Pretendard Medium"/>
                  <a:cs typeface="Pretendard Medium"/>
                  <a:sym typeface="Pretendard Medium"/>
                </a:rPr>
                <a:t>bjec</a:t>
              </a:r>
              <a:r>
                <a:rPr lang="en-US" b="true" sz="1966" spc="-98" strike="noStrike" u="none">
                  <a:solidFill>
                    <a:srgbClr val="101820"/>
                  </a:solidFill>
                  <a:latin typeface="Pretendard Medium"/>
                  <a:ea typeface="Pretendard Medium"/>
                  <a:cs typeface="Pretendard Medium"/>
                  <a:sym typeface="Pretendard Medium"/>
                </a:rPr>
                <a:t>t needs to  l</a:t>
              </a:r>
              <a:r>
                <a:rPr lang="en-US" b="true" sz="1966" spc="-98" strike="noStrike" u="none">
                  <a:solidFill>
                    <a:srgbClr val="101820"/>
                  </a:solidFill>
                  <a:latin typeface="Pretendard Medium"/>
                  <a:ea typeface="Pretendard Medium"/>
                  <a:cs typeface="Pretendard Medium"/>
                  <a:sym typeface="Pretendard Medium"/>
                </a:rPr>
                <a:t>ies</a:t>
              </a:r>
              <a:r>
                <a:rPr lang="en-US" b="true" sz="1966" spc="-98" strike="noStrike" u="none">
                  <a:solidFill>
                    <a:srgbClr val="101820"/>
                  </a:solidFill>
                  <a:latin typeface="Pretendard Medium"/>
                  <a:ea typeface="Pretendard Medium"/>
                  <a:cs typeface="Pretendard Medium"/>
                  <a:sym typeface="Pretendard Medium"/>
                </a:rPr>
                <a:t> </a:t>
              </a:r>
              <a:r>
                <a:rPr lang="en-US" b="true" sz="1966" spc="-98" strike="noStrike" u="none">
                  <a:solidFill>
                    <a:srgbClr val="101820"/>
                  </a:solidFill>
                  <a:latin typeface="Pretendard Medium"/>
                  <a:ea typeface="Pretendard Medium"/>
                  <a:cs typeface="Pretendard Medium"/>
                  <a:sym typeface="Pretendard Medium"/>
                </a:rPr>
                <a:t>d</a:t>
              </a:r>
              <a:r>
                <a:rPr lang="en-US" b="true" sz="1966" spc="-98" strike="noStrike" u="none">
                  <a:solidFill>
                    <a:srgbClr val="101820"/>
                  </a:solidFill>
                  <a:latin typeface="Pretendard Medium"/>
                  <a:ea typeface="Pretendard Medium"/>
                  <a:cs typeface="Pretendard Medium"/>
                  <a:sym typeface="Pretendard Medium"/>
                </a:rPr>
                <a:t>o</a:t>
              </a:r>
              <a:r>
                <a:rPr lang="en-US" b="true" sz="1966" spc="-98" strike="noStrike" u="none">
                  <a:solidFill>
                    <a:srgbClr val="101820"/>
                  </a:solidFill>
                  <a:latin typeface="Pretendard Medium"/>
                  <a:ea typeface="Pretendard Medium"/>
                  <a:cs typeface="Pretendard Medium"/>
                  <a:sym typeface="Pretendard Medium"/>
                </a:rPr>
                <a:t>w</a:t>
              </a:r>
              <a:r>
                <a:rPr lang="en-US" b="true" sz="1966" spc="-98" strike="noStrike" u="none">
                  <a:solidFill>
                    <a:srgbClr val="101820"/>
                  </a:solidFill>
                  <a:latin typeface="Pretendard Medium"/>
                  <a:ea typeface="Pretendard Medium"/>
                  <a:cs typeface="Pretendard Medium"/>
                  <a:sym typeface="Pretendard Medium"/>
                </a:rPr>
                <a:t>n f</a:t>
              </a:r>
              <a:r>
                <a:rPr lang="en-US" b="true" sz="1966" spc="-98" strike="noStrike" u="none">
                  <a:solidFill>
                    <a:srgbClr val="101820"/>
                  </a:solidFill>
                  <a:latin typeface="Pretendard Medium"/>
                  <a:ea typeface="Pretendard Medium"/>
                  <a:cs typeface="Pretendard Medium"/>
                  <a:sym typeface="Pretendard Medium"/>
                </a:rPr>
                <a:t>o</a:t>
              </a:r>
              <a:r>
                <a:rPr lang="en-US" b="true" sz="1966" spc="-98" strike="noStrike" u="none">
                  <a:solidFill>
                    <a:srgbClr val="101820"/>
                  </a:solidFill>
                  <a:latin typeface="Pretendard Medium"/>
                  <a:ea typeface="Pretendard Medium"/>
                  <a:cs typeface="Pretendard Medium"/>
                  <a:sym typeface="Pretendard Medium"/>
                </a:rPr>
                <a:t>r</a:t>
              </a:r>
              <a:r>
                <a:rPr lang="en-US" b="true" sz="1966" spc="-98" strike="noStrike" u="none">
                  <a:solidFill>
                    <a:srgbClr val="101820"/>
                  </a:solidFill>
                  <a:latin typeface="Pretendard Medium"/>
                  <a:ea typeface="Pretendard Medium"/>
                  <a:cs typeface="Pretendard Medium"/>
                  <a:sym typeface="Pretendard Medium"/>
                </a:rPr>
                <a:t> t</a:t>
              </a:r>
              <a:r>
                <a:rPr lang="en-US" b="true" sz="1966" spc="-98" strike="noStrike" u="none">
                  <a:solidFill>
                    <a:srgbClr val="101820"/>
                  </a:solidFill>
                  <a:latin typeface="Pretendard Medium"/>
                  <a:ea typeface="Pretendard Medium"/>
                  <a:cs typeface="Pretendard Medium"/>
                  <a:sym typeface="Pretendard Medium"/>
                </a:rPr>
                <a:t>e</a:t>
              </a:r>
              <a:r>
                <a:rPr lang="en-US" b="true" sz="1966" spc="-98" strike="noStrike" u="none">
                  <a:solidFill>
                    <a:srgbClr val="101820"/>
                  </a:solidFill>
                  <a:latin typeface="Pretendard Medium"/>
                  <a:ea typeface="Pretendard Medium"/>
                  <a:cs typeface="Pretendard Medium"/>
                  <a:sym typeface="Pretendard Medium"/>
                </a:rPr>
                <a:t>sti</a:t>
              </a:r>
              <a:r>
                <a:rPr lang="en-US" b="true" sz="1966" spc="-98" strike="noStrike" u="none">
                  <a:solidFill>
                    <a:srgbClr val="101820"/>
                  </a:solidFill>
                  <a:latin typeface="Pretendard Medium"/>
                  <a:ea typeface="Pretendard Medium"/>
                  <a:cs typeface="Pretendard Medium"/>
                  <a:sym typeface="Pretendard Medium"/>
                </a:rPr>
                <a:t>ng, unl</a:t>
              </a:r>
              <a:r>
                <a:rPr lang="en-US" b="true" sz="1966" spc="-98" strike="noStrike" u="none">
                  <a:solidFill>
                    <a:srgbClr val="101820"/>
                  </a:solidFill>
                  <a:latin typeface="Pretendard Medium"/>
                  <a:ea typeface="Pretendard Medium"/>
                  <a:cs typeface="Pretendard Medium"/>
                  <a:sym typeface="Pretendard Medium"/>
                </a:rPr>
                <a:t>ik</a:t>
              </a:r>
              <a:r>
                <a:rPr lang="en-US" b="true" sz="1966" spc="-98" strike="noStrike" u="none">
                  <a:solidFill>
                    <a:srgbClr val="101820"/>
                  </a:solidFill>
                  <a:latin typeface="Pretendard Medium"/>
                  <a:ea typeface="Pretendard Medium"/>
                  <a:cs typeface="Pretendard Medium"/>
                  <a:sym typeface="Pretendard Medium"/>
                </a:rPr>
                <a:t>e </a:t>
              </a:r>
              <a:r>
                <a:rPr lang="en-US" b="true" sz="1966" spc="-98" strike="noStrike" u="none">
                  <a:solidFill>
                    <a:srgbClr val="101820"/>
                  </a:solidFill>
                  <a:latin typeface="Pretendard Medium"/>
                  <a:ea typeface="Pretendard Medium"/>
                  <a:cs typeface="Pretendard Medium"/>
                  <a:sym typeface="Pretendard Medium"/>
                </a:rPr>
                <a:t>a</a:t>
              </a:r>
              <a:r>
                <a:rPr lang="en-US" b="true" sz="1966" spc="-98" strike="noStrike" u="none">
                  <a:solidFill>
                    <a:srgbClr val="101820"/>
                  </a:solidFill>
                  <a:latin typeface="Pretendard Medium"/>
                  <a:ea typeface="Pretendard Medium"/>
                  <a:cs typeface="Pretendard Medium"/>
                  <a:sym typeface="Pretendard Medium"/>
                </a:rPr>
                <a:t> </a:t>
              </a:r>
              <a:r>
                <a:rPr lang="en-US" b="true" sz="1966" spc="-98" strike="noStrike" u="none">
                  <a:solidFill>
                    <a:srgbClr val="101820"/>
                  </a:solidFill>
                  <a:latin typeface="Pretendard Medium"/>
                  <a:ea typeface="Pretendard Medium"/>
                  <a:cs typeface="Pretendard Medium"/>
                  <a:sym typeface="Pretendard Medium"/>
                </a:rPr>
                <a:t>stan</a:t>
              </a:r>
              <a:r>
                <a:rPr lang="en-US" b="true" sz="1966" spc="-98" strike="noStrike" u="none">
                  <a:solidFill>
                    <a:srgbClr val="101820"/>
                  </a:solidFill>
                  <a:latin typeface="Pretendard Medium"/>
                  <a:ea typeface="Pretendard Medium"/>
                  <a:cs typeface="Pretendard Medium"/>
                  <a:sym typeface="Pretendard Medium"/>
                </a:rPr>
                <a:t>di</a:t>
              </a:r>
              <a:r>
                <a:rPr lang="en-US" b="true" sz="1966" spc="-98" strike="noStrike" u="none">
                  <a:solidFill>
                    <a:srgbClr val="101820"/>
                  </a:solidFill>
                  <a:latin typeface="Pretendard Medium"/>
                  <a:ea typeface="Pretendard Medium"/>
                  <a:cs typeface="Pretendard Medium"/>
                  <a:sym typeface="Pretendard Medium"/>
                </a:rPr>
                <a:t>n</a:t>
              </a:r>
              <a:r>
                <a:rPr lang="en-US" b="true" sz="1966" spc="-98" strike="noStrike" u="none">
                  <a:solidFill>
                    <a:srgbClr val="101820"/>
                  </a:solidFill>
                  <a:latin typeface="Pretendard Medium"/>
                  <a:ea typeface="Pretendard Medium"/>
                  <a:cs typeface="Pretendard Medium"/>
                  <a:sym typeface="Pretendard Medium"/>
                </a:rPr>
                <a:t>g </a:t>
              </a:r>
              <a:r>
                <a:rPr lang="en-US" b="true" sz="1966" spc="-98" strike="noStrike" u="none">
                  <a:solidFill>
                    <a:srgbClr val="101820"/>
                  </a:solidFill>
                  <a:latin typeface="Pretendard Medium"/>
                  <a:ea typeface="Pretendard Medium"/>
                  <a:cs typeface="Pretendard Medium"/>
                  <a:sym typeface="Pretendard Medium"/>
                </a:rPr>
                <a:t>an</a:t>
              </a:r>
              <a:r>
                <a:rPr lang="en-US" b="true" sz="1966" spc="-98" strike="noStrike" u="none">
                  <a:solidFill>
                    <a:srgbClr val="101820"/>
                  </a:solidFill>
                  <a:latin typeface="Pretendard Medium"/>
                  <a:ea typeface="Pretendard Medium"/>
                  <a:cs typeface="Pretendard Medium"/>
                  <a:sym typeface="Pretendard Medium"/>
                </a:rPr>
                <a:t>aly</a:t>
              </a:r>
              <a:r>
                <a:rPr lang="en-US" b="true" sz="1966" spc="-98" strike="noStrike" u="none">
                  <a:solidFill>
                    <a:srgbClr val="101820"/>
                  </a:solidFill>
                  <a:latin typeface="Pretendard Medium"/>
                  <a:ea typeface="Pretendard Medium"/>
                  <a:cs typeface="Pretendard Medium"/>
                  <a:sym typeface="Pretendard Medium"/>
                </a:rPr>
                <a:t>z</a:t>
              </a:r>
              <a:r>
                <a:rPr lang="en-US" b="true" sz="1966" spc="-98" strike="noStrike" u="none">
                  <a:solidFill>
                    <a:srgbClr val="101820"/>
                  </a:solidFill>
                  <a:latin typeface="Pretendard Medium"/>
                  <a:ea typeface="Pretendard Medium"/>
                  <a:cs typeface="Pretendard Medium"/>
                  <a:sym typeface="Pretendard Medium"/>
                </a:rPr>
                <a:t>e</a:t>
              </a:r>
              <a:r>
                <a:rPr lang="en-US" b="true" sz="1966" spc="-98" strike="noStrike" u="none">
                  <a:solidFill>
                    <a:srgbClr val="101820"/>
                  </a:solidFill>
                  <a:latin typeface="Pretendard Medium"/>
                  <a:ea typeface="Pretendard Medium"/>
                  <a:cs typeface="Pretendard Medium"/>
                  <a:sym typeface="Pretendard Medium"/>
                </a:rPr>
                <a:t>r</a:t>
              </a:r>
              <a:r>
                <a:rPr lang="en-US" b="true" sz="1966" spc="-98" strike="noStrike" u="none">
                  <a:solidFill>
                    <a:srgbClr val="101820"/>
                  </a:solidFill>
                  <a:latin typeface="Pretendard Medium"/>
                  <a:ea typeface="Pretendard Medium"/>
                  <a:cs typeface="Pretendard Medium"/>
                  <a:sym typeface="Pretendard Medium"/>
                </a:rPr>
                <a:t> w</a:t>
              </a:r>
              <a:r>
                <a:rPr lang="en-US" b="true" sz="1966" spc="-98" strike="noStrike" u="none">
                  <a:solidFill>
                    <a:srgbClr val="101820"/>
                  </a:solidFill>
                  <a:latin typeface="Pretendard Medium"/>
                  <a:ea typeface="Pretendard Medium"/>
                  <a:cs typeface="Pretendard Medium"/>
                  <a:sym typeface="Pretendard Medium"/>
                </a:rPr>
                <a:t>ork</a:t>
              </a:r>
              <a:r>
                <a:rPr lang="en-US" b="true" sz="1966" spc="-98" strike="noStrike" u="none">
                  <a:solidFill>
                    <a:srgbClr val="101820"/>
                  </a:solidFill>
                  <a:latin typeface="Pretendard Medium"/>
                  <a:ea typeface="Pretendard Medium"/>
                  <a:cs typeface="Pretendard Medium"/>
                  <a:sym typeface="Pretendard Medium"/>
                </a:rPr>
                <a:t>fl</a:t>
              </a:r>
              <a:r>
                <a:rPr lang="en-US" b="true" sz="1966" spc="-98" strike="noStrike" u="none">
                  <a:solidFill>
                    <a:srgbClr val="101820"/>
                  </a:solidFill>
                  <a:latin typeface="Pretendard Medium"/>
                  <a:ea typeface="Pretendard Medium"/>
                  <a:cs typeface="Pretendard Medium"/>
                  <a:sym typeface="Pretendard Medium"/>
                </a:rPr>
                <a:t>ow</a:t>
              </a:r>
              <a:r>
                <a:rPr lang="en-US" b="true" sz="1966" spc="-98" strike="noStrike" u="none">
                  <a:solidFill>
                    <a:srgbClr val="101820"/>
                  </a:solidFill>
                  <a:latin typeface="Pretendard Medium"/>
                  <a:ea typeface="Pretendard Medium"/>
                  <a:cs typeface="Pretendard Medium"/>
                  <a:sym typeface="Pretendard Medium"/>
                </a:rPr>
                <a:t>.</a:t>
              </a:r>
            </a:p>
          </p:txBody>
        </p:sp>
        <p:sp>
          <p:nvSpPr>
            <p:cNvPr name="TextBox 22" id="22"/>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Su</a:t>
              </a:r>
              <a:r>
                <a:rPr lang="en-US" b="true" sz="2180">
                  <a:solidFill>
                    <a:srgbClr val="FFFFFF"/>
                  </a:solidFill>
                  <a:latin typeface="Pretendard Bold"/>
                  <a:ea typeface="Pretendard Bold"/>
                  <a:cs typeface="Pretendard Bold"/>
                  <a:sym typeface="Pretendard Bold"/>
                </a:rPr>
                <a:t>pine measurement procedure</a:t>
              </a:r>
            </a:p>
          </p:txBody>
        </p:sp>
      </p:grpSp>
      <p:sp>
        <p:nvSpPr>
          <p:cNvPr name="TextBox 23" id="23"/>
          <p:cNvSpPr txBox="true"/>
          <p:nvPr/>
        </p:nvSpPr>
        <p:spPr>
          <a:xfrm rot="0">
            <a:off x="0" y="241353"/>
            <a:ext cx="3083698" cy="706192"/>
          </a:xfrm>
          <a:prstGeom prst="rect">
            <a:avLst/>
          </a:prstGeom>
        </p:spPr>
        <p:txBody>
          <a:bodyPr anchor="t" rtlCol="false" tIns="0" lIns="0" bIns="0" rIns="0">
            <a:spAutoFit/>
          </a:bodyPr>
          <a:lstStyle/>
          <a:p>
            <a:pPr algn="ctr">
              <a:lnSpc>
                <a:spcPts val="5728"/>
              </a:lnSpc>
            </a:pPr>
            <a:r>
              <a:rPr lang="en-US" sz="4091" b="true">
                <a:solidFill>
                  <a:srgbClr val="9E002D"/>
                </a:solidFill>
                <a:latin typeface="Canva Sans Bold"/>
                <a:ea typeface="Canva Sans Bold"/>
                <a:cs typeface="Canva Sans Bold"/>
                <a:sym typeface="Canva Sans Bold"/>
              </a:rPr>
              <a:t>Bodystat</a:t>
            </a:r>
          </a:p>
        </p:txBody>
      </p:sp>
      <p:grpSp>
        <p:nvGrpSpPr>
          <p:cNvPr name="Group 24" id="24"/>
          <p:cNvGrpSpPr/>
          <p:nvPr/>
        </p:nvGrpSpPr>
        <p:grpSpPr>
          <a:xfrm rot="0">
            <a:off x="329374" y="4057064"/>
            <a:ext cx="15120324" cy="1930714"/>
            <a:chOff x="0" y="0"/>
            <a:chExt cx="20160432" cy="2574285"/>
          </a:xfrm>
        </p:grpSpPr>
        <p:sp>
          <p:nvSpPr>
            <p:cNvPr name="TextBox 25" id="25"/>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26" id="26"/>
            <p:cNvGrpSpPr/>
            <p:nvPr/>
          </p:nvGrpSpPr>
          <p:grpSpPr>
            <a:xfrm rot="0">
              <a:off x="0" y="266157"/>
              <a:ext cx="20160432" cy="2308129"/>
              <a:chOff x="0" y="0"/>
              <a:chExt cx="5807147" cy="664849"/>
            </a:xfrm>
          </p:grpSpPr>
          <p:sp>
            <p:nvSpPr>
              <p:cNvPr name="Freeform 27" id="27"/>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28" id="28"/>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29" id="29"/>
            <p:cNvGrpSpPr/>
            <p:nvPr/>
          </p:nvGrpSpPr>
          <p:grpSpPr>
            <a:xfrm rot="0">
              <a:off x="0" y="266157"/>
              <a:ext cx="20160432" cy="447972"/>
              <a:chOff x="0" y="0"/>
              <a:chExt cx="5883307" cy="130729"/>
            </a:xfrm>
          </p:grpSpPr>
          <p:sp>
            <p:nvSpPr>
              <p:cNvPr name="Freeform 30" id="30"/>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31" id="31"/>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32" id="32"/>
            <p:cNvGrpSpPr/>
            <p:nvPr/>
          </p:nvGrpSpPr>
          <p:grpSpPr>
            <a:xfrm rot="0">
              <a:off x="0" y="535143"/>
              <a:ext cx="20160432" cy="447972"/>
              <a:chOff x="0" y="0"/>
              <a:chExt cx="5883307" cy="130729"/>
            </a:xfrm>
          </p:grpSpPr>
          <p:sp>
            <p:nvSpPr>
              <p:cNvPr name="Freeform 33" id="33"/>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34" id="3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35" id="35"/>
            <p:cNvSpPr txBox="true"/>
            <p:nvPr/>
          </p:nvSpPr>
          <p:spPr>
            <a:xfrm rot="0">
              <a:off x="213240" y="1391646"/>
              <a:ext cx="19770780" cy="858877"/>
            </a:xfrm>
            <a:prstGeom prst="rect">
              <a:avLst/>
            </a:prstGeom>
          </p:spPr>
          <p:txBody>
            <a:bodyPr anchor="t" rtlCol="false" tIns="0" lIns="0" bIns="0" rIns="0">
              <a:spAutoFit/>
            </a:bodyPr>
            <a:lstStyle/>
            <a:p>
              <a:pPr algn="l">
                <a:lnSpc>
                  <a:spcPts val="2556"/>
                </a:lnSpc>
                <a:spcBef>
                  <a:spcPct val="0"/>
                </a:spcBef>
              </a:pPr>
              <a:r>
                <a:rPr lang="en-US" b="true" sz="1966" spc="-98">
                  <a:solidFill>
                    <a:srgbClr val="101820"/>
                  </a:solidFill>
                  <a:latin typeface="Pretendard Medium"/>
                  <a:ea typeface="Pretendard Medium"/>
                  <a:cs typeface="Pretendard Medium"/>
                  <a:sym typeface="Pretendard Medium"/>
                </a:rPr>
                <a:t>Uses Bioelectrical Impedance Spectroscopy</a:t>
              </a:r>
              <a:r>
                <a:rPr lang="en-US" b="true" sz="1966" spc="-98" strike="noStrike" u="none">
                  <a:solidFill>
                    <a:srgbClr val="101820"/>
                  </a:solidFill>
                  <a:latin typeface="Pretendard Medium"/>
                  <a:ea typeface="Pretendard Medium"/>
                  <a:cs typeface="Pretendard Medium"/>
                  <a:sym typeface="Pretendard Medium"/>
                </a:rPr>
                <a:t> (BIS) rather than InBody’s</a:t>
              </a:r>
              <a:r>
                <a:rPr lang="en-US" b="true" sz="1966" spc="-98" strike="noStrike" u="none">
                  <a:solidFill>
                    <a:srgbClr val="101820"/>
                  </a:solidFill>
                  <a:latin typeface="Pretendard Medium"/>
                  <a:ea typeface="Pretendard Medium"/>
                  <a:cs typeface="Pretendard Medium"/>
                  <a:sym typeface="Pretendard Medium"/>
                </a:rPr>
                <a:t> Direc</a:t>
              </a:r>
              <a:r>
                <a:rPr lang="en-US" b="true" sz="1966" spc="-98" strike="noStrike" u="none">
                  <a:solidFill>
                    <a:srgbClr val="101820"/>
                  </a:solidFill>
                  <a:latin typeface="Pretendard Medium"/>
                  <a:ea typeface="Pretendard Medium"/>
                  <a:cs typeface="Pretendard Medium"/>
                  <a:sym typeface="Pretendard Medium"/>
                </a:rPr>
                <a:t>t</a:t>
              </a:r>
              <a:r>
                <a:rPr lang="en-US" b="true" sz="1966" spc="-98" strike="noStrike" u="none">
                  <a:solidFill>
                    <a:srgbClr val="101820"/>
                  </a:solidFill>
                  <a:latin typeface="Pretendard Medium"/>
                  <a:ea typeface="Pretendard Medium"/>
                  <a:cs typeface="Pretendard Medium"/>
                  <a:sym typeface="Pretendard Medium"/>
                </a:rPr>
                <a:t> Segmental M</a:t>
              </a:r>
              <a:r>
                <a:rPr lang="en-US" b="true" sz="1966" spc="-98" strike="noStrike" u="none">
                  <a:solidFill>
                    <a:srgbClr val="101820"/>
                  </a:solidFill>
                  <a:latin typeface="Pretendard Medium"/>
                  <a:ea typeface="Pretendard Medium"/>
                  <a:cs typeface="Pretendard Medium"/>
                  <a:sym typeface="Pretendard Medium"/>
                </a:rPr>
                <a:t>u</a:t>
              </a:r>
              <a:r>
                <a:rPr lang="en-US" b="true" sz="1966" spc="-98" strike="noStrike" u="none">
                  <a:solidFill>
                    <a:srgbClr val="101820"/>
                  </a:solidFill>
                  <a:latin typeface="Pretendard Medium"/>
                  <a:ea typeface="Pretendard Medium"/>
                  <a:cs typeface="Pretendard Medium"/>
                  <a:sym typeface="Pretendard Medium"/>
                </a:rPr>
                <a:t>lt</a:t>
              </a:r>
              <a:r>
                <a:rPr lang="en-US" b="true" sz="1966" spc="-98" strike="noStrike" u="none">
                  <a:solidFill>
                    <a:srgbClr val="101820"/>
                  </a:solidFill>
                  <a:latin typeface="Pretendard Medium"/>
                  <a:ea typeface="Pretendard Medium"/>
                  <a:cs typeface="Pretendard Medium"/>
                  <a:sym typeface="Pretendard Medium"/>
                </a:rPr>
                <a:t>i</a:t>
              </a:r>
              <a:r>
                <a:rPr lang="en-US" b="true" sz="1966" spc="-98" strike="noStrike" u="none">
                  <a:solidFill>
                    <a:srgbClr val="101820"/>
                  </a:solidFill>
                  <a:latin typeface="Pretendard Medium"/>
                  <a:ea typeface="Pretendard Medium"/>
                  <a:cs typeface="Pretendard Medium"/>
                  <a:sym typeface="Pretendard Medium"/>
                </a:rPr>
                <a:t>-Frequency BIA (DSM-BIA) approach.</a:t>
              </a:r>
            </a:p>
            <a:p>
              <a:pPr algn="l" marL="0" indent="0" lvl="0">
                <a:lnSpc>
                  <a:spcPts val="2556"/>
                </a:lnSpc>
                <a:spcBef>
                  <a:spcPct val="0"/>
                </a:spcBef>
              </a:pPr>
            </a:p>
          </p:txBody>
        </p:sp>
        <p:sp>
          <p:nvSpPr>
            <p:cNvPr name="TextBox 36" id="36"/>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BIS T</a:t>
              </a:r>
              <a:r>
                <a:rPr lang="en-US" b="true" sz="2180">
                  <a:solidFill>
                    <a:srgbClr val="FFFFFF"/>
                  </a:solidFill>
                  <a:latin typeface="Pretendard Bold"/>
                  <a:ea typeface="Pretendard Bold"/>
                  <a:cs typeface="Pretendard Bold"/>
                  <a:sym typeface="Pretendard Bold"/>
                </a:rPr>
                <a:t>echnology</a:t>
              </a:r>
            </a:p>
          </p:txBody>
        </p:sp>
      </p:grpSp>
      <p:grpSp>
        <p:nvGrpSpPr>
          <p:cNvPr name="Group 37" id="37"/>
          <p:cNvGrpSpPr/>
          <p:nvPr/>
        </p:nvGrpSpPr>
        <p:grpSpPr>
          <a:xfrm rot="0">
            <a:off x="329374" y="5987778"/>
            <a:ext cx="15120324" cy="1930714"/>
            <a:chOff x="0" y="0"/>
            <a:chExt cx="20160432" cy="2574285"/>
          </a:xfrm>
        </p:grpSpPr>
        <p:sp>
          <p:nvSpPr>
            <p:cNvPr name="TextBox 38" id="38"/>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39" id="39"/>
            <p:cNvGrpSpPr/>
            <p:nvPr/>
          </p:nvGrpSpPr>
          <p:grpSpPr>
            <a:xfrm rot="0">
              <a:off x="0" y="266157"/>
              <a:ext cx="20160432" cy="2308129"/>
              <a:chOff x="0" y="0"/>
              <a:chExt cx="5807147" cy="664849"/>
            </a:xfrm>
          </p:grpSpPr>
          <p:sp>
            <p:nvSpPr>
              <p:cNvPr name="Freeform 40" id="40"/>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41" id="41"/>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42" id="42"/>
            <p:cNvGrpSpPr/>
            <p:nvPr/>
          </p:nvGrpSpPr>
          <p:grpSpPr>
            <a:xfrm rot="0">
              <a:off x="0" y="266157"/>
              <a:ext cx="20160432" cy="447972"/>
              <a:chOff x="0" y="0"/>
              <a:chExt cx="5883307" cy="130729"/>
            </a:xfrm>
          </p:grpSpPr>
          <p:sp>
            <p:nvSpPr>
              <p:cNvPr name="Freeform 43" id="43"/>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44" id="4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45" id="45"/>
            <p:cNvGrpSpPr/>
            <p:nvPr/>
          </p:nvGrpSpPr>
          <p:grpSpPr>
            <a:xfrm rot="0">
              <a:off x="0" y="535143"/>
              <a:ext cx="20160432" cy="447972"/>
              <a:chOff x="0" y="0"/>
              <a:chExt cx="5883307" cy="130729"/>
            </a:xfrm>
          </p:grpSpPr>
          <p:sp>
            <p:nvSpPr>
              <p:cNvPr name="Freeform 46" id="46"/>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47" id="4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48" id="48"/>
            <p:cNvSpPr txBox="true"/>
            <p:nvPr/>
          </p:nvSpPr>
          <p:spPr>
            <a:xfrm rot="0">
              <a:off x="213240" y="1220921"/>
              <a:ext cx="19770780" cy="8588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Uses a handheld electrode configuration with measurements taken through one side of the body, rather than InBody’s 8-point tactile electrode system.</a:t>
              </a:r>
            </a:p>
          </p:txBody>
        </p:sp>
        <p:sp>
          <p:nvSpPr>
            <p:cNvPr name="TextBox 49" id="49"/>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Single-Side Measuremen</a:t>
              </a:r>
              <a:r>
                <a:rPr lang="en-US" b="true" sz="2180">
                  <a:solidFill>
                    <a:srgbClr val="FFFFFF"/>
                  </a:solidFill>
                  <a:latin typeface="Pretendard Bold"/>
                  <a:ea typeface="Pretendard Bold"/>
                  <a:cs typeface="Pretendard Bold"/>
                  <a:sym typeface="Pretendard Bold"/>
                </a:rPr>
                <a:t>t</a:t>
              </a:r>
            </a:p>
          </p:txBody>
        </p:sp>
      </p:grpSp>
      <p:grpSp>
        <p:nvGrpSpPr>
          <p:cNvPr name="Group 50" id="50"/>
          <p:cNvGrpSpPr/>
          <p:nvPr/>
        </p:nvGrpSpPr>
        <p:grpSpPr>
          <a:xfrm rot="0">
            <a:off x="329374" y="8032791"/>
            <a:ext cx="15120324" cy="1930714"/>
            <a:chOff x="0" y="0"/>
            <a:chExt cx="20160432" cy="2574285"/>
          </a:xfrm>
        </p:grpSpPr>
        <p:sp>
          <p:nvSpPr>
            <p:cNvPr name="TextBox 51" id="5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52" id="52"/>
            <p:cNvGrpSpPr/>
            <p:nvPr/>
          </p:nvGrpSpPr>
          <p:grpSpPr>
            <a:xfrm rot="0">
              <a:off x="0" y="266157"/>
              <a:ext cx="20160432" cy="2308129"/>
              <a:chOff x="0" y="0"/>
              <a:chExt cx="5807147" cy="664849"/>
            </a:xfrm>
          </p:grpSpPr>
          <p:sp>
            <p:nvSpPr>
              <p:cNvPr name="Freeform 53" id="5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54" id="5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55" id="55"/>
            <p:cNvGrpSpPr/>
            <p:nvPr/>
          </p:nvGrpSpPr>
          <p:grpSpPr>
            <a:xfrm rot="0">
              <a:off x="0" y="266157"/>
              <a:ext cx="20160432" cy="447972"/>
              <a:chOff x="0" y="0"/>
              <a:chExt cx="5883307" cy="130729"/>
            </a:xfrm>
          </p:grpSpPr>
          <p:sp>
            <p:nvSpPr>
              <p:cNvPr name="Freeform 56" id="5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57" id="5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58" id="58"/>
            <p:cNvGrpSpPr/>
            <p:nvPr/>
          </p:nvGrpSpPr>
          <p:grpSpPr>
            <a:xfrm rot="0">
              <a:off x="0" y="535143"/>
              <a:ext cx="20160432" cy="447972"/>
              <a:chOff x="0" y="0"/>
              <a:chExt cx="5883307" cy="130729"/>
            </a:xfrm>
          </p:grpSpPr>
          <p:sp>
            <p:nvSpPr>
              <p:cNvPr name="Freeform 59" id="5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60" id="6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61" id="61"/>
            <p:cNvSpPr txBox="true"/>
            <p:nvPr/>
          </p:nvSpPr>
          <p:spPr>
            <a:xfrm rot="0">
              <a:off x="194826" y="1104379"/>
              <a:ext cx="19770780" cy="12906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Does not provide the same direct, separate measurements of both arms, both legs and the trunk as InBody’s segmental measurement approach. The handheld workflow requires separate weight entry and does not provide the same integrated standing, segmental body composition assessment.</a:t>
              </a:r>
            </a:p>
          </p:txBody>
        </p:sp>
        <p:sp>
          <p:nvSpPr>
            <p:cNvPr name="TextBox 62" id="62"/>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Limited Segmen</a:t>
              </a:r>
              <a:r>
                <a:rPr lang="en-US" b="true" sz="2180">
                  <a:solidFill>
                    <a:srgbClr val="FFFFFF"/>
                  </a:solidFill>
                  <a:latin typeface="Pretendard Bold"/>
                  <a:ea typeface="Pretendard Bold"/>
                  <a:cs typeface="Pretendard Bold"/>
                  <a:sym typeface="Pretendard Bold"/>
                </a:rPr>
                <a:t>tal Assessment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1814"/>
            <a:ext cx="18688694" cy="815730"/>
            <a:chOff x="0" y="0"/>
            <a:chExt cx="8051325" cy="351427"/>
          </a:xfrm>
        </p:grpSpPr>
        <p:sp>
          <p:nvSpPr>
            <p:cNvPr name="Freeform 3" id="3"/>
            <p:cNvSpPr/>
            <p:nvPr/>
          </p:nvSpPr>
          <p:spPr>
            <a:xfrm flipH="false" flipV="false" rot="0">
              <a:off x="0" y="0"/>
              <a:ext cx="8051325" cy="351427"/>
            </a:xfrm>
            <a:custGeom>
              <a:avLst/>
              <a:gdLst/>
              <a:ahLst/>
              <a:cxnLst/>
              <a:rect r="r" b="b" t="t" l="l"/>
              <a:pathLst>
                <a:path h="351427" w="8051325">
                  <a:moveTo>
                    <a:pt x="0" y="0"/>
                  </a:moveTo>
                  <a:lnTo>
                    <a:pt x="8051325" y="0"/>
                  </a:lnTo>
                  <a:lnTo>
                    <a:pt x="8051325" y="351427"/>
                  </a:lnTo>
                  <a:lnTo>
                    <a:pt x="0" y="351427"/>
                  </a:lnTo>
                  <a:close/>
                </a:path>
              </a:pathLst>
            </a:custGeom>
            <a:solidFill>
              <a:srgbClr val="FFFFFF">
                <a:alpha val="69804"/>
              </a:srgbClr>
            </a:solidFill>
          </p:spPr>
        </p:sp>
        <p:sp>
          <p:nvSpPr>
            <p:cNvPr name="TextBox 4" id="4"/>
            <p:cNvSpPr txBox="true"/>
            <p:nvPr/>
          </p:nvSpPr>
          <p:spPr>
            <a:xfrm>
              <a:off x="0" y="-9525"/>
              <a:ext cx="8051325" cy="360952"/>
            </a:xfrm>
            <a:prstGeom prst="rect">
              <a:avLst/>
            </a:prstGeom>
          </p:spPr>
          <p:txBody>
            <a:bodyPr anchor="ctr" rtlCol="false" tIns="69432" lIns="69432" bIns="69432" rIns="69432"/>
            <a:lstStyle/>
            <a:p>
              <a:pPr algn="ctr">
                <a:lnSpc>
                  <a:spcPts val="2582"/>
                </a:lnSpc>
              </a:pPr>
            </a:p>
          </p:txBody>
        </p:sp>
      </p:grpSp>
      <p:grpSp>
        <p:nvGrpSpPr>
          <p:cNvPr name="Group 5" id="5"/>
          <p:cNvGrpSpPr/>
          <p:nvPr/>
        </p:nvGrpSpPr>
        <p:grpSpPr>
          <a:xfrm rot="0">
            <a:off x="-116008" y="0"/>
            <a:ext cx="18520017" cy="1199668"/>
            <a:chOff x="0" y="0"/>
            <a:chExt cx="4723370" cy="305965"/>
          </a:xfrm>
        </p:grpSpPr>
        <p:sp>
          <p:nvSpPr>
            <p:cNvPr name="Freeform 6" id="6"/>
            <p:cNvSpPr/>
            <p:nvPr/>
          </p:nvSpPr>
          <p:spPr>
            <a:xfrm flipH="false" flipV="false" rot="0">
              <a:off x="0" y="0"/>
              <a:ext cx="4723370" cy="305965"/>
            </a:xfrm>
            <a:custGeom>
              <a:avLst/>
              <a:gdLst/>
              <a:ahLst/>
              <a:cxnLst/>
              <a:rect r="r" b="b" t="t" l="l"/>
              <a:pathLst>
                <a:path h="305965" w="4723370">
                  <a:moveTo>
                    <a:pt x="0" y="0"/>
                  </a:moveTo>
                  <a:lnTo>
                    <a:pt x="4723370" y="0"/>
                  </a:lnTo>
                  <a:lnTo>
                    <a:pt x="4723370" y="305965"/>
                  </a:lnTo>
                  <a:lnTo>
                    <a:pt x="0" y="305965"/>
                  </a:lnTo>
                  <a:close/>
                </a:path>
              </a:pathLst>
            </a:custGeom>
            <a:solidFill>
              <a:srgbClr val="F0F2F5"/>
            </a:solidFill>
          </p:spPr>
        </p:sp>
        <p:sp>
          <p:nvSpPr>
            <p:cNvPr name="TextBox 7" id="7"/>
            <p:cNvSpPr txBox="true"/>
            <p:nvPr/>
          </p:nvSpPr>
          <p:spPr>
            <a:xfrm>
              <a:off x="0" y="-19050"/>
              <a:ext cx="4723370" cy="325015"/>
            </a:xfrm>
            <a:prstGeom prst="rect">
              <a:avLst/>
            </a:prstGeom>
          </p:spPr>
          <p:txBody>
            <a:bodyPr anchor="ctr" rtlCol="false" tIns="69432" lIns="69432" bIns="69432" rIns="69432"/>
            <a:lstStyle/>
            <a:p>
              <a:pPr algn="ctr">
                <a:lnSpc>
                  <a:spcPts val="1599"/>
                </a:lnSpc>
              </a:pPr>
            </a:p>
          </p:txBody>
        </p:sp>
      </p:grpSp>
      <p:sp>
        <p:nvSpPr>
          <p:cNvPr name="Freeform 8" id="8"/>
          <p:cNvSpPr/>
          <p:nvPr/>
        </p:nvSpPr>
        <p:spPr>
          <a:xfrm flipH="false" flipV="false" rot="0">
            <a:off x="-336445" y="266457"/>
            <a:ext cx="19025139" cy="762243"/>
          </a:xfrm>
          <a:custGeom>
            <a:avLst/>
            <a:gdLst/>
            <a:ahLst/>
            <a:cxnLst/>
            <a:rect r="r" b="b" t="t" l="l"/>
            <a:pathLst>
              <a:path h="762243" w="19025139">
                <a:moveTo>
                  <a:pt x="0" y="0"/>
                </a:moveTo>
                <a:lnTo>
                  <a:pt x="19025139" y="0"/>
                </a:lnTo>
                <a:lnTo>
                  <a:pt x="19025139" y="762243"/>
                </a:lnTo>
                <a:lnTo>
                  <a:pt x="0" y="762243"/>
                </a:lnTo>
                <a:lnTo>
                  <a:pt x="0" y="0"/>
                </a:lnTo>
                <a:close/>
              </a:path>
            </a:pathLst>
          </a:custGeom>
          <a:blipFill>
            <a:blip r:embed="rId2"/>
            <a:stretch>
              <a:fillRect l="0" t="-1896850" r="0" b="-12381"/>
            </a:stretch>
          </a:blipFill>
        </p:spPr>
      </p:sp>
      <p:sp>
        <p:nvSpPr>
          <p:cNvPr name="TextBox 9" id="9"/>
          <p:cNvSpPr txBox="true"/>
          <p:nvPr/>
        </p:nvSpPr>
        <p:spPr>
          <a:xfrm rot="0">
            <a:off x="329374" y="1496321"/>
            <a:ext cx="16760807" cy="333375"/>
          </a:xfrm>
          <a:prstGeom prst="rect">
            <a:avLst/>
          </a:prstGeom>
        </p:spPr>
        <p:txBody>
          <a:bodyPr anchor="t" rtlCol="false" tIns="0" lIns="0" bIns="0" rIns="0">
            <a:spAutoFit/>
          </a:bodyPr>
          <a:lstStyle/>
          <a:p>
            <a:pPr algn="l" marL="0" indent="0" lvl="0">
              <a:lnSpc>
                <a:spcPts val="2666"/>
              </a:lnSpc>
            </a:pPr>
            <a:r>
              <a:rPr lang="en-US" sz="2222" i="true">
                <a:solidFill>
                  <a:srgbClr val="101820"/>
                </a:solidFill>
                <a:latin typeface="Gotham Italics"/>
                <a:ea typeface="Gotham Italics"/>
                <a:cs typeface="Gotham Italics"/>
                <a:sym typeface="Gotham Italics"/>
              </a:rPr>
              <a:t>Mediana models</a:t>
            </a:r>
            <a:r>
              <a:rPr lang="en-US" sz="2222" i="true">
                <a:solidFill>
                  <a:srgbClr val="101820"/>
                </a:solidFill>
                <a:latin typeface="Gotham Italics"/>
                <a:ea typeface="Gotham Italics"/>
                <a:cs typeface="Gotham Italics"/>
                <a:sym typeface="Gotham Italics"/>
              </a:rPr>
              <a:t> vary in measurement frequencies, segmental analysis and connectivity</a:t>
            </a:r>
          </a:p>
        </p:txBody>
      </p:sp>
      <p:grpSp>
        <p:nvGrpSpPr>
          <p:cNvPr name="Group 10" id="10"/>
          <p:cNvGrpSpPr/>
          <p:nvPr/>
        </p:nvGrpSpPr>
        <p:grpSpPr>
          <a:xfrm rot="0">
            <a:off x="329374" y="2126350"/>
            <a:ext cx="15120324" cy="2147284"/>
            <a:chOff x="0" y="0"/>
            <a:chExt cx="20160432" cy="2863045"/>
          </a:xfrm>
        </p:grpSpPr>
        <p:sp>
          <p:nvSpPr>
            <p:cNvPr name="TextBox 11" id="1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12" id="12"/>
            <p:cNvGrpSpPr/>
            <p:nvPr/>
          </p:nvGrpSpPr>
          <p:grpSpPr>
            <a:xfrm rot="0">
              <a:off x="0" y="266157"/>
              <a:ext cx="20160432" cy="2596889"/>
              <a:chOff x="0" y="0"/>
              <a:chExt cx="5807147" cy="748025"/>
            </a:xfrm>
          </p:grpSpPr>
          <p:sp>
            <p:nvSpPr>
              <p:cNvPr name="Freeform 13" id="13"/>
              <p:cNvSpPr/>
              <p:nvPr/>
            </p:nvSpPr>
            <p:spPr>
              <a:xfrm flipH="false" flipV="false" rot="0">
                <a:off x="0" y="0"/>
                <a:ext cx="5807147" cy="748025"/>
              </a:xfrm>
              <a:custGeom>
                <a:avLst/>
                <a:gdLst/>
                <a:ahLst/>
                <a:cxnLst/>
                <a:rect r="r" b="b" t="t" l="l"/>
                <a:pathLst>
                  <a:path h="748025" w="5807147">
                    <a:moveTo>
                      <a:pt x="5034" y="0"/>
                    </a:moveTo>
                    <a:lnTo>
                      <a:pt x="5802113" y="0"/>
                    </a:lnTo>
                    <a:cubicBezTo>
                      <a:pt x="5803448" y="0"/>
                      <a:pt x="5804728" y="530"/>
                      <a:pt x="5805672" y="1474"/>
                    </a:cubicBezTo>
                    <a:cubicBezTo>
                      <a:pt x="5806617" y="2419"/>
                      <a:pt x="5807147" y="3699"/>
                      <a:pt x="5807147" y="5034"/>
                    </a:cubicBezTo>
                    <a:lnTo>
                      <a:pt x="5807147" y="742991"/>
                    </a:lnTo>
                    <a:cubicBezTo>
                      <a:pt x="5807147" y="744326"/>
                      <a:pt x="5806617" y="745607"/>
                      <a:pt x="5805672" y="746551"/>
                    </a:cubicBezTo>
                    <a:cubicBezTo>
                      <a:pt x="5804728" y="747495"/>
                      <a:pt x="5803448" y="748025"/>
                      <a:pt x="5802113" y="748025"/>
                    </a:cubicBezTo>
                    <a:lnTo>
                      <a:pt x="5034" y="748025"/>
                    </a:lnTo>
                    <a:cubicBezTo>
                      <a:pt x="3699" y="748025"/>
                      <a:pt x="2419" y="747495"/>
                      <a:pt x="1474" y="746551"/>
                    </a:cubicBezTo>
                    <a:cubicBezTo>
                      <a:pt x="530" y="745607"/>
                      <a:pt x="0" y="744326"/>
                      <a:pt x="0" y="742991"/>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14" id="14"/>
              <p:cNvSpPr txBox="true"/>
              <p:nvPr/>
            </p:nvSpPr>
            <p:spPr>
              <a:xfrm>
                <a:off x="0" y="-38100"/>
                <a:ext cx="5807147" cy="786125"/>
              </a:xfrm>
              <a:prstGeom prst="rect">
                <a:avLst/>
              </a:prstGeom>
            </p:spPr>
            <p:txBody>
              <a:bodyPr anchor="ctr" rtlCol="false" tIns="14634" lIns="14634" bIns="14634" rIns="14634"/>
              <a:lstStyle/>
              <a:p>
                <a:pPr algn="ctr">
                  <a:lnSpc>
                    <a:spcPts val="1711"/>
                  </a:lnSpc>
                </a:pPr>
              </a:p>
            </p:txBody>
          </p:sp>
        </p:grpSp>
        <p:grpSp>
          <p:nvGrpSpPr>
            <p:cNvPr name="Group 15" id="15"/>
            <p:cNvGrpSpPr/>
            <p:nvPr/>
          </p:nvGrpSpPr>
          <p:grpSpPr>
            <a:xfrm rot="0">
              <a:off x="0" y="266157"/>
              <a:ext cx="20160432" cy="447972"/>
              <a:chOff x="0" y="0"/>
              <a:chExt cx="5883307" cy="130729"/>
            </a:xfrm>
          </p:grpSpPr>
          <p:sp>
            <p:nvSpPr>
              <p:cNvPr name="Freeform 16" id="1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17" id="1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18" id="18"/>
            <p:cNvGrpSpPr/>
            <p:nvPr/>
          </p:nvGrpSpPr>
          <p:grpSpPr>
            <a:xfrm rot="0">
              <a:off x="0" y="535143"/>
              <a:ext cx="20160432" cy="447972"/>
              <a:chOff x="0" y="0"/>
              <a:chExt cx="5883307" cy="130729"/>
            </a:xfrm>
          </p:grpSpPr>
          <p:sp>
            <p:nvSpPr>
              <p:cNvPr name="Freeform 19" id="1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20" id="2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21" id="21"/>
            <p:cNvSpPr txBox="true"/>
            <p:nvPr/>
          </p:nvSpPr>
          <p:spPr>
            <a:xfrm rot="0">
              <a:off x="194826" y="1526501"/>
              <a:ext cx="19770780" cy="5181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The i20, i25, i30 and i35 do </a:t>
              </a:r>
              <a:r>
                <a:rPr lang="en-US" b="true" sz="2400" spc="-120" strike="noStrike" u="none">
                  <a:solidFill>
                    <a:srgbClr val="101820"/>
                  </a:solidFill>
                  <a:latin typeface="Pretendard Medium"/>
                  <a:ea typeface="Pretendard Medium"/>
                  <a:cs typeface="Pretendard Medium"/>
                  <a:sym typeface="Pretendard Medium"/>
                </a:rPr>
                <a:t>not provide the full cellular analysis and phase angle capabilities available in the i50/i55.</a:t>
              </a:r>
            </a:p>
          </p:txBody>
        </p:sp>
        <p:sp>
          <p:nvSpPr>
            <p:cNvPr name="TextBox 22" id="22"/>
            <p:cNvSpPr txBox="true"/>
            <p:nvPr/>
          </p:nvSpPr>
          <p:spPr>
            <a:xfrm rot="0">
              <a:off x="194826" y="317804"/>
              <a:ext cx="13547822" cy="873125"/>
            </a:xfrm>
            <a:prstGeom prst="rect">
              <a:avLst/>
            </a:prstGeom>
          </p:spPr>
          <p:txBody>
            <a:bodyPr anchor="t" rtlCol="false" tIns="0" lIns="0" bIns="0" rIns="0">
              <a:spAutoFit/>
            </a:bodyPr>
            <a:lstStyle/>
            <a:p>
              <a:pPr algn="l">
                <a:lnSpc>
                  <a:spcPts val="2616"/>
                </a:lnSpc>
              </a:pPr>
              <a:r>
                <a:rPr lang="en-US" sz="2180" b="true">
                  <a:solidFill>
                    <a:srgbClr val="FFFFFF"/>
                  </a:solidFill>
                  <a:latin typeface="Pretendard Bold"/>
                  <a:ea typeface="Pretendard Bold"/>
                  <a:cs typeface="Pretendard Bold"/>
                  <a:sym typeface="Pretendard Bold"/>
                </a:rPr>
                <a:t>-</a:t>
              </a:r>
            </a:p>
            <a:p>
              <a:pPr algn="l">
                <a:lnSpc>
                  <a:spcPts val="2616"/>
                </a:lnSpc>
                <a:spcBef>
                  <a:spcPct val="0"/>
                </a:spcBef>
              </a:pPr>
            </a:p>
          </p:txBody>
        </p:sp>
      </p:grpSp>
      <p:sp>
        <p:nvSpPr>
          <p:cNvPr name="TextBox 23" id="23"/>
          <p:cNvSpPr txBox="true"/>
          <p:nvPr/>
        </p:nvSpPr>
        <p:spPr>
          <a:xfrm rot="0">
            <a:off x="0" y="250878"/>
            <a:ext cx="3074556" cy="679661"/>
          </a:xfrm>
          <a:prstGeom prst="rect">
            <a:avLst/>
          </a:prstGeom>
        </p:spPr>
        <p:txBody>
          <a:bodyPr anchor="t" rtlCol="false" tIns="0" lIns="0" bIns="0" rIns="0">
            <a:spAutoFit/>
          </a:bodyPr>
          <a:lstStyle/>
          <a:p>
            <a:pPr algn="ctr">
              <a:lnSpc>
                <a:spcPts val="5588"/>
              </a:lnSpc>
            </a:pPr>
            <a:r>
              <a:rPr lang="en-US" sz="3991" b="true">
                <a:solidFill>
                  <a:srgbClr val="9E002D"/>
                </a:solidFill>
                <a:latin typeface="Canva Sans Bold"/>
                <a:ea typeface="Canva Sans Bold"/>
                <a:cs typeface="Canva Sans Bold"/>
                <a:sym typeface="Canva Sans Bold"/>
              </a:rPr>
              <a:t>Mediana</a:t>
            </a:r>
          </a:p>
        </p:txBody>
      </p:sp>
      <p:grpSp>
        <p:nvGrpSpPr>
          <p:cNvPr name="Group 24" id="24"/>
          <p:cNvGrpSpPr/>
          <p:nvPr/>
        </p:nvGrpSpPr>
        <p:grpSpPr>
          <a:xfrm rot="0">
            <a:off x="329374" y="4416509"/>
            <a:ext cx="15120324" cy="1930714"/>
            <a:chOff x="0" y="0"/>
            <a:chExt cx="20160432" cy="2574285"/>
          </a:xfrm>
        </p:grpSpPr>
        <p:sp>
          <p:nvSpPr>
            <p:cNvPr name="TextBox 25" id="25"/>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26" id="26"/>
            <p:cNvGrpSpPr/>
            <p:nvPr/>
          </p:nvGrpSpPr>
          <p:grpSpPr>
            <a:xfrm rot="0">
              <a:off x="0" y="266157"/>
              <a:ext cx="20160432" cy="2308129"/>
              <a:chOff x="0" y="0"/>
              <a:chExt cx="5807147" cy="664849"/>
            </a:xfrm>
          </p:grpSpPr>
          <p:sp>
            <p:nvSpPr>
              <p:cNvPr name="Freeform 27" id="27"/>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28" id="28"/>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29" id="29"/>
            <p:cNvGrpSpPr/>
            <p:nvPr/>
          </p:nvGrpSpPr>
          <p:grpSpPr>
            <a:xfrm rot="0">
              <a:off x="0" y="266157"/>
              <a:ext cx="20160432" cy="447972"/>
              <a:chOff x="0" y="0"/>
              <a:chExt cx="5883307" cy="130729"/>
            </a:xfrm>
          </p:grpSpPr>
          <p:sp>
            <p:nvSpPr>
              <p:cNvPr name="Freeform 30" id="30"/>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31" id="31"/>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32" id="32"/>
            <p:cNvGrpSpPr/>
            <p:nvPr/>
          </p:nvGrpSpPr>
          <p:grpSpPr>
            <a:xfrm rot="0">
              <a:off x="0" y="535143"/>
              <a:ext cx="20160432" cy="447972"/>
              <a:chOff x="0" y="0"/>
              <a:chExt cx="5883307" cy="130729"/>
            </a:xfrm>
          </p:grpSpPr>
          <p:sp>
            <p:nvSpPr>
              <p:cNvPr name="Freeform 33" id="33"/>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34" id="3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35" id="35"/>
            <p:cNvSpPr txBox="true"/>
            <p:nvPr/>
          </p:nvSpPr>
          <p:spPr>
            <a:xfrm rot="0">
              <a:off x="194826" y="1211396"/>
              <a:ext cx="19770780" cy="10388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Mediana i20–i35 specifications do not list s</a:t>
              </a:r>
              <a:r>
                <a:rPr lang="en-US" b="true" sz="2400" spc="-120" strike="noStrike" u="none">
                  <a:solidFill>
                    <a:srgbClr val="101820"/>
                  </a:solidFill>
                  <a:latin typeface="Pretendard Medium"/>
                  <a:ea typeface="Pretendard Medium"/>
                  <a:cs typeface="Pretendard Medium"/>
                  <a:sym typeface="Pretendard Medium"/>
                </a:rPr>
                <a:t>egment-by-segment ICW and ECW analysis, unlike the i50/i55, which provide detailed segmental body-water distribution.</a:t>
              </a:r>
            </a:p>
          </p:txBody>
        </p:sp>
        <p:sp>
          <p:nvSpPr>
            <p:cNvPr name="TextBox 36" id="36"/>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grpSp>
        <p:nvGrpSpPr>
          <p:cNvPr name="Group 37" id="37"/>
          <p:cNvGrpSpPr/>
          <p:nvPr/>
        </p:nvGrpSpPr>
        <p:grpSpPr>
          <a:xfrm rot="0">
            <a:off x="329374" y="6347223"/>
            <a:ext cx="15120324" cy="1930714"/>
            <a:chOff x="0" y="0"/>
            <a:chExt cx="20160432" cy="2574285"/>
          </a:xfrm>
        </p:grpSpPr>
        <p:sp>
          <p:nvSpPr>
            <p:cNvPr name="TextBox 38" id="38"/>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39" id="39"/>
            <p:cNvGrpSpPr/>
            <p:nvPr/>
          </p:nvGrpSpPr>
          <p:grpSpPr>
            <a:xfrm rot="0">
              <a:off x="0" y="266157"/>
              <a:ext cx="20160432" cy="2308129"/>
              <a:chOff x="0" y="0"/>
              <a:chExt cx="5807147" cy="664849"/>
            </a:xfrm>
          </p:grpSpPr>
          <p:sp>
            <p:nvSpPr>
              <p:cNvPr name="Freeform 40" id="40"/>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41" id="41"/>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42" id="42"/>
            <p:cNvGrpSpPr/>
            <p:nvPr/>
          </p:nvGrpSpPr>
          <p:grpSpPr>
            <a:xfrm rot="0">
              <a:off x="0" y="266157"/>
              <a:ext cx="20160432" cy="447972"/>
              <a:chOff x="0" y="0"/>
              <a:chExt cx="5883307" cy="130729"/>
            </a:xfrm>
          </p:grpSpPr>
          <p:sp>
            <p:nvSpPr>
              <p:cNvPr name="Freeform 43" id="43"/>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44" id="4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45" id="45"/>
            <p:cNvGrpSpPr/>
            <p:nvPr/>
          </p:nvGrpSpPr>
          <p:grpSpPr>
            <a:xfrm rot="0">
              <a:off x="0" y="535143"/>
              <a:ext cx="20160432" cy="447972"/>
              <a:chOff x="0" y="0"/>
              <a:chExt cx="5883307" cy="130729"/>
            </a:xfrm>
          </p:grpSpPr>
          <p:sp>
            <p:nvSpPr>
              <p:cNvPr name="Freeform 46" id="46"/>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47" id="4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48" id="48"/>
            <p:cNvSpPr txBox="true"/>
            <p:nvPr/>
          </p:nvSpPr>
          <p:spPr>
            <a:xfrm rot="0">
              <a:off x="213240" y="1211396"/>
              <a:ext cx="19770780" cy="1038860"/>
            </a:xfrm>
            <a:prstGeom prst="rect">
              <a:avLst/>
            </a:prstGeom>
          </p:spPr>
          <p:txBody>
            <a:bodyPr anchor="t" rtlCol="false" tIns="0" lIns="0" bIns="0" rIns="0">
              <a:spAutoFit/>
            </a:bodyPr>
            <a:lstStyle/>
            <a:p>
              <a:pPr algn="l" marL="0" indent="0" lvl="0">
                <a:lnSpc>
                  <a:spcPts val="3120"/>
                </a:lnSpc>
                <a:spcBef>
                  <a:spcPct val="0"/>
                </a:spcBef>
              </a:pPr>
              <a:r>
                <a:rPr lang="en-US" sz="2400" spc="-120">
                  <a:solidFill>
                    <a:srgbClr val="101820"/>
                  </a:solidFill>
                  <a:latin typeface="Pretendard"/>
                  <a:ea typeface="Pretendard"/>
                  <a:cs typeface="Pretendard"/>
                  <a:sym typeface="Pretendard"/>
                </a:rPr>
                <a:t>The Mediana i20 and i25 have a 4.3-inch screen, compared with the 7-inch screens on the i30 and i35. This provides less screen space for viewing results and navigating menus</a:t>
              </a:r>
            </a:p>
          </p:txBody>
        </p:sp>
        <p:sp>
          <p:nvSpPr>
            <p:cNvPr name="TextBox 49" id="49"/>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grpSp>
        <p:nvGrpSpPr>
          <p:cNvPr name="Group 50" id="50"/>
          <p:cNvGrpSpPr/>
          <p:nvPr/>
        </p:nvGrpSpPr>
        <p:grpSpPr>
          <a:xfrm rot="0">
            <a:off x="183254" y="8277937"/>
            <a:ext cx="15266444" cy="1815736"/>
            <a:chOff x="0" y="0"/>
            <a:chExt cx="20355258" cy="2420981"/>
          </a:xfrm>
        </p:grpSpPr>
        <p:sp>
          <p:nvSpPr>
            <p:cNvPr name="TextBox 51" id="51"/>
            <p:cNvSpPr txBox="true"/>
            <p:nvPr/>
          </p:nvSpPr>
          <p:spPr>
            <a:xfrm rot="0">
              <a:off x="3924386"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52" id="52"/>
            <p:cNvGrpSpPr/>
            <p:nvPr/>
          </p:nvGrpSpPr>
          <p:grpSpPr>
            <a:xfrm rot="0">
              <a:off x="0" y="112852"/>
              <a:ext cx="20160432" cy="2308129"/>
              <a:chOff x="0" y="0"/>
              <a:chExt cx="5807147" cy="664849"/>
            </a:xfrm>
          </p:grpSpPr>
          <p:sp>
            <p:nvSpPr>
              <p:cNvPr name="Freeform 53" id="5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54" id="5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55" id="55"/>
            <p:cNvGrpSpPr/>
            <p:nvPr/>
          </p:nvGrpSpPr>
          <p:grpSpPr>
            <a:xfrm rot="0">
              <a:off x="194826" y="266157"/>
              <a:ext cx="20160432" cy="447972"/>
              <a:chOff x="0" y="0"/>
              <a:chExt cx="5883307" cy="130729"/>
            </a:xfrm>
          </p:grpSpPr>
          <p:sp>
            <p:nvSpPr>
              <p:cNvPr name="Freeform 56" id="5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57" id="5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58" id="58"/>
            <p:cNvGrpSpPr/>
            <p:nvPr/>
          </p:nvGrpSpPr>
          <p:grpSpPr>
            <a:xfrm rot="0">
              <a:off x="194826" y="535143"/>
              <a:ext cx="20160432" cy="447972"/>
              <a:chOff x="0" y="0"/>
              <a:chExt cx="5883307" cy="130729"/>
            </a:xfrm>
          </p:grpSpPr>
          <p:sp>
            <p:nvSpPr>
              <p:cNvPr name="Freeform 59" id="5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60" id="6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61" id="61"/>
            <p:cNvSpPr txBox="true"/>
            <p:nvPr/>
          </p:nvSpPr>
          <p:spPr>
            <a:xfrm rot="0">
              <a:off x="194826" y="1382121"/>
              <a:ext cx="19770780" cy="10388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The Mediana i20 measures at only 10 and 100 kHz, compared with the i50’s six frequencies (1, 5, 50, 100, 250 and 500 kHz). Fewer frequencies limit detailed fluid-distribution analysis.</a:t>
              </a:r>
            </a:p>
          </p:txBody>
        </p:sp>
        <p:sp>
          <p:nvSpPr>
            <p:cNvPr name="TextBox 62" id="62"/>
            <p:cNvSpPr txBox="true"/>
            <p:nvPr/>
          </p:nvSpPr>
          <p:spPr>
            <a:xfrm rot="0">
              <a:off x="408066"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1814"/>
            <a:ext cx="18688694" cy="815730"/>
            <a:chOff x="0" y="0"/>
            <a:chExt cx="8051325" cy="351427"/>
          </a:xfrm>
        </p:grpSpPr>
        <p:sp>
          <p:nvSpPr>
            <p:cNvPr name="Freeform 3" id="3"/>
            <p:cNvSpPr/>
            <p:nvPr/>
          </p:nvSpPr>
          <p:spPr>
            <a:xfrm flipH="false" flipV="false" rot="0">
              <a:off x="0" y="0"/>
              <a:ext cx="8051325" cy="351427"/>
            </a:xfrm>
            <a:custGeom>
              <a:avLst/>
              <a:gdLst/>
              <a:ahLst/>
              <a:cxnLst/>
              <a:rect r="r" b="b" t="t" l="l"/>
              <a:pathLst>
                <a:path h="351427" w="8051325">
                  <a:moveTo>
                    <a:pt x="0" y="0"/>
                  </a:moveTo>
                  <a:lnTo>
                    <a:pt x="8051325" y="0"/>
                  </a:lnTo>
                  <a:lnTo>
                    <a:pt x="8051325" y="351427"/>
                  </a:lnTo>
                  <a:lnTo>
                    <a:pt x="0" y="351427"/>
                  </a:lnTo>
                  <a:close/>
                </a:path>
              </a:pathLst>
            </a:custGeom>
            <a:solidFill>
              <a:srgbClr val="FFFFFF">
                <a:alpha val="69804"/>
              </a:srgbClr>
            </a:solidFill>
          </p:spPr>
        </p:sp>
        <p:sp>
          <p:nvSpPr>
            <p:cNvPr name="TextBox 4" id="4"/>
            <p:cNvSpPr txBox="true"/>
            <p:nvPr/>
          </p:nvSpPr>
          <p:spPr>
            <a:xfrm>
              <a:off x="0" y="-9525"/>
              <a:ext cx="8051325" cy="360952"/>
            </a:xfrm>
            <a:prstGeom prst="rect">
              <a:avLst/>
            </a:prstGeom>
          </p:spPr>
          <p:txBody>
            <a:bodyPr anchor="ctr" rtlCol="false" tIns="69432" lIns="69432" bIns="69432" rIns="69432"/>
            <a:lstStyle/>
            <a:p>
              <a:pPr algn="ctr">
                <a:lnSpc>
                  <a:spcPts val="2582"/>
                </a:lnSpc>
              </a:pPr>
            </a:p>
          </p:txBody>
        </p:sp>
      </p:grpSp>
      <p:grpSp>
        <p:nvGrpSpPr>
          <p:cNvPr name="Group 5" id="5"/>
          <p:cNvGrpSpPr/>
          <p:nvPr/>
        </p:nvGrpSpPr>
        <p:grpSpPr>
          <a:xfrm rot="0">
            <a:off x="-116008" y="0"/>
            <a:ext cx="18520017" cy="1199668"/>
            <a:chOff x="0" y="0"/>
            <a:chExt cx="4723370" cy="305965"/>
          </a:xfrm>
        </p:grpSpPr>
        <p:sp>
          <p:nvSpPr>
            <p:cNvPr name="Freeform 6" id="6"/>
            <p:cNvSpPr/>
            <p:nvPr/>
          </p:nvSpPr>
          <p:spPr>
            <a:xfrm flipH="false" flipV="false" rot="0">
              <a:off x="0" y="0"/>
              <a:ext cx="4723370" cy="305965"/>
            </a:xfrm>
            <a:custGeom>
              <a:avLst/>
              <a:gdLst/>
              <a:ahLst/>
              <a:cxnLst/>
              <a:rect r="r" b="b" t="t" l="l"/>
              <a:pathLst>
                <a:path h="305965" w="4723370">
                  <a:moveTo>
                    <a:pt x="0" y="0"/>
                  </a:moveTo>
                  <a:lnTo>
                    <a:pt x="4723370" y="0"/>
                  </a:lnTo>
                  <a:lnTo>
                    <a:pt x="4723370" y="305965"/>
                  </a:lnTo>
                  <a:lnTo>
                    <a:pt x="0" y="305965"/>
                  </a:lnTo>
                  <a:close/>
                </a:path>
              </a:pathLst>
            </a:custGeom>
            <a:solidFill>
              <a:srgbClr val="F0F2F5"/>
            </a:solidFill>
          </p:spPr>
        </p:sp>
        <p:sp>
          <p:nvSpPr>
            <p:cNvPr name="TextBox 7" id="7"/>
            <p:cNvSpPr txBox="true"/>
            <p:nvPr/>
          </p:nvSpPr>
          <p:spPr>
            <a:xfrm>
              <a:off x="0" y="-19050"/>
              <a:ext cx="4723370" cy="325015"/>
            </a:xfrm>
            <a:prstGeom prst="rect">
              <a:avLst/>
            </a:prstGeom>
          </p:spPr>
          <p:txBody>
            <a:bodyPr anchor="ctr" rtlCol="false" tIns="69432" lIns="69432" bIns="69432" rIns="69432"/>
            <a:lstStyle/>
            <a:p>
              <a:pPr algn="ctr">
                <a:lnSpc>
                  <a:spcPts val="1599"/>
                </a:lnSpc>
              </a:pPr>
            </a:p>
          </p:txBody>
        </p:sp>
      </p:grpSp>
      <p:sp>
        <p:nvSpPr>
          <p:cNvPr name="Freeform 8" id="8"/>
          <p:cNvSpPr/>
          <p:nvPr/>
        </p:nvSpPr>
        <p:spPr>
          <a:xfrm flipH="false" flipV="false" rot="0">
            <a:off x="-336445" y="266457"/>
            <a:ext cx="19025139" cy="762243"/>
          </a:xfrm>
          <a:custGeom>
            <a:avLst/>
            <a:gdLst/>
            <a:ahLst/>
            <a:cxnLst/>
            <a:rect r="r" b="b" t="t" l="l"/>
            <a:pathLst>
              <a:path h="762243" w="19025139">
                <a:moveTo>
                  <a:pt x="0" y="0"/>
                </a:moveTo>
                <a:lnTo>
                  <a:pt x="19025139" y="0"/>
                </a:lnTo>
                <a:lnTo>
                  <a:pt x="19025139" y="762243"/>
                </a:lnTo>
                <a:lnTo>
                  <a:pt x="0" y="762243"/>
                </a:lnTo>
                <a:lnTo>
                  <a:pt x="0" y="0"/>
                </a:lnTo>
                <a:close/>
              </a:path>
            </a:pathLst>
          </a:custGeom>
          <a:blipFill>
            <a:blip r:embed="rId2"/>
            <a:stretch>
              <a:fillRect l="0" t="-1896850" r="0" b="-12381"/>
            </a:stretch>
          </a:blipFill>
        </p:spPr>
      </p:sp>
      <p:sp>
        <p:nvSpPr>
          <p:cNvPr name="TextBox 9" id="9"/>
          <p:cNvSpPr txBox="true"/>
          <p:nvPr/>
        </p:nvSpPr>
        <p:spPr>
          <a:xfrm rot="0">
            <a:off x="329374" y="1496321"/>
            <a:ext cx="16760807" cy="666750"/>
          </a:xfrm>
          <a:prstGeom prst="rect">
            <a:avLst/>
          </a:prstGeom>
        </p:spPr>
        <p:txBody>
          <a:bodyPr anchor="t" rtlCol="false" tIns="0" lIns="0" bIns="0" rIns="0">
            <a:spAutoFit/>
          </a:bodyPr>
          <a:lstStyle/>
          <a:p>
            <a:pPr algn="l" marL="0" indent="0" lvl="0">
              <a:lnSpc>
                <a:spcPts val="2666"/>
              </a:lnSpc>
            </a:pPr>
            <a:r>
              <a:rPr lang="en-US" sz="2222" i="true">
                <a:solidFill>
                  <a:srgbClr val="101820"/>
                </a:solidFill>
                <a:latin typeface="Gotham Italics"/>
                <a:ea typeface="Gotham Italics"/>
                <a:cs typeface="Gotham Italics"/>
                <a:sym typeface="Gotham Italics"/>
              </a:rPr>
              <a:t>Seca mBCA models</a:t>
            </a:r>
            <a:r>
              <a:rPr lang="en-US" sz="2222" i="true">
                <a:solidFill>
                  <a:srgbClr val="101820"/>
                </a:solidFill>
                <a:latin typeface="Gotham Italics"/>
                <a:ea typeface="Gotham Italics"/>
                <a:cs typeface="Gotham Italics"/>
                <a:sym typeface="Gotham Italics"/>
              </a:rPr>
              <a:t> differ in measurement position (standing or lying down), measurement frequencies, clinical validation, and workflow</a:t>
            </a:r>
          </a:p>
        </p:txBody>
      </p:sp>
      <p:grpSp>
        <p:nvGrpSpPr>
          <p:cNvPr name="Group 10" id="10"/>
          <p:cNvGrpSpPr/>
          <p:nvPr/>
        </p:nvGrpSpPr>
        <p:grpSpPr>
          <a:xfrm rot="0">
            <a:off x="319849" y="2126350"/>
            <a:ext cx="15120324" cy="2147284"/>
            <a:chOff x="0" y="0"/>
            <a:chExt cx="20160432" cy="2863045"/>
          </a:xfrm>
        </p:grpSpPr>
        <p:sp>
          <p:nvSpPr>
            <p:cNvPr name="TextBox 11" id="1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12" id="12"/>
            <p:cNvGrpSpPr/>
            <p:nvPr/>
          </p:nvGrpSpPr>
          <p:grpSpPr>
            <a:xfrm rot="0">
              <a:off x="0" y="266157"/>
              <a:ext cx="20160432" cy="2596889"/>
              <a:chOff x="0" y="0"/>
              <a:chExt cx="5807147" cy="748025"/>
            </a:xfrm>
          </p:grpSpPr>
          <p:sp>
            <p:nvSpPr>
              <p:cNvPr name="Freeform 13" id="13"/>
              <p:cNvSpPr/>
              <p:nvPr/>
            </p:nvSpPr>
            <p:spPr>
              <a:xfrm flipH="false" flipV="false" rot="0">
                <a:off x="0" y="0"/>
                <a:ext cx="5807147" cy="748025"/>
              </a:xfrm>
              <a:custGeom>
                <a:avLst/>
                <a:gdLst/>
                <a:ahLst/>
                <a:cxnLst/>
                <a:rect r="r" b="b" t="t" l="l"/>
                <a:pathLst>
                  <a:path h="748025" w="5807147">
                    <a:moveTo>
                      <a:pt x="5034" y="0"/>
                    </a:moveTo>
                    <a:lnTo>
                      <a:pt x="5802113" y="0"/>
                    </a:lnTo>
                    <a:cubicBezTo>
                      <a:pt x="5803448" y="0"/>
                      <a:pt x="5804728" y="530"/>
                      <a:pt x="5805672" y="1474"/>
                    </a:cubicBezTo>
                    <a:cubicBezTo>
                      <a:pt x="5806617" y="2419"/>
                      <a:pt x="5807147" y="3699"/>
                      <a:pt x="5807147" y="5034"/>
                    </a:cubicBezTo>
                    <a:lnTo>
                      <a:pt x="5807147" y="742991"/>
                    </a:lnTo>
                    <a:cubicBezTo>
                      <a:pt x="5807147" y="744326"/>
                      <a:pt x="5806617" y="745607"/>
                      <a:pt x="5805672" y="746551"/>
                    </a:cubicBezTo>
                    <a:cubicBezTo>
                      <a:pt x="5804728" y="747495"/>
                      <a:pt x="5803448" y="748025"/>
                      <a:pt x="5802113" y="748025"/>
                    </a:cubicBezTo>
                    <a:lnTo>
                      <a:pt x="5034" y="748025"/>
                    </a:lnTo>
                    <a:cubicBezTo>
                      <a:pt x="3699" y="748025"/>
                      <a:pt x="2419" y="747495"/>
                      <a:pt x="1474" y="746551"/>
                    </a:cubicBezTo>
                    <a:cubicBezTo>
                      <a:pt x="530" y="745607"/>
                      <a:pt x="0" y="744326"/>
                      <a:pt x="0" y="742991"/>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14" id="14"/>
              <p:cNvSpPr txBox="true"/>
              <p:nvPr/>
            </p:nvSpPr>
            <p:spPr>
              <a:xfrm>
                <a:off x="0" y="-38100"/>
                <a:ext cx="5807147" cy="786125"/>
              </a:xfrm>
              <a:prstGeom prst="rect">
                <a:avLst/>
              </a:prstGeom>
            </p:spPr>
            <p:txBody>
              <a:bodyPr anchor="ctr" rtlCol="false" tIns="14634" lIns="14634" bIns="14634" rIns="14634"/>
              <a:lstStyle/>
              <a:p>
                <a:pPr algn="ctr">
                  <a:lnSpc>
                    <a:spcPts val="1711"/>
                  </a:lnSpc>
                </a:pPr>
              </a:p>
            </p:txBody>
          </p:sp>
        </p:grpSp>
        <p:grpSp>
          <p:nvGrpSpPr>
            <p:cNvPr name="Group 15" id="15"/>
            <p:cNvGrpSpPr/>
            <p:nvPr/>
          </p:nvGrpSpPr>
          <p:grpSpPr>
            <a:xfrm rot="0">
              <a:off x="0" y="266157"/>
              <a:ext cx="20160432" cy="447972"/>
              <a:chOff x="0" y="0"/>
              <a:chExt cx="5883307" cy="130729"/>
            </a:xfrm>
          </p:grpSpPr>
          <p:sp>
            <p:nvSpPr>
              <p:cNvPr name="Freeform 16" id="1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17" id="1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18" id="18"/>
            <p:cNvGrpSpPr/>
            <p:nvPr/>
          </p:nvGrpSpPr>
          <p:grpSpPr>
            <a:xfrm rot="0">
              <a:off x="0" y="535143"/>
              <a:ext cx="20160432" cy="447972"/>
              <a:chOff x="0" y="0"/>
              <a:chExt cx="5883307" cy="130729"/>
            </a:xfrm>
          </p:grpSpPr>
          <p:sp>
            <p:nvSpPr>
              <p:cNvPr name="Freeform 19" id="1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20" id="2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21" id="21"/>
            <p:cNvSpPr txBox="true"/>
            <p:nvPr/>
          </p:nvSpPr>
          <p:spPr>
            <a:xfrm rot="0">
              <a:off x="194826" y="1526501"/>
              <a:ext cx="19770780" cy="10388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 The mBCA 555 uses a 4.3-inch touchsc</a:t>
              </a:r>
              <a:r>
                <a:rPr lang="en-US" b="true" sz="2400" spc="-120" strike="noStrike" u="none">
                  <a:solidFill>
                    <a:srgbClr val="101820"/>
                  </a:solidFill>
                  <a:latin typeface="Pretendard Medium"/>
                  <a:ea typeface="Pretendard Medium"/>
                  <a:cs typeface="Pretendard Medium"/>
                  <a:sym typeface="Pretendard Medium"/>
                </a:rPr>
                <a:t>reen, smaller than the 7-inch display on the mBCA 525, less screen space for viewing results.</a:t>
              </a:r>
            </a:p>
          </p:txBody>
        </p:sp>
        <p:sp>
          <p:nvSpPr>
            <p:cNvPr name="TextBox 22" id="22"/>
            <p:cNvSpPr txBox="true"/>
            <p:nvPr/>
          </p:nvSpPr>
          <p:spPr>
            <a:xfrm rot="0">
              <a:off x="194826" y="317804"/>
              <a:ext cx="13547822" cy="873125"/>
            </a:xfrm>
            <a:prstGeom prst="rect">
              <a:avLst/>
            </a:prstGeom>
          </p:spPr>
          <p:txBody>
            <a:bodyPr anchor="t" rtlCol="false" tIns="0" lIns="0" bIns="0" rIns="0">
              <a:spAutoFit/>
            </a:bodyPr>
            <a:lstStyle/>
            <a:p>
              <a:pPr algn="l">
                <a:lnSpc>
                  <a:spcPts val="2616"/>
                </a:lnSpc>
              </a:pPr>
              <a:r>
                <a:rPr lang="en-US" sz="2180" b="true">
                  <a:solidFill>
                    <a:srgbClr val="FFFFFF"/>
                  </a:solidFill>
                  <a:latin typeface="Pretendard Bold"/>
                  <a:ea typeface="Pretendard Bold"/>
                  <a:cs typeface="Pretendard Bold"/>
                  <a:sym typeface="Pretendard Bold"/>
                </a:rPr>
                <a:t>-</a:t>
              </a:r>
            </a:p>
            <a:p>
              <a:pPr algn="l">
                <a:lnSpc>
                  <a:spcPts val="2616"/>
                </a:lnSpc>
                <a:spcBef>
                  <a:spcPct val="0"/>
                </a:spcBef>
              </a:pPr>
            </a:p>
          </p:txBody>
        </p:sp>
      </p:grpSp>
      <p:sp>
        <p:nvSpPr>
          <p:cNvPr name="TextBox 23" id="23"/>
          <p:cNvSpPr txBox="true"/>
          <p:nvPr/>
        </p:nvSpPr>
        <p:spPr>
          <a:xfrm rot="0">
            <a:off x="0" y="250878"/>
            <a:ext cx="3074556" cy="679661"/>
          </a:xfrm>
          <a:prstGeom prst="rect">
            <a:avLst/>
          </a:prstGeom>
        </p:spPr>
        <p:txBody>
          <a:bodyPr anchor="t" rtlCol="false" tIns="0" lIns="0" bIns="0" rIns="0">
            <a:spAutoFit/>
          </a:bodyPr>
          <a:lstStyle/>
          <a:p>
            <a:pPr algn="ctr">
              <a:lnSpc>
                <a:spcPts val="5588"/>
              </a:lnSpc>
            </a:pPr>
            <a:r>
              <a:rPr lang="en-US" sz="3991" b="true">
                <a:solidFill>
                  <a:srgbClr val="9E002D"/>
                </a:solidFill>
                <a:latin typeface="Canva Sans Bold"/>
                <a:ea typeface="Canva Sans Bold"/>
                <a:cs typeface="Canva Sans Bold"/>
                <a:sym typeface="Canva Sans Bold"/>
              </a:rPr>
              <a:t>Seca</a:t>
            </a:r>
          </a:p>
        </p:txBody>
      </p:sp>
      <p:grpSp>
        <p:nvGrpSpPr>
          <p:cNvPr name="Group 24" id="24"/>
          <p:cNvGrpSpPr/>
          <p:nvPr/>
        </p:nvGrpSpPr>
        <p:grpSpPr>
          <a:xfrm rot="0">
            <a:off x="228213" y="4416509"/>
            <a:ext cx="15221485" cy="2200476"/>
            <a:chOff x="0" y="0"/>
            <a:chExt cx="20295313" cy="2933968"/>
          </a:xfrm>
        </p:grpSpPr>
        <p:sp>
          <p:nvSpPr>
            <p:cNvPr name="TextBox 25" id="25"/>
            <p:cNvSpPr txBox="true"/>
            <p:nvPr/>
          </p:nvSpPr>
          <p:spPr>
            <a:xfrm rot="0">
              <a:off x="3864441"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26" id="26"/>
            <p:cNvGrpSpPr/>
            <p:nvPr/>
          </p:nvGrpSpPr>
          <p:grpSpPr>
            <a:xfrm rot="0">
              <a:off x="0" y="625840"/>
              <a:ext cx="20160432" cy="2308129"/>
              <a:chOff x="0" y="0"/>
              <a:chExt cx="5807147" cy="664849"/>
            </a:xfrm>
          </p:grpSpPr>
          <p:sp>
            <p:nvSpPr>
              <p:cNvPr name="Freeform 27" id="27"/>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28" id="28"/>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29" id="29"/>
            <p:cNvGrpSpPr/>
            <p:nvPr/>
          </p:nvGrpSpPr>
          <p:grpSpPr>
            <a:xfrm rot="0">
              <a:off x="134881" y="266157"/>
              <a:ext cx="20160432" cy="447972"/>
              <a:chOff x="0" y="0"/>
              <a:chExt cx="5883307" cy="130729"/>
            </a:xfrm>
          </p:grpSpPr>
          <p:sp>
            <p:nvSpPr>
              <p:cNvPr name="Freeform 30" id="30"/>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31" id="31"/>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32" id="32"/>
            <p:cNvGrpSpPr/>
            <p:nvPr/>
          </p:nvGrpSpPr>
          <p:grpSpPr>
            <a:xfrm rot="0">
              <a:off x="134881" y="535143"/>
              <a:ext cx="20160432" cy="447972"/>
              <a:chOff x="0" y="0"/>
              <a:chExt cx="5883307" cy="130729"/>
            </a:xfrm>
          </p:grpSpPr>
          <p:sp>
            <p:nvSpPr>
              <p:cNvPr name="Freeform 33" id="33"/>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34" id="3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35" id="35"/>
            <p:cNvSpPr txBox="true"/>
            <p:nvPr/>
          </p:nvSpPr>
          <p:spPr>
            <a:xfrm rot="0">
              <a:off x="329707" y="1211396"/>
              <a:ext cx="19770780" cy="5181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D</a:t>
              </a:r>
              <a:r>
                <a:rPr lang="en-US" b="true" sz="2400" spc="-120" strike="noStrike" u="none">
                  <a:solidFill>
                    <a:srgbClr val="101820"/>
                  </a:solidFill>
                  <a:latin typeface="Pretendard Medium"/>
                  <a:ea typeface="Pretendard Medium"/>
                  <a:cs typeface="Pretendard Medium"/>
                  <a:sym typeface="Pretendard Medium"/>
                </a:rPr>
                <a:t>oes not list segmental ECW/TBW or segmental Phase Angle, which help assess regional fluid imbalance and cell health</a:t>
              </a:r>
            </a:p>
          </p:txBody>
        </p:sp>
        <p:sp>
          <p:nvSpPr>
            <p:cNvPr name="TextBox 36" id="36"/>
            <p:cNvSpPr txBox="true"/>
            <p:nvPr/>
          </p:nvSpPr>
          <p:spPr>
            <a:xfrm rot="0">
              <a:off x="348121"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grpSp>
        <p:nvGrpSpPr>
          <p:cNvPr name="Group 37" id="37"/>
          <p:cNvGrpSpPr/>
          <p:nvPr/>
        </p:nvGrpSpPr>
        <p:grpSpPr>
          <a:xfrm rot="0">
            <a:off x="329374" y="6347223"/>
            <a:ext cx="15120324" cy="1930714"/>
            <a:chOff x="0" y="0"/>
            <a:chExt cx="20160432" cy="2574285"/>
          </a:xfrm>
        </p:grpSpPr>
        <p:sp>
          <p:nvSpPr>
            <p:cNvPr name="TextBox 38" id="38"/>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39" id="39"/>
            <p:cNvGrpSpPr/>
            <p:nvPr/>
          </p:nvGrpSpPr>
          <p:grpSpPr>
            <a:xfrm rot="0">
              <a:off x="0" y="266157"/>
              <a:ext cx="20160432" cy="2308129"/>
              <a:chOff x="0" y="0"/>
              <a:chExt cx="5807147" cy="664849"/>
            </a:xfrm>
          </p:grpSpPr>
          <p:sp>
            <p:nvSpPr>
              <p:cNvPr name="Freeform 40" id="40"/>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41" id="41"/>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42" id="42"/>
            <p:cNvGrpSpPr/>
            <p:nvPr/>
          </p:nvGrpSpPr>
          <p:grpSpPr>
            <a:xfrm rot="0">
              <a:off x="0" y="266157"/>
              <a:ext cx="20160432" cy="447972"/>
              <a:chOff x="0" y="0"/>
              <a:chExt cx="5883307" cy="130729"/>
            </a:xfrm>
          </p:grpSpPr>
          <p:sp>
            <p:nvSpPr>
              <p:cNvPr name="Freeform 43" id="43"/>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44" id="4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45" id="45"/>
            <p:cNvGrpSpPr/>
            <p:nvPr/>
          </p:nvGrpSpPr>
          <p:grpSpPr>
            <a:xfrm rot="0">
              <a:off x="0" y="535143"/>
              <a:ext cx="20160432" cy="447972"/>
              <a:chOff x="0" y="0"/>
              <a:chExt cx="5883307" cy="130729"/>
            </a:xfrm>
          </p:grpSpPr>
          <p:sp>
            <p:nvSpPr>
              <p:cNvPr name="Freeform 46" id="46"/>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47" id="4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48" id="48"/>
            <p:cNvSpPr txBox="true"/>
            <p:nvPr/>
          </p:nvSpPr>
          <p:spPr>
            <a:xfrm rot="0">
              <a:off x="213240" y="1211396"/>
              <a:ext cx="19770780" cy="1038860"/>
            </a:xfrm>
            <a:prstGeom prst="rect">
              <a:avLst/>
            </a:prstGeom>
          </p:spPr>
          <p:txBody>
            <a:bodyPr anchor="t" rtlCol="false" tIns="0" lIns="0" bIns="0" rIns="0">
              <a:spAutoFit/>
            </a:bodyPr>
            <a:lstStyle/>
            <a:p>
              <a:pPr algn="l" marL="0" indent="0" lvl="0">
                <a:lnSpc>
                  <a:spcPts val="3120"/>
                </a:lnSpc>
                <a:spcBef>
                  <a:spcPct val="0"/>
                </a:spcBef>
              </a:pPr>
              <a:r>
                <a:rPr lang="en-US" sz="2400" spc="-120">
                  <a:solidFill>
                    <a:srgbClr val="101820"/>
                  </a:solidFill>
                  <a:latin typeface="Pretendard"/>
                  <a:ea typeface="Pretendard"/>
                  <a:cs typeface="Pretendard"/>
                  <a:sym typeface="Pretendard"/>
                </a:rPr>
                <a:t>The mBCA 554 requires an optional ultrasonic height-measurement accessory for automatic height measurement; without it, height must be obtained separately</a:t>
              </a:r>
            </a:p>
          </p:txBody>
        </p:sp>
        <p:sp>
          <p:nvSpPr>
            <p:cNvPr name="TextBox 49" id="49"/>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grpSp>
        <p:nvGrpSpPr>
          <p:cNvPr name="Group 50" id="50"/>
          <p:cNvGrpSpPr/>
          <p:nvPr/>
        </p:nvGrpSpPr>
        <p:grpSpPr>
          <a:xfrm rot="0">
            <a:off x="183254" y="8277937"/>
            <a:ext cx="15266444" cy="1815736"/>
            <a:chOff x="0" y="0"/>
            <a:chExt cx="20355258" cy="2420981"/>
          </a:xfrm>
        </p:grpSpPr>
        <p:sp>
          <p:nvSpPr>
            <p:cNvPr name="TextBox 51" id="51"/>
            <p:cNvSpPr txBox="true"/>
            <p:nvPr/>
          </p:nvSpPr>
          <p:spPr>
            <a:xfrm rot="0">
              <a:off x="3924386"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52" id="52"/>
            <p:cNvGrpSpPr/>
            <p:nvPr/>
          </p:nvGrpSpPr>
          <p:grpSpPr>
            <a:xfrm rot="0">
              <a:off x="0" y="112852"/>
              <a:ext cx="20160432" cy="2308129"/>
              <a:chOff x="0" y="0"/>
              <a:chExt cx="5807147" cy="664849"/>
            </a:xfrm>
          </p:grpSpPr>
          <p:sp>
            <p:nvSpPr>
              <p:cNvPr name="Freeform 53" id="5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54" id="5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55" id="55"/>
            <p:cNvGrpSpPr/>
            <p:nvPr/>
          </p:nvGrpSpPr>
          <p:grpSpPr>
            <a:xfrm rot="0">
              <a:off x="194826" y="266157"/>
              <a:ext cx="20160432" cy="447972"/>
              <a:chOff x="0" y="0"/>
              <a:chExt cx="5883307" cy="130729"/>
            </a:xfrm>
          </p:grpSpPr>
          <p:sp>
            <p:nvSpPr>
              <p:cNvPr name="Freeform 56" id="5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57" id="5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58" id="58"/>
            <p:cNvGrpSpPr/>
            <p:nvPr/>
          </p:nvGrpSpPr>
          <p:grpSpPr>
            <a:xfrm rot="0">
              <a:off x="194826" y="535143"/>
              <a:ext cx="20160432" cy="447972"/>
              <a:chOff x="0" y="0"/>
              <a:chExt cx="5883307" cy="130729"/>
            </a:xfrm>
          </p:grpSpPr>
          <p:sp>
            <p:nvSpPr>
              <p:cNvPr name="Freeform 59" id="5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60" id="6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61" id="61"/>
            <p:cNvSpPr txBox="true"/>
            <p:nvPr/>
          </p:nvSpPr>
          <p:spPr>
            <a:xfrm rot="0">
              <a:off x="194826" y="1382121"/>
              <a:ext cx="19770780" cy="1038860"/>
            </a:xfrm>
            <a:prstGeom prst="rect">
              <a:avLst/>
            </a:prstGeom>
          </p:spPr>
          <p:txBody>
            <a:bodyPr anchor="t" rtlCol="false" tIns="0" lIns="0" bIns="0" rIns="0">
              <a:spAutoFit/>
            </a:bodyPr>
            <a:lstStyle/>
            <a:p>
              <a:pPr algn="l" marL="0" indent="0" lvl="0">
                <a:lnSpc>
                  <a:spcPts val="3120"/>
                </a:lnSpc>
                <a:spcBef>
                  <a:spcPct val="0"/>
                </a:spcBef>
              </a:pPr>
              <a:r>
                <a:rPr lang="en-US" b="true" sz="2400" spc="-120">
                  <a:solidFill>
                    <a:srgbClr val="101820"/>
                  </a:solidFill>
                  <a:latin typeface="Pretendard Medium"/>
                  <a:ea typeface="Pretendard Medium"/>
                  <a:cs typeface="Pretendard Medium"/>
                  <a:sym typeface="Pretendard Medium"/>
                </a:rPr>
                <a:t>The mBCA 514 and 525 use seca analytics 115 PC software, while the mBCA 554 uses cloud-based seca analytics 125. This means the reporting workflow and software requirements vary by model</a:t>
              </a:r>
            </a:p>
          </p:txBody>
        </p:sp>
        <p:sp>
          <p:nvSpPr>
            <p:cNvPr name="TextBox 62" id="62"/>
            <p:cNvSpPr txBox="true"/>
            <p:nvPr/>
          </p:nvSpPr>
          <p:spPr>
            <a:xfrm rot="0">
              <a:off x="408066"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1814"/>
            <a:ext cx="18688694" cy="815730"/>
            <a:chOff x="0" y="0"/>
            <a:chExt cx="8051325" cy="351427"/>
          </a:xfrm>
        </p:grpSpPr>
        <p:sp>
          <p:nvSpPr>
            <p:cNvPr name="Freeform 3" id="3"/>
            <p:cNvSpPr/>
            <p:nvPr/>
          </p:nvSpPr>
          <p:spPr>
            <a:xfrm flipH="false" flipV="false" rot="0">
              <a:off x="0" y="0"/>
              <a:ext cx="8051325" cy="351427"/>
            </a:xfrm>
            <a:custGeom>
              <a:avLst/>
              <a:gdLst/>
              <a:ahLst/>
              <a:cxnLst/>
              <a:rect r="r" b="b" t="t" l="l"/>
              <a:pathLst>
                <a:path h="351427" w="8051325">
                  <a:moveTo>
                    <a:pt x="0" y="0"/>
                  </a:moveTo>
                  <a:lnTo>
                    <a:pt x="8051325" y="0"/>
                  </a:lnTo>
                  <a:lnTo>
                    <a:pt x="8051325" y="351427"/>
                  </a:lnTo>
                  <a:lnTo>
                    <a:pt x="0" y="351427"/>
                  </a:lnTo>
                  <a:close/>
                </a:path>
              </a:pathLst>
            </a:custGeom>
            <a:solidFill>
              <a:srgbClr val="FFFFFF">
                <a:alpha val="69804"/>
              </a:srgbClr>
            </a:solidFill>
          </p:spPr>
        </p:sp>
        <p:sp>
          <p:nvSpPr>
            <p:cNvPr name="TextBox 4" id="4"/>
            <p:cNvSpPr txBox="true"/>
            <p:nvPr/>
          </p:nvSpPr>
          <p:spPr>
            <a:xfrm>
              <a:off x="0" y="-9525"/>
              <a:ext cx="8051325" cy="360952"/>
            </a:xfrm>
            <a:prstGeom prst="rect">
              <a:avLst/>
            </a:prstGeom>
          </p:spPr>
          <p:txBody>
            <a:bodyPr anchor="ctr" rtlCol="false" tIns="69432" lIns="69432" bIns="69432" rIns="69432"/>
            <a:lstStyle/>
            <a:p>
              <a:pPr algn="ctr">
                <a:lnSpc>
                  <a:spcPts val="2582"/>
                </a:lnSpc>
              </a:pPr>
            </a:p>
          </p:txBody>
        </p:sp>
      </p:grpSp>
      <p:grpSp>
        <p:nvGrpSpPr>
          <p:cNvPr name="Group 5" id="5"/>
          <p:cNvGrpSpPr/>
          <p:nvPr/>
        </p:nvGrpSpPr>
        <p:grpSpPr>
          <a:xfrm rot="0">
            <a:off x="-116008" y="0"/>
            <a:ext cx="18520017" cy="1199668"/>
            <a:chOff x="0" y="0"/>
            <a:chExt cx="4723370" cy="305965"/>
          </a:xfrm>
        </p:grpSpPr>
        <p:sp>
          <p:nvSpPr>
            <p:cNvPr name="Freeform 6" id="6"/>
            <p:cNvSpPr/>
            <p:nvPr/>
          </p:nvSpPr>
          <p:spPr>
            <a:xfrm flipH="false" flipV="false" rot="0">
              <a:off x="0" y="0"/>
              <a:ext cx="4723370" cy="305965"/>
            </a:xfrm>
            <a:custGeom>
              <a:avLst/>
              <a:gdLst/>
              <a:ahLst/>
              <a:cxnLst/>
              <a:rect r="r" b="b" t="t" l="l"/>
              <a:pathLst>
                <a:path h="305965" w="4723370">
                  <a:moveTo>
                    <a:pt x="0" y="0"/>
                  </a:moveTo>
                  <a:lnTo>
                    <a:pt x="4723370" y="0"/>
                  </a:lnTo>
                  <a:lnTo>
                    <a:pt x="4723370" y="305965"/>
                  </a:lnTo>
                  <a:lnTo>
                    <a:pt x="0" y="305965"/>
                  </a:lnTo>
                  <a:close/>
                </a:path>
              </a:pathLst>
            </a:custGeom>
            <a:solidFill>
              <a:srgbClr val="F0F2F5"/>
            </a:solidFill>
          </p:spPr>
        </p:sp>
        <p:sp>
          <p:nvSpPr>
            <p:cNvPr name="TextBox 7" id="7"/>
            <p:cNvSpPr txBox="true"/>
            <p:nvPr/>
          </p:nvSpPr>
          <p:spPr>
            <a:xfrm>
              <a:off x="0" y="-19050"/>
              <a:ext cx="4723370" cy="325015"/>
            </a:xfrm>
            <a:prstGeom prst="rect">
              <a:avLst/>
            </a:prstGeom>
          </p:spPr>
          <p:txBody>
            <a:bodyPr anchor="ctr" rtlCol="false" tIns="69432" lIns="69432" bIns="69432" rIns="69432"/>
            <a:lstStyle/>
            <a:p>
              <a:pPr algn="ctr">
                <a:lnSpc>
                  <a:spcPts val="1599"/>
                </a:lnSpc>
              </a:pPr>
            </a:p>
          </p:txBody>
        </p:sp>
      </p:grpSp>
      <p:sp>
        <p:nvSpPr>
          <p:cNvPr name="Freeform 8" id="8"/>
          <p:cNvSpPr/>
          <p:nvPr/>
        </p:nvSpPr>
        <p:spPr>
          <a:xfrm flipH="false" flipV="false" rot="0">
            <a:off x="-336445" y="266457"/>
            <a:ext cx="19025139" cy="762243"/>
          </a:xfrm>
          <a:custGeom>
            <a:avLst/>
            <a:gdLst/>
            <a:ahLst/>
            <a:cxnLst/>
            <a:rect r="r" b="b" t="t" l="l"/>
            <a:pathLst>
              <a:path h="762243" w="19025139">
                <a:moveTo>
                  <a:pt x="0" y="0"/>
                </a:moveTo>
                <a:lnTo>
                  <a:pt x="19025139" y="0"/>
                </a:lnTo>
                <a:lnTo>
                  <a:pt x="19025139" y="762243"/>
                </a:lnTo>
                <a:lnTo>
                  <a:pt x="0" y="762243"/>
                </a:lnTo>
                <a:lnTo>
                  <a:pt x="0" y="0"/>
                </a:lnTo>
                <a:close/>
              </a:path>
            </a:pathLst>
          </a:custGeom>
          <a:blipFill>
            <a:blip r:embed="rId2"/>
            <a:stretch>
              <a:fillRect l="0" t="-1896850" r="0" b="-12381"/>
            </a:stretch>
          </a:blipFill>
        </p:spPr>
      </p:sp>
      <p:sp>
        <p:nvSpPr>
          <p:cNvPr name="TextBox 9" id="9"/>
          <p:cNvSpPr txBox="true"/>
          <p:nvPr/>
        </p:nvSpPr>
        <p:spPr>
          <a:xfrm rot="0">
            <a:off x="134143" y="1345300"/>
            <a:ext cx="16760807" cy="666750"/>
          </a:xfrm>
          <a:prstGeom prst="rect">
            <a:avLst/>
          </a:prstGeom>
        </p:spPr>
        <p:txBody>
          <a:bodyPr anchor="t" rtlCol="false" tIns="0" lIns="0" bIns="0" rIns="0">
            <a:spAutoFit/>
          </a:bodyPr>
          <a:lstStyle/>
          <a:p>
            <a:pPr algn="l" marL="0" indent="0" lvl="0">
              <a:lnSpc>
                <a:spcPts val="2666"/>
              </a:lnSpc>
            </a:pPr>
            <a:r>
              <a:rPr lang="en-US" sz="2222" i="true">
                <a:solidFill>
                  <a:srgbClr val="101820"/>
                </a:solidFill>
                <a:latin typeface="Gotham Italics"/>
                <a:ea typeface="Gotham Italics"/>
                <a:cs typeface="Gotham Italics"/>
                <a:sym typeface="Gotham Italics"/>
              </a:rPr>
              <a:t> ImpediMed's SOZO is</a:t>
            </a:r>
            <a:r>
              <a:rPr lang="en-US" sz="2222" i="true">
                <a:solidFill>
                  <a:srgbClr val="101820"/>
                </a:solidFill>
                <a:latin typeface="Gotham Italics"/>
                <a:ea typeface="Gotham Italics"/>
                <a:cs typeface="Gotham Italics"/>
                <a:sym typeface="Gotham Italics"/>
              </a:rPr>
              <a:t> a bioimpedance spectroscopy (BIS) system focused pa</a:t>
            </a:r>
            <a:r>
              <a:rPr lang="en-US" sz="2222" i="true">
                <a:solidFill>
                  <a:srgbClr val="101820"/>
                </a:solidFill>
                <a:latin typeface="Gotham Italics"/>
                <a:ea typeface="Gotham Italics"/>
                <a:cs typeface="Gotham Italics"/>
                <a:sym typeface="Gotham Italics"/>
              </a:rPr>
              <a:t>r</a:t>
            </a:r>
            <a:r>
              <a:rPr lang="en-US" sz="2222" i="true">
                <a:solidFill>
                  <a:srgbClr val="101820"/>
                </a:solidFill>
                <a:latin typeface="Gotham Italics"/>
                <a:ea typeface="Gotham Italics"/>
                <a:cs typeface="Gotham Italics"/>
                <a:sym typeface="Gotham Italics"/>
              </a:rPr>
              <a:t>ticularly</a:t>
            </a:r>
            <a:r>
              <a:rPr lang="en-US" sz="2222" i="true">
                <a:solidFill>
                  <a:srgbClr val="101820"/>
                </a:solidFill>
                <a:latin typeface="Gotham Italics"/>
                <a:ea typeface="Gotham Italics"/>
                <a:cs typeface="Gotham Italics"/>
                <a:sym typeface="Gotham Italics"/>
              </a:rPr>
              <a:t> o</a:t>
            </a:r>
            <a:r>
              <a:rPr lang="en-US" sz="2222" i="true">
                <a:solidFill>
                  <a:srgbClr val="101820"/>
                </a:solidFill>
                <a:latin typeface="Gotham Italics"/>
                <a:ea typeface="Gotham Italics"/>
                <a:cs typeface="Gotham Italics"/>
                <a:sym typeface="Gotham Italics"/>
              </a:rPr>
              <a:t>n fluid status</a:t>
            </a:r>
            <a:r>
              <a:rPr lang="en-US" sz="2222" i="true">
                <a:solidFill>
                  <a:srgbClr val="101820"/>
                </a:solidFill>
                <a:latin typeface="Gotham Italics"/>
                <a:ea typeface="Gotham Italics"/>
                <a:cs typeface="Gotham Italics"/>
                <a:sym typeface="Gotham Italics"/>
              </a:rPr>
              <a:t> an</a:t>
            </a:r>
            <a:r>
              <a:rPr lang="en-US" sz="2222" i="true">
                <a:solidFill>
                  <a:srgbClr val="101820"/>
                </a:solidFill>
                <a:latin typeface="Gotham Italics"/>
                <a:ea typeface="Gotham Italics"/>
                <a:cs typeface="Gotham Italics"/>
                <a:sym typeface="Gotham Italics"/>
              </a:rPr>
              <a:t>d cl</a:t>
            </a:r>
            <a:r>
              <a:rPr lang="en-US" sz="2222" i="true">
                <a:solidFill>
                  <a:srgbClr val="101820"/>
                </a:solidFill>
                <a:latin typeface="Gotham Italics"/>
                <a:ea typeface="Gotham Italics"/>
                <a:cs typeface="Gotham Italics"/>
                <a:sym typeface="Gotham Italics"/>
              </a:rPr>
              <a:t>inical</a:t>
            </a:r>
            <a:r>
              <a:rPr lang="en-US" sz="2222" i="true">
                <a:solidFill>
                  <a:srgbClr val="101820"/>
                </a:solidFill>
                <a:latin typeface="Gotham Italics"/>
                <a:ea typeface="Gotham Italics"/>
                <a:cs typeface="Gotham Italics"/>
                <a:sym typeface="Gotham Italics"/>
              </a:rPr>
              <a:t> monitoring.</a:t>
            </a:r>
          </a:p>
        </p:txBody>
      </p:sp>
      <p:grpSp>
        <p:nvGrpSpPr>
          <p:cNvPr name="Group 10" id="10"/>
          <p:cNvGrpSpPr/>
          <p:nvPr/>
        </p:nvGrpSpPr>
        <p:grpSpPr>
          <a:xfrm rot="0">
            <a:off x="329374" y="2126350"/>
            <a:ext cx="15120324" cy="1974028"/>
            <a:chOff x="0" y="0"/>
            <a:chExt cx="20160432" cy="2632037"/>
          </a:xfrm>
        </p:grpSpPr>
        <p:sp>
          <p:nvSpPr>
            <p:cNvPr name="TextBox 11" id="1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12" id="12"/>
            <p:cNvGrpSpPr/>
            <p:nvPr/>
          </p:nvGrpSpPr>
          <p:grpSpPr>
            <a:xfrm rot="0">
              <a:off x="0" y="266157"/>
              <a:ext cx="20160432" cy="2365881"/>
              <a:chOff x="0" y="0"/>
              <a:chExt cx="5807147" cy="681484"/>
            </a:xfrm>
          </p:grpSpPr>
          <p:sp>
            <p:nvSpPr>
              <p:cNvPr name="Freeform 13" id="13"/>
              <p:cNvSpPr/>
              <p:nvPr/>
            </p:nvSpPr>
            <p:spPr>
              <a:xfrm flipH="false" flipV="false" rot="0">
                <a:off x="0" y="0"/>
                <a:ext cx="5807147" cy="681484"/>
              </a:xfrm>
              <a:custGeom>
                <a:avLst/>
                <a:gdLst/>
                <a:ahLst/>
                <a:cxnLst/>
                <a:rect r="r" b="b" t="t" l="l"/>
                <a:pathLst>
                  <a:path h="681484" w="5807147">
                    <a:moveTo>
                      <a:pt x="5034" y="0"/>
                    </a:moveTo>
                    <a:lnTo>
                      <a:pt x="5802113" y="0"/>
                    </a:lnTo>
                    <a:cubicBezTo>
                      <a:pt x="5803448" y="0"/>
                      <a:pt x="5804728" y="530"/>
                      <a:pt x="5805672" y="1474"/>
                    </a:cubicBezTo>
                    <a:cubicBezTo>
                      <a:pt x="5806617" y="2419"/>
                      <a:pt x="5807147" y="3699"/>
                      <a:pt x="5807147" y="5034"/>
                    </a:cubicBezTo>
                    <a:lnTo>
                      <a:pt x="5807147" y="676450"/>
                    </a:lnTo>
                    <a:cubicBezTo>
                      <a:pt x="5807147" y="677785"/>
                      <a:pt x="5806617" y="679066"/>
                      <a:pt x="5805672" y="680010"/>
                    </a:cubicBezTo>
                    <a:cubicBezTo>
                      <a:pt x="5804728" y="680954"/>
                      <a:pt x="5803448" y="681484"/>
                      <a:pt x="5802113" y="681484"/>
                    </a:cubicBezTo>
                    <a:lnTo>
                      <a:pt x="5034" y="681484"/>
                    </a:lnTo>
                    <a:cubicBezTo>
                      <a:pt x="3699" y="681484"/>
                      <a:pt x="2419" y="680954"/>
                      <a:pt x="1474" y="680010"/>
                    </a:cubicBezTo>
                    <a:cubicBezTo>
                      <a:pt x="530" y="679066"/>
                      <a:pt x="0" y="677785"/>
                      <a:pt x="0" y="676450"/>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14" id="14"/>
              <p:cNvSpPr txBox="true"/>
              <p:nvPr/>
            </p:nvSpPr>
            <p:spPr>
              <a:xfrm>
                <a:off x="0" y="-38100"/>
                <a:ext cx="5807147" cy="719584"/>
              </a:xfrm>
              <a:prstGeom prst="rect">
                <a:avLst/>
              </a:prstGeom>
            </p:spPr>
            <p:txBody>
              <a:bodyPr anchor="ctr" rtlCol="false" tIns="14634" lIns="14634" bIns="14634" rIns="14634"/>
              <a:lstStyle/>
              <a:p>
                <a:pPr algn="ctr">
                  <a:lnSpc>
                    <a:spcPts val="1711"/>
                  </a:lnSpc>
                </a:pPr>
              </a:p>
            </p:txBody>
          </p:sp>
        </p:grpSp>
        <p:grpSp>
          <p:nvGrpSpPr>
            <p:cNvPr name="Group 15" id="15"/>
            <p:cNvGrpSpPr/>
            <p:nvPr/>
          </p:nvGrpSpPr>
          <p:grpSpPr>
            <a:xfrm rot="0">
              <a:off x="0" y="266157"/>
              <a:ext cx="20160432" cy="447972"/>
              <a:chOff x="0" y="0"/>
              <a:chExt cx="5883307" cy="130729"/>
            </a:xfrm>
          </p:grpSpPr>
          <p:sp>
            <p:nvSpPr>
              <p:cNvPr name="Freeform 16" id="1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17" id="1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18" id="18"/>
            <p:cNvGrpSpPr/>
            <p:nvPr/>
          </p:nvGrpSpPr>
          <p:grpSpPr>
            <a:xfrm rot="0">
              <a:off x="0" y="535143"/>
              <a:ext cx="20160432" cy="447972"/>
              <a:chOff x="0" y="0"/>
              <a:chExt cx="5883307" cy="130729"/>
            </a:xfrm>
          </p:grpSpPr>
          <p:sp>
            <p:nvSpPr>
              <p:cNvPr name="Freeform 19" id="1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20" id="2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21" id="21"/>
            <p:cNvSpPr txBox="true"/>
            <p:nvPr/>
          </p:nvSpPr>
          <p:spPr>
            <a:xfrm rot="0">
              <a:off x="194826" y="1487936"/>
              <a:ext cx="19770780" cy="4270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The</a:t>
              </a:r>
              <a:r>
                <a:rPr lang="en-US" b="true" sz="1966" spc="-98" strike="noStrike" u="none">
                  <a:solidFill>
                    <a:srgbClr val="101820"/>
                  </a:solidFill>
                  <a:latin typeface="Pretendard Medium"/>
                  <a:ea typeface="Pretendard Medium"/>
                  <a:cs typeface="Pretendard Medium"/>
                  <a:sym typeface="Pretendard Medium"/>
                </a:rPr>
                <a:t> SOZO product brief does not specify separat</a:t>
              </a:r>
              <a:r>
                <a:rPr lang="en-US" b="true" sz="1966" spc="-98" strike="noStrike" u="none">
                  <a:solidFill>
                    <a:srgbClr val="101820"/>
                  </a:solidFill>
                  <a:latin typeface="Pretendard Medium"/>
                  <a:ea typeface="Pretendard Medium"/>
                  <a:cs typeface="Pretendard Medium"/>
                  <a:sym typeface="Pretendard Medium"/>
                </a:rPr>
                <a:t>e</a:t>
              </a:r>
              <a:r>
                <a:rPr lang="en-US" b="true" sz="1966" spc="-98" strike="noStrike" u="none">
                  <a:solidFill>
                    <a:srgbClr val="101820"/>
                  </a:solidFill>
                  <a:latin typeface="Pretendard Medium"/>
                  <a:ea typeface="Pretendard Medium"/>
                  <a:cs typeface="Pretendard Medium"/>
                  <a:sym typeface="Pretendard Medium"/>
                </a:rPr>
                <a:t> a</a:t>
              </a:r>
              <a:r>
                <a:rPr lang="en-US" b="true" sz="1966" spc="-98" strike="noStrike" u="none">
                  <a:solidFill>
                    <a:srgbClr val="101820"/>
                  </a:solidFill>
                  <a:latin typeface="Pretendard Medium"/>
                  <a:ea typeface="Pretendard Medium"/>
                  <a:cs typeface="Pretendard Medium"/>
                  <a:sym typeface="Pretendard Medium"/>
                </a:rPr>
                <a:t>rm, leg and trunk body composition</a:t>
              </a:r>
              <a:r>
                <a:rPr lang="en-US" b="true" sz="1966" spc="-98" strike="noStrike" u="none">
                  <a:solidFill>
                    <a:srgbClr val="101820"/>
                  </a:solidFill>
                  <a:latin typeface="Pretendard Medium"/>
                  <a:ea typeface="Pretendard Medium"/>
                  <a:cs typeface="Pretendard Medium"/>
                  <a:sym typeface="Pretendard Medium"/>
                </a:rPr>
                <a:t> results.</a:t>
              </a:r>
            </a:p>
          </p:txBody>
        </p:sp>
        <p:sp>
          <p:nvSpPr>
            <p:cNvPr name="TextBox 22" id="22"/>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No seg</a:t>
              </a:r>
              <a:r>
                <a:rPr lang="en-US" b="true" sz="2180">
                  <a:solidFill>
                    <a:srgbClr val="FFFFFF"/>
                  </a:solidFill>
                  <a:latin typeface="Pretendard Bold"/>
                  <a:ea typeface="Pretendard Bold"/>
                  <a:cs typeface="Pretendard Bold"/>
                  <a:sym typeface="Pretendard Bold"/>
                </a:rPr>
                <a:t>mental body composition analysis</a:t>
              </a:r>
            </a:p>
          </p:txBody>
        </p:sp>
      </p:grpSp>
      <p:sp>
        <p:nvSpPr>
          <p:cNvPr name="TextBox 23" id="23"/>
          <p:cNvSpPr txBox="true"/>
          <p:nvPr/>
        </p:nvSpPr>
        <p:spPr>
          <a:xfrm rot="0">
            <a:off x="0" y="241353"/>
            <a:ext cx="3451868" cy="706192"/>
          </a:xfrm>
          <a:prstGeom prst="rect">
            <a:avLst/>
          </a:prstGeom>
        </p:spPr>
        <p:txBody>
          <a:bodyPr anchor="t" rtlCol="false" tIns="0" lIns="0" bIns="0" rIns="0">
            <a:spAutoFit/>
          </a:bodyPr>
          <a:lstStyle/>
          <a:p>
            <a:pPr algn="ctr">
              <a:lnSpc>
                <a:spcPts val="5728"/>
              </a:lnSpc>
            </a:pPr>
            <a:r>
              <a:rPr lang="en-US" sz="4091" b="true">
                <a:solidFill>
                  <a:srgbClr val="9E002D"/>
                </a:solidFill>
                <a:latin typeface="Canva Sans Bold"/>
                <a:ea typeface="Canva Sans Bold"/>
                <a:cs typeface="Canva Sans Bold"/>
                <a:sym typeface="Canva Sans Bold"/>
              </a:rPr>
              <a:t>Impedimed</a:t>
            </a:r>
          </a:p>
        </p:txBody>
      </p:sp>
      <p:grpSp>
        <p:nvGrpSpPr>
          <p:cNvPr name="Group 24" id="24"/>
          <p:cNvGrpSpPr/>
          <p:nvPr/>
        </p:nvGrpSpPr>
        <p:grpSpPr>
          <a:xfrm rot="0">
            <a:off x="329374" y="4214678"/>
            <a:ext cx="15120324" cy="1930714"/>
            <a:chOff x="0" y="0"/>
            <a:chExt cx="20160432" cy="2574285"/>
          </a:xfrm>
        </p:grpSpPr>
        <p:sp>
          <p:nvSpPr>
            <p:cNvPr name="TextBox 25" id="25"/>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26" id="26"/>
            <p:cNvGrpSpPr/>
            <p:nvPr/>
          </p:nvGrpSpPr>
          <p:grpSpPr>
            <a:xfrm rot="0">
              <a:off x="0" y="266157"/>
              <a:ext cx="20160432" cy="2308129"/>
              <a:chOff x="0" y="0"/>
              <a:chExt cx="5807147" cy="664849"/>
            </a:xfrm>
          </p:grpSpPr>
          <p:sp>
            <p:nvSpPr>
              <p:cNvPr name="Freeform 27" id="27"/>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28" id="28"/>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29" id="29"/>
            <p:cNvGrpSpPr/>
            <p:nvPr/>
          </p:nvGrpSpPr>
          <p:grpSpPr>
            <a:xfrm rot="0">
              <a:off x="0" y="266157"/>
              <a:ext cx="20160432" cy="447972"/>
              <a:chOff x="0" y="0"/>
              <a:chExt cx="5883307" cy="130729"/>
            </a:xfrm>
          </p:grpSpPr>
          <p:sp>
            <p:nvSpPr>
              <p:cNvPr name="Freeform 30" id="30"/>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31" id="31"/>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32" id="32"/>
            <p:cNvGrpSpPr/>
            <p:nvPr/>
          </p:nvGrpSpPr>
          <p:grpSpPr>
            <a:xfrm rot="0">
              <a:off x="0" y="535143"/>
              <a:ext cx="20160432" cy="447972"/>
              <a:chOff x="0" y="0"/>
              <a:chExt cx="5883307" cy="130729"/>
            </a:xfrm>
          </p:grpSpPr>
          <p:sp>
            <p:nvSpPr>
              <p:cNvPr name="Freeform 33" id="33"/>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34" id="3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35" id="35"/>
            <p:cNvSpPr txBox="true"/>
            <p:nvPr/>
          </p:nvSpPr>
          <p:spPr>
            <a:xfrm rot="0">
              <a:off x="389652" y="1220921"/>
              <a:ext cx="19770780" cy="8588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Its L-Dex and Hy-Dex</a:t>
              </a:r>
              <a:r>
                <a:rPr lang="en-US" b="true" sz="1966" spc="-98" strike="noStrike" u="none">
                  <a:solidFill>
                    <a:srgbClr val="101820"/>
                  </a:solidFill>
                  <a:latin typeface="Pretendard Medium"/>
                  <a:ea typeface="Pretendard Medium"/>
                  <a:cs typeface="Pretendard Medium"/>
                  <a:sym typeface="Pretendard Medium"/>
                </a:rPr>
                <a:t> featu</a:t>
              </a:r>
              <a:r>
                <a:rPr lang="en-US" b="true" sz="1966" spc="-98" strike="noStrike" u="none">
                  <a:solidFill>
                    <a:srgbClr val="101820"/>
                  </a:solidFill>
                  <a:latin typeface="Pretendard Medium"/>
                  <a:ea typeface="Pretendard Medium"/>
                  <a:cs typeface="Pretendard Medium"/>
                  <a:sym typeface="Pretendard Medium"/>
                </a:rPr>
                <a:t>r</a:t>
              </a:r>
              <a:r>
                <a:rPr lang="en-US" b="true" sz="1966" spc="-98" strike="noStrike" u="none">
                  <a:solidFill>
                    <a:srgbClr val="101820"/>
                  </a:solidFill>
                  <a:latin typeface="Pretendard Medium"/>
                  <a:ea typeface="Pretendard Medium"/>
                  <a:cs typeface="Pretendard Medium"/>
                  <a:sym typeface="Pretendard Medium"/>
                </a:rPr>
                <a:t>es are particularly relevant to lymphoedema and </a:t>
              </a:r>
              <a:r>
                <a:rPr lang="en-US" b="true" sz="1966" spc="-98" strike="noStrike" u="none">
                  <a:solidFill>
                    <a:srgbClr val="101820"/>
                  </a:solidFill>
                  <a:latin typeface="Pretendard Medium"/>
                  <a:ea typeface="Pretendard Medium"/>
                  <a:cs typeface="Pretendard Medium"/>
                  <a:sym typeface="Pretendard Medium"/>
                </a:rPr>
                <a:t>fluid monito</a:t>
              </a:r>
              <a:r>
                <a:rPr lang="en-US" b="true" sz="1966" spc="-98" strike="noStrike" u="none">
                  <a:solidFill>
                    <a:srgbClr val="101820"/>
                  </a:solidFill>
                  <a:latin typeface="Pretendard Medium"/>
                  <a:ea typeface="Pretendard Medium"/>
                  <a:cs typeface="Pretendard Medium"/>
                  <a:sym typeface="Pretendard Medium"/>
                </a:rPr>
                <a:t>ri</a:t>
              </a:r>
              <a:r>
                <a:rPr lang="en-US" b="true" sz="1966" spc="-98" strike="noStrike" u="none">
                  <a:solidFill>
                    <a:srgbClr val="101820"/>
                  </a:solidFill>
                  <a:latin typeface="Pretendard Medium"/>
                  <a:ea typeface="Pretendard Medium"/>
                  <a:cs typeface="Pretendard Medium"/>
                  <a:sym typeface="Pretendard Medium"/>
                </a:rPr>
                <a:t>ng, so </a:t>
              </a:r>
              <a:r>
                <a:rPr lang="en-US" b="true" sz="1966" spc="-98" strike="noStrike" u="none">
                  <a:solidFill>
                    <a:srgbClr val="101820"/>
                  </a:solidFill>
                  <a:latin typeface="Pretendard Medium"/>
                  <a:ea typeface="Pretendard Medium"/>
                  <a:cs typeface="Pretendard Medium"/>
                  <a:sym typeface="Pretendard Medium"/>
                </a:rPr>
                <a:t>c</a:t>
              </a:r>
              <a:r>
                <a:rPr lang="en-US" b="true" sz="1966" spc="-98" strike="noStrike" u="none">
                  <a:solidFill>
                    <a:srgbClr val="101820"/>
                  </a:solidFill>
                  <a:latin typeface="Pretendard Medium"/>
                  <a:ea typeface="Pretendard Medium"/>
                  <a:cs typeface="Pretendard Medium"/>
                  <a:sym typeface="Pretendard Medium"/>
                </a:rPr>
                <a:t>omp</a:t>
              </a:r>
              <a:r>
                <a:rPr lang="en-US" b="true" sz="1966" spc="-98" strike="noStrike" u="none">
                  <a:solidFill>
                    <a:srgbClr val="101820"/>
                  </a:solidFill>
                  <a:latin typeface="Pretendard Medium"/>
                  <a:ea typeface="Pretendard Medium"/>
                  <a:cs typeface="Pretendard Medium"/>
                  <a:sym typeface="Pretendard Medium"/>
                </a:rPr>
                <a:t>arisons should a</a:t>
              </a:r>
              <a:r>
                <a:rPr lang="en-US" b="true" sz="1966" spc="-98" strike="noStrike" u="none">
                  <a:solidFill>
                    <a:srgbClr val="101820"/>
                  </a:solidFill>
                  <a:latin typeface="Pretendard Medium"/>
                  <a:ea typeface="Pretendard Medium"/>
                  <a:cs typeface="Pretendard Medium"/>
                  <a:sym typeface="Pretendard Medium"/>
                </a:rPr>
                <a:t>ccou</a:t>
              </a:r>
              <a:r>
                <a:rPr lang="en-US" b="true" sz="1966" spc="-98" strike="noStrike" u="none">
                  <a:solidFill>
                    <a:srgbClr val="101820"/>
                  </a:solidFill>
                  <a:latin typeface="Pretendard Medium"/>
                  <a:ea typeface="Pretendard Medium"/>
                  <a:cs typeface="Pretendard Medium"/>
                  <a:sym typeface="Pretendard Medium"/>
                </a:rPr>
                <a:t>n</a:t>
              </a:r>
              <a:r>
                <a:rPr lang="en-US" b="true" sz="1966" spc="-98" strike="noStrike" u="none">
                  <a:solidFill>
                    <a:srgbClr val="101820"/>
                  </a:solidFill>
                  <a:latin typeface="Pretendard Medium"/>
                  <a:ea typeface="Pretendard Medium"/>
                  <a:cs typeface="Pretendard Medium"/>
                  <a:sym typeface="Pretendard Medium"/>
                </a:rPr>
                <a:t>t</a:t>
              </a:r>
              <a:r>
                <a:rPr lang="en-US" b="true" sz="1966" spc="-98" strike="noStrike" u="none">
                  <a:solidFill>
                    <a:srgbClr val="101820"/>
                  </a:solidFill>
                  <a:latin typeface="Pretendard Medium"/>
                  <a:ea typeface="Pretendard Medium"/>
                  <a:cs typeface="Pretendard Medium"/>
                  <a:sym typeface="Pretendard Medium"/>
                </a:rPr>
                <a:t> for </a:t>
              </a:r>
              <a:r>
                <a:rPr lang="en-US" b="true" sz="1966" spc="-98" strike="noStrike" u="none">
                  <a:solidFill>
                    <a:srgbClr val="101820"/>
                  </a:solidFill>
                  <a:latin typeface="Pretendard Medium"/>
                  <a:ea typeface="Pretendard Medium"/>
                  <a:cs typeface="Pretendard Medium"/>
                  <a:sym typeface="Pretendard Medium"/>
                </a:rPr>
                <a:t>th</a:t>
              </a:r>
              <a:r>
                <a:rPr lang="en-US" b="true" sz="1966" spc="-98" strike="noStrike" u="none">
                  <a:solidFill>
                    <a:srgbClr val="101820"/>
                  </a:solidFill>
                  <a:latin typeface="Pretendard Medium"/>
                  <a:ea typeface="Pretendard Medium"/>
                  <a:cs typeface="Pretendard Medium"/>
                  <a:sym typeface="Pretendard Medium"/>
                </a:rPr>
                <a:t>e </a:t>
              </a:r>
              <a:r>
                <a:rPr lang="en-US" b="true" sz="1966" spc="-98" strike="noStrike" u="none">
                  <a:solidFill>
                    <a:srgbClr val="101820"/>
                  </a:solidFill>
                  <a:latin typeface="Pretendard Medium"/>
                  <a:ea typeface="Pretendard Medium"/>
                  <a:cs typeface="Pretendard Medium"/>
                  <a:sym typeface="Pretendard Medium"/>
                </a:rPr>
                <a:t>in</a:t>
              </a:r>
              <a:r>
                <a:rPr lang="en-US" b="true" sz="1966" spc="-98" strike="noStrike" u="none">
                  <a:solidFill>
                    <a:srgbClr val="101820"/>
                  </a:solidFill>
                  <a:latin typeface="Pretendard Medium"/>
                  <a:ea typeface="Pretendard Medium"/>
                  <a:cs typeface="Pretendard Medium"/>
                  <a:sym typeface="Pretendard Medium"/>
                </a:rPr>
                <a:t>te</a:t>
              </a:r>
              <a:r>
                <a:rPr lang="en-US" b="true" sz="1966" spc="-98" strike="noStrike" u="none">
                  <a:solidFill>
                    <a:srgbClr val="101820"/>
                  </a:solidFill>
                  <a:latin typeface="Pretendard Medium"/>
                  <a:ea typeface="Pretendard Medium"/>
                  <a:cs typeface="Pretendard Medium"/>
                  <a:sym typeface="Pretendard Medium"/>
                </a:rPr>
                <a:t>nd</a:t>
              </a:r>
              <a:r>
                <a:rPr lang="en-US" b="true" sz="1966" spc="-98" strike="noStrike" u="none">
                  <a:solidFill>
                    <a:srgbClr val="101820"/>
                  </a:solidFill>
                  <a:latin typeface="Pretendard Medium"/>
                  <a:ea typeface="Pretendard Medium"/>
                  <a:cs typeface="Pretendard Medium"/>
                  <a:sym typeface="Pretendard Medium"/>
                </a:rPr>
                <a:t>e</a:t>
              </a:r>
              <a:r>
                <a:rPr lang="en-US" b="true" sz="1966" spc="-98" strike="noStrike" u="none">
                  <a:solidFill>
                    <a:srgbClr val="101820"/>
                  </a:solidFill>
                  <a:latin typeface="Pretendard Medium"/>
                  <a:ea typeface="Pretendard Medium"/>
                  <a:cs typeface="Pretendard Medium"/>
                  <a:sym typeface="Pretendard Medium"/>
                </a:rPr>
                <a:t>d</a:t>
              </a:r>
              <a:r>
                <a:rPr lang="en-US" b="true" sz="1966" spc="-98" strike="noStrike" u="none">
                  <a:solidFill>
                    <a:srgbClr val="101820"/>
                  </a:solidFill>
                  <a:latin typeface="Pretendard Medium"/>
                  <a:ea typeface="Pretendard Medium"/>
                  <a:cs typeface="Pretendard Medium"/>
                  <a:sym typeface="Pretendard Medium"/>
                </a:rPr>
                <a:t> </a:t>
              </a:r>
              <a:r>
                <a:rPr lang="en-US" b="true" sz="1966" spc="-98" strike="noStrike" u="none">
                  <a:solidFill>
                    <a:srgbClr val="101820"/>
                  </a:solidFill>
                  <a:latin typeface="Pretendard Medium"/>
                  <a:ea typeface="Pretendard Medium"/>
                  <a:cs typeface="Pretendard Medium"/>
                  <a:sym typeface="Pretendard Medium"/>
                </a:rPr>
                <a:t>clinical a</a:t>
              </a:r>
              <a:r>
                <a:rPr lang="en-US" b="true" sz="1966" spc="-98" strike="noStrike" u="none">
                  <a:solidFill>
                    <a:srgbClr val="101820"/>
                  </a:solidFill>
                  <a:latin typeface="Pretendard Medium"/>
                  <a:ea typeface="Pretendard Medium"/>
                  <a:cs typeface="Pretendard Medium"/>
                  <a:sym typeface="Pretendard Medium"/>
                </a:rPr>
                <a:t>p</a:t>
              </a:r>
              <a:r>
                <a:rPr lang="en-US" b="true" sz="1966" spc="-98" strike="noStrike" u="none">
                  <a:solidFill>
                    <a:srgbClr val="101820"/>
                  </a:solidFill>
                  <a:latin typeface="Pretendard Medium"/>
                  <a:ea typeface="Pretendard Medium"/>
                  <a:cs typeface="Pretendard Medium"/>
                  <a:sym typeface="Pretendard Medium"/>
                </a:rPr>
                <a:t>pli</a:t>
              </a:r>
              <a:r>
                <a:rPr lang="en-US" b="true" sz="1966" spc="-98" strike="noStrike" u="none">
                  <a:solidFill>
                    <a:srgbClr val="101820"/>
                  </a:solidFill>
                  <a:latin typeface="Pretendard Medium"/>
                  <a:ea typeface="Pretendard Medium"/>
                  <a:cs typeface="Pretendard Medium"/>
                  <a:sym typeface="Pretendard Medium"/>
                </a:rPr>
                <a:t>c</a:t>
              </a:r>
              <a:r>
                <a:rPr lang="en-US" b="true" sz="1966" spc="-98" strike="noStrike" u="none">
                  <a:solidFill>
                    <a:srgbClr val="101820"/>
                  </a:solidFill>
                  <a:latin typeface="Pretendard Medium"/>
                  <a:ea typeface="Pretendard Medium"/>
                  <a:cs typeface="Pretendard Medium"/>
                  <a:sym typeface="Pretendard Medium"/>
                </a:rPr>
                <a:t>a</a:t>
              </a:r>
              <a:r>
                <a:rPr lang="en-US" b="true" sz="1966" spc="-98" strike="noStrike" u="none">
                  <a:solidFill>
                    <a:srgbClr val="101820"/>
                  </a:solidFill>
                  <a:latin typeface="Pretendard Medium"/>
                  <a:ea typeface="Pretendard Medium"/>
                  <a:cs typeface="Pretendard Medium"/>
                  <a:sym typeface="Pretendard Medium"/>
                </a:rPr>
                <a:t>t</a:t>
              </a:r>
              <a:r>
                <a:rPr lang="en-US" b="true" sz="1966" spc="-98" strike="noStrike" u="none">
                  <a:solidFill>
                    <a:srgbClr val="101820"/>
                  </a:solidFill>
                  <a:latin typeface="Pretendard Medium"/>
                  <a:ea typeface="Pretendard Medium"/>
                  <a:cs typeface="Pretendard Medium"/>
                  <a:sym typeface="Pretendard Medium"/>
                </a:rPr>
                <a:t>ion</a:t>
              </a:r>
              <a:r>
                <a:rPr lang="en-US" b="true" sz="1966" spc="-98" strike="noStrike" u="none">
                  <a:solidFill>
                    <a:srgbClr val="101820"/>
                  </a:solidFill>
                  <a:latin typeface="Pretendard Medium"/>
                  <a:ea typeface="Pretendard Medium"/>
                  <a:cs typeface="Pretendard Medium"/>
                  <a:sym typeface="Pretendard Medium"/>
                </a:rPr>
                <a:t>.</a:t>
              </a:r>
            </a:p>
          </p:txBody>
        </p:sp>
        <p:sp>
          <p:nvSpPr>
            <p:cNvPr name="TextBox 36" id="36"/>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D</a:t>
              </a:r>
              <a:r>
                <a:rPr lang="en-US" b="true" sz="2180">
                  <a:solidFill>
                    <a:srgbClr val="FFFFFF"/>
                  </a:solidFill>
                  <a:latin typeface="Pretendard Bold"/>
                  <a:ea typeface="Pretendard Bold"/>
                  <a:cs typeface="Pretendard Bold"/>
                  <a:sym typeface="Pretendard Bold"/>
                </a:rPr>
                <a:t>ifferent primary clinical focus</a:t>
              </a:r>
            </a:p>
          </p:txBody>
        </p:sp>
      </p:grpSp>
      <p:grpSp>
        <p:nvGrpSpPr>
          <p:cNvPr name="Group 37" id="37"/>
          <p:cNvGrpSpPr/>
          <p:nvPr/>
        </p:nvGrpSpPr>
        <p:grpSpPr>
          <a:xfrm rot="0">
            <a:off x="329374" y="6145392"/>
            <a:ext cx="15120324" cy="1930714"/>
            <a:chOff x="0" y="0"/>
            <a:chExt cx="20160432" cy="2574285"/>
          </a:xfrm>
        </p:grpSpPr>
        <p:sp>
          <p:nvSpPr>
            <p:cNvPr name="TextBox 38" id="38"/>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39" id="39"/>
            <p:cNvGrpSpPr/>
            <p:nvPr/>
          </p:nvGrpSpPr>
          <p:grpSpPr>
            <a:xfrm rot="0">
              <a:off x="0" y="266157"/>
              <a:ext cx="20160432" cy="2308129"/>
              <a:chOff x="0" y="0"/>
              <a:chExt cx="5807147" cy="664849"/>
            </a:xfrm>
          </p:grpSpPr>
          <p:sp>
            <p:nvSpPr>
              <p:cNvPr name="Freeform 40" id="40"/>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41" id="41"/>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42" id="42"/>
            <p:cNvGrpSpPr/>
            <p:nvPr/>
          </p:nvGrpSpPr>
          <p:grpSpPr>
            <a:xfrm rot="0">
              <a:off x="0" y="266157"/>
              <a:ext cx="20160432" cy="447972"/>
              <a:chOff x="0" y="0"/>
              <a:chExt cx="5883307" cy="130729"/>
            </a:xfrm>
          </p:grpSpPr>
          <p:sp>
            <p:nvSpPr>
              <p:cNvPr name="Freeform 43" id="43"/>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44" id="44"/>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45" id="45"/>
            <p:cNvGrpSpPr/>
            <p:nvPr/>
          </p:nvGrpSpPr>
          <p:grpSpPr>
            <a:xfrm rot="0">
              <a:off x="0" y="535143"/>
              <a:ext cx="20160432" cy="447972"/>
              <a:chOff x="0" y="0"/>
              <a:chExt cx="5883307" cy="130729"/>
            </a:xfrm>
          </p:grpSpPr>
          <p:sp>
            <p:nvSpPr>
              <p:cNvPr name="Freeform 46" id="46"/>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47" id="4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48" id="48"/>
            <p:cNvSpPr txBox="true"/>
            <p:nvPr/>
          </p:nvSpPr>
          <p:spPr>
            <a:xfrm rot="0">
              <a:off x="194826" y="1391646"/>
              <a:ext cx="19770780" cy="4270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Dependence on a separate tablet interface: The listed configuration uses a Samsung Galaxy Tab A tablet.</a:t>
              </a:r>
            </a:p>
          </p:txBody>
        </p:sp>
        <p:sp>
          <p:nvSpPr>
            <p:cNvPr name="TextBox 49" id="49"/>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Limited frequency op</a:t>
              </a:r>
              <a:r>
                <a:rPr lang="en-US" b="true" sz="2180">
                  <a:solidFill>
                    <a:srgbClr val="FFFFFF"/>
                  </a:solidFill>
                  <a:latin typeface="Pretendard Bold"/>
                  <a:ea typeface="Pretendard Bold"/>
                  <a:cs typeface="Pretendard Bold"/>
                  <a:sym typeface="Pretendard Bold"/>
                </a:rPr>
                <a:t>tions in selected models</a:t>
              </a:r>
            </a:p>
          </p:txBody>
        </p:sp>
      </p:grpSp>
      <p:grpSp>
        <p:nvGrpSpPr>
          <p:cNvPr name="Group 50" id="50"/>
          <p:cNvGrpSpPr/>
          <p:nvPr/>
        </p:nvGrpSpPr>
        <p:grpSpPr>
          <a:xfrm rot="0">
            <a:off x="329374" y="8190405"/>
            <a:ext cx="15120324" cy="1930714"/>
            <a:chOff x="0" y="0"/>
            <a:chExt cx="20160432" cy="2574285"/>
          </a:xfrm>
        </p:grpSpPr>
        <p:sp>
          <p:nvSpPr>
            <p:cNvPr name="TextBox 51" id="51"/>
            <p:cNvSpPr txBox="true"/>
            <p:nvPr/>
          </p:nvSpPr>
          <p:spPr>
            <a:xfrm rot="0">
              <a:off x="3729560" y="-38100"/>
              <a:ext cx="254078" cy="304257"/>
            </a:xfrm>
            <a:prstGeom prst="rect">
              <a:avLst/>
            </a:prstGeom>
          </p:spPr>
          <p:txBody>
            <a:bodyPr anchor="t" rtlCol="false" tIns="0" lIns="0" bIns="0" rIns="0">
              <a:spAutoFit/>
            </a:bodyPr>
            <a:lstStyle/>
            <a:p>
              <a:pPr algn="ctr">
                <a:lnSpc>
                  <a:spcPts val="1913"/>
                </a:lnSpc>
                <a:spcBef>
                  <a:spcPct val="0"/>
                </a:spcBef>
              </a:pPr>
              <a:r>
                <a:rPr lang="en-US" b="true" sz="1366">
                  <a:solidFill>
                    <a:srgbClr val="FFFFFF"/>
                  </a:solidFill>
                  <a:latin typeface="프리텐다드 Semi-Bold"/>
                  <a:ea typeface="프리텐다드 Semi-Bold"/>
                  <a:cs typeface="프리텐다드 Semi-Bold"/>
                  <a:sym typeface="프리텐다드 Semi-Bold"/>
                </a:rPr>
                <a:t>01</a:t>
              </a:r>
            </a:p>
          </p:txBody>
        </p:sp>
        <p:grpSp>
          <p:nvGrpSpPr>
            <p:cNvPr name="Group 52" id="52"/>
            <p:cNvGrpSpPr/>
            <p:nvPr/>
          </p:nvGrpSpPr>
          <p:grpSpPr>
            <a:xfrm rot="0">
              <a:off x="0" y="266157"/>
              <a:ext cx="20160432" cy="2308129"/>
              <a:chOff x="0" y="0"/>
              <a:chExt cx="5807147" cy="664849"/>
            </a:xfrm>
          </p:grpSpPr>
          <p:sp>
            <p:nvSpPr>
              <p:cNvPr name="Freeform 53" id="53"/>
              <p:cNvSpPr/>
              <p:nvPr/>
            </p:nvSpPr>
            <p:spPr>
              <a:xfrm flipH="false" flipV="false" rot="0">
                <a:off x="0" y="0"/>
                <a:ext cx="5807147" cy="664849"/>
              </a:xfrm>
              <a:custGeom>
                <a:avLst/>
                <a:gdLst/>
                <a:ahLst/>
                <a:cxnLst/>
                <a:rect r="r" b="b" t="t" l="l"/>
                <a:pathLst>
                  <a:path h="664849" w="5807147">
                    <a:moveTo>
                      <a:pt x="5034" y="0"/>
                    </a:moveTo>
                    <a:lnTo>
                      <a:pt x="5802113" y="0"/>
                    </a:lnTo>
                    <a:cubicBezTo>
                      <a:pt x="5803448" y="0"/>
                      <a:pt x="5804728" y="530"/>
                      <a:pt x="5805672" y="1474"/>
                    </a:cubicBezTo>
                    <a:cubicBezTo>
                      <a:pt x="5806617" y="2419"/>
                      <a:pt x="5807147" y="3699"/>
                      <a:pt x="5807147" y="5034"/>
                    </a:cubicBezTo>
                    <a:lnTo>
                      <a:pt x="5807147" y="659815"/>
                    </a:lnTo>
                    <a:cubicBezTo>
                      <a:pt x="5807147" y="661150"/>
                      <a:pt x="5806617" y="662430"/>
                      <a:pt x="5805672" y="663374"/>
                    </a:cubicBezTo>
                    <a:cubicBezTo>
                      <a:pt x="5804728" y="664319"/>
                      <a:pt x="5803448" y="664849"/>
                      <a:pt x="5802113" y="664849"/>
                    </a:cubicBezTo>
                    <a:lnTo>
                      <a:pt x="5034" y="664849"/>
                    </a:lnTo>
                    <a:cubicBezTo>
                      <a:pt x="3699" y="664849"/>
                      <a:pt x="2419" y="664319"/>
                      <a:pt x="1474" y="663374"/>
                    </a:cubicBezTo>
                    <a:cubicBezTo>
                      <a:pt x="530" y="662430"/>
                      <a:pt x="0" y="661150"/>
                      <a:pt x="0" y="659815"/>
                    </a:cubicBezTo>
                    <a:lnTo>
                      <a:pt x="0" y="5034"/>
                    </a:lnTo>
                    <a:cubicBezTo>
                      <a:pt x="0" y="3699"/>
                      <a:pt x="530" y="2419"/>
                      <a:pt x="1474" y="1474"/>
                    </a:cubicBezTo>
                    <a:cubicBezTo>
                      <a:pt x="2419" y="530"/>
                      <a:pt x="3699" y="0"/>
                      <a:pt x="5034" y="0"/>
                    </a:cubicBezTo>
                    <a:close/>
                  </a:path>
                </a:pathLst>
              </a:custGeom>
              <a:solidFill>
                <a:srgbClr val="FFFFFF"/>
              </a:solidFill>
            </p:spPr>
          </p:sp>
          <p:sp>
            <p:nvSpPr>
              <p:cNvPr name="TextBox 54" id="54"/>
              <p:cNvSpPr txBox="true"/>
              <p:nvPr/>
            </p:nvSpPr>
            <p:spPr>
              <a:xfrm>
                <a:off x="0" y="-38100"/>
                <a:ext cx="5807147" cy="702949"/>
              </a:xfrm>
              <a:prstGeom prst="rect">
                <a:avLst/>
              </a:prstGeom>
            </p:spPr>
            <p:txBody>
              <a:bodyPr anchor="ctr" rtlCol="false" tIns="14634" lIns="14634" bIns="14634" rIns="14634"/>
              <a:lstStyle/>
              <a:p>
                <a:pPr algn="ctr">
                  <a:lnSpc>
                    <a:spcPts val="1711"/>
                  </a:lnSpc>
                </a:pPr>
              </a:p>
            </p:txBody>
          </p:sp>
        </p:grpSp>
        <p:grpSp>
          <p:nvGrpSpPr>
            <p:cNvPr name="Group 55" id="55"/>
            <p:cNvGrpSpPr/>
            <p:nvPr/>
          </p:nvGrpSpPr>
          <p:grpSpPr>
            <a:xfrm rot="0">
              <a:off x="0" y="266157"/>
              <a:ext cx="20160432" cy="447972"/>
              <a:chOff x="0" y="0"/>
              <a:chExt cx="5883307" cy="130729"/>
            </a:xfrm>
          </p:grpSpPr>
          <p:sp>
            <p:nvSpPr>
              <p:cNvPr name="Freeform 56" id="56"/>
              <p:cNvSpPr/>
              <p:nvPr/>
            </p:nvSpPr>
            <p:spPr>
              <a:xfrm flipH="false" flipV="false" rot="0">
                <a:off x="0" y="0"/>
                <a:ext cx="5883307" cy="130729"/>
              </a:xfrm>
              <a:custGeom>
                <a:avLst/>
                <a:gdLst/>
                <a:ahLst/>
                <a:cxnLst/>
                <a:rect r="r" b="b" t="t" l="l"/>
                <a:pathLst>
                  <a:path h="130729" w="5883307">
                    <a:moveTo>
                      <a:pt x="5034" y="0"/>
                    </a:moveTo>
                    <a:lnTo>
                      <a:pt x="5878273" y="0"/>
                    </a:lnTo>
                    <a:cubicBezTo>
                      <a:pt x="5879608" y="0"/>
                      <a:pt x="5880888" y="530"/>
                      <a:pt x="5881832" y="1474"/>
                    </a:cubicBezTo>
                    <a:cubicBezTo>
                      <a:pt x="5882777" y="2419"/>
                      <a:pt x="5883307" y="3699"/>
                      <a:pt x="5883307" y="5034"/>
                    </a:cubicBezTo>
                    <a:lnTo>
                      <a:pt x="5883307" y="125695"/>
                    </a:lnTo>
                    <a:cubicBezTo>
                      <a:pt x="5883307" y="127030"/>
                      <a:pt x="5882777" y="128311"/>
                      <a:pt x="5881832" y="129255"/>
                    </a:cubicBezTo>
                    <a:cubicBezTo>
                      <a:pt x="5880888" y="130199"/>
                      <a:pt x="5879608" y="130729"/>
                      <a:pt x="5878273" y="130729"/>
                    </a:cubicBezTo>
                    <a:lnTo>
                      <a:pt x="5034" y="130729"/>
                    </a:lnTo>
                    <a:cubicBezTo>
                      <a:pt x="3699" y="130729"/>
                      <a:pt x="2419" y="130199"/>
                      <a:pt x="1474" y="129255"/>
                    </a:cubicBezTo>
                    <a:cubicBezTo>
                      <a:pt x="530" y="128311"/>
                      <a:pt x="0" y="127030"/>
                      <a:pt x="0" y="125695"/>
                    </a:cubicBezTo>
                    <a:lnTo>
                      <a:pt x="0" y="5034"/>
                    </a:lnTo>
                    <a:cubicBezTo>
                      <a:pt x="0" y="3699"/>
                      <a:pt x="530" y="2419"/>
                      <a:pt x="1474" y="1474"/>
                    </a:cubicBezTo>
                    <a:cubicBezTo>
                      <a:pt x="2419" y="530"/>
                      <a:pt x="3699" y="0"/>
                      <a:pt x="5034" y="0"/>
                    </a:cubicBezTo>
                    <a:close/>
                  </a:path>
                </a:pathLst>
              </a:custGeom>
              <a:solidFill>
                <a:srgbClr val="101820"/>
              </a:solidFill>
            </p:spPr>
          </p:sp>
          <p:sp>
            <p:nvSpPr>
              <p:cNvPr name="TextBox 57" id="57"/>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grpSp>
          <p:nvGrpSpPr>
            <p:cNvPr name="Group 58" id="58"/>
            <p:cNvGrpSpPr/>
            <p:nvPr/>
          </p:nvGrpSpPr>
          <p:grpSpPr>
            <a:xfrm rot="0">
              <a:off x="0" y="535143"/>
              <a:ext cx="20160432" cy="447972"/>
              <a:chOff x="0" y="0"/>
              <a:chExt cx="5883307" cy="130729"/>
            </a:xfrm>
          </p:grpSpPr>
          <p:sp>
            <p:nvSpPr>
              <p:cNvPr name="Freeform 59" id="59"/>
              <p:cNvSpPr/>
              <p:nvPr/>
            </p:nvSpPr>
            <p:spPr>
              <a:xfrm flipH="false" flipV="false" rot="0">
                <a:off x="0" y="0"/>
                <a:ext cx="5883307" cy="130729"/>
              </a:xfrm>
              <a:custGeom>
                <a:avLst/>
                <a:gdLst/>
                <a:ahLst/>
                <a:cxnLst/>
                <a:rect r="r" b="b" t="t" l="l"/>
                <a:pathLst>
                  <a:path h="130729" w="5883307">
                    <a:moveTo>
                      <a:pt x="0" y="0"/>
                    </a:moveTo>
                    <a:lnTo>
                      <a:pt x="5883307" y="0"/>
                    </a:lnTo>
                    <a:lnTo>
                      <a:pt x="5883307" y="130729"/>
                    </a:lnTo>
                    <a:lnTo>
                      <a:pt x="0" y="130729"/>
                    </a:lnTo>
                    <a:close/>
                  </a:path>
                </a:pathLst>
              </a:custGeom>
              <a:solidFill>
                <a:srgbClr val="101820"/>
              </a:solidFill>
            </p:spPr>
          </p:sp>
          <p:sp>
            <p:nvSpPr>
              <p:cNvPr name="TextBox 60" id="60"/>
              <p:cNvSpPr txBox="true"/>
              <p:nvPr/>
            </p:nvSpPr>
            <p:spPr>
              <a:xfrm>
                <a:off x="0" y="-19050"/>
                <a:ext cx="5883307" cy="149779"/>
              </a:xfrm>
              <a:prstGeom prst="rect">
                <a:avLst/>
              </a:prstGeom>
            </p:spPr>
            <p:txBody>
              <a:bodyPr anchor="ctr" rtlCol="false" tIns="69432" lIns="69432" bIns="69432" rIns="69432"/>
              <a:lstStyle/>
              <a:p>
                <a:pPr algn="ctr">
                  <a:lnSpc>
                    <a:spcPts val="1599"/>
                  </a:lnSpc>
                </a:pPr>
              </a:p>
            </p:txBody>
          </p:sp>
        </p:grpSp>
        <p:sp>
          <p:nvSpPr>
            <p:cNvPr name="TextBox 61" id="61"/>
            <p:cNvSpPr txBox="true"/>
            <p:nvPr/>
          </p:nvSpPr>
          <p:spPr>
            <a:xfrm rot="0">
              <a:off x="213240" y="1391646"/>
              <a:ext cx="19770780" cy="858877"/>
            </a:xfrm>
            <a:prstGeom prst="rect">
              <a:avLst/>
            </a:prstGeom>
          </p:spPr>
          <p:txBody>
            <a:bodyPr anchor="t" rtlCol="false" tIns="0" lIns="0" bIns="0" rIns="0">
              <a:spAutoFit/>
            </a:bodyPr>
            <a:lstStyle/>
            <a:p>
              <a:pPr algn="l" marL="0" indent="0" lvl="0">
                <a:lnSpc>
                  <a:spcPts val="2556"/>
                </a:lnSpc>
                <a:spcBef>
                  <a:spcPct val="0"/>
                </a:spcBef>
              </a:pPr>
              <a:r>
                <a:rPr lang="en-US" b="true" sz="1966" spc="-98">
                  <a:solidFill>
                    <a:srgbClr val="101820"/>
                  </a:solidFill>
                  <a:latin typeface="Pretendard Medium"/>
                  <a:ea typeface="Pretendard Medium"/>
                  <a:cs typeface="Pretendard Medium"/>
                  <a:sym typeface="Pretendard Medium"/>
                </a:rPr>
                <a:t>Results run through a cloud platform on a tablet; no standalone PC software is listed.</a:t>
              </a:r>
            </a:p>
            <a:p>
              <a:pPr algn="l" marL="0" indent="0" lvl="0">
                <a:lnSpc>
                  <a:spcPts val="2556"/>
                </a:lnSpc>
                <a:spcBef>
                  <a:spcPct val="0"/>
                </a:spcBef>
              </a:pPr>
            </a:p>
          </p:txBody>
        </p:sp>
        <p:sp>
          <p:nvSpPr>
            <p:cNvPr name="TextBox 62" id="62"/>
            <p:cNvSpPr txBox="true"/>
            <p:nvPr/>
          </p:nvSpPr>
          <p:spPr>
            <a:xfrm rot="0">
              <a:off x="213240" y="409032"/>
              <a:ext cx="13547822" cy="441325"/>
            </a:xfrm>
            <a:prstGeom prst="rect">
              <a:avLst/>
            </a:prstGeom>
          </p:spPr>
          <p:txBody>
            <a:bodyPr anchor="t" rtlCol="false" tIns="0" lIns="0" bIns="0" rIns="0">
              <a:spAutoFit/>
            </a:bodyPr>
            <a:lstStyle/>
            <a:p>
              <a:pPr algn="l">
                <a:lnSpc>
                  <a:spcPts val="2616"/>
                </a:lnSpc>
                <a:spcBef>
                  <a:spcPct val="0"/>
                </a:spcBef>
              </a:pPr>
              <a:r>
                <a:rPr lang="en-US" b="true" sz="2180">
                  <a:solidFill>
                    <a:srgbClr val="FFFFFF"/>
                  </a:solidFill>
                  <a:latin typeface="Pretendard Bold"/>
                  <a:ea typeface="Pretendard Bold"/>
                  <a:cs typeface="Pretendard Bold"/>
                  <a:sym typeface="Pretendard Bold"/>
                </a:rPr>
                <a:t>Cloud and W</a:t>
              </a:r>
              <a:r>
                <a:rPr lang="en-US" b="true" sz="2180">
                  <a:solidFill>
                    <a:srgbClr val="FFFFFF"/>
                  </a:solidFill>
                  <a:latin typeface="Pretendard Bold"/>
                  <a:ea typeface="Pretendard Bold"/>
                  <a:cs typeface="Pretendard Bold"/>
                  <a:sym typeface="Pretendard Bold"/>
                </a:rPr>
                <a:t>i-Fi-dependent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33450" y="395791"/>
            <a:ext cx="3180128" cy="1605152"/>
            <a:chOff x="0" y="0"/>
            <a:chExt cx="837565" cy="422756"/>
          </a:xfrm>
        </p:grpSpPr>
        <p:sp>
          <p:nvSpPr>
            <p:cNvPr name="Freeform 4" id="4"/>
            <p:cNvSpPr/>
            <p:nvPr/>
          </p:nvSpPr>
          <p:spPr>
            <a:xfrm flipH="false" flipV="false" rot="0">
              <a:off x="0" y="0"/>
              <a:ext cx="837565" cy="422756"/>
            </a:xfrm>
            <a:custGeom>
              <a:avLst/>
              <a:gdLst/>
              <a:ahLst/>
              <a:cxnLst/>
              <a:rect r="r" b="b" t="t" l="l"/>
              <a:pathLst>
                <a:path h="422756" w="837565">
                  <a:moveTo>
                    <a:pt x="124158" y="0"/>
                  </a:moveTo>
                  <a:lnTo>
                    <a:pt x="713407" y="0"/>
                  </a:lnTo>
                  <a:cubicBezTo>
                    <a:pt x="781977" y="0"/>
                    <a:pt x="837565" y="55587"/>
                    <a:pt x="837565" y="124158"/>
                  </a:cubicBezTo>
                  <a:lnTo>
                    <a:pt x="837565" y="298598"/>
                  </a:lnTo>
                  <a:cubicBezTo>
                    <a:pt x="837565" y="367169"/>
                    <a:pt x="781977" y="422756"/>
                    <a:pt x="713407" y="422756"/>
                  </a:cubicBezTo>
                  <a:lnTo>
                    <a:pt x="124158" y="422756"/>
                  </a:lnTo>
                  <a:cubicBezTo>
                    <a:pt x="55587" y="422756"/>
                    <a:pt x="0" y="367169"/>
                    <a:pt x="0" y="298598"/>
                  </a:cubicBezTo>
                  <a:lnTo>
                    <a:pt x="0" y="124158"/>
                  </a:lnTo>
                  <a:cubicBezTo>
                    <a:pt x="0" y="55587"/>
                    <a:pt x="55587" y="0"/>
                    <a:pt x="124158" y="0"/>
                  </a:cubicBezTo>
                  <a:close/>
                </a:path>
              </a:pathLst>
            </a:custGeom>
            <a:solidFill>
              <a:srgbClr val="FFFEFE"/>
            </a:solidFill>
          </p:spPr>
        </p:sp>
        <p:sp>
          <p:nvSpPr>
            <p:cNvPr name="TextBox 5" id="5"/>
            <p:cNvSpPr txBox="true"/>
            <p:nvPr/>
          </p:nvSpPr>
          <p:spPr>
            <a:xfrm>
              <a:off x="0" y="-9525"/>
              <a:ext cx="837565" cy="432281"/>
            </a:xfrm>
            <a:prstGeom prst="rect">
              <a:avLst/>
            </a:prstGeom>
          </p:spPr>
          <p:txBody>
            <a:bodyPr anchor="ctr" rtlCol="false" tIns="50800" lIns="50800" bIns="50800" rIns="50800"/>
            <a:lstStyle/>
            <a:p>
              <a:pPr algn="ctr">
                <a:lnSpc>
                  <a:spcPts val="2616"/>
                </a:lnSpc>
              </a:pPr>
            </a:p>
          </p:txBody>
        </p:sp>
      </p:grpSp>
      <p:sp>
        <p:nvSpPr>
          <p:cNvPr name="Freeform 6" id="6"/>
          <p:cNvSpPr/>
          <p:nvPr/>
        </p:nvSpPr>
        <p:spPr>
          <a:xfrm flipH="false" flipV="false" rot="0">
            <a:off x="1458962" y="3197071"/>
            <a:ext cx="1868503" cy="534096"/>
          </a:xfrm>
          <a:custGeom>
            <a:avLst/>
            <a:gdLst/>
            <a:ahLst/>
            <a:cxnLst/>
            <a:rect r="r" b="b" t="t" l="l"/>
            <a:pathLst>
              <a:path h="534096" w="1868503">
                <a:moveTo>
                  <a:pt x="0" y="0"/>
                </a:moveTo>
                <a:lnTo>
                  <a:pt x="1868503" y="0"/>
                </a:lnTo>
                <a:lnTo>
                  <a:pt x="1868503" y="534096"/>
                </a:lnTo>
                <a:lnTo>
                  <a:pt x="0" y="534096"/>
                </a:lnTo>
                <a:lnTo>
                  <a:pt x="0" y="0"/>
                </a:lnTo>
                <a:close/>
              </a:path>
            </a:pathLst>
          </a:custGeom>
          <a:blipFill>
            <a:blip r:embed="rId3"/>
            <a:stretch>
              <a:fillRect l="0" t="0" r="0" b="0"/>
            </a:stretch>
          </a:blipFill>
        </p:spPr>
      </p:sp>
      <p:sp>
        <p:nvSpPr>
          <p:cNvPr name="Freeform 7" id="7"/>
          <p:cNvSpPr/>
          <p:nvPr/>
        </p:nvSpPr>
        <p:spPr>
          <a:xfrm flipH="false" flipV="false" rot="0">
            <a:off x="13444059" y="1335558"/>
            <a:ext cx="3710466" cy="7806384"/>
          </a:xfrm>
          <a:custGeom>
            <a:avLst/>
            <a:gdLst/>
            <a:ahLst/>
            <a:cxnLst/>
            <a:rect r="r" b="b" t="t" l="l"/>
            <a:pathLst>
              <a:path h="7806384" w="3710466">
                <a:moveTo>
                  <a:pt x="0" y="0"/>
                </a:moveTo>
                <a:lnTo>
                  <a:pt x="3710466" y="0"/>
                </a:lnTo>
                <a:lnTo>
                  <a:pt x="3710466" y="7806384"/>
                </a:lnTo>
                <a:lnTo>
                  <a:pt x="0" y="7806384"/>
                </a:lnTo>
                <a:lnTo>
                  <a:pt x="0" y="0"/>
                </a:lnTo>
                <a:close/>
              </a:path>
            </a:pathLst>
          </a:custGeom>
          <a:blipFill>
            <a:blip r:embed="rId4"/>
            <a:stretch>
              <a:fillRect l="0" t="0" r="0" b="0"/>
            </a:stretch>
          </a:blipFill>
        </p:spPr>
      </p:sp>
      <p:sp>
        <p:nvSpPr>
          <p:cNvPr name="Freeform 8" id="8"/>
          <p:cNvSpPr/>
          <p:nvPr/>
        </p:nvSpPr>
        <p:spPr>
          <a:xfrm flipH="false" flipV="false" rot="0">
            <a:off x="9760552" y="2077143"/>
            <a:ext cx="3455322" cy="7140999"/>
          </a:xfrm>
          <a:custGeom>
            <a:avLst/>
            <a:gdLst/>
            <a:ahLst/>
            <a:cxnLst/>
            <a:rect r="r" b="b" t="t" l="l"/>
            <a:pathLst>
              <a:path h="7140999" w="3455322">
                <a:moveTo>
                  <a:pt x="0" y="0"/>
                </a:moveTo>
                <a:lnTo>
                  <a:pt x="3455322" y="0"/>
                </a:lnTo>
                <a:lnTo>
                  <a:pt x="3455322" y="7140999"/>
                </a:lnTo>
                <a:lnTo>
                  <a:pt x="0" y="7140999"/>
                </a:lnTo>
                <a:lnTo>
                  <a:pt x="0" y="0"/>
                </a:lnTo>
                <a:close/>
              </a:path>
            </a:pathLst>
          </a:custGeom>
          <a:blipFill>
            <a:blip r:embed="rId5"/>
            <a:stretch>
              <a:fillRect l="0" t="0" r="0" b="0"/>
            </a:stretch>
          </a:blipFill>
        </p:spPr>
      </p:sp>
      <p:sp>
        <p:nvSpPr>
          <p:cNvPr name="TextBox 9" id="9"/>
          <p:cNvSpPr txBox="true"/>
          <p:nvPr/>
        </p:nvSpPr>
        <p:spPr>
          <a:xfrm rot="0">
            <a:off x="1458962" y="4205286"/>
            <a:ext cx="7036537" cy="1436382"/>
          </a:xfrm>
          <a:prstGeom prst="rect">
            <a:avLst/>
          </a:prstGeom>
        </p:spPr>
        <p:txBody>
          <a:bodyPr anchor="t" rtlCol="false" tIns="0" lIns="0" bIns="0" rIns="0">
            <a:spAutoFit/>
          </a:bodyPr>
          <a:lstStyle/>
          <a:p>
            <a:pPr algn="l">
              <a:lnSpc>
                <a:spcPts val="10799"/>
              </a:lnSpc>
            </a:pPr>
            <a:r>
              <a:rPr lang="en-US" sz="10799" spc="-215" b="true">
                <a:solidFill>
                  <a:srgbClr val="090A10"/>
                </a:solidFill>
                <a:latin typeface="Pretendard Heavy"/>
                <a:ea typeface="Pretendard Heavy"/>
                <a:cs typeface="Pretendard Heavy"/>
                <a:sym typeface="Pretendard Heav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DAHZK6zGiqw</dc:identifier>
  <dcterms:modified xsi:type="dcterms:W3CDTF">2011-08-01T06:04:30Z</dcterms:modified>
  <cp:revision>1</cp:revision>
  <dc:title>Copy of Clinical Sales Handbook_India_F</dc:title>
</cp:coreProperties>
</file>