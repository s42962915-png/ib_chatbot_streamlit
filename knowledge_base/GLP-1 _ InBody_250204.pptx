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Default ContentType="image/x-emf" Extension="emf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797675" cy="9926625"/>
  <p:defaultTextStyle>
    <a:defPPr lvl="0">
      <a:defRPr lang="ko-KR"/>
    </a:defPPr>
    <a:lvl1pPr defTabSz="914400" eaLnBrk="1" hangingPunct="1" latinLnBrk="1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1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1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1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1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1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1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1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1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1753D-F6E1-49D9-A5C6-E0BE661A04D6}" type="datetimeFigureOut">
              <a:rPr lang="ko-KR" altLang="en-US" smtClean="0"/>
              <a:t>2025-03-04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/>
              <a:t>Novo Nordisk &amp; InBody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3A436-E3BC-48CF-A796-32319C85A5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46173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>
                <a:solidFill>
                  <a:prstClr val="black"/>
                </a:solidFill>
                <a:latin typeface="Calibri" panose="020F0502020204030204"/>
              </a:rPr>
              <a:t>Novo Nordisk &amp; InBody</a:t>
            </a:r>
            <a:endParaRPr kumimoji="1" lang="x-none" alt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46851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369B6-A4A9-469B-9D3B-800AE31FF5C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6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E5854-A961-2C7C-6923-D6BD62320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741E5C-8691-BE0C-D9E0-ED2FD0FAC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17D899-A7F7-32E2-329E-46657D236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0957AA21-BF42-44BB-6C5C-67F5314D81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753486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346024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연구는 제</a:t>
            </a:r>
            <a:r>
              <a:rPr lang="en-US" altLang="ko-KR" dirty="0"/>
              <a:t>2</a:t>
            </a:r>
            <a:r>
              <a:rPr lang="ko-KR" altLang="en-US" dirty="0"/>
              <a:t>형 당뇨병</a:t>
            </a:r>
            <a:r>
              <a:rPr lang="en-US" altLang="ko-KR" dirty="0"/>
              <a:t>(T2DM)</a:t>
            </a:r>
            <a:r>
              <a:rPr lang="ko-KR" altLang="en-US" dirty="0"/>
              <a:t>과 비만 성인을 대상으로 </a:t>
            </a:r>
            <a:r>
              <a:rPr lang="ko-KR" altLang="en-US" dirty="0" err="1"/>
              <a:t>세마글루타이드가</a:t>
            </a:r>
            <a:r>
              <a:rPr lang="ko-KR" altLang="en-US" dirty="0"/>
              <a:t> </a:t>
            </a:r>
            <a:r>
              <a:rPr lang="ko-KR" altLang="en-US" dirty="0" err="1"/>
              <a:t>체성분과</a:t>
            </a:r>
            <a:r>
              <a:rPr lang="ko-KR" altLang="en-US" dirty="0"/>
              <a:t> 대사 지표에 미치는 영향을 평가했습니다</a:t>
            </a:r>
            <a:r>
              <a:rPr lang="en-US" altLang="ko-KR" dirty="0"/>
              <a:t>. </a:t>
            </a:r>
            <a:r>
              <a:rPr lang="ko-KR" altLang="en-US" dirty="0" err="1"/>
              <a:t>세마글루타이드는</a:t>
            </a:r>
            <a:r>
              <a:rPr lang="ko-KR" altLang="en-US" dirty="0"/>
              <a:t> </a:t>
            </a:r>
            <a:r>
              <a:rPr lang="ko-KR" altLang="en-US" dirty="0" err="1"/>
              <a:t>글루카곤</a:t>
            </a:r>
            <a:r>
              <a:rPr lang="ko-KR" altLang="en-US" dirty="0"/>
              <a:t> 유사 </a:t>
            </a:r>
            <a:r>
              <a:rPr lang="ko-KR" altLang="en-US" dirty="0" err="1"/>
              <a:t>펩타이드</a:t>
            </a:r>
            <a:r>
              <a:rPr lang="en-US" altLang="ko-KR" dirty="0"/>
              <a:t>-1 </a:t>
            </a:r>
            <a:r>
              <a:rPr lang="ko-KR" altLang="en-US" dirty="0"/>
              <a:t>수용체 </a:t>
            </a:r>
            <a:r>
              <a:rPr lang="ko-KR" altLang="en-US" dirty="0" err="1"/>
              <a:t>작용제</a:t>
            </a:r>
            <a:r>
              <a:rPr lang="en-US" altLang="ko-KR" dirty="0"/>
              <a:t>(GLP-1ra)</a:t>
            </a:r>
            <a:r>
              <a:rPr lang="ko-KR" altLang="en-US" dirty="0"/>
              <a:t>로</a:t>
            </a:r>
            <a:r>
              <a:rPr lang="en-US" altLang="ko-KR" dirty="0"/>
              <a:t>, 24</a:t>
            </a:r>
            <a:r>
              <a:rPr lang="ko-KR" altLang="en-US" dirty="0"/>
              <a:t>주 동안 경구 또는 피하 투여 방식으로 사용되었습니다</a:t>
            </a:r>
            <a:r>
              <a:rPr lang="en-US" altLang="ko-KR" dirty="0"/>
              <a:t>. </a:t>
            </a:r>
            <a:r>
              <a:rPr lang="ko-KR" altLang="en-US" dirty="0"/>
              <a:t>연구는 </a:t>
            </a:r>
            <a:r>
              <a:rPr lang="ko-KR" altLang="en-US" dirty="0" err="1"/>
              <a:t>지방량</a:t>
            </a:r>
            <a:r>
              <a:rPr lang="en-US" altLang="ko-KR" dirty="0"/>
              <a:t>(FM), </a:t>
            </a:r>
            <a:r>
              <a:rPr lang="ko-KR" altLang="en-US" dirty="0" err="1"/>
              <a:t>제지방량</a:t>
            </a:r>
            <a:r>
              <a:rPr lang="en-US" altLang="ko-KR" dirty="0"/>
              <a:t>(FFM), </a:t>
            </a:r>
            <a:r>
              <a:rPr lang="ko-KR" altLang="en-US" dirty="0"/>
              <a:t>골격근량</a:t>
            </a:r>
            <a:r>
              <a:rPr lang="en-US" altLang="ko-KR" dirty="0"/>
              <a:t>, </a:t>
            </a:r>
            <a:r>
              <a:rPr lang="ko-KR" altLang="en-US" dirty="0"/>
              <a:t>총 체수분량</a:t>
            </a:r>
            <a:r>
              <a:rPr lang="en-US" altLang="ko-KR" dirty="0"/>
              <a:t>, </a:t>
            </a:r>
            <a:r>
              <a:rPr lang="ko-KR" altLang="en-US" dirty="0" err="1"/>
              <a:t>위상각</a:t>
            </a:r>
            <a:r>
              <a:rPr lang="en-US" altLang="ko-KR" dirty="0"/>
              <a:t>(</a:t>
            </a:r>
            <a:r>
              <a:rPr lang="en-US" altLang="ko-KR" dirty="0" err="1"/>
              <a:t>PhA</a:t>
            </a:r>
            <a:r>
              <a:rPr lang="en-US" altLang="ko-KR" dirty="0"/>
              <a:t>)</a:t>
            </a:r>
            <a:r>
              <a:rPr lang="ko-KR" altLang="en-US" dirty="0"/>
              <a:t>에 미치는 영향을 중점적으로 분석했습니다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This study assesses the impact of </a:t>
            </a:r>
            <a:r>
              <a:rPr lang="en-US" altLang="ko-KR" dirty="0" err="1"/>
              <a:t>semaglutide</a:t>
            </a:r>
            <a:r>
              <a:rPr lang="en-US" altLang="ko-KR" dirty="0"/>
              <a:t> on body composition and metabolic parameters in adults with type 2 diabetes mellitus (T2DM) and obesity. </a:t>
            </a:r>
            <a:r>
              <a:rPr lang="en-US" altLang="ko-KR" dirty="0" err="1"/>
              <a:t>Semaglutide</a:t>
            </a:r>
            <a:r>
              <a:rPr lang="en-US" altLang="ko-KR" dirty="0"/>
              <a:t>, a glucagon-like peptide-1 receptor agonist (GLP-1ra), was administered either orally or subcutaneously over 24 weeks. The focus was on its effects on fat mass (FM), fat-free mass (FFM), skeletal muscle mass, total body water, and phase angle (</a:t>
            </a:r>
            <a:r>
              <a:rPr lang="en-US" altLang="ko-KR" dirty="0" err="1"/>
              <a:t>PhA</a:t>
            </a:r>
            <a:r>
              <a:rPr lang="en-US" altLang="ko-KR" dirty="0"/>
              <a:t>).</a:t>
            </a:r>
          </a:p>
          <a:p>
            <a:endParaRPr lang="en-US" altLang="ko-KR" dirty="0"/>
          </a:p>
          <a:p>
            <a:pPr marL="228600" indent="-228600">
              <a:buAutoNum type="arabicParenR"/>
            </a:pPr>
            <a:r>
              <a:rPr lang="ko-KR" altLang="en-US" dirty="0"/>
              <a:t>경구 및 피하 투여 모두 유의미한 체중 감소</a:t>
            </a:r>
            <a:r>
              <a:rPr lang="en-US" altLang="ko-KR" dirty="0"/>
              <a:t>(~9.5%)</a:t>
            </a:r>
            <a:r>
              <a:rPr lang="ko-KR" altLang="en-US" dirty="0"/>
              <a:t>를 달성했으며</a:t>
            </a:r>
            <a:r>
              <a:rPr lang="en-US" altLang="ko-KR" dirty="0"/>
              <a:t>, </a:t>
            </a:r>
            <a:r>
              <a:rPr lang="ko-KR" altLang="en-US" dirty="0"/>
              <a:t>주로 </a:t>
            </a:r>
            <a:r>
              <a:rPr lang="ko-KR" altLang="en-US" dirty="0" err="1"/>
              <a:t>지방량</a:t>
            </a:r>
            <a:r>
              <a:rPr lang="ko-KR" altLang="en-US" dirty="0"/>
              <a:t> 감소로 인해 발생했으며 </a:t>
            </a:r>
            <a:r>
              <a:rPr lang="ko-KR" altLang="en-US" dirty="0" err="1"/>
              <a:t>제지방량은</a:t>
            </a:r>
            <a:r>
              <a:rPr lang="ko-KR" altLang="en-US" dirty="0"/>
              <a:t> 유지되었습니다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Both oral and subcutaneous administration achieved significant weight loss (~9.5%), primarily due to FM reduction while preserving lean mass.</a:t>
            </a:r>
          </a:p>
          <a:p>
            <a:pPr marL="228600" indent="-228600">
              <a:buAutoNum type="arabicParenR"/>
            </a:pPr>
            <a:r>
              <a:rPr lang="ko-KR" altLang="en-US" dirty="0"/>
              <a:t>내장지방 영역과 전체 </a:t>
            </a:r>
            <a:r>
              <a:rPr lang="ko-KR" altLang="en-US" dirty="0" err="1"/>
              <a:t>지방량에서</a:t>
            </a:r>
            <a:r>
              <a:rPr lang="ko-KR" altLang="en-US" dirty="0"/>
              <a:t> 상당한 감소가 관찰되었습니다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Substantial reductions in visceral fat area and overall FM were observed.</a:t>
            </a:r>
          </a:p>
          <a:p>
            <a:pPr marL="228600" indent="-228600">
              <a:buAutoNum type="arabicParenR"/>
            </a:pPr>
            <a:r>
              <a:rPr lang="ko-KR" altLang="en-US" dirty="0"/>
              <a:t>치료 중 </a:t>
            </a:r>
            <a:r>
              <a:rPr lang="en-US" altLang="ko-KR" dirty="0" err="1"/>
              <a:t>PhA</a:t>
            </a:r>
            <a:r>
              <a:rPr lang="ko-KR" altLang="en-US" dirty="0"/>
              <a:t>는 안정적으로 유지되어 세포 </a:t>
            </a:r>
            <a:r>
              <a:rPr lang="ko-KR" altLang="en-US" dirty="0" err="1"/>
              <a:t>무결성이</a:t>
            </a:r>
            <a:r>
              <a:rPr lang="ko-KR" altLang="en-US" dirty="0"/>
              <a:t> 유지됨을 나타냈습니다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 err="1"/>
              <a:t>PhA</a:t>
            </a:r>
            <a:r>
              <a:rPr lang="en-US" altLang="ko-KR" dirty="0"/>
              <a:t> remained stable, indicating maintained cellular integrity during the treatment.</a:t>
            </a:r>
          </a:p>
          <a:p>
            <a:pPr marL="228600" indent="-228600">
              <a:buAutoNum type="arabicParenR"/>
            </a:pPr>
            <a:r>
              <a:rPr lang="en-US" altLang="ko-KR" dirty="0"/>
              <a:t>HbA1c, </a:t>
            </a:r>
            <a:r>
              <a:rPr lang="ko-KR" altLang="en-US" dirty="0"/>
              <a:t>공복 혈당</a:t>
            </a:r>
            <a:r>
              <a:rPr lang="en-US" altLang="ko-KR" dirty="0"/>
              <a:t>, </a:t>
            </a:r>
            <a:r>
              <a:rPr lang="ko-KR" altLang="en-US" dirty="0"/>
              <a:t>지질 프로파일이 유의미하게 개선되었습니다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HbA1c, fasting glucose, and lipid profiles improved significantly.</a:t>
            </a:r>
          </a:p>
          <a:p>
            <a:pPr marL="228600" indent="-228600">
              <a:buAutoNum type="arabicParenR"/>
            </a:pPr>
            <a:r>
              <a:rPr lang="ko-KR" altLang="en-US" dirty="0"/>
              <a:t>경구와 피하 투여 방식 간에 유사한 결과가 관찰되었습니다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Comparable outcomes were observed between oral and subcutaneous administration routes.</a:t>
            </a:r>
            <a:endParaRPr lang="ko-KR" altLang="en-US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191188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세마글루타이드는</a:t>
            </a:r>
            <a:r>
              <a:rPr lang="ko-KR" altLang="en-US" dirty="0"/>
              <a:t> 체지방을 효과적으로 감소시키면서 골격근량과 근력을 유지하여 비만 치료에 유망한 치료 옵션을 제공합니다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Semaglutide</a:t>
            </a:r>
            <a:r>
              <a:rPr lang="en-US" altLang="ko-KR" dirty="0"/>
              <a:t> effectively reduces body fat while preserving skeletal muscle mass and strength, offering a promising treatment for obesity in a real-world setting.</a:t>
            </a:r>
          </a:p>
          <a:p>
            <a:endParaRPr lang="ko-KR" altLang="en-US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211000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708469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</a:t>
            </a:r>
            <a:r>
              <a:rPr lang="ko-KR" altLang="en-US" dirty="0"/>
              <a:t>설명</a:t>
            </a:r>
            <a:r>
              <a:rPr lang="en-US" altLang="ko-KR" dirty="0"/>
              <a:t>*</a:t>
            </a:r>
          </a:p>
          <a:p>
            <a:r>
              <a:rPr lang="en-US" altLang="ko-KR" dirty="0" err="1"/>
              <a:t>eGFR</a:t>
            </a:r>
            <a:r>
              <a:rPr lang="en-US" altLang="ko-KR" dirty="0"/>
              <a:t>(</a:t>
            </a:r>
            <a:r>
              <a:rPr lang="ko-KR" altLang="en-US" dirty="0"/>
              <a:t>사구체 </a:t>
            </a:r>
            <a:r>
              <a:rPr lang="ko-KR" altLang="en-US" dirty="0" err="1"/>
              <a:t>여과율</a:t>
            </a:r>
            <a:r>
              <a:rPr lang="en-US" altLang="ko-KR" dirty="0"/>
              <a:t>)</a:t>
            </a:r>
            <a:r>
              <a:rPr lang="ko-KR" altLang="en-US" dirty="0"/>
              <a:t>이 </a:t>
            </a:r>
            <a:r>
              <a:rPr lang="en-US" altLang="ko-KR" dirty="0"/>
              <a:t>30ml/min/1.73m² </a:t>
            </a:r>
            <a:r>
              <a:rPr lang="ko-KR" altLang="en-US" dirty="0"/>
              <a:t>미만인 환자군</a:t>
            </a:r>
            <a:r>
              <a:rPr lang="en-US" altLang="ko-KR" dirty="0"/>
              <a:t>(</a:t>
            </a:r>
            <a:r>
              <a:rPr lang="ko-KR" altLang="en-US" dirty="0"/>
              <a:t>심한 신장 기능 저하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en-US" altLang="ko-KR" dirty="0"/>
              <a:t>60ml/min/1.73m² </a:t>
            </a:r>
            <a:r>
              <a:rPr lang="ko-KR" altLang="en-US" dirty="0"/>
              <a:t>이상인 환자군</a:t>
            </a:r>
            <a:r>
              <a:rPr lang="en-US" altLang="ko-KR" dirty="0"/>
              <a:t>(</a:t>
            </a:r>
            <a:r>
              <a:rPr lang="ko-KR" altLang="en-US" dirty="0"/>
              <a:t>정상에 가까운 신장 기능</a:t>
            </a:r>
            <a:r>
              <a:rPr lang="en-US" altLang="ko-KR" dirty="0"/>
              <a:t>)</a:t>
            </a:r>
            <a:r>
              <a:rPr lang="ko-KR" altLang="en-US" dirty="0"/>
              <a:t>으로 나누어 각각 </a:t>
            </a:r>
            <a:r>
              <a:rPr lang="ko-KR" altLang="en-US" dirty="0" err="1"/>
              <a:t>리라글루타이드</a:t>
            </a:r>
            <a:r>
              <a:rPr lang="ko-KR" altLang="en-US" dirty="0"/>
              <a:t> </a:t>
            </a:r>
            <a:r>
              <a:rPr lang="en-US" altLang="ko-KR" dirty="0"/>
              <a:t>1.2mg </a:t>
            </a:r>
            <a:r>
              <a:rPr lang="ko-KR" altLang="en-US" dirty="0"/>
              <a:t>또는 위약</a:t>
            </a:r>
            <a:r>
              <a:rPr lang="en-US" altLang="ko-KR" dirty="0"/>
              <a:t>(placebo)</a:t>
            </a:r>
            <a:r>
              <a:rPr lang="ko-KR" altLang="en-US" dirty="0"/>
              <a:t>을 </a:t>
            </a:r>
            <a:r>
              <a:rPr lang="ko-KR" altLang="en-US" dirty="0" err="1"/>
              <a:t>단회</a:t>
            </a:r>
            <a:r>
              <a:rPr lang="ko-KR" altLang="en-US" dirty="0"/>
              <a:t> 투여한 후 </a:t>
            </a:r>
            <a:r>
              <a:rPr lang="en-US" altLang="ko-KR" dirty="0"/>
              <a:t>24</a:t>
            </a:r>
            <a:r>
              <a:rPr lang="ko-KR" altLang="en-US" dirty="0"/>
              <a:t>시간 동안 혈압 및 나트륨 배설을 </a:t>
            </a:r>
            <a:r>
              <a:rPr lang="ko-KR" altLang="en-US" dirty="0" err="1"/>
              <a:t>모니터링함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 err="1"/>
              <a:t>리라글루타이드는</a:t>
            </a:r>
            <a:r>
              <a:rPr lang="ko-KR" altLang="en-US" b="1" dirty="0"/>
              <a:t> 나트륨 배설을 촉진</a:t>
            </a:r>
            <a:r>
              <a:rPr lang="ko-KR" altLang="en-US" dirty="0"/>
              <a:t>하는 효과가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**신장 기능이 낮은 사람</a:t>
            </a:r>
            <a:r>
              <a:rPr lang="en-US" altLang="ko-KR" dirty="0"/>
              <a:t>(</a:t>
            </a:r>
            <a:r>
              <a:rPr lang="en-US" altLang="ko-KR" dirty="0" err="1"/>
              <a:t>eGFR</a:t>
            </a:r>
            <a:r>
              <a:rPr lang="en-US" altLang="ko-KR" dirty="0"/>
              <a:t> &lt;30)**</a:t>
            </a:r>
            <a:r>
              <a:rPr lang="ko-KR" altLang="en-US" dirty="0"/>
              <a:t>은 나트륨 배설 </a:t>
            </a:r>
            <a:r>
              <a:rPr lang="ko-KR" altLang="en-US" dirty="0" err="1"/>
              <a:t>증가량이</a:t>
            </a:r>
            <a:r>
              <a:rPr lang="ko-KR" altLang="en-US" dirty="0"/>
              <a:t> 적음</a:t>
            </a:r>
            <a:r>
              <a:rPr lang="en-US" altLang="ko-KR" dirty="0"/>
              <a:t>(</a:t>
            </a:r>
            <a:r>
              <a:rPr lang="ko-KR" altLang="en-US" dirty="0"/>
              <a:t>평균 </a:t>
            </a:r>
            <a:r>
              <a:rPr lang="en-US" altLang="ko-KR" dirty="0"/>
              <a:t>27 </a:t>
            </a:r>
            <a:r>
              <a:rPr lang="en-US" altLang="ko-KR" dirty="0" err="1"/>
              <a:t>mmol</a:t>
            </a:r>
            <a:r>
              <a:rPr lang="en-US" altLang="ko-KR" dirty="0"/>
              <a:t>/24h).</a:t>
            </a:r>
          </a:p>
          <a:p>
            <a:r>
              <a:rPr lang="ko-KR" altLang="en-US" dirty="0"/>
              <a:t>반면</a:t>
            </a:r>
            <a:r>
              <a:rPr lang="en-US" altLang="ko-KR" dirty="0"/>
              <a:t>, **</a:t>
            </a:r>
            <a:r>
              <a:rPr lang="ko-KR" altLang="en-US" dirty="0"/>
              <a:t>신장 기능이 좋은 사람</a:t>
            </a:r>
            <a:r>
              <a:rPr lang="en-US" altLang="ko-KR" dirty="0"/>
              <a:t>(</a:t>
            </a:r>
            <a:r>
              <a:rPr lang="en-US" altLang="ko-KR" dirty="0" err="1"/>
              <a:t>eGFR</a:t>
            </a:r>
            <a:r>
              <a:rPr lang="en-US" altLang="ko-KR" dirty="0"/>
              <a:t> &gt;60)**</a:t>
            </a:r>
            <a:r>
              <a:rPr lang="ko-KR" altLang="en-US" dirty="0"/>
              <a:t>은 나트륨 배설이 더 많이 증가</a:t>
            </a:r>
            <a:r>
              <a:rPr lang="en-US" altLang="ko-KR" dirty="0"/>
              <a:t>(</a:t>
            </a:r>
            <a:r>
              <a:rPr lang="ko-KR" altLang="en-US" dirty="0"/>
              <a:t>평균 </a:t>
            </a:r>
            <a:r>
              <a:rPr lang="en-US" altLang="ko-KR" dirty="0"/>
              <a:t>42 </a:t>
            </a:r>
            <a:r>
              <a:rPr lang="en-US" altLang="ko-KR" dirty="0" err="1"/>
              <a:t>mmol</a:t>
            </a:r>
            <a:r>
              <a:rPr lang="en-US" altLang="ko-KR" dirty="0"/>
              <a:t>/24h).</a:t>
            </a:r>
          </a:p>
          <a:p>
            <a:r>
              <a:rPr lang="ko-KR" altLang="en-US" dirty="0"/>
              <a:t>결국</a:t>
            </a:r>
            <a:r>
              <a:rPr lang="en-US" altLang="ko-KR" dirty="0"/>
              <a:t>, </a:t>
            </a:r>
            <a:r>
              <a:rPr lang="ko-KR" altLang="en-US" b="1" dirty="0"/>
              <a:t>신장 기능이 낮은 사람은 </a:t>
            </a:r>
            <a:r>
              <a:rPr lang="ko-KR" altLang="en-US" b="1" dirty="0" err="1"/>
              <a:t>리라글루타이드를</a:t>
            </a:r>
            <a:r>
              <a:rPr lang="ko-KR" altLang="en-US" b="1" dirty="0"/>
              <a:t> 사용해도 체내 나트륨과 체액을 효과적으로 조절하기 어려울 수 있음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※ </a:t>
            </a:r>
            <a:r>
              <a:rPr lang="ko-KR" altLang="en-US" dirty="0"/>
              <a:t>신장기능이 안 좋은 사람은 </a:t>
            </a:r>
            <a:r>
              <a:rPr lang="ko-KR" altLang="en-US" dirty="0" err="1"/>
              <a:t>리라글루타이드로</a:t>
            </a:r>
            <a:r>
              <a:rPr lang="ko-KR" altLang="en-US" dirty="0"/>
              <a:t> 체액을 조절하기 어렵겠지만</a:t>
            </a:r>
            <a:r>
              <a:rPr lang="en-US" altLang="ko-KR" dirty="0"/>
              <a:t>, </a:t>
            </a:r>
            <a:r>
              <a:rPr lang="ko-KR" altLang="en-US" dirty="0"/>
              <a:t>신장이 건강한 사람에게는 나트륨 배설을 증가시켜 </a:t>
            </a:r>
            <a:r>
              <a:rPr lang="ko-KR" altLang="en-US" b="1" dirty="0"/>
              <a:t>체액 균형 유지에 도움이 될 수 있음</a:t>
            </a:r>
            <a:r>
              <a:rPr lang="en-US" altLang="ko-KR" b="1" dirty="0"/>
              <a:t>.</a:t>
            </a:r>
            <a:endParaRPr lang="en-US" altLang="ko-KR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116460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597397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  <a:r>
              <a:rPr lang="en-US" altLang="ko-KR" dirty="0"/>
              <a:t>: </a:t>
            </a:r>
            <a:r>
              <a:rPr lang="ko-KR" altLang="en-US" dirty="0" err="1"/>
              <a:t>위상각</a:t>
            </a:r>
            <a:r>
              <a:rPr lang="en-US" altLang="ko-KR" dirty="0"/>
              <a:t>(</a:t>
            </a:r>
            <a:r>
              <a:rPr lang="en-US" altLang="ko-KR" dirty="0" err="1"/>
              <a:t>PhA</a:t>
            </a:r>
            <a:r>
              <a:rPr lang="en-US" altLang="ko-KR" dirty="0"/>
              <a:t>)</a:t>
            </a:r>
            <a:r>
              <a:rPr lang="ko-KR" altLang="en-US" dirty="0"/>
              <a:t>은 비만 환자의 건강 상태를 평가하는 데 유용한 </a:t>
            </a:r>
            <a:r>
              <a:rPr lang="ko-KR" altLang="en-US" dirty="0" err="1"/>
              <a:t>바이오마커가</a:t>
            </a:r>
            <a:r>
              <a:rPr lang="ko-KR" altLang="en-US" dirty="0"/>
              <a:t> 될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→ </a:t>
            </a:r>
            <a:r>
              <a:rPr lang="ko-KR" altLang="en-US" dirty="0"/>
              <a:t>체중 감량 중재 중 영양 상태와 근육 보존을 </a:t>
            </a:r>
            <a:r>
              <a:rPr lang="ko-KR" altLang="en-US" dirty="0" err="1"/>
              <a:t>모니터링하는</a:t>
            </a:r>
            <a:r>
              <a:rPr lang="ko-KR" altLang="en-US" dirty="0"/>
              <a:t> 데 유용할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→ </a:t>
            </a:r>
            <a:r>
              <a:rPr lang="ko-KR" altLang="en-US" dirty="0"/>
              <a:t>비만 치료</a:t>
            </a:r>
            <a:r>
              <a:rPr lang="en-US" altLang="ko-KR" dirty="0"/>
              <a:t>(</a:t>
            </a:r>
            <a:r>
              <a:rPr lang="ko-KR" altLang="en-US" dirty="0"/>
              <a:t>식이 요법</a:t>
            </a:r>
            <a:r>
              <a:rPr lang="en-US" altLang="ko-KR" dirty="0"/>
              <a:t>, </a:t>
            </a:r>
            <a:r>
              <a:rPr lang="ko-KR" altLang="en-US" dirty="0"/>
              <a:t>운동</a:t>
            </a:r>
            <a:r>
              <a:rPr lang="en-US" altLang="ko-KR" dirty="0"/>
              <a:t>, </a:t>
            </a:r>
            <a:r>
              <a:rPr lang="ko-KR" altLang="en-US" dirty="0"/>
              <a:t>약물 치료</a:t>
            </a:r>
            <a:r>
              <a:rPr lang="en-US" altLang="ko-KR" dirty="0"/>
              <a:t>, </a:t>
            </a:r>
            <a:r>
              <a:rPr lang="ko-KR" altLang="en-US" dirty="0"/>
              <a:t>비만 수술</a:t>
            </a:r>
            <a:r>
              <a:rPr lang="en-US" altLang="ko-KR" dirty="0"/>
              <a:t>)</a:t>
            </a:r>
            <a:r>
              <a:rPr lang="ko-KR" altLang="en-US" dirty="0"/>
              <a:t>에서 </a:t>
            </a:r>
            <a:r>
              <a:rPr lang="en-US" altLang="ko-KR" dirty="0" err="1"/>
              <a:t>PhA</a:t>
            </a:r>
            <a:r>
              <a:rPr lang="en-US" altLang="ko-KR" dirty="0"/>
              <a:t> </a:t>
            </a:r>
            <a:r>
              <a:rPr lang="ko-KR" altLang="en-US" dirty="0"/>
              <a:t>변화를 </a:t>
            </a:r>
            <a:r>
              <a:rPr lang="ko-KR" altLang="en-US" dirty="0" err="1"/>
              <a:t>모니터링하는</a:t>
            </a:r>
            <a:r>
              <a:rPr lang="ko-KR" altLang="en-US" dirty="0"/>
              <a:t> 것이 도움이 될 수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719900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err="1"/>
              <a:t>PhA</a:t>
            </a:r>
            <a:r>
              <a:rPr lang="ko-KR" altLang="en-US" b="1" dirty="0"/>
              <a:t>와 당뇨병 </a:t>
            </a:r>
            <a:r>
              <a:rPr lang="en-US" altLang="ko-KR" b="1" dirty="0"/>
              <a:t>(</a:t>
            </a:r>
            <a:r>
              <a:rPr lang="en-US" altLang="ko-KR" b="1" dirty="0" err="1"/>
              <a:t>PhA</a:t>
            </a:r>
            <a:r>
              <a:rPr lang="en-US" altLang="ko-KR" b="1" dirty="0"/>
              <a:t> and Diabetes)</a:t>
            </a:r>
            <a:endParaRPr lang="en-US" altLang="ko-KR" dirty="0"/>
          </a:p>
          <a:p>
            <a:pPr lvl="1"/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형 당뇨병</a:t>
            </a:r>
            <a:r>
              <a:rPr lang="en-US" altLang="ko-KR" dirty="0"/>
              <a:t>(T2DM)</a:t>
            </a:r>
            <a:r>
              <a:rPr lang="ko-KR" altLang="en-US" dirty="0"/>
              <a:t>을 가진 개인은 </a:t>
            </a:r>
            <a:r>
              <a:rPr lang="ko-KR" altLang="en-US" dirty="0" err="1"/>
              <a:t>비당뇨인에</a:t>
            </a:r>
            <a:r>
              <a:rPr lang="ko-KR" altLang="en-US" dirty="0"/>
              <a:t> 비해 </a:t>
            </a:r>
            <a:r>
              <a:rPr lang="en-US" altLang="ko-KR" dirty="0" err="1"/>
              <a:t>PhA</a:t>
            </a:r>
            <a:r>
              <a:rPr lang="ko-KR" altLang="en-US" dirty="0"/>
              <a:t>가 낮습니다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PhA</a:t>
            </a:r>
            <a:r>
              <a:rPr lang="en-US" altLang="ko-KR" dirty="0"/>
              <a:t> is lower in individuals with Type 2 Diabetes Mellitus (T2DM) compared to non-diabetic individuals.</a:t>
            </a:r>
          </a:p>
          <a:p>
            <a:pPr lvl="1"/>
            <a:r>
              <a:rPr lang="ko-KR" altLang="en-US" dirty="0"/>
              <a:t>당뇨병의 지속 기간이 길수록 </a:t>
            </a:r>
            <a:r>
              <a:rPr lang="en-US" altLang="ko-KR" dirty="0" err="1"/>
              <a:t>PhA</a:t>
            </a:r>
            <a:r>
              <a:rPr lang="en-US" altLang="ko-KR" dirty="0"/>
              <a:t> </a:t>
            </a:r>
            <a:r>
              <a:rPr lang="ko-KR" altLang="en-US" dirty="0"/>
              <a:t>감소가 더 두드러져 세포 기능 저하를 나타냅니다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Longer duration of diabetes is associated with a greater decline in </a:t>
            </a:r>
            <a:r>
              <a:rPr lang="en-US" altLang="ko-KR" dirty="0" err="1"/>
              <a:t>PhA</a:t>
            </a:r>
            <a:r>
              <a:rPr lang="en-US" altLang="ko-KR" dirty="0"/>
              <a:t>, indicating progressive cellular dysfunction.</a:t>
            </a:r>
          </a:p>
          <a:p>
            <a:r>
              <a:rPr lang="ko-KR" altLang="en-US" b="1" dirty="0"/>
              <a:t>당뇨병성 다발성 신경병증</a:t>
            </a:r>
            <a:r>
              <a:rPr lang="en-US" altLang="ko-KR" b="1" dirty="0"/>
              <a:t>(DPN) (Diabetic Polyneuropathy (DPN))</a:t>
            </a:r>
            <a:endParaRPr lang="en-US" altLang="ko-KR" dirty="0"/>
          </a:p>
          <a:p>
            <a:pPr lvl="1"/>
            <a:r>
              <a:rPr lang="en-US" altLang="ko-KR" dirty="0"/>
              <a:t>DPN</a:t>
            </a:r>
            <a:r>
              <a:rPr lang="ko-KR" altLang="en-US" dirty="0"/>
              <a:t>을 가진 </a:t>
            </a:r>
            <a:r>
              <a:rPr lang="en-US" altLang="ko-KR" dirty="0"/>
              <a:t>T2DM </a:t>
            </a:r>
            <a:r>
              <a:rPr lang="ko-KR" altLang="en-US" dirty="0"/>
              <a:t>환자의 </a:t>
            </a:r>
            <a:r>
              <a:rPr lang="en-US" altLang="ko-KR" dirty="0" err="1"/>
              <a:t>PhA</a:t>
            </a:r>
            <a:r>
              <a:rPr lang="en-US" altLang="ko-KR" dirty="0"/>
              <a:t> </a:t>
            </a:r>
            <a:r>
              <a:rPr lang="ko-KR" altLang="en-US" dirty="0"/>
              <a:t>값은 </a:t>
            </a:r>
            <a:r>
              <a:rPr lang="en-US" altLang="ko-KR" dirty="0"/>
              <a:t>DPN</a:t>
            </a:r>
            <a:r>
              <a:rPr lang="ko-KR" altLang="en-US" dirty="0"/>
              <a:t>이 없는 환자와 건강한 </a:t>
            </a:r>
            <a:r>
              <a:rPr lang="ko-KR" altLang="en-US" dirty="0" err="1"/>
              <a:t>대조군에</a:t>
            </a:r>
            <a:r>
              <a:rPr lang="ko-KR" altLang="en-US" dirty="0"/>
              <a:t> 비해 유의미하게 낮습니다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PhA</a:t>
            </a:r>
            <a:r>
              <a:rPr lang="en-US" altLang="ko-KR" dirty="0"/>
              <a:t> values are significantly lower in T2DM patients with DPN compared to those without DPN and healthy controls.</a:t>
            </a:r>
          </a:p>
          <a:p>
            <a:pPr lvl="1"/>
            <a:r>
              <a:rPr lang="en-US" altLang="ko-KR" dirty="0" err="1"/>
              <a:t>PhA</a:t>
            </a:r>
            <a:r>
              <a:rPr lang="ko-KR" altLang="en-US" dirty="0"/>
              <a:t>와 신경전도 매개변수 간의 강한 상관관계가 관찰되어 </a:t>
            </a:r>
            <a:r>
              <a:rPr lang="en-US" altLang="ko-KR" dirty="0"/>
              <a:t>DPN</a:t>
            </a:r>
            <a:r>
              <a:rPr lang="ko-KR" altLang="en-US" dirty="0"/>
              <a:t>의 지표로서의 가능성을 뒷받침합니다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 strong correlation exists between </a:t>
            </a:r>
            <a:r>
              <a:rPr lang="en-US" altLang="ko-KR" dirty="0" err="1"/>
              <a:t>PhA</a:t>
            </a:r>
            <a:r>
              <a:rPr lang="en-US" altLang="ko-KR" dirty="0"/>
              <a:t> and nerve conduction parameters, supporting its potential as a marker for DPN.</a:t>
            </a:r>
            <a:br>
              <a:rPr lang="en-US" altLang="ko-KR" dirty="0"/>
            </a:br>
            <a:r>
              <a:rPr lang="en-US" altLang="ko-KR" dirty="0"/>
              <a:t>**</a:t>
            </a:r>
          </a:p>
          <a:p>
            <a:pPr marL="45720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당뇨병성 다발성 신경병증</a:t>
            </a:r>
            <a:r>
              <a:rPr lang="en-US" altLang="ko-KR" dirty="0"/>
              <a:t>(DPN)**</a:t>
            </a:r>
            <a:r>
              <a:rPr lang="ko-KR" altLang="en-US" dirty="0"/>
              <a:t>은 당뇨병의 흔한 합병증 중 하나로</a:t>
            </a:r>
            <a:r>
              <a:rPr lang="en-US" altLang="ko-KR" dirty="0"/>
              <a:t>, </a:t>
            </a:r>
            <a:r>
              <a:rPr lang="ko-KR" altLang="en-US" dirty="0"/>
              <a:t>혈당 조절이 잘 되지 않을 때 신경이 손상되는 질환이에요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ko-KR" altLang="en-US" b="1" dirty="0"/>
              <a:t>손이나 발의 말초신경</a:t>
            </a:r>
            <a:r>
              <a:rPr lang="ko-KR" altLang="en-US" dirty="0"/>
              <a:t>에 영향을 미치며</a:t>
            </a:r>
            <a:r>
              <a:rPr lang="en-US" altLang="ko-KR" dirty="0"/>
              <a:t>, </a:t>
            </a:r>
            <a:r>
              <a:rPr lang="ko-KR" altLang="en-US" dirty="0"/>
              <a:t>증상으로는 </a:t>
            </a:r>
            <a:r>
              <a:rPr lang="ko-KR" altLang="en-US" b="1" dirty="0"/>
              <a:t>저림</a:t>
            </a:r>
            <a:r>
              <a:rPr lang="en-US" altLang="ko-KR" b="1" dirty="0"/>
              <a:t>, </a:t>
            </a:r>
            <a:r>
              <a:rPr lang="ko-KR" altLang="en-US" b="1" dirty="0"/>
              <a:t>화끈거림</a:t>
            </a:r>
            <a:r>
              <a:rPr lang="en-US" altLang="ko-KR" b="1" dirty="0"/>
              <a:t>, </a:t>
            </a:r>
            <a:r>
              <a:rPr lang="ko-KR" altLang="en-US" b="1" dirty="0"/>
              <a:t>감각 둔화</a:t>
            </a:r>
            <a:r>
              <a:rPr lang="en-US" altLang="ko-KR" b="1" dirty="0"/>
              <a:t>, </a:t>
            </a:r>
            <a:r>
              <a:rPr lang="ko-KR" altLang="en-US" b="1" dirty="0"/>
              <a:t>통증</a:t>
            </a:r>
            <a:r>
              <a:rPr lang="ko-KR" altLang="en-US" dirty="0"/>
              <a:t> 등이 나타날 수 있습니다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ko-KR" altLang="en-US" b="1" dirty="0" err="1"/>
              <a:t>체성분과</a:t>
            </a:r>
            <a:r>
              <a:rPr lang="ko-KR" altLang="en-US" b="1" dirty="0"/>
              <a:t> 대사 건강 </a:t>
            </a:r>
            <a:r>
              <a:rPr lang="en-US" altLang="ko-KR" b="1" dirty="0"/>
              <a:t>(Body Composition and Metabolic Health)</a:t>
            </a:r>
            <a:endParaRPr lang="en-US" altLang="ko-KR" dirty="0"/>
          </a:p>
          <a:p>
            <a:pPr lvl="1"/>
            <a:r>
              <a:rPr lang="en-US" altLang="ko-KR" dirty="0" err="1"/>
              <a:t>PhA</a:t>
            </a:r>
            <a:r>
              <a:rPr lang="ko-KR" altLang="en-US" dirty="0"/>
              <a:t>는 당화혈색소</a:t>
            </a:r>
            <a:r>
              <a:rPr lang="en-US" altLang="ko-KR" dirty="0"/>
              <a:t>(HbA1c)</a:t>
            </a:r>
            <a:r>
              <a:rPr lang="ko-KR" altLang="en-US" dirty="0"/>
              <a:t>와 공복 혈당 수준과 같은 당 조절 매개변수와 상관관계가 있습니다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PhA</a:t>
            </a:r>
            <a:r>
              <a:rPr lang="en-US" altLang="ko-KR" dirty="0"/>
              <a:t> correlates with glycemic control parameters such as HbA1c and fasting glucose levels.</a:t>
            </a:r>
          </a:p>
          <a:p>
            <a:pPr lvl="1"/>
            <a:r>
              <a:rPr lang="ko-KR" altLang="en-US" dirty="0" err="1"/>
              <a:t>근육량</a:t>
            </a:r>
            <a:r>
              <a:rPr lang="en-US" altLang="ko-KR" dirty="0"/>
              <a:t>, </a:t>
            </a:r>
            <a:r>
              <a:rPr lang="ko-KR" altLang="en-US" dirty="0"/>
              <a:t>근력</a:t>
            </a:r>
            <a:r>
              <a:rPr lang="en-US" altLang="ko-KR" dirty="0"/>
              <a:t>, </a:t>
            </a:r>
            <a:r>
              <a:rPr lang="ko-KR" altLang="en-US" dirty="0"/>
              <a:t>신체 기능성과 같은 지표와 긍정적인 관계를 보입니다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It shows positive relationships with markers of muscle mass, strength, and physical performance.</a:t>
            </a:r>
          </a:p>
          <a:p>
            <a:r>
              <a:rPr lang="ko-KR" altLang="en-US" b="1" dirty="0"/>
              <a:t>임상적 활용 </a:t>
            </a:r>
            <a:r>
              <a:rPr lang="en-US" altLang="ko-KR" b="1" dirty="0"/>
              <a:t>(Clinical Utility)</a:t>
            </a:r>
            <a:endParaRPr lang="en-US" altLang="ko-KR" dirty="0"/>
          </a:p>
          <a:p>
            <a:pPr lvl="1"/>
            <a:r>
              <a:rPr lang="en-US" altLang="ko-KR" dirty="0" err="1"/>
              <a:t>PhA</a:t>
            </a:r>
            <a:r>
              <a:rPr lang="ko-KR" altLang="en-US" dirty="0"/>
              <a:t>는 당뇨병 관련 합병증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DPN </a:t>
            </a:r>
            <a:r>
              <a:rPr lang="ko-KR" altLang="en-US" dirty="0"/>
              <a:t>및 </a:t>
            </a:r>
            <a:r>
              <a:rPr lang="ko-KR" altLang="en-US" dirty="0" err="1"/>
              <a:t>비알코올성</a:t>
            </a:r>
            <a:r>
              <a:rPr lang="ko-KR" altLang="en-US" dirty="0"/>
              <a:t> 지방간 질환</a:t>
            </a:r>
            <a:r>
              <a:rPr lang="en-US" altLang="ko-KR" dirty="0"/>
              <a:t>(NAFLD))</a:t>
            </a:r>
            <a:r>
              <a:rPr lang="ko-KR" altLang="en-US" dirty="0"/>
              <a:t>의 위험 및 진행 상황을 평가하는 예후 도구로 활용될 수 있습니다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PhA</a:t>
            </a:r>
            <a:r>
              <a:rPr lang="en-US" altLang="ko-KR" dirty="0"/>
              <a:t> may serve as a prognostic tool for assessing the risk and progression of diabetes-related complications, including DPN and non-alcoholic fatty liver disease (NAFLD).</a:t>
            </a:r>
          </a:p>
          <a:p>
            <a:pPr lvl="1"/>
            <a:r>
              <a:rPr lang="ko-KR" altLang="en-US" dirty="0"/>
              <a:t>비침습적이고 비용 효율적인 방법으로 대사 건강 및 당뇨 관련 합병증을 </a:t>
            </a:r>
            <a:r>
              <a:rPr lang="ko-KR" altLang="en-US" dirty="0" err="1"/>
              <a:t>모니터링하는</a:t>
            </a:r>
            <a:r>
              <a:rPr lang="ko-KR" altLang="en-US" dirty="0"/>
              <a:t> 데 적합합니다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It is a non-invasive, cost-effective method suitable for monitoring metabolic health and complications in diabetic populations.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11330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/>
              <a:t>Novo Nordisk &amp; InBody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73A436-E3BC-48CF-A796-32319C85A5E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488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E5854-A961-2C7C-6923-D6BD62320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741E5C-8691-BE0C-D9E0-ED2FD0FAC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17D899-A7F7-32E2-329E-46657D236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0957AA21-BF42-44BB-6C5C-67F5314D81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9352601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 first case is the </a:t>
            </a:r>
            <a:r>
              <a:rPr lang="en-US" altLang="ko-KR" b="1" dirty="0"/>
              <a:t>common type of treatment response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She steadily </a:t>
            </a:r>
            <a:r>
              <a:rPr lang="en-US" altLang="ko-KR" b="1" dirty="0"/>
              <a:t>lost weight and body fat</a:t>
            </a:r>
            <a:r>
              <a:rPr lang="en-US" altLang="ko-KR" dirty="0"/>
              <a:t>, but her </a:t>
            </a:r>
            <a:r>
              <a:rPr lang="en-US" altLang="ko-KR" b="1" dirty="0"/>
              <a:t>muscle mass did not decrease as significantly compared to fat mass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The doctor explained that </a:t>
            </a:r>
            <a:r>
              <a:rPr lang="en-US" altLang="ko-KR" b="1" dirty="0"/>
              <a:t>this type of graph is a typical pattern seen in patients undergoing </a:t>
            </a:r>
            <a:r>
              <a:rPr lang="en-US" altLang="ko-KR" b="1" dirty="0" err="1"/>
              <a:t>Wegovy</a:t>
            </a:r>
            <a:r>
              <a:rPr lang="en-US" altLang="ko-KR" b="1" dirty="0"/>
              <a:t> treatment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After 14 weeks,</a:t>
            </a:r>
            <a:r>
              <a:rPr lang="en-US" altLang="ko-KR" baseline="0" dirty="0"/>
              <a:t> as a result among the 9kg of reduction, fat reduced 5.8kg and muscle mass reduced 1.9kg.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7028362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 second case is about a woman who had </a:t>
            </a:r>
            <a:r>
              <a:rPr lang="en-US" altLang="ko-KR" b="1" dirty="0"/>
              <a:t>struggled with various weight loss medications</a:t>
            </a:r>
            <a:r>
              <a:rPr lang="en-US" altLang="ko-KR" dirty="0"/>
              <a:t> but </a:t>
            </a:r>
            <a:r>
              <a:rPr lang="en-US" altLang="ko-KR" b="1" dirty="0"/>
              <a:t>failed to achieve results</a:t>
            </a:r>
            <a:r>
              <a:rPr lang="en-US" altLang="ko-KR" dirty="0"/>
              <a:t>—until she </a:t>
            </a:r>
            <a:r>
              <a:rPr lang="en-US" altLang="ko-KR" b="1" dirty="0"/>
              <a:t>succeeded with </a:t>
            </a:r>
            <a:r>
              <a:rPr lang="en-US" altLang="ko-KR" b="1" dirty="0" err="1"/>
              <a:t>Wegovy</a:t>
            </a:r>
            <a:r>
              <a:rPr lang="en-US" altLang="ko-KR" b="1" dirty="0"/>
              <a:t> treatment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But the important part of this result is that once her muscle mass dropped below average, the treatment effect was not as effective.</a:t>
            </a:r>
            <a:endParaRPr lang="en-US" altLang="ko-KR" dirty="0"/>
          </a:p>
          <a:p>
            <a:r>
              <a:rPr lang="en-US" altLang="ko-KR" dirty="0"/>
              <a:t>The doctor mentioned that </a:t>
            </a:r>
            <a:r>
              <a:rPr lang="en-US" altLang="ko-KR" b="1" dirty="0"/>
              <a:t>low muscle mass may indicate that the body is not ready for effective dieting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From her result sheet, she needs to </a:t>
            </a:r>
            <a:r>
              <a:rPr lang="en-US" altLang="ko-KR" b="1" dirty="0"/>
              <a:t>be cautious about sarcopenia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However, </a:t>
            </a:r>
            <a:r>
              <a:rPr lang="en-US" altLang="ko-KR" b="1" dirty="0"/>
              <a:t>her phase angle showed improved</a:t>
            </a:r>
            <a:r>
              <a:rPr lang="en-US" altLang="ko-KR" b="1" baseline="0" dirty="0"/>
              <a:t> 0.4 degree</a:t>
            </a:r>
            <a:r>
              <a:rPr lang="en-US" altLang="ko-KR" b="1" dirty="0"/>
              <a:t> during treatment, it</a:t>
            </a:r>
            <a:r>
              <a:rPr lang="en-US" altLang="ko-KR" b="1" baseline="0" dirty="0"/>
              <a:t> means that her metabolic health is </a:t>
            </a:r>
            <a:r>
              <a:rPr lang="en-US" altLang="ko-KR" b="1" baseline="0" dirty="0" err="1"/>
              <a:t>overally</a:t>
            </a:r>
            <a:r>
              <a:rPr lang="en-US" altLang="ko-KR" b="1" baseline="0" dirty="0"/>
              <a:t> fine so the thing she need to focus is increase her muscle mass for better treatment</a:t>
            </a:r>
            <a:endParaRPr lang="ko-KR" altLang="en-US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3459906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her ECW ratio also improved</a:t>
            </a:r>
            <a:r>
              <a:rPr lang="en-US" altLang="ko-KR" b="0" baseline="0" dirty="0"/>
              <a:t> to the normal range</a:t>
            </a:r>
          </a:p>
          <a:p>
            <a:endParaRPr lang="en-US" altLang="ko-KR" b="0" baseline="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656E7D"/>
                </a:solidFill>
                <a:latin typeface="Lato" panose="020B0604020202020204"/>
                <a:ea typeface="에스코어 드림 4 Regular" panose="020B0503030302020204" pitchFamily="34" charset="-127"/>
              </a:rPr>
              <a:t>Segmental ECW Ratio improved overall, </a:t>
            </a:r>
            <a:r>
              <a:rPr lang="en-US" altLang="ko-KR" sz="1200" b="1" dirty="0">
                <a:solidFill>
                  <a:srgbClr val="9D1F3A"/>
                </a:solidFill>
                <a:latin typeface="Lato" panose="020B0604020202020204"/>
                <a:ea typeface="에스코어 드림 4 Regular" panose="020B0503030302020204" pitchFamily="34" charset="-127"/>
              </a:rPr>
              <a:t>significant improvement in lower limb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  <a:ea typeface="+mn-ea"/>
              </a:rPr>
              <a:t> which shows severe edema</a:t>
            </a:r>
            <a:endParaRPr lang="ko-KR" altLang="en-US" sz="1200" b="1" dirty="0">
              <a:solidFill>
                <a:srgbClr val="9D1F3A"/>
              </a:solidFill>
              <a:latin typeface="Lato" panose="020B0604020202020204"/>
              <a:ea typeface="에스코어 드림 4 Regular" panose="020B0503030302020204" pitchFamily="34" charset="-127"/>
            </a:endParaRP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6609764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According to the doctor, </a:t>
            </a:r>
            <a:r>
              <a:rPr lang="en-US" altLang="ko-KR" b="1" dirty="0"/>
              <a:t>many obese patients also have diabetes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As we can see from the </a:t>
            </a:r>
            <a:r>
              <a:rPr lang="en-US" altLang="ko-KR" b="1" dirty="0"/>
              <a:t>body composition history below</a:t>
            </a:r>
            <a:r>
              <a:rPr lang="en-US" altLang="ko-KR" dirty="0"/>
              <a:t>, the </a:t>
            </a:r>
            <a:r>
              <a:rPr lang="en-US" altLang="ko-KR" b="1" dirty="0"/>
              <a:t>patient's weight and fat mass have been steadily decreasing, </a:t>
            </a:r>
          </a:p>
          <a:p>
            <a:r>
              <a:rPr lang="en-US" altLang="ko-KR" b="1" dirty="0"/>
              <a:t>while muscle mass has been well maintained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From our perspective, </a:t>
            </a:r>
            <a:r>
              <a:rPr lang="en-US" altLang="ko-KR" b="1" dirty="0"/>
              <a:t>this patient's results were very positive</a:t>
            </a:r>
            <a:r>
              <a:rPr lang="en-US" altLang="ko-KR" b="0" baseline="0" dirty="0"/>
              <a:t> to maintain this treatment.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However, </a:t>
            </a:r>
            <a:r>
              <a:rPr lang="en-US" altLang="ko-KR" b="1" dirty="0"/>
              <a:t>the patient's satisfaction was not as high</a:t>
            </a:r>
            <a:r>
              <a:rPr lang="en-US" altLang="ko-KR" dirty="0"/>
              <a:t>, because </a:t>
            </a:r>
            <a:r>
              <a:rPr lang="en-US" altLang="ko-KR" b="1" dirty="0"/>
              <a:t>the weight loss was slower than expected, leading to lower satisfaction</a:t>
            </a:r>
            <a:r>
              <a:rPr lang="en-US" altLang="ko-KR" dirty="0"/>
              <a:t>.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1563464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 </a:t>
            </a:r>
            <a:r>
              <a:rPr lang="en-US" altLang="ko-KR" b="1" dirty="0"/>
              <a:t>edema levels</a:t>
            </a:r>
            <a:r>
              <a:rPr lang="en-US" altLang="ko-KR" dirty="0"/>
              <a:t> of the diabetic patient also </a:t>
            </a:r>
            <a:r>
              <a:rPr lang="en-US" altLang="ko-KR" b="1" dirty="0"/>
              <a:t>gradually and steadily improved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656E7D"/>
                </a:solidFill>
                <a:latin typeface="Lato" panose="020B0604020202020204"/>
                <a:ea typeface="에스코어 드림 4 Regular" panose="020B0503030302020204" pitchFamily="34" charset="-127"/>
              </a:rPr>
              <a:t>ECW Ratio </a:t>
            </a:r>
            <a:r>
              <a:rPr lang="en-US" altLang="ko-KR" sz="1200" b="1" dirty="0">
                <a:solidFill>
                  <a:srgbClr val="9D1F3A"/>
                </a:solidFill>
                <a:latin typeface="Lato" panose="020B0604020202020204"/>
                <a:ea typeface="에스코어 드림 4 Regular" panose="020B0503030302020204" pitchFamily="34" charset="-127"/>
              </a:rPr>
              <a:t>still shows improvement </a:t>
            </a:r>
            <a:r>
              <a:rPr lang="en-US" altLang="ko-KR" sz="1200" dirty="0">
                <a:solidFill>
                  <a:srgbClr val="656E7D"/>
                </a:solidFill>
                <a:latin typeface="Lato" panose="020B0604020202020204"/>
                <a:ea typeface="에스코어 드림 4 Regular" panose="020B0503030302020204" pitchFamily="34" charset="-127"/>
              </a:rPr>
              <a:t>even with the patient has</a:t>
            </a:r>
            <a:r>
              <a:rPr lang="en-US" altLang="ko-KR" sz="1200" baseline="0" dirty="0">
                <a:solidFill>
                  <a:srgbClr val="656E7D"/>
                </a:solidFill>
                <a:latin typeface="Lato" panose="020B0604020202020204"/>
                <a:ea typeface="에스코어 드림 4 Regular" panose="020B0503030302020204" pitchFamily="34" charset="-127"/>
              </a:rPr>
              <a:t> </a:t>
            </a:r>
            <a:r>
              <a:rPr lang="en-US" altLang="ko-KR" sz="1200" dirty="0">
                <a:solidFill>
                  <a:srgbClr val="656E7D"/>
                </a:solidFill>
                <a:latin typeface="Lato" panose="020B0604020202020204"/>
                <a:ea typeface="에스코어 드림 4 Regular" panose="020B0503030302020204" pitchFamily="34" charset="-127"/>
              </a:rPr>
              <a:t>relatively lower edema level.</a:t>
            </a:r>
          </a:p>
          <a:p>
            <a:r>
              <a:rPr lang="en-US" altLang="ko-KR" dirty="0"/>
              <a:t>the </a:t>
            </a:r>
            <a:r>
              <a:rPr lang="en-US" altLang="ko-KR" b="1" dirty="0"/>
              <a:t>overall segmental values showed a more stable improvement</a:t>
            </a:r>
            <a:r>
              <a:rPr lang="en-US" altLang="ko-KR" dirty="0"/>
              <a:t>, which the doctor also found </a:t>
            </a:r>
            <a:r>
              <a:rPr lang="en-US" altLang="ko-KR" b="1" dirty="0"/>
              <a:t>interesting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Most of the expected outcomes from research papers were </a:t>
            </a:r>
            <a:r>
              <a:rPr lang="en-US" altLang="ko-KR" b="1" dirty="0"/>
              <a:t>consistently validated</a:t>
            </a:r>
            <a:r>
              <a:rPr lang="en-US" altLang="ko-KR" dirty="0"/>
              <a:t> in real patient cases.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8291511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sharing direct feedbacks from the field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/>
              <a:t>Novo Nordisk &amp; InBody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73A436-E3BC-48CF-A796-32319C85A5E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3972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 data from the field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rPr>
              <a:t>Gradual weight &amp;</a:t>
            </a:r>
            <a:r>
              <a:rPr lang="en-US" altLang="ko-KR" sz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rPr>
              <a:t> fat loss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rPr>
              <a:t>, resembling a steady slope.</a:t>
            </a:r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rPr>
            </a:b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Lato"/>
            </a:endParaRPr>
          </a:p>
          <a:p>
            <a:r>
              <a:rPr lang="en-US" altLang="ko-KR" dirty="0"/>
              <a:t>Food</a:t>
            </a:r>
            <a:r>
              <a:rPr lang="en-US" altLang="ko-KR" baseline="0" dirty="0"/>
              <a:t> intake </a:t>
            </a:r>
            <a:r>
              <a:rPr lang="ko-KR" altLang="en-US" baseline="0" dirty="0"/>
              <a:t>가 줄었음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0234667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 data from the field</a:t>
            </a:r>
            <a:endParaRPr lang="ko-KR" altLang="en-US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7525839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Thailand</a:t>
            </a:r>
            <a:r>
              <a:rPr lang="en-US" altLang="ko-KR" dirty="0"/>
              <a:t> </a:t>
            </a:r>
            <a:r>
              <a:rPr lang="en-US" altLang="ko-K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Marketing</a:t>
            </a:r>
            <a:r>
              <a:rPr lang="en-US" altLang="ko-KR" dirty="0"/>
              <a:t> </a:t>
            </a:r>
            <a:r>
              <a:rPr lang="en-US" altLang="ko-K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570</a:t>
            </a:r>
            <a:r>
              <a:rPr lang="en-US" altLang="ko-KR" dirty="0"/>
              <a:t> </a:t>
            </a:r>
            <a:r>
              <a:rPr lang="en-US" altLang="ko-K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-US" altLang="ko-KR" dirty="0"/>
              <a:t> </a:t>
            </a:r>
            <a:r>
              <a:rPr lang="en-US" altLang="ko-K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Utilizing </a:t>
            </a:r>
            <a:r>
              <a:rPr lang="en-US" altLang="ko-KR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InBody</a:t>
            </a:r>
            <a:r>
              <a:rPr lang="en-US" altLang="ko-K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GLP-1 marketing purposes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Brazil</a:t>
            </a:r>
            <a:r>
              <a:rPr lang="en-US" altLang="ko-KR" dirty="0"/>
              <a:t> </a:t>
            </a:r>
          </a:p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Costa Rica</a:t>
            </a:r>
            <a:r>
              <a:rPr lang="en-US" altLang="ko-KR" dirty="0"/>
              <a:t> </a:t>
            </a:r>
          </a:p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Mexico</a:t>
            </a:r>
            <a:r>
              <a:rPr lang="en-US" altLang="ko-KR" dirty="0"/>
              <a:t> </a:t>
            </a:r>
          </a:p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Colombia</a:t>
            </a:r>
            <a:r>
              <a:rPr lang="en-US" altLang="ko-KR" dirty="0"/>
              <a:t> </a:t>
            </a:r>
          </a:p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Czech Republic </a:t>
            </a:r>
            <a:r>
              <a:rPr lang="en-US" altLang="ko-KR" dirty="0"/>
              <a:t> </a:t>
            </a:r>
          </a:p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Hungary</a:t>
            </a:r>
            <a:r>
              <a:rPr lang="en-US" altLang="ko-KR" dirty="0"/>
              <a:t> </a:t>
            </a:r>
          </a:p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Russia</a:t>
            </a:r>
            <a:r>
              <a:rPr lang="en-US" altLang="ko-KR" dirty="0"/>
              <a:t> </a:t>
            </a:r>
          </a:p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South Africa</a:t>
            </a:r>
            <a:r>
              <a:rPr lang="en-US" altLang="ko-KR" dirty="0"/>
              <a:t> </a:t>
            </a:r>
          </a:p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Saudi Arabia</a:t>
            </a:r>
            <a:endParaRPr lang="ko-KR" altLang="en-US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959245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en-US"/>
              <a:t>Novo Nordisk &amp; InBody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123651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텍스트 개체 틀 50">
            <a:extLst>
              <a:ext uri="{FF2B5EF4-FFF2-40B4-BE49-F238E27FC236}">
                <a16:creationId xmlns:a16="http://schemas.microsoft.com/office/drawing/2014/main" id="{7AF93DE4-F3CB-EDDF-C6FE-59015AC0C5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6342" y="5680556"/>
            <a:ext cx="1115230" cy="3231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0" indent="0">
              <a:buNone/>
              <a:defRPr kumimoji="1" lang="ko-KR" altLang="en-US" sz="150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3C3C3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ko-KR" altLang="en-US" dirty="0" err="1"/>
              <a:t>성이름</a:t>
            </a:r>
            <a:endParaRPr lang="ko-KR" altLang="en-US" dirty="0"/>
          </a:p>
        </p:txBody>
      </p:sp>
      <p:sp>
        <p:nvSpPr>
          <p:cNvPr id="56" name="텍스트 개체 틀 50">
            <a:extLst>
              <a:ext uri="{FF2B5EF4-FFF2-40B4-BE49-F238E27FC236}">
                <a16:creationId xmlns:a16="http://schemas.microsoft.com/office/drawing/2014/main" id="{820DB4C8-02C4-67B6-AAE6-182417362F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6342" y="6027985"/>
            <a:ext cx="1729178" cy="279151"/>
          </a:xfrm>
          <a:prstGeom prst="rect">
            <a:avLst/>
          </a:prstGeom>
          <a:ln>
            <a:noFill/>
          </a:ln>
        </p:spPr>
        <p:txBody>
          <a:bodyPr tIns="0" bIns="0" anchor="ctr" anchorCtr="0">
            <a:noAutofit/>
          </a:bodyPr>
          <a:lstStyle>
            <a:lvl1pPr marL="0" indent="0">
              <a:buNone/>
              <a:defRPr lang="ko-KR" altLang="en-US" sz="1100" b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656E7D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pPr marL="228600" lvl="0" indent="-228600"/>
            <a:r>
              <a:rPr lang="en-US" altLang="ko-KR" dirty="0"/>
              <a:t>OO</a:t>
            </a:r>
            <a:r>
              <a:rPr lang="ko-KR" altLang="en-US" dirty="0"/>
              <a:t>파트</a:t>
            </a:r>
            <a:r>
              <a:rPr lang="en-US" altLang="ko-KR" dirty="0"/>
              <a:t>, OO</a:t>
            </a:r>
            <a:r>
              <a:rPr lang="ko-KR" altLang="en-US" dirty="0"/>
              <a:t>팀</a:t>
            </a:r>
          </a:p>
        </p:txBody>
      </p:sp>
      <p:sp>
        <p:nvSpPr>
          <p:cNvPr id="146" name="텍스트 개체 틀 50">
            <a:extLst>
              <a:ext uri="{FF2B5EF4-FFF2-40B4-BE49-F238E27FC236}">
                <a16:creationId xmlns:a16="http://schemas.microsoft.com/office/drawing/2014/main" id="{BECD2002-9673-413C-9056-0181B74AF3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6228" y="3487106"/>
            <a:ext cx="2919022" cy="386395"/>
          </a:xfrm>
          <a:prstGeom prst="roundRect">
            <a:avLst>
              <a:gd name="adj" fmla="val 50000"/>
            </a:avLst>
          </a:prstGeom>
          <a:ln w="15875">
            <a:solidFill>
              <a:srgbClr val="3C3C3A"/>
            </a:solidFill>
          </a:ln>
        </p:spPr>
        <p:txBody>
          <a:bodyPr vert="horz" lIns="0" tIns="18000" rIns="0" bIns="0" rtlCol="0" anchor="ctr" anchorCtr="0">
            <a:noAutofit/>
          </a:bodyPr>
          <a:lstStyle>
            <a:lvl1pPr marL="0" indent="0" algn="ctr">
              <a:buNone/>
              <a:defRPr kumimoji="1" lang="ko-KR" altLang="en-US" sz="1600" b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3C3C3A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defRPr>
            </a:lvl1pPr>
          </a:lstStyle>
          <a:p>
            <a:pPr marL="228600" lvl="0" indent="-228600" algn="ctr"/>
            <a:r>
              <a:rPr lang="ko-KR" altLang="en-US" dirty="0"/>
              <a:t>소제목을 입력하는 곳입니다</a:t>
            </a:r>
          </a:p>
        </p:txBody>
      </p:sp>
      <p:pic>
        <p:nvPicPr>
          <p:cNvPr id="177" name="그림 176">
            <a:extLst>
              <a:ext uri="{FF2B5EF4-FFF2-40B4-BE49-F238E27FC236}">
                <a16:creationId xmlns:a16="http://schemas.microsoft.com/office/drawing/2014/main" id="{A29D7E20-F787-F94F-C978-80BB7BAA6C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797" t="65417"/>
          <a:stretch/>
        </p:blipFill>
        <p:spPr>
          <a:xfrm>
            <a:off x="8143874" y="4486274"/>
            <a:ext cx="4048125" cy="2371725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2D608F42-D381-C26A-6D36-0ACF15577A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8717" y="2680178"/>
            <a:ext cx="5272088" cy="6059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>
                <a:solidFill>
                  <a:schemeClr val="tx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pPr lvl="0"/>
            <a:r>
              <a:rPr lang="ko-KR" altLang="en-US" dirty="0" err="1"/>
              <a:t>대제목</a:t>
            </a:r>
            <a:r>
              <a:rPr lang="ko-KR" altLang="en-US" dirty="0"/>
              <a:t> 입력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602A3CA-D654-2D4C-87EB-E39A839803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8500" y="534881"/>
            <a:ext cx="761924" cy="25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33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직사각형 79">
            <a:extLst>
              <a:ext uri="{FF2B5EF4-FFF2-40B4-BE49-F238E27FC236}">
                <a16:creationId xmlns:a16="http://schemas.microsoft.com/office/drawing/2014/main" id="{2EC9FC6F-7AF5-4B3D-4F0D-392FA168A61E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dirty="0">
              <a:ln>
                <a:solidFill>
                  <a:srgbClr val="7E8080">
                    <a:alpha val="0"/>
                  </a:srgbClr>
                </a:solidFill>
              </a:ln>
              <a:solidFill>
                <a:prstClr val="white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87909D8-AC58-648C-AA88-012FAA24E4F6}"/>
              </a:ext>
            </a:extLst>
          </p:cNvPr>
          <p:cNvGrpSpPr/>
          <p:nvPr userDrawn="1"/>
        </p:nvGrpSpPr>
        <p:grpSpPr>
          <a:xfrm>
            <a:off x="3693325" y="0"/>
            <a:ext cx="2267587" cy="6858000"/>
            <a:chOff x="3693325" y="0"/>
            <a:chExt cx="2267587" cy="685800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B2D29F-E2F4-EBC8-811F-3F3B24E8EE5A}"/>
                </a:ext>
              </a:extLst>
            </p:cNvPr>
            <p:cNvSpPr txBox="1"/>
            <p:nvPr/>
          </p:nvSpPr>
          <p:spPr>
            <a:xfrm>
              <a:off x="4128650" y="1659993"/>
              <a:ext cx="1832262" cy="26255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latinLnBrk="0"/>
              <a:r>
                <a:rPr lang="en-US" altLang="ko-KR" sz="24300" b="1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rgbClr val="EDEEF3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2</a:t>
              </a:r>
              <a:endParaRPr lang="ko-KR" altLang="en-US" sz="24300" b="1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rgbClr val="EDEEF3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BB83584-4E64-E743-F56D-F85171D605BC}"/>
                </a:ext>
              </a:extLst>
            </p:cNvPr>
            <p:cNvGrpSpPr/>
            <p:nvPr/>
          </p:nvGrpSpPr>
          <p:grpSpPr>
            <a:xfrm>
              <a:off x="3693325" y="0"/>
              <a:ext cx="825158" cy="6858000"/>
              <a:chOff x="364049" y="0"/>
              <a:chExt cx="849449" cy="6858000"/>
            </a:xfrm>
          </p:grpSpPr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21A9AC0E-C5FB-89A6-09B3-5C3D5F6D7638}"/>
                  </a:ext>
                </a:extLst>
              </p:cNvPr>
              <p:cNvSpPr/>
              <p:nvPr/>
            </p:nvSpPr>
            <p:spPr>
              <a:xfrm>
                <a:off x="364049" y="0"/>
                <a:ext cx="849449" cy="6858000"/>
              </a:xfrm>
              <a:prstGeom prst="rect">
                <a:avLst/>
              </a:prstGeom>
              <a:solidFill>
                <a:srgbClr val="F7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rgbClr val="F2F3F6"/>
                  </a:solidFill>
                </a:endParaRPr>
              </a:p>
            </p:txBody>
          </p: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1D94632A-AA4F-AB82-30E1-0297DBE86F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3498" y="0"/>
                <a:ext cx="0" cy="6857999"/>
              </a:xfrm>
              <a:prstGeom prst="line">
                <a:avLst/>
              </a:prstGeom>
              <a:ln>
                <a:solidFill>
                  <a:srgbClr val="DDE0E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1D78643-A629-14A0-8749-6F3478F6AC7A}"/>
              </a:ext>
            </a:extLst>
          </p:cNvPr>
          <p:cNvGrpSpPr/>
          <p:nvPr userDrawn="1"/>
        </p:nvGrpSpPr>
        <p:grpSpPr>
          <a:xfrm>
            <a:off x="176173" y="0"/>
            <a:ext cx="1846589" cy="6858000"/>
            <a:chOff x="176173" y="0"/>
            <a:chExt cx="1846589" cy="685800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C6BBB7B-15F6-01F4-F00D-0AC360EAA300}"/>
                </a:ext>
              </a:extLst>
            </p:cNvPr>
            <p:cNvSpPr txBox="1"/>
            <p:nvPr/>
          </p:nvSpPr>
          <p:spPr>
            <a:xfrm>
              <a:off x="190500" y="1659993"/>
              <a:ext cx="1832262" cy="26255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x-none"/>
              </a:defPPr>
              <a:lvl1pPr algn="ctr">
                <a:defRPr sz="24300" b="1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F2F3F6"/>
                  </a:solidFill>
                  <a:latin typeface="Noto Sans KR Black" panose="020B0A00000000000000" pitchFamily="34" charset="-127"/>
                  <a:ea typeface="Noto Sans KR Black" panose="020B0A00000000000000" pitchFamily="34" charset="-127"/>
                </a:defRPr>
              </a:lvl1pPr>
            </a:lstStyle>
            <a:p>
              <a:pPr latinLnBrk="0"/>
              <a:r>
                <a:rPr lang="en-US" altLang="ko-KR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rgbClr val="EDEEF3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1</a:t>
              </a:r>
              <a:endParaRPr lang="ko-KR" altLang="en-US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rgbClr val="EDEEF3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058629B-CC49-1F7B-3460-ADE0140683C1}"/>
                </a:ext>
              </a:extLst>
            </p:cNvPr>
            <p:cNvGrpSpPr/>
            <p:nvPr/>
          </p:nvGrpSpPr>
          <p:grpSpPr>
            <a:xfrm>
              <a:off x="176173" y="0"/>
              <a:ext cx="404159" cy="6858000"/>
              <a:chOff x="797441" y="0"/>
              <a:chExt cx="416057" cy="6858000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14B1EC8D-DD48-9E22-2F1C-04DEBC4D7325}"/>
                  </a:ext>
                </a:extLst>
              </p:cNvPr>
              <p:cNvSpPr/>
              <p:nvPr/>
            </p:nvSpPr>
            <p:spPr>
              <a:xfrm>
                <a:off x="797441" y="0"/>
                <a:ext cx="416057" cy="6858000"/>
              </a:xfrm>
              <a:prstGeom prst="rect">
                <a:avLst/>
              </a:prstGeom>
              <a:solidFill>
                <a:srgbClr val="F7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E71540C7-9B21-7072-7D30-4A9B25F3DE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3498" y="0"/>
                <a:ext cx="0" cy="6857999"/>
              </a:xfrm>
              <a:prstGeom prst="line">
                <a:avLst/>
              </a:prstGeom>
              <a:ln>
                <a:solidFill>
                  <a:srgbClr val="DDE0E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0DCF2ED-85EC-630D-4452-3A2F49D8014D}"/>
              </a:ext>
            </a:extLst>
          </p:cNvPr>
          <p:cNvGrpSpPr/>
          <p:nvPr userDrawn="1"/>
        </p:nvGrpSpPr>
        <p:grpSpPr>
          <a:xfrm>
            <a:off x="7631475" y="0"/>
            <a:ext cx="2267587" cy="6858000"/>
            <a:chOff x="7631475" y="0"/>
            <a:chExt cx="2267587" cy="685800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E894505-5BE5-8C2B-3875-51F4E670F7A6}"/>
                </a:ext>
              </a:extLst>
            </p:cNvPr>
            <p:cNvSpPr txBox="1"/>
            <p:nvPr/>
          </p:nvSpPr>
          <p:spPr>
            <a:xfrm>
              <a:off x="8066800" y="1659993"/>
              <a:ext cx="1832262" cy="26255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latinLnBrk="0"/>
              <a:r>
                <a:rPr lang="en-US" altLang="ko-KR" sz="24300" b="1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rgbClr val="EDEEF3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3</a:t>
              </a:r>
              <a:endParaRPr lang="ko-KR" altLang="en-US" sz="24300" b="1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rgbClr val="EDEEF3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D7A49013-F620-F785-496E-ECC1969DBBC5}"/>
                </a:ext>
              </a:extLst>
            </p:cNvPr>
            <p:cNvGrpSpPr/>
            <p:nvPr/>
          </p:nvGrpSpPr>
          <p:grpSpPr>
            <a:xfrm>
              <a:off x="7631475" y="0"/>
              <a:ext cx="825158" cy="6858000"/>
              <a:chOff x="364049" y="0"/>
              <a:chExt cx="849449" cy="6858000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DD8463CC-31BE-CD79-0536-6C96E2F591DB}"/>
                  </a:ext>
                </a:extLst>
              </p:cNvPr>
              <p:cNvSpPr/>
              <p:nvPr/>
            </p:nvSpPr>
            <p:spPr>
              <a:xfrm>
                <a:off x="364049" y="0"/>
                <a:ext cx="849449" cy="6858000"/>
              </a:xfrm>
              <a:prstGeom prst="rect">
                <a:avLst/>
              </a:prstGeom>
              <a:solidFill>
                <a:srgbClr val="F7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rgbClr val="F2F3F6"/>
                  </a:solidFill>
                </a:endParaRPr>
              </a:p>
            </p:txBody>
          </p: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363860B7-F132-0A24-7BF2-A49BF2B442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3498" y="0"/>
                <a:ext cx="0" cy="6857999"/>
              </a:xfrm>
              <a:prstGeom prst="line">
                <a:avLst/>
              </a:prstGeom>
              <a:ln>
                <a:solidFill>
                  <a:srgbClr val="DDE0E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53050236-6634-CCFF-D9CB-37F1CE38FB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8500" y="534881"/>
            <a:ext cx="761924" cy="25575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0DFB621-7E53-EAA0-2C8D-4536281E55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6797" t="65417"/>
          <a:stretch/>
        </p:blipFill>
        <p:spPr>
          <a:xfrm>
            <a:off x="8143874" y="4486274"/>
            <a:ext cx="4048125" cy="2371725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6EC9F3DB-A55D-41A6-2242-4D3AD0FD8C78}"/>
              </a:ext>
            </a:extLst>
          </p:cNvPr>
          <p:cNvGrpSpPr/>
          <p:nvPr userDrawn="1"/>
        </p:nvGrpSpPr>
        <p:grpSpPr>
          <a:xfrm>
            <a:off x="580333" y="577011"/>
            <a:ext cx="2556705" cy="486079"/>
            <a:chOff x="580333" y="528971"/>
            <a:chExt cx="2556705" cy="486079"/>
          </a:xfrm>
        </p:grpSpPr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3998DBFE-E462-80B4-1156-A356774C304D}"/>
                </a:ext>
              </a:extLst>
            </p:cNvPr>
            <p:cNvCxnSpPr>
              <a:cxnSpLocks/>
            </p:cNvCxnSpPr>
            <p:nvPr/>
          </p:nvCxnSpPr>
          <p:spPr>
            <a:xfrm>
              <a:off x="580333" y="528971"/>
              <a:ext cx="0" cy="486079"/>
            </a:xfrm>
            <a:prstGeom prst="line">
              <a:avLst/>
            </a:prstGeom>
            <a:ln w="22225">
              <a:solidFill>
                <a:srgbClr val="ADB3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C294C496-38CC-FA91-947B-61007F49DC48}"/>
                </a:ext>
              </a:extLst>
            </p:cNvPr>
            <p:cNvGrpSpPr/>
            <p:nvPr userDrawn="1"/>
          </p:nvGrpSpPr>
          <p:grpSpPr>
            <a:xfrm>
              <a:off x="778179" y="552111"/>
              <a:ext cx="2358859" cy="460313"/>
              <a:chOff x="778179" y="552111"/>
              <a:chExt cx="2358859" cy="460313"/>
            </a:xfrm>
          </p:grpSpPr>
          <p:sp>
            <p:nvSpPr>
              <p:cNvPr id="101" name="텍스트 개체 틀 50">
                <a:extLst>
                  <a:ext uri="{FF2B5EF4-FFF2-40B4-BE49-F238E27FC236}">
                    <a16:creationId xmlns:a16="http://schemas.microsoft.com/office/drawing/2014/main" id="{D7D19241-748B-6854-9A99-AB21F08C9758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778179" y="552111"/>
                <a:ext cx="2358859" cy="249299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sp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lang="ko-KR" altLang="en-US" sz="2800" b="1" kern="1200" dirty="0" smtClean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rgbClr val="656E7D"/>
                    </a:solidFill>
                    <a:latin typeface="Lato" panose="020F0502020204030203" pitchFamily="34" charset="0"/>
                    <a:ea typeface="Noto Sans KR" panose="020B0500000000000000" pitchFamily="34" charset="-127"/>
                    <a:cs typeface="Lato" panose="020F0502020204030203" pitchFamily="34" charset="0"/>
                  </a:defRPr>
                </a:lvl1pPr>
                <a:lvl2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2pPr>
                <a:lvl3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3pPr>
                <a:lvl4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4pPr>
                <a:lvl5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1800">
                    <a:ln>
                      <a:solidFill>
                        <a:prstClr val="black">
                          <a:lumMod val="65000"/>
                          <a:lumOff val="35000"/>
                          <a:alpha val="0"/>
                        </a:prstClr>
                      </a:solidFill>
                    </a:ln>
                    <a:ea typeface="에스코어 드림 4 Regular" panose="020B0503030302020204" pitchFamily="34" charset="-127"/>
                  </a:rPr>
                  <a:t>CONTENTS</a:t>
                </a:r>
                <a:endParaRPr lang="en-US" sz="1800">
                  <a:ln>
                    <a:solidFill>
                      <a:prstClr val="black">
                        <a:lumMod val="65000"/>
                        <a:lumOff val="35000"/>
                        <a:alpha val="0"/>
                      </a:prstClr>
                    </a:solidFill>
                  </a:ln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102" name="텍스트 개체 틀 50">
                <a:extLst>
                  <a:ext uri="{FF2B5EF4-FFF2-40B4-BE49-F238E27FC236}">
                    <a16:creationId xmlns:a16="http://schemas.microsoft.com/office/drawing/2014/main" id="{892DD0F7-3BEB-BE54-A977-0F374B7C50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9637" y="846225"/>
                <a:ext cx="1850859" cy="166199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sp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lang="ko-KR" altLang="en-US" sz="1400" b="0" kern="1200" dirty="0" smtClean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rgbClr val="9E0B28"/>
                    </a:solidFill>
                    <a:latin typeface="Noto Sans KR" panose="020B0500000000000000" pitchFamily="34" charset="-127"/>
                    <a:ea typeface="Noto Sans KR" panose="020B0500000000000000" pitchFamily="34" charset="-127"/>
                    <a:cs typeface="+mn-cs"/>
                  </a:defRPr>
                </a:lvl1pPr>
                <a:lvl2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2pPr>
                <a:lvl3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3pPr>
                <a:lvl4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4pPr>
                <a:lvl5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sz="1200" b="1">
                    <a:ln>
                      <a:solidFill>
                        <a:prstClr val="black">
                          <a:lumMod val="65000"/>
                          <a:lumOff val="35000"/>
                          <a:alpha val="0"/>
                        </a:prstClr>
                      </a:solidFill>
                    </a:ln>
                    <a:solidFill>
                      <a:srgbClr val="ADB3B9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목차</a:t>
                </a:r>
              </a:p>
            </p:txBody>
          </p:sp>
        </p:grp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FBDE1A4B-5C20-D1F9-2AA8-5D663E7371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76774" b="71415"/>
          <a:stretch/>
        </p:blipFill>
        <p:spPr>
          <a:xfrm flipH="1">
            <a:off x="-1" y="0"/>
            <a:ext cx="1595955" cy="110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7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78">
            <a:extLst>
              <a:ext uri="{FF2B5EF4-FFF2-40B4-BE49-F238E27FC236}">
                <a16:creationId xmlns:a16="http://schemas.microsoft.com/office/drawing/2014/main" id="{245BDD13-F89B-0FD8-E47F-3B44BEB203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dirty="0">
              <a:ln>
                <a:solidFill>
                  <a:srgbClr val="7E8080">
                    <a:alpha val="0"/>
                  </a:srgbClr>
                </a:solidFill>
              </a:ln>
              <a:solidFill>
                <a:prstClr val="white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87909D8-AC58-648C-AA88-012FAA24E4F6}"/>
              </a:ext>
            </a:extLst>
          </p:cNvPr>
          <p:cNvGrpSpPr/>
          <p:nvPr userDrawn="1"/>
        </p:nvGrpSpPr>
        <p:grpSpPr>
          <a:xfrm>
            <a:off x="2654286" y="0"/>
            <a:ext cx="2267587" cy="6858000"/>
            <a:chOff x="3693325" y="0"/>
            <a:chExt cx="2267587" cy="685800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B2D29F-E2F4-EBC8-811F-3F3B24E8EE5A}"/>
                </a:ext>
              </a:extLst>
            </p:cNvPr>
            <p:cNvSpPr txBox="1"/>
            <p:nvPr/>
          </p:nvSpPr>
          <p:spPr>
            <a:xfrm>
              <a:off x="4128650" y="1659993"/>
              <a:ext cx="1832262" cy="26255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latinLnBrk="0"/>
              <a:r>
                <a:rPr lang="en-US" altLang="ko-KR" sz="24300" b="1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rgbClr val="EDEEF3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2</a:t>
              </a:r>
              <a:endParaRPr lang="ko-KR" altLang="en-US" sz="24300" b="1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rgbClr val="EDEEF3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BB83584-4E64-E743-F56D-F85171D605BC}"/>
                </a:ext>
              </a:extLst>
            </p:cNvPr>
            <p:cNvGrpSpPr/>
            <p:nvPr/>
          </p:nvGrpSpPr>
          <p:grpSpPr>
            <a:xfrm>
              <a:off x="3693325" y="0"/>
              <a:ext cx="825158" cy="6858000"/>
              <a:chOff x="364049" y="0"/>
              <a:chExt cx="849449" cy="6858000"/>
            </a:xfrm>
          </p:grpSpPr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21A9AC0E-C5FB-89A6-09B3-5C3D5F6D7638}"/>
                  </a:ext>
                </a:extLst>
              </p:cNvPr>
              <p:cNvSpPr/>
              <p:nvPr/>
            </p:nvSpPr>
            <p:spPr>
              <a:xfrm>
                <a:off x="364049" y="0"/>
                <a:ext cx="849449" cy="6858000"/>
              </a:xfrm>
              <a:prstGeom prst="rect">
                <a:avLst/>
              </a:prstGeom>
              <a:solidFill>
                <a:srgbClr val="F7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rgbClr val="F2F3F6"/>
                  </a:solidFill>
                </a:endParaRPr>
              </a:p>
            </p:txBody>
          </p: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1D94632A-AA4F-AB82-30E1-0297DBE86F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3498" y="0"/>
                <a:ext cx="0" cy="6857999"/>
              </a:xfrm>
              <a:prstGeom prst="line">
                <a:avLst/>
              </a:prstGeom>
              <a:ln>
                <a:solidFill>
                  <a:srgbClr val="DDE0E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1D78643-A629-14A0-8749-6F3478F6AC7A}"/>
              </a:ext>
            </a:extLst>
          </p:cNvPr>
          <p:cNvGrpSpPr/>
          <p:nvPr userDrawn="1"/>
        </p:nvGrpSpPr>
        <p:grpSpPr>
          <a:xfrm>
            <a:off x="176173" y="0"/>
            <a:ext cx="1846589" cy="6858000"/>
            <a:chOff x="176173" y="0"/>
            <a:chExt cx="1846589" cy="685800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C6BBB7B-15F6-01F4-F00D-0AC360EAA300}"/>
                </a:ext>
              </a:extLst>
            </p:cNvPr>
            <p:cNvSpPr txBox="1"/>
            <p:nvPr/>
          </p:nvSpPr>
          <p:spPr>
            <a:xfrm>
              <a:off x="190500" y="1659993"/>
              <a:ext cx="1832262" cy="26255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x-none"/>
              </a:defPPr>
              <a:lvl1pPr algn="ctr">
                <a:defRPr sz="24300" b="1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F2F3F6"/>
                  </a:solidFill>
                  <a:latin typeface="Noto Sans KR Black" panose="020B0A00000000000000" pitchFamily="34" charset="-127"/>
                  <a:ea typeface="Noto Sans KR Black" panose="020B0A00000000000000" pitchFamily="34" charset="-127"/>
                </a:defRPr>
              </a:lvl1pPr>
            </a:lstStyle>
            <a:p>
              <a:pPr latinLnBrk="0"/>
              <a:r>
                <a:rPr lang="en-US" altLang="ko-KR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rgbClr val="EDEEF3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1</a:t>
              </a:r>
              <a:endParaRPr lang="ko-KR" altLang="en-US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rgbClr val="EDEEF3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058629B-CC49-1F7B-3460-ADE0140683C1}"/>
                </a:ext>
              </a:extLst>
            </p:cNvPr>
            <p:cNvGrpSpPr/>
            <p:nvPr/>
          </p:nvGrpSpPr>
          <p:grpSpPr>
            <a:xfrm>
              <a:off x="176173" y="0"/>
              <a:ext cx="404159" cy="6858000"/>
              <a:chOff x="797441" y="0"/>
              <a:chExt cx="416057" cy="6858000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14B1EC8D-DD48-9E22-2F1C-04DEBC4D7325}"/>
                  </a:ext>
                </a:extLst>
              </p:cNvPr>
              <p:cNvSpPr/>
              <p:nvPr/>
            </p:nvSpPr>
            <p:spPr>
              <a:xfrm>
                <a:off x="797441" y="0"/>
                <a:ext cx="416057" cy="6858000"/>
              </a:xfrm>
              <a:prstGeom prst="rect">
                <a:avLst/>
              </a:prstGeom>
              <a:solidFill>
                <a:srgbClr val="F7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E71540C7-9B21-7072-7D30-4A9B25F3DE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3498" y="0"/>
                <a:ext cx="0" cy="6857999"/>
              </a:xfrm>
              <a:prstGeom prst="line">
                <a:avLst/>
              </a:prstGeom>
              <a:ln>
                <a:solidFill>
                  <a:srgbClr val="DDE0E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0DCF2ED-85EC-630D-4452-3A2F49D8014D}"/>
              </a:ext>
            </a:extLst>
          </p:cNvPr>
          <p:cNvGrpSpPr/>
          <p:nvPr userDrawn="1"/>
        </p:nvGrpSpPr>
        <p:grpSpPr>
          <a:xfrm>
            <a:off x="5553397" y="0"/>
            <a:ext cx="2267587" cy="6858000"/>
            <a:chOff x="7631475" y="0"/>
            <a:chExt cx="2267587" cy="685800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E894505-5BE5-8C2B-3875-51F4E670F7A6}"/>
                </a:ext>
              </a:extLst>
            </p:cNvPr>
            <p:cNvSpPr txBox="1"/>
            <p:nvPr/>
          </p:nvSpPr>
          <p:spPr>
            <a:xfrm>
              <a:off x="8066800" y="1659993"/>
              <a:ext cx="1832262" cy="26255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latinLnBrk="0"/>
              <a:r>
                <a:rPr lang="en-US" altLang="ko-KR" sz="24300" b="1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rgbClr val="EDEEF3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3</a:t>
              </a:r>
              <a:endParaRPr lang="ko-KR" altLang="en-US" sz="24300" b="1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rgbClr val="EDEEF3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D7A49013-F620-F785-496E-ECC1969DBBC5}"/>
                </a:ext>
              </a:extLst>
            </p:cNvPr>
            <p:cNvGrpSpPr/>
            <p:nvPr/>
          </p:nvGrpSpPr>
          <p:grpSpPr>
            <a:xfrm>
              <a:off x="7631475" y="0"/>
              <a:ext cx="825158" cy="6858000"/>
              <a:chOff x="364049" y="0"/>
              <a:chExt cx="849449" cy="6858000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DD8463CC-31BE-CD79-0536-6C96E2F591DB}"/>
                  </a:ext>
                </a:extLst>
              </p:cNvPr>
              <p:cNvSpPr/>
              <p:nvPr/>
            </p:nvSpPr>
            <p:spPr>
              <a:xfrm>
                <a:off x="364049" y="0"/>
                <a:ext cx="849449" cy="6858000"/>
              </a:xfrm>
              <a:prstGeom prst="rect">
                <a:avLst/>
              </a:prstGeom>
              <a:solidFill>
                <a:srgbClr val="F7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rgbClr val="F2F3F6"/>
                  </a:solidFill>
                </a:endParaRPr>
              </a:p>
            </p:txBody>
          </p: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363860B7-F132-0A24-7BF2-A49BF2B442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3498" y="0"/>
                <a:ext cx="0" cy="6857999"/>
              </a:xfrm>
              <a:prstGeom prst="line">
                <a:avLst/>
              </a:prstGeom>
              <a:ln>
                <a:solidFill>
                  <a:srgbClr val="DDE0E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53050236-6634-CCFF-D9CB-37F1CE38FB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8500" y="534881"/>
            <a:ext cx="761924" cy="25575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C4FF92C8-4A3C-96E0-2C96-91661F2DF016}"/>
              </a:ext>
            </a:extLst>
          </p:cNvPr>
          <p:cNvGrpSpPr/>
          <p:nvPr userDrawn="1"/>
        </p:nvGrpSpPr>
        <p:grpSpPr>
          <a:xfrm>
            <a:off x="8452508" y="0"/>
            <a:ext cx="2267587" cy="6858000"/>
            <a:chOff x="7631475" y="0"/>
            <a:chExt cx="2267587" cy="685800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39A0D06-70B4-BF15-7B17-69DBBB04423A}"/>
                </a:ext>
              </a:extLst>
            </p:cNvPr>
            <p:cNvSpPr txBox="1"/>
            <p:nvPr/>
          </p:nvSpPr>
          <p:spPr>
            <a:xfrm>
              <a:off x="8066800" y="1659993"/>
              <a:ext cx="1832262" cy="26255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latinLnBrk="0"/>
              <a:r>
                <a:rPr lang="en-US" altLang="ko-KR" sz="24300" b="1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rgbClr val="EDEEF3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4</a:t>
              </a:r>
              <a:endParaRPr lang="ko-KR" altLang="en-US" sz="24300" b="1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rgbClr val="EDEEF3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9734CA49-5C1F-6168-20A4-57BA712992FD}"/>
                </a:ext>
              </a:extLst>
            </p:cNvPr>
            <p:cNvGrpSpPr/>
            <p:nvPr/>
          </p:nvGrpSpPr>
          <p:grpSpPr>
            <a:xfrm>
              <a:off x="7631475" y="0"/>
              <a:ext cx="825158" cy="6858000"/>
              <a:chOff x="364049" y="0"/>
              <a:chExt cx="849449" cy="6858000"/>
            </a:xfrm>
          </p:grpSpPr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3B250AF5-D5E8-C6BD-F06D-3C9DB1D5D710}"/>
                  </a:ext>
                </a:extLst>
              </p:cNvPr>
              <p:cNvSpPr/>
              <p:nvPr/>
            </p:nvSpPr>
            <p:spPr>
              <a:xfrm>
                <a:off x="364049" y="0"/>
                <a:ext cx="849449" cy="6858000"/>
              </a:xfrm>
              <a:prstGeom prst="rect">
                <a:avLst/>
              </a:prstGeom>
              <a:solidFill>
                <a:srgbClr val="F7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rgbClr val="F2F3F6"/>
                  </a:solidFill>
                </a:endParaRPr>
              </a:p>
            </p:txBody>
          </p: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75DA80FA-4518-0E3B-79DF-A617271208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3498" y="0"/>
                <a:ext cx="0" cy="6857999"/>
              </a:xfrm>
              <a:prstGeom prst="line">
                <a:avLst/>
              </a:prstGeom>
              <a:ln>
                <a:solidFill>
                  <a:srgbClr val="DDE0E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00DFB621-7E53-EAA0-2C8D-4536281E55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6797" t="65417"/>
          <a:stretch/>
        </p:blipFill>
        <p:spPr>
          <a:xfrm>
            <a:off x="8143874" y="4486274"/>
            <a:ext cx="4048125" cy="2371725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5E441000-73E5-F94B-A8EE-7AC07117E0F1}"/>
              </a:ext>
            </a:extLst>
          </p:cNvPr>
          <p:cNvGrpSpPr/>
          <p:nvPr userDrawn="1"/>
        </p:nvGrpSpPr>
        <p:grpSpPr>
          <a:xfrm>
            <a:off x="580333" y="577011"/>
            <a:ext cx="2556705" cy="486079"/>
            <a:chOff x="580333" y="528971"/>
            <a:chExt cx="2556705" cy="486079"/>
          </a:xfrm>
        </p:grpSpPr>
        <p:cxnSp>
          <p:nvCxnSpPr>
            <p:cNvPr id="36" name="직선 연결선 98">
              <a:extLst>
                <a:ext uri="{FF2B5EF4-FFF2-40B4-BE49-F238E27FC236}">
                  <a16:creationId xmlns:a16="http://schemas.microsoft.com/office/drawing/2014/main" id="{92C5C83C-D1E5-2341-BFF9-963AAFE5CA7B}"/>
                </a:ext>
              </a:extLst>
            </p:cNvPr>
            <p:cNvCxnSpPr>
              <a:cxnSpLocks/>
            </p:cNvCxnSpPr>
            <p:nvPr/>
          </p:nvCxnSpPr>
          <p:spPr>
            <a:xfrm>
              <a:off x="580333" y="528971"/>
              <a:ext cx="0" cy="486079"/>
            </a:xfrm>
            <a:prstGeom prst="line">
              <a:avLst/>
            </a:prstGeom>
            <a:ln w="22225">
              <a:solidFill>
                <a:srgbClr val="ADB3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45D48122-A753-7441-97F7-E97C27165361}"/>
                </a:ext>
              </a:extLst>
            </p:cNvPr>
            <p:cNvGrpSpPr/>
            <p:nvPr/>
          </p:nvGrpSpPr>
          <p:grpSpPr>
            <a:xfrm>
              <a:off x="778179" y="552111"/>
              <a:ext cx="2358859" cy="460313"/>
              <a:chOff x="778179" y="552111"/>
              <a:chExt cx="2358859" cy="460313"/>
            </a:xfrm>
          </p:grpSpPr>
          <p:sp>
            <p:nvSpPr>
              <p:cNvPr id="38" name="텍스트 개체 틀 50">
                <a:extLst>
                  <a:ext uri="{FF2B5EF4-FFF2-40B4-BE49-F238E27FC236}">
                    <a16:creationId xmlns:a16="http://schemas.microsoft.com/office/drawing/2014/main" id="{4A0CAA3A-0B43-0148-835B-87E124D6B8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8179" y="552111"/>
                <a:ext cx="2358859" cy="249299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sp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lang="ko-KR" altLang="en-US" sz="2800" b="1" kern="1200" dirty="0" smtClean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rgbClr val="656E7D"/>
                    </a:solidFill>
                    <a:latin typeface="Lato" panose="020F0502020204030203" pitchFamily="34" charset="0"/>
                    <a:ea typeface="Noto Sans KR" panose="020B0500000000000000" pitchFamily="34" charset="-127"/>
                    <a:cs typeface="Lato" panose="020F0502020204030203" pitchFamily="34" charset="0"/>
                  </a:defRPr>
                </a:lvl1pPr>
                <a:lvl2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2pPr>
                <a:lvl3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3pPr>
                <a:lvl4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4pPr>
                <a:lvl5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1800">
                    <a:ln>
                      <a:solidFill>
                        <a:prstClr val="black">
                          <a:lumMod val="65000"/>
                          <a:lumOff val="35000"/>
                          <a:alpha val="0"/>
                        </a:prstClr>
                      </a:solidFill>
                    </a:ln>
                    <a:ea typeface="에스코어 드림 4 Regular" panose="020B0503030302020204" pitchFamily="34" charset="-127"/>
                  </a:rPr>
                  <a:t>CONTENTS</a:t>
                </a:r>
                <a:endParaRPr lang="en-US" sz="1800">
                  <a:ln>
                    <a:solidFill>
                      <a:prstClr val="black">
                        <a:lumMod val="65000"/>
                        <a:lumOff val="35000"/>
                        <a:alpha val="0"/>
                      </a:prstClr>
                    </a:solidFill>
                  </a:ln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39" name="텍스트 개체 틀 50">
                <a:extLst>
                  <a:ext uri="{FF2B5EF4-FFF2-40B4-BE49-F238E27FC236}">
                    <a16:creationId xmlns:a16="http://schemas.microsoft.com/office/drawing/2014/main" id="{2888E111-E0B0-FB4D-95E1-228F36F45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9637" y="846225"/>
                <a:ext cx="1850859" cy="166199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sp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lang="ko-KR" altLang="en-US" sz="1400" b="0" kern="1200" dirty="0" smtClean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rgbClr val="9E0B28"/>
                    </a:solidFill>
                    <a:latin typeface="Noto Sans KR" panose="020B0500000000000000" pitchFamily="34" charset="-127"/>
                    <a:ea typeface="Noto Sans KR" panose="020B0500000000000000" pitchFamily="34" charset="-127"/>
                    <a:cs typeface="+mn-cs"/>
                  </a:defRPr>
                </a:lvl1pPr>
                <a:lvl2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2pPr>
                <a:lvl3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3pPr>
                <a:lvl4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4pPr>
                <a:lvl5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sz="1200" b="1">
                    <a:ln>
                      <a:solidFill>
                        <a:prstClr val="black">
                          <a:lumMod val="65000"/>
                          <a:lumOff val="35000"/>
                          <a:alpha val="0"/>
                        </a:prstClr>
                      </a:solidFill>
                    </a:ln>
                    <a:solidFill>
                      <a:srgbClr val="ADB3B9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목차</a:t>
                </a:r>
              </a:p>
            </p:txBody>
          </p:sp>
        </p:grp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8AF8B2EB-B16A-D188-F3CB-7EBE75424C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76774" b="71415"/>
          <a:stretch/>
        </p:blipFill>
        <p:spPr>
          <a:xfrm flipH="1">
            <a:off x="0" y="0"/>
            <a:ext cx="1595955" cy="110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02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B5353E19-9A77-2F46-BA99-308B7F95FC3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dirty="0">
              <a:ln>
                <a:solidFill>
                  <a:srgbClr val="7E8080">
                    <a:alpha val="0"/>
                  </a:srgbClr>
                </a:solidFill>
              </a:ln>
              <a:solidFill>
                <a:prstClr val="white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71540C7-9B21-7072-7D30-4A9B25F3DEFD}"/>
              </a:ext>
            </a:extLst>
          </p:cNvPr>
          <p:cNvCxnSpPr>
            <a:cxnSpLocks/>
          </p:cNvCxnSpPr>
          <p:nvPr/>
        </p:nvCxnSpPr>
        <p:spPr>
          <a:xfrm>
            <a:off x="1957021" y="0"/>
            <a:ext cx="0" cy="6857999"/>
          </a:xfrm>
          <a:prstGeom prst="line">
            <a:avLst/>
          </a:prstGeom>
          <a:ln>
            <a:solidFill>
              <a:srgbClr val="DD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그림 34">
            <a:extLst>
              <a:ext uri="{FF2B5EF4-FFF2-40B4-BE49-F238E27FC236}">
                <a16:creationId xmlns:a16="http://schemas.microsoft.com/office/drawing/2014/main" id="{53050236-6634-CCFF-D9CB-37F1CE38FB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8500" y="534881"/>
            <a:ext cx="761924" cy="25575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0DFB621-7E53-EAA0-2C8D-4536281E55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6797" t="65417"/>
          <a:stretch/>
        </p:blipFill>
        <p:spPr>
          <a:xfrm>
            <a:off x="8143874" y="4486274"/>
            <a:ext cx="4048125" cy="2371725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67E9C3D6-50B9-C8A6-FD14-3D4F01A3BEE4}"/>
              </a:ext>
            </a:extLst>
          </p:cNvPr>
          <p:cNvGrpSpPr/>
          <p:nvPr userDrawn="1"/>
        </p:nvGrpSpPr>
        <p:grpSpPr>
          <a:xfrm>
            <a:off x="1957022" y="577011"/>
            <a:ext cx="2556705" cy="486079"/>
            <a:chOff x="580333" y="528971"/>
            <a:chExt cx="2556705" cy="48607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48AB41A-3A8D-3305-CDC9-D71315ECCC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0333" y="528971"/>
              <a:ext cx="0" cy="486079"/>
            </a:xfrm>
            <a:prstGeom prst="line">
              <a:avLst/>
            </a:prstGeom>
            <a:ln w="22225">
              <a:solidFill>
                <a:srgbClr val="ADB3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9BE4AC9D-8A35-41E0-2D52-7B074BC7E02E}"/>
                </a:ext>
              </a:extLst>
            </p:cNvPr>
            <p:cNvGrpSpPr/>
            <p:nvPr userDrawn="1"/>
          </p:nvGrpSpPr>
          <p:grpSpPr>
            <a:xfrm>
              <a:off x="778179" y="552111"/>
              <a:ext cx="2358859" cy="460313"/>
              <a:chOff x="778179" y="552111"/>
              <a:chExt cx="2358859" cy="460313"/>
            </a:xfrm>
          </p:grpSpPr>
          <p:sp>
            <p:nvSpPr>
              <p:cNvPr id="13" name="텍스트 개체 틀 50">
                <a:extLst>
                  <a:ext uri="{FF2B5EF4-FFF2-40B4-BE49-F238E27FC236}">
                    <a16:creationId xmlns:a16="http://schemas.microsoft.com/office/drawing/2014/main" id="{E6BC6373-0B96-C375-65C3-AA37D5EDEC59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778179" y="552111"/>
                <a:ext cx="2358859" cy="249299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sp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lang="ko-KR" altLang="en-US" sz="2800" b="1" kern="1200" dirty="0" smtClean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rgbClr val="656E7D"/>
                    </a:solidFill>
                    <a:latin typeface="Lato" panose="020F0502020204030203" pitchFamily="34" charset="0"/>
                    <a:ea typeface="Noto Sans KR" panose="020B0500000000000000" pitchFamily="34" charset="-127"/>
                    <a:cs typeface="Lato" panose="020F0502020204030203" pitchFamily="34" charset="0"/>
                  </a:defRPr>
                </a:lvl1pPr>
                <a:lvl2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2pPr>
                <a:lvl3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3pPr>
                <a:lvl4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4pPr>
                <a:lvl5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1800">
                    <a:ln>
                      <a:solidFill>
                        <a:prstClr val="black">
                          <a:lumMod val="65000"/>
                          <a:lumOff val="35000"/>
                          <a:alpha val="0"/>
                        </a:prstClr>
                      </a:solidFill>
                    </a:ln>
                    <a:ea typeface="에스코어 드림 4 Regular" panose="020B0503030302020204" pitchFamily="34" charset="-127"/>
                  </a:rPr>
                  <a:t>CONTENTS</a:t>
                </a:r>
                <a:endParaRPr lang="en-US" sz="1800">
                  <a:ln>
                    <a:solidFill>
                      <a:prstClr val="black">
                        <a:lumMod val="65000"/>
                        <a:lumOff val="35000"/>
                        <a:alpha val="0"/>
                      </a:prstClr>
                    </a:solidFill>
                  </a:ln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15" name="텍스트 개체 틀 50">
                <a:extLst>
                  <a:ext uri="{FF2B5EF4-FFF2-40B4-BE49-F238E27FC236}">
                    <a16:creationId xmlns:a16="http://schemas.microsoft.com/office/drawing/2014/main" id="{9A796C0F-2BE7-9B8E-EA76-6CB06F80E49E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789637" y="846225"/>
                <a:ext cx="1850859" cy="166199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sp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lang="ko-KR" altLang="en-US" sz="1400" b="0" kern="1200" dirty="0" smtClean="0">
                    <a:ln>
                      <a:solidFill>
                        <a:schemeClr val="tx1">
                          <a:lumMod val="65000"/>
                          <a:lumOff val="35000"/>
                          <a:alpha val="0"/>
                        </a:schemeClr>
                      </a:solidFill>
                    </a:ln>
                    <a:solidFill>
                      <a:srgbClr val="9E0B28"/>
                    </a:solidFill>
                    <a:latin typeface="Noto Sans KR" panose="020B0500000000000000" pitchFamily="34" charset="-127"/>
                    <a:ea typeface="Noto Sans KR" panose="020B0500000000000000" pitchFamily="34" charset="-127"/>
                    <a:cs typeface="+mn-cs"/>
                  </a:defRPr>
                </a:lvl1pPr>
                <a:lvl2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2pPr>
                <a:lvl3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3pPr>
                <a:lvl4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 smtClean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4pPr>
                <a:lvl5pPr marL="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lang="ko-KR" altLang="en-US" sz="800" kern="1200" dirty="0">
                    <a:ln>
                      <a:solidFill>
                        <a:srgbClr val="656E7D">
                          <a:alpha val="0"/>
                        </a:srgbClr>
                      </a:solidFill>
                    </a:ln>
                    <a:solidFill>
                      <a:srgbClr val="4E4F4F"/>
                    </a:solidFill>
                    <a:latin typeface="Noto Sans CJK KR Regular" panose="020B0500000000000000" pitchFamily="34" charset="-128"/>
                    <a:ea typeface="Noto Sans CJK KR Regular" panose="020B0500000000000000" pitchFamily="34" charset="-128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sz="1200" b="1">
                    <a:ln>
                      <a:solidFill>
                        <a:prstClr val="black">
                          <a:lumMod val="65000"/>
                          <a:lumOff val="35000"/>
                          <a:alpha val="0"/>
                        </a:prstClr>
                      </a:solidFill>
                    </a:ln>
                    <a:solidFill>
                      <a:srgbClr val="ADB3B9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목차</a:t>
                </a:r>
              </a:p>
            </p:txBody>
          </p:sp>
        </p:grp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8AF8B2EB-B16A-D188-F3CB-7EBE75424C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76774" b="71415"/>
          <a:stretch/>
        </p:blipFill>
        <p:spPr>
          <a:xfrm flipH="1">
            <a:off x="-1" y="0"/>
            <a:ext cx="1595955" cy="1104899"/>
          </a:xfrm>
          <a:prstGeom prst="rect">
            <a:avLst/>
          </a:prstGeom>
        </p:spPr>
      </p:pic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FA00113D-8854-FA14-96F7-C44C09C26844}"/>
              </a:ext>
            </a:extLst>
          </p:cNvPr>
          <p:cNvCxnSpPr>
            <a:cxnSpLocks/>
          </p:cNvCxnSpPr>
          <p:nvPr/>
        </p:nvCxnSpPr>
        <p:spPr>
          <a:xfrm>
            <a:off x="6772960" y="1895474"/>
            <a:ext cx="0" cy="4962524"/>
          </a:xfrm>
          <a:prstGeom prst="line">
            <a:avLst/>
          </a:prstGeom>
          <a:ln>
            <a:solidFill>
              <a:srgbClr val="DD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528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5125F54-6783-D642-BC62-8D24664B3E1B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dirty="0">
              <a:ln>
                <a:solidFill>
                  <a:srgbClr val="7E8080">
                    <a:alpha val="0"/>
                  </a:srgbClr>
                </a:solidFill>
              </a:ln>
              <a:solidFill>
                <a:prstClr val="white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72065E-BC44-B14F-93F4-4C5792C6B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6774" b="71415"/>
          <a:stretch/>
        </p:blipFill>
        <p:spPr>
          <a:xfrm flipH="1">
            <a:off x="-1" y="0"/>
            <a:ext cx="1595955" cy="11048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1E3C8D8-1C3B-2348-BBBE-2A7BA667F1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6797" t="65417"/>
          <a:stretch/>
        </p:blipFill>
        <p:spPr>
          <a:xfrm>
            <a:off x="9374359" y="5207193"/>
            <a:ext cx="2817639" cy="165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44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하단 대제목 수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70448A0-30FC-D54C-078E-075B9B01B909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231814"/>
            <a:ext cx="12191999" cy="0"/>
          </a:xfrm>
          <a:prstGeom prst="line">
            <a:avLst/>
          </a:prstGeom>
          <a:ln>
            <a:solidFill>
              <a:srgbClr val="DD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64E376-B9E3-E14A-BEEB-3D128A87DD6D}"/>
              </a:ext>
            </a:extLst>
          </p:cNvPr>
          <p:cNvSpPr/>
          <p:nvPr userDrawn="1"/>
        </p:nvSpPr>
        <p:spPr>
          <a:xfrm flipH="1">
            <a:off x="-2" y="-4"/>
            <a:ext cx="12192002" cy="54000"/>
          </a:xfrm>
          <a:prstGeom prst="rect">
            <a:avLst/>
          </a:prstGeom>
          <a:solidFill>
            <a:srgbClr val="656E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latinLnBrk="0"/>
            <a:endParaRPr lang="ko-KR" altLang="en-US" dirty="0">
              <a:ln>
                <a:solidFill>
                  <a:prstClr val="black">
                    <a:lumMod val="65000"/>
                    <a:lumOff val="3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  <p:cxnSp>
        <p:nvCxnSpPr>
          <p:cNvPr id="13" name="직선 연결선 9">
            <a:extLst>
              <a:ext uri="{FF2B5EF4-FFF2-40B4-BE49-F238E27FC236}">
                <a16:creationId xmlns:a16="http://schemas.microsoft.com/office/drawing/2014/main" id="{EEC9624A-2A6A-6849-B9E9-9FB475852BBC}"/>
              </a:ext>
            </a:extLst>
          </p:cNvPr>
          <p:cNvCxnSpPr>
            <a:cxnSpLocks/>
          </p:cNvCxnSpPr>
          <p:nvPr userDrawn="1"/>
        </p:nvCxnSpPr>
        <p:spPr>
          <a:xfrm flipH="1">
            <a:off x="5712543" y="6231815"/>
            <a:ext cx="766914" cy="0"/>
          </a:xfrm>
          <a:prstGeom prst="line">
            <a:avLst/>
          </a:prstGeom>
          <a:ln w="22225">
            <a:solidFill>
              <a:srgbClr val="ADB3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05C5F8EB-8389-3544-A205-74CB1A11A6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356235" y="6379590"/>
            <a:ext cx="773724" cy="279659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10077994" y="6413027"/>
            <a:ext cx="14369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>
                <a:ln>
                  <a:solidFill>
                    <a:prstClr val="black">
                      <a:lumMod val="65000"/>
                      <a:lumOff val="35000"/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Novo Nordisk &amp; </a:t>
            </a:r>
            <a:r>
              <a:rPr lang="en-US" altLang="ko-KR" sz="800" b="1" dirty="0" err="1">
                <a:ln>
                  <a:solidFill>
                    <a:prstClr val="black">
                      <a:lumMod val="65000"/>
                      <a:lumOff val="35000"/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InBody</a:t>
            </a:r>
            <a:endParaRPr lang="ko-KR" altLang="en-US" sz="800" b="1" dirty="0">
              <a:ln>
                <a:solidFill>
                  <a:prstClr val="black">
                    <a:lumMod val="65000"/>
                    <a:lumOff val="35000"/>
                    <a:alpha val="0"/>
                  </a:prst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5857046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10968246" y="6372732"/>
            <a:ext cx="913984" cy="310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fld id="{B4A18C89-3B7D-45E6-B15F-3229B5508142}" type="slidenum">
              <a:rPr lang="en-US" altLang="ko-KR" sz="900" smtClean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pPr algn="ctr" latinLnBrk="0"/>
              <a:t>‹#›</a:t>
            </a:fld>
            <a:r>
              <a:rPr lang="en-US" altLang="ko-KR" sz="70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/25</a:t>
            </a:r>
            <a:endParaRPr lang="ko-KR" altLang="en-US" sz="60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943725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656E7D"/>
                </a:solidFill>
              </a:defRPr>
            </a:lvl1pPr>
          </a:lstStyle>
          <a:p>
            <a:pPr marL="228600" indent="-228600" algn="r" latinLnBrk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ko-KR" b="1" dirty="0">
                <a:ln>
                  <a:solidFill>
                    <a:prstClr val="black">
                      <a:lumMod val="65000"/>
                      <a:lumOff val="35000"/>
                      <a:alpha val="0"/>
                    </a:prst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Novo Nordisk &amp; </a:t>
            </a:r>
            <a:r>
              <a:rPr lang="en-US" altLang="ko-KR" b="1" dirty="0" err="1">
                <a:ln>
                  <a:solidFill>
                    <a:prstClr val="black">
                      <a:lumMod val="65000"/>
                      <a:lumOff val="35000"/>
                      <a:alpha val="0"/>
                    </a:prst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InBody</a:t>
            </a:r>
            <a:endParaRPr lang="ko-KR" altLang="en-US" b="1" dirty="0">
              <a:ln>
                <a:solidFill>
                  <a:prstClr val="black">
                    <a:lumMod val="65000"/>
                    <a:lumOff val="35000"/>
                    <a:alpha val="0"/>
                  </a:prst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097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91">
          <p15:clr>
            <a:srgbClr val="F26B43"/>
          </p15:clr>
        </p15:guide>
        <p15:guide id="3" pos="3840">
          <p15:clr>
            <a:srgbClr val="F26B43"/>
          </p15:clr>
        </p15:guide>
        <p15:guide id="4" pos="4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emf"/><Relationship Id="rId4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jpeg"/><Relationship Id="rId5" Type="http://schemas.openxmlformats.org/officeDocument/2006/relationships/image" Target="../media/image39.png"/><Relationship Id="rId4" Type="http://schemas.openxmlformats.org/officeDocument/2006/relationships/image" Target="../media/image29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18E6117-6E32-FE6E-86EC-C36AB1E3DA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61828" y="5733355"/>
            <a:ext cx="2221319" cy="258532"/>
          </a:xfrm>
        </p:spPr>
        <p:txBody>
          <a:bodyPr/>
          <a:lstStyle/>
          <a:p>
            <a:r>
              <a:rPr lang="en-US" altLang="ko-KR" sz="1200" dirty="0">
                <a:latin typeface="Lato Black"/>
              </a:rPr>
              <a:t>Haemin CHOI</a:t>
            </a:r>
            <a:endParaRPr lang="ko-KR" altLang="en-US" sz="1200" dirty="0">
              <a:latin typeface="Lato Black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6F5417-D4C7-7728-6D6B-DA36AB790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1739" y="5996334"/>
            <a:ext cx="1707986" cy="314659"/>
          </a:xfrm>
        </p:spPr>
        <p:txBody>
          <a:bodyPr/>
          <a:lstStyle/>
          <a:p>
            <a:r>
              <a:rPr lang="en-US" altLang="ko-KR" sz="1400" dirty="0" err="1"/>
              <a:t>InBody</a:t>
            </a:r>
            <a:r>
              <a:rPr lang="en-US" altLang="ko-KR" sz="1400" dirty="0"/>
              <a:t> HQ</a:t>
            </a:r>
            <a:endParaRPr lang="ko-KR" altLang="en-US" sz="14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CA2EDD0-D101-1ED9-3BFD-12C28B1916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61739" y="1957311"/>
            <a:ext cx="8909247" cy="1419525"/>
          </a:xfrm>
        </p:spPr>
        <p:txBody>
          <a:bodyPr/>
          <a:lstStyle/>
          <a:p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GLP-1 &amp; </a:t>
            </a:r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InBody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Case Studies and Insights from Korea</a:t>
            </a:r>
            <a:endParaRPr lang="ko-KR" altLang="en-US" sz="3600" dirty="0">
              <a:solidFill>
                <a:srgbClr val="3A3A38"/>
              </a:solidFill>
            </a:endParaRPr>
          </a:p>
        </p:txBody>
      </p:sp>
      <p:sp>
        <p:nvSpPr>
          <p:cNvPr id="6" name="텍스트 개체 틀 6"/>
          <p:cNvSpPr>
            <a:spLocks noGrp="1"/>
          </p:cNvSpPr>
          <p:nvPr>
            <p:ph type="body" sz="quarter" idx="16"/>
          </p:nvPr>
        </p:nvSpPr>
        <p:spPr>
          <a:xfrm>
            <a:off x="1059707" y="3376836"/>
            <a:ext cx="2919022" cy="386395"/>
          </a:xfrm>
        </p:spPr>
        <p:txBody>
          <a:bodyPr/>
          <a:lstStyle/>
          <a:p>
            <a:r>
              <a:rPr lang="en-US" altLang="ko-KR" dirty="0" err="1">
                <a:latin typeface="+mn-lt"/>
              </a:rPr>
              <a:t>InBody</a:t>
            </a:r>
            <a:r>
              <a:rPr lang="en-US" altLang="ko-KR" dirty="0">
                <a:latin typeface="+mn-lt"/>
              </a:rPr>
              <a:t> Medical</a:t>
            </a:r>
            <a:endParaRPr lang="ko-KR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513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B2BFAAC-B549-554B-9FCC-EE2D28018778}"/>
              </a:ext>
            </a:extLst>
          </p:cNvPr>
          <p:cNvGrpSpPr/>
          <p:nvPr/>
        </p:nvGrpSpPr>
        <p:grpSpPr>
          <a:xfrm>
            <a:off x="4477455" y="1917341"/>
            <a:ext cx="3385871" cy="3651436"/>
            <a:chOff x="4477455" y="1917341"/>
            <a:chExt cx="3385871" cy="3651436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2802A08-6DC4-6F0C-5D32-FF21F0687745}"/>
                </a:ext>
              </a:extLst>
            </p:cNvPr>
            <p:cNvGrpSpPr/>
            <p:nvPr/>
          </p:nvGrpSpPr>
          <p:grpSpPr>
            <a:xfrm>
              <a:off x="4611935" y="4199168"/>
              <a:ext cx="2703035" cy="1369609"/>
              <a:chOff x="1041815" y="4856172"/>
              <a:chExt cx="2038518" cy="1369609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67D25B-2B65-EDF6-6DC5-C8DA2C46B3FD}"/>
                  </a:ext>
                </a:extLst>
              </p:cNvPr>
              <p:cNvSpPr txBox="1"/>
              <p:nvPr/>
            </p:nvSpPr>
            <p:spPr>
              <a:xfrm>
                <a:off x="1041815" y="4856172"/>
                <a:ext cx="441325" cy="131194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atinLnBrk="0">
                  <a:spcBef>
                    <a:spcPts val="800"/>
                  </a:spcBef>
                </a:pPr>
                <a:r>
                  <a:rPr lang="en-US" altLang="ko-KR" sz="1050" b="1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01</a:t>
                </a:r>
              </a:p>
              <a:p>
                <a:pPr latinLnBrk="0">
                  <a:spcBef>
                    <a:spcPts val="800"/>
                  </a:spcBef>
                </a:pPr>
                <a:r>
                  <a:rPr lang="en-US" altLang="ko-KR" sz="1050" b="1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02</a:t>
                </a:r>
              </a:p>
              <a:p>
                <a:pPr latinLnBrk="0">
                  <a:spcBef>
                    <a:spcPts val="800"/>
                  </a:spcBef>
                </a:pPr>
                <a:r>
                  <a:rPr lang="en-US" altLang="ko-KR" sz="1050" b="1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03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770E1CA-6EF7-733C-CD09-206028653D80}"/>
                  </a:ext>
                </a:extLst>
              </p:cNvPr>
              <p:cNvSpPr txBox="1"/>
              <p:nvPr/>
            </p:nvSpPr>
            <p:spPr>
              <a:xfrm>
                <a:off x="1233348" y="4856172"/>
                <a:ext cx="1846985" cy="136960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atinLnBrk="0">
                  <a:spcBef>
                    <a:spcPts val="800"/>
                  </a:spcBef>
                </a:pPr>
                <a:r>
                  <a:rPr lang="en-US" altLang="ko-KR" sz="1050" spc="-30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ea typeface="에스코어 드림 4 Regular" panose="020B0503030302020204" pitchFamily="34" charset="-127"/>
                  </a:rPr>
                  <a:t>Common Patient Type</a:t>
                </a:r>
              </a:p>
              <a:p>
                <a:pPr latinLnBrk="0">
                  <a:spcBef>
                    <a:spcPts val="800"/>
                  </a:spcBef>
                </a:pPr>
                <a:r>
                  <a:rPr lang="en-US" altLang="ko-KR" sz="1050" spc="-30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ea typeface="에스코어 드림 4 Regular" panose="020B0503030302020204" pitchFamily="34" charset="-127"/>
                  </a:rPr>
                  <a:t>Edema &amp; Phase Angle Improvement</a:t>
                </a:r>
              </a:p>
              <a:p>
                <a:pPr latinLnBrk="0">
                  <a:spcBef>
                    <a:spcPts val="800"/>
                  </a:spcBef>
                </a:pPr>
                <a:r>
                  <a:rPr lang="en-US" altLang="ko-KR" sz="1050" spc="-30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ea typeface="에스코어 드림 4 Regular" panose="020B0503030302020204" pitchFamily="34" charset="-127"/>
                  </a:rPr>
                  <a:t>Diabetic Patient</a:t>
                </a: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0FCE52FD-8FED-CB76-4229-4385EABA342A}"/>
                </a:ext>
              </a:extLst>
            </p:cNvPr>
            <p:cNvGrpSpPr/>
            <p:nvPr/>
          </p:nvGrpSpPr>
          <p:grpSpPr>
            <a:xfrm>
              <a:off x="4477455" y="1917341"/>
              <a:ext cx="3385871" cy="1000845"/>
              <a:chOff x="4477455" y="1917341"/>
              <a:chExt cx="3385871" cy="1000845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EBF9FB23-A03B-A8EC-D689-AB18F18045D4}"/>
                  </a:ext>
                </a:extLst>
              </p:cNvPr>
              <p:cNvGrpSpPr/>
              <p:nvPr/>
            </p:nvGrpSpPr>
            <p:grpSpPr>
              <a:xfrm>
                <a:off x="4594544" y="1917341"/>
                <a:ext cx="3268782" cy="1000845"/>
                <a:chOff x="4594544" y="1917341"/>
                <a:chExt cx="3268782" cy="1000845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742DECA-2366-6C50-212F-57249D1607BC}"/>
                    </a:ext>
                  </a:extLst>
                </p:cNvPr>
                <p:cNvSpPr txBox="1"/>
                <p:nvPr/>
              </p:nvSpPr>
              <p:spPr>
                <a:xfrm>
                  <a:off x="4594544" y="2240284"/>
                  <a:ext cx="326878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:r>
                    <a:rPr kumimoji="1" lang="en-US" altLang="ko-KR" sz="2000" dirty="0">
                      <a:ln>
                        <a:solidFill>
                          <a:prstClr val="black">
                            <a:lumMod val="95000"/>
                            <a:lumOff val="5000"/>
                            <a:alpha val="0"/>
                          </a:prstClr>
                        </a:solidFill>
                      </a:ln>
                      <a:solidFill>
                        <a:srgbClr val="3C3C3A"/>
                      </a:solidFill>
                      <a:latin typeface="+mj-lt"/>
                      <a:ea typeface="Arial Unicode MS" panose="020B0604020202020204" pitchFamily="50" charset="-127"/>
                    </a:rPr>
                    <a:t>Case Studies</a:t>
                  </a:r>
                  <a:endParaRPr kumimoji="1" lang="ko-KR" altLang="en-US" sz="2000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latin typeface="+mj-lt"/>
                    <a:ea typeface="Arial Unicode MS" panose="020B0604020202020204" pitchFamily="50" charset="-127"/>
                  </a:endParaRP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DC7C73C-3E5F-8CE0-1058-4BE955051D06}"/>
                    </a:ext>
                  </a:extLst>
                </p:cNvPr>
                <p:cNvSpPr txBox="1"/>
                <p:nvPr/>
              </p:nvSpPr>
              <p:spPr>
                <a:xfrm>
                  <a:off x="4594545" y="1917341"/>
                  <a:ext cx="12783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:r>
                    <a:rPr lang="en-US" altLang="ko-KR" b="1" dirty="0">
                      <a:ln>
                        <a:solidFill>
                          <a:prstClr val="black">
                            <a:lumMod val="95000"/>
                            <a:lumOff val="5000"/>
                            <a:alpha val="0"/>
                          </a:prstClr>
                        </a:solidFill>
                      </a:ln>
                      <a:solidFill>
                        <a:srgbClr val="9E0B28"/>
                      </a:solidFill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Part</a:t>
                  </a:r>
                  <a:r>
                    <a:rPr lang="ko-KR" altLang="en-US" b="1" dirty="0">
                      <a:ln>
                        <a:solidFill>
                          <a:prstClr val="black">
                            <a:lumMod val="95000"/>
                            <a:lumOff val="5000"/>
                            <a:alpha val="0"/>
                          </a:prstClr>
                        </a:solidFill>
                      </a:ln>
                      <a:solidFill>
                        <a:srgbClr val="9E0B28"/>
                      </a:solidFill>
                      <a:latin typeface="Lato Black" panose="020F0502020204030203" pitchFamily="34" charset="0"/>
                      <a:cs typeface="Lato Black" panose="020F0502020204030203" pitchFamily="34" charset="0"/>
                    </a:rPr>
                    <a:t> </a:t>
                  </a:r>
                  <a:r>
                    <a:rPr lang="en-US" altLang="ko-KR" b="1" dirty="0">
                      <a:ln>
                        <a:solidFill>
                          <a:prstClr val="black">
                            <a:lumMod val="95000"/>
                            <a:lumOff val="5000"/>
                            <a:alpha val="0"/>
                          </a:prstClr>
                        </a:solidFill>
                      </a:ln>
                      <a:solidFill>
                        <a:srgbClr val="9E0B28"/>
                      </a:solidFill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2</a:t>
                  </a:r>
                  <a:endParaRPr lang="ko-KR" altLang="en-US" b="1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9E0B28"/>
                    </a:solidFill>
                    <a:latin typeface="Lato Black" panose="020F0502020204030203" pitchFamily="34" charset="0"/>
                    <a:cs typeface="Lato Black" panose="020F0502020204030203" pitchFamily="34" charset="0"/>
                  </a:endParaRPr>
                </a:p>
              </p:txBody>
            </p:sp>
            <p:grpSp>
              <p:nvGrpSpPr>
                <p:cNvPr id="9" name="그룹 8">
                  <a:extLst>
                    <a:ext uri="{FF2B5EF4-FFF2-40B4-BE49-F238E27FC236}">
                      <a16:creationId xmlns:a16="http://schemas.microsoft.com/office/drawing/2014/main" id="{4CF7FC65-B6B1-A7C2-617E-AB2CB95DC449}"/>
                    </a:ext>
                  </a:extLst>
                </p:cNvPr>
                <p:cNvGrpSpPr/>
                <p:nvPr/>
              </p:nvGrpSpPr>
              <p:grpSpPr>
                <a:xfrm>
                  <a:off x="4703588" y="2872467"/>
                  <a:ext cx="503074" cy="45719"/>
                  <a:chOff x="1221807" y="5777767"/>
                  <a:chExt cx="374797" cy="30841"/>
                </a:xfrm>
              </p:grpSpPr>
              <p:cxnSp>
                <p:nvCxnSpPr>
                  <p:cNvPr id="10" name="직선 연결선 9">
                    <a:extLst>
                      <a:ext uri="{FF2B5EF4-FFF2-40B4-BE49-F238E27FC236}">
                        <a16:creationId xmlns:a16="http://schemas.microsoft.com/office/drawing/2014/main" id="{F6F8732E-6952-F64D-3DE7-215D0D6176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21807" y="5808608"/>
                    <a:ext cx="372416" cy="0"/>
                  </a:xfrm>
                  <a:prstGeom prst="line">
                    <a:avLst/>
                  </a:prstGeom>
                  <a:ln w="12700" cap="rnd">
                    <a:solidFill>
                      <a:srgbClr val="3C3C3A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직선 연결선 10">
                    <a:extLst>
                      <a:ext uri="{FF2B5EF4-FFF2-40B4-BE49-F238E27FC236}">
                        <a16:creationId xmlns:a16="http://schemas.microsoft.com/office/drawing/2014/main" id="{E62E54A5-55A0-538A-961B-017A05686C65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1567882" y="5777767"/>
                    <a:ext cx="28722" cy="29314"/>
                  </a:xfrm>
                  <a:prstGeom prst="line">
                    <a:avLst/>
                  </a:prstGeom>
                  <a:ln w="12700" cap="rnd">
                    <a:solidFill>
                      <a:srgbClr val="3C3C3A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A9E004C6-BD81-2303-25BA-F537F6E16FA4}"/>
                  </a:ext>
                </a:extLst>
              </p:cNvPr>
              <p:cNvSpPr/>
              <p:nvPr/>
            </p:nvSpPr>
            <p:spPr>
              <a:xfrm flipH="1">
                <a:off x="4477455" y="2059303"/>
                <a:ext cx="79058" cy="79058"/>
              </a:xfrm>
              <a:prstGeom prst="ellipse">
                <a:avLst/>
              </a:prstGeom>
              <a:solidFill>
                <a:srgbClr val="9E0B28"/>
              </a:solidFill>
              <a:ln>
                <a:solidFill>
                  <a:srgbClr val="9E0B2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latinLnBrk="0"/>
                <a:endParaRPr lang="ko-KR" altLang="en-US" dirty="0">
                  <a:ln>
                    <a:solidFill>
                      <a:prstClr val="black">
                        <a:lumMod val="65000"/>
                        <a:lumOff val="35000"/>
                        <a:alpha val="0"/>
                      </a:prstClr>
                    </a:solidFill>
                  </a:ln>
                  <a:solidFill>
                    <a:srgbClr val="F2F3F6"/>
                  </a:solidFill>
                </a:endParaRP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D2E825A-A032-8029-A5E6-A658B634442B}"/>
              </a:ext>
            </a:extLst>
          </p:cNvPr>
          <p:cNvGrpSpPr/>
          <p:nvPr/>
        </p:nvGrpSpPr>
        <p:grpSpPr>
          <a:xfrm>
            <a:off x="545756" y="1917341"/>
            <a:ext cx="3379420" cy="3041010"/>
            <a:chOff x="545756" y="1917341"/>
            <a:chExt cx="3379420" cy="3041010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D65269B5-076C-BEE7-167D-ED69CAF9EDA5}"/>
                </a:ext>
              </a:extLst>
            </p:cNvPr>
            <p:cNvGrpSpPr/>
            <p:nvPr/>
          </p:nvGrpSpPr>
          <p:grpSpPr>
            <a:xfrm>
              <a:off x="673785" y="4199169"/>
              <a:ext cx="2703035" cy="759182"/>
              <a:chOff x="1041815" y="4856173"/>
              <a:chExt cx="2038518" cy="759182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B093358-9CDA-1600-73DC-EA699A9B85CB}"/>
                  </a:ext>
                </a:extLst>
              </p:cNvPr>
              <p:cNvSpPr txBox="1"/>
              <p:nvPr/>
            </p:nvSpPr>
            <p:spPr>
              <a:xfrm>
                <a:off x="1041815" y="4856173"/>
                <a:ext cx="441325" cy="75918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atinLnBrk="0">
                  <a:spcBef>
                    <a:spcPts val="800"/>
                  </a:spcBef>
                </a:pPr>
                <a:r>
                  <a:rPr lang="en-US" altLang="ko-KR" sz="1050" b="1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01</a:t>
                </a:r>
              </a:p>
              <a:p>
                <a:pPr latinLnBrk="0">
                  <a:spcBef>
                    <a:spcPts val="800"/>
                  </a:spcBef>
                </a:pPr>
                <a:r>
                  <a:rPr lang="en-US" altLang="ko-KR" sz="1050" b="1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02</a:t>
                </a:r>
              </a:p>
              <a:p>
                <a:pPr latinLnBrk="0">
                  <a:spcBef>
                    <a:spcPts val="800"/>
                  </a:spcBef>
                </a:pPr>
                <a:r>
                  <a:rPr lang="en-US" altLang="ko-KR" sz="1050" b="1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03</a:t>
                </a:r>
              </a:p>
              <a:p>
                <a:pPr latinLnBrk="0">
                  <a:spcBef>
                    <a:spcPts val="800"/>
                  </a:spcBef>
                </a:pPr>
                <a:endParaRPr lang="ko-KR" altLang="en-US" sz="1050" b="1" dirty="0">
                  <a:ln>
                    <a:solidFill>
                      <a:prstClr val="black">
                        <a:lumMod val="95000"/>
                        <a:lumOff val="5000"/>
                        <a:alpha val="0"/>
                      </a:prstClr>
                    </a:solidFill>
                  </a:ln>
                  <a:solidFill>
                    <a:srgbClr val="3C3C3A"/>
                  </a:solidFill>
                  <a:latin typeface="Lato" panose="020F0502020204030203" pitchFamily="34" charset="0"/>
                  <a:ea typeface="에스코어 드림 4 Regular" panose="020B0503030302020204" pitchFamily="34" charset="-127"/>
                  <a:cs typeface="Lato" panose="020F0502020204030203" pitchFamily="34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2E323D-CBFF-A2BB-15D1-76ED3046421D}"/>
                  </a:ext>
                </a:extLst>
              </p:cNvPr>
              <p:cNvSpPr txBox="1"/>
              <p:nvPr/>
            </p:nvSpPr>
            <p:spPr>
              <a:xfrm>
                <a:off x="1233348" y="4856173"/>
                <a:ext cx="1846985" cy="75918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atinLnBrk="0">
                  <a:spcBef>
                    <a:spcPts val="800"/>
                  </a:spcBef>
                </a:pPr>
                <a:r>
                  <a:rPr lang="en-US" altLang="ko-KR" sz="1050" spc="-30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ea typeface="에스코어 드림 4 Regular" panose="020B0503030302020204" pitchFamily="34" charset="-127"/>
                  </a:rPr>
                  <a:t>Muscle &amp; Fat Mass</a:t>
                </a:r>
              </a:p>
              <a:p>
                <a:pPr latinLnBrk="0">
                  <a:spcBef>
                    <a:spcPts val="800"/>
                  </a:spcBef>
                </a:pPr>
                <a:r>
                  <a:rPr lang="en-US" altLang="ko-KR" sz="1050" spc="-30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ea typeface="에스코어 드림 4 Regular" panose="020B0503030302020204" pitchFamily="34" charset="-127"/>
                  </a:rPr>
                  <a:t>Edema</a:t>
                </a:r>
              </a:p>
              <a:p>
                <a:pPr latinLnBrk="0">
                  <a:spcBef>
                    <a:spcPts val="800"/>
                  </a:spcBef>
                </a:pPr>
                <a:r>
                  <a:rPr lang="en-US" altLang="ko-KR" sz="1050" spc="-30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ea typeface="에스코어 드림 4 Regular" panose="020B0503030302020204" pitchFamily="34" charset="-127"/>
                  </a:rPr>
                  <a:t>Phase Angle</a:t>
                </a: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65745297-CBF8-C6F9-293D-0F66E153160D}"/>
                </a:ext>
              </a:extLst>
            </p:cNvPr>
            <p:cNvGrpSpPr/>
            <p:nvPr userDrawn="1"/>
          </p:nvGrpSpPr>
          <p:grpSpPr>
            <a:xfrm>
              <a:off x="545756" y="1917341"/>
              <a:ext cx="3379420" cy="1000845"/>
              <a:chOff x="545756" y="1917341"/>
              <a:chExt cx="3379420" cy="1000845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FDF10FC-EF32-E0D4-22E2-8090DA466878}"/>
                  </a:ext>
                </a:extLst>
              </p:cNvPr>
              <p:cNvSpPr txBox="1"/>
              <p:nvPr/>
            </p:nvSpPr>
            <p:spPr>
              <a:xfrm>
                <a:off x="656394" y="2240284"/>
                <a:ext cx="32687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:r>
                  <a:rPr kumimoji="1" lang="en-US" altLang="ko-KR" sz="2000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latin typeface="+mj-lt"/>
                    <a:ea typeface="Arial Unicode MS" panose="020B0604020202020204" pitchFamily="50" charset="-127"/>
                  </a:rPr>
                  <a:t>Introduction</a:t>
                </a:r>
                <a:endParaRPr kumimoji="1" lang="ko-KR" altLang="en-US" sz="2000" dirty="0">
                  <a:ln>
                    <a:solidFill>
                      <a:prstClr val="black">
                        <a:lumMod val="95000"/>
                        <a:lumOff val="5000"/>
                        <a:alpha val="0"/>
                      </a:prstClr>
                    </a:solidFill>
                  </a:ln>
                  <a:solidFill>
                    <a:srgbClr val="3C3C3A"/>
                  </a:solidFill>
                  <a:latin typeface="+mj-lt"/>
                  <a:ea typeface="Arial Unicode MS" panose="020B0604020202020204" pitchFamily="50" charset="-127"/>
                </a:endParaRPr>
              </a:p>
            </p:txBody>
          </p: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06172674-8A2B-D80A-5239-66BA6EA18219}"/>
                  </a:ext>
                </a:extLst>
              </p:cNvPr>
              <p:cNvGrpSpPr/>
              <p:nvPr userDrawn="1"/>
            </p:nvGrpSpPr>
            <p:grpSpPr>
              <a:xfrm>
                <a:off x="545756" y="1917341"/>
                <a:ext cx="1388968" cy="1000845"/>
                <a:chOff x="545756" y="1917341"/>
                <a:chExt cx="1388968" cy="1000845"/>
              </a:xfrm>
            </p:grpSpPr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2F8A0F6C-3A52-75C6-D0EB-56845D254F9A}"/>
                    </a:ext>
                  </a:extLst>
                </p:cNvPr>
                <p:cNvGrpSpPr/>
                <p:nvPr userDrawn="1"/>
              </p:nvGrpSpPr>
              <p:grpSpPr>
                <a:xfrm>
                  <a:off x="656395" y="1917341"/>
                  <a:ext cx="1278329" cy="1000845"/>
                  <a:chOff x="656395" y="1917341"/>
                  <a:chExt cx="1278329" cy="1000845"/>
                </a:xfrm>
              </p:grpSpPr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ECC8FEF-A924-FB42-576B-364C39430D0C}"/>
                      </a:ext>
                    </a:extLst>
                  </p:cNvPr>
                  <p:cNvSpPr txBox="1"/>
                  <p:nvPr/>
                </p:nvSpPr>
                <p:spPr>
                  <a:xfrm>
                    <a:off x="656395" y="1917341"/>
                    <a:ext cx="127832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latinLnBrk="0"/>
                    <a:r>
                      <a:rPr lang="en-US" altLang="ko-KR" b="1" dirty="0">
                        <a:ln>
                          <a:solidFill>
                            <a:prstClr val="black">
                              <a:lumMod val="95000"/>
                              <a:lumOff val="5000"/>
                              <a:alpha val="0"/>
                            </a:prstClr>
                          </a:solidFill>
                        </a:ln>
                        <a:solidFill>
                          <a:srgbClr val="9E0B28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rPr>
                      <a:t>Part</a:t>
                    </a:r>
                    <a:r>
                      <a:rPr lang="ko-KR" altLang="en-US" b="1" dirty="0">
                        <a:ln>
                          <a:solidFill>
                            <a:prstClr val="black">
                              <a:lumMod val="95000"/>
                              <a:lumOff val="5000"/>
                              <a:alpha val="0"/>
                            </a:prstClr>
                          </a:solidFill>
                        </a:ln>
                        <a:solidFill>
                          <a:srgbClr val="9E0B28"/>
                        </a:solidFill>
                        <a:latin typeface="Lato Black" panose="020F0502020204030203" pitchFamily="34" charset="0"/>
                        <a:cs typeface="Lato Black" panose="020F0502020204030203" pitchFamily="34" charset="0"/>
                      </a:rPr>
                      <a:t> </a:t>
                    </a:r>
                    <a:r>
                      <a:rPr lang="en-US" altLang="ko-KR" b="1" dirty="0">
                        <a:ln>
                          <a:solidFill>
                            <a:prstClr val="black">
                              <a:lumMod val="95000"/>
                              <a:lumOff val="5000"/>
                              <a:alpha val="0"/>
                            </a:prstClr>
                          </a:solidFill>
                        </a:ln>
                        <a:solidFill>
                          <a:srgbClr val="9E0B28"/>
                        </a:solidFill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rPr>
                      <a:t>1</a:t>
                    </a:r>
                    <a:endParaRPr lang="ko-KR" altLang="en-US" b="1" dirty="0">
                      <a:ln>
                        <a:solidFill>
                          <a:prstClr val="black">
                            <a:lumMod val="95000"/>
                            <a:lumOff val="5000"/>
                            <a:alpha val="0"/>
                          </a:prstClr>
                        </a:solidFill>
                      </a:ln>
                      <a:solidFill>
                        <a:srgbClr val="9E0B28"/>
                      </a:solidFill>
                      <a:latin typeface="Lato Black" panose="020F0502020204030203" pitchFamily="34" charset="0"/>
                      <a:cs typeface="Lato Black" panose="020F0502020204030203" pitchFamily="34" charset="0"/>
                    </a:endParaRPr>
                  </a:p>
                </p:txBody>
              </p:sp>
              <p:grpSp>
                <p:nvGrpSpPr>
                  <p:cNvPr id="22" name="그룹 21">
                    <a:extLst>
                      <a:ext uri="{FF2B5EF4-FFF2-40B4-BE49-F238E27FC236}">
                        <a16:creationId xmlns:a16="http://schemas.microsoft.com/office/drawing/2014/main" id="{84846CD3-3820-AA4F-31A2-DD1D3AE9A474}"/>
                      </a:ext>
                    </a:extLst>
                  </p:cNvPr>
                  <p:cNvGrpSpPr/>
                  <p:nvPr/>
                </p:nvGrpSpPr>
                <p:grpSpPr>
                  <a:xfrm>
                    <a:off x="778689" y="2872467"/>
                    <a:ext cx="503074" cy="45719"/>
                    <a:chOff x="1231679" y="5777767"/>
                    <a:chExt cx="374797" cy="30841"/>
                  </a:xfrm>
                </p:grpSpPr>
                <p:cxnSp>
                  <p:nvCxnSpPr>
                    <p:cNvPr id="23" name="직선 연결선 22">
                      <a:extLst>
                        <a:ext uri="{FF2B5EF4-FFF2-40B4-BE49-F238E27FC236}">
                          <a16:creationId xmlns:a16="http://schemas.microsoft.com/office/drawing/2014/main" id="{55184DA9-38A8-FEA1-AB9C-8AF387A086D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231679" y="5808608"/>
                      <a:ext cx="372416" cy="0"/>
                    </a:xfrm>
                    <a:prstGeom prst="line">
                      <a:avLst/>
                    </a:prstGeom>
                    <a:ln w="12700" cap="rnd">
                      <a:solidFill>
                        <a:srgbClr val="3C3C3A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직선 연결선 23">
                      <a:extLst>
                        <a:ext uri="{FF2B5EF4-FFF2-40B4-BE49-F238E27FC236}">
                          <a16:creationId xmlns:a16="http://schemas.microsoft.com/office/drawing/2014/main" id="{72E8F641-AFAB-4434-CB79-7C5AF75FEFD2}"/>
                        </a:ext>
                      </a:extLst>
                    </p:cNvPr>
                    <p:cNvCxnSpPr/>
                    <p:nvPr/>
                  </p:nvCxnSpPr>
                  <p:spPr>
                    <a:xfrm flipH="1" flipV="1">
                      <a:off x="1577754" y="5777767"/>
                      <a:ext cx="28722" cy="29314"/>
                    </a:xfrm>
                    <a:prstGeom prst="line">
                      <a:avLst/>
                    </a:prstGeom>
                    <a:ln w="12700" cap="rnd">
                      <a:solidFill>
                        <a:srgbClr val="3C3C3A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5468BDEE-3B07-505C-7863-056A424A4D29}"/>
                    </a:ext>
                  </a:extLst>
                </p:cNvPr>
                <p:cNvSpPr/>
                <p:nvPr/>
              </p:nvSpPr>
              <p:spPr>
                <a:xfrm flipH="1">
                  <a:off x="545756" y="2059303"/>
                  <a:ext cx="79058" cy="79058"/>
                </a:xfrm>
                <a:prstGeom prst="ellipse">
                  <a:avLst/>
                </a:prstGeom>
                <a:solidFill>
                  <a:srgbClr val="9E0B28"/>
                </a:solidFill>
                <a:ln>
                  <a:solidFill>
                    <a:srgbClr val="9E0B2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 latinLnBrk="0"/>
                  <a:endParaRPr lang="ko-KR" altLang="en-US" dirty="0">
                    <a:ln>
                      <a:solidFill>
                        <a:prstClr val="black">
                          <a:lumMod val="65000"/>
                          <a:lumOff val="35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</a:endParaRPr>
                </a:p>
              </p:txBody>
            </p:sp>
          </p:grp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47332F8-61B5-6A05-2D24-97CD558FE94F}"/>
              </a:ext>
            </a:extLst>
          </p:cNvPr>
          <p:cNvGrpSpPr/>
          <p:nvPr/>
        </p:nvGrpSpPr>
        <p:grpSpPr>
          <a:xfrm>
            <a:off x="8414107" y="1917341"/>
            <a:ext cx="3374116" cy="3213458"/>
            <a:chOff x="8414107" y="1917341"/>
            <a:chExt cx="3374116" cy="3213458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A0AB52BF-CBDF-81A5-38C8-EED31B51B95A}"/>
                </a:ext>
              </a:extLst>
            </p:cNvPr>
            <p:cNvGrpSpPr/>
            <p:nvPr/>
          </p:nvGrpSpPr>
          <p:grpSpPr>
            <a:xfrm>
              <a:off x="8530207" y="4199168"/>
              <a:ext cx="2703035" cy="931631"/>
              <a:chOff x="1026824" y="4856172"/>
              <a:chExt cx="2038518" cy="931631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9FE9154-5551-CAC0-3E8C-7B94D0155192}"/>
                  </a:ext>
                </a:extLst>
              </p:cNvPr>
              <p:cNvSpPr txBox="1"/>
              <p:nvPr/>
            </p:nvSpPr>
            <p:spPr>
              <a:xfrm>
                <a:off x="1026824" y="4856173"/>
                <a:ext cx="441325" cy="768021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atinLnBrk="0">
                  <a:spcBef>
                    <a:spcPts val="800"/>
                  </a:spcBef>
                </a:pPr>
                <a:r>
                  <a:rPr lang="en-US" altLang="ko-KR" sz="1050" b="1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01</a:t>
                </a:r>
              </a:p>
              <a:p>
                <a:pPr latinLnBrk="0">
                  <a:spcBef>
                    <a:spcPts val="800"/>
                  </a:spcBef>
                </a:pPr>
                <a:r>
                  <a:rPr lang="en-US" altLang="ko-KR" sz="1050" b="1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02</a:t>
                </a:r>
              </a:p>
              <a:p>
                <a:pPr latinLnBrk="0">
                  <a:spcBef>
                    <a:spcPts val="800"/>
                  </a:spcBef>
                </a:pPr>
                <a:r>
                  <a:rPr lang="en-US" altLang="ko-KR" sz="1050" b="1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03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7854740-112F-723C-5A3A-C2E3BCDABDE2}"/>
                  </a:ext>
                </a:extLst>
              </p:cNvPr>
              <p:cNvSpPr txBox="1"/>
              <p:nvPr/>
            </p:nvSpPr>
            <p:spPr>
              <a:xfrm>
                <a:off x="1218357" y="4856172"/>
                <a:ext cx="1846985" cy="931631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atinLnBrk="0">
                  <a:spcBef>
                    <a:spcPts val="800"/>
                  </a:spcBef>
                </a:pPr>
                <a:r>
                  <a:rPr lang="en-US" altLang="ko-KR" sz="1050" spc="-30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ea typeface="에스코어 드림 4 Regular" panose="020B0503030302020204" pitchFamily="34" charset="-127"/>
                  </a:rPr>
                  <a:t>Direct Feedback</a:t>
                </a:r>
              </a:p>
              <a:p>
                <a:pPr latinLnBrk="0">
                  <a:spcBef>
                    <a:spcPts val="800"/>
                  </a:spcBef>
                </a:pPr>
                <a:r>
                  <a:rPr lang="en-US" altLang="ko-KR" sz="1050" spc="-30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ea typeface="에스코어 드림 4 Regular" panose="020B0503030302020204" pitchFamily="34" charset="-127"/>
                  </a:rPr>
                  <a:t>Summary</a:t>
                </a:r>
              </a:p>
              <a:p>
                <a:pPr latinLnBrk="0">
                  <a:spcBef>
                    <a:spcPts val="800"/>
                  </a:spcBef>
                </a:pPr>
                <a:r>
                  <a:rPr lang="en-US" altLang="ko-KR" sz="1050" spc="-30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ea typeface="에스코어 드림 4 Regular" panose="020B0503030302020204" pitchFamily="34" charset="-127"/>
                  </a:rPr>
                  <a:t>Benefits of </a:t>
                </a:r>
                <a:r>
                  <a:rPr lang="en-US" altLang="ko-KR" sz="1050" spc="-30" dirty="0" err="1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ea typeface="에스코어 드림 4 Regular" panose="020B0503030302020204" pitchFamily="34" charset="-127"/>
                  </a:rPr>
                  <a:t>InBody</a:t>
                </a:r>
                <a:endParaRPr lang="en-US" altLang="ko-KR" sz="1050" spc="-30" dirty="0">
                  <a:ln>
                    <a:solidFill>
                      <a:prstClr val="black">
                        <a:lumMod val="95000"/>
                        <a:lumOff val="5000"/>
                        <a:alpha val="0"/>
                      </a:prstClr>
                    </a:solidFill>
                  </a:ln>
                  <a:solidFill>
                    <a:srgbClr val="3C3C3A"/>
                  </a:solidFill>
                  <a:ea typeface="에스코어 드림 4 Regular" panose="020B0503030302020204" pitchFamily="34" charset="-127"/>
                </a:endParaRP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4D8E1E2A-1E31-427C-5A33-68867D3B1CCD}"/>
                </a:ext>
              </a:extLst>
            </p:cNvPr>
            <p:cNvGrpSpPr/>
            <p:nvPr/>
          </p:nvGrpSpPr>
          <p:grpSpPr>
            <a:xfrm>
              <a:off x="8414107" y="1917341"/>
              <a:ext cx="3374116" cy="1000845"/>
              <a:chOff x="8414107" y="1917341"/>
              <a:chExt cx="3374116" cy="1000845"/>
            </a:xfrm>
          </p:grpSpPr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51AB37C5-4F0A-51F2-33DD-0101AD547773}"/>
                  </a:ext>
                </a:extLst>
              </p:cNvPr>
              <p:cNvGrpSpPr/>
              <p:nvPr/>
            </p:nvGrpSpPr>
            <p:grpSpPr>
              <a:xfrm>
                <a:off x="8519441" y="1917341"/>
                <a:ext cx="3268782" cy="1000845"/>
                <a:chOff x="8519441" y="1917341"/>
                <a:chExt cx="3268782" cy="1000845"/>
              </a:xfrm>
            </p:grpSpPr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3EC44BF-69DA-595C-2A8C-39F3CBC4EFA9}"/>
                    </a:ext>
                  </a:extLst>
                </p:cNvPr>
                <p:cNvSpPr txBox="1"/>
                <p:nvPr/>
              </p:nvSpPr>
              <p:spPr>
                <a:xfrm>
                  <a:off x="8519441" y="2240284"/>
                  <a:ext cx="326878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:r>
                    <a:rPr kumimoji="1" lang="en-US" altLang="ko-KR" sz="2000" dirty="0">
                      <a:ln>
                        <a:solidFill>
                          <a:prstClr val="black">
                            <a:lumMod val="95000"/>
                            <a:lumOff val="5000"/>
                            <a:alpha val="0"/>
                          </a:prstClr>
                        </a:solidFill>
                      </a:ln>
                      <a:solidFill>
                        <a:srgbClr val="3C3C3A"/>
                      </a:solidFill>
                      <a:latin typeface="+mj-lt"/>
                      <a:ea typeface="Arial Unicode MS" panose="020B0604020202020204" pitchFamily="50" charset="-127"/>
                    </a:rPr>
                    <a:t>Insights</a:t>
                  </a:r>
                  <a:endParaRPr kumimoji="1" lang="ko-KR" altLang="en-US" sz="2000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3C3C3A"/>
                    </a:solidFill>
                    <a:latin typeface="+mj-lt"/>
                    <a:ea typeface="Arial Unicode MS" panose="020B0604020202020204" pitchFamily="50" charset="-127"/>
                  </a:endParaRP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8DF3A2B-4D5C-E00F-7E8D-DA9FA559FB08}"/>
                    </a:ext>
                  </a:extLst>
                </p:cNvPr>
                <p:cNvSpPr txBox="1"/>
                <p:nvPr/>
              </p:nvSpPr>
              <p:spPr>
                <a:xfrm>
                  <a:off x="8532695" y="1917341"/>
                  <a:ext cx="12783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:r>
                    <a:rPr lang="en-US" altLang="ko-KR" b="1" dirty="0">
                      <a:ln>
                        <a:solidFill>
                          <a:prstClr val="black">
                            <a:lumMod val="95000"/>
                            <a:lumOff val="5000"/>
                            <a:alpha val="0"/>
                          </a:prstClr>
                        </a:solidFill>
                      </a:ln>
                      <a:solidFill>
                        <a:srgbClr val="9E0B28"/>
                      </a:solidFill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Part</a:t>
                  </a:r>
                  <a:r>
                    <a:rPr lang="ko-KR" altLang="en-US" b="1" dirty="0">
                      <a:ln>
                        <a:solidFill>
                          <a:prstClr val="black">
                            <a:lumMod val="95000"/>
                            <a:lumOff val="5000"/>
                            <a:alpha val="0"/>
                          </a:prstClr>
                        </a:solidFill>
                      </a:ln>
                      <a:solidFill>
                        <a:srgbClr val="9E0B28"/>
                      </a:solidFill>
                      <a:latin typeface="Lato Black" panose="020F0502020204030203" pitchFamily="34" charset="0"/>
                      <a:cs typeface="Lato Black" panose="020F0502020204030203" pitchFamily="34" charset="0"/>
                    </a:rPr>
                    <a:t> </a:t>
                  </a:r>
                  <a:r>
                    <a:rPr lang="en-US" altLang="ko-KR" b="1" dirty="0">
                      <a:ln>
                        <a:solidFill>
                          <a:prstClr val="black">
                            <a:lumMod val="95000"/>
                            <a:lumOff val="5000"/>
                            <a:alpha val="0"/>
                          </a:prstClr>
                        </a:solidFill>
                      </a:ln>
                      <a:solidFill>
                        <a:srgbClr val="9E0B28"/>
                      </a:solidFill>
                      <a:latin typeface="Lato Black" panose="020F0502020204030203" pitchFamily="34" charset="0"/>
                      <a:ea typeface="Lato Black" panose="020F0502020204030203" pitchFamily="34" charset="0"/>
                      <a:cs typeface="Lato Black" panose="020F0502020204030203" pitchFamily="34" charset="0"/>
                    </a:rPr>
                    <a:t>3</a:t>
                  </a:r>
                  <a:endParaRPr lang="ko-KR" altLang="en-US" b="1" dirty="0">
                    <a:ln>
                      <a:solidFill>
                        <a:prstClr val="black">
                          <a:lumMod val="95000"/>
                          <a:lumOff val="5000"/>
                          <a:alpha val="0"/>
                        </a:prstClr>
                      </a:solidFill>
                    </a:ln>
                    <a:solidFill>
                      <a:srgbClr val="9E0B28"/>
                    </a:solidFill>
                    <a:latin typeface="Lato Black" panose="020F0502020204030203" pitchFamily="34" charset="0"/>
                    <a:cs typeface="Lato Black" panose="020F0502020204030203" pitchFamily="34" charset="0"/>
                  </a:endParaRPr>
                </a:p>
              </p:txBody>
            </p:sp>
            <p:grpSp>
              <p:nvGrpSpPr>
                <p:cNvPr id="34" name="그룹 33">
                  <a:extLst>
                    <a:ext uri="{FF2B5EF4-FFF2-40B4-BE49-F238E27FC236}">
                      <a16:creationId xmlns:a16="http://schemas.microsoft.com/office/drawing/2014/main" id="{60EFA1F6-03C7-B022-75F7-D8C2CA47DE3E}"/>
                    </a:ext>
                  </a:extLst>
                </p:cNvPr>
                <p:cNvGrpSpPr/>
                <p:nvPr/>
              </p:nvGrpSpPr>
              <p:grpSpPr>
                <a:xfrm>
                  <a:off x="8628482" y="2872467"/>
                  <a:ext cx="503074" cy="45719"/>
                  <a:chOff x="1211932" y="5777767"/>
                  <a:chExt cx="374797" cy="30841"/>
                </a:xfrm>
              </p:grpSpPr>
              <p:cxnSp>
                <p:nvCxnSpPr>
                  <p:cNvPr id="35" name="직선 연결선 34">
                    <a:extLst>
                      <a:ext uri="{FF2B5EF4-FFF2-40B4-BE49-F238E27FC236}">
                        <a16:creationId xmlns:a16="http://schemas.microsoft.com/office/drawing/2014/main" id="{F27743C6-9928-F0AB-43A8-E22652D6AE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11932" y="5808608"/>
                    <a:ext cx="372416" cy="0"/>
                  </a:xfrm>
                  <a:prstGeom prst="line">
                    <a:avLst/>
                  </a:prstGeom>
                  <a:ln w="12700" cap="rnd">
                    <a:solidFill>
                      <a:srgbClr val="3C3C3A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직선 연결선 35">
                    <a:extLst>
                      <a:ext uri="{FF2B5EF4-FFF2-40B4-BE49-F238E27FC236}">
                        <a16:creationId xmlns:a16="http://schemas.microsoft.com/office/drawing/2014/main" id="{DD036E04-A13C-EA13-7B07-F25FA8731E4F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1558007" y="5777767"/>
                    <a:ext cx="28722" cy="29314"/>
                  </a:xfrm>
                  <a:prstGeom prst="line">
                    <a:avLst/>
                  </a:prstGeom>
                  <a:ln w="12700" cap="rnd">
                    <a:solidFill>
                      <a:srgbClr val="3C3C3A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2FE9CFFB-5488-9EBC-B73E-C3F9DC692537}"/>
                  </a:ext>
                </a:extLst>
              </p:cNvPr>
              <p:cNvSpPr/>
              <p:nvPr/>
            </p:nvSpPr>
            <p:spPr>
              <a:xfrm flipH="1">
                <a:off x="8414107" y="2059303"/>
                <a:ext cx="79058" cy="79058"/>
              </a:xfrm>
              <a:prstGeom prst="ellipse">
                <a:avLst/>
              </a:prstGeom>
              <a:solidFill>
                <a:srgbClr val="9E0B28"/>
              </a:solidFill>
              <a:ln>
                <a:solidFill>
                  <a:srgbClr val="9E0B2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latinLnBrk="0"/>
                <a:endParaRPr lang="ko-KR" altLang="en-US" dirty="0">
                  <a:ln>
                    <a:solidFill>
                      <a:prstClr val="black">
                        <a:lumMod val="65000"/>
                        <a:lumOff val="35000"/>
                        <a:alpha val="0"/>
                      </a:prstClr>
                    </a:solidFill>
                  </a:ln>
                  <a:solidFill>
                    <a:srgbClr val="F2F3F6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39892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50">
            <a:extLst>
              <a:ext uri="{FF2B5EF4-FFF2-40B4-BE49-F238E27FC236}">
                <a16:creationId xmlns:a16="http://schemas.microsoft.com/office/drawing/2014/main" id="{326D874F-1942-294B-90C5-320A68E69828}"/>
              </a:ext>
            </a:extLst>
          </p:cNvPr>
          <p:cNvSpPr txBox="1">
            <a:spLocks/>
          </p:cNvSpPr>
          <p:nvPr/>
        </p:nvSpPr>
        <p:spPr>
          <a:xfrm>
            <a:off x="4916570" y="2702895"/>
            <a:ext cx="2358859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2800" b="1" kern="1200" dirty="0" smtClean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656E7D"/>
                </a:solidFill>
                <a:latin typeface="Lato" panose="020F0502020204030203" pitchFamily="34" charset="0"/>
                <a:ea typeface="Noto Sans KR" panose="020B0500000000000000" pitchFamily="34" charset="-127"/>
                <a:cs typeface="Lato" panose="020F0502020204030203" pitchFamily="34" charset="0"/>
              </a:defRPr>
            </a:lvl1pPr>
            <a:lvl2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800" kern="1200" dirty="0" smtClean="0">
                <a:ln>
                  <a:solidFill>
                    <a:srgbClr val="656E7D">
                      <a:alpha val="0"/>
                    </a:srgbClr>
                  </a:solidFill>
                </a:ln>
                <a:solidFill>
                  <a:srgbClr val="4E4F4F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2pPr>
            <a:lvl3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800" kern="1200" dirty="0" smtClean="0">
                <a:ln>
                  <a:solidFill>
                    <a:srgbClr val="656E7D">
                      <a:alpha val="0"/>
                    </a:srgbClr>
                  </a:solidFill>
                </a:ln>
                <a:solidFill>
                  <a:srgbClr val="4E4F4F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3pPr>
            <a:lvl4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800" kern="1200" dirty="0" smtClean="0">
                <a:ln>
                  <a:solidFill>
                    <a:srgbClr val="656E7D">
                      <a:alpha val="0"/>
                    </a:srgbClr>
                  </a:solidFill>
                </a:ln>
                <a:solidFill>
                  <a:srgbClr val="4E4F4F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4pPr>
            <a:lvl5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800" kern="1200" dirty="0">
                <a:ln>
                  <a:solidFill>
                    <a:srgbClr val="656E7D">
                      <a:alpha val="0"/>
                    </a:srgbClr>
                  </a:solidFill>
                </a:ln>
                <a:solidFill>
                  <a:srgbClr val="4E4F4F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dirty="0">
                <a:ln>
                  <a:solidFill>
                    <a:schemeClr val="tx1">
                      <a:lumMod val="95000"/>
                      <a:lumOff val="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cs typeface="Lato Black" panose="020F0502020204030203" pitchFamily="34" charset="0"/>
              </a:rPr>
              <a:t>Part 1</a:t>
            </a:r>
            <a:endParaRPr lang="ko-KR" altLang="en-US" sz="2400" dirty="0">
              <a:ln>
                <a:solidFill>
                  <a:schemeClr val="tx1">
                    <a:lumMod val="95000"/>
                    <a:lumOff val="5000"/>
                    <a:alpha val="0"/>
                  </a:schemeClr>
                </a:solidFill>
              </a:ln>
              <a:solidFill>
                <a:srgbClr val="9E0B28"/>
              </a:solidFill>
              <a:latin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467AFA88-CA99-3047-90FB-F4C2473E60C3}"/>
              </a:ext>
            </a:extLst>
          </p:cNvPr>
          <p:cNvSpPr txBox="1">
            <a:spLocks/>
          </p:cNvSpPr>
          <p:nvPr/>
        </p:nvSpPr>
        <p:spPr>
          <a:xfrm>
            <a:off x="3459955" y="3217604"/>
            <a:ext cx="5272088" cy="6059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Introduction</a:t>
            </a:r>
            <a:endParaRPr lang="ko-KR" altLang="en-US" sz="3400" dirty="0">
              <a:solidFill>
                <a:srgbClr val="3A3A38"/>
              </a:solidFill>
              <a:latin typeface="S-Core Dream 5 Medium" panose="020B0503030302020204" pitchFamily="34" charset="-127"/>
              <a:ea typeface="에스코어 드림 5 Medium" panose="020B05030303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65033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9E1B9-976E-8973-55C6-F870C860F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11394B58-6D31-899C-6FF5-0FC0B3A01666}"/>
              </a:ext>
            </a:extLst>
          </p:cNvPr>
          <p:cNvGrpSpPr/>
          <p:nvPr/>
        </p:nvGrpSpPr>
        <p:grpSpPr>
          <a:xfrm>
            <a:off x="-24811" y="2017650"/>
            <a:ext cx="12216811" cy="3569675"/>
            <a:chOff x="-309588" y="2046182"/>
            <a:chExt cx="12785212" cy="3735758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1DAD475-3653-4274-AC92-62B3EDFE72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09588" y="3934865"/>
              <a:ext cx="12785212" cy="0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rgbClr val="BDC2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D5FAC0F-31E4-247B-4433-2F61DEA744BE}"/>
                </a:ext>
              </a:extLst>
            </p:cNvPr>
            <p:cNvGrpSpPr/>
            <p:nvPr/>
          </p:nvGrpSpPr>
          <p:grpSpPr>
            <a:xfrm>
              <a:off x="1447800" y="2046182"/>
              <a:ext cx="9296401" cy="3735758"/>
              <a:chOff x="1447800" y="2046182"/>
              <a:chExt cx="9296401" cy="3735758"/>
            </a:xfrm>
          </p:grpSpPr>
          <p:sp>
            <p:nvSpPr>
              <p:cNvPr id="14" name="자유형: 도형 9">
                <a:extLst>
                  <a:ext uri="{FF2B5EF4-FFF2-40B4-BE49-F238E27FC236}">
                    <a16:creationId xmlns:a16="http://schemas.microsoft.com/office/drawing/2014/main" id="{A004DFF7-F699-3891-A758-35E55C5BDD88}"/>
                  </a:ext>
                </a:extLst>
              </p:cNvPr>
              <p:cNvSpPr/>
              <p:nvPr/>
            </p:nvSpPr>
            <p:spPr>
              <a:xfrm>
                <a:off x="1447800" y="2046182"/>
                <a:ext cx="9296401" cy="3735758"/>
              </a:xfrm>
              <a:custGeom>
                <a:avLst/>
                <a:gdLst>
                  <a:gd name="connsiteX0" fmla="*/ 2003823 w 9972989"/>
                  <a:gd name="connsiteY0" fmla="*/ 0 h 4007646"/>
                  <a:gd name="connsiteX1" fmla="*/ 2958964 w 9972989"/>
                  <a:gd name="connsiteY1" fmla="*/ 241851 h 4007646"/>
                  <a:gd name="connsiteX2" fmla="*/ 3051480 w 9972989"/>
                  <a:gd name="connsiteY2" fmla="*/ 298055 h 4007646"/>
                  <a:gd name="connsiteX3" fmla="*/ 3052005 w 9972989"/>
                  <a:gd name="connsiteY3" fmla="*/ 297770 h 4007646"/>
                  <a:gd name="connsiteX4" fmla="*/ 3169245 w 9972989"/>
                  <a:gd name="connsiteY4" fmla="*/ 361405 h 4007646"/>
                  <a:gd name="connsiteX5" fmla="*/ 3495158 w 9972989"/>
                  <a:gd name="connsiteY5" fmla="*/ 427204 h 4007646"/>
                  <a:gd name="connsiteX6" fmla="*/ 3821071 w 9972989"/>
                  <a:gd name="connsiteY6" fmla="*/ 361405 h 4007646"/>
                  <a:gd name="connsiteX7" fmla="*/ 3938311 w 9972989"/>
                  <a:gd name="connsiteY7" fmla="*/ 297770 h 4007646"/>
                  <a:gd name="connsiteX8" fmla="*/ 3938838 w 9972989"/>
                  <a:gd name="connsiteY8" fmla="*/ 298056 h 4007646"/>
                  <a:gd name="connsiteX9" fmla="*/ 4031354 w 9972989"/>
                  <a:gd name="connsiteY9" fmla="*/ 241851 h 4007646"/>
                  <a:gd name="connsiteX10" fmla="*/ 4986495 w 9972989"/>
                  <a:gd name="connsiteY10" fmla="*/ 0 h 4007646"/>
                  <a:gd name="connsiteX11" fmla="*/ 5941636 w 9972989"/>
                  <a:gd name="connsiteY11" fmla="*/ 241851 h 4007646"/>
                  <a:gd name="connsiteX12" fmla="*/ 6034152 w 9972989"/>
                  <a:gd name="connsiteY12" fmla="*/ 298055 h 4007646"/>
                  <a:gd name="connsiteX13" fmla="*/ 6034677 w 9972989"/>
                  <a:gd name="connsiteY13" fmla="*/ 297770 h 4007646"/>
                  <a:gd name="connsiteX14" fmla="*/ 6151917 w 9972989"/>
                  <a:gd name="connsiteY14" fmla="*/ 361405 h 4007646"/>
                  <a:gd name="connsiteX15" fmla="*/ 6477830 w 9972989"/>
                  <a:gd name="connsiteY15" fmla="*/ 427204 h 4007646"/>
                  <a:gd name="connsiteX16" fmla="*/ 6803743 w 9972989"/>
                  <a:gd name="connsiteY16" fmla="*/ 361405 h 4007646"/>
                  <a:gd name="connsiteX17" fmla="*/ 6920983 w 9972989"/>
                  <a:gd name="connsiteY17" fmla="*/ 297770 h 4007646"/>
                  <a:gd name="connsiteX18" fmla="*/ 6921509 w 9972989"/>
                  <a:gd name="connsiteY18" fmla="*/ 298056 h 4007646"/>
                  <a:gd name="connsiteX19" fmla="*/ 7014025 w 9972989"/>
                  <a:gd name="connsiteY19" fmla="*/ 241851 h 4007646"/>
                  <a:gd name="connsiteX20" fmla="*/ 7969166 w 9972989"/>
                  <a:gd name="connsiteY20" fmla="*/ 0 h 4007646"/>
                  <a:gd name="connsiteX21" fmla="*/ 9972989 w 9972989"/>
                  <a:gd name="connsiteY21" fmla="*/ 2003823 h 4007646"/>
                  <a:gd name="connsiteX22" fmla="*/ 7969166 w 9972989"/>
                  <a:gd name="connsiteY22" fmla="*/ 4007646 h 4007646"/>
                  <a:gd name="connsiteX23" fmla="*/ 7014025 w 9972989"/>
                  <a:gd name="connsiteY23" fmla="*/ 3765796 h 4007646"/>
                  <a:gd name="connsiteX24" fmla="*/ 6921333 w 9972989"/>
                  <a:gd name="connsiteY24" fmla="*/ 3709484 h 4007646"/>
                  <a:gd name="connsiteX25" fmla="*/ 6920983 w 9972989"/>
                  <a:gd name="connsiteY25" fmla="*/ 3709673 h 4007646"/>
                  <a:gd name="connsiteX26" fmla="*/ 6803743 w 9972989"/>
                  <a:gd name="connsiteY26" fmla="*/ 3646038 h 4007646"/>
                  <a:gd name="connsiteX27" fmla="*/ 6477830 w 9972989"/>
                  <a:gd name="connsiteY27" fmla="*/ 3580239 h 4007646"/>
                  <a:gd name="connsiteX28" fmla="*/ 6151917 w 9972989"/>
                  <a:gd name="connsiteY28" fmla="*/ 3646038 h 4007646"/>
                  <a:gd name="connsiteX29" fmla="*/ 6034677 w 9972989"/>
                  <a:gd name="connsiteY29" fmla="*/ 3709673 h 4007646"/>
                  <a:gd name="connsiteX30" fmla="*/ 6034329 w 9972989"/>
                  <a:gd name="connsiteY30" fmla="*/ 3709484 h 4007646"/>
                  <a:gd name="connsiteX31" fmla="*/ 5941637 w 9972989"/>
                  <a:gd name="connsiteY31" fmla="*/ 3765796 h 4007646"/>
                  <a:gd name="connsiteX32" fmla="*/ 4986495 w 9972989"/>
                  <a:gd name="connsiteY32" fmla="*/ 4007646 h 4007646"/>
                  <a:gd name="connsiteX33" fmla="*/ 4031354 w 9972989"/>
                  <a:gd name="connsiteY33" fmla="*/ 3765796 h 4007646"/>
                  <a:gd name="connsiteX34" fmla="*/ 3938661 w 9972989"/>
                  <a:gd name="connsiteY34" fmla="*/ 3709483 h 4007646"/>
                  <a:gd name="connsiteX35" fmla="*/ 3938311 w 9972989"/>
                  <a:gd name="connsiteY35" fmla="*/ 3709673 h 4007646"/>
                  <a:gd name="connsiteX36" fmla="*/ 3821071 w 9972989"/>
                  <a:gd name="connsiteY36" fmla="*/ 3646038 h 4007646"/>
                  <a:gd name="connsiteX37" fmla="*/ 3495158 w 9972989"/>
                  <a:gd name="connsiteY37" fmla="*/ 3580239 h 4007646"/>
                  <a:gd name="connsiteX38" fmla="*/ 3169245 w 9972989"/>
                  <a:gd name="connsiteY38" fmla="*/ 3646038 h 4007646"/>
                  <a:gd name="connsiteX39" fmla="*/ 3052005 w 9972989"/>
                  <a:gd name="connsiteY39" fmla="*/ 3709673 h 4007646"/>
                  <a:gd name="connsiteX40" fmla="*/ 3051656 w 9972989"/>
                  <a:gd name="connsiteY40" fmla="*/ 3709484 h 4007646"/>
                  <a:gd name="connsiteX41" fmla="*/ 2958964 w 9972989"/>
                  <a:gd name="connsiteY41" fmla="*/ 3765796 h 4007646"/>
                  <a:gd name="connsiteX42" fmla="*/ 2003823 w 9972989"/>
                  <a:gd name="connsiteY42" fmla="*/ 4007646 h 4007646"/>
                  <a:gd name="connsiteX43" fmla="*/ 0 w 9972989"/>
                  <a:gd name="connsiteY43" fmla="*/ 2003823 h 4007646"/>
                  <a:gd name="connsiteX44" fmla="*/ 2003823 w 9972989"/>
                  <a:gd name="connsiteY44" fmla="*/ 0 h 400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9972989" h="4007646">
                    <a:moveTo>
                      <a:pt x="2003823" y="0"/>
                    </a:moveTo>
                    <a:cubicBezTo>
                      <a:pt x="2349661" y="0"/>
                      <a:pt x="2675036" y="87612"/>
                      <a:pt x="2958964" y="241851"/>
                    </a:cubicBezTo>
                    <a:lnTo>
                      <a:pt x="3051480" y="298055"/>
                    </a:lnTo>
                    <a:lnTo>
                      <a:pt x="3052005" y="297770"/>
                    </a:lnTo>
                    <a:lnTo>
                      <a:pt x="3169245" y="361405"/>
                    </a:lnTo>
                    <a:cubicBezTo>
                      <a:pt x="3269418" y="403776"/>
                      <a:pt x="3379552" y="427204"/>
                      <a:pt x="3495158" y="427204"/>
                    </a:cubicBezTo>
                    <a:cubicBezTo>
                      <a:pt x="3610764" y="427204"/>
                      <a:pt x="3720898" y="403776"/>
                      <a:pt x="3821071" y="361405"/>
                    </a:cubicBezTo>
                    <a:lnTo>
                      <a:pt x="3938311" y="297770"/>
                    </a:lnTo>
                    <a:lnTo>
                      <a:pt x="3938838" y="298056"/>
                    </a:lnTo>
                    <a:lnTo>
                      <a:pt x="4031354" y="241851"/>
                    </a:lnTo>
                    <a:cubicBezTo>
                      <a:pt x="4315282" y="87612"/>
                      <a:pt x="4640657" y="0"/>
                      <a:pt x="4986495" y="0"/>
                    </a:cubicBezTo>
                    <a:cubicBezTo>
                      <a:pt x="5332333" y="0"/>
                      <a:pt x="5657708" y="87612"/>
                      <a:pt x="5941636" y="241851"/>
                    </a:cubicBezTo>
                    <a:lnTo>
                      <a:pt x="6034152" y="298055"/>
                    </a:lnTo>
                    <a:lnTo>
                      <a:pt x="6034677" y="297770"/>
                    </a:lnTo>
                    <a:lnTo>
                      <a:pt x="6151917" y="361405"/>
                    </a:lnTo>
                    <a:cubicBezTo>
                      <a:pt x="6252090" y="403776"/>
                      <a:pt x="6362224" y="427204"/>
                      <a:pt x="6477830" y="427204"/>
                    </a:cubicBezTo>
                    <a:cubicBezTo>
                      <a:pt x="6593436" y="427204"/>
                      <a:pt x="6703570" y="403776"/>
                      <a:pt x="6803743" y="361405"/>
                    </a:cubicBezTo>
                    <a:lnTo>
                      <a:pt x="6920983" y="297770"/>
                    </a:lnTo>
                    <a:lnTo>
                      <a:pt x="6921509" y="298056"/>
                    </a:lnTo>
                    <a:lnTo>
                      <a:pt x="7014025" y="241851"/>
                    </a:lnTo>
                    <a:cubicBezTo>
                      <a:pt x="7297953" y="87612"/>
                      <a:pt x="7623328" y="0"/>
                      <a:pt x="7969166" y="0"/>
                    </a:cubicBezTo>
                    <a:cubicBezTo>
                      <a:pt x="9075847" y="0"/>
                      <a:pt x="9972989" y="897142"/>
                      <a:pt x="9972989" y="2003823"/>
                    </a:cubicBezTo>
                    <a:cubicBezTo>
                      <a:pt x="9972989" y="3110504"/>
                      <a:pt x="9075847" y="4007646"/>
                      <a:pt x="7969166" y="4007646"/>
                    </a:cubicBezTo>
                    <a:cubicBezTo>
                      <a:pt x="7623329" y="4007646"/>
                      <a:pt x="7297954" y="3920035"/>
                      <a:pt x="7014025" y="3765796"/>
                    </a:cubicBezTo>
                    <a:lnTo>
                      <a:pt x="6921333" y="3709484"/>
                    </a:lnTo>
                    <a:lnTo>
                      <a:pt x="6920983" y="3709673"/>
                    </a:lnTo>
                    <a:lnTo>
                      <a:pt x="6803743" y="3646038"/>
                    </a:lnTo>
                    <a:cubicBezTo>
                      <a:pt x="6703570" y="3603668"/>
                      <a:pt x="6593436" y="3580239"/>
                      <a:pt x="6477830" y="3580239"/>
                    </a:cubicBezTo>
                    <a:cubicBezTo>
                      <a:pt x="6362224" y="3580239"/>
                      <a:pt x="6252090" y="3603668"/>
                      <a:pt x="6151917" y="3646038"/>
                    </a:cubicBezTo>
                    <a:lnTo>
                      <a:pt x="6034677" y="3709673"/>
                    </a:lnTo>
                    <a:lnTo>
                      <a:pt x="6034329" y="3709484"/>
                    </a:lnTo>
                    <a:lnTo>
                      <a:pt x="5941637" y="3765796"/>
                    </a:lnTo>
                    <a:cubicBezTo>
                      <a:pt x="5657708" y="3920035"/>
                      <a:pt x="5332333" y="4007646"/>
                      <a:pt x="4986495" y="4007646"/>
                    </a:cubicBezTo>
                    <a:cubicBezTo>
                      <a:pt x="4640658" y="4007646"/>
                      <a:pt x="4315283" y="3920035"/>
                      <a:pt x="4031354" y="3765796"/>
                    </a:cubicBezTo>
                    <a:lnTo>
                      <a:pt x="3938661" y="3709483"/>
                    </a:lnTo>
                    <a:lnTo>
                      <a:pt x="3938311" y="3709673"/>
                    </a:lnTo>
                    <a:lnTo>
                      <a:pt x="3821071" y="3646038"/>
                    </a:lnTo>
                    <a:cubicBezTo>
                      <a:pt x="3720898" y="3603668"/>
                      <a:pt x="3610764" y="3580239"/>
                      <a:pt x="3495158" y="3580239"/>
                    </a:cubicBezTo>
                    <a:cubicBezTo>
                      <a:pt x="3379552" y="3580239"/>
                      <a:pt x="3269418" y="3603668"/>
                      <a:pt x="3169245" y="3646038"/>
                    </a:cubicBezTo>
                    <a:lnTo>
                      <a:pt x="3052005" y="3709673"/>
                    </a:lnTo>
                    <a:lnTo>
                      <a:pt x="3051656" y="3709484"/>
                    </a:lnTo>
                    <a:lnTo>
                      <a:pt x="2958964" y="3765796"/>
                    </a:lnTo>
                    <a:cubicBezTo>
                      <a:pt x="2675036" y="3920035"/>
                      <a:pt x="2349661" y="4007646"/>
                      <a:pt x="2003823" y="4007646"/>
                    </a:cubicBezTo>
                    <a:cubicBezTo>
                      <a:pt x="897142" y="4007646"/>
                      <a:pt x="0" y="3110504"/>
                      <a:pt x="0" y="2003823"/>
                    </a:cubicBezTo>
                    <a:cubicBezTo>
                      <a:pt x="0" y="897142"/>
                      <a:pt x="897142" y="0"/>
                      <a:pt x="200382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rgbClr val="BDC2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n>
                    <a:solidFill>
                      <a:srgbClr val="7E8080">
                        <a:alpha val="0"/>
                      </a:srgbClr>
                    </a:solidFill>
                  </a:ln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15A63BE9-058C-7065-F2AA-EE44DDD4D352}"/>
                  </a:ext>
                </a:extLst>
              </p:cNvPr>
              <p:cNvSpPr/>
              <p:nvPr/>
            </p:nvSpPr>
            <p:spPr>
              <a:xfrm>
                <a:off x="7173056" y="2210797"/>
                <a:ext cx="3406527" cy="3406525"/>
              </a:xfrm>
              <a:prstGeom prst="ellipse">
                <a:avLst/>
              </a:prstGeom>
              <a:solidFill>
                <a:srgbClr val="656E7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n>
                    <a:solidFill>
                      <a:srgbClr val="7E8080">
                        <a:alpha val="0"/>
                      </a:srgbClr>
                    </a:solidFill>
                  </a:ln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47776D26-4E03-8A57-CBC4-39E5576E1C47}"/>
                  </a:ext>
                </a:extLst>
              </p:cNvPr>
              <p:cNvSpPr/>
              <p:nvPr/>
            </p:nvSpPr>
            <p:spPr>
              <a:xfrm>
                <a:off x="1612414" y="2210797"/>
                <a:ext cx="3406527" cy="3406525"/>
              </a:xfrm>
              <a:prstGeom prst="ellipse">
                <a:avLst/>
              </a:prstGeom>
              <a:solidFill>
                <a:srgbClr val="656E7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n>
                    <a:solidFill>
                      <a:srgbClr val="7E8080">
                        <a:alpha val="0"/>
                      </a:srgbClr>
                    </a:solidFill>
                  </a:ln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D2520C14-8E3A-D9B5-94D2-1138DF43FD3F}"/>
                  </a:ext>
                </a:extLst>
              </p:cNvPr>
              <p:cNvSpPr/>
              <p:nvPr/>
            </p:nvSpPr>
            <p:spPr>
              <a:xfrm>
                <a:off x="4392736" y="2210797"/>
                <a:ext cx="3406527" cy="3406525"/>
              </a:xfrm>
              <a:prstGeom prst="ellipse">
                <a:avLst/>
              </a:prstGeom>
              <a:solidFill>
                <a:srgbClr val="656E7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n>
                    <a:solidFill>
                      <a:srgbClr val="7E8080">
                        <a:alpha val="0"/>
                      </a:srgbClr>
                    </a:solidFill>
                  </a:ln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DDCEF2C-6690-EB8D-6B73-067FF895950A}"/>
                  </a:ext>
                </a:extLst>
              </p:cNvPr>
              <p:cNvSpPr txBox="1"/>
              <p:nvPr/>
            </p:nvSpPr>
            <p:spPr bwMode="auto">
              <a:xfrm>
                <a:off x="2350586" y="3479231"/>
                <a:ext cx="1877534" cy="86966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kumimoji="1" lang="en-US" altLang="ko-KR" sz="2400" spc="-30" dirty="0">
                    <a:ln>
                      <a:solidFill>
                        <a:srgbClr val="7E808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Lato" panose="020B0604020202020204" charset="0"/>
                    <a:ea typeface="에스코어 드림 5 Medium" panose="020B0503030302020204" pitchFamily="34" charset="-127"/>
                  </a:rPr>
                  <a:t>Muscle </a:t>
                </a:r>
              </a:p>
              <a:p>
                <a:pPr algn="ctr"/>
                <a:r>
                  <a:rPr kumimoji="1" lang="en-US" altLang="ko-KR" sz="2400" spc="-30" dirty="0">
                    <a:ln>
                      <a:solidFill>
                        <a:srgbClr val="7E808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Lato" panose="020B0604020202020204" charset="0"/>
                    <a:ea typeface="에스코어 드림 5 Medium" panose="020B0503030302020204" pitchFamily="34" charset="-127"/>
                  </a:rPr>
                  <a:t>&amp; Fat Mass</a:t>
                </a:r>
                <a:endParaRPr kumimoji="1" lang="en-US" altLang="ko-KR" sz="2400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Lato" panose="020B0604020202020204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F9F103C-4B17-818A-9929-F7654C03391A}"/>
                  </a:ext>
                </a:extLst>
              </p:cNvPr>
              <p:cNvSpPr txBox="1"/>
              <p:nvPr/>
            </p:nvSpPr>
            <p:spPr bwMode="auto">
              <a:xfrm>
                <a:off x="5157232" y="3672488"/>
                <a:ext cx="1877534" cy="48314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kumimoji="1" lang="en-US" altLang="ko-KR" sz="2400" spc="-30" dirty="0">
                    <a:ln>
                      <a:solidFill>
                        <a:srgbClr val="7E808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Lato" panose="020B0604020202020204" charset="0"/>
                  </a:rPr>
                  <a:t>Edema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7B5CA85-FFD1-5F28-9A84-FE9E80DC52DC}"/>
                  </a:ext>
                </a:extLst>
              </p:cNvPr>
              <p:cNvSpPr txBox="1"/>
              <p:nvPr/>
            </p:nvSpPr>
            <p:spPr bwMode="auto">
              <a:xfrm>
                <a:off x="7994516" y="3672488"/>
                <a:ext cx="2015824" cy="48314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kumimoji="1" lang="en-US" altLang="ko-KR" sz="2400" spc="-30" dirty="0">
                    <a:ln>
                      <a:solidFill>
                        <a:srgbClr val="7E808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Lato" panose="020B0604020202020204" charset="0"/>
                  </a:rPr>
                  <a:t>Phase Angle</a:t>
                </a:r>
                <a:endParaRPr lang="ko-KR" altLang="en-US" sz="240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latin typeface="Lato" panose="020B0604020202020204" charset="0"/>
                  <a:ea typeface="Noto Sans KR" panose="020B0500000000000000" pitchFamily="34" charset="-127"/>
                </a:endParaRPr>
              </a:p>
            </p:txBody>
          </p:sp>
          <p:sp>
            <p:nvSpPr>
              <p:cNvPr id="24" name="자유형: 도형 38">
                <a:extLst>
                  <a:ext uri="{FF2B5EF4-FFF2-40B4-BE49-F238E27FC236}">
                    <a16:creationId xmlns:a16="http://schemas.microsoft.com/office/drawing/2014/main" id="{83B38BD4-A8E6-EA5A-F8DC-DDA9BFEBB6AB}"/>
                  </a:ext>
                </a:extLst>
              </p:cNvPr>
              <p:cNvSpPr/>
              <p:nvPr/>
            </p:nvSpPr>
            <p:spPr>
              <a:xfrm>
                <a:off x="4392736" y="2932045"/>
                <a:ext cx="626206" cy="1964029"/>
              </a:xfrm>
              <a:custGeom>
                <a:avLst/>
                <a:gdLst>
                  <a:gd name="connsiteX0" fmla="*/ 313103 w 626206"/>
                  <a:gd name="connsiteY0" fmla="*/ 0 h 1964029"/>
                  <a:gd name="connsiteX1" fmla="*/ 335316 w 626206"/>
                  <a:gd name="connsiteY1" fmla="*/ 29704 h 1964029"/>
                  <a:gd name="connsiteX2" fmla="*/ 626206 w 626206"/>
                  <a:gd name="connsiteY2" fmla="*/ 982014 h 1964029"/>
                  <a:gd name="connsiteX3" fmla="*/ 335316 w 626206"/>
                  <a:gd name="connsiteY3" fmla="*/ 1934325 h 1964029"/>
                  <a:gd name="connsiteX4" fmla="*/ 313103 w 626206"/>
                  <a:gd name="connsiteY4" fmla="*/ 1964029 h 1964029"/>
                  <a:gd name="connsiteX5" fmla="*/ 290891 w 626206"/>
                  <a:gd name="connsiteY5" fmla="*/ 1934325 h 1964029"/>
                  <a:gd name="connsiteX6" fmla="*/ 0 w 626206"/>
                  <a:gd name="connsiteY6" fmla="*/ 982014 h 1964029"/>
                  <a:gd name="connsiteX7" fmla="*/ 290891 w 626206"/>
                  <a:gd name="connsiteY7" fmla="*/ 29704 h 1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26206" h="1964029">
                    <a:moveTo>
                      <a:pt x="313103" y="0"/>
                    </a:moveTo>
                    <a:lnTo>
                      <a:pt x="335316" y="29704"/>
                    </a:lnTo>
                    <a:cubicBezTo>
                      <a:pt x="518969" y="301546"/>
                      <a:pt x="626206" y="629257"/>
                      <a:pt x="626206" y="982014"/>
                    </a:cubicBezTo>
                    <a:cubicBezTo>
                      <a:pt x="626206" y="1334772"/>
                      <a:pt x="518969" y="1662482"/>
                      <a:pt x="335316" y="1934325"/>
                    </a:cubicBezTo>
                    <a:lnTo>
                      <a:pt x="313103" y="1964029"/>
                    </a:lnTo>
                    <a:lnTo>
                      <a:pt x="290891" y="1934325"/>
                    </a:lnTo>
                    <a:cubicBezTo>
                      <a:pt x="107238" y="1662482"/>
                      <a:pt x="0" y="1334772"/>
                      <a:pt x="0" y="982014"/>
                    </a:cubicBezTo>
                    <a:cubicBezTo>
                      <a:pt x="0" y="629257"/>
                      <a:pt x="107238" y="301546"/>
                      <a:pt x="290891" y="29704"/>
                    </a:cubicBezTo>
                    <a:close/>
                  </a:path>
                </a:pathLst>
              </a:custGeom>
              <a:solidFill>
                <a:srgbClr val="484F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n>
                    <a:solidFill>
                      <a:srgbClr val="7E8080">
                        <a:alpha val="0"/>
                      </a:srgbClr>
                    </a:solidFill>
                  </a:ln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25" name="자유형: 도형 39">
                <a:extLst>
                  <a:ext uri="{FF2B5EF4-FFF2-40B4-BE49-F238E27FC236}">
                    <a16:creationId xmlns:a16="http://schemas.microsoft.com/office/drawing/2014/main" id="{DCDA43B1-2364-3120-384C-77A641BB0474}"/>
                  </a:ext>
                </a:extLst>
              </p:cNvPr>
              <p:cNvSpPr/>
              <p:nvPr/>
            </p:nvSpPr>
            <p:spPr>
              <a:xfrm>
                <a:off x="7173057" y="2932045"/>
                <a:ext cx="626206" cy="1964029"/>
              </a:xfrm>
              <a:custGeom>
                <a:avLst/>
                <a:gdLst>
                  <a:gd name="connsiteX0" fmla="*/ 313103 w 626206"/>
                  <a:gd name="connsiteY0" fmla="*/ 0 h 1964029"/>
                  <a:gd name="connsiteX1" fmla="*/ 335316 w 626206"/>
                  <a:gd name="connsiteY1" fmla="*/ 29704 h 1964029"/>
                  <a:gd name="connsiteX2" fmla="*/ 626206 w 626206"/>
                  <a:gd name="connsiteY2" fmla="*/ 982014 h 1964029"/>
                  <a:gd name="connsiteX3" fmla="*/ 335316 w 626206"/>
                  <a:gd name="connsiteY3" fmla="*/ 1934325 h 1964029"/>
                  <a:gd name="connsiteX4" fmla="*/ 313103 w 626206"/>
                  <a:gd name="connsiteY4" fmla="*/ 1964029 h 1964029"/>
                  <a:gd name="connsiteX5" fmla="*/ 290891 w 626206"/>
                  <a:gd name="connsiteY5" fmla="*/ 1934325 h 1964029"/>
                  <a:gd name="connsiteX6" fmla="*/ 0 w 626206"/>
                  <a:gd name="connsiteY6" fmla="*/ 982014 h 1964029"/>
                  <a:gd name="connsiteX7" fmla="*/ 290891 w 626206"/>
                  <a:gd name="connsiteY7" fmla="*/ 29704 h 1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26206" h="1964029">
                    <a:moveTo>
                      <a:pt x="313103" y="0"/>
                    </a:moveTo>
                    <a:lnTo>
                      <a:pt x="335316" y="29704"/>
                    </a:lnTo>
                    <a:cubicBezTo>
                      <a:pt x="518969" y="301546"/>
                      <a:pt x="626206" y="629257"/>
                      <a:pt x="626206" y="982014"/>
                    </a:cubicBezTo>
                    <a:cubicBezTo>
                      <a:pt x="626206" y="1334772"/>
                      <a:pt x="518969" y="1662482"/>
                      <a:pt x="335316" y="1934325"/>
                    </a:cubicBezTo>
                    <a:lnTo>
                      <a:pt x="313103" y="1964029"/>
                    </a:lnTo>
                    <a:lnTo>
                      <a:pt x="290891" y="1934325"/>
                    </a:lnTo>
                    <a:cubicBezTo>
                      <a:pt x="107238" y="1662482"/>
                      <a:pt x="0" y="1334772"/>
                      <a:pt x="0" y="982014"/>
                    </a:cubicBezTo>
                    <a:cubicBezTo>
                      <a:pt x="0" y="629257"/>
                      <a:pt x="107238" y="301546"/>
                      <a:pt x="290891" y="29704"/>
                    </a:cubicBezTo>
                    <a:close/>
                  </a:path>
                </a:pathLst>
              </a:custGeom>
              <a:solidFill>
                <a:srgbClr val="484F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n>
                    <a:solidFill>
                      <a:srgbClr val="7E8080">
                        <a:alpha val="0"/>
                      </a:srgbClr>
                    </a:solidFill>
                  </a:ln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A113650-9519-2742-6153-6E4B81CEE5CA}"/>
              </a:ext>
            </a:extLst>
          </p:cNvPr>
          <p:cNvGrpSpPr/>
          <p:nvPr/>
        </p:nvGrpSpPr>
        <p:grpSpPr>
          <a:xfrm>
            <a:off x="697894" y="824052"/>
            <a:ext cx="10796213" cy="741229"/>
            <a:chOff x="697894" y="1304259"/>
            <a:chExt cx="10796213" cy="741229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DB1FB57-34D1-7C3F-35B9-5E52D099E9CA}"/>
                </a:ext>
              </a:extLst>
            </p:cNvPr>
            <p:cNvSpPr txBox="1"/>
            <p:nvPr/>
          </p:nvSpPr>
          <p:spPr>
            <a:xfrm>
              <a:off x="697894" y="1304259"/>
              <a:ext cx="10796213" cy="741229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sz="2400" b="1" dirty="0" err="1">
                  <a:solidFill>
                    <a:srgbClr val="9D1F3A"/>
                  </a:solidFill>
                  <a:latin typeface="Lato" panose="020B0604020202020204" charset="0"/>
                </a:rPr>
                <a:t>InBody</a:t>
              </a:r>
              <a:r>
                <a:rPr lang="en-US" altLang="ko-KR" sz="2400" b="1" dirty="0">
                  <a:solidFill>
                    <a:srgbClr val="9D1F3A"/>
                  </a:solidFill>
                  <a:latin typeface="Lato" panose="020B0604020202020204" charset="0"/>
                </a:rPr>
                <a:t> Key Indicators </a:t>
              </a:r>
              <a:r>
                <a:rPr lang="en-US" altLang="ko-KR" sz="2400" dirty="0">
                  <a:latin typeface="Lato" panose="020B0604020202020204" charset="0"/>
                </a:rPr>
                <a:t>for </a:t>
              </a:r>
              <a:r>
                <a:rPr lang="en-US" altLang="ko-KR" sz="2400" b="1" dirty="0">
                  <a:latin typeface="Lato" panose="020B0604020202020204" charset="0"/>
                </a:rPr>
                <a:t>Obesity</a:t>
              </a:r>
              <a:r>
                <a:rPr lang="en-US" altLang="ko-KR" sz="2400" dirty="0">
                  <a:latin typeface="Lato" panose="020B0604020202020204" charset="0"/>
                </a:rPr>
                <a:t> and </a:t>
              </a:r>
              <a:r>
                <a:rPr lang="en-US" altLang="ko-KR" sz="2400" b="1" dirty="0">
                  <a:latin typeface="Lato" panose="020B0604020202020204" charset="0"/>
                </a:rPr>
                <a:t>Diabetes</a:t>
              </a:r>
              <a:endParaRPr kumimoji="1" lang="en-US" altLang="ko-KR" sz="2400" b="1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9E0B28"/>
                </a:solidFill>
                <a:latin typeface="Lato" panose="020B0604020202020204" charset="0"/>
                <a:ea typeface="에스코어 드림 6 Bold" panose="020B0703030302020204" pitchFamily="34" charset="-127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71751A22-2180-A6A7-B408-36E73F8E1B5B}"/>
                </a:ext>
              </a:extLst>
            </p:cNvPr>
            <p:cNvGrpSpPr/>
            <p:nvPr/>
          </p:nvGrpSpPr>
          <p:grpSpPr>
            <a:xfrm rot="5400000">
              <a:off x="5954652" y="-2582802"/>
              <a:ext cx="282698" cy="8515352"/>
              <a:chOff x="1" y="1222436"/>
              <a:chExt cx="12191999" cy="1038225"/>
            </a:xfrm>
          </p:grpSpPr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F8D9EB05-F900-E4E8-87C4-1F3BC6FAC1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" y="1222436"/>
                <a:ext cx="12191999" cy="0"/>
              </a:xfrm>
              <a:prstGeom prst="line">
                <a:avLst/>
              </a:prstGeom>
              <a:ln w="12700">
                <a:solidFill>
                  <a:srgbClr val="3C3C3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5429F017-D65B-0823-949F-8BF48DC9EA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" y="2260661"/>
                <a:ext cx="12191999" cy="0"/>
              </a:xfrm>
              <a:prstGeom prst="line">
                <a:avLst/>
              </a:prstGeom>
              <a:ln w="12700">
                <a:solidFill>
                  <a:srgbClr val="3C3C3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05016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Lato" panose="020B0604020202020204" charset="0"/>
                  <a:ea typeface="에스코어 드림 6 Bold" panose="020B0703030302020204" pitchFamily="34" charset="-127"/>
                </a:rPr>
                <a:t>Muscle &amp; Fat Mass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01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816761" y="2495290"/>
            <a:ext cx="2845549" cy="2932908"/>
            <a:chOff x="1162635" y="2161240"/>
            <a:chExt cx="3772681" cy="3718489"/>
          </a:xfrm>
        </p:grpSpPr>
        <p:grpSp>
          <p:nvGrpSpPr>
            <p:cNvPr id="49" name="그룹 48"/>
            <p:cNvGrpSpPr/>
            <p:nvPr/>
          </p:nvGrpSpPr>
          <p:grpSpPr>
            <a:xfrm>
              <a:off x="1162635" y="2161240"/>
              <a:ext cx="2210153" cy="3718489"/>
              <a:chOff x="1162635" y="2161240"/>
              <a:chExt cx="2210153" cy="3718489"/>
            </a:xfrm>
          </p:grpSpPr>
          <p:pic>
            <p:nvPicPr>
              <p:cNvPr id="55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04" t="7182" r="59316" b="5502"/>
              <a:stretch/>
            </p:blipFill>
            <p:spPr bwMode="auto">
              <a:xfrm>
                <a:off x="1819656" y="2161240"/>
                <a:ext cx="896112" cy="3410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C84BF3BE-89EC-23C3-C58C-066F3AE66EAF}"/>
                  </a:ext>
                </a:extLst>
              </p:cNvPr>
              <p:cNvSpPr/>
              <p:nvPr/>
            </p:nvSpPr>
            <p:spPr>
              <a:xfrm>
                <a:off x="1162635" y="5571952"/>
                <a:ext cx="2210153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 anchorCtr="0">
                <a:spAutoFit/>
              </a:bodyPr>
              <a:lstStyle/>
              <a:p>
                <a:pPr algn="ctr" latinLnBrk="0">
                  <a:spcBef>
                    <a:spcPts val="800"/>
                  </a:spcBef>
                </a:pPr>
                <a:r>
                  <a:rPr lang="en-US" altLang="ko-KR" sz="1400" spc="-30" dirty="0">
                    <a:ln>
                      <a:solidFill>
                        <a:srgbClr val="9E0B28">
                          <a:alpha val="0"/>
                        </a:srgbClr>
                      </a:solidFill>
                    </a:ln>
                    <a:solidFill>
                      <a:srgbClr val="3C3C3A"/>
                    </a:solidFill>
                    <a:ea typeface="에스코어 드림 5 Medium" panose="020B0503030302020204"/>
                  </a:rPr>
                  <a:t>Normal Muscle</a:t>
                </a:r>
                <a:endParaRPr lang="ko-KR" altLang="en-US" sz="1400" spc="-100" dirty="0">
                  <a:ln w="12700">
                    <a:solidFill>
                      <a:srgbClr val="DDE0E7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a typeface="에스코어 드림 4 Regular" panose="020B0503030302020204"/>
                </a:endParaRPr>
              </a:p>
            </p:txBody>
          </p:sp>
        </p:grpSp>
        <p:grpSp>
          <p:nvGrpSpPr>
            <p:cNvPr id="50" name="그룹 49"/>
            <p:cNvGrpSpPr/>
            <p:nvPr/>
          </p:nvGrpSpPr>
          <p:grpSpPr>
            <a:xfrm>
              <a:off x="2725163" y="2252680"/>
              <a:ext cx="2210153" cy="3621161"/>
              <a:chOff x="2725163" y="2252680"/>
              <a:chExt cx="2210153" cy="3621161"/>
            </a:xfrm>
          </p:grpSpPr>
          <p:pic>
            <p:nvPicPr>
              <p:cNvPr id="53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1412" t="9289" r="17024" b="5737"/>
              <a:stretch/>
            </p:blipFill>
            <p:spPr bwMode="auto">
              <a:xfrm>
                <a:off x="3409616" y="2252680"/>
                <a:ext cx="822960" cy="3319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C84BF3BE-89EC-23C3-C58C-066F3AE66EAF}"/>
                  </a:ext>
                </a:extLst>
              </p:cNvPr>
              <p:cNvSpPr/>
              <p:nvPr/>
            </p:nvSpPr>
            <p:spPr>
              <a:xfrm>
                <a:off x="2725163" y="5566064"/>
                <a:ext cx="2210153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 anchorCtr="0">
                <a:spAutoFit/>
              </a:bodyPr>
              <a:lstStyle/>
              <a:p>
                <a:pPr algn="ctr" latinLnBrk="0">
                  <a:spcBef>
                    <a:spcPts val="800"/>
                  </a:spcBef>
                </a:pPr>
                <a:r>
                  <a:rPr lang="en-US" altLang="ko-KR" sz="1400" spc="-30" dirty="0">
                    <a:ln>
                      <a:solidFill>
                        <a:srgbClr val="9E0B28">
                          <a:alpha val="0"/>
                        </a:srgbClr>
                      </a:solidFill>
                    </a:ln>
                    <a:solidFill>
                      <a:srgbClr val="3C3C3A"/>
                    </a:solidFill>
                    <a:ea typeface="에스코어 드림 5 Medium" panose="020B0503030302020204"/>
                  </a:rPr>
                  <a:t>Lost Muscle</a:t>
                </a:r>
                <a:endParaRPr lang="ko-KR" altLang="en-US" sz="1400" spc="-100" dirty="0">
                  <a:ln w="12700">
                    <a:solidFill>
                      <a:srgbClr val="DDE0E7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a typeface="에스코어 드림 4 Regular" panose="020B0503030302020204"/>
                </a:endParaRPr>
              </a:p>
            </p:txBody>
          </p:sp>
        </p:grpSp>
      </p:grpSp>
      <p:grpSp>
        <p:nvGrpSpPr>
          <p:cNvPr id="69" name="그룹 68"/>
          <p:cNvGrpSpPr/>
          <p:nvPr/>
        </p:nvGrpSpPr>
        <p:grpSpPr>
          <a:xfrm>
            <a:off x="8696677" y="2550897"/>
            <a:ext cx="3194243" cy="2274366"/>
            <a:chOff x="8672743" y="1659215"/>
            <a:chExt cx="3438083" cy="2512303"/>
          </a:xfrm>
        </p:grpSpPr>
        <p:pic>
          <p:nvPicPr>
            <p:cNvPr id="70" name="图片 3">
              <a:extLst>
                <a:ext uri="{FF2B5EF4-FFF2-40B4-BE49-F238E27FC236}">
                  <a16:creationId xmlns:a16="http://schemas.microsoft.com/office/drawing/2014/main" id="{0F0D87B0-38BB-13BA-3876-3A5C597987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384" t="30253" r="50000" b="20264"/>
            <a:stretch/>
          </p:blipFill>
          <p:spPr>
            <a:xfrm>
              <a:off x="8672743" y="2092948"/>
              <a:ext cx="1748800" cy="2078570"/>
            </a:xfrm>
            <a:prstGeom prst="rect">
              <a:avLst/>
            </a:prstGeom>
          </p:spPr>
        </p:pic>
        <p:grpSp>
          <p:nvGrpSpPr>
            <p:cNvPr id="71" name="그룹 70"/>
            <p:cNvGrpSpPr/>
            <p:nvPr/>
          </p:nvGrpSpPr>
          <p:grpSpPr>
            <a:xfrm>
              <a:off x="10073727" y="1659215"/>
              <a:ext cx="2037099" cy="2456252"/>
              <a:chOff x="10149558" y="1598112"/>
              <a:chExt cx="2240084" cy="2672249"/>
            </a:xfrm>
          </p:grpSpPr>
          <p:cxnSp>
            <p:nvCxnSpPr>
              <p:cNvPr id="72" name="직선 연결선 71"/>
              <p:cNvCxnSpPr/>
              <p:nvPr/>
            </p:nvCxnSpPr>
            <p:spPr>
              <a:xfrm>
                <a:off x="10278482" y="3461987"/>
                <a:ext cx="575867" cy="517107"/>
              </a:xfrm>
              <a:prstGeom prst="line">
                <a:avLst/>
              </a:prstGeom>
              <a:ln>
                <a:solidFill>
                  <a:srgbClr val="B50938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/>
              <p:cNvSpPr txBox="1"/>
              <p:nvPr/>
            </p:nvSpPr>
            <p:spPr>
              <a:xfrm>
                <a:off x="10384730" y="3962584"/>
                <a:ext cx="200491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Subcutaneous fat</a:t>
                </a:r>
                <a:endParaRPr lang="ko-KR" altLang="en-US" sz="1400" dirty="0"/>
              </a:p>
            </p:txBody>
          </p:sp>
          <p:cxnSp>
            <p:nvCxnSpPr>
              <p:cNvPr id="74" name="직선 연결선 73"/>
              <p:cNvCxnSpPr/>
              <p:nvPr/>
            </p:nvCxnSpPr>
            <p:spPr>
              <a:xfrm flipV="1">
                <a:off x="10149558" y="1980636"/>
                <a:ext cx="617595" cy="818778"/>
              </a:xfrm>
              <a:prstGeom prst="line">
                <a:avLst/>
              </a:prstGeom>
              <a:ln>
                <a:solidFill>
                  <a:srgbClr val="B50938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TextBox 74"/>
              <p:cNvSpPr txBox="1"/>
              <p:nvPr/>
            </p:nvSpPr>
            <p:spPr>
              <a:xfrm>
                <a:off x="10384730" y="1598112"/>
                <a:ext cx="13850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Visceral fat</a:t>
                </a:r>
                <a:endParaRPr lang="ko-KR" altLang="en-US" sz="1400" dirty="0"/>
              </a:p>
            </p:txBody>
          </p:sp>
        </p:grpSp>
      </p:grpSp>
      <p:grpSp>
        <p:nvGrpSpPr>
          <p:cNvPr id="3" name="그룹 2"/>
          <p:cNvGrpSpPr/>
          <p:nvPr/>
        </p:nvGrpSpPr>
        <p:grpSpPr>
          <a:xfrm>
            <a:off x="3565931" y="525294"/>
            <a:ext cx="4828095" cy="5675941"/>
            <a:chOff x="3565931" y="525294"/>
            <a:chExt cx="4828095" cy="5675941"/>
          </a:xfrm>
        </p:grpSpPr>
        <p:grpSp>
          <p:nvGrpSpPr>
            <p:cNvPr id="7" name="그룹 6"/>
            <p:cNvGrpSpPr/>
            <p:nvPr/>
          </p:nvGrpSpPr>
          <p:grpSpPr>
            <a:xfrm>
              <a:off x="3565931" y="525294"/>
              <a:ext cx="4828095" cy="5675941"/>
              <a:chOff x="3545611" y="596414"/>
              <a:chExt cx="4828095" cy="5675941"/>
            </a:xfrm>
          </p:grpSpPr>
          <p:grpSp>
            <p:nvGrpSpPr>
              <p:cNvPr id="6" name="그룹 5"/>
              <p:cNvGrpSpPr/>
              <p:nvPr/>
            </p:nvGrpSpPr>
            <p:grpSpPr>
              <a:xfrm>
                <a:off x="3545611" y="596414"/>
                <a:ext cx="4828095" cy="5675941"/>
                <a:chOff x="763289" y="761642"/>
                <a:chExt cx="4828095" cy="5675941"/>
              </a:xfrm>
            </p:grpSpPr>
            <p:grpSp>
              <p:nvGrpSpPr>
                <p:cNvPr id="5" name="그룹 4"/>
                <p:cNvGrpSpPr>
                  <a:grpSpLocks noChangeAspect="1"/>
                </p:cNvGrpSpPr>
                <p:nvPr/>
              </p:nvGrpSpPr>
              <p:grpSpPr>
                <a:xfrm>
                  <a:off x="763289" y="761642"/>
                  <a:ext cx="4828095" cy="5675941"/>
                  <a:chOff x="5114808" y="1722965"/>
                  <a:chExt cx="4232334" cy="4975560"/>
                </a:xfrm>
              </p:grpSpPr>
              <p:grpSp>
                <p:nvGrpSpPr>
                  <p:cNvPr id="29" name="그룹 28"/>
                  <p:cNvGrpSpPr/>
                  <p:nvPr/>
                </p:nvGrpSpPr>
                <p:grpSpPr>
                  <a:xfrm>
                    <a:off x="5114808" y="1722965"/>
                    <a:ext cx="3927884" cy="4975560"/>
                    <a:chOff x="793835" y="2371108"/>
                    <a:chExt cx="3927884" cy="4975560"/>
                  </a:xfrm>
                </p:grpSpPr>
                <p:pic>
                  <p:nvPicPr>
                    <p:cNvPr id="41" name="그림 40"/>
                    <p:cNvPicPr>
                      <a:picLocks noChangeAspect="1"/>
                    </p:cNvPicPr>
                    <p:nvPr/>
                  </p:nvPicPr>
                  <p:blipFill rotWithShape="1">
                    <a:blip r:embed="rId5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t="223" b="321"/>
                    <a:stretch/>
                  </p:blipFill>
                  <p:spPr>
                    <a:xfrm>
                      <a:off x="1169926" y="2371108"/>
                      <a:ext cx="3551793" cy="497556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42" name="그림 41"/>
                    <p:cNvPicPr>
                      <a:picLocks noChangeAspect="1"/>
                    </p:cNvPicPr>
                    <p:nvPr/>
                  </p:nvPicPr>
                  <p:blipFill rotWithShape="1">
                    <a:blip r:embed="rId5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3149" t="40208" r="36735" b="49180"/>
                    <a:stretch/>
                  </p:blipFill>
                  <p:spPr>
                    <a:xfrm>
                      <a:off x="793835" y="4498278"/>
                      <a:ext cx="2595725" cy="645345"/>
                    </a:xfrm>
                    <a:prstGeom prst="rect">
                      <a:avLst/>
                    </a:prstGeom>
                    <a:ln w="31750">
                      <a:solidFill>
                        <a:srgbClr val="9D1F3A"/>
                      </a:solidFill>
                    </a:ln>
                  </p:spPr>
                </p:pic>
              </p:grpSp>
              <p:pic>
                <p:nvPicPr>
                  <p:cNvPr id="43" name="그림 42"/>
                  <p:cNvPicPr>
                    <a:picLocks noChangeAspect="1"/>
                  </p:cNvPicPr>
                  <p:nvPr/>
                </p:nvPicPr>
                <p:blipFill rotWithShape="1"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4366" t="21980" r="2989" b="60802"/>
                  <a:stretch/>
                </p:blipFill>
                <p:spPr>
                  <a:xfrm>
                    <a:off x="7803140" y="2876387"/>
                    <a:ext cx="1544002" cy="1146973"/>
                  </a:xfrm>
                  <a:prstGeom prst="rect">
                    <a:avLst/>
                  </a:prstGeom>
                  <a:ln w="31750">
                    <a:solidFill>
                      <a:srgbClr val="9D1F3A"/>
                    </a:solidFill>
                  </a:ln>
                </p:spPr>
              </p:pic>
            </p:grpSp>
            <p:pic>
              <p:nvPicPr>
                <p:cNvPr id="44" name="그림 43"/>
                <p:cNvPicPr>
                  <a:picLocks noChangeAspect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070" t="27665" r="36152" b="59757"/>
                <a:stretch/>
              </p:blipFill>
              <p:spPr>
                <a:xfrm>
                  <a:off x="763289" y="2228276"/>
                  <a:ext cx="2972021" cy="866284"/>
                </a:xfrm>
                <a:prstGeom prst="rect">
                  <a:avLst/>
                </a:prstGeom>
                <a:ln w="31750">
                  <a:solidFill>
                    <a:srgbClr val="9D1F3A"/>
                  </a:solidFill>
                </a:ln>
              </p:spPr>
            </p:pic>
          </p:grpSp>
          <p:sp>
            <p:nvSpPr>
              <p:cNvPr id="46" name="TextBox 45"/>
              <p:cNvSpPr txBox="1"/>
              <p:nvPr/>
            </p:nvSpPr>
            <p:spPr>
              <a:xfrm>
                <a:off x="7288758" y="3602078"/>
                <a:ext cx="3272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solidFill>
                      <a:srgbClr val="C00000"/>
                    </a:solidFill>
                  </a:rPr>
                  <a:t>√</a:t>
                </a:r>
                <a:endParaRPr lang="ko-KR" altLang="en-US" sz="1500" dirty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2" name="직사각형 1"/>
            <p:cNvSpPr/>
            <p:nvPr/>
          </p:nvSpPr>
          <p:spPr>
            <a:xfrm>
              <a:off x="4187952" y="1004913"/>
              <a:ext cx="286512" cy="153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n>
                  <a:solidFill>
                    <a:srgbClr val="7E8080">
                      <a:alpha val="0"/>
                    </a:srgb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Body Composition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19147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Lato" panose="020B0604020202020204" charset="0"/>
                  <a:ea typeface="에스코어 드림 6 Bold" panose="020B0703030302020204" pitchFamily="34" charset="-127"/>
                </a:rPr>
                <a:t>Muscle &amp; Fat Mass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01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6717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Effect of </a:t>
            </a:r>
            <a:r>
              <a:rPr kumimoji="1" lang="en-US" altLang="ko-KR" sz="1600" spc="-30" dirty="0" err="1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Semaglutide</a:t>
            </a:r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 on Body Composition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776" y="2260507"/>
            <a:ext cx="4400336" cy="251668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776" y="1622071"/>
            <a:ext cx="2095792" cy="638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3308" y="2260335"/>
            <a:ext cx="500608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Lato" panose="020B0604020202020204"/>
              </a:rPr>
              <a:t>[Key Finding]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b="1" dirty="0">
                <a:latin typeface="Lato" panose="020B0604020202020204" charset="0"/>
              </a:rPr>
              <a:t>Weight Loss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b="1" dirty="0">
                <a:latin typeface="Lato" panose="020B0604020202020204" charset="0"/>
              </a:rPr>
              <a:t>Fat Reduction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b="1" dirty="0">
                <a:latin typeface="Lato" panose="020B0604020202020204" charset="0"/>
              </a:rPr>
              <a:t>Phase Angle Stability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b="1" dirty="0">
                <a:latin typeface="Lato" panose="020B0604020202020204" charset="0"/>
              </a:rPr>
              <a:t>Improved Metabolic Parameters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Lato" panose="020B0604020202020204" charset="0"/>
              </a:rPr>
              <a:t>Efficacy Across Administration Modes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Lato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Lato" panose="020B0604020202020204"/>
              </a:rPr>
              <a:t>[Conclusion]</a:t>
            </a:r>
          </a:p>
          <a:p>
            <a:pPr>
              <a:lnSpc>
                <a:spcPct val="150000"/>
              </a:lnSpc>
            </a:pPr>
            <a:r>
              <a:rPr lang="en-US" altLang="ko-KR" sz="1400" dirty="0" err="1"/>
              <a:t>Semaglutide</a:t>
            </a:r>
            <a:r>
              <a:rPr lang="en-US" altLang="ko-KR" sz="1400" dirty="0"/>
              <a:t> demonstrated significant benefits in </a:t>
            </a:r>
            <a:r>
              <a:rPr lang="en-US" altLang="ko-KR" sz="1400" b="1" dirty="0">
                <a:solidFill>
                  <a:srgbClr val="9D1F3A"/>
                </a:solidFill>
              </a:rPr>
              <a:t>managing obesity and T2DM </a:t>
            </a:r>
            <a:r>
              <a:rPr lang="en-US" altLang="ko-KR" sz="1400" dirty="0"/>
              <a:t>by reducing FM and improving metabolic parameters </a:t>
            </a:r>
            <a:r>
              <a:rPr lang="en-US" altLang="ko-KR" sz="1400" b="1" dirty="0">
                <a:solidFill>
                  <a:srgbClr val="9D1F3A"/>
                </a:solidFill>
              </a:rPr>
              <a:t>while preserving lean body mass</a:t>
            </a:r>
            <a:r>
              <a:rPr lang="en-US" altLang="ko-KR" sz="1400" dirty="0"/>
              <a:t>.</a:t>
            </a:r>
            <a:endParaRPr lang="en-US" altLang="ko-KR" sz="1400" dirty="0">
              <a:latin typeface="Lato" panose="020B0604020202020204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967" y="4888744"/>
            <a:ext cx="4400336" cy="101959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6"/>
          <a:srcRect b="3658"/>
          <a:stretch/>
        </p:blipFill>
        <p:spPr>
          <a:xfrm>
            <a:off x="8555041" y="1622071"/>
            <a:ext cx="3263921" cy="1360617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1763486" y="2950030"/>
            <a:ext cx="1632857" cy="0"/>
          </a:xfrm>
          <a:prstGeom prst="line">
            <a:avLst/>
          </a:prstGeom>
          <a:ln w="28575">
            <a:solidFill>
              <a:srgbClr val="9D1F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017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Lato" panose="020B0604020202020204" charset="0"/>
                  <a:ea typeface="에스코어 드림 6 Bold" panose="020B0703030302020204" pitchFamily="34" charset="-127"/>
                </a:rPr>
                <a:t>Muscle &amp; Fat Mass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01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Efficient Fat Reduction with Muscle Mass Preservation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14" y="1604578"/>
            <a:ext cx="6064314" cy="339568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392" y="5280624"/>
            <a:ext cx="3448531" cy="63826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114" y="5256808"/>
            <a:ext cx="3410426" cy="68589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7775" y="2215601"/>
            <a:ext cx="3127538" cy="35631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53096" y="1192927"/>
            <a:ext cx="4098439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>
                <a:solidFill>
                  <a:srgbClr val="4B4F5A"/>
                </a:solidFill>
                <a:latin typeface="Lato" panose="020B0604020202020204" charset="0"/>
                <a:ea typeface="Lato Black" panose="020F0502020204030203" pitchFamily="34" charset="0"/>
                <a:cs typeface="Lato Black" panose="020F0502020204030203" pitchFamily="34" charset="0"/>
              </a:rPr>
              <a:t>→ </a:t>
            </a:r>
            <a:r>
              <a:rPr lang="en-US" altLang="ko-KR" sz="1400" dirty="0">
                <a:solidFill>
                  <a:srgbClr val="4B4F5A"/>
                </a:solidFill>
                <a:latin typeface="Lato" panose="020B0604020202020204" charset="0"/>
                <a:ea typeface="Lato Black" panose="020F0502020204030203" pitchFamily="34" charset="0"/>
                <a:cs typeface="Lato Black" panose="020F0502020204030203" pitchFamily="34" charset="0"/>
              </a:rPr>
              <a:t>Used: </a:t>
            </a:r>
            <a:r>
              <a:rPr lang="en-US" altLang="ko-KR" sz="1400" b="1" dirty="0">
                <a:solidFill>
                  <a:srgbClr val="4B4F5A"/>
                </a:solidFill>
                <a:latin typeface="Lato" panose="020B0604020202020204" charset="0"/>
                <a:ea typeface="Lato Black" panose="020F0502020204030203" pitchFamily="34" charset="0"/>
                <a:cs typeface="Lato Black" panose="020F0502020204030203" pitchFamily="34" charset="0"/>
              </a:rPr>
              <a:t>InBodyS10</a:t>
            </a:r>
          </a:p>
          <a:p>
            <a:pPr>
              <a:lnSpc>
                <a:spcPct val="125000"/>
              </a:lnSpc>
            </a:pPr>
            <a:r>
              <a:rPr lang="en-US" altLang="ko-KR" sz="1200" dirty="0">
                <a:solidFill>
                  <a:srgbClr val="4B4F5A"/>
                </a:solidFill>
                <a:latin typeface="Lato" panose="020B0604020202020204" charset="0"/>
                <a:ea typeface="Lato Black" panose="020F0502020204030203" pitchFamily="34" charset="0"/>
                <a:cs typeface="Lato Black" panose="020F0502020204030203" pitchFamily="34" charset="0"/>
              </a:rPr>
              <a:t>※ </a:t>
            </a:r>
            <a:r>
              <a:rPr lang="en-US" altLang="ko-KR" sz="1200" b="1" u="sng" dirty="0">
                <a:solidFill>
                  <a:srgbClr val="4B4F5A"/>
                </a:solidFill>
                <a:latin typeface="Lato" panose="020B0604020202020204" charset="0"/>
                <a:ea typeface="Lato Black" panose="020F0502020204030203" pitchFamily="34" charset="0"/>
                <a:cs typeface="Lato Black" panose="020F0502020204030203" pitchFamily="34" charset="0"/>
              </a:rPr>
              <a:t>Skeletal Muscle mass Index (SMI) </a:t>
            </a:r>
            <a:r>
              <a:rPr lang="en-US" altLang="ko-KR" sz="1200" dirty="0">
                <a:solidFill>
                  <a:srgbClr val="4B4F5A"/>
                </a:solidFill>
                <a:latin typeface="Lato" panose="020B0604020202020204" charset="0"/>
                <a:ea typeface="Lato Black" panose="020F0502020204030203" pitchFamily="34" charset="0"/>
                <a:cs typeface="Lato Black" panose="020F0502020204030203" pitchFamily="34" charset="0"/>
              </a:rPr>
              <a:t>was an important index to evaluate the muscle content of the human body</a:t>
            </a:r>
            <a:endParaRPr lang="en-US" altLang="ko-KR" sz="1200" dirty="0">
              <a:solidFill>
                <a:srgbClr val="A0112D"/>
              </a:solidFill>
              <a:latin typeface="Lato" panose="020B060402020202020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3979684" y="2351316"/>
            <a:ext cx="1632857" cy="0"/>
          </a:xfrm>
          <a:prstGeom prst="line">
            <a:avLst/>
          </a:prstGeom>
          <a:ln w="28575">
            <a:solidFill>
              <a:srgbClr val="9D1F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24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Lato" panose="020B0604020202020204" charset="0"/>
                  <a:ea typeface="에스코어 드림 6 Bold" panose="020B0703030302020204" pitchFamily="34" charset="-127"/>
                </a:rPr>
                <a:t>Edema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02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Fluid Distribution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+mn-ea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1463407" y="3422269"/>
            <a:ext cx="4866638" cy="2371734"/>
            <a:chOff x="6670011" y="3357113"/>
            <a:chExt cx="4411248" cy="2057160"/>
          </a:xfrm>
        </p:grpSpPr>
        <p:grpSp>
          <p:nvGrpSpPr>
            <p:cNvPr id="14" name="그룹 13"/>
            <p:cNvGrpSpPr/>
            <p:nvPr/>
          </p:nvGrpSpPr>
          <p:grpSpPr>
            <a:xfrm>
              <a:off x="6670011" y="3357113"/>
              <a:ext cx="4411248" cy="2057160"/>
              <a:chOff x="7090149" y="3357113"/>
              <a:chExt cx="4411248" cy="2057160"/>
            </a:xfrm>
          </p:grpSpPr>
          <p:sp>
            <p:nvSpPr>
              <p:cNvPr id="16" name="TextBox 12"/>
              <p:cNvSpPr txBox="1"/>
              <p:nvPr/>
            </p:nvSpPr>
            <p:spPr>
              <a:xfrm>
                <a:off x="8770064" y="4175340"/>
                <a:ext cx="538027" cy="61399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/>
              <a:p>
                <a:pPr>
                  <a:defRPr sz="2800" b="1">
                    <a:solidFill>
                      <a:srgbClr val="881A21"/>
                    </a:solidFill>
                    <a:latin typeface="+mn-lt"/>
                    <a:ea typeface="+mn-ea"/>
                    <a:cs typeface="+mn-cs"/>
                    <a:sym typeface="Helvetica"/>
                  </a:defRPr>
                </a:pPr>
                <a:r>
                  <a:rPr sz="1000" dirty="0">
                    <a:latin typeface="Lato" panose="020B0604020202020204" charset="0"/>
                  </a:rPr>
                  <a:t>380</a:t>
                </a:r>
              </a:p>
              <a:p>
                <a:pPr>
                  <a:defRPr sz="2800" b="1">
                    <a:solidFill>
                      <a:srgbClr val="881A21"/>
                    </a:solidFill>
                    <a:latin typeface="+mn-lt"/>
                    <a:ea typeface="+mn-ea"/>
                    <a:cs typeface="+mn-cs"/>
                    <a:sym typeface="Helvetica"/>
                  </a:defRPr>
                </a:pPr>
                <a:r>
                  <a:rPr sz="1000" dirty="0">
                    <a:latin typeface="Lato" panose="020B0604020202020204" charset="0"/>
                  </a:rPr>
                  <a:t>____</a:t>
                </a:r>
              </a:p>
              <a:p>
                <a:pPr>
                  <a:defRPr sz="2800" b="1">
                    <a:solidFill>
                      <a:srgbClr val="881A21"/>
                    </a:solidFill>
                    <a:latin typeface="+mn-lt"/>
                    <a:ea typeface="+mn-ea"/>
                    <a:cs typeface="+mn-cs"/>
                    <a:sym typeface="Helvetica"/>
                  </a:defRPr>
                </a:pPr>
                <a:br>
                  <a:rPr sz="1000" dirty="0">
                    <a:latin typeface="Lato" panose="020B0604020202020204" charset="0"/>
                  </a:rPr>
                </a:br>
                <a:r>
                  <a:rPr sz="1000" dirty="0">
                    <a:latin typeface="Lato" panose="020B0604020202020204" charset="0"/>
                  </a:rPr>
                  <a:t>620</a:t>
                </a:r>
              </a:p>
            </p:txBody>
          </p:sp>
          <p:sp>
            <p:nvSpPr>
              <p:cNvPr id="17" name="TextBox 6"/>
              <p:cNvSpPr txBox="1"/>
              <p:nvPr/>
            </p:nvSpPr>
            <p:spPr>
              <a:xfrm rot="16200000">
                <a:off x="8966903" y="4658117"/>
                <a:ext cx="1317028" cy="195284"/>
              </a:xfrm>
              <a:prstGeom prst="rect">
                <a:avLst/>
              </a:prstGeom>
              <a:solidFill>
                <a:srgbClr val="DCDDE0"/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2400" b="1">
                    <a:latin typeface="+mn-lt"/>
                    <a:ea typeface="+mn-ea"/>
                    <a:cs typeface="+mn-cs"/>
                    <a:sym typeface="Helvetica"/>
                  </a:defRPr>
                </a:lvl1pPr>
              </a:lstStyle>
              <a:p>
                <a:r>
                  <a:rPr sz="800" dirty="0">
                    <a:latin typeface="Lato" panose="020B0604020202020204" charset="0"/>
                  </a:rPr>
                  <a:t>Edematous Fat Free Mass</a:t>
                </a:r>
              </a:p>
            </p:txBody>
          </p:sp>
          <p:grpSp>
            <p:nvGrpSpPr>
              <p:cNvPr id="18" name="AutoShape 15"/>
              <p:cNvGrpSpPr/>
              <p:nvPr/>
            </p:nvGrpSpPr>
            <p:grpSpPr>
              <a:xfrm>
                <a:off x="7666336" y="4979912"/>
                <a:ext cx="979158" cy="405832"/>
                <a:chOff x="0" y="-1"/>
                <a:chExt cx="2880000" cy="1398676"/>
              </a:xfrm>
            </p:grpSpPr>
            <p:grpSp>
              <p:nvGrpSpPr>
                <p:cNvPr id="60" name="Groepeer"/>
                <p:cNvGrpSpPr/>
                <p:nvPr/>
              </p:nvGrpSpPr>
              <p:grpSpPr>
                <a:xfrm>
                  <a:off x="0" y="-1"/>
                  <a:ext cx="2880000" cy="1398676"/>
                  <a:chOff x="0" y="0"/>
                  <a:chExt cx="2879999" cy="1398675"/>
                </a:xfrm>
              </p:grpSpPr>
              <p:sp>
                <p:nvSpPr>
                  <p:cNvPr id="65" name="Vorm"/>
                  <p:cNvSpPr/>
                  <p:nvPr/>
                </p:nvSpPr>
                <p:spPr>
                  <a:xfrm>
                    <a:off x="0" y="0"/>
                    <a:ext cx="2880000" cy="139867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5400"/>
                        </a:moveTo>
                        <a:cubicBezTo>
                          <a:pt x="0" y="2418"/>
                          <a:pt x="4835" y="0"/>
                          <a:pt x="10800" y="0"/>
                        </a:cubicBezTo>
                        <a:cubicBezTo>
                          <a:pt x="16765" y="0"/>
                          <a:pt x="21600" y="2418"/>
                          <a:pt x="21600" y="5400"/>
                        </a:cubicBezTo>
                        <a:lnTo>
                          <a:pt x="21600" y="16200"/>
                        </a:lnTo>
                        <a:cubicBezTo>
                          <a:pt x="21600" y="19182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19182"/>
                          <a:pt x="0" y="16200"/>
                        </a:cubicBezTo>
                        <a:close/>
                      </a:path>
                    </a:pathLst>
                  </a:custGeom>
                  <a:solidFill>
                    <a:srgbClr val="C4C8CB">
                      <a:alpha val="47058"/>
                    </a:srgb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  <p:sp>
                <p:nvSpPr>
                  <p:cNvPr id="66" name="Ovaal"/>
                  <p:cNvSpPr/>
                  <p:nvPr/>
                </p:nvSpPr>
                <p:spPr>
                  <a:xfrm>
                    <a:off x="0" y="-1"/>
                    <a:ext cx="2880000" cy="699340"/>
                  </a:xfrm>
                  <a:prstGeom prst="ellipse">
                    <a:avLst/>
                  </a:prstGeom>
                  <a:solidFill>
                    <a:srgbClr val="FFFFFF">
                      <a:alpha val="40000"/>
                    </a:srgb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  <p:sp>
                <p:nvSpPr>
                  <p:cNvPr id="67" name="Lijn"/>
                  <p:cNvSpPr/>
                  <p:nvPr/>
                </p:nvSpPr>
                <p:spPr>
                  <a:xfrm>
                    <a:off x="0" y="0"/>
                    <a:ext cx="2880000" cy="139867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5400"/>
                        </a:moveTo>
                        <a:cubicBezTo>
                          <a:pt x="21600" y="8382"/>
                          <a:pt x="16765" y="10800"/>
                          <a:pt x="10800" y="10800"/>
                        </a:cubicBezTo>
                        <a:cubicBezTo>
                          <a:pt x="4835" y="10800"/>
                          <a:pt x="0" y="8382"/>
                          <a:pt x="0" y="5400"/>
                        </a:cubicBezTo>
                        <a:cubicBezTo>
                          <a:pt x="0" y="2418"/>
                          <a:pt x="4835" y="0"/>
                          <a:pt x="10800" y="0"/>
                        </a:cubicBezTo>
                        <a:cubicBezTo>
                          <a:pt x="16765" y="0"/>
                          <a:pt x="21600" y="2418"/>
                          <a:pt x="21600" y="5400"/>
                        </a:cubicBezTo>
                        <a:lnTo>
                          <a:pt x="21600" y="16200"/>
                        </a:lnTo>
                        <a:cubicBezTo>
                          <a:pt x="21600" y="19182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19182"/>
                          <a:pt x="0" y="16200"/>
                        </a:cubicBezTo>
                        <a:lnTo>
                          <a:pt x="0" y="5400"/>
                        </a:lnTo>
                      </a:path>
                    </a:pathLst>
                  </a:cu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</p:grpSp>
            <p:sp>
              <p:nvSpPr>
                <p:cNvPr id="61" name="Protein + Minerals"/>
                <p:cNvSpPr txBox="1"/>
                <p:nvPr/>
              </p:nvSpPr>
              <p:spPr>
                <a:xfrm>
                  <a:off x="50482" y="368143"/>
                  <a:ext cx="2779036" cy="10120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>
                    <a:spcBef>
                      <a:spcPts val="1300"/>
                    </a:spcBef>
                    <a:defRPr sz="2300">
                      <a:solidFill>
                        <a:srgbClr val="53585F"/>
                      </a:solidFill>
                      <a:latin typeface="Lato Light"/>
                      <a:ea typeface="Lato Light"/>
                      <a:cs typeface="Lato Light"/>
                      <a:sym typeface="Lato Light"/>
                    </a:defRPr>
                  </a:pPr>
                  <a:br>
                    <a:rPr sz="800">
                      <a:latin typeface="Lato" panose="020B0604020202020204" charset="0"/>
                    </a:rPr>
                  </a:br>
                  <a:r>
                    <a:rPr sz="800" b="1">
                      <a:latin typeface="Lato" panose="020B0604020202020204" charset="0"/>
                      <a:sym typeface="Helvetica"/>
                    </a:rPr>
                    <a:t>Protein + Minerals</a:t>
                  </a:r>
                </a:p>
              </p:txBody>
            </p:sp>
          </p:grpSp>
          <p:grpSp>
            <p:nvGrpSpPr>
              <p:cNvPr id="19" name="AutoShape 15"/>
              <p:cNvGrpSpPr/>
              <p:nvPr/>
            </p:nvGrpSpPr>
            <p:grpSpPr>
              <a:xfrm>
                <a:off x="9904504" y="5036410"/>
                <a:ext cx="979158" cy="359631"/>
                <a:chOff x="0" y="-1"/>
                <a:chExt cx="2880000" cy="1239447"/>
              </a:xfrm>
            </p:grpSpPr>
            <p:grpSp>
              <p:nvGrpSpPr>
                <p:cNvPr id="55" name="Groepeer"/>
                <p:cNvGrpSpPr/>
                <p:nvPr/>
              </p:nvGrpSpPr>
              <p:grpSpPr>
                <a:xfrm>
                  <a:off x="0" y="-1"/>
                  <a:ext cx="2880000" cy="1203958"/>
                  <a:chOff x="0" y="0"/>
                  <a:chExt cx="2879999" cy="1203956"/>
                </a:xfrm>
              </p:grpSpPr>
              <p:sp>
                <p:nvSpPr>
                  <p:cNvPr id="57" name="Vorm"/>
                  <p:cNvSpPr/>
                  <p:nvPr/>
                </p:nvSpPr>
                <p:spPr>
                  <a:xfrm>
                    <a:off x="0" y="-1"/>
                    <a:ext cx="2880000" cy="120395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4716"/>
                        </a:moveTo>
                        <a:cubicBezTo>
                          <a:pt x="0" y="2112"/>
                          <a:pt x="4835" y="0"/>
                          <a:pt x="10800" y="0"/>
                        </a:cubicBezTo>
                        <a:cubicBezTo>
                          <a:pt x="16765" y="0"/>
                          <a:pt x="21600" y="2112"/>
                          <a:pt x="21600" y="4716"/>
                        </a:cubicBezTo>
                        <a:lnTo>
                          <a:pt x="21600" y="16884"/>
                        </a:lnTo>
                        <a:cubicBezTo>
                          <a:pt x="21600" y="19488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19488"/>
                          <a:pt x="0" y="16884"/>
                        </a:cubicBezTo>
                        <a:close/>
                      </a:path>
                    </a:pathLst>
                  </a:custGeom>
                  <a:solidFill>
                    <a:srgbClr val="C4C8CB">
                      <a:alpha val="47058"/>
                    </a:srgb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  <p:sp>
                <p:nvSpPr>
                  <p:cNvPr id="58" name="Ovaal"/>
                  <p:cNvSpPr/>
                  <p:nvPr/>
                </p:nvSpPr>
                <p:spPr>
                  <a:xfrm>
                    <a:off x="0" y="-1"/>
                    <a:ext cx="2880000" cy="525782"/>
                  </a:xfrm>
                  <a:prstGeom prst="ellipse">
                    <a:avLst/>
                  </a:prstGeom>
                  <a:solidFill>
                    <a:srgbClr val="FFFFFF">
                      <a:alpha val="40000"/>
                    </a:srgb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  <p:sp>
                <p:nvSpPr>
                  <p:cNvPr id="59" name="Lijn"/>
                  <p:cNvSpPr/>
                  <p:nvPr/>
                </p:nvSpPr>
                <p:spPr>
                  <a:xfrm>
                    <a:off x="0" y="-1"/>
                    <a:ext cx="2880000" cy="120395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4716"/>
                        </a:moveTo>
                        <a:cubicBezTo>
                          <a:pt x="21600" y="7321"/>
                          <a:pt x="16765" y="9433"/>
                          <a:pt x="10800" y="9433"/>
                        </a:cubicBezTo>
                        <a:cubicBezTo>
                          <a:pt x="4835" y="9433"/>
                          <a:pt x="0" y="7321"/>
                          <a:pt x="0" y="4716"/>
                        </a:cubicBezTo>
                        <a:cubicBezTo>
                          <a:pt x="0" y="2112"/>
                          <a:pt x="4835" y="0"/>
                          <a:pt x="10800" y="0"/>
                        </a:cubicBezTo>
                        <a:cubicBezTo>
                          <a:pt x="16765" y="0"/>
                          <a:pt x="21600" y="2112"/>
                          <a:pt x="21600" y="4716"/>
                        </a:cubicBezTo>
                        <a:lnTo>
                          <a:pt x="21600" y="16884"/>
                        </a:lnTo>
                        <a:cubicBezTo>
                          <a:pt x="21600" y="19488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19488"/>
                          <a:pt x="0" y="16884"/>
                        </a:cubicBezTo>
                        <a:lnTo>
                          <a:pt x="0" y="4716"/>
                        </a:lnTo>
                      </a:path>
                    </a:pathLst>
                  </a:cu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</p:grpSp>
            <p:sp>
              <p:nvSpPr>
                <p:cNvPr id="56" name="Protein + Minerals"/>
                <p:cNvSpPr txBox="1"/>
                <p:nvPr/>
              </p:nvSpPr>
              <p:spPr>
                <a:xfrm>
                  <a:off x="50482" y="227403"/>
                  <a:ext cx="2779036" cy="10120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>
                    <a:spcBef>
                      <a:spcPts val="1300"/>
                    </a:spcBef>
                    <a:defRPr sz="2300">
                      <a:solidFill>
                        <a:srgbClr val="53585F"/>
                      </a:solidFill>
                      <a:latin typeface="Lato Light"/>
                      <a:ea typeface="Lato Light"/>
                      <a:cs typeface="Lato Light"/>
                      <a:sym typeface="Lato Light"/>
                    </a:defRPr>
                  </a:pPr>
                  <a:br>
                    <a:rPr sz="800">
                      <a:latin typeface="Lato" panose="020B0604020202020204" charset="0"/>
                    </a:rPr>
                  </a:br>
                  <a:r>
                    <a:rPr sz="800" b="1">
                      <a:latin typeface="Lato" panose="020B0604020202020204" charset="0"/>
                      <a:sym typeface="Helvetica"/>
                    </a:rPr>
                    <a:t>Protein + Minerals</a:t>
                  </a:r>
                </a:p>
              </p:txBody>
            </p:sp>
          </p:grpSp>
          <p:grpSp>
            <p:nvGrpSpPr>
              <p:cNvPr id="20" name="AutoShape 22"/>
              <p:cNvGrpSpPr/>
              <p:nvPr/>
            </p:nvGrpSpPr>
            <p:grpSpPr>
              <a:xfrm>
                <a:off x="9904504" y="4335500"/>
                <a:ext cx="979158" cy="852855"/>
                <a:chOff x="0" y="-2"/>
                <a:chExt cx="2880001" cy="2939316"/>
              </a:xfrm>
            </p:grpSpPr>
            <p:grpSp>
              <p:nvGrpSpPr>
                <p:cNvPr id="50" name="Groepeer"/>
                <p:cNvGrpSpPr/>
                <p:nvPr/>
              </p:nvGrpSpPr>
              <p:grpSpPr>
                <a:xfrm>
                  <a:off x="0" y="-2"/>
                  <a:ext cx="2880001" cy="2939316"/>
                  <a:chOff x="0" y="-1"/>
                  <a:chExt cx="2880000" cy="2939315"/>
                </a:xfrm>
              </p:grpSpPr>
              <p:sp>
                <p:nvSpPr>
                  <p:cNvPr id="52" name="Vorm"/>
                  <p:cNvSpPr/>
                  <p:nvPr/>
                </p:nvSpPr>
                <p:spPr>
                  <a:xfrm>
                    <a:off x="0" y="0"/>
                    <a:ext cx="2880000" cy="293931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1820"/>
                        </a:moveTo>
                        <a:cubicBezTo>
                          <a:pt x="0" y="815"/>
                          <a:pt x="4835" y="0"/>
                          <a:pt x="10800" y="0"/>
                        </a:cubicBezTo>
                        <a:cubicBezTo>
                          <a:pt x="16765" y="0"/>
                          <a:pt x="21600" y="815"/>
                          <a:pt x="21600" y="1820"/>
                        </a:cubicBezTo>
                        <a:lnTo>
                          <a:pt x="21600" y="19780"/>
                        </a:lnTo>
                        <a:cubicBezTo>
                          <a:pt x="21600" y="20785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20785"/>
                          <a:pt x="0" y="19780"/>
                        </a:cubicBezTo>
                        <a:close/>
                      </a:path>
                    </a:pathLst>
                  </a:custGeom>
                  <a:solidFill>
                    <a:srgbClr val="6699FF">
                      <a:alpha val="59999"/>
                    </a:srgb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  <p:sp>
                <p:nvSpPr>
                  <p:cNvPr id="53" name="Ovaal"/>
                  <p:cNvSpPr/>
                  <p:nvPr/>
                </p:nvSpPr>
                <p:spPr>
                  <a:xfrm>
                    <a:off x="0" y="-1"/>
                    <a:ext cx="2880000" cy="495275"/>
                  </a:xfrm>
                  <a:prstGeom prst="ellipse">
                    <a:avLst/>
                  </a:prstGeom>
                  <a:solidFill>
                    <a:srgbClr val="FFFFFF">
                      <a:alpha val="40000"/>
                    </a:srgb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  <p:sp>
                <p:nvSpPr>
                  <p:cNvPr id="54" name="Lijn"/>
                  <p:cNvSpPr/>
                  <p:nvPr/>
                </p:nvSpPr>
                <p:spPr>
                  <a:xfrm>
                    <a:off x="0" y="-1"/>
                    <a:ext cx="2879997" cy="293931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1820"/>
                        </a:moveTo>
                        <a:cubicBezTo>
                          <a:pt x="21600" y="2825"/>
                          <a:pt x="16765" y="3640"/>
                          <a:pt x="10800" y="3640"/>
                        </a:cubicBezTo>
                        <a:cubicBezTo>
                          <a:pt x="4835" y="3640"/>
                          <a:pt x="0" y="2825"/>
                          <a:pt x="0" y="1820"/>
                        </a:cubicBezTo>
                        <a:cubicBezTo>
                          <a:pt x="0" y="815"/>
                          <a:pt x="4835" y="0"/>
                          <a:pt x="10800" y="0"/>
                        </a:cubicBezTo>
                        <a:cubicBezTo>
                          <a:pt x="16765" y="0"/>
                          <a:pt x="21600" y="815"/>
                          <a:pt x="21600" y="1820"/>
                        </a:cubicBezTo>
                        <a:lnTo>
                          <a:pt x="21600" y="19780"/>
                        </a:lnTo>
                        <a:cubicBezTo>
                          <a:pt x="21600" y="20785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20785"/>
                          <a:pt x="0" y="19780"/>
                        </a:cubicBezTo>
                        <a:lnTo>
                          <a:pt x="0" y="1820"/>
                        </a:lnTo>
                      </a:path>
                    </a:pathLst>
                  </a:cu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</p:grpSp>
            <p:sp>
              <p:nvSpPr>
                <p:cNvPr id="51" name="Intracellular water…"/>
                <p:cNvSpPr txBox="1"/>
                <p:nvPr/>
              </p:nvSpPr>
              <p:spPr>
                <a:xfrm>
                  <a:off x="50482" y="838270"/>
                  <a:ext cx="2779034" cy="1510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>
                    <a:spcBef>
                      <a:spcPts val="1300"/>
                    </a:spcBef>
                    <a:defRPr sz="2300" b="1">
                      <a:solidFill>
                        <a:srgbClr val="53585F"/>
                      </a:solidFill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r>
                    <a:rPr sz="800" dirty="0">
                      <a:latin typeface="Lato" panose="020B0604020202020204" charset="0"/>
                    </a:rPr>
                    <a:t>Intracellular water</a:t>
                  </a:r>
                </a:p>
                <a:p>
                  <a:pPr>
                    <a:spcBef>
                      <a:spcPts val="1300"/>
                    </a:spcBef>
                    <a:defRPr sz="2300" b="1">
                      <a:solidFill>
                        <a:srgbClr val="53585F"/>
                      </a:solidFill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r>
                    <a:rPr sz="800" dirty="0">
                      <a:latin typeface="Lato" panose="020B0604020202020204" charset="0"/>
                    </a:rPr>
                    <a:t>(ICW)</a:t>
                  </a:r>
                </a:p>
              </p:txBody>
            </p:sp>
          </p:grpSp>
          <p:grpSp>
            <p:nvGrpSpPr>
              <p:cNvPr id="26" name="AutoShape 23"/>
              <p:cNvGrpSpPr/>
              <p:nvPr/>
            </p:nvGrpSpPr>
            <p:grpSpPr>
              <a:xfrm>
                <a:off x="9904504" y="3706614"/>
                <a:ext cx="979158" cy="773069"/>
                <a:chOff x="0" y="-1"/>
                <a:chExt cx="2880000" cy="2664339"/>
              </a:xfrm>
            </p:grpSpPr>
            <p:grpSp>
              <p:nvGrpSpPr>
                <p:cNvPr id="45" name="Groepeer"/>
                <p:cNvGrpSpPr/>
                <p:nvPr/>
              </p:nvGrpSpPr>
              <p:grpSpPr>
                <a:xfrm>
                  <a:off x="0" y="-1"/>
                  <a:ext cx="2880000" cy="2664339"/>
                  <a:chOff x="0" y="0"/>
                  <a:chExt cx="2879999" cy="2664338"/>
                </a:xfrm>
              </p:grpSpPr>
              <p:sp>
                <p:nvSpPr>
                  <p:cNvPr id="47" name="Vorm"/>
                  <p:cNvSpPr/>
                  <p:nvPr/>
                </p:nvSpPr>
                <p:spPr>
                  <a:xfrm>
                    <a:off x="0" y="0"/>
                    <a:ext cx="2880000" cy="266433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2118"/>
                        </a:moveTo>
                        <a:cubicBezTo>
                          <a:pt x="0" y="948"/>
                          <a:pt x="4835" y="0"/>
                          <a:pt x="10800" y="0"/>
                        </a:cubicBezTo>
                        <a:cubicBezTo>
                          <a:pt x="16765" y="0"/>
                          <a:pt x="21600" y="948"/>
                          <a:pt x="21600" y="2118"/>
                        </a:cubicBezTo>
                        <a:lnTo>
                          <a:pt x="21600" y="19482"/>
                        </a:lnTo>
                        <a:cubicBezTo>
                          <a:pt x="21600" y="20652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20652"/>
                          <a:pt x="0" y="19482"/>
                        </a:cubicBezTo>
                        <a:close/>
                      </a:path>
                    </a:pathLst>
                  </a:custGeom>
                  <a:solidFill>
                    <a:srgbClr val="C1E1FE">
                      <a:alpha val="79999"/>
                    </a:srgb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  <p:sp>
                <p:nvSpPr>
                  <p:cNvPr id="48" name="Ovaal"/>
                  <p:cNvSpPr/>
                  <p:nvPr/>
                </p:nvSpPr>
                <p:spPr>
                  <a:xfrm>
                    <a:off x="0" y="-1"/>
                    <a:ext cx="2880000" cy="522397"/>
                  </a:xfrm>
                  <a:prstGeom prst="ellipse">
                    <a:avLst/>
                  </a:prstGeom>
                  <a:solidFill>
                    <a:srgbClr val="FFFFFF">
                      <a:alpha val="40000"/>
                    </a:srgb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  <p:sp>
                <p:nvSpPr>
                  <p:cNvPr id="49" name="Lijn"/>
                  <p:cNvSpPr/>
                  <p:nvPr/>
                </p:nvSpPr>
                <p:spPr>
                  <a:xfrm>
                    <a:off x="0" y="0"/>
                    <a:ext cx="2880000" cy="266433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2118"/>
                        </a:moveTo>
                        <a:cubicBezTo>
                          <a:pt x="21600" y="3287"/>
                          <a:pt x="16765" y="4235"/>
                          <a:pt x="10800" y="4235"/>
                        </a:cubicBezTo>
                        <a:cubicBezTo>
                          <a:pt x="4835" y="4235"/>
                          <a:pt x="0" y="3287"/>
                          <a:pt x="0" y="2118"/>
                        </a:cubicBezTo>
                        <a:cubicBezTo>
                          <a:pt x="0" y="948"/>
                          <a:pt x="4835" y="0"/>
                          <a:pt x="10800" y="0"/>
                        </a:cubicBezTo>
                        <a:cubicBezTo>
                          <a:pt x="16765" y="0"/>
                          <a:pt x="21600" y="948"/>
                          <a:pt x="21600" y="2118"/>
                        </a:cubicBezTo>
                        <a:lnTo>
                          <a:pt x="21600" y="19482"/>
                        </a:lnTo>
                        <a:cubicBezTo>
                          <a:pt x="21600" y="20652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20652"/>
                          <a:pt x="0" y="19482"/>
                        </a:cubicBezTo>
                        <a:lnTo>
                          <a:pt x="0" y="2118"/>
                        </a:lnTo>
                      </a:path>
                    </a:pathLst>
                  </a:cu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</p:grpSp>
            <p:sp>
              <p:nvSpPr>
                <p:cNvPr id="46" name="Extracellular water…"/>
                <p:cNvSpPr txBox="1"/>
                <p:nvPr/>
              </p:nvSpPr>
              <p:spPr>
                <a:xfrm>
                  <a:off x="16791" y="264133"/>
                  <a:ext cx="2779033" cy="21160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>
                    <a:spcBef>
                      <a:spcPts val="1300"/>
                    </a:spcBef>
                    <a:defRPr sz="2300">
                      <a:solidFill>
                        <a:srgbClr val="53585F"/>
                      </a:solidFill>
                      <a:latin typeface="Lato Light"/>
                      <a:ea typeface="Lato Light"/>
                      <a:cs typeface="Lato Light"/>
                      <a:sym typeface="Lato Light"/>
                    </a:defRPr>
                  </a:pPr>
                  <a:br>
                    <a:rPr sz="800" dirty="0">
                      <a:latin typeface="Lato" panose="020B0604020202020204" charset="0"/>
                    </a:rPr>
                  </a:br>
                  <a:br>
                    <a:rPr sz="800" dirty="0">
                      <a:latin typeface="Lato" panose="020B0604020202020204" charset="0"/>
                    </a:rPr>
                  </a:br>
                  <a:br>
                    <a:rPr sz="800" dirty="0">
                      <a:latin typeface="Lato" panose="020B0604020202020204" charset="0"/>
                    </a:rPr>
                  </a:br>
                  <a:r>
                    <a:rPr sz="800" b="1" dirty="0">
                      <a:latin typeface="Lato" panose="020B0604020202020204" charset="0"/>
                      <a:sym typeface="Helvetica"/>
                    </a:rPr>
                    <a:t>Extracellular water</a:t>
                  </a:r>
                  <a:br>
                    <a:rPr lang="en-US" sz="800" b="1" dirty="0">
                      <a:latin typeface="Lato" panose="020B0604020202020204" charset="0"/>
                      <a:sym typeface="Helvetica"/>
                    </a:rPr>
                  </a:br>
                  <a:r>
                    <a:rPr sz="800" b="1" dirty="0">
                      <a:latin typeface="Lato" panose="020B0604020202020204" charset="0"/>
                    </a:rPr>
                    <a:t>(ECW)</a:t>
                  </a:r>
                </a:p>
              </p:txBody>
            </p:sp>
          </p:grpSp>
          <p:grpSp>
            <p:nvGrpSpPr>
              <p:cNvPr id="27" name="AutoShape 22"/>
              <p:cNvGrpSpPr/>
              <p:nvPr/>
            </p:nvGrpSpPr>
            <p:grpSpPr>
              <a:xfrm>
                <a:off x="7666336" y="4272171"/>
                <a:ext cx="979158" cy="916184"/>
                <a:chOff x="0" y="-1"/>
                <a:chExt cx="2880000" cy="3157578"/>
              </a:xfrm>
            </p:grpSpPr>
            <p:grpSp>
              <p:nvGrpSpPr>
                <p:cNvPr id="40" name="Groepeer"/>
                <p:cNvGrpSpPr/>
                <p:nvPr/>
              </p:nvGrpSpPr>
              <p:grpSpPr>
                <a:xfrm>
                  <a:off x="0" y="-1"/>
                  <a:ext cx="2880000" cy="3157578"/>
                  <a:chOff x="0" y="0"/>
                  <a:chExt cx="2879999" cy="3157576"/>
                </a:xfrm>
              </p:grpSpPr>
              <p:sp>
                <p:nvSpPr>
                  <p:cNvPr id="42" name="Vorm"/>
                  <p:cNvSpPr/>
                  <p:nvPr/>
                </p:nvSpPr>
                <p:spPr>
                  <a:xfrm>
                    <a:off x="0" y="-1"/>
                    <a:ext cx="2880000" cy="315757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2626"/>
                        </a:moveTo>
                        <a:cubicBezTo>
                          <a:pt x="0" y="1176"/>
                          <a:pt x="4835" y="0"/>
                          <a:pt x="10800" y="0"/>
                        </a:cubicBezTo>
                        <a:cubicBezTo>
                          <a:pt x="16765" y="0"/>
                          <a:pt x="21600" y="1176"/>
                          <a:pt x="21600" y="2626"/>
                        </a:cubicBezTo>
                        <a:lnTo>
                          <a:pt x="21600" y="18974"/>
                        </a:lnTo>
                        <a:cubicBezTo>
                          <a:pt x="21600" y="20424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20424"/>
                          <a:pt x="0" y="18974"/>
                        </a:cubicBezTo>
                        <a:close/>
                      </a:path>
                    </a:pathLst>
                  </a:custGeom>
                  <a:solidFill>
                    <a:srgbClr val="6699FF">
                      <a:alpha val="59999"/>
                    </a:srgb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  <p:sp>
                <p:nvSpPr>
                  <p:cNvPr id="43" name="Ovaal"/>
                  <p:cNvSpPr/>
                  <p:nvPr/>
                </p:nvSpPr>
                <p:spPr>
                  <a:xfrm>
                    <a:off x="0" y="-1"/>
                    <a:ext cx="2880000" cy="767637"/>
                  </a:xfrm>
                  <a:prstGeom prst="ellipse">
                    <a:avLst/>
                  </a:prstGeom>
                  <a:solidFill>
                    <a:srgbClr val="FFFFFF">
                      <a:alpha val="40000"/>
                    </a:srgb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  <p:sp>
                <p:nvSpPr>
                  <p:cNvPr id="44" name="Lijn"/>
                  <p:cNvSpPr/>
                  <p:nvPr/>
                </p:nvSpPr>
                <p:spPr>
                  <a:xfrm>
                    <a:off x="0" y="-1"/>
                    <a:ext cx="2880000" cy="315757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2626"/>
                        </a:moveTo>
                        <a:cubicBezTo>
                          <a:pt x="21600" y="4076"/>
                          <a:pt x="16765" y="5251"/>
                          <a:pt x="10800" y="5251"/>
                        </a:cubicBezTo>
                        <a:cubicBezTo>
                          <a:pt x="4835" y="5251"/>
                          <a:pt x="0" y="4076"/>
                          <a:pt x="0" y="2626"/>
                        </a:cubicBezTo>
                        <a:cubicBezTo>
                          <a:pt x="0" y="1176"/>
                          <a:pt x="4835" y="0"/>
                          <a:pt x="10800" y="0"/>
                        </a:cubicBezTo>
                        <a:cubicBezTo>
                          <a:pt x="16765" y="0"/>
                          <a:pt x="21600" y="1176"/>
                          <a:pt x="21600" y="2626"/>
                        </a:cubicBezTo>
                        <a:lnTo>
                          <a:pt x="21600" y="18974"/>
                        </a:lnTo>
                        <a:cubicBezTo>
                          <a:pt x="21600" y="20424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20424"/>
                          <a:pt x="0" y="18974"/>
                        </a:cubicBezTo>
                        <a:lnTo>
                          <a:pt x="0" y="2626"/>
                        </a:lnTo>
                      </a:path>
                    </a:pathLst>
                  </a:cu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</p:grpSp>
            <p:sp>
              <p:nvSpPr>
                <p:cNvPr id="41" name="Intracellular water…"/>
                <p:cNvSpPr txBox="1"/>
                <p:nvPr/>
              </p:nvSpPr>
              <p:spPr>
                <a:xfrm>
                  <a:off x="50482" y="1015488"/>
                  <a:ext cx="2779036" cy="151040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>
                    <a:spcBef>
                      <a:spcPts val="1300"/>
                    </a:spcBef>
                    <a:defRPr sz="2300" b="1">
                      <a:solidFill>
                        <a:srgbClr val="53585F"/>
                      </a:solidFill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r>
                    <a:rPr sz="800" dirty="0">
                      <a:latin typeface="Lato" panose="020B0604020202020204" charset="0"/>
                    </a:rPr>
                    <a:t>Intracellular water</a:t>
                  </a:r>
                </a:p>
                <a:p>
                  <a:pPr>
                    <a:spcBef>
                      <a:spcPts val="1300"/>
                    </a:spcBef>
                    <a:defRPr sz="2300" b="1">
                      <a:solidFill>
                        <a:srgbClr val="53585F"/>
                      </a:solidFill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r>
                    <a:rPr sz="800" dirty="0">
                      <a:latin typeface="Lato" panose="020B0604020202020204" charset="0"/>
                    </a:rPr>
                    <a:t>(ICW)</a:t>
                  </a:r>
                </a:p>
              </p:txBody>
            </p:sp>
          </p:grpSp>
          <p:grpSp>
            <p:nvGrpSpPr>
              <p:cNvPr id="28" name="AutoShape 23"/>
              <p:cNvGrpSpPr/>
              <p:nvPr/>
            </p:nvGrpSpPr>
            <p:grpSpPr>
              <a:xfrm>
                <a:off x="7666336" y="3887633"/>
                <a:ext cx="979158" cy="614159"/>
                <a:chOff x="0" y="0"/>
                <a:chExt cx="2880000" cy="2116666"/>
              </a:xfrm>
            </p:grpSpPr>
            <p:grpSp>
              <p:nvGrpSpPr>
                <p:cNvPr id="35" name="Groepeer"/>
                <p:cNvGrpSpPr/>
                <p:nvPr/>
              </p:nvGrpSpPr>
              <p:grpSpPr>
                <a:xfrm>
                  <a:off x="0" y="0"/>
                  <a:ext cx="2880000" cy="2116666"/>
                  <a:chOff x="0" y="0"/>
                  <a:chExt cx="2879999" cy="2116665"/>
                </a:xfrm>
              </p:grpSpPr>
              <p:sp>
                <p:nvSpPr>
                  <p:cNvPr id="37" name="Vorm"/>
                  <p:cNvSpPr/>
                  <p:nvPr/>
                </p:nvSpPr>
                <p:spPr>
                  <a:xfrm>
                    <a:off x="0" y="0"/>
                    <a:ext cx="2880000" cy="211666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3922"/>
                        </a:moveTo>
                        <a:cubicBezTo>
                          <a:pt x="0" y="1756"/>
                          <a:pt x="4835" y="0"/>
                          <a:pt x="10800" y="0"/>
                        </a:cubicBezTo>
                        <a:cubicBezTo>
                          <a:pt x="16765" y="0"/>
                          <a:pt x="21600" y="1756"/>
                          <a:pt x="21600" y="3922"/>
                        </a:cubicBezTo>
                        <a:lnTo>
                          <a:pt x="21600" y="17678"/>
                        </a:lnTo>
                        <a:cubicBezTo>
                          <a:pt x="21600" y="19844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19844"/>
                          <a:pt x="0" y="17678"/>
                        </a:cubicBezTo>
                        <a:close/>
                      </a:path>
                    </a:pathLst>
                  </a:custGeom>
                  <a:solidFill>
                    <a:srgbClr val="C1E1FE">
                      <a:alpha val="79999"/>
                    </a:srgb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  <p:sp>
                <p:nvSpPr>
                  <p:cNvPr id="38" name="Ovaal"/>
                  <p:cNvSpPr/>
                  <p:nvPr/>
                </p:nvSpPr>
                <p:spPr>
                  <a:xfrm>
                    <a:off x="0" y="-1"/>
                    <a:ext cx="2880000" cy="768753"/>
                  </a:xfrm>
                  <a:prstGeom prst="ellipse">
                    <a:avLst/>
                  </a:prstGeom>
                  <a:solidFill>
                    <a:srgbClr val="FFFFFF">
                      <a:alpha val="40000"/>
                    </a:srgb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  <p:sp>
                <p:nvSpPr>
                  <p:cNvPr id="39" name="Lijn"/>
                  <p:cNvSpPr/>
                  <p:nvPr/>
                </p:nvSpPr>
                <p:spPr>
                  <a:xfrm>
                    <a:off x="0" y="0"/>
                    <a:ext cx="2880000" cy="211666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3922"/>
                        </a:moveTo>
                        <a:cubicBezTo>
                          <a:pt x="21600" y="6089"/>
                          <a:pt x="16765" y="7845"/>
                          <a:pt x="10800" y="7845"/>
                        </a:cubicBezTo>
                        <a:cubicBezTo>
                          <a:pt x="4835" y="7845"/>
                          <a:pt x="0" y="6089"/>
                          <a:pt x="0" y="3922"/>
                        </a:cubicBezTo>
                        <a:cubicBezTo>
                          <a:pt x="0" y="1756"/>
                          <a:pt x="4835" y="0"/>
                          <a:pt x="10800" y="0"/>
                        </a:cubicBezTo>
                        <a:cubicBezTo>
                          <a:pt x="16765" y="0"/>
                          <a:pt x="21600" y="1756"/>
                          <a:pt x="21600" y="3922"/>
                        </a:cubicBezTo>
                        <a:lnTo>
                          <a:pt x="21600" y="17678"/>
                        </a:lnTo>
                        <a:cubicBezTo>
                          <a:pt x="21600" y="19844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19844"/>
                          <a:pt x="0" y="17678"/>
                        </a:cubicBezTo>
                        <a:lnTo>
                          <a:pt x="0" y="3922"/>
                        </a:lnTo>
                      </a:path>
                    </a:pathLst>
                  </a:cu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71436" tIns="71436" rIns="71436" bIns="71436" numCol="1" anchor="ctr">
                    <a:noAutofit/>
                  </a:bodyPr>
                  <a:lstStyle/>
                  <a:p>
                    <a:pPr>
                      <a:spcBef>
                        <a:spcPts val="3000"/>
                      </a:spcBef>
                      <a:defRPr sz="2300" b="1">
                        <a:solidFill>
                          <a:srgbClr val="53585F"/>
                        </a:solidFill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 sz="800">
                      <a:latin typeface="Lato" panose="020B0604020202020204" charset="0"/>
                    </a:endParaRPr>
                  </a:p>
                </p:txBody>
              </p:sp>
            </p:grpSp>
            <p:sp>
              <p:nvSpPr>
                <p:cNvPr id="36" name="Extracellular water…"/>
                <p:cNvSpPr txBox="1"/>
                <p:nvPr/>
              </p:nvSpPr>
              <p:spPr>
                <a:xfrm>
                  <a:off x="66950" y="432574"/>
                  <a:ext cx="2779033" cy="138006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>
                    <a:spcBef>
                      <a:spcPts val="1300"/>
                    </a:spcBef>
                    <a:defRPr sz="2300">
                      <a:solidFill>
                        <a:srgbClr val="53585F"/>
                      </a:solidFill>
                      <a:latin typeface="Lato Light"/>
                      <a:ea typeface="Lato Light"/>
                      <a:cs typeface="Lato Light"/>
                      <a:sym typeface="Lato Light"/>
                    </a:defRPr>
                  </a:pPr>
                  <a:br>
                    <a:rPr sz="800" dirty="0">
                      <a:latin typeface="Lato" panose="020B0604020202020204" charset="0"/>
                    </a:rPr>
                  </a:br>
                  <a:r>
                    <a:rPr sz="800" b="1" dirty="0">
                      <a:latin typeface="Lato" panose="020B0604020202020204" charset="0"/>
                      <a:sym typeface="Helvetica"/>
                    </a:rPr>
                    <a:t>Extracellular water</a:t>
                  </a:r>
                  <a:br>
                    <a:rPr lang="en-US" sz="800" b="1" dirty="0">
                      <a:latin typeface="Lato" panose="020B0604020202020204" charset="0"/>
                      <a:sym typeface="Helvetica"/>
                    </a:rPr>
                  </a:br>
                  <a:r>
                    <a:rPr sz="800" b="1" dirty="0">
                      <a:latin typeface="Lato" panose="020B0604020202020204" charset="0"/>
                    </a:rPr>
                    <a:t>(ECW)</a:t>
                  </a:r>
                </a:p>
              </p:txBody>
            </p:sp>
          </p:grpSp>
          <p:sp>
            <p:nvSpPr>
              <p:cNvPr id="29" name="TextBox 6"/>
              <p:cNvSpPr txBox="1"/>
              <p:nvPr/>
            </p:nvSpPr>
            <p:spPr>
              <a:xfrm rot="16200000">
                <a:off x="6635229" y="4561684"/>
                <a:ext cx="1353010" cy="195284"/>
              </a:xfrm>
              <a:prstGeom prst="rect">
                <a:avLst/>
              </a:prstGeom>
              <a:solidFill>
                <a:srgbClr val="DCDDE0"/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>
                <a:lvl1pPr>
                  <a:defRPr sz="2400" b="1">
                    <a:latin typeface="+mn-lt"/>
                    <a:ea typeface="+mn-ea"/>
                    <a:cs typeface="+mn-cs"/>
                    <a:sym typeface="Helvetica"/>
                  </a:defRPr>
                </a:lvl1pPr>
              </a:lstStyle>
              <a:p>
                <a:r>
                  <a:rPr sz="800" dirty="0" err="1">
                    <a:latin typeface="Lato" panose="020B0604020202020204" charset="0"/>
                  </a:rPr>
                  <a:t>Eu</a:t>
                </a:r>
                <a:r>
                  <a:rPr sz="800" dirty="0">
                    <a:latin typeface="Lato" panose="020B0604020202020204" charset="0"/>
                  </a:rPr>
                  <a:t>-hydrated Fat Free Mass</a:t>
                </a:r>
              </a:p>
            </p:txBody>
          </p:sp>
          <p:sp>
            <p:nvSpPr>
              <p:cNvPr id="30" name="AutoShape 15"/>
              <p:cNvSpPr/>
              <p:nvPr/>
            </p:nvSpPr>
            <p:spPr>
              <a:xfrm>
                <a:off x="9902848" y="3712967"/>
                <a:ext cx="979158" cy="3493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4716"/>
                    </a:moveTo>
                    <a:cubicBezTo>
                      <a:pt x="21600" y="7321"/>
                      <a:pt x="16765" y="9433"/>
                      <a:pt x="10800" y="9433"/>
                    </a:cubicBezTo>
                    <a:cubicBezTo>
                      <a:pt x="4835" y="9433"/>
                      <a:pt x="0" y="7321"/>
                      <a:pt x="0" y="4716"/>
                    </a:cubicBezTo>
                    <a:cubicBezTo>
                      <a:pt x="0" y="2112"/>
                      <a:pt x="4835" y="0"/>
                      <a:pt x="10800" y="0"/>
                    </a:cubicBezTo>
                    <a:cubicBezTo>
                      <a:pt x="16765" y="0"/>
                      <a:pt x="21600" y="2112"/>
                      <a:pt x="21600" y="4716"/>
                    </a:cubicBezTo>
                    <a:lnTo>
                      <a:pt x="21600" y="16884"/>
                    </a:lnTo>
                    <a:cubicBezTo>
                      <a:pt x="21600" y="19488"/>
                      <a:pt x="16765" y="21600"/>
                      <a:pt x="10800" y="21600"/>
                    </a:cubicBezTo>
                    <a:cubicBezTo>
                      <a:pt x="4835" y="21600"/>
                      <a:pt x="0" y="19488"/>
                      <a:pt x="0" y="16884"/>
                    </a:cubicBezTo>
                    <a:lnTo>
                      <a:pt x="0" y="4716"/>
                    </a:lnTo>
                  </a:path>
                </a:pathLst>
              </a:custGeom>
              <a:ln w="19050">
                <a:solidFill>
                  <a:srgbClr val="8A1C22"/>
                </a:solidFill>
                <a:prstDash val="dash"/>
              </a:ln>
            </p:spPr>
            <p:txBody>
              <a:bodyPr lIns="71436" tIns="71436" rIns="71436" bIns="71436" anchor="ctr"/>
              <a:lstStyle/>
              <a:p>
                <a:pPr>
                  <a:spcBef>
                    <a:spcPts val="3000"/>
                  </a:spcBef>
                  <a:defRPr sz="2300">
                    <a:solidFill>
                      <a:srgbClr val="53585F"/>
                    </a:solidFill>
                    <a:latin typeface="Lato Light"/>
                    <a:ea typeface="Lato Light"/>
                    <a:cs typeface="Lato Light"/>
                    <a:sym typeface="Lato Light"/>
                  </a:defRPr>
                </a:pPr>
                <a:endParaRPr sz="800">
                  <a:latin typeface="Lato" panose="020B0604020202020204" charset="0"/>
                </a:endParaRPr>
              </a:p>
            </p:txBody>
          </p:sp>
          <p:sp>
            <p:nvSpPr>
              <p:cNvPr id="31" name="TextBox 12"/>
              <p:cNvSpPr txBox="1"/>
              <p:nvPr/>
            </p:nvSpPr>
            <p:spPr>
              <a:xfrm>
                <a:off x="11055412" y="4162442"/>
                <a:ext cx="342761" cy="61399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>
                  <a:defRPr sz="2800" b="1">
                    <a:solidFill>
                      <a:srgbClr val="881A21"/>
                    </a:solidFill>
                    <a:latin typeface="+mn-lt"/>
                    <a:ea typeface="+mn-ea"/>
                    <a:cs typeface="+mn-cs"/>
                    <a:sym typeface="Helvetica"/>
                  </a:defRPr>
                </a:pPr>
                <a:r>
                  <a:rPr sz="1000" dirty="0">
                    <a:latin typeface="Lato" panose="020B0604020202020204" charset="0"/>
                  </a:rPr>
                  <a:t>397</a:t>
                </a:r>
              </a:p>
              <a:p>
                <a:pPr>
                  <a:defRPr sz="2800" b="1">
                    <a:solidFill>
                      <a:srgbClr val="881A21"/>
                    </a:solidFill>
                    <a:latin typeface="+mn-lt"/>
                    <a:ea typeface="+mn-ea"/>
                    <a:cs typeface="+mn-cs"/>
                    <a:sym typeface="Helvetica"/>
                  </a:defRPr>
                </a:pPr>
                <a:r>
                  <a:rPr sz="1000" dirty="0">
                    <a:latin typeface="Lato" panose="020B0604020202020204" charset="0"/>
                  </a:rPr>
                  <a:t>____</a:t>
                </a:r>
              </a:p>
              <a:p>
                <a:pPr>
                  <a:defRPr sz="2800" b="1">
                    <a:solidFill>
                      <a:srgbClr val="881A21"/>
                    </a:solidFill>
                    <a:latin typeface="+mn-lt"/>
                    <a:ea typeface="+mn-ea"/>
                    <a:cs typeface="+mn-cs"/>
                    <a:sym typeface="Helvetica"/>
                  </a:defRPr>
                </a:pPr>
                <a:br>
                  <a:rPr sz="1000" dirty="0">
                    <a:latin typeface="Lato" panose="020B0604020202020204" charset="0"/>
                  </a:rPr>
                </a:br>
                <a:r>
                  <a:rPr sz="1000" dirty="0">
                    <a:latin typeface="Lato" panose="020B0604020202020204" charset="0"/>
                  </a:rPr>
                  <a:t>603</a:t>
                </a:r>
              </a:p>
            </p:txBody>
          </p:sp>
          <p:sp>
            <p:nvSpPr>
              <p:cNvPr id="32" name="Tekstvak 35"/>
              <p:cNvSpPr txBox="1"/>
              <p:nvPr/>
            </p:nvSpPr>
            <p:spPr>
              <a:xfrm>
                <a:off x="7090149" y="3359634"/>
                <a:ext cx="2217941" cy="34704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>
                  <a:defRPr sz="2600" b="1">
                    <a:solidFill>
                      <a:srgbClr val="002452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sz="1000" dirty="0">
                    <a:latin typeface="Lato" panose="020B0604020202020204" charset="0"/>
                  </a:rPr>
                  <a:t>Normal healthy people</a:t>
                </a:r>
                <a:br>
                  <a:rPr sz="1000" dirty="0">
                    <a:latin typeface="Lato" panose="020B0604020202020204" charset="0"/>
                  </a:rPr>
                </a:br>
                <a:r>
                  <a:rPr sz="1000" dirty="0">
                    <a:latin typeface="Lato" panose="020B0604020202020204" charset="0"/>
                  </a:rPr>
                  <a:t>ECW/TBW = 0.380</a:t>
                </a:r>
              </a:p>
            </p:txBody>
          </p:sp>
          <p:sp>
            <p:nvSpPr>
              <p:cNvPr id="33" name="Tekstvak 36"/>
              <p:cNvSpPr txBox="1"/>
              <p:nvPr/>
            </p:nvSpPr>
            <p:spPr>
              <a:xfrm>
                <a:off x="9283456" y="3357113"/>
                <a:ext cx="2217941" cy="34704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>
                  <a:defRPr sz="2600" b="1">
                    <a:solidFill>
                      <a:srgbClr val="002452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en-US" sz="1000" dirty="0">
                    <a:latin typeface="Lato" panose="020B0604020202020204" charset="0"/>
                  </a:rPr>
                  <a:t>Edema</a:t>
                </a:r>
              </a:p>
              <a:p>
                <a:pPr>
                  <a:defRPr sz="2600" b="1">
                    <a:solidFill>
                      <a:srgbClr val="002452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sz="1000" dirty="0">
                    <a:latin typeface="Lato" panose="020B0604020202020204" charset="0"/>
                  </a:rPr>
                  <a:t>ECW/TBW &gt; 0.3</a:t>
                </a:r>
                <a:r>
                  <a:rPr lang="en-US" sz="1000" dirty="0">
                    <a:latin typeface="Lato" panose="020B0604020202020204" charset="0"/>
                  </a:rPr>
                  <a:t>9</a:t>
                </a:r>
                <a:r>
                  <a:rPr sz="1000" dirty="0">
                    <a:latin typeface="Lato" panose="020B0604020202020204" charset="0"/>
                  </a:rPr>
                  <a:t>0</a:t>
                </a:r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9238089" y="3833468"/>
              <a:ext cx="1471709" cy="213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A0112D"/>
                  </a:solidFill>
                  <a:latin typeface="Lato" panose="020B0604020202020204" charset="0"/>
                </a:rPr>
                <a:t>Fluid overload</a:t>
              </a:r>
            </a:p>
          </p:txBody>
        </p:sp>
      </p:grpSp>
      <p:grpSp>
        <p:nvGrpSpPr>
          <p:cNvPr id="95" name="그룹 94"/>
          <p:cNvGrpSpPr/>
          <p:nvPr/>
        </p:nvGrpSpPr>
        <p:grpSpPr>
          <a:xfrm>
            <a:off x="1431921" y="1468923"/>
            <a:ext cx="3609188" cy="1597954"/>
            <a:chOff x="394263" y="3223655"/>
            <a:chExt cx="3609188" cy="1597954"/>
          </a:xfrm>
        </p:grpSpPr>
        <p:grpSp>
          <p:nvGrpSpPr>
            <p:cNvPr id="96" name="그룹 95"/>
            <p:cNvGrpSpPr/>
            <p:nvPr/>
          </p:nvGrpSpPr>
          <p:grpSpPr>
            <a:xfrm>
              <a:off x="1021503" y="3400925"/>
              <a:ext cx="2483531" cy="1420684"/>
              <a:chOff x="1120367" y="2400909"/>
              <a:chExt cx="2483531" cy="1420684"/>
            </a:xfrm>
          </p:grpSpPr>
          <p:pic>
            <p:nvPicPr>
              <p:cNvPr id="99" name="그림 98"/>
              <p:cNvPicPr>
                <a:picLocks noChangeAspect="1"/>
              </p:cNvPicPr>
              <p:nvPr/>
            </p:nvPicPr>
            <p:blipFill rotWithShape="1">
              <a:blip r:embed="rId3"/>
              <a:srcRect l="59680" t="25272" r="31170" b="44657"/>
              <a:stretch/>
            </p:blipFill>
            <p:spPr>
              <a:xfrm>
                <a:off x="2003876" y="2572423"/>
                <a:ext cx="1351305" cy="1249170"/>
              </a:xfrm>
              <a:prstGeom prst="rect">
                <a:avLst/>
              </a:prstGeom>
            </p:spPr>
          </p:pic>
          <p:sp>
            <p:nvSpPr>
              <p:cNvPr id="100" name="TextBox 99"/>
              <p:cNvSpPr txBox="1"/>
              <p:nvPr/>
            </p:nvSpPr>
            <p:spPr>
              <a:xfrm>
                <a:off x="2734894" y="2400909"/>
                <a:ext cx="869004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500" b="1" spc="-150" dirty="0">
                    <a:solidFill>
                      <a:srgbClr val="981010"/>
                    </a:solidFill>
                    <a:latin typeface="+mj-lt"/>
                  </a:rPr>
                  <a:t>ICW</a:t>
                </a:r>
                <a:endParaRPr lang="ko-KR" altLang="en-US" sz="1500" b="1" spc="-150" dirty="0">
                  <a:solidFill>
                    <a:srgbClr val="981010"/>
                  </a:solidFill>
                  <a:latin typeface="+mj-lt"/>
                </a:endParaRP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1120367" y="2798047"/>
                <a:ext cx="86071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500" b="1" spc="-150" dirty="0">
                    <a:solidFill>
                      <a:srgbClr val="981010"/>
                    </a:solidFill>
                    <a:latin typeface="+mj-lt"/>
                    <a:ea typeface="Arial Unicode MS" panose="020B0604020202020204" pitchFamily="50" charset="-127"/>
                  </a:rPr>
                  <a:t>ECW</a:t>
                </a:r>
                <a:endParaRPr lang="ko-KR" altLang="en-US" sz="1500" b="1" spc="-150" dirty="0">
                  <a:solidFill>
                    <a:srgbClr val="981010"/>
                  </a:solidFill>
                  <a:latin typeface="+mj-lt"/>
                  <a:ea typeface="Arial Unicode MS" panose="020B0604020202020204" pitchFamily="50" charset="-127"/>
                </a:endParaRPr>
              </a:p>
            </p:txBody>
          </p:sp>
          <p:cxnSp>
            <p:nvCxnSpPr>
              <p:cNvPr id="102" name="직선 화살표 연결선 101"/>
              <p:cNvCxnSpPr/>
              <p:nvPr/>
            </p:nvCxnSpPr>
            <p:spPr>
              <a:xfrm flipH="1" flipV="1">
                <a:off x="1802864" y="3135356"/>
                <a:ext cx="414930" cy="1"/>
              </a:xfrm>
              <a:prstGeom prst="straightConnector1">
                <a:avLst/>
              </a:prstGeom>
              <a:ln>
                <a:solidFill>
                  <a:srgbClr val="921F3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타원 102"/>
              <p:cNvSpPr/>
              <p:nvPr/>
            </p:nvSpPr>
            <p:spPr>
              <a:xfrm>
                <a:off x="2203161" y="3112497"/>
                <a:ext cx="45719" cy="45719"/>
              </a:xfrm>
              <a:prstGeom prst="ellipse">
                <a:avLst/>
              </a:prstGeom>
              <a:solidFill>
                <a:srgbClr val="921F36"/>
              </a:solidFill>
              <a:ln>
                <a:solidFill>
                  <a:srgbClr val="921F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타원 103"/>
              <p:cNvSpPr/>
              <p:nvPr/>
            </p:nvSpPr>
            <p:spPr>
              <a:xfrm>
                <a:off x="2832128" y="2753210"/>
                <a:ext cx="45719" cy="45719"/>
              </a:xfrm>
              <a:prstGeom prst="ellipse">
                <a:avLst/>
              </a:prstGeom>
              <a:solidFill>
                <a:srgbClr val="921F36"/>
              </a:solidFill>
              <a:ln>
                <a:solidFill>
                  <a:srgbClr val="921F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5" name="직선 화살표 연결선 104"/>
              <p:cNvCxnSpPr/>
              <p:nvPr/>
            </p:nvCxnSpPr>
            <p:spPr>
              <a:xfrm>
                <a:off x="2877847" y="2776069"/>
                <a:ext cx="399590" cy="0"/>
              </a:xfrm>
              <a:prstGeom prst="straightConnector1">
                <a:avLst/>
              </a:prstGeom>
              <a:ln>
                <a:solidFill>
                  <a:srgbClr val="921F3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7" name="TextBox 96"/>
            <p:cNvSpPr txBox="1"/>
            <p:nvPr/>
          </p:nvSpPr>
          <p:spPr>
            <a:xfrm>
              <a:off x="1714685" y="3223655"/>
              <a:ext cx="22887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spc="-30" dirty="0">
                  <a:solidFill>
                    <a:srgbClr val="4B4F5A"/>
                  </a:solidFill>
                  <a:ea typeface="Arial Unicode MS" panose="020B0604020202020204" pitchFamily="50" charset="-127"/>
                </a:rPr>
                <a:t>Intracellular water</a:t>
              </a:r>
              <a:endParaRPr lang="ko-KR" altLang="en-US" sz="1200" spc="-30" dirty="0">
                <a:solidFill>
                  <a:srgbClr val="4B4F5A"/>
                </a:solidFill>
                <a:ea typeface="Arial Unicode MS" panose="020B0604020202020204" pitchFamily="50" charset="-127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94263" y="3600159"/>
              <a:ext cx="22887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spc="-30" dirty="0">
                  <a:solidFill>
                    <a:srgbClr val="4B4F5A"/>
                  </a:solidFill>
                  <a:ea typeface="Arial Unicode MS" panose="020B0604020202020204" pitchFamily="50" charset="-127"/>
                </a:rPr>
                <a:t>Extracellular water</a:t>
              </a:r>
              <a:endParaRPr lang="ko-KR" altLang="en-US" sz="1200" spc="-30" dirty="0">
                <a:solidFill>
                  <a:srgbClr val="4B4F5A"/>
                </a:solidFill>
                <a:ea typeface="Arial Unicode MS" panose="020B0604020202020204" pitchFamily="50" charset="-127"/>
              </a:endParaRPr>
            </a:p>
          </p:txBody>
        </p:sp>
      </p:grpSp>
      <p:grpSp>
        <p:nvGrpSpPr>
          <p:cNvPr id="5" name="그룹 4"/>
          <p:cNvGrpSpPr>
            <a:grpSpLocks noChangeAspect="1"/>
          </p:cNvGrpSpPr>
          <p:nvPr/>
        </p:nvGrpSpPr>
        <p:grpSpPr>
          <a:xfrm>
            <a:off x="7126756" y="708562"/>
            <a:ext cx="3785242" cy="5331652"/>
            <a:chOff x="7015162" y="1121268"/>
            <a:chExt cx="4868883" cy="685800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5162" y="1121268"/>
              <a:ext cx="4868883" cy="6858000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7260336" y="1721538"/>
              <a:ext cx="731520" cy="173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n>
                  <a:solidFill>
                    <a:srgbClr val="7E8080">
                      <a:alpha val="0"/>
                    </a:srgb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</p:grpSp>
      <p:pic>
        <p:nvPicPr>
          <p:cNvPr id="77" name="그림 7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" t="24850" r="35773" b="67033"/>
          <a:stretch/>
        </p:blipFill>
        <p:spPr>
          <a:xfrm>
            <a:off x="6727230" y="2153696"/>
            <a:ext cx="2757532" cy="503303"/>
          </a:xfrm>
          <a:prstGeom prst="rect">
            <a:avLst/>
          </a:prstGeom>
          <a:ln w="31750">
            <a:solidFill>
              <a:srgbClr val="9D1F3A"/>
            </a:solidFill>
          </a:ln>
        </p:spPr>
      </p:pic>
      <p:pic>
        <p:nvPicPr>
          <p:cNvPr id="79" name="그림 7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t="54002" r="35673" b="24370"/>
          <a:stretch/>
        </p:blipFill>
        <p:spPr>
          <a:xfrm>
            <a:off x="6726758" y="3373120"/>
            <a:ext cx="2762001" cy="1365957"/>
          </a:xfrm>
          <a:prstGeom prst="rect">
            <a:avLst/>
          </a:prstGeom>
          <a:ln w="28575">
            <a:solidFill>
              <a:srgbClr val="9D1F3A"/>
            </a:solidFill>
          </a:ln>
        </p:spPr>
      </p:pic>
    </p:spTree>
    <p:extLst>
      <p:ext uri="{BB962C8B-B14F-4D97-AF65-F5344CB8AC3E}">
        <p14:creationId xmlns:p14="http://schemas.microsoft.com/office/powerpoint/2010/main" val="2440012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Lato" panose="020B0604020202020204" charset="0"/>
                  <a:ea typeface="에스코어 드림 6 Bold" panose="020B0703030302020204" pitchFamily="34" charset="-127"/>
                </a:rPr>
                <a:t>Edema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02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 err="1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Liraglutide</a:t>
            </a:r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 Enhances Sodium Excretion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12723" r="64"/>
          <a:stretch/>
        </p:blipFill>
        <p:spPr>
          <a:xfrm>
            <a:off x="1034141" y="1378206"/>
            <a:ext cx="5116285" cy="274549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019" y="4299076"/>
            <a:ext cx="4634232" cy="3394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94281" y="4638504"/>
            <a:ext cx="95122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Lato" panose="020B0604020202020204"/>
              </a:rPr>
              <a:t>→ </a:t>
            </a:r>
            <a:r>
              <a:rPr lang="en-US" altLang="ko-KR" sz="1400" dirty="0">
                <a:latin typeface="Lato" panose="020B0604020202020204"/>
              </a:rPr>
              <a:t>This study investigates the effects of the </a:t>
            </a:r>
            <a:r>
              <a:rPr lang="en-US" altLang="ko-KR" sz="1400" b="1" dirty="0">
                <a:solidFill>
                  <a:srgbClr val="9D1F3A"/>
                </a:solidFill>
                <a:latin typeface="Lato" panose="020B0604020202020204"/>
              </a:rPr>
              <a:t>GLP-1 receptor</a:t>
            </a:r>
            <a:r>
              <a:rPr lang="en-US" altLang="ko-KR" sz="1400" dirty="0">
                <a:latin typeface="Lato" panose="020B0604020202020204"/>
              </a:rPr>
              <a:t> agonist </a:t>
            </a:r>
            <a:r>
              <a:rPr lang="en-US" altLang="ko-KR" sz="1400" b="1" dirty="0" err="1">
                <a:solidFill>
                  <a:srgbClr val="9D1F3A"/>
                </a:solidFill>
                <a:latin typeface="Lato" panose="020B0604020202020204"/>
              </a:rPr>
              <a:t>liraglutide</a:t>
            </a:r>
            <a:r>
              <a:rPr lang="en-US" altLang="ko-KR" sz="1400" b="1" dirty="0">
                <a:solidFill>
                  <a:srgbClr val="9D1F3A"/>
                </a:solidFill>
                <a:latin typeface="Lato" panose="020B0604020202020204"/>
              </a:rPr>
              <a:t> </a:t>
            </a:r>
            <a:r>
              <a:rPr lang="en-US" altLang="ko-KR" sz="1400" dirty="0">
                <a:latin typeface="Lato" panose="020B0604020202020204"/>
              </a:rPr>
              <a:t>on </a:t>
            </a:r>
            <a:r>
              <a:rPr lang="en-US" altLang="ko-KR" sz="1400" b="1" dirty="0">
                <a:solidFill>
                  <a:srgbClr val="9D1F3A"/>
                </a:solidFill>
                <a:latin typeface="Lato" panose="020B0604020202020204"/>
              </a:rPr>
              <a:t>blood pressure, hydration, and </a:t>
            </a:r>
            <a:r>
              <a:rPr lang="en-US" altLang="ko-KR" sz="1400" b="1" dirty="0" err="1">
                <a:solidFill>
                  <a:srgbClr val="9D1F3A"/>
                </a:solidFill>
                <a:latin typeface="Lato" panose="020B0604020202020204"/>
              </a:rPr>
              <a:t>natriuresis</a:t>
            </a:r>
            <a:r>
              <a:rPr lang="en-US" altLang="ko-KR" sz="1400" b="1" dirty="0">
                <a:solidFill>
                  <a:srgbClr val="9D1F3A"/>
                </a:solidFill>
                <a:latin typeface="Lato" panose="020B0604020202020204"/>
              </a:rPr>
              <a:t> </a:t>
            </a:r>
            <a:r>
              <a:rPr lang="en-US" altLang="ko-KR" sz="1400" dirty="0">
                <a:latin typeface="Lato" panose="020B0604020202020204"/>
              </a:rPr>
              <a:t>in </a:t>
            </a:r>
            <a:r>
              <a:rPr lang="en-US" altLang="ko-KR" sz="1400" b="1" dirty="0">
                <a:latin typeface="Lato" panose="020B0604020202020204"/>
              </a:rPr>
              <a:t>diabetic patients with severely impaired kidney function.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Lato" panose="020B0604020202020204"/>
              </a:rPr>
              <a:t>※ Conclusion: This study suggests that </a:t>
            </a:r>
            <a:r>
              <a:rPr lang="en-US" altLang="ko-KR" sz="1400" b="1" dirty="0" err="1">
                <a:solidFill>
                  <a:srgbClr val="9D1F3A"/>
                </a:solidFill>
                <a:latin typeface="Lato" panose="020B0604020202020204"/>
              </a:rPr>
              <a:t>liraglutide</a:t>
            </a:r>
            <a:r>
              <a:rPr lang="en-US" altLang="ko-KR" sz="1400" b="1" dirty="0">
                <a:solidFill>
                  <a:srgbClr val="9D1F3A"/>
                </a:solidFill>
                <a:latin typeface="Lato" panose="020B0604020202020204"/>
              </a:rPr>
              <a:t> can enhance sodium excretion and regulate fluid balance</a:t>
            </a:r>
            <a:r>
              <a:rPr lang="en-US" altLang="ko-KR" sz="1400" b="1" dirty="0">
                <a:latin typeface="Lato" panose="020B0604020202020204"/>
              </a:rPr>
              <a:t>, but its effects on blood pressure differ depending on kidney function</a:t>
            </a:r>
            <a:r>
              <a:rPr lang="en-US" altLang="ko-KR" sz="1400" dirty="0">
                <a:latin typeface="Lato" panose="020B0604020202020204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0426" y="1540983"/>
            <a:ext cx="3571477" cy="2840117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7947050" y="1641754"/>
            <a:ext cx="1077207" cy="2373086"/>
          </a:xfrm>
          <a:prstGeom prst="rect">
            <a:avLst/>
          </a:prstGeom>
          <a:noFill/>
          <a:ln w="28575">
            <a:solidFill>
              <a:srgbClr val="9D1F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n>
                <a:solidFill>
                  <a:srgbClr val="7E8080">
                    <a:alpha val="0"/>
                  </a:srgbClr>
                </a:solidFill>
              </a:ln>
              <a:latin typeface="Lato" panose="020B0604020202020204"/>
              <a:ea typeface="Noto Sans KR" panose="020B0500000000000000" pitchFamily="34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90052" y="1607390"/>
            <a:ext cx="2819400" cy="1264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>
                <a:solidFill>
                  <a:srgbClr val="4B4F5A"/>
                </a:solidFill>
                <a:latin typeface="Lato" panose="020B0604020202020204"/>
                <a:ea typeface="Lato Black" panose="020F0502020204030203" pitchFamily="34" charset="0"/>
                <a:cs typeface="Lato Black" panose="020F0502020204030203" pitchFamily="34" charset="0"/>
              </a:rPr>
              <a:t>→ </a:t>
            </a:r>
            <a:r>
              <a:rPr lang="en-US" altLang="ko-KR" sz="1200" dirty="0" err="1">
                <a:latin typeface="Lato" panose="020B0604020202020204"/>
              </a:rPr>
              <a:t>Liraglutide</a:t>
            </a:r>
            <a:r>
              <a:rPr lang="en-US" altLang="ko-KR" sz="1200" dirty="0">
                <a:latin typeface="Lato" panose="020B0604020202020204"/>
              </a:rPr>
              <a:t> enhances sodium excretion and helps maintain fluid balance, but this effect is </a:t>
            </a:r>
            <a:r>
              <a:rPr lang="en-US" altLang="ko-KR" sz="1200" u="sng" dirty="0">
                <a:latin typeface="Lato" panose="020B0604020202020204"/>
              </a:rPr>
              <a:t>more pronounced in individuals with healthy kidney function</a:t>
            </a:r>
            <a:endParaRPr lang="en-US" altLang="ko-KR" sz="1200" u="sng" dirty="0">
              <a:solidFill>
                <a:srgbClr val="A0112D"/>
              </a:solidFill>
              <a:latin typeface="Lato" panose="020B0604020202020204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328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Lato" panose="020B0604020202020204" charset="0"/>
                  <a:ea typeface="에스코어 드림 6 Bold" panose="020B0703030302020204" pitchFamily="34" charset="-127"/>
                </a:rPr>
                <a:t>Phase Angle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03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Cell Membrane </a:t>
            </a:r>
            <a:r>
              <a:rPr kumimoji="1" lang="en-US" altLang="ko-KR" sz="1600" spc="-30" dirty="0" err="1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Intergrity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+mn-ea"/>
            </a:endParaRPr>
          </a:p>
        </p:txBody>
      </p:sp>
      <p:grpSp>
        <p:nvGrpSpPr>
          <p:cNvPr id="2" name="그룹 1"/>
          <p:cNvGrpSpPr>
            <a:grpSpLocks noChangeAspect="1"/>
          </p:cNvGrpSpPr>
          <p:nvPr/>
        </p:nvGrpSpPr>
        <p:grpSpPr>
          <a:xfrm>
            <a:off x="1030648" y="1478092"/>
            <a:ext cx="3887927" cy="4606700"/>
            <a:chOff x="1730715" y="1414489"/>
            <a:chExt cx="3986910" cy="4723983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E632E173-5845-68AB-8E02-1D431BB02329}"/>
                </a:ext>
              </a:extLst>
            </p:cNvPr>
            <p:cNvGrpSpPr/>
            <p:nvPr/>
          </p:nvGrpSpPr>
          <p:grpSpPr>
            <a:xfrm>
              <a:off x="1730715" y="1414489"/>
              <a:ext cx="3446076" cy="4723983"/>
              <a:chOff x="4051323" y="391215"/>
              <a:chExt cx="4578799" cy="6418405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D3F88599-F099-5C50-AC2C-ADB725DF4AC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80"/>
              <a:stretch/>
            </p:blipFill>
            <p:spPr>
              <a:xfrm>
                <a:off x="4051323" y="391215"/>
                <a:ext cx="4578799" cy="6418405"/>
              </a:xfrm>
              <a:prstGeom prst="rect">
                <a:avLst/>
              </a:prstGeom>
            </p:spPr>
          </p:pic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20BEE33F-C92F-3F96-FAAF-822797E051B9}"/>
                  </a:ext>
                </a:extLst>
              </p:cNvPr>
              <p:cNvSpPr/>
              <p:nvPr/>
            </p:nvSpPr>
            <p:spPr>
              <a:xfrm>
                <a:off x="4224377" y="936454"/>
                <a:ext cx="733031" cy="159315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0D430E8C-0DB4-B7ED-9C24-1120C69C4A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787" t="57801" r="4764" b="28817"/>
            <a:stretch/>
          </p:blipFill>
          <p:spPr>
            <a:xfrm>
              <a:off x="3633445" y="3728514"/>
              <a:ext cx="2084180" cy="1249032"/>
            </a:xfrm>
            <a:prstGeom prst="rect">
              <a:avLst/>
            </a:prstGeom>
            <a:ln w="31750">
              <a:solidFill>
                <a:srgbClr val="9D1F3A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7" name="그룹 16"/>
          <p:cNvGrpSpPr/>
          <p:nvPr/>
        </p:nvGrpSpPr>
        <p:grpSpPr>
          <a:xfrm>
            <a:off x="5417277" y="2416572"/>
            <a:ext cx="6145997" cy="2220522"/>
            <a:chOff x="3340225" y="2364693"/>
            <a:chExt cx="7189039" cy="2694348"/>
          </a:xfrm>
        </p:grpSpPr>
        <p:grpSp>
          <p:nvGrpSpPr>
            <p:cNvPr id="18" name="그룹 17"/>
            <p:cNvGrpSpPr/>
            <p:nvPr/>
          </p:nvGrpSpPr>
          <p:grpSpPr>
            <a:xfrm>
              <a:off x="3340225" y="2364693"/>
              <a:ext cx="3540992" cy="2694348"/>
              <a:chOff x="3447728" y="2364770"/>
              <a:chExt cx="3540992" cy="2694348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3F429B97-38CE-2666-FA5F-FCE8A07CCF8B}"/>
                  </a:ext>
                </a:extLst>
              </p:cNvPr>
              <p:cNvSpPr/>
              <p:nvPr/>
            </p:nvSpPr>
            <p:spPr>
              <a:xfrm>
                <a:off x="3447728" y="3016839"/>
                <a:ext cx="664143" cy="2987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000" dirty="0">
                    <a:solidFill>
                      <a:srgbClr val="040403"/>
                    </a:solidFill>
                    <a:latin typeface="Lato" panose="020B060402020202020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50KHz</a:t>
                </a: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8E051F-C40B-D4F2-69E0-B12AE28C48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b="54026"/>
              <a:stretch/>
            </p:blipFill>
            <p:spPr>
              <a:xfrm>
                <a:off x="3745711" y="2927463"/>
                <a:ext cx="3210764" cy="1093420"/>
              </a:xfrm>
              <a:prstGeom prst="rect">
                <a:avLst/>
              </a:prstGeom>
            </p:spPr>
          </p:pic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3894D00B-0C41-60AE-B75F-0282A838A37A}"/>
                  </a:ext>
                </a:extLst>
              </p:cNvPr>
              <p:cNvSpPr/>
              <p:nvPr/>
            </p:nvSpPr>
            <p:spPr>
              <a:xfrm>
                <a:off x="4478375" y="2390170"/>
                <a:ext cx="1590418" cy="410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600" b="1" dirty="0">
                    <a:solidFill>
                      <a:srgbClr val="A0112D"/>
                    </a:solidFill>
                    <a:latin typeface="Lato" panose="020B060402020202020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Healthy Cell</a:t>
                </a: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754C7316-4642-C310-7AC3-71F20A154695}"/>
                  </a:ext>
                </a:extLst>
              </p:cNvPr>
              <p:cNvSpPr/>
              <p:nvPr/>
            </p:nvSpPr>
            <p:spPr>
              <a:xfrm>
                <a:off x="3909649" y="2719718"/>
                <a:ext cx="930401" cy="2987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000" dirty="0">
                    <a:solidFill>
                      <a:srgbClr val="040403"/>
                    </a:solidFill>
                    <a:latin typeface="Lato" panose="020B060402020202020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Membrane</a:t>
                </a:r>
              </a:p>
            </p:txBody>
          </p: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A19CF90A-B9C6-71F9-94B3-5221DA9D8684}"/>
                  </a:ext>
                </a:extLst>
              </p:cNvPr>
              <p:cNvCxnSpPr/>
              <p:nvPr/>
            </p:nvCxnSpPr>
            <p:spPr>
              <a:xfrm>
                <a:off x="4703677" y="2848687"/>
                <a:ext cx="160721" cy="138499"/>
              </a:xfrm>
              <a:prstGeom prst="straightConnector1">
                <a:avLst/>
              </a:prstGeom>
              <a:ln>
                <a:solidFill>
                  <a:srgbClr val="04040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2D294BD7-B383-8D78-5C4A-A886C44BF546}"/>
                  </a:ext>
                </a:extLst>
              </p:cNvPr>
              <p:cNvCxnSpPr/>
              <p:nvPr/>
            </p:nvCxnSpPr>
            <p:spPr>
              <a:xfrm>
                <a:off x="5803103" y="2974485"/>
                <a:ext cx="0" cy="237900"/>
              </a:xfrm>
              <a:prstGeom prst="straightConnector1">
                <a:avLst/>
              </a:prstGeom>
              <a:ln>
                <a:solidFill>
                  <a:srgbClr val="04040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0B2CECAB-1EE7-355D-06D2-6CF3058FFE80}"/>
                  </a:ext>
                </a:extLst>
              </p:cNvPr>
              <p:cNvCxnSpPr/>
              <p:nvPr/>
            </p:nvCxnSpPr>
            <p:spPr>
              <a:xfrm>
                <a:off x="5942803" y="2974485"/>
                <a:ext cx="0" cy="237900"/>
              </a:xfrm>
              <a:prstGeom prst="straightConnector1">
                <a:avLst/>
              </a:prstGeom>
              <a:ln>
                <a:solidFill>
                  <a:srgbClr val="04040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9E6C2101-8FEF-72EE-AE7A-2EFFA3D5C1A8}"/>
                  </a:ext>
                </a:extLst>
              </p:cNvPr>
              <p:cNvSpPr/>
              <p:nvPr/>
            </p:nvSpPr>
            <p:spPr>
              <a:xfrm>
                <a:off x="5365264" y="2747503"/>
                <a:ext cx="649143" cy="2987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000" dirty="0">
                    <a:solidFill>
                      <a:srgbClr val="040403"/>
                    </a:solidFill>
                    <a:latin typeface="Lato" panose="020B060402020202020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U max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69285174-436A-A002-0AAD-ED76BFE46AE3}"/>
                  </a:ext>
                </a:extLst>
              </p:cNvPr>
              <p:cNvSpPr/>
              <p:nvPr/>
            </p:nvSpPr>
            <p:spPr>
              <a:xfrm>
                <a:off x="5822362" y="2747503"/>
                <a:ext cx="581641" cy="2987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000" dirty="0">
                    <a:solidFill>
                      <a:srgbClr val="040403"/>
                    </a:solidFill>
                    <a:latin typeface="Lato" panose="020B060402020202020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I max</a:t>
                </a:r>
              </a:p>
            </p:txBody>
          </p: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60B72A8C-8D69-5577-38F4-327348FD4103}"/>
                  </a:ext>
                </a:extLst>
              </p:cNvPr>
              <p:cNvCxnSpPr/>
              <p:nvPr/>
            </p:nvCxnSpPr>
            <p:spPr>
              <a:xfrm>
                <a:off x="5946791" y="3693995"/>
                <a:ext cx="0" cy="144000"/>
              </a:xfrm>
              <a:prstGeom prst="line">
                <a:avLst/>
              </a:prstGeom>
              <a:ln>
                <a:solidFill>
                  <a:srgbClr val="04040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DB8D2BEE-4A7F-E248-5DFF-F8DDA65E90FE}"/>
                  </a:ext>
                </a:extLst>
              </p:cNvPr>
              <p:cNvCxnSpPr/>
              <p:nvPr/>
            </p:nvCxnSpPr>
            <p:spPr>
              <a:xfrm>
                <a:off x="6160151" y="3693995"/>
                <a:ext cx="0" cy="144000"/>
              </a:xfrm>
              <a:prstGeom prst="line">
                <a:avLst/>
              </a:prstGeom>
              <a:ln>
                <a:solidFill>
                  <a:srgbClr val="04040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화살표 연결선 44">
                <a:extLst>
                  <a:ext uri="{FF2B5EF4-FFF2-40B4-BE49-F238E27FC236}">
                    <a16:creationId xmlns:a16="http://schemas.microsoft.com/office/drawing/2014/main" id="{A857268B-9EA2-C4D6-7A52-D08B2F0DA39C}"/>
                  </a:ext>
                </a:extLst>
              </p:cNvPr>
              <p:cNvCxnSpPr/>
              <p:nvPr/>
            </p:nvCxnSpPr>
            <p:spPr>
              <a:xfrm>
                <a:off x="5942804" y="3750755"/>
                <a:ext cx="221481" cy="0"/>
              </a:xfrm>
              <a:prstGeom prst="straightConnector1">
                <a:avLst/>
              </a:prstGeom>
              <a:ln>
                <a:solidFill>
                  <a:srgbClr val="040403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55279E94-FE0B-1E04-7735-73F45D51CEB8}"/>
                  </a:ext>
                </a:extLst>
              </p:cNvPr>
              <p:cNvSpPr/>
              <p:nvPr/>
            </p:nvSpPr>
            <p:spPr>
              <a:xfrm>
                <a:off x="5621186" y="3846307"/>
                <a:ext cx="1059778" cy="2987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000" dirty="0">
                    <a:solidFill>
                      <a:srgbClr val="040403"/>
                    </a:solidFill>
                    <a:latin typeface="Lato" panose="020B060402020202020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Phase Angle</a:t>
                </a:r>
              </a:p>
            </p:txBody>
          </p: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347EFAA6-785E-8665-141E-E83DABCC42DD}"/>
                  </a:ext>
                </a:extLst>
              </p:cNvPr>
              <p:cNvCxnSpPr/>
              <p:nvPr/>
            </p:nvCxnSpPr>
            <p:spPr>
              <a:xfrm>
                <a:off x="4669506" y="2364770"/>
                <a:ext cx="1219523" cy="0"/>
              </a:xfrm>
              <a:prstGeom prst="line">
                <a:avLst/>
              </a:prstGeom>
              <a:ln>
                <a:solidFill>
                  <a:srgbClr val="04040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BCE2C8A4-F24D-BD55-B228-45332A0A457A}"/>
                  </a:ext>
                </a:extLst>
              </p:cNvPr>
              <p:cNvCxnSpPr/>
              <p:nvPr/>
            </p:nvCxnSpPr>
            <p:spPr>
              <a:xfrm>
                <a:off x="4669506" y="2728724"/>
                <a:ext cx="1219523" cy="0"/>
              </a:xfrm>
              <a:prstGeom prst="line">
                <a:avLst/>
              </a:prstGeom>
              <a:ln>
                <a:solidFill>
                  <a:srgbClr val="04040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4D76C382-A271-B792-08B3-D09260937679}"/>
                  </a:ext>
                </a:extLst>
              </p:cNvPr>
              <p:cNvSpPr/>
              <p:nvPr/>
            </p:nvSpPr>
            <p:spPr>
              <a:xfrm>
                <a:off x="4015595" y="4749167"/>
                <a:ext cx="2338903" cy="307237"/>
              </a:xfrm>
              <a:prstGeom prst="rect">
                <a:avLst/>
              </a:prstGeom>
              <a:solidFill>
                <a:srgbClr val="656E7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Lato" panose="020B0604020202020204" charset="0"/>
                  <a:cs typeface="Lato Black" panose="020F0502020204030203" pitchFamily="34" charset="0"/>
                </a:endParaRP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F81F1490-071B-8146-02D2-6B2EB5AEC8B4}"/>
                  </a:ext>
                </a:extLst>
              </p:cNvPr>
              <p:cNvSpPr/>
              <p:nvPr/>
            </p:nvSpPr>
            <p:spPr>
              <a:xfrm>
                <a:off x="3579505" y="4147098"/>
                <a:ext cx="3409215" cy="3361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200" dirty="0">
                    <a:solidFill>
                      <a:srgbClr val="3A3A38"/>
                    </a:solidFill>
                    <a:latin typeface="Lato" panose="020B060402020202020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Intact cells with high membrane integrity</a:t>
                </a: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6D1D1FAA-1189-40DA-4FF8-E9A0DD3992EA}"/>
                  </a:ext>
                </a:extLst>
              </p:cNvPr>
              <p:cNvSpPr/>
              <p:nvPr/>
            </p:nvSpPr>
            <p:spPr>
              <a:xfrm>
                <a:off x="4205757" y="4685666"/>
                <a:ext cx="1987628" cy="3734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400" b="1" dirty="0">
                    <a:solidFill>
                      <a:schemeClr val="bg1"/>
                    </a:solidFill>
                    <a:latin typeface="Lato" panose="020B060402020202020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High Phase Angle</a:t>
                </a:r>
              </a:p>
            </p:txBody>
          </p:sp>
          <p:sp>
            <p:nvSpPr>
              <p:cNvPr id="52" name="이등변 삼각형 51">
                <a:extLst>
                  <a:ext uri="{FF2B5EF4-FFF2-40B4-BE49-F238E27FC236}">
                    <a16:creationId xmlns:a16="http://schemas.microsoft.com/office/drawing/2014/main" id="{2595FF1D-9B47-04AD-B635-792EFE6864E8}"/>
                  </a:ext>
                </a:extLst>
              </p:cNvPr>
              <p:cNvSpPr/>
              <p:nvPr/>
            </p:nvSpPr>
            <p:spPr>
              <a:xfrm rot="10800000">
                <a:off x="5096816" y="4494048"/>
                <a:ext cx="205513" cy="17716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Lato" panose="020B0604020202020204" charset="0"/>
                  <a:cs typeface="Lato Black" panose="020F0502020204030203" pitchFamily="34" charset="0"/>
                </a:endParaRPr>
              </a:p>
            </p:txBody>
          </p:sp>
        </p:grpSp>
        <p:grpSp>
          <p:nvGrpSpPr>
            <p:cNvPr id="19" name="그룹 18"/>
            <p:cNvGrpSpPr/>
            <p:nvPr/>
          </p:nvGrpSpPr>
          <p:grpSpPr>
            <a:xfrm>
              <a:off x="7001188" y="2376710"/>
              <a:ext cx="3528076" cy="2682331"/>
              <a:chOff x="7191452" y="2376710"/>
              <a:chExt cx="3528076" cy="2682331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FA61B290-DABB-DB90-1318-880C1F8C15BF}"/>
                  </a:ext>
                </a:extLst>
              </p:cNvPr>
              <p:cNvSpPr/>
              <p:nvPr/>
            </p:nvSpPr>
            <p:spPr>
              <a:xfrm>
                <a:off x="7843776" y="4749090"/>
                <a:ext cx="2338903" cy="307237"/>
              </a:xfrm>
              <a:prstGeom prst="rect">
                <a:avLst/>
              </a:prstGeom>
              <a:solidFill>
                <a:srgbClr val="656E7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Lato" panose="020B0604020202020204" charset="0"/>
                  <a:cs typeface="Lato Black" panose="020F0502020204030203" pitchFamily="34" charset="0"/>
                </a:endParaRPr>
              </a:p>
            </p:txBody>
          </p:sp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778F9663-2FC3-3D14-1F99-E46A7CB2FA3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49099"/>
              <a:stretch/>
            </p:blipFill>
            <p:spPr>
              <a:xfrm>
                <a:off x="7653437" y="2782801"/>
                <a:ext cx="3066091" cy="1156052"/>
              </a:xfrm>
              <a:prstGeom prst="rect">
                <a:avLst/>
              </a:prstGeom>
            </p:spPr>
          </p:pic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C56553E4-296E-5F06-3BCE-F8A21FC4B98C}"/>
                  </a:ext>
                </a:extLst>
              </p:cNvPr>
              <p:cNvSpPr/>
              <p:nvPr/>
            </p:nvSpPr>
            <p:spPr>
              <a:xfrm>
                <a:off x="8182576" y="2381271"/>
                <a:ext cx="1802299" cy="410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600" b="1" dirty="0">
                    <a:solidFill>
                      <a:srgbClr val="A0112D"/>
                    </a:solidFill>
                    <a:latin typeface="Lato" panose="020B060402020202020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Damaged Cell</a:t>
                </a: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31F30EB4-7567-4D62-42AA-716E64F0CCA0}"/>
                  </a:ext>
                </a:extLst>
              </p:cNvPr>
              <p:cNvSpPr/>
              <p:nvPr/>
            </p:nvSpPr>
            <p:spPr>
              <a:xfrm>
                <a:off x="7696801" y="4123550"/>
                <a:ext cx="2777324" cy="3361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200" dirty="0">
                    <a:solidFill>
                      <a:srgbClr val="4B4F5A"/>
                    </a:solidFill>
                    <a:latin typeface="Lato" panose="020B060402020202020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Damaged cell or low cell density</a:t>
                </a: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A939B2C5-7A32-907C-BD18-AB11711057AB}"/>
                  </a:ext>
                </a:extLst>
              </p:cNvPr>
              <p:cNvSpPr/>
              <p:nvPr/>
            </p:nvSpPr>
            <p:spPr>
              <a:xfrm>
                <a:off x="8030574" y="4685589"/>
                <a:ext cx="1940751" cy="3734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400" b="1" dirty="0">
                    <a:solidFill>
                      <a:schemeClr val="bg1"/>
                    </a:solidFill>
                    <a:latin typeface="Lato" panose="020B060402020202020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Low Phase Angle</a:t>
                </a:r>
              </a:p>
            </p:txBody>
          </p:sp>
          <p:sp>
            <p:nvSpPr>
              <p:cNvPr id="30" name="이등변 삼각형 29">
                <a:extLst>
                  <a:ext uri="{FF2B5EF4-FFF2-40B4-BE49-F238E27FC236}">
                    <a16:creationId xmlns:a16="http://schemas.microsoft.com/office/drawing/2014/main" id="{366B9D02-CDD6-E4D8-99BA-C52E2E031238}"/>
                  </a:ext>
                </a:extLst>
              </p:cNvPr>
              <p:cNvSpPr/>
              <p:nvPr/>
            </p:nvSpPr>
            <p:spPr>
              <a:xfrm rot="10800000">
                <a:off x="8980969" y="4516516"/>
                <a:ext cx="205513" cy="17716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Lato" panose="020B0604020202020204" charset="0"/>
                  <a:cs typeface="Lato Black" panose="020F0502020204030203" pitchFamily="34" charset="0"/>
                </a:endParaRPr>
              </a:p>
            </p:txBody>
          </p: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BA2A5DD1-24C7-0DC1-618D-72EF6C09DB97}"/>
                  </a:ext>
                </a:extLst>
              </p:cNvPr>
              <p:cNvCxnSpPr/>
              <p:nvPr/>
            </p:nvCxnSpPr>
            <p:spPr>
              <a:xfrm>
                <a:off x="8579923" y="2376710"/>
                <a:ext cx="1059033" cy="0"/>
              </a:xfrm>
              <a:prstGeom prst="line">
                <a:avLst/>
              </a:prstGeom>
              <a:ln>
                <a:solidFill>
                  <a:srgbClr val="04040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1A663C5B-E2C7-F1C3-1B60-787460FE2FA4}"/>
                  </a:ext>
                </a:extLst>
              </p:cNvPr>
              <p:cNvCxnSpPr/>
              <p:nvPr/>
            </p:nvCxnSpPr>
            <p:spPr>
              <a:xfrm>
                <a:off x="8579923" y="2726016"/>
                <a:ext cx="1059033" cy="0"/>
              </a:xfrm>
              <a:prstGeom prst="line">
                <a:avLst/>
              </a:prstGeom>
              <a:ln>
                <a:solidFill>
                  <a:srgbClr val="04040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17C67EE3-C408-4D3D-6FA9-5551EAB6F8B7}"/>
                  </a:ext>
                </a:extLst>
              </p:cNvPr>
              <p:cNvSpPr/>
              <p:nvPr/>
            </p:nvSpPr>
            <p:spPr>
              <a:xfrm>
                <a:off x="7191452" y="3049560"/>
                <a:ext cx="664143" cy="2987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000" dirty="0">
                    <a:solidFill>
                      <a:srgbClr val="040403"/>
                    </a:solidFill>
                    <a:latin typeface="Lato" panose="020B060402020202020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50KHz</a:t>
                </a:r>
              </a:p>
            </p:txBody>
          </p:sp>
        </p:grpSp>
      </p:grpSp>
      <p:sp>
        <p:nvSpPr>
          <p:cNvPr id="53" name="TextBox 52"/>
          <p:cNvSpPr txBox="1"/>
          <p:nvPr/>
        </p:nvSpPr>
        <p:spPr>
          <a:xfrm>
            <a:off x="4706782" y="5155016"/>
            <a:ext cx="768059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ko-KR" sz="1400" dirty="0">
                <a:solidFill>
                  <a:srgbClr val="4B4F5A"/>
                </a:solidFill>
                <a:latin typeface="Lato" panose="020B0604020202020204" charset="0"/>
                <a:ea typeface="Lato Black" panose="020F0502020204030203" pitchFamily="34" charset="0"/>
                <a:cs typeface="Lato Black" panose="020F0502020204030203" pitchFamily="34" charset="0"/>
              </a:rPr>
              <a:t>Improvements in cell membrane and functionality  </a:t>
            </a:r>
            <a:r>
              <a:rPr lang="en-US" altLang="ko-KR" sz="1400" dirty="0">
                <a:latin typeface="Lato" panose="020B060402020202020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  </a:t>
            </a:r>
            <a:r>
              <a:rPr lang="en-US" altLang="ko-KR" sz="1400" b="1" dirty="0">
                <a:solidFill>
                  <a:srgbClr val="A0112D"/>
                </a:solidFill>
                <a:latin typeface="Lato" panose="020B0604020202020204" charset="0"/>
                <a:ea typeface="에스코어 드림 5 Medium" panose="020B0503030302020204" pitchFamily="34" charset="-127"/>
                <a:cs typeface="Lato" panose="020F0502020204030203" pitchFamily="34" charset="0"/>
                <a:sym typeface="Wingdings" panose="05000000000000000000" pitchFamily="2" charset="2"/>
              </a:rPr>
              <a:t>Phase angle increase</a:t>
            </a:r>
            <a:endParaRPr lang="en-US" altLang="ko-KR" sz="1400" dirty="0">
              <a:latin typeface="Lato" panose="020B060402020202020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pPr algn="ctr">
              <a:lnSpc>
                <a:spcPct val="125000"/>
              </a:lnSpc>
            </a:pPr>
            <a:r>
              <a:rPr lang="en-US" altLang="ko-KR" sz="1400" dirty="0">
                <a:solidFill>
                  <a:srgbClr val="4B4F5A"/>
                </a:solidFill>
                <a:latin typeface="Lato" panose="020B0604020202020204" charset="0"/>
                <a:ea typeface="Lato Black" panose="020F0502020204030203" pitchFamily="34" charset="0"/>
                <a:cs typeface="Lato Black" panose="020F0502020204030203" pitchFamily="34" charset="0"/>
              </a:rPr>
              <a:t>Deterioration cellular integrity and selective permeability </a:t>
            </a:r>
            <a:r>
              <a:rPr lang="en-US" altLang="ko-KR" sz="1400" dirty="0">
                <a:latin typeface="Lato" panose="020B060402020202020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  </a:t>
            </a:r>
            <a:r>
              <a:rPr lang="en-US" altLang="ko-KR" sz="1400" b="1" dirty="0">
                <a:solidFill>
                  <a:srgbClr val="A0112D"/>
                </a:solidFill>
                <a:latin typeface="Lato" panose="020B060402020202020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Phase angle decrease</a:t>
            </a:r>
            <a:endParaRPr lang="en-US" altLang="ko-KR" sz="1400" b="1" dirty="0">
              <a:solidFill>
                <a:srgbClr val="A0112D"/>
              </a:solidFill>
              <a:latin typeface="Lato" panose="020B060402020202020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417277" y="1319835"/>
            <a:ext cx="66951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>
                <a:solidFill>
                  <a:srgbClr val="4B4F5A"/>
                </a:solidFill>
                <a:latin typeface="Lato" panose="020B0604020202020204" charset="0"/>
                <a:ea typeface="Lato Black" panose="020F0502020204030203" pitchFamily="34" charset="0"/>
                <a:cs typeface="Lato Black" panose="020F0502020204030203" pitchFamily="34" charset="0"/>
              </a:rPr>
              <a:t>→ </a:t>
            </a:r>
            <a:r>
              <a:rPr lang="en-US" altLang="ko-KR" sz="1400" dirty="0" err="1">
                <a:solidFill>
                  <a:srgbClr val="4B4F5A"/>
                </a:solidFill>
                <a:latin typeface="Lato" panose="020B0604020202020204" charset="0"/>
                <a:ea typeface="Lato Black" panose="020F0502020204030203" pitchFamily="34" charset="0"/>
                <a:cs typeface="Lato Black" panose="020F0502020204030203" pitchFamily="34" charset="0"/>
              </a:rPr>
              <a:t>PhA</a:t>
            </a:r>
            <a:r>
              <a:rPr lang="en-US" altLang="ko-KR" sz="1400" dirty="0">
                <a:solidFill>
                  <a:srgbClr val="4B4F5A"/>
                </a:solidFill>
                <a:latin typeface="Lato" panose="020B0604020202020204" charset="0"/>
                <a:ea typeface="Lato Black" panose="020F0502020204030203" pitchFamily="34" charset="0"/>
                <a:cs typeface="Lato Black" panose="020F0502020204030203" pitchFamily="34" charset="0"/>
              </a:rPr>
              <a:t> represents </a:t>
            </a:r>
            <a:r>
              <a:rPr lang="en-US" altLang="ko-KR" sz="1400" b="1" dirty="0">
                <a:solidFill>
                  <a:srgbClr val="4B4F5A"/>
                </a:solidFill>
                <a:latin typeface="Lato" panose="020B0604020202020204" charset="0"/>
                <a:ea typeface="Lato Black" panose="020F0502020204030203" pitchFamily="34" charset="0"/>
                <a:cs typeface="Lato Black" panose="020F0502020204030203" pitchFamily="34" charset="0"/>
              </a:rPr>
              <a:t>structural integrity </a:t>
            </a:r>
            <a:r>
              <a:rPr lang="en-US" altLang="ko-KR" sz="1400" dirty="0">
                <a:solidFill>
                  <a:srgbClr val="4B4F5A"/>
                </a:solidFill>
                <a:latin typeface="Lato" panose="020B0604020202020204" charset="0"/>
                <a:ea typeface="Lato Black" panose="020F0502020204030203" pitchFamily="34" charset="0"/>
                <a:cs typeface="Lato Black" panose="020F0502020204030203" pitchFamily="34" charset="0"/>
              </a:rPr>
              <a:t>and </a:t>
            </a:r>
          </a:p>
          <a:p>
            <a:pPr>
              <a:lnSpc>
                <a:spcPct val="125000"/>
              </a:lnSpc>
            </a:pPr>
            <a:r>
              <a:rPr lang="en-US" altLang="ko-KR" sz="1400" b="1" dirty="0">
                <a:solidFill>
                  <a:srgbClr val="4B4F5A"/>
                </a:solidFill>
                <a:latin typeface="Lato" panose="020B0604020202020204" charset="0"/>
                <a:ea typeface="Lato Black" panose="020F0502020204030203" pitchFamily="34" charset="0"/>
                <a:cs typeface="Lato Black" panose="020F0502020204030203" pitchFamily="34" charset="0"/>
              </a:rPr>
              <a:t>physiological functionality of the cells </a:t>
            </a:r>
            <a:r>
              <a:rPr lang="en-US" altLang="ko-KR" sz="1400" dirty="0">
                <a:solidFill>
                  <a:srgbClr val="4B4F5A"/>
                </a:solidFill>
                <a:latin typeface="Lato" panose="020B0604020202020204" charset="0"/>
                <a:ea typeface="Lato Black" panose="020F0502020204030203" pitchFamily="34" charset="0"/>
                <a:cs typeface="Lato Black" panose="020F0502020204030203" pitchFamily="34" charset="0"/>
              </a:rPr>
              <a:t>used for nutritional assessment</a:t>
            </a:r>
            <a:endParaRPr lang="en-US" altLang="ko-KR" sz="1400" b="1" dirty="0">
              <a:solidFill>
                <a:srgbClr val="A0112D"/>
              </a:solidFill>
              <a:latin typeface="Lato" panose="020B060402020202020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901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Lato" panose="020B0604020202020204" charset="0"/>
                  <a:ea typeface="에스코어 드림 6 Bold" panose="020B0703030302020204" pitchFamily="34" charset="-127"/>
                </a:rPr>
                <a:t>Phase Angle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03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Valuable Biomarker with Obesity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08" y="1526529"/>
            <a:ext cx="7045130" cy="32171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67063" y="2096353"/>
            <a:ext cx="3782753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Lato" panose="020B0604020202020204"/>
              </a:rPr>
              <a:t>[</a:t>
            </a:r>
            <a:r>
              <a:rPr lang="en-US" altLang="ko-KR" sz="1400" b="1" dirty="0" err="1">
                <a:latin typeface="Lato" panose="020B0604020202020204"/>
              </a:rPr>
              <a:t>PhA</a:t>
            </a:r>
            <a:r>
              <a:rPr lang="en-US" altLang="ko-KR" sz="1400" b="1" dirty="0">
                <a:latin typeface="Lato" panose="020B0604020202020204"/>
              </a:rPr>
              <a:t> and Metabolic Health]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Lato" panose="020B0604020202020204"/>
              </a:rPr>
              <a:t>Lower </a:t>
            </a:r>
            <a:r>
              <a:rPr lang="en-US" altLang="ko-KR" sz="1200" dirty="0" err="1">
                <a:latin typeface="Lato" panose="020B0604020202020204"/>
              </a:rPr>
              <a:t>PhA</a:t>
            </a:r>
            <a:r>
              <a:rPr lang="en-US" altLang="ko-KR" sz="1200" dirty="0">
                <a:latin typeface="Lato" panose="020B0604020202020204"/>
              </a:rPr>
              <a:t> is linked to insulin resistance, impaired glucose metabolism, and dyslipidemia.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Lato" panose="020B0604020202020204"/>
              </a:rPr>
              <a:t>Higher inflammatory markers (CRP, IL-6, TNF-α) are associated with lower </a:t>
            </a:r>
            <a:r>
              <a:rPr lang="en-US" altLang="ko-KR" sz="1200" dirty="0" err="1">
                <a:latin typeface="Lato" panose="020B0604020202020204"/>
              </a:rPr>
              <a:t>PhA</a:t>
            </a:r>
            <a:r>
              <a:rPr lang="en-US" altLang="ko-KR" sz="1200" dirty="0">
                <a:latin typeface="Lato" panose="020B0604020202020204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Lato" panose="020B0604020202020204"/>
              </a:rPr>
              <a:t>More pronounced </a:t>
            </a:r>
            <a:r>
              <a:rPr lang="en-US" altLang="ko-KR" sz="1200" dirty="0" err="1">
                <a:latin typeface="Lato" panose="020B0604020202020204"/>
              </a:rPr>
              <a:t>PhA</a:t>
            </a:r>
            <a:r>
              <a:rPr lang="en-US" altLang="ko-KR" sz="1200" dirty="0">
                <a:latin typeface="Lato" panose="020B0604020202020204"/>
              </a:rPr>
              <a:t> reductions are observed in individuals with metabolic diseases.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5347" y="4945981"/>
            <a:ext cx="1091665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Lato" panose="020B0604020202020204"/>
              </a:rPr>
              <a:t>Conclusion : </a:t>
            </a:r>
            <a:r>
              <a:rPr lang="en-US" altLang="ko-KR" sz="1400" b="1" dirty="0">
                <a:solidFill>
                  <a:srgbClr val="9D1F3A"/>
                </a:solidFill>
                <a:latin typeface="Lato" panose="020B0604020202020204"/>
              </a:rPr>
              <a:t>phase angle (</a:t>
            </a:r>
            <a:r>
              <a:rPr lang="en-US" altLang="ko-KR" sz="1400" b="1" dirty="0" err="1">
                <a:solidFill>
                  <a:srgbClr val="9D1F3A"/>
                </a:solidFill>
                <a:latin typeface="Lato" panose="020B0604020202020204"/>
              </a:rPr>
              <a:t>PhA</a:t>
            </a:r>
            <a:r>
              <a:rPr lang="en-US" altLang="ko-KR" sz="1400" b="1" dirty="0">
                <a:solidFill>
                  <a:srgbClr val="9D1F3A"/>
                </a:solidFill>
                <a:latin typeface="Lato" panose="020B0604020202020204"/>
              </a:rPr>
              <a:t>) </a:t>
            </a:r>
            <a:r>
              <a:rPr lang="en-US" altLang="ko-KR" sz="1400" b="1" dirty="0">
                <a:latin typeface="Lato" panose="020B0604020202020204"/>
              </a:rPr>
              <a:t>could be a </a:t>
            </a:r>
            <a:r>
              <a:rPr lang="en-US" altLang="ko-KR" sz="1400" b="1" dirty="0">
                <a:solidFill>
                  <a:srgbClr val="9D1F3A"/>
                </a:solidFill>
                <a:latin typeface="Lato" panose="020B0604020202020204"/>
              </a:rPr>
              <a:t>valuable biomarker </a:t>
            </a:r>
            <a:r>
              <a:rPr lang="en-US" altLang="ko-KR" sz="1400" b="1" dirty="0">
                <a:latin typeface="Lato" panose="020B0604020202020204"/>
              </a:rPr>
              <a:t>for assessing health status in individuals with obesity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Lato" panose="020B0604020202020204"/>
              </a:rPr>
              <a:t>→ </a:t>
            </a:r>
            <a:r>
              <a:rPr lang="en-US" altLang="ko-KR" sz="1200" dirty="0" err="1">
                <a:latin typeface="Lato" panose="020B0604020202020204"/>
              </a:rPr>
              <a:t>PhA</a:t>
            </a:r>
            <a:r>
              <a:rPr lang="en-US" altLang="ko-KR" sz="1200" dirty="0">
                <a:latin typeface="Lato" panose="020B0604020202020204"/>
              </a:rPr>
              <a:t> may be useful for monitoring nutritional status and muscle preservation during weight loss interventions.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Lato" panose="020B0604020202020204"/>
              </a:rPr>
              <a:t>→ </a:t>
            </a:r>
            <a:r>
              <a:rPr lang="en-US" altLang="ko-KR" sz="1200" dirty="0">
                <a:latin typeface="Lato" panose="020B0604020202020204"/>
              </a:rPr>
              <a:t>Monitoring </a:t>
            </a:r>
            <a:r>
              <a:rPr lang="en-US" altLang="ko-KR" sz="1200" dirty="0" err="1">
                <a:latin typeface="Lato" panose="020B0604020202020204"/>
              </a:rPr>
              <a:t>PhA</a:t>
            </a:r>
            <a:r>
              <a:rPr lang="en-US" altLang="ko-KR" sz="1200" dirty="0">
                <a:latin typeface="Lato" panose="020B0604020202020204"/>
              </a:rPr>
              <a:t> changes in obesity treatment (diet, exercise, medication, or bariatric surgery) could be beneficial.</a:t>
            </a:r>
          </a:p>
        </p:txBody>
      </p:sp>
    </p:spTree>
    <p:extLst>
      <p:ext uri="{BB962C8B-B14F-4D97-AF65-F5344CB8AC3E}">
        <p14:creationId xmlns:p14="http://schemas.microsoft.com/office/powerpoint/2010/main" val="3164339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Lato" panose="020B0604020202020204" charset="0"/>
                  <a:ea typeface="에스코어 드림 6 Bold" panose="020B0703030302020204" pitchFamily="34" charset="-127"/>
                </a:rPr>
                <a:t>Phase Angle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03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Critical Insights in Diabetes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91" y="1935706"/>
            <a:ext cx="6389424" cy="32381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64569" y="1559796"/>
            <a:ext cx="4355939" cy="4224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Lato" panose="020B0604020202020204" charset="0"/>
              </a:rPr>
              <a:t>[Conclusion]</a:t>
            </a:r>
          </a:p>
          <a:p>
            <a:pPr>
              <a:lnSpc>
                <a:spcPct val="150000"/>
              </a:lnSpc>
            </a:pPr>
            <a:r>
              <a:rPr lang="en-US" altLang="ko-KR" sz="1400" dirty="0" err="1">
                <a:latin typeface="Lato" panose="020B0604020202020204" charset="0"/>
              </a:rPr>
              <a:t>PhA</a:t>
            </a:r>
            <a:r>
              <a:rPr lang="en-US" altLang="ko-KR" sz="1400" dirty="0">
                <a:latin typeface="Lato" panose="020B0604020202020204" charset="0"/>
              </a:rPr>
              <a:t> from BIA </a:t>
            </a:r>
            <a:r>
              <a:rPr lang="en-US" altLang="ko-KR" sz="1400" b="1" dirty="0">
                <a:solidFill>
                  <a:srgbClr val="9D1F3A"/>
                </a:solidFill>
                <a:latin typeface="Lato" panose="020B0604020202020204" charset="0"/>
              </a:rPr>
              <a:t>offers critical insights 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9D1F3A"/>
                </a:solidFill>
                <a:latin typeface="Lato" panose="020B0604020202020204" charset="0"/>
              </a:rPr>
              <a:t>into cellular health and metabolic status in diabetes</a:t>
            </a:r>
            <a:r>
              <a:rPr lang="en-US" altLang="ko-KR" sz="1400" dirty="0">
                <a:latin typeface="Lato" panose="020B0604020202020204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Lato" panose="020B0604020202020204" charset="0"/>
              </a:rPr>
              <a:t>establishing its value as a diagnostic and prognostic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Lato" panose="020B0604020202020204" charset="0"/>
              </a:rPr>
              <a:t>marker in clinical settings.</a:t>
            </a:r>
          </a:p>
          <a:p>
            <a:pPr>
              <a:lnSpc>
                <a:spcPct val="150000"/>
              </a:lnSpc>
            </a:pPr>
            <a:endParaRPr lang="en-US" altLang="ko-KR" sz="1300" dirty="0">
              <a:latin typeface="Lato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Lato" panose="020B0604020202020204" charset="0"/>
              </a:rPr>
              <a:t>Patients with T2DM have lower </a:t>
            </a:r>
            <a:r>
              <a:rPr lang="en-US" altLang="ko-KR" sz="1200" dirty="0" err="1">
                <a:latin typeface="Lato" panose="020B0604020202020204" charset="0"/>
              </a:rPr>
              <a:t>PhA</a:t>
            </a:r>
            <a:r>
              <a:rPr lang="en-US" altLang="ko-KR" sz="1200" dirty="0">
                <a:latin typeface="Lato" panose="020B0604020202020204" charset="0"/>
              </a:rPr>
              <a:t> levels compared to non-diabetic individuals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Lato" panose="020B0604020202020204" charset="0"/>
              </a:rPr>
              <a:t>Prolonged duration of diabetes is associated with a more pronounced decline in </a:t>
            </a:r>
            <a:r>
              <a:rPr lang="en-US" altLang="ko-KR" sz="1200" dirty="0" err="1">
                <a:latin typeface="Lato" panose="020B0604020202020204" charset="0"/>
              </a:rPr>
              <a:t>PhA</a:t>
            </a:r>
            <a:endParaRPr lang="en-US" altLang="ko-KR" sz="1200" dirty="0">
              <a:latin typeface="Lato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Lato" panose="020B0604020202020204" charset="0"/>
              </a:rPr>
              <a:t>Patients with diabetes complications have lower </a:t>
            </a:r>
            <a:r>
              <a:rPr lang="en-US" altLang="ko-KR" sz="1200" dirty="0" err="1">
                <a:latin typeface="Lato" panose="020B0604020202020204" charset="0"/>
              </a:rPr>
              <a:t>PhA</a:t>
            </a:r>
            <a:r>
              <a:rPr lang="en-US" altLang="ko-KR" sz="1200" dirty="0">
                <a:latin typeface="Lato" panose="020B0604020202020204" charset="0"/>
              </a:rPr>
              <a:t> levels compared to the healthy group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Lato" panose="020B0604020202020204" charset="0"/>
              </a:rPr>
              <a:t>PhA</a:t>
            </a:r>
            <a:r>
              <a:rPr lang="en-US" altLang="ko-KR" sz="1200" dirty="0">
                <a:latin typeface="Lato" panose="020B0604020202020204" charset="0"/>
              </a:rPr>
              <a:t> can serve as an indicator to assess the risk and progression of diabetes-related complications</a:t>
            </a:r>
          </a:p>
        </p:txBody>
      </p:sp>
    </p:spTree>
    <p:extLst>
      <p:ext uri="{BB962C8B-B14F-4D97-AF65-F5344CB8AC3E}">
        <p14:creationId xmlns:p14="http://schemas.microsoft.com/office/powerpoint/2010/main" val="2232053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50">
            <a:extLst>
              <a:ext uri="{FF2B5EF4-FFF2-40B4-BE49-F238E27FC236}">
                <a16:creationId xmlns:a16="http://schemas.microsoft.com/office/drawing/2014/main" id="{326D874F-1942-294B-90C5-320A68E69828}"/>
              </a:ext>
            </a:extLst>
          </p:cNvPr>
          <p:cNvSpPr txBox="1">
            <a:spLocks/>
          </p:cNvSpPr>
          <p:nvPr/>
        </p:nvSpPr>
        <p:spPr>
          <a:xfrm>
            <a:off x="4916570" y="2702895"/>
            <a:ext cx="2358859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2800" b="1" kern="1200" dirty="0" smtClean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656E7D"/>
                </a:solidFill>
                <a:latin typeface="Lato" panose="020F0502020204030203" pitchFamily="34" charset="0"/>
                <a:ea typeface="Noto Sans KR" panose="020B0500000000000000" pitchFamily="34" charset="-127"/>
                <a:cs typeface="Lato" panose="020F0502020204030203" pitchFamily="34" charset="0"/>
              </a:defRPr>
            </a:lvl1pPr>
            <a:lvl2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800" kern="1200" dirty="0" smtClean="0">
                <a:ln>
                  <a:solidFill>
                    <a:srgbClr val="656E7D">
                      <a:alpha val="0"/>
                    </a:srgbClr>
                  </a:solidFill>
                </a:ln>
                <a:solidFill>
                  <a:srgbClr val="4E4F4F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2pPr>
            <a:lvl3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800" kern="1200" dirty="0" smtClean="0">
                <a:ln>
                  <a:solidFill>
                    <a:srgbClr val="656E7D">
                      <a:alpha val="0"/>
                    </a:srgbClr>
                  </a:solidFill>
                </a:ln>
                <a:solidFill>
                  <a:srgbClr val="4E4F4F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3pPr>
            <a:lvl4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800" kern="1200" dirty="0" smtClean="0">
                <a:ln>
                  <a:solidFill>
                    <a:srgbClr val="656E7D">
                      <a:alpha val="0"/>
                    </a:srgbClr>
                  </a:solidFill>
                </a:ln>
                <a:solidFill>
                  <a:srgbClr val="4E4F4F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4pPr>
            <a:lvl5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800" kern="1200" dirty="0">
                <a:ln>
                  <a:solidFill>
                    <a:srgbClr val="656E7D">
                      <a:alpha val="0"/>
                    </a:srgbClr>
                  </a:solidFill>
                </a:ln>
                <a:solidFill>
                  <a:srgbClr val="4E4F4F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dirty="0">
                <a:ln>
                  <a:solidFill>
                    <a:schemeClr val="tx1">
                      <a:lumMod val="95000"/>
                      <a:lumOff val="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cs typeface="Lato Black" panose="020F0502020204030203" pitchFamily="34" charset="0"/>
              </a:rPr>
              <a:t>Part 2</a:t>
            </a:r>
            <a:endParaRPr lang="ko-KR" altLang="en-US" sz="2400" dirty="0">
              <a:ln>
                <a:solidFill>
                  <a:schemeClr val="tx1">
                    <a:lumMod val="95000"/>
                    <a:lumOff val="5000"/>
                    <a:alpha val="0"/>
                  </a:schemeClr>
                </a:solidFill>
              </a:ln>
              <a:solidFill>
                <a:srgbClr val="9E0B28"/>
              </a:solidFill>
              <a:latin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467AFA88-CA99-3047-90FB-F4C2473E60C3}"/>
              </a:ext>
            </a:extLst>
          </p:cNvPr>
          <p:cNvSpPr txBox="1">
            <a:spLocks/>
          </p:cNvSpPr>
          <p:nvPr/>
        </p:nvSpPr>
        <p:spPr>
          <a:xfrm>
            <a:off x="3459955" y="3217604"/>
            <a:ext cx="5272088" cy="6059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Case Studies</a:t>
            </a:r>
            <a:endParaRPr lang="ko-KR" altLang="en-US" sz="3400" dirty="0">
              <a:solidFill>
                <a:srgbClr val="3A3A38"/>
              </a:solidFill>
              <a:latin typeface="S-Core Dream 5 Medium" panose="020B0503030302020204" pitchFamily="34" charset="-127"/>
              <a:ea typeface="에스코어 드림 5 Medium" panose="020B050303030202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3460997" y="3823551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spc="-30" dirty="0" err="1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Wegovy</a:t>
            </a:r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 &amp; InBody770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898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9E1B9-976E-8973-55C6-F870C860F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1DAD475-3653-4274-AC92-62B3EDFE7277}"/>
              </a:ext>
            </a:extLst>
          </p:cNvPr>
          <p:cNvCxnSpPr>
            <a:cxnSpLocks/>
          </p:cNvCxnSpPr>
          <p:nvPr/>
        </p:nvCxnSpPr>
        <p:spPr>
          <a:xfrm flipH="1">
            <a:off x="107536" y="3347597"/>
            <a:ext cx="12216811" cy="0"/>
          </a:xfrm>
          <a:prstGeom prst="line">
            <a:avLst/>
          </a:prstGeom>
          <a:solidFill>
            <a:schemeClr val="bg1"/>
          </a:solidFill>
          <a:ln w="9525">
            <a:solidFill>
              <a:srgbClr val="BDC2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A113650-9519-2742-6153-6E4B81CEE5CA}"/>
              </a:ext>
            </a:extLst>
          </p:cNvPr>
          <p:cNvGrpSpPr/>
          <p:nvPr/>
        </p:nvGrpSpPr>
        <p:grpSpPr>
          <a:xfrm>
            <a:off x="697894" y="824052"/>
            <a:ext cx="10796213" cy="741229"/>
            <a:chOff x="697894" y="1304259"/>
            <a:chExt cx="10796213" cy="741229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DB1FB57-34D1-7C3F-35B9-5E52D099E9CA}"/>
                </a:ext>
              </a:extLst>
            </p:cNvPr>
            <p:cNvSpPr txBox="1"/>
            <p:nvPr/>
          </p:nvSpPr>
          <p:spPr>
            <a:xfrm>
              <a:off x="697894" y="1304259"/>
              <a:ext cx="10796213" cy="741229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sz="2400" b="1" dirty="0">
                  <a:latin typeface="Lato"/>
                </a:rPr>
                <a:t>Representative Case Categories</a:t>
              </a:r>
              <a:endParaRPr kumimoji="1" lang="en-US" altLang="ko-KR" sz="2400" b="1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9E0B28"/>
                </a:solidFill>
                <a:latin typeface="Lato"/>
                <a:ea typeface="에스코어 드림 6 Bold" panose="020B0703030302020204" pitchFamily="34" charset="-127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71751A22-2180-A6A7-B408-36E73F8E1B5B}"/>
                </a:ext>
              </a:extLst>
            </p:cNvPr>
            <p:cNvGrpSpPr/>
            <p:nvPr/>
          </p:nvGrpSpPr>
          <p:grpSpPr>
            <a:xfrm rot="5400000">
              <a:off x="5954652" y="-2582802"/>
              <a:ext cx="282698" cy="8515352"/>
              <a:chOff x="1" y="1222436"/>
              <a:chExt cx="12191999" cy="1038225"/>
            </a:xfrm>
          </p:grpSpPr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F8D9EB05-F900-E4E8-87C4-1F3BC6FAC1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" y="1222436"/>
                <a:ext cx="12191999" cy="0"/>
              </a:xfrm>
              <a:prstGeom prst="line">
                <a:avLst/>
              </a:prstGeom>
              <a:ln w="12700">
                <a:solidFill>
                  <a:srgbClr val="3C3C3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5429F017-D65B-0823-949F-8BF48DC9EA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" y="2260661"/>
                <a:ext cx="12191999" cy="0"/>
              </a:xfrm>
              <a:prstGeom prst="line">
                <a:avLst/>
              </a:prstGeom>
              <a:ln w="12700">
                <a:solidFill>
                  <a:srgbClr val="3C3C3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26" name="Picture 2" descr="무료 사람 일러스트 모음 다운로드 PNG, AI (2023년) - 리틀딥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41" r="2969" b="49876"/>
          <a:stretch/>
        </p:blipFill>
        <p:spPr bwMode="auto">
          <a:xfrm>
            <a:off x="5376930" y="1934756"/>
            <a:ext cx="1678021" cy="2320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무료 사람 일러스트 모음 다운로드 PNG, AI (2023년) - 리틀딥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91" t="971" r="27019" b="49298"/>
          <a:stretch/>
        </p:blipFill>
        <p:spPr bwMode="auto">
          <a:xfrm>
            <a:off x="8451799" y="1934756"/>
            <a:ext cx="1678021" cy="230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무료 사람 일러스트 모음 다운로드 PNG, AI (2023년) - 리틀딥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1" r="75633" b="50248"/>
          <a:stretch/>
        </p:blipFill>
        <p:spPr bwMode="auto">
          <a:xfrm>
            <a:off x="2319726" y="1934756"/>
            <a:ext cx="1660356" cy="2320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52072" y="1908365"/>
            <a:ext cx="1395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dirty="0">
                <a:latin typeface="Lato"/>
              </a:rPr>
              <a:t>Case A</a:t>
            </a:r>
            <a:endParaRPr lang="ko-KR" altLang="en-US" sz="2200" dirty="0">
              <a:latin typeface="Lato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98168" y="1934756"/>
            <a:ext cx="1395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dirty="0">
                <a:latin typeface="Lato"/>
              </a:rPr>
              <a:t>Case B</a:t>
            </a:r>
            <a:endParaRPr lang="ko-KR" altLang="en-US" sz="2200" dirty="0">
              <a:latin typeface="Lato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51799" y="1908364"/>
            <a:ext cx="1395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dirty="0">
                <a:latin typeface="Lato"/>
              </a:rPr>
              <a:t>Case C</a:t>
            </a:r>
            <a:endParaRPr lang="ko-KR" altLang="en-US" sz="2200" dirty="0">
              <a:latin typeface="Lat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514899" y="4355943"/>
            <a:ext cx="5270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Individuals with </a:t>
            </a:r>
          </a:p>
          <a:p>
            <a:pPr algn="ctr"/>
            <a:r>
              <a:rPr kumimoji="1" lang="en-US" altLang="ko-KR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Common body composition </a:t>
            </a:r>
          </a:p>
          <a:p>
            <a:pPr algn="ctr"/>
            <a:r>
              <a:rPr kumimoji="1" lang="en-US" altLang="ko-KR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Patterns </a:t>
            </a:r>
            <a:endParaRPr kumimoji="1" lang="en-US" altLang="ko-KR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Lato" panose="020B060402020202020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3580936" y="4483583"/>
            <a:ext cx="5270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Edema and Phase angle</a:t>
            </a:r>
          </a:p>
          <a:p>
            <a:pPr algn="ctr"/>
            <a:r>
              <a:rPr kumimoji="1" lang="en-US" altLang="ko-KR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Improvement type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6655805" y="4481447"/>
            <a:ext cx="5270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Obesity with</a:t>
            </a:r>
          </a:p>
          <a:p>
            <a:pPr algn="ctr"/>
            <a:r>
              <a:rPr kumimoji="1" lang="en-US" altLang="ko-KR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Diabetes</a:t>
            </a:r>
          </a:p>
        </p:txBody>
      </p:sp>
    </p:spTree>
    <p:extLst>
      <p:ext uri="{BB962C8B-B14F-4D97-AF65-F5344CB8AC3E}">
        <p14:creationId xmlns:p14="http://schemas.microsoft.com/office/powerpoint/2010/main" val="2471320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Case A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01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Common Patient Type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Lato" panose="020B060402020202020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963507" y="1912526"/>
            <a:ext cx="2805853" cy="3165055"/>
            <a:chOff x="1837267" y="1978295"/>
            <a:chExt cx="2805853" cy="3165055"/>
          </a:xfrm>
        </p:grpSpPr>
        <p:grpSp>
          <p:nvGrpSpPr>
            <p:cNvPr id="44" name="그룹 43"/>
            <p:cNvGrpSpPr/>
            <p:nvPr/>
          </p:nvGrpSpPr>
          <p:grpSpPr>
            <a:xfrm>
              <a:off x="1837267" y="1978295"/>
              <a:ext cx="2805853" cy="3165055"/>
              <a:chOff x="825325" y="1545564"/>
              <a:chExt cx="3346815" cy="3165055"/>
            </a:xfrm>
          </p:grpSpPr>
          <p:sp>
            <p:nvSpPr>
              <p:cNvPr id="45" name="사각형: 둥근 위쪽 모서리 110">
                <a:extLst>
                  <a:ext uri="{FF2B5EF4-FFF2-40B4-BE49-F238E27FC236}">
                    <a16:creationId xmlns:a16="http://schemas.microsoft.com/office/drawing/2014/main" id="{3C47DBCF-564B-C424-4E4D-F2A26F250C3C}"/>
                  </a:ext>
                </a:extLst>
              </p:cNvPr>
              <p:cNvSpPr/>
              <p:nvPr/>
            </p:nvSpPr>
            <p:spPr>
              <a:xfrm>
                <a:off x="825993" y="1937916"/>
                <a:ext cx="3345958" cy="2772703"/>
              </a:xfrm>
              <a:prstGeom prst="round2SameRect">
                <a:avLst>
                  <a:gd name="adj1" fmla="val 0"/>
                  <a:gd name="adj2" fmla="val 5282"/>
                </a:avLst>
              </a:prstGeom>
              <a:solidFill>
                <a:srgbClr val="F4F4F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n>
                    <a:solidFill>
                      <a:srgbClr val="4FA6AE">
                        <a:alpha val="0"/>
                      </a:srgbClr>
                    </a:solidFill>
                  </a:ln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  <p:cxnSp>
            <p:nvCxnSpPr>
              <p:cNvPr id="47" name="직선 연결선 82">
                <a:extLst>
                  <a:ext uri="{FF2B5EF4-FFF2-40B4-BE49-F238E27FC236}">
                    <a16:creationId xmlns:a16="http://schemas.microsoft.com/office/drawing/2014/main" id="{0BFB65B4-613E-78C4-A574-49BF5A5B63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5325" y="1935305"/>
                <a:ext cx="3346815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  <a:alpha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94BC7F-CF1C-C84F-8FEA-DEC874F5970C}"/>
                  </a:ext>
                </a:extLst>
              </p:cNvPr>
              <p:cNvSpPr txBox="1"/>
              <p:nvPr/>
            </p:nvSpPr>
            <p:spPr>
              <a:xfrm>
                <a:off x="1173943" y="1616001"/>
                <a:ext cx="2683108" cy="28004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 dirty="0">
                    <a:ln>
                      <a:solidFill>
                        <a:srgbClr val="9E0B28">
                          <a:alpha val="0"/>
                        </a:srgbClr>
                      </a:solidFill>
                    </a:ln>
                    <a:solidFill>
                      <a:srgbClr val="656E7D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  <a:cs typeface="Lato Black" panose="020F0502020204030203" pitchFamily="34" charset="0"/>
                  </a:rPr>
                  <a:t>F, 33, 164cm</a:t>
                </a:r>
                <a:endParaRPr lang="ko-KR" altLang="en-US" sz="1400" b="1" dirty="0">
                  <a:ln>
                    <a:solidFill>
                      <a:srgbClr val="9E0B28">
                        <a:alpha val="0"/>
                      </a:srgbClr>
                    </a:solidFill>
                  </a:ln>
                  <a:solidFill>
                    <a:srgbClr val="656E7D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Lato Black" panose="020F0502020204030203" pitchFamily="34" charset="0"/>
                </a:endParaRPr>
              </a:p>
            </p:txBody>
          </p:sp>
          <p:sp>
            <p:nvSpPr>
              <p:cNvPr id="50" name="자유형: 도형 99">
                <a:extLst>
                  <a:ext uri="{FF2B5EF4-FFF2-40B4-BE49-F238E27FC236}">
                    <a16:creationId xmlns:a16="http://schemas.microsoft.com/office/drawing/2014/main" id="{F59CDF94-0D52-E746-9019-43321262DB42}"/>
                  </a:ext>
                </a:extLst>
              </p:cNvPr>
              <p:cNvSpPr/>
              <p:nvPr/>
            </p:nvSpPr>
            <p:spPr>
              <a:xfrm>
                <a:off x="825993" y="1545564"/>
                <a:ext cx="3345958" cy="221068"/>
              </a:xfrm>
              <a:custGeom>
                <a:avLst/>
                <a:gdLst>
                  <a:gd name="connsiteX0" fmla="*/ 209296 w 4602646"/>
                  <a:gd name="connsiteY0" fmla="*/ 0 h 206301"/>
                  <a:gd name="connsiteX1" fmla="*/ 1276096 w 4602646"/>
                  <a:gd name="connsiteY1" fmla="*/ 0 h 206301"/>
                  <a:gd name="connsiteX2" fmla="*/ 1802007 w 4602646"/>
                  <a:gd name="connsiteY2" fmla="*/ 0 h 206301"/>
                  <a:gd name="connsiteX3" fmla="*/ 2800639 w 4602646"/>
                  <a:gd name="connsiteY3" fmla="*/ 0 h 206301"/>
                  <a:gd name="connsiteX4" fmla="*/ 2868807 w 4602646"/>
                  <a:gd name="connsiteY4" fmla="*/ 0 h 206301"/>
                  <a:gd name="connsiteX5" fmla="*/ 4393350 w 4602646"/>
                  <a:gd name="connsiteY5" fmla="*/ 0 h 206301"/>
                  <a:gd name="connsiteX6" fmla="*/ 4602646 w 4602646"/>
                  <a:gd name="connsiteY6" fmla="*/ 206301 h 206301"/>
                  <a:gd name="connsiteX7" fmla="*/ 3078103 w 4602646"/>
                  <a:gd name="connsiteY7" fmla="*/ 206301 h 206301"/>
                  <a:gd name="connsiteX8" fmla="*/ 2591343 w 4602646"/>
                  <a:gd name="connsiteY8" fmla="*/ 206301 h 206301"/>
                  <a:gd name="connsiteX9" fmla="*/ 2011303 w 4602646"/>
                  <a:gd name="connsiteY9" fmla="*/ 206301 h 206301"/>
                  <a:gd name="connsiteX10" fmla="*/ 1066800 w 4602646"/>
                  <a:gd name="connsiteY10" fmla="*/ 206301 h 206301"/>
                  <a:gd name="connsiteX11" fmla="*/ 0 w 4602646"/>
                  <a:gd name="connsiteY11" fmla="*/ 206301 h 206301"/>
                  <a:gd name="connsiteX12" fmla="*/ 209296 w 4602646"/>
                  <a:gd name="connsiteY12" fmla="*/ 0 h 206301"/>
                  <a:gd name="connsiteX0" fmla="*/ 0 w 4602646"/>
                  <a:gd name="connsiteY0" fmla="*/ 206301 h 297741"/>
                  <a:gd name="connsiteX1" fmla="*/ 209296 w 4602646"/>
                  <a:gd name="connsiteY1" fmla="*/ 0 h 297741"/>
                  <a:gd name="connsiteX2" fmla="*/ 1276096 w 4602646"/>
                  <a:gd name="connsiteY2" fmla="*/ 0 h 297741"/>
                  <a:gd name="connsiteX3" fmla="*/ 1802007 w 4602646"/>
                  <a:gd name="connsiteY3" fmla="*/ 0 h 297741"/>
                  <a:gd name="connsiteX4" fmla="*/ 2800639 w 4602646"/>
                  <a:gd name="connsiteY4" fmla="*/ 0 h 297741"/>
                  <a:gd name="connsiteX5" fmla="*/ 2868807 w 4602646"/>
                  <a:gd name="connsiteY5" fmla="*/ 0 h 297741"/>
                  <a:gd name="connsiteX6" fmla="*/ 4393350 w 4602646"/>
                  <a:gd name="connsiteY6" fmla="*/ 0 h 297741"/>
                  <a:gd name="connsiteX7" fmla="*/ 4602646 w 4602646"/>
                  <a:gd name="connsiteY7" fmla="*/ 206301 h 297741"/>
                  <a:gd name="connsiteX8" fmla="*/ 3078103 w 4602646"/>
                  <a:gd name="connsiteY8" fmla="*/ 206301 h 297741"/>
                  <a:gd name="connsiteX9" fmla="*/ 2591343 w 4602646"/>
                  <a:gd name="connsiteY9" fmla="*/ 206301 h 297741"/>
                  <a:gd name="connsiteX10" fmla="*/ 2011303 w 4602646"/>
                  <a:gd name="connsiteY10" fmla="*/ 206301 h 297741"/>
                  <a:gd name="connsiteX11" fmla="*/ 1066800 w 4602646"/>
                  <a:gd name="connsiteY11" fmla="*/ 206301 h 297741"/>
                  <a:gd name="connsiteX12" fmla="*/ 91440 w 4602646"/>
                  <a:gd name="connsiteY12" fmla="*/ 297741 h 29774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9" fmla="*/ 2591343 w 4602646"/>
                  <a:gd name="connsiteY9" fmla="*/ 206301 h 206301"/>
                  <a:gd name="connsiteX10" fmla="*/ 2011303 w 4602646"/>
                  <a:gd name="connsiteY10" fmla="*/ 206301 h 206301"/>
                  <a:gd name="connsiteX11" fmla="*/ 1066800 w 4602646"/>
                  <a:gd name="connsiteY11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9" fmla="*/ 2591343 w 4602646"/>
                  <a:gd name="connsiteY9" fmla="*/ 206301 h 206301"/>
                  <a:gd name="connsiteX10" fmla="*/ 2011303 w 4602646"/>
                  <a:gd name="connsiteY10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9" fmla="*/ 2591343 w 4602646"/>
                  <a:gd name="connsiteY9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68807 w 4602646"/>
                  <a:gd name="connsiteY4" fmla="*/ 0 h 206301"/>
                  <a:gd name="connsiteX5" fmla="*/ 4393350 w 4602646"/>
                  <a:gd name="connsiteY5" fmla="*/ 0 h 206301"/>
                  <a:gd name="connsiteX6" fmla="*/ 4602646 w 4602646"/>
                  <a:gd name="connsiteY6" fmla="*/ 206301 h 206301"/>
                  <a:gd name="connsiteX0" fmla="*/ 0 w 4602646"/>
                  <a:gd name="connsiteY0" fmla="*/ 234876 h 234876"/>
                  <a:gd name="connsiteX1" fmla="*/ 209296 w 4602646"/>
                  <a:gd name="connsiteY1" fmla="*/ 28575 h 234876"/>
                  <a:gd name="connsiteX2" fmla="*/ 1276096 w 4602646"/>
                  <a:gd name="connsiteY2" fmla="*/ 28575 h 234876"/>
                  <a:gd name="connsiteX3" fmla="*/ 1802007 w 4602646"/>
                  <a:gd name="connsiteY3" fmla="*/ 28575 h 234876"/>
                  <a:gd name="connsiteX4" fmla="*/ 2868807 w 4602646"/>
                  <a:gd name="connsiteY4" fmla="*/ 28575 h 234876"/>
                  <a:gd name="connsiteX5" fmla="*/ 2916723 w 4602646"/>
                  <a:gd name="connsiteY5" fmla="*/ 0 h 234876"/>
                  <a:gd name="connsiteX6" fmla="*/ 4393350 w 4602646"/>
                  <a:gd name="connsiteY6" fmla="*/ 28575 h 234876"/>
                  <a:gd name="connsiteX7" fmla="*/ 4602646 w 4602646"/>
                  <a:gd name="connsiteY7" fmla="*/ 234876 h 234876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68807 w 4602646"/>
                  <a:gd name="connsiteY4" fmla="*/ 0 h 206301"/>
                  <a:gd name="connsiteX5" fmla="*/ 4393350 w 4602646"/>
                  <a:gd name="connsiteY5" fmla="*/ 0 h 206301"/>
                  <a:gd name="connsiteX6" fmla="*/ 4602646 w 4602646"/>
                  <a:gd name="connsiteY6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2868807 w 4602646"/>
                  <a:gd name="connsiteY3" fmla="*/ 0 h 206301"/>
                  <a:gd name="connsiteX4" fmla="*/ 4393350 w 4602646"/>
                  <a:gd name="connsiteY4" fmla="*/ 0 h 206301"/>
                  <a:gd name="connsiteX5" fmla="*/ 4602646 w 4602646"/>
                  <a:gd name="connsiteY5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4393350 w 4602646"/>
                  <a:gd name="connsiteY3" fmla="*/ 0 h 206301"/>
                  <a:gd name="connsiteX4" fmla="*/ 4602646 w 4602646"/>
                  <a:gd name="connsiteY4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4393350 w 4602646"/>
                  <a:gd name="connsiteY2" fmla="*/ 0 h 206301"/>
                  <a:gd name="connsiteX3" fmla="*/ 4602646 w 4602646"/>
                  <a:gd name="connsiteY3" fmla="*/ 206301 h 206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2646" h="206301">
                    <a:moveTo>
                      <a:pt x="0" y="206301"/>
                    </a:moveTo>
                    <a:cubicBezTo>
                      <a:pt x="0" y="92364"/>
                      <a:pt x="93705" y="0"/>
                      <a:pt x="209296" y="0"/>
                    </a:cubicBezTo>
                    <a:lnTo>
                      <a:pt x="4393350" y="0"/>
                    </a:lnTo>
                    <a:cubicBezTo>
                      <a:pt x="4508941" y="0"/>
                      <a:pt x="4602646" y="92364"/>
                      <a:pt x="4602646" y="206301"/>
                    </a:cubicBezTo>
                  </a:path>
                </a:pathLst>
              </a:custGeom>
              <a:noFill/>
              <a:ln w="28575">
                <a:solidFill>
                  <a:srgbClr val="656E7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 anchorCtr="0">
                <a:noAutofit/>
              </a:bodyPr>
              <a:lstStyle/>
              <a:p>
                <a:pPr algn="ctr"/>
                <a:endParaRPr lang="ko-KR" altLang="en-US" sz="4000" dirty="0">
                  <a:ln>
                    <a:solidFill>
                      <a:srgbClr val="4FA6AE">
                        <a:alpha val="0"/>
                      </a:srgbClr>
                    </a:solidFill>
                  </a:ln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맑은 고딕" panose="02000503000000020004" pitchFamily="2" charset="-127"/>
                </a:endParaRPr>
              </a:p>
            </p:txBody>
          </p:sp>
        </p:grpSp>
        <p:sp>
          <p:nvSpPr>
            <p:cNvPr id="51" name="TextBox 50"/>
            <p:cNvSpPr txBox="1"/>
            <p:nvPr/>
          </p:nvSpPr>
          <p:spPr>
            <a:xfrm>
              <a:off x="1924186" y="2486303"/>
              <a:ext cx="2660123" cy="170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400" b="1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Common type </a:t>
              </a:r>
              <a:r>
                <a:rPr lang="en-US" altLang="ko-KR" sz="1400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of treatment response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400" b="1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Steadily </a:t>
              </a:r>
              <a:r>
                <a:rPr lang="en-US" altLang="ko-KR" sz="1400" b="1" dirty="0">
                  <a:solidFill>
                    <a:srgbClr val="9D1F3A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lost weight &amp; boy fat</a:t>
              </a:r>
              <a:r>
                <a:rPr lang="en-US" altLang="ko-KR" sz="1400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, but muscle mass did not decrease as fat mass.</a:t>
              </a:r>
              <a:endParaRPr lang="ko-KR" altLang="en-US" sz="1400" dirty="0">
                <a:solidFill>
                  <a:srgbClr val="656E7D"/>
                </a:solidFill>
                <a:latin typeface="Lato" panose="020B0604020202020204"/>
                <a:ea typeface="에스코어 드림 4 Regular" panose="020B0503030302020204" pitchFamily="34" charset="-127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731072" y="4244350"/>
            <a:ext cx="3301677" cy="1445974"/>
          </a:xfrm>
          <a:prstGeom prst="rect">
            <a:avLst/>
          </a:prstGeom>
          <a:solidFill>
            <a:srgbClr val="656E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Lato" panose="020B0604020202020204"/>
                <a:ea typeface="에스코어 드림 4 Regular" panose="020B0503030302020204" pitchFamily="34" charset="-127"/>
              </a:rPr>
              <a:t>Weight: </a:t>
            </a:r>
            <a:r>
              <a:rPr lang="en-US" altLang="ko-KR" sz="1400" b="1" dirty="0">
                <a:solidFill>
                  <a:schemeClr val="bg1"/>
                </a:solidFill>
                <a:latin typeface="Lato" panose="020B0604020202020204"/>
                <a:ea typeface="에스코어 드림 4 Regular" panose="020B0503030302020204" pitchFamily="34" charset="-127"/>
              </a:rPr>
              <a:t>86.9kg </a:t>
            </a:r>
            <a:r>
              <a:rPr lang="ko-KR" altLang="en-US" sz="1400" b="1" dirty="0">
                <a:solidFill>
                  <a:schemeClr val="bg1"/>
                </a:solidFill>
                <a:latin typeface="Lato" panose="020B0604020202020204"/>
                <a:ea typeface="에스코어 드림 4 Regular" panose="020B0503030302020204" pitchFamily="34" charset="-127"/>
              </a:rPr>
              <a:t>→ </a:t>
            </a:r>
            <a:r>
              <a:rPr lang="en-US" altLang="ko-KR" sz="1400" b="1" dirty="0">
                <a:solidFill>
                  <a:schemeClr val="bg1"/>
                </a:solidFill>
                <a:latin typeface="Lato" panose="020B0604020202020204"/>
                <a:ea typeface="에스코어 드림 4 Regular" panose="020B0503030302020204" pitchFamily="34" charset="-127"/>
              </a:rPr>
              <a:t>77.8kg (-9.1kg)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Lato" panose="020B0604020202020204"/>
                <a:ea typeface="에스코어 드림 4 Regular" panose="020B0503030302020204" pitchFamily="34" charset="-127"/>
              </a:rPr>
              <a:t>Skeletal Muscle Mass: </a:t>
            </a:r>
            <a:r>
              <a:rPr lang="en-US" altLang="ko-KR" sz="1400" b="1" dirty="0">
                <a:solidFill>
                  <a:schemeClr val="bg1"/>
                </a:solidFill>
                <a:latin typeface="Lato" panose="020B0604020202020204"/>
                <a:ea typeface="에스코어 드림 4 Regular" panose="020B0503030302020204" pitchFamily="34" charset="-127"/>
              </a:rPr>
              <a:t>27.2kg </a:t>
            </a:r>
            <a:r>
              <a:rPr lang="ko-KR" altLang="en-US" sz="1400" b="1" dirty="0">
                <a:solidFill>
                  <a:schemeClr val="bg1"/>
                </a:solidFill>
                <a:latin typeface="Lato" panose="020B0604020202020204"/>
                <a:ea typeface="에스코어 드림 4 Regular" panose="020B0503030302020204" pitchFamily="34" charset="-127"/>
              </a:rPr>
              <a:t>→ </a:t>
            </a:r>
            <a:r>
              <a:rPr lang="en-US" altLang="ko-KR" sz="1400" b="1" dirty="0">
                <a:solidFill>
                  <a:schemeClr val="bg1"/>
                </a:solidFill>
                <a:latin typeface="Lato" panose="020B0604020202020204"/>
                <a:ea typeface="에스코어 드림 4 Regular" panose="020B0503030302020204" pitchFamily="34" charset="-127"/>
              </a:rPr>
              <a:t>25.3kg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Lato" panose="020B0604020202020204"/>
                <a:ea typeface="에스코어 드림 4 Regular" panose="020B0503030302020204" pitchFamily="34" charset="-127"/>
              </a:rPr>
              <a:t>Percent Body Fat: </a:t>
            </a:r>
            <a:r>
              <a:rPr lang="en-US" altLang="ko-KR" sz="1400" b="1" dirty="0">
                <a:solidFill>
                  <a:schemeClr val="bg1"/>
                </a:solidFill>
                <a:latin typeface="Lato" panose="020B0604020202020204"/>
                <a:ea typeface="에스코어 드림 4 Regular" panose="020B0503030302020204" pitchFamily="34" charset="-127"/>
              </a:rPr>
              <a:t>43.0% </a:t>
            </a:r>
            <a:r>
              <a:rPr lang="ko-KR" altLang="en-US" sz="1400" b="1" dirty="0">
                <a:solidFill>
                  <a:schemeClr val="bg1"/>
                </a:solidFill>
                <a:latin typeface="Lato" panose="020B0604020202020204"/>
                <a:ea typeface="에스코어 드림 4 Regular" panose="020B0503030302020204" pitchFamily="34" charset="-127"/>
              </a:rPr>
              <a:t>→ </a:t>
            </a:r>
            <a:r>
              <a:rPr lang="en-US" altLang="ko-KR" sz="1400" b="1" dirty="0">
                <a:solidFill>
                  <a:schemeClr val="bg1"/>
                </a:solidFill>
                <a:latin typeface="Lato" panose="020B0604020202020204"/>
                <a:ea typeface="에스코어 드림 4 Regular" panose="020B0503030302020204" pitchFamily="34" charset="-127"/>
              </a:rPr>
              <a:t>40.7%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Lato" panose="020B0604020202020204"/>
                <a:ea typeface="에스코어 드림 4 Regular" panose="020B0503030302020204" pitchFamily="34" charset="-127"/>
              </a:rPr>
              <a:t>Phase Angle: </a:t>
            </a:r>
            <a:r>
              <a:rPr lang="en-US" altLang="ko-KR" sz="1400" b="1" dirty="0">
                <a:solidFill>
                  <a:schemeClr val="bg1"/>
                </a:solidFill>
                <a:latin typeface="Lato" panose="020B0604020202020204"/>
                <a:ea typeface="에스코어 드림 4 Regular" panose="020B0503030302020204" pitchFamily="34" charset="-127"/>
              </a:rPr>
              <a:t>5.4º </a:t>
            </a:r>
            <a:r>
              <a:rPr lang="ko-KR" altLang="en-US" sz="1400" b="1" dirty="0">
                <a:solidFill>
                  <a:schemeClr val="bg1"/>
                </a:solidFill>
                <a:latin typeface="Lato" panose="020B0604020202020204"/>
                <a:ea typeface="에스코어 드림 4 Regular" panose="020B0503030302020204" pitchFamily="34" charset="-127"/>
              </a:rPr>
              <a:t>→ </a:t>
            </a:r>
            <a:r>
              <a:rPr lang="en-US" altLang="ko-KR" sz="1400" b="1" dirty="0">
                <a:solidFill>
                  <a:schemeClr val="bg1"/>
                </a:solidFill>
                <a:latin typeface="Lato" panose="020B0604020202020204"/>
                <a:ea typeface="에스코어 드림 4 Regular" panose="020B0503030302020204" pitchFamily="34" charset="-127"/>
              </a:rPr>
              <a:t>5.5º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4216259" y="985663"/>
            <a:ext cx="7275159" cy="5139930"/>
            <a:chOff x="4216259" y="985663"/>
            <a:chExt cx="7275159" cy="513993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6259" y="1105018"/>
              <a:ext cx="3564391" cy="5020575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7" name="직사각형 26"/>
            <p:cNvSpPr/>
            <p:nvPr/>
          </p:nvSpPr>
          <p:spPr>
            <a:xfrm flipH="1">
              <a:off x="4261310" y="2485260"/>
              <a:ext cx="2131870" cy="1134240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28" name="직사각형 27"/>
            <p:cNvSpPr/>
            <p:nvPr/>
          </p:nvSpPr>
          <p:spPr>
            <a:xfrm flipH="1">
              <a:off x="6479934" y="2180460"/>
              <a:ext cx="1117206" cy="898020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2" name="직사각형 1"/>
            <p:cNvSpPr/>
            <p:nvPr/>
          </p:nvSpPr>
          <p:spPr>
            <a:xfrm>
              <a:off x="6479934" y="985664"/>
              <a:ext cx="1203960" cy="338554"/>
            </a:xfrm>
            <a:prstGeom prst="rect">
              <a:avLst/>
            </a:prstGeom>
            <a:solidFill>
              <a:srgbClr val="656E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b="1" dirty="0">
                  <a:ln>
                    <a:solidFill>
                      <a:srgbClr val="7E8080">
                        <a:alpha val="0"/>
                      </a:srgbClr>
                    </a:solidFill>
                  </a:ln>
                  <a:latin typeface="Lato" panose="020B0604020202020204"/>
                  <a:ea typeface="Noto Sans KR" panose="020B0500000000000000" pitchFamily="34" charset="-127"/>
                </a:rPr>
                <a:t>Before</a:t>
              </a:r>
              <a:endParaRPr lang="ko-KR" altLang="en-US" b="1" dirty="0">
                <a:ln>
                  <a:solidFill>
                    <a:srgbClr val="7E8080">
                      <a:alpha val="0"/>
                    </a:srgbClr>
                  </a:solidFill>
                </a:ln>
                <a:latin typeface="Lato" panose="020B0604020202020204"/>
                <a:ea typeface="Noto Sans KR" panose="020B0500000000000000" pitchFamily="34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384040" y="1549400"/>
              <a:ext cx="518160" cy="1346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b="1" dirty="0">
                <a:ln>
                  <a:solidFill>
                    <a:srgbClr val="7E8080">
                      <a:alpha val="0"/>
                    </a:srgb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grpSp>
          <p:nvGrpSpPr>
            <p:cNvPr id="8" name="그룹 7"/>
            <p:cNvGrpSpPr/>
            <p:nvPr/>
          </p:nvGrpSpPr>
          <p:grpSpPr>
            <a:xfrm>
              <a:off x="7927027" y="985663"/>
              <a:ext cx="3564391" cy="5139930"/>
              <a:chOff x="7927027" y="985663"/>
              <a:chExt cx="3564391" cy="5139930"/>
            </a:xfrm>
          </p:grpSpPr>
          <p:pic>
            <p:nvPicPr>
              <p:cNvPr id="3" name="그림 2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7027" y="1105019"/>
                <a:ext cx="3564391" cy="5020574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9" name="직사각형 18"/>
              <p:cNvSpPr/>
              <p:nvPr/>
            </p:nvSpPr>
            <p:spPr>
              <a:xfrm>
                <a:off x="9489440" y="985663"/>
                <a:ext cx="1827424" cy="338554"/>
              </a:xfrm>
              <a:prstGeom prst="rect">
                <a:avLst/>
              </a:prstGeom>
              <a:solidFill>
                <a:srgbClr val="656E7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b="1" dirty="0">
                    <a:ln>
                      <a:solidFill>
                        <a:srgbClr val="7E8080">
                          <a:alpha val="0"/>
                        </a:srgbClr>
                      </a:solidFill>
                    </a:ln>
                    <a:latin typeface="Lato" panose="020B0604020202020204"/>
                    <a:ea typeface="Noto Sans KR" panose="020B0500000000000000" pitchFamily="34" charset="-127"/>
                  </a:rPr>
                  <a:t>After 14 weeks</a:t>
                </a:r>
                <a:endParaRPr lang="ko-KR" altLang="en-US" b="1" dirty="0">
                  <a:ln>
                    <a:solidFill>
                      <a:srgbClr val="7E8080">
                        <a:alpha val="0"/>
                      </a:srgbClr>
                    </a:solidFill>
                  </a:ln>
                  <a:latin typeface="Lato" panose="020B0604020202020204"/>
                  <a:ea typeface="Noto Sans KR" panose="020B0500000000000000" pitchFamily="34" charset="-127"/>
                </a:endParaRPr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8098790" y="1549400"/>
                <a:ext cx="518160" cy="1346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b="1" dirty="0">
                  <a:ln>
                    <a:solidFill>
                      <a:srgbClr val="7E8080">
                        <a:alpha val="0"/>
                      </a:srgbClr>
                    </a:solidFill>
                  </a:ln>
                  <a:latin typeface="Noto Sans KR" panose="020B0500000000000000" pitchFamily="34" charset="-127"/>
                  <a:ea typeface="Noto Sans KR" panose="020B0500000000000000" pitchFamily="34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>
              <a:xfrm flipH="1">
                <a:off x="7995110" y="2485260"/>
                <a:ext cx="2131870" cy="1134240"/>
              </a:xfrm>
              <a:prstGeom prst="rect">
                <a:avLst/>
              </a:prstGeom>
              <a:noFill/>
              <a:ln w="25400">
                <a:solidFill>
                  <a:srgbClr val="9D1F3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 flipH="1">
                <a:off x="10213734" y="2180460"/>
                <a:ext cx="1117206" cy="898020"/>
              </a:xfrm>
              <a:prstGeom prst="rect">
                <a:avLst/>
              </a:prstGeom>
              <a:noFill/>
              <a:ln w="25400">
                <a:solidFill>
                  <a:srgbClr val="9D1F3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</p:grpSp>
        <p:sp>
          <p:nvSpPr>
            <p:cNvPr id="29" name="직사각형 28"/>
            <p:cNvSpPr/>
            <p:nvPr/>
          </p:nvSpPr>
          <p:spPr>
            <a:xfrm flipH="1">
              <a:off x="6479934" y="4968240"/>
              <a:ext cx="1117206" cy="218440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30" name="직사각형 29"/>
            <p:cNvSpPr/>
            <p:nvPr/>
          </p:nvSpPr>
          <p:spPr>
            <a:xfrm flipH="1">
              <a:off x="10198494" y="4968240"/>
              <a:ext cx="1117206" cy="218440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10208433" y="1357430"/>
            <a:ext cx="1101966" cy="4602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3C3C3A"/>
                </a:solidFill>
                <a:latin typeface="Lato" panose="020B0604020202020204"/>
                <a:ea typeface="Noto Sans KR" panose="020B0500000000000000" pitchFamily="34" charset="-127"/>
              </a:rPr>
              <a:t>SMM -1.9kg</a:t>
            </a:r>
          </a:p>
          <a:p>
            <a:pPr algn="ctr"/>
            <a:r>
              <a:rPr lang="en-US" altLang="ko-KR" sz="1200" b="1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3C3C3A"/>
                </a:solidFill>
                <a:latin typeface="Lato" panose="020B0604020202020204"/>
                <a:ea typeface="Noto Sans KR" panose="020B0500000000000000" pitchFamily="34" charset="-127"/>
              </a:rPr>
              <a:t>BFM -5.8kg</a:t>
            </a:r>
          </a:p>
        </p:txBody>
      </p:sp>
    </p:spTree>
    <p:extLst>
      <p:ext uri="{BB962C8B-B14F-4D97-AF65-F5344CB8AC3E}">
        <p14:creationId xmlns:p14="http://schemas.microsoft.com/office/powerpoint/2010/main" val="2629742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Case B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02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Edema &amp; </a:t>
            </a:r>
            <a:r>
              <a:rPr kumimoji="1" lang="en-US" altLang="ko-KR" sz="1600" spc="-30" dirty="0" err="1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PhA</a:t>
            </a:r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 Improvement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Lato" panose="020B060402020202020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999089" y="1550910"/>
            <a:ext cx="2885469" cy="3370330"/>
            <a:chOff x="1837267" y="1978295"/>
            <a:chExt cx="2885469" cy="3370330"/>
          </a:xfrm>
        </p:grpSpPr>
        <p:grpSp>
          <p:nvGrpSpPr>
            <p:cNvPr id="44" name="그룹 43"/>
            <p:cNvGrpSpPr/>
            <p:nvPr/>
          </p:nvGrpSpPr>
          <p:grpSpPr>
            <a:xfrm>
              <a:off x="1837267" y="1978295"/>
              <a:ext cx="2805853" cy="3165055"/>
              <a:chOff x="825325" y="1545564"/>
              <a:chExt cx="3346815" cy="3165055"/>
            </a:xfrm>
          </p:grpSpPr>
          <p:sp>
            <p:nvSpPr>
              <p:cNvPr id="45" name="사각형: 둥근 위쪽 모서리 110">
                <a:extLst>
                  <a:ext uri="{FF2B5EF4-FFF2-40B4-BE49-F238E27FC236}">
                    <a16:creationId xmlns:a16="http://schemas.microsoft.com/office/drawing/2014/main" id="{3C47DBCF-564B-C424-4E4D-F2A26F250C3C}"/>
                  </a:ext>
                </a:extLst>
              </p:cNvPr>
              <p:cNvSpPr/>
              <p:nvPr/>
            </p:nvSpPr>
            <p:spPr>
              <a:xfrm>
                <a:off x="825993" y="1937916"/>
                <a:ext cx="3345958" cy="2772703"/>
              </a:xfrm>
              <a:prstGeom prst="round2SameRect">
                <a:avLst>
                  <a:gd name="adj1" fmla="val 0"/>
                  <a:gd name="adj2" fmla="val 5282"/>
                </a:avLst>
              </a:prstGeom>
              <a:solidFill>
                <a:srgbClr val="F4F4F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n>
                    <a:solidFill>
                      <a:srgbClr val="4FA6AE">
                        <a:alpha val="0"/>
                      </a:srgbClr>
                    </a:solidFill>
                  </a:ln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  <p:cxnSp>
            <p:nvCxnSpPr>
              <p:cNvPr id="47" name="직선 연결선 82">
                <a:extLst>
                  <a:ext uri="{FF2B5EF4-FFF2-40B4-BE49-F238E27FC236}">
                    <a16:creationId xmlns:a16="http://schemas.microsoft.com/office/drawing/2014/main" id="{0BFB65B4-613E-78C4-A574-49BF5A5B63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5325" y="1935305"/>
                <a:ext cx="3346815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  <a:alpha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94BC7F-CF1C-C84F-8FEA-DEC874F5970C}"/>
                  </a:ext>
                </a:extLst>
              </p:cNvPr>
              <p:cNvSpPr txBox="1"/>
              <p:nvPr/>
            </p:nvSpPr>
            <p:spPr>
              <a:xfrm>
                <a:off x="1173943" y="1616001"/>
                <a:ext cx="2683108" cy="28004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 dirty="0">
                    <a:ln>
                      <a:solidFill>
                        <a:srgbClr val="9E0B28">
                          <a:alpha val="0"/>
                        </a:srgbClr>
                      </a:solidFill>
                    </a:ln>
                    <a:solidFill>
                      <a:srgbClr val="656E7D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  <a:cs typeface="Lato Black" panose="020F0502020204030203" pitchFamily="34" charset="0"/>
                  </a:rPr>
                  <a:t>F, 42, 153cm</a:t>
                </a:r>
                <a:endParaRPr lang="ko-KR" altLang="en-US" sz="1400" b="1" dirty="0">
                  <a:ln>
                    <a:solidFill>
                      <a:srgbClr val="9E0B28">
                        <a:alpha val="0"/>
                      </a:srgbClr>
                    </a:solidFill>
                  </a:ln>
                  <a:solidFill>
                    <a:srgbClr val="656E7D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Lato Black" panose="020F0502020204030203" pitchFamily="34" charset="0"/>
                </a:endParaRPr>
              </a:p>
            </p:txBody>
          </p:sp>
          <p:sp>
            <p:nvSpPr>
              <p:cNvPr id="50" name="자유형: 도형 99">
                <a:extLst>
                  <a:ext uri="{FF2B5EF4-FFF2-40B4-BE49-F238E27FC236}">
                    <a16:creationId xmlns:a16="http://schemas.microsoft.com/office/drawing/2014/main" id="{F59CDF94-0D52-E746-9019-43321262DB42}"/>
                  </a:ext>
                </a:extLst>
              </p:cNvPr>
              <p:cNvSpPr/>
              <p:nvPr/>
            </p:nvSpPr>
            <p:spPr>
              <a:xfrm>
                <a:off x="825993" y="1545564"/>
                <a:ext cx="3345958" cy="221068"/>
              </a:xfrm>
              <a:custGeom>
                <a:avLst/>
                <a:gdLst>
                  <a:gd name="connsiteX0" fmla="*/ 209296 w 4602646"/>
                  <a:gd name="connsiteY0" fmla="*/ 0 h 206301"/>
                  <a:gd name="connsiteX1" fmla="*/ 1276096 w 4602646"/>
                  <a:gd name="connsiteY1" fmla="*/ 0 h 206301"/>
                  <a:gd name="connsiteX2" fmla="*/ 1802007 w 4602646"/>
                  <a:gd name="connsiteY2" fmla="*/ 0 h 206301"/>
                  <a:gd name="connsiteX3" fmla="*/ 2800639 w 4602646"/>
                  <a:gd name="connsiteY3" fmla="*/ 0 h 206301"/>
                  <a:gd name="connsiteX4" fmla="*/ 2868807 w 4602646"/>
                  <a:gd name="connsiteY4" fmla="*/ 0 h 206301"/>
                  <a:gd name="connsiteX5" fmla="*/ 4393350 w 4602646"/>
                  <a:gd name="connsiteY5" fmla="*/ 0 h 206301"/>
                  <a:gd name="connsiteX6" fmla="*/ 4602646 w 4602646"/>
                  <a:gd name="connsiteY6" fmla="*/ 206301 h 206301"/>
                  <a:gd name="connsiteX7" fmla="*/ 3078103 w 4602646"/>
                  <a:gd name="connsiteY7" fmla="*/ 206301 h 206301"/>
                  <a:gd name="connsiteX8" fmla="*/ 2591343 w 4602646"/>
                  <a:gd name="connsiteY8" fmla="*/ 206301 h 206301"/>
                  <a:gd name="connsiteX9" fmla="*/ 2011303 w 4602646"/>
                  <a:gd name="connsiteY9" fmla="*/ 206301 h 206301"/>
                  <a:gd name="connsiteX10" fmla="*/ 1066800 w 4602646"/>
                  <a:gd name="connsiteY10" fmla="*/ 206301 h 206301"/>
                  <a:gd name="connsiteX11" fmla="*/ 0 w 4602646"/>
                  <a:gd name="connsiteY11" fmla="*/ 206301 h 206301"/>
                  <a:gd name="connsiteX12" fmla="*/ 209296 w 4602646"/>
                  <a:gd name="connsiteY12" fmla="*/ 0 h 206301"/>
                  <a:gd name="connsiteX0" fmla="*/ 0 w 4602646"/>
                  <a:gd name="connsiteY0" fmla="*/ 206301 h 297741"/>
                  <a:gd name="connsiteX1" fmla="*/ 209296 w 4602646"/>
                  <a:gd name="connsiteY1" fmla="*/ 0 h 297741"/>
                  <a:gd name="connsiteX2" fmla="*/ 1276096 w 4602646"/>
                  <a:gd name="connsiteY2" fmla="*/ 0 h 297741"/>
                  <a:gd name="connsiteX3" fmla="*/ 1802007 w 4602646"/>
                  <a:gd name="connsiteY3" fmla="*/ 0 h 297741"/>
                  <a:gd name="connsiteX4" fmla="*/ 2800639 w 4602646"/>
                  <a:gd name="connsiteY4" fmla="*/ 0 h 297741"/>
                  <a:gd name="connsiteX5" fmla="*/ 2868807 w 4602646"/>
                  <a:gd name="connsiteY5" fmla="*/ 0 h 297741"/>
                  <a:gd name="connsiteX6" fmla="*/ 4393350 w 4602646"/>
                  <a:gd name="connsiteY6" fmla="*/ 0 h 297741"/>
                  <a:gd name="connsiteX7" fmla="*/ 4602646 w 4602646"/>
                  <a:gd name="connsiteY7" fmla="*/ 206301 h 297741"/>
                  <a:gd name="connsiteX8" fmla="*/ 3078103 w 4602646"/>
                  <a:gd name="connsiteY8" fmla="*/ 206301 h 297741"/>
                  <a:gd name="connsiteX9" fmla="*/ 2591343 w 4602646"/>
                  <a:gd name="connsiteY9" fmla="*/ 206301 h 297741"/>
                  <a:gd name="connsiteX10" fmla="*/ 2011303 w 4602646"/>
                  <a:gd name="connsiteY10" fmla="*/ 206301 h 297741"/>
                  <a:gd name="connsiteX11" fmla="*/ 1066800 w 4602646"/>
                  <a:gd name="connsiteY11" fmla="*/ 206301 h 297741"/>
                  <a:gd name="connsiteX12" fmla="*/ 91440 w 4602646"/>
                  <a:gd name="connsiteY12" fmla="*/ 297741 h 29774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9" fmla="*/ 2591343 w 4602646"/>
                  <a:gd name="connsiteY9" fmla="*/ 206301 h 206301"/>
                  <a:gd name="connsiteX10" fmla="*/ 2011303 w 4602646"/>
                  <a:gd name="connsiteY10" fmla="*/ 206301 h 206301"/>
                  <a:gd name="connsiteX11" fmla="*/ 1066800 w 4602646"/>
                  <a:gd name="connsiteY11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9" fmla="*/ 2591343 w 4602646"/>
                  <a:gd name="connsiteY9" fmla="*/ 206301 h 206301"/>
                  <a:gd name="connsiteX10" fmla="*/ 2011303 w 4602646"/>
                  <a:gd name="connsiteY10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9" fmla="*/ 2591343 w 4602646"/>
                  <a:gd name="connsiteY9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68807 w 4602646"/>
                  <a:gd name="connsiteY4" fmla="*/ 0 h 206301"/>
                  <a:gd name="connsiteX5" fmla="*/ 4393350 w 4602646"/>
                  <a:gd name="connsiteY5" fmla="*/ 0 h 206301"/>
                  <a:gd name="connsiteX6" fmla="*/ 4602646 w 4602646"/>
                  <a:gd name="connsiteY6" fmla="*/ 206301 h 206301"/>
                  <a:gd name="connsiteX0" fmla="*/ 0 w 4602646"/>
                  <a:gd name="connsiteY0" fmla="*/ 234876 h 234876"/>
                  <a:gd name="connsiteX1" fmla="*/ 209296 w 4602646"/>
                  <a:gd name="connsiteY1" fmla="*/ 28575 h 234876"/>
                  <a:gd name="connsiteX2" fmla="*/ 1276096 w 4602646"/>
                  <a:gd name="connsiteY2" fmla="*/ 28575 h 234876"/>
                  <a:gd name="connsiteX3" fmla="*/ 1802007 w 4602646"/>
                  <a:gd name="connsiteY3" fmla="*/ 28575 h 234876"/>
                  <a:gd name="connsiteX4" fmla="*/ 2868807 w 4602646"/>
                  <a:gd name="connsiteY4" fmla="*/ 28575 h 234876"/>
                  <a:gd name="connsiteX5" fmla="*/ 2916723 w 4602646"/>
                  <a:gd name="connsiteY5" fmla="*/ 0 h 234876"/>
                  <a:gd name="connsiteX6" fmla="*/ 4393350 w 4602646"/>
                  <a:gd name="connsiteY6" fmla="*/ 28575 h 234876"/>
                  <a:gd name="connsiteX7" fmla="*/ 4602646 w 4602646"/>
                  <a:gd name="connsiteY7" fmla="*/ 234876 h 234876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68807 w 4602646"/>
                  <a:gd name="connsiteY4" fmla="*/ 0 h 206301"/>
                  <a:gd name="connsiteX5" fmla="*/ 4393350 w 4602646"/>
                  <a:gd name="connsiteY5" fmla="*/ 0 h 206301"/>
                  <a:gd name="connsiteX6" fmla="*/ 4602646 w 4602646"/>
                  <a:gd name="connsiteY6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2868807 w 4602646"/>
                  <a:gd name="connsiteY3" fmla="*/ 0 h 206301"/>
                  <a:gd name="connsiteX4" fmla="*/ 4393350 w 4602646"/>
                  <a:gd name="connsiteY4" fmla="*/ 0 h 206301"/>
                  <a:gd name="connsiteX5" fmla="*/ 4602646 w 4602646"/>
                  <a:gd name="connsiteY5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4393350 w 4602646"/>
                  <a:gd name="connsiteY3" fmla="*/ 0 h 206301"/>
                  <a:gd name="connsiteX4" fmla="*/ 4602646 w 4602646"/>
                  <a:gd name="connsiteY4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4393350 w 4602646"/>
                  <a:gd name="connsiteY2" fmla="*/ 0 h 206301"/>
                  <a:gd name="connsiteX3" fmla="*/ 4602646 w 4602646"/>
                  <a:gd name="connsiteY3" fmla="*/ 206301 h 206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2646" h="206301">
                    <a:moveTo>
                      <a:pt x="0" y="206301"/>
                    </a:moveTo>
                    <a:cubicBezTo>
                      <a:pt x="0" y="92364"/>
                      <a:pt x="93705" y="0"/>
                      <a:pt x="209296" y="0"/>
                    </a:cubicBezTo>
                    <a:lnTo>
                      <a:pt x="4393350" y="0"/>
                    </a:lnTo>
                    <a:cubicBezTo>
                      <a:pt x="4508941" y="0"/>
                      <a:pt x="4602646" y="92364"/>
                      <a:pt x="4602646" y="206301"/>
                    </a:cubicBezTo>
                  </a:path>
                </a:pathLst>
              </a:custGeom>
              <a:noFill/>
              <a:ln w="28575">
                <a:solidFill>
                  <a:srgbClr val="656E7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 anchorCtr="0">
                <a:noAutofit/>
              </a:bodyPr>
              <a:lstStyle/>
              <a:p>
                <a:pPr algn="ctr"/>
                <a:endParaRPr lang="ko-KR" altLang="en-US" sz="4000" dirty="0">
                  <a:ln>
                    <a:solidFill>
                      <a:srgbClr val="4FA6AE">
                        <a:alpha val="0"/>
                      </a:srgbClr>
                    </a:solidFill>
                  </a:ln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맑은 고딕" panose="02000503000000020004" pitchFamily="2" charset="-127"/>
                </a:endParaRPr>
              </a:p>
            </p:txBody>
          </p:sp>
        </p:grpSp>
        <p:sp>
          <p:nvSpPr>
            <p:cNvPr id="51" name="TextBox 50"/>
            <p:cNvSpPr txBox="1"/>
            <p:nvPr/>
          </p:nvSpPr>
          <p:spPr>
            <a:xfrm>
              <a:off x="1837267" y="2486303"/>
              <a:ext cx="2885469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Success with </a:t>
              </a:r>
              <a:r>
                <a:rPr lang="en-US" altLang="ko-KR" sz="1200" dirty="0" err="1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wegovy</a:t>
              </a:r>
              <a:r>
                <a:rPr lang="en-US" altLang="ko-KR" sz="1200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 after failing other diet medications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Once her </a:t>
              </a:r>
              <a:r>
                <a:rPr lang="en-US" altLang="ko-KR" sz="1200" b="1" dirty="0">
                  <a:solidFill>
                    <a:srgbClr val="9D1F3A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muscle mass dropped below average </a:t>
              </a:r>
              <a:r>
                <a:rPr lang="en-US" altLang="ko-KR" sz="1200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the treatment effect was </a:t>
              </a:r>
              <a:r>
                <a:rPr lang="en-US" altLang="ko-KR" sz="1200" b="1" dirty="0">
                  <a:solidFill>
                    <a:srgbClr val="9D1F3A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not as effective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b="1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Doctor’s Comment</a:t>
              </a:r>
              <a:br>
                <a:rPr lang="en-US" altLang="ko-KR" sz="1200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</a:br>
              <a:r>
                <a:rPr lang="en-US" altLang="ko-KR" sz="1200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: Low muscle mass may indicate the body is not ready for effective dieting</a:t>
              </a:r>
              <a:endParaRPr lang="ko-KR" altLang="en-US" sz="1200" dirty="0">
                <a:solidFill>
                  <a:srgbClr val="656E7D"/>
                </a:solidFill>
                <a:latin typeface="Lato" panose="020B0604020202020204"/>
                <a:ea typeface="에스코어 드림 4 Regular" panose="020B0503030302020204" pitchFamily="34" charset="-127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en-US" altLang="ko-KR" sz="1200" dirty="0">
                <a:solidFill>
                  <a:srgbClr val="656E7D"/>
                </a:solidFill>
                <a:latin typeface="Lato" panose="020B0604020202020204"/>
                <a:ea typeface="에스코어 드림 4 Regular" panose="020B0503030302020204" pitchFamily="34" charset="-127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751176" y="4679694"/>
            <a:ext cx="3301677" cy="1414530"/>
          </a:xfrm>
          <a:prstGeom prst="rect">
            <a:avLst/>
          </a:prstGeom>
          <a:solidFill>
            <a:srgbClr val="656E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Weight: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58.7kg </a:t>
            </a:r>
            <a:r>
              <a:rPr lang="ko-KR" altLang="en-US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→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55.0kg (-3.7kg)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Skeletal Muscle Mass: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18.7kg </a:t>
            </a:r>
            <a:r>
              <a:rPr lang="ko-KR" altLang="en-US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→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17.9kg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Percent Body Fat: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39.2% </a:t>
            </a:r>
            <a:r>
              <a:rPr lang="ko-KR" altLang="en-US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→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38.3%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Phase Angle: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4.4º </a:t>
            </a:r>
            <a:r>
              <a:rPr lang="ko-KR" altLang="en-US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→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4.8º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4181535" y="985663"/>
            <a:ext cx="7265826" cy="5139930"/>
            <a:chOff x="4181535" y="985663"/>
            <a:chExt cx="7265826" cy="5139930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1535" y="1110237"/>
              <a:ext cx="3560686" cy="5015356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6676" y="1110237"/>
              <a:ext cx="3560685" cy="5015355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8" name="직사각형 17"/>
            <p:cNvSpPr/>
            <p:nvPr/>
          </p:nvSpPr>
          <p:spPr>
            <a:xfrm flipH="1">
              <a:off x="4261310" y="2485260"/>
              <a:ext cx="2131870" cy="1134240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 flipH="1">
              <a:off x="6479934" y="2180460"/>
              <a:ext cx="1117206" cy="898020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6479934" y="985664"/>
              <a:ext cx="1203960" cy="338554"/>
            </a:xfrm>
            <a:prstGeom prst="rect">
              <a:avLst/>
            </a:prstGeom>
            <a:solidFill>
              <a:srgbClr val="656E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dirty="0">
                  <a:ln>
                    <a:solidFill>
                      <a:srgbClr val="7E8080">
                        <a:alpha val="0"/>
                      </a:srgbClr>
                    </a:solidFill>
                  </a:ln>
                  <a:latin typeface="Lato" panose="020B0604020202020204"/>
                  <a:ea typeface="Noto Sans KR" panose="020B0500000000000000" pitchFamily="34" charset="-127"/>
                </a:rPr>
                <a:t>Before</a:t>
              </a:r>
              <a:endParaRPr lang="ko-KR" altLang="en-US" dirty="0">
                <a:ln>
                  <a:solidFill>
                    <a:srgbClr val="7E8080">
                      <a:alpha val="0"/>
                    </a:srgbClr>
                  </a:solidFill>
                </a:ln>
                <a:latin typeface="Lato" panose="020B0604020202020204"/>
                <a:ea typeface="Noto Sans KR" panose="020B0500000000000000" pitchFamily="34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489440" y="985663"/>
              <a:ext cx="1827424" cy="338554"/>
            </a:xfrm>
            <a:prstGeom prst="rect">
              <a:avLst/>
            </a:prstGeom>
            <a:solidFill>
              <a:srgbClr val="656E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dirty="0">
                  <a:ln>
                    <a:solidFill>
                      <a:srgbClr val="7E8080">
                        <a:alpha val="0"/>
                      </a:srgbClr>
                    </a:solidFill>
                  </a:ln>
                  <a:latin typeface="Lato" panose="020B0604020202020204"/>
                  <a:ea typeface="Noto Sans KR" panose="020B0500000000000000" pitchFamily="34" charset="-127"/>
                </a:rPr>
                <a:t>After 11 weeks</a:t>
              </a:r>
              <a:endParaRPr lang="ko-KR" altLang="en-US" dirty="0">
                <a:ln>
                  <a:solidFill>
                    <a:srgbClr val="7E8080">
                      <a:alpha val="0"/>
                    </a:srgbClr>
                  </a:solidFill>
                </a:ln>
                <a:latin typeface="Lato" panose="020B0604020202020204"/>
                <a:ea typeface="Noto Sans KR" panose="020B0500000000000000" pitchFamily="34" charset="-127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flipH="1">
              <a:off x="6435302" y="4979126"/>
              <a:ext cx="1117206" cy="218440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 flipH="1">
              <a:off x="7973336" y="2496146"/>
              <a:ext cx="2131870" cy="1134240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/>
          </p:nvSpPr>
          <p:spPr>
            <a:xfrm flipH="1">
              <a:off x="10191960" y="2191346"/>
              <a:ext cx="1117206" cy="898020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 flipH="1">
              <a:off x="10170188" y="4990012"/>
              <a:ext cx="1117206" cy="218440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4348480" y="1564640"/>
              <a:ext cx="508000" cy="121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n>
                  <a:solidFill>
                    <a:srgbClr val="7E8080">
                      <a:alpha val="0"/>
                    </a:srgb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8058614" y="1564640"/>
              <a:ext cx="508000" cy="121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n>
                  <a:solidFill>
                    <a:srgbClr val="7E8080">
                      <a:alpha val="0"/>
                    </a:srgb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</p:grpSp>
      <p:sp>
        <p:nvSpPr>
          <p:cNvPr id="30" name="직사각형 29"/>
          <p:cNvSpPr/>
          <p:nvPr/>
        </p:nvSpPr>
        <p:spPr>
          <a:xfrm>
            <a:off x="8456148" y="2851377"/>
            <a:ext cx="489732" cy="115343"/>
          </a:xfrm>
          <a:prstGeom prst="rect">
            <a:avLst/>
          </a:prstGeom>
          <a:solidFill>
            <a:srgbClr val="9D1F3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n>
                <a:solidFill>
                  <a:srgbClr val="7E8080">
                    <a:alpha val="0"/>
                  </a:srgbClr>
                </a:solidFill>
              </a:ln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0170188" y="4862117"/>
            <a:ext cx="794992" cy="115343"/>
          </a:xfrm>
          <a:prstGeom prst="rect">
            <a:avLst/>
          </a:prstGeom>
          <a:solidFill>
            <a:srgbClr val="9D1F3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n>
                <a:solidFill>
                  <a:srgbClr val="7E8080">
                    <a:alpha val="0"/>
                  </a:srgbClr>
                </a:solidFill>
              </a:ln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0208433" y="1357430"/>
            <a:ext cx="1101966" cy="4602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3C3C3A"/>
                </a:solidFill>
                <a:latin typeface="Lato" panose="020B0604020202020204"/>
                <a:ea typeface="Noto Sans KR" panose="020B0500000000000000" pitchFamily="34" charset="-127"/>
              </a:rPr>
              <a:t>SMM -0.8kg</a:t>
            </a:r>
          </a:p>
          <a:p>
            <a:pPr algn="ctr"/>
            <a:r>
              <a:rPr lang="en-US" altLang="ko-KR" sz="1200" b="1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3C3C3A"/>
                </a:solidFill>
                <a:latin typeface="Lato" panose="020B0604020202020204"/>
                <a:ea typeface="Noto Sans KR" panose="020B0500000000000000" pitchFamily="34" charset="-127"/>
              </a:rPr>
              <a:t>BFM -2.0kg</a:t>
            </a:r>
          </a:p>
        </p:txBody>
      </p:sp>
    </p:spTree>
    <p:extLst>
      <p:ext uri="{BB962C8B-B14F-4D97-AF65-F5344CB8AC3E}">
        <p14:creationId xmlns:p14="http://schemas.microsoft.com/office/powerpoint/2010/main" val="959468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Case B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02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Edema &amp; </a:t>
            </a:r>
            <a:r>
              <a:rPr kumimoji="1" lang="en-US" altLang="ko-KR" sz="1600" spc="-30" dirty="0" err="1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PhA</a:t>
            </a:r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 Improvement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Lato" panose="020B060402020202020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933967" y="2291159"/>
            <a:ext cx="2909753" cy="2545001"/>
            <a:chOff x="1794135" y="1978295"/>
            <a:chExt cx="2909753" cy="2545001"/>
          </a:xfrm>
        </p:grpSpPr>
        <p:grpSp>
          <p:nvGrpSpPr>
            <p:cNvPr id="44" name="그룹 43"/>
            <p:cNvGrpSpPr/>
            <p:nvPr/>
          </p:nvGrpSpPr>
          <p:grpSpPr>
            <a:xfrm>
              <a:off x="1837267" y="1978295"/>
              <a:ext cx="2805853" cy="2545001"/>
              <a:chOff x="825325" y="1545564"/>
              <a:chExt cx="3346815" cy="2545001"/>
            </a:xfrm>
          </p:grpSpPr>
          <p:sp>
            <p:nvSpPr>
              <p:cNvPr id="45" name="사각형: 둥근 위쪽 모서리 110">
                <a:extLst>
                  <a:ext uri="{FF2B5EF4-FFF2-40B4-BE49-F238E27FC236}">
                    <a16:creationId xmlns:a16="http://schemas.microsoft.com/office/drawing/2014/main" id="{3C47DBCF-564B-C424-4E4D-F2A26F250C3C}"/>
                  </a:ext>
                </a:extLst>
              </p:cNvPr>
              <p:cNvSpPr/>
              <p:nvPr/>
            </p:nvSpPr>
            <p:spPr>
              <a:xfrm>
                <a:off x="825993" y="1937916"/>
                <a:ext cx="3345959" cy="2152649"/>
              </a:xfrm>
              <a:prstGeom prst="round2SameRect">
                <a:avLst>
                  <a:gd name="adj1" fmla="val 0"/>
                  <a:gd name="adj2" fmla="val 5282"/>
                </a:avLst>
              </a:prstGeom>
              <a:solidFill>
                <a:srgbClr val="F4F4F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n>
                    <a:solidFill>
                      <a:srgbClr val="4FA6AE">
                        <a:alpha val="0"/>
                      </a:srgbClr>
                    </a:solidFill>
                  </a:ln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  <p:cxnSp>
            <p:nvCxnSpPr>
              <p:cNvPr id="47" name="직선 연결선 82">
                <a:extLst>
                  <a:ext uri="{FF2B5EF4-FFF2-40B4-BE49-F238E27FC236}">
                    <a16:creationId xmlns:a16="http://schemas.microsoft.com/office/drawing/2014/main" id="{0BFB65B4-613E-78C4-A574-49BF5A5B63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5325" y="1935305"/>
                <a:ext cx="3346815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  <a:alpha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94BC7F-CF1C-C84F-8FEA-DEC874F5970C}"/>
                  </a:ext>
                </a:extLst>
              </p:cNvPr>
              <p:cNvSpPr txBox="1"/>
              <p:nvPr/>
            </p:nvSpPr>
            <p:spPr>
              <a:xfrm>
                <a:off x="1173943" y="1616001"/>
                <a:ext cx="2683108" cy="28004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 dirty="0">
                    <a:ln>
                      <a:solidFill>
                        <a:srgbClr val="9E0B28">
                          <a:alpha val="0"/>
                        </a:srgbClr>
                      </a:solidFill>
                    </a:ln>
                    <a:solidFill>
                      <a:srgbClr val="656E7D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  <a:cs typeface="Lato Black" panose="020F0502020204030203" pitchFamily="34" charset="0"/>
                  </a:rPr>
                  <a:t>F, 42, 153cm</a:t>
                </a:r>
                <a:endParaRPr lang="ko-KR" altLang="en-US" sz="1400" b="1" dirty="0">
                  <a:ln>
                    <a:solidFill>
                      <a:srgbClr val="9E0B28">
                        <a:alpha val="0"/>
                      </a:srgbClr>
                    </a:solidFill>
                  </a:ln>
                  <a:solidFill>
                    <a:srgbClr val="656E7D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Lato Black" panose="020F0502020204030203" pitchFamily="34" charset="0"/>
                </a:endParaRPr>
              </a:p>
            </p:txBody>
          </p:sp>
          <p:sp>
            <p:nvSpPr>
              <p:cNvPr id="50" name="자유형: 도형 99">
                <a:extLst>
                  <a:ext uri="{FF2B5EF4-FFF2-40B4-BE49-F238E27FC236}">
                    <a16:creationId xmlns:a16="http://schemas.microsoft.com/office/drawing/2014/main" id="{F59CDF94-0D52-E746-9019-43321262DB42}"/>
                  </a:ext>
                </a:extLst>
              </p:cNvPr>
              <p:cNvSpPr/>
              <p:nvPr/>
            </p:nvSpPr>
            <p:spPr>
              <a:xfrm>
                <a:off x="825993" y="1545564"/>
                <a:ext cx="3345958" cy="221068"/>
              </a:xfrm>
              <a:custGeom>
                <a:avLst/>
                <a:gdLst>
                  <a:gd name="connsiteX0" fmla="*/ 209296 w 4602646"/>
                  <a:gd name="connsiteY0" fmla="*/ 0 h 206301"/>
                  <a:gd name="connsiteX1" fmla="*/ 1276096 w 4602646"/>
                  <a:gd name="connsiteY1" fmla="*/ 0 h 206301"/>
                  <a:gd name="connsiteX2" fmla="*/ 1802007 w 4602646"/>
                  <a:gd name="connsiteY2" fmla="*/ 0 h 206301"/>
                  <a:gd name="connsiteX3" fmla="*/ 2800639 w 4602646"/>
                  <a:gd name="connsiteY3" fmla="*/ 0 h 206301"/>
                  <a:gd name="connsiteX4" fmla="*/ 2868807 w 4602646"/>
                  <a:gd name="connsiteY4" fmla="*/ 0 h 206301"/>
                  <a:gd name="connsiteX5" fmla="*/ 4393350 w 4602646"/>
                  <a:gd name="connsiteY5" fmla="*/ 0 h 206301"/>
                  <a:gd name="connsiteX6" fmla="*/ 4602646 w 4602646"/>
                  <a:gd name="connsiteY6" fmla="*/ 206301 h 206301"/>
                  <a:gd name="connsiteX7" fmla="*/ 3078103 w 4602646"/>
                  <a:gd name="connsiteY7" fmla="*/ 206301 h 206301"/>
                  <a:gd name="connsiteX8" fmla="*/ 2591343 w 4602646"/>
                  <a:gd name="connsiteY8" fmla="*/ 206301 h 206301"/>
                  <a:gd name="connsiteX9" fmla="*/ 2011303 w 4602646"/>
                  <a:gd name="connsiteY9" fmla="*/ 206301 h 206301"/>
                  <a:gd name="connsiteX10" fmla="*/ 1066800 w 4602646"/>
                  <a:gd name="connsiteY10" fmla="*/ 206301 h 206301"/>
                  <a:gd name="connsiteX11" fmla="*/ 0 w 4602646"/>
                  <a:gd name="connsiteY11" fmla="*/ 206301 h 206301"/>
                  <a:gd name="connsiteX12" fmla="*/ 209296 w 4602646"/>
                  <a:gd name="connsiteY12" fmla="*/ 0 h 206301"/>
                  <a:gd name="connsiteX0" fmla="*/ 0 w 4602646"/>
                  <a:gd name="connsiteY0" fmla="*/ 206301 h 297741"/>
                  <a:gd name="connsiteX1" fmla="*/ 209296 w 4602646"/>
                  <a:gd name="connsiteY1" fmla="*/ 0 h 297741"/>
                  <a:gd name="connsiteX2" fmla="*/ 1276096 w 4602646"/>
                  <a:gd name="connsiteY2" fmla="*/ 0 h 297741"/>
                  <a:gd name="connsiteX3" fmla="*/ 1802007 w 4602646"/>
                  <a:gd name="connsiteY3" fmla="*/ 0 h 297741"/>
                  <a:gd name="connsiteX4" fmla="*/ 2800639 w 4602646"/>
                  <a:gd name="connsiteY4" fmla="*/ 0 h 297741"/>
                  <a:gd name="connsiteX5" fmla="*/ 2868807 w 4602646"/>
                  <a:gd name="connsiteY5" fmla="*/ 0 h 297741"/>
                  <a:gd name="connsiteX6" fmla="*/ 4393350 w 4602646"/>
                  <a:gd name="connsiteY6" fmla="*/ 0 h 297741"/>
                  <a:gd name="connsiteX7" fmla="*/ 4602646 w 4602646"/>
                  <a:gd name="connsiteY7" fmla="*/ 206301 h 297741"/>
                  <a:gd name="connsiteX8" fmla="*/ 3078103 w 4602646"/>
                  <a:gd name="connsiteY8" fmla="*/ 206301 h 297741"/>
                  <a:gd name="connsiteX9" fmla="*/ 2591343 w 4602646"/>
                  <a:gd name="connsiteY9" fmla="*/ 206301 h 297741"/>
                  <a:gd name="connsiteX10" fmla="*/ 2011303 w 4602646"/>
                  <a:gd name="connsiteY10" fmla="*/ 206301 h 297741"/>
                  <a:gd name="connsiteX11" fmla="*/ 1066800 w 4602646"/>
                  <a:gd name="connsiteY11" fmla="*/ 206301 h 297741"/>
                  <a:gd name="connsiteX12" fmla="*/ 91440 w 4602646"/>
                  <a:gd name="connsiteY12" fmla="*/ 297741 h 29774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9" fmla="*/ 2591343 w 4602646"/>
                  <a:gd name="connsiteY9" fmla="*/ 206301 h 206301"/>
                  <a:gd name="connsiteX10" fmla="*/ 2011303 w 4602646"/>
                  <a:gd name="connsiteY10" fmla="*/ 206301 h 206301"/>
                  <a:gd name="connsiteX11" fmla="*/ 1066800 w 4602646"/>
                  <a:gd name="connsiteY11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9" fmla="*/ 2591343 w 4602646"/>
                  <a:gd name="connsiteY9" fmla="*/ 206301 h 206301"/>
                  <a:gd name="connsiteX10" fmla="*/ 2011303 w 4602646"/>
                  <a:gd name="connsiteY10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9" fmla="*/ 2591343 w 4602646"/>
                  <a:gd name="connsiteY9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68807 w 4602646"/>
                  <a:gd name="connsiteY4" fmla="*/ 0 h 206301"/>
                  <a:gd name="connsiteX5" fmla="*/ 4393350 w 4602646"/>
                  <a:gd name="connsiteY5" fmla="*/ 0 h 206301"/>
                  <a:gd name="connsiteX6" fmla="*/ 4602646 w 4602646"/>
                  <a:gd name="connsiteY6" fmla="*/ 206301 h 206301"/>
                  <a:gd name="connsiteX0" fmla="*/ 0 w 4602646"/>
                  <a:gd name="connsiteY0" fmla="*/ 234876 h 234876"/>
                  <a:gd name="connsiteX1" fmla="*/ 209296 w 4602646"/>
                  <a:gd name="connsiteY1" fmla="*/ 28575 h 234876"/>
                  <a:gd name="connsiteX2" fmla="*/ 1276096 w 4602646"/>
                  <a:gd name="connsiteY2" fmla="*/ 28575 h 234876"/>
                  <a:gd name="connsiteX3" fmla="*/ 1802007 w 4602646"/>
                  <a:gd name="connsiteY3" fmla="*/ 28575 h 234876"/>
                  <a:gd name="connsiteX4" fmla="*/ 2868807 w 4602646"/>
                  <a:gd name="connsiteY4" fmla="*/ 28575 h 234876"/>
                  <a:gd name="connsiteX5" fmla="*/ 2916723 w 4602646"/>
                  <a:gd name="connsiteY5" fmla="*/ 0 h 234876"/>
                  <a:gd name="connsiteX6" fmla="*/ 4393350 w 4602646"/>
                  <a:gd name="connsiteY6" fmla="*/ 28575 h 234876"/>
                  <a:gd name="connsiteX7" fmla="*/ 4602646 w 4602646"/>
                  <a:gd name="connsiteY7" fmla="*/ 234876 h 234876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68807 w 4602646"/>
                  <a:gd name="connsiteY4" fmla="*/ 0 h 206301"/>
                  <a:gd name="connsiteX5" fmla="*/ 4393350 w 4602646"/>
                  <a:gd name="connsiteY5" fmla="*/ 0 h 206301"/>
                  <a:gd name="connsiteX6" fmla="*/ 4602646 w 4602646"/>
                  <a:gd name="connsiteY6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2868807 w 4602646"/>
                  <a:gd name="connsiteY3" fmla="*/ 0 h 206301"/>
                  <a:gd name="connsiteX4" fmla="*/ 4393350 w 4602646"/>
                  <a:gd name="connsiteY4" fmla="*/ 0 h 206301"/>
                  <a:gd name="connsiteX5" fmla="*/ 4602646 w 4602646"/>
                  <a:gd name="connsiteY5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4393350 w 4602646"/>
                  <a:gd name="connsiteY3" fmla="*/ 0 h 206301"/>
                  <a:gd name="connsiteX4" fmla="*/ 4602646 w 4602646"/>
                  <a:gd name="connsiteY4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4393350 w 4602646"/>
                  <a:gd name="connsiteY2" fmla="*/ 0 h 206301"/>
                  <a:gd name="connsiteX3" fmla="*/ 4602646 w 4602646"/>
                  <a:gd name="connsiteY3" fmla="*/ 206301 h 206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2646" h="206301">
                    <a:moveTo>
                      <a:pt x="0" y="206301"/>
                    </a:moveTo>
                    <a:cubicBezTo>
                      <a:pt x="0" y="92364"/>
                      <a:pt x="93705" y="0"/>
                      <a:pt x="209296" y="0"/>
                    </a:cubicBezTo>
                    <a:lnTo>
                      <a:pt x="4393350" y="0"/>
                    </a:lnTo>
                    <a:cubicBezTo>
                      <a:pt x="4508941" y="0"/>
                      <a:pt x="4602646" y="92364"/>
                      <a:pt x="4602646" y="206301"/>
                    </a:cubicBezTo>
                  </a:path>
                </a:pathLst>
              </a:custGeom>
              <a:noFill/>
              <a:ln w="28575">
                <a:solidFill>
                  <a:srgbClr val="656E7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 anchorCtr="0">
                <a:noAutofit/>
              </a:bodyPr>
              <a:lstStyle/>
              <a:p>
                <a:pPr algn="ctr"/>
                <a:endParaRPr lang="ko-KR" altLang="en-US" sz="4000" dirty="0">
                  <a:ln>
                    <a:solidFill>
                      <a:srgbClr val="4FA6AE">
                        <a:alpha val="0"/>
                      </a:srgbClr>
                    </a:solidFill>
                  </a:ln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맑은 고딕" panose="02000503000000020004" pitchFamily="2" charset="-127"/>
                </a:endParaRPr>
              </a:p>
            </p:txBody>
          </p:sp>
        </p:grpSp>
        <p:sp>
          <p:nvSpPr>
            <p:cNvPr id="51" name="TextBox 50"/>
            <p:cNvSpPr txBox="1"/>
            <p:nvPr/>
          </p:nvSpPr>
          <p:spPr>
            <a:xfrm>
              <a:off x="1794135" y="2448360"/>
              <a:ext cx="2909753" cy="170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ECW Ratio improved to the Normal range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Segmental ECW Ratio improved overall, </a:t>
              </a:r>
              <a:r>
                <a:rPr lang="en-US" altLang="ko-KR" sz="1400" b="1" dirty="0">
                  <a:solidFill>
                    <a:srgbClr val="9D1F3A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significant improvement in lower limb</a:t>
              </a:r>
              <a:endParaRPr lang="ko-KR" altLang="en-US" sz="1400" b="1" dirty="0">
                <a:solidFill>
                  <a:srgbClr val="9D1F3A"/>
                </a:solidFill>
                <a:latin typeface="Lato" panose="020B0604020202020204"/>
                <a:ea typeface="에스코어 드림 4 Regular" panose="020B0503030302020204" pitchFamily="34" charset="-127"/>
              </a:endParaRPr>
            </a:p>
          </p:txBody>
        </p:sp>
      </p:grpSp>
      <p:sp>
        <p:nvSpPr>
          <p:cNvPr id="16" name="직사각형 15"/>
          <p:cNvSpPr/>
          <p:nvPr/>
        </p:nvSpPr>
        <p:spPr>
          <a:xfrm>
            <a:off x="738006" y="4599727"/>
            <a:ext cx="3301677" cy="740426"/>
          </a:xfrm>
          <a:prstGeom prst="rect">
            <a:avLst/>
          </a:prstGeom>
          <a:solidFill>
            <a:srgbClr val="656E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ECW</a:t>
            </a:r>
            <a:r>
              <a:rPr lang="en-US" altLang="ko-KR" sz="10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en-US" altLang="ko-KR" sz="1000" dirty="0" err="1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ExtraCellularWater</a:t>
            </a:r>
            <a:r>
              <a:rPr lang="en-US" altLang="ko-KR" sz="10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  <a:r>
              <a:rPr lang="en-US" altLang="ko-KR" sz="14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Ratio: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0.395 </a:t>
            </a:r>
            <a:r>
              <a:rPr lang="ko-KR" altLang="en-US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→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0.390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*Left Leg ECW Ratio: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0.402 </a:t>
            </a:r>
            <a:r>
              <a:rPr lang="ko-KR" altLang="en-US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→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0.395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4181534" y="985663"/>
            <a:ext cx="7279548" cy="5139930"/>
            <a:chOff x="4181534" y="985663"/>
            <a:chExt cx="7279548" cy="5139930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6691" y="1105017"/>
              <a:ext cx="3564391" cy="5020575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1534" y="1105018"/>
              <a:ext cx="3564391" cy="5020575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1" name="직사각형 20"/>
            <p:cNvSpPr/>
            <p:nvPr/>
          </p:nvSpPr>
          <p:spPr>
            <a:xfrm flipH="1">
              <a:off x="7976420" y="3805223"/>
              <a:ext cx="2116486" cy="1068702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4762350" y="2571728"/>
              <a:ext cx="932394" cy="167962"/>
            </a:xfrm>
            <a:prstGeom prst="rect">
              <a:avLst/>
            </a:prstGeom>
            <a:solidFill>
              <a:srgbClr val="9D1F3A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n>
                  <a:solidFill>
                    <a:srgbClr val="7E8080">
                      <a:alpha val="0"/>
                    </a:srgb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479934" y="985664"/>
              <a:ext cx="1203960" cy="338554"/>
            </a:xfrm>
            <a:prstGeom prst="rect">
              <a:avLst/>
            </a:prstGeom>
            <a:solidFill>
              <a:srgbClr val="656E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dirty="0">
                  <a:ln>
                    <a:solidFill>
                      <a:srgbClr val="7E8080">
                        <a:alpha val="0"/>
                      </a:srgbClr>
                    </a:solidFill>
                  </a:ln>
                  <a:latin typeface="Lato" panose="020B0604020202020204"/>
                  <a:ea typeface="Noto Sans KR" panose="020B0500000000000000" pitchFamily="34" charset="-127"/>
                </a:rPr>
                <a:t>Before</a:t>
              </a:r>
              <a:endParaRPr lang="ko-KR" altLang="en-US" dirty="0">
                <a:ln>
                  <a:solidFill>
                    <a:srgbClr val="7E8080">
                      <a:alpha val="0"/>
                    </a:srgbClr>
                  </a:solidFill>
                </a:ln>
                <a:latin typeface="Lato" panose="020B0604020202020204"/>
                <a:ea typeface="Noto Sans KR" panose="020B0500000000000000" pitchFamily="34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9489440" y="985663"/>
              <a:ext cx="1827424" cy="338554"/>
            </a:xfrm>
            <a:prstGeom prst="rect">
              <a:avLst/>
            </a:prstGeom>
            <a:solidFill>
              <a:srgbClr val="656E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dirty="0">
                  <a:ln>
                    <a:solidFill>
                      <a:srgbClr val="7E8080">
                        <a:alpha val="0"/>
                      </a:srgbClr>
                    </a:solidFill>
                  </a:ln>
                  <a:latin typeface="Lato" panose="020B0604020202020204"/>
                  <a:ea typeface="Noto Sans KR" panose="020B0500000000000000" pitchFamily="34" charset="-127"/>
                </a:rPr>
                <a:t>After 11 weeks</a:t>
              </a:r>
              <a:endParaRPr lang="ko-KR" altLang="en-US" dirty="0">
                <a:ln>
                  <a:solidFill>
                    <a:srgbClr val="7E8080">
                      <a:alpha val="0"/>
                    </a:srgbClr>
                  </a:solidFill>
                </a:ln>
                <a:latin typeface="Lato" panose="020B0604020202020204"/>
                <a:ea typeface="Noto Sans KR" panose="020B0500000000000000" pitchFamily="34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 flipH="1">
              <a:off x="4264393" y="3794338"/>
              <a:ext cx="2116486" cy="1068702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5801978" y="3891052"/>
              <a:ext cx="560286" cy="918647"/>
            </a:xfrm>
            <a:prstGeom prst="rect">
              <a:avLst/>
            </a:prstGeom>
            <a:solidFill>
              <a:srgbClr val="9D1F3A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n>
                  <a:solidFill>
                    <a:srgbClr val="7E8080">
                      <a:alpha val="0"/>
                    </a:srgb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366768" y="1540256"/>
              <a:ext cx="508000" cy="121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n>
                  <a:solidFill>
                    <a:srgbClr val="7E8080">
                      <a:alpha val="0"/>
                    </a:srgb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8085137" y="1541104"/>
              <a:ext cx="508000" cy="121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n>
                  <a:solidFill>
                    <a:srgbClr val="7E8080">
                      <a:alpha val="0"/>
                    </a:srgb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</p:grpSp>
      <p:sp>
        <p:nvSpPr>
          <p:cNvPr id="32" name="직사각형 31"/>
          <p:cNvSpPr/>
          <p:nvPr/>
        </p:nvSpPr>
        <p:spPr>
          <a:xfrm flipH="1">
            <a:off x="4268930" y="2378580"/>
            <a:ext cx="2131870" cy="372240"/>
          </a:xfrm>
          <a:prstGeom prst="rect">
            <a:avLst/>
          </a:prstGeom>
          <a:noFill/>
          <a:ln w="25400">
            <a:solidFill>
              <a:srgbClr val="9D1F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 flipH="1">
            <a:off x="8010350" y="2378580"/>
            <a:ext cx="2131870" cy="372240"/>
          </a:xfrm>
          <a:prstGeom prst="rect">
            <a:avLst/>
          </a:prstGeom>
          <a:noFill/>
          <a:ln w="25400">
            <a:solidFill>
              <a:srgbClr val="9D1F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171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Case C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03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Diabetic Patient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Lato" panose="020B060402020202020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018429" y="1929317"/>
            <a:ext cx="2805853" cy="3165055"/>
            <a:chOff x="1837267" y="1978295"/>
            <a:chExt cx="2805853" cy="3165055"/>
          </a:xfrm>
        </p:grpSpPr>
        <p:grpSp>
          <p:nvGrpSpPr>
            <p:cNvPr id="44" name="그룹 43"/>
            <p:cNvGrpSpPr/>
            <p:nvPr/>
          </p:nvGrpSpPr>
          <p:grpSpPr>
            <a:xfrm>
              <a:off x="1837267" y="1978295"/>
              <a:ext cx="2805853" cy="3165055"/>
              <a:chOff x="825325" y="1545564"/>
              <a:chExt cx="3346815" cy="3165055"/>
            </a:xfrm>
          </p:grpSpPr>
          <p:sp>
            <p:nvSpPr>
              <p:cNvPr id="45" name="사각형: 둥근 위쪽 모서리 110">
                <a:extLst>
                  <a:ext uri="{FF2B5EF4-FFF2-40B4-BE49-F238E27FC236}">
                    <a16:creationId xmlns:a16="http://schemas.microsoft.com/office/drawing/2014/main" id="{3C47DBCF-564B-C424-4E4D-F2A26F250C3C}"/>
                  </a:ext>
                </a:extLst>
              </p:cNvPr>
              <p:cNvSpPr/>
              <p:nvPr/>
            </p:nvSpPr>
            <p:spPr>
              <a:xfrm>
                <a:off x="825993" y="1937916"/>
                <a:ext cx="3345958" cy="2772703"/>
              </a:xfrm>
              <a:prstGeom prst="round2SameRect">
                <a:avLst>
                  <a:gd name="adj1" fmla="val 0"/>
                  <a:gd name="adj2" fmla="val 5282"/>
                </a:avLst>
              </a:prstGeom>
              <a:solidFill>
                <a:srgbClr val="F4F4F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n>
                    <a:solidFill>
                      <a:srgbClr val="4FA6AE">
                        <a:alpha val="0"/>
                      </a:srgbClr>
                    </a:solidFill>
                  </a:ln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  <p:cxnSp>
            <p:nvCxnSpPr>
              <p:cNvPr id="47" name="직선 연결선 82">
                <a:extLst>
                  <a:ext uri="{FF2B5EF4-FFF2-40B4-BE49-F238E27FC236}">
                    <a16:creationId xmlns:a16="http://schemas.microsoft.com/office/drawing/2014/main" id="{0BFB65B4-613E-78C4-A574-49BF5A5B63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5325" y="1935305"/>
                <a:ext cx="3346815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  <a:alpha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94BC7F-CF1C-C84F-8FEA-DEC874F5970C}"/>
                  </a:ext>
                </a:extLst>
              </p:cNvPr>
              <p:cNvSpPr txBox="1"/>
              <p:nvPr/>
            </p:nvSpPr>
            <p:spPr>
              <a:xfrm>
                <a:off x="1173943" y="1616001"/>
                <a:ext cx="2683108" cy="28004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 dirty="0">
                    <a:ln>
                      <a:solidFill>
                        <a:srgbClr val="9E0B28">
                          <a:alpha val="0"/>
                        </a:srgbClr>
                      </a:solidFill>
                    </a:ln>
                    <a:solidFill>
                      <a:srgbClr val="656E7D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  <a:cs typeface="Lato Black" panose="020F0502020204030203" pitchFamily="34" charset="0"/>
                  </a:rPr>
                  <a:t>M, 46, 179cm, DM </a:t>
                </a:r>
                <a:endParaRPr lang="ko-KR" altLang="en-US" sz="1400" b="1" dirty="0">
                  <a:ln>
                    <a:solidFill>
                      <a:srgbClr val="9E0B28">
                        <a:alpha val="0"/>
                      </a:srgbClr>
                    </a:solidFill>
                  </a:ln>
                  <a:solidFill>
                    <a:srgbClr val="656E7D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Lato Black" panose="020F0502020204030203" pitchFamily="34" charset="0"/>
                </a:endParaRPr>
              </a:p>
            </p:txBody>
          </p:sp>
          <p:sp>
            <p:nvSpPr>
              <p:cNvPr id="50" name="자유형: 도형 99">
                <a:extLst>
                  <a:ext uri="{FF2B5EF4-FFF2-40B4-BE49-F238E27FC236}">
                    <a16:creationId xmlns:a16="http://schemas.microsoft.com/office/drawing/2014/main" id="{F59CDF94-0D52-E746-9019-43321262DB42}"/>
                  </a:ext>
                </a:extLst>
              </p:cNvPr>
              <p:cNvSpPr/>
              <p:nvPr/>
            </p:nvSpPr>
            <p:spPr>
              <a:xfrm>
                <a:off x="825993" y="1545564"/>
                <a:ext cx="3345958" cy="221068"/>
              </a:xfrm>
              <a:custGeom>
                <a:avLst/>
                <a:gdLst>
                  <a:gd name="connsiteX0" fmla="*/ 209296 w 4602646"/>
                  <a:gd name="connsiteY0" fmla="*/ 0 h 206301"/>
                  <a:gd name="connsiteX1" fmla="*/ 1276096 w 4602646"/>
                  <a:gd name="connsiteY1" fmla="*/ 0 h 206301"/>
                  <a:gd name="connsiteX2" fmla="*/ 1802007 w 4602646"/>
                  <a:gd name="connsiteY2" fmla="*/ 0 h 206301"/>
                  <a:gd name="connsiteX3" fmla="*/ 2800639 w 4602646"/>
                  <a:gd name="connsiteY3" fmla="*/ 0 h 206301"/>
                  <a:gd name="connsiteX4" fmla="*/ 2868807 w 4602646"/>
                  <a:gd name="connsiteY4" fmla="*/ 0 h 206301"/>
                  <a:gd name="connsiteX5" fmla="*/ 4393350 w 4602646"/>
                  <a:gd name="connsiteY5" fmla="*/ 0 h 206301"/>
                  <a:gd name="connsiteX6" fmla="*/ 4602646 w 4602646"/>
                  <a:gd name="connsiteY6" fmla="*/ 206301 h 206301"/>
                  <a:gd name="connsiteX7" fmla="*/ 3078103 w 4602646"/>
                  <a:gd name="connsiteY7" fmla="*/ 206301 h 206301"/>
                  <a:gd name="connsiteX8" fmla="*/ 2591343 w 4602646"/>
                  <a:gd name="connsiteY8" fmla="*/ 206301 h 206301"/>
                  <a:gd name="connsiteX9" fmla="*/ 2011303 w 4602646"/>
                  <a:gd name="connsiteY9" fmla="*/ 206301 h 206301"/>
                  <a:gd name="connsiteX10" fmla="*/ 1066800 w 4602646"/>
                  <a:gd name="connsiteY10" fmla="*/ 206301 h 206301"/>
                  <a:gd name="connsiteX11" fmla="*/ 0 w 4602646"/>
                  <a:gd name="connsiteY11" fmla="*/ 206301 h 206301"/>
                  <a:gd name="connsiteX12" fmla="*/ 209296 w 4602646"/>
                  <a:gd name="connsiteY12" fmla="*/ 0 h 206301"/>
                  <a:gd name="connsiteX0" fmla="*/ 0 w 4602646"/>
                  <a:gd name="connsiteY0" fmla="*/ 206301 h 297741"/>
                  <a:gd name="connsiteX1" fmla="*/ 209296 w 4602646"/>
                  <a:gd name="connsiteY1" fmla="*/ 0 h 297741"/>
                  <a:gd name="connsiteX2" fmla="*/ 1276096 w 4602646"/>
                  <a:gd name="connsiteY2" fmla="*/ 0 h 297741"/>
                  <a:gd name="connsiteX3" fmla="*/ 1802007 w 4602646"/>
                  <a:gd name="connsiteY3" fmla="*/ 0 h 297741"/>
                  <a:gd name="connsiteX4" fmla="*/ 2800639 w 4602646"/>
                  <a:gd name="connsiteY4" fmla="*/ 0 h 297741"/>
                  <a:gd name="connsiteX5" fmla="*/ 2868807 w 4602646"/>
                  <a:gd name="connsiteY5" fmla="*/ 0 h 297741"/>
                  <a:gd name="connsiteX6" fmla="*/ 4393350 w 4602646"/>
                  <a:gd name="connsiteY6" fmla="*/ 0 h 297741"/>
                  <a:gd name="connsiteX7" fmla="*/ 4602646 w 4602646"/>
                  <a:gd name="connsiteY7" fmla="*/ 206301 h 297741"/>
                  <a:gd name="connsiteX8" fmla="*/ 3078103 w 4602646"/>
                  <a:gd name="connsiteY8" fmla="*/ 206301 h 297741"/>
                  <a:gd name="connsiteX9" fmla="*/ 2591343 w 4602646"/>
                  <a:gd name="connsiteY9" fmla="*/ 206301 h 297741"/>
                  <a:gd name="connsiteX10" fmla="*/ 2011303 w 4602646"/>
                  <a:gd name="connsiteY10" fmla="*/ 206301 h 297741"/>
                  <a:gd name="connsiteX11" fmla="*/ 1066800 w 4602646"/>
                  <a:gd name="connsiteY11" fmla="*/ 206301 h 297741"/>
                  <a:gd name="connsiteX12" fmla="*/ 91440 w 4602646"/>
                  <a:gd name="connsiteY12" fmla="*/ 297741 h 29774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9" fmla="*/ 2591343 w 4602646"/>
                  <a:gd name="connsiteY9" fmla="*/ 206301 h 206301"/>
                  <a:gd name="connsiteX10" fmla="*/ 2011303 w 4602646"/>
                  <a:gd name="connsiteY10" fmla="*/ 206301 h 206301"/>
                  <a:gd name="connsiteX11" fmla="*/ 1066800 w 4602646"/>
                  <a:gd name="connsiteY11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9" fmla="*/ 2591343 w 4602646"/>
                  <a:gd name="connsiteY9" fmla="*/ 206301 h 206301"/>
                  <a:gd name="connsiteX10" fmla="*/ 2011303 w 4602646"/>
                  <a:gd name="connsiteY10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9" fmla="*/ 2591343 w 4602646"/>
                  <a:gd name="connsiteY9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68807 w 4602646"/>
                  <a:gd name="connsiteY4" fmla="*/ 0 h 206301"/>
                  <a:gd name="connsiteX5" fmla="*/ 4393350 w 4602646"/>
                  <a:gd name="connsiteY5" fmla="*/ 0 h 206301"/>
                  <a:gd name="connsiteX6" fmla="*/ 4602646 w 4602646"/>
                  <a:gd name="connsiteY6" fmla="*/ 206301 h 206301"/>
                  <a:gd name="connsiteX0" fmla="*/ 0 w 4602646"/>
                  <a:gd name="connsiteY0" fmla="*/ 234876 h 234876"/>
                  <a:gd name="connsiteX1" fmla="*/ 209296 w 4602646"/>
                  <a:gd name="connsiteY1" fmla="*/ 28575 h 234876"/>
                  <a:gd name="connsiteX2" fmla="*/ 1276096 w 4602646"/>
                  <a:gd name="connsiteY2" fmla="*/ 28575 h 234876"/>
                  <a:gd name="connsiteX3" fmla="*/ 1802007 w 4602646"/>
                  <a:gd name="connsiteY3" fmla="*/ 28575 h 234876"/>
                  <a:gd name="connsiteX4" fmla="*/ 2868807 w 4602646"/>
                  <a:gd name="connsiteY4" fmla="*/ 28575 h 234876"/>
                  <a:gd name="connsiteX5" fmla="*/ 2916723 w 4602646"/>
                  <a:gd name="connsiteY5" fmla="*/ 0 h 234876"/>
                  <a:gd name="connsiteX6" fmla="*/ 4393350 w 4602646"/>
                  <a:gd name="connsiteY6" fmla="*/ 28575 h 234876"/>
                  <a:gd name="connsiteX7" fmla="*/ 4602646 w 4602646"/>
                  <a:gd name="connsiteY7" fmla="*/ 234876 h 234876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68807 w 4602646"/>
                  <a:gd name="connsiteY4" fmla="*/ 0 h 206301"/>
                  <a:gd name="connsiteX5" fmla="*/ 4393350 w 4602646"/>
                  <a:gd name="connsiteY5" fmla="*/ 0 h 206301"/>
                  <a:gd name="connsiteX6" fmla="*/ 4602646 w 4602646"/>
                  <a:gd name="connsiteY6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2868807 w 4602646"/>
                  <a:gd name="connsiteY3" fmla="*/ 0 h 206301"/>
                  <a:gd name="connsiteX4" fmla="*/ 4393350 w 4602646"/>
                  <a:gd name="connsiteY4" fmla="*/ 0 h 206301"/>
                  <a:gd name="connsiteX5" fmla="*/ 4602646 w 4602646"/>
                  <a:gd name="connsiteY5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4393350 w 4602646"/>
                  <a:gd name="connsiteY3" fmla="*/ 0 h 206301"/>
                  <a:gd name="connsiteX4" fmla="*/ 4602646 w 4602646"/>
                  <a:gd name="connsiteY4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4393350 w 4602646"/>
                  <a:gd name="connsiteY2" fmla="*/ 0 h 206301"/>
                  <a:gd name="connsiteX3" fmla="*/ 4602646 w 4602646"/>
                  <a:gd name="connsiteY3" fmla="*/ 206301 h 206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2646" h="206301">
                    <a:moveTo>
                      <a:pt x="0" y="206301"/>
                    </a:moveTo>
                    <a:cubicBezTo>
                      <a:pt x="0" y="92364"/>
                      <a:pt x="93705" y="0"/>
                      <a:pt x="209296" y="0"/>
                    </a:cubicBezTo>
                    <a:lnTo>
                      <a:pt x="4393350" y="0"/>
                    </a:lnTo>
                    <a:cubicBezTo>
                      <a:pt x="4508941" y="0"/>
                      <a:pt x="4602646" y="92364"/>
                      <a:pt x="4602646" y="206301"/>
                    </a:cubicBezTo>
                  </a:path>
                </a:pathLst>
              </a:custGeom>
              <a:noFill/>
              <a:ln w="28575">
                <a:solidFill>
                  <a:srgbClr val="656E7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 anchorCtr="0">
                <a:noAutofit/>
              </a:bodyPr>
              <a:lstStyle/>
              <a:p>
                <a:pPr algn="ctr"/>
                <a:endParaRPr lang="ko-KR" altLang="en-US" sz="4000" dirty="0">
                  <a:ln>
                    <a:solidFill>
                      <a:srgbClr val="4FA6AE">
                        <a:alpha val="0"/>
                      </a:srgbClr>
                    </a:solidFill>
                  </a:ln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맑은 고딕" panose="02000503000000020004" pitchFamily="2" charset="-127"/>
                </a:endParaRPr>
              </a:p>
            </p:txBody>
          </p:sp>
        </p:grpSp>
        <p:sp>
          <p:nvSpPr>
            <p:cNvPr id="51" name="TextBox 50"/>
            <p:cNvSpPr txBox="1"/>
            <p:nvPr/>
          </p:nvSpPr>
          <p:spPr>
            <a:xfrm>
              <a:off x="1837268" y="2463153"/>
              <a:ext cx="2805694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b="1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Positive Outcome: </a:t>
              </a:r>
              <a:r>
                <a:rPr lang="en-US" altLang="ko-KR" sz="1200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Muscle mass is fully maintained while fat and weight decrease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b="1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Weight loss is slower than expected</a:t>
              </a:r>
              <a:r>
                <a:rPr lang="en-US" altLang="ko-KR" sz="1200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, resulting in </a:t>
              </a:r>
              <a:r>
                <a:rPr lang="en-US" altLang="ko-KR" sz="1200" b="1" dirty="0">
                  <a:solidFill>
                    <a:srgbClr val="9D1F3A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low patient satisfaction</a:t>
              </a:r>
            </a:p>
          </p:txBody>
        </p:sp>
      </p:grpSp>
      <p:sp>
        <p:nvSpPr>
          <p:cNvPr id="22" name="직사각형 21"/>
          <p:cNvSpPr/>
          <p:nvPr/>
        </p:nvSpPr>
        <p:spPr>
          <a:xfrm>
            <a:off x="770518" y="4323477"/>
            <a:ext cx="3301677" cy="1503183"/>
          </a:xfrm>
          <a:prstGeom prst="rect">
            <a:avLst/>
          </a:prstGeom>
          <a:solidFill>
            <a:srgbClr val="656E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Weight: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124.8kg </a:t>
            </a:r>
            <a:r>
              <a:rPr lang="ko-KR" altLang="en-US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→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117.9kg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Skeletal Muscle Mass: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38.6kg </a:t>
            </a:r>
            <a:r>
              <a:rPr lang="ko-KR" altLang="en-US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→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38.5kg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Percent Body Fat: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44.5% </a:t>
            </a:r>
            <a:r>
              <a:rPr lang="ko-KR" altLang="en-US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→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41.6%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Phase Angle: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5.1º </a:t>
            </a:r>
            <a:r>
              <a:rPr lang="ko-KR" altLang="en-US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→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5.2º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4181020" y="985663"/>
            <a:ext cx="7284914" cy="5139933"/>
            <a:chOff x="4181020" y="985663"/>
            <a:chExt cx="7284914" cy="5139933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1020" y="1105022"/>
              <a:ext cx="3564390" cy="5020574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1544" y="1105021"/>
              <a:ext cx="3564390" cy="5020574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3" name="직사각형 22"/>
            <p:cNvSpPr/>
            <p:nvPr/>
          </p:nvSpPr>
          <p:spPr>
            <a:xfrm flipH="1">
              <a:off x="4261310" y="2485260"/>
              <a:ext cx="2131870" cy="1134240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 flipH="1">
              <a:off x="6479934" y="2180460"/>
              <a:ext cx="1117206" cy="898020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6479934" y="985664"/>
              <a:ext cx="1203960" cy="338554"/>
            </a:xfrm>
            <a:prstGeom prst="rect">
              <a:avLst/>
            </a:prstGeom>
            <a:solidFill>
              <a:srgbClr val="656E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dirty="0">
                  <a:ln>
                    <a:solidFill>
                      <a:srgbClr val="7E8080">
                        <a:alpha val="0"/>
                      </a:srgbClr>
                    </a:solidFill>
                  </a:ln>
                  <a:latin typeface="Lato" panose="020B0604020202020204"/>
                  <a:ea typeface="Noto Sans KR" panose="020B0500000000000000" pitchFamily="34" charset="-127"/>
                </a:rPr>
                <a:t>Before</a:t>
              </a:r>
              <a:endParaRPr lang="ko-KR" altLang="en-US" dirty="0">
                <a:ln>
                  <a:solidFill>
                    <a:srgbClr val="7E8080">
                      <a:alpha val="0"/>
                    </a:srgbClr>
                  </a:solidFill>
                </a:ln>
                <a:latin typeface="Lato" panose="020B0604020202020204"/>
                <a:ea typeface="Noto Sans KR" panose="020B0500000000000000" pitchFamily="34" charset="-127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489440" y="985663"/>
              <a:ext cx="1827424" cy="338554"/>
            </a:xfrm>
            <a:prstGeom prst="rect">
              <a:avLst/>
            </a:prstGeom>
            <a:solidFill>
              <a:srgbClr val="656E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dirty="0">
                  <a:ln>
                    <a:solidFill>
                      <a:srgbClr val="7E8080">
                        <a:alpha val="0"/>
                      </a:srgbClr>
                    </a:solidFill>
                  </a:ln>
                  <a:latin typeface="Lato" panose="020B0604020202020204"/>
                  <a:ea typeface="Noto Sans KR" panose="020B0500000000000000" pitchFamily="34" charset="-127"/>
                </a:rPr>
                <a:t>After 8 weeks</a:t>
              </a:r>
              <a:endParaRPr lang="ko-KR" altLang="en-US" dirty="0">
                <a:ln>
                  <a:solidFill>
                    <a:srgbClr val="7E8080">
                      <a:alpha val="0"/>
                    </a:srgbClr>
                  </a:solidFill>
                </a:ln>
                <a:latin typeface="Lato" panose="020B0604020202020204"/>
                <a:ea typeface="Noto Sans KR" panose="020B0500000000000000" pitchFamily="34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 flipH="1">
              <a:off x="7995108" y="2485259"/>
              <a:ext cx="2131870" cy="1134240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 flipH="1">
              <a:off x="10213732" y="2180459"/>
              <a:ext cx="1117206" cy="898020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4354576" y="1558544"/>
              <a:ext cx="508000" cy="121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n>
                  <a:solidFill>
                    <a:srgbClr val="7E8080">
                      <a:alpha val="0"/>
                    </a:srgb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8074356" y="1558544"/>
              <a:ext cx="508000" cy="121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ln>
                  <a:solidFill>
                    <a:srgbClr val="7E8080">
                      <a:alpha val="0"/>
                    </a:srgb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 flipH="1">
              <a:off x="10175268" y="4969692"/>
              <a:ext cx="1117206" cy="218440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flipH="1">
              <a:off x="6474854" y="4969433"/>
              <a:ext cx="1117206" cy="218440"/>
            </a:xfrm>
            <a:prstGeom prst="rect">
              <a:avLst/>
            </a:prstGeom>
            <a:noFill/>
            <a:ln w="25400">
              <a:solidFill>
                <a:srgbClr val="9D1F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3" t="78567" r="63432" b="3625"/>
          <a:stretch/>
        </p:blipFill>
        <p:spPr>
          <a:xfrm>
            <a:off x="7820356" y="5075069"/>
            <a:ext cx="1669084" cy="122399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9323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135" y="1105018"/>
            <a:ext cx="3564390" cy="502057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534" y="1105018"/>
            <a:ext cx="3564391" cy="50205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Case C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03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Lato" panose="020B0604020202020204" charset="0"/>
                <a:ea typeface="에스코어 드림 5 Medium" panose="020B0503030302020204" pitchFamily="34" charset="-127"/>
              </a:rPr>
              <a:t>Diabetic Patient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Lato" panose="020B060402020202020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977559" y="2292671"/>
            <a:ext cx="2805853" cy="2634127"/>
            <a:chOff x="1837267" y="1978295"/>
            <a:chExt cx="2805853" cy="2634127"/>
          </a:xfrm>
        </p:grpSpPr>
        <p:grpSp>
          <p:nvGrpSpPr>
            <p:cNvPr id="44" name="그룹 43"/>
            <p:cNvGrpSpPr/>
            <p:nvPr/>
          </p:nvGrpSpPr>
          <p:grpSpPr>
            <a:xfrm>
              <a:off x="1837267" y="1978295"/>
              <a:ext cx="2805853" cy="2634127"/>
              <a:chOff x="825325" y="1545564"/>
              <a:chExt cx="3346815" cy="2634127"/>
            </a:xfrm>
          </p:grpSpPr>
          <p:sp>
            <p:nvSpPr>
              <p:cNvPr id="45" name="사각형: 둥근 위쪽 모서리 110">
                <a:extLst>
                  <a:ext uri="{FF2B5EF4-FFF2-40B4-BE49-F238E27FC236}">
                    <a16:creationId xmlns:a16="http://schemas.microsoft.com/office/drawing/2014/main" id="{3C47DBCF-564B-C424-4E4D-F2A26F250C3C}"/>
                  </a:ext>
                </a:extLst>
              </p:cNvPr>
              <p:cNvSpPr/>
              <p:nvPr/>
            </p:nvSpPr>
            <p:spPr>
              <a:xfrm>
                <a:off x="825993" y="1937916"/>
                <a:ext cx="3345959" cy="2241775"/>
              </a:xfrm>
              <a:prstGeom prst="round2SameRect">
                <a:avLst>
                  <a:gd name="adj1" fmla="val 0"/>
                  <a:gd name="adj2" fmla="val 5282"/>
                </a:avLst>
              </a:prstGeom>
              <a:solidFill>
                <a:srgbClr val="F4F4F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n>
                    <a:solidFill>
                      <a:srgbClr val="4FA6AE">
                        <a:alpha val="0"/>
                      </a:srgbClr>
                    </a:solidFill>
                  </a:ln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  <p:cxnSp>
            <p:nvCxnSpPr>
              <p:cNvPr id="47" name="직선 연결선 82">
                <a:extLst>
                  <a:ext uri="{FF2B5EF4-FFF2-40B4-BE49-F238E27FC236}">
                    <a16:creationId xmlns:a16="http://schemas.microsoft.com/office/drawing/2014/main" id="{0BFB65B4-613E-78C4-A574-49BF5A5B63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5325" y="1935305"/>
                <a:ext cx="3346815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  <a:alpha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94BC7F-CF1C-C84F-8FEA-DEC874F5970C}"/>
                  </a:ext>
                </a:extLst>
              </p:cNvPr>
              <p:cNvSpPr txBox="1"/>
              <p:nvPr/>
            </p:nvSpPr>
            <p:spPr>
              <a:xfrm>
                <a:off x="1173943" y="1616001"/>
                <a:ext cx="2683108" cy="28004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 dirty="0">
                    <a:ln>
                      <a:solidFill>
                        <a:srgbClr val="9E0B28">
                          <a:alpha val="0"/>
                        </a:srgbClr>
                      </a:solidFill>
                    </a:ln>
                    <a:solidFill>
                      <a:srgbClr val="656E7D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  <a:cs typeface="Lato Black" panose="020F0502020204030203" pitchFamily="34" charset="0"/>
                  </a:rPr>
                  <a:t>M, 46, 179cm, DM </a:t>
                </a:r>
                <a:endParaRPr lang="ko-KR" altLang="en-US" sz="1400" b="1" dirty="0">
                  <a:ln>
                    <a:solidFill>
                      <a:srgbClr val="9E0B28">
                        <a:alpha val="0"/>
                      </a:srgbClr>
                    </a:solidFill>
                  </a:ln>
                  <a:solidFill>
                    <a:srgbClr val="656E7D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Lato Black" panose="020F0502020204030203" pitchFamily="34" charset="0"/>
                </a:endParaRPr>
              </a:p>
            </p:txBody>
          </p:sp>
          <p:sp>
            <p:nvSpPr>
              <p:cNvPr id="50" name="자유형: 도형 99">
                <a:extLst>
                  <a:ext uri="{FF2B5EF4-FFF2-40B4-BE49-F238E27FC236}">
                    <a16:creationId xmlns:a16="http://schemas.microsoft.com/office/drawing/2014/main" id="{F59CDF94-0D52-E746-9019-43321262DB42}"/>
                  </a:ext>
                </a:extLst>
              </p:cNvPr>
              <p:cNvSpPr/>
              <p:nvPr/>
            </p:nvSpPr>
            <p:spPr>
              <a:xfrm>
                <a:off x="825993" y="1545564"/>
                <a:ext cx="3345958" cy="221068"/>
              </a:xfrm>
              <a:custGeom>
                <a:avLst/>
                <a:gdLst>
                  <a:gd name="connsiteX0" fmla="*/ 209296 w 4602646"/>
                  <a:gd name="connsiteY0" fmla="*/ 0 h 206301"/>
                  <a:gd name="connsiteX1" fmla="*/ 1276096 w 4602646"/>
                  <a:gd name="connsiteY1" fmla="*/ 0 h 206301"/>
                  <a:gd name="connsiteX2" fmla="*/ 1802007 w 4602646"/>
                  <a:gd name="connsiteY2" fmla="*/ 0 h 206301"/>
                  <a:gd name="connsiteX3" fmla="*/ 2800639 w 4602646"/>
                  <a:gd name="connsiteY3" fmla="*/ 0 h 206301"/>
                  <a:gd name="connsiteX4" fmla="*/ 2868807 w 4602646"/>
                  <a:gd name="connsiteY4" fmla="*/ 0 h 206301"/>
                  <a:gd name="connsiteX5" fmla="*/ 4393350 w 4602646"/>
                  <a:gd name="connsiteY5" fmla="*/ 0 h 206301"/>
                  <a:gd name="connsiteX6" fmla="*/ 4602646 w 4602646"/>
                  <a:gd name="connsiteY6" fmla="*/ 206301 h 206301"/>
                  <a:gd name="connsiteX7" fmla="*/ 3078103 w 4602646"/>
                  <a:gd name="connsiteY7" fmla="*/ 206301 h 206301"/>
                  <a:gd name="connsiteX8" fmla="*/ 2591343 w 4602646"/>
                  <a:gd name="connsiteY8" fmla="*/ 206301 h 206301"/>
                  <a:gd name="connsiteX9" fmla="*/ 2011303 w 4602646"/>
                  <a:gd name="connsiteY9" fmla="*/ 206301 h 206301"/>
                  <a:gd name="connsiteX10" fmla="*/ 1066800 w 4602646"/>
                  <a:gd name="connsiteY10" fmla="*/ 206301 h 206301"/>
                  <a:gd name="connsiteX11" fmla="*/ 0 w 4602646"/>
                  <a:gd name="connsiteY11" fmla="*/ 206301 h 206301"/>
                  <a:gd name="connsiteX12" fmla="*/ 209296 w 4602646"/>
                  <a:gd name="connsiteY12" fmla="*/ 0 h 206301"/>
                  <a:gd name="connsiteX0" fmla="*/ 0 w 4602646"/>
                  <a:gd name="connsiteY0" fmla="*/ 206301 h 297741"/>
                  <a:gd name="connsiteX1" fmla="*/ 209296 w 4602646"/>
                  <a:gd name="connsiteY1" fmla="*/ 0 h 297741"/>
                  <a:gd name="connsiteX2" fmla="*/ 1276096 w 4602646"/>
                  <a:gd name="connsiteY2" fmla="*/ 0 h 297741"/>
                  <a:gd name="connsiteX3" fmla="*/ 1802007 w 4602646"/>
                  <a:gd name="connsiteY3" fmla="*/ 0 h 297741"/>
                  <a:gd name="connsiteX4" fmla="*/ 2800639 w 4602646"/>
                  <a:gd name="connsiteY4" fmla="*/ 0 h 297741"/>
                  <a:gd name="connsiteX5" fmla="*/ 2868807 w 4602646"/>
                  <a:gd name="connsiteY5" fmla="*/ 0 h 297741"/>
                  <a:gd name="connsiteX6" fmla="*/ 4393350 w 4602646"/>
                  <a:gd name="connsiteY6" fmla="*/ 0 h 297741"/>
                  <a:gd name="connsiteX7" fmla="*/ 4602646 w 4602646"/>
                  <a:gd name="connsiteY7" fmla="*/ 206301 h 297741"/>
                  <a:gd name="connsiteX8" fmla="*/ 3078103 w 4602646"/>
                  <a:gd name="connsiteY8" fmla="*/ 206301 h 297741"/>
                  <a:gd name="connsiteX9" fmla="*/ 2591343 w 4602646"/>
                  <a:gd name="connsiteY9" fmla="*/ 206301 h 297741"/>
                  <a:gd name="connsiteX10" fmla="*/ 2011303 w 4602646"/>
                  <a:gd name="connsiteY10" fmla="*/ 206301 h 297741"/>
                  <a:gd name="connsiteX11" fmla="*/ 1066800 w 4602646"/>
                  <a:gd name="connsiteY11" fmla="*/ 206301 h 297741"/>
                  <a:gd name="connsiteX12" fmla="*/ 91440 w 4602646"/>
                  <a:gd name="connsiteY12" fmla="*/ 297741 h 29774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9" fmla="*/ 2591343 w 4602646"/>
                  <a:gd name="connsiteY9" fmla="*/ 206301 h 206301"/>
                  <a:gd name="connsiteX10" fmla="*/ 2011303 w 4602646"/>
                  <a:gd name="connsiteY10" fmla="*/ 206301 h 206301"/>
                  <a:gd name="connsiteX11" fmla="*/ 1066800 w 4602646"/>
                  <a:gd name="connsiteY11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9" fmla="*/ 2591343 w 4602646"/>
                  <a:gd name="connsiteY9" fmla="*/ 206301 h 206301"/>
                  <a:gd name="connsiteX10" fmla="*/ 2011303 w 4602646"/>
                  <a:gd name="connsiteY10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9" fmla="*/ 2591343 w 4602646"/>
                  <a:gd name="connsiteY9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8" fmla="*/ 3078103 w 4602646"/>
                  <a:gd name="connsiteY8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00639 w 4602646"/>
                  <a:gd name="connsiteY4" fmla="*/ 0 h 206301"/>
                  <a:gd name="connsiteX5" fmla="*/ 2868807 w 4602646"/>
                  <a:gd name="connsiteY5" fmla="*/ 0 h 206301"/>
                  <a:gd name="connsiteX6" fmla="*/ 4393350 w 4602646"/>
                  <a:gd name="connsiteY6" fmla="*/ 0 h 206301"/>
                  <a:gd name="connsiteX7" fmla="*/ 4602646 w 4602646"/>
                  <a:gd name="connsiteY7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68807 w 4602646"/>
                  <a:gd name="connsiteY4" fmla="*/ 0 h 206301"/>
                  <a:gd name="connsiteX5" fmla="*/ 4393350 w 4602646"/>
                  <a:gd name="connsiteY5" fmla="*/ 0 h 206301"/>
                  <a:gd name="connsiteX6" fmla="*/ 4602646 w 4602646"/>
                  <a:gd name="connsiteY6" fmla="*/ 206301 h 206301"/>
                  <a:gd name="connsiteX0" fmla="*/ 0 w 4602646"/>
                  <a:gd name="connsiteY0" fmla="*/ 234876 h 234876"/>
                  <a:gd name="connsiteX1" fmla="*/ 209296 w 4602646"/>
                  <a:gd name="connsiteY1" fmla="*/ 28575 h 234876"/>
                  <a:gd name="connsiteX2" fmla="*/ 1276096 w 4602646"/>
                  <a:gd name="connsiteY2" fmla="*/ 28575 h 234876"/>
                  <a:gd name="connsiteX3" fmla="*/ 1802007 w 4602646"/>
                  <a:gd name="connsiteY3" fmla="*/ 28575 h 234876"/>
                  <a:gd name="connsiteX4" fmla="*/ 2868807 w 4602646"/>
                  <a:gd name="connsiteY4" fmla="*/ 28575 h 234876"/>
                  <a:gd name="connsiteX5" fmla="*/ 2916723 w 4602646"/>
                  <a:gd name="connsiteY5" fmla="*/ 0 h 234876"/>
                  <a:gd name="connsiteX6" fmla="*/ 4393350 w 4602646"/>
                  <a:gd name="connsiteY6" fmla="*/ 28575 h 234876"/>
                  <a:gd name="connsiteX7" fmla="*/ 4602646 w 4602646"/>
                  <a:gd name="connsiteY7" fmla="*/ 234876 h 234876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1802007 w 4602646"/>
                  <a:gd name="connsiteY3" fmla="*/ 0 h 206301"/>
                  <a:gd name="connsiteX4" fmla="*/ 2868807 w 4602646"/>
                  <a:gd name="connsiteY4" fmla="*/ 0 h 206301"/>
                  <a:gd name="connsiteX5" fmla="*/ 4393350 w 4602646"/>
                  <a:gd name="connsiteY5" fmla="*/ 0 h 206301"/>
                  <a:gd name="connsiteX6" fmla="*/ 4602646 w 4602646"/>
                  <a:gd name="connsiteY6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2868807 w 4602646"/>
                  <a:gd name="connsiteY3" fmla="*/ 0 h 206301"/>
                  <a:gd name="connsiteX4" fmla="*/ 4393350 w 4602646"/>
                  <a:gd name="connsiteY4" fmla="*/ 0 h 206301"/>
                  <a:gd name="connsiteX5" fmla="*/ 4602646 w 4602646"/>
                  <a:gd name="connsiteY5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1276096 w 4602646"/>
                  <a:gd name="connsiteY2" fmla="*/ 0 h 206301"/>
                  <a:gd name="connsiteX3" fmla="*/ 4393350 w 4602646"/>
                  <a:gd name="connsiteY3" fmla="*/ 0 h 206301"/>
                  <a:gd name="connsiteX4" fmla="*/ 4602646 w 4602646"/>
                  <a:gd name="connsiteY4" fmla="*/ 206301 h 206301"/>
                  <a:gd name="connsiteX0" fmla="*/ 0 w 4602646"/>
                  <a:gd name="connsiteY0" fmla="*/ 206301 h 206301"/>
                  <a:gd name="connsiteX1" fmla="*/ 209296 w 4602646"/>
                  <a:gd name="connsiteY1" fmla="*/ 0 h 206301"/>
                  <a:gd name="connsiteX2" fmla="*/ 4393350 w 4602646"/>
                  <a:gd name="connsiteY2" fmla="*/ 0 h 206301"/>
                  <a:gd name="connsiteX3" fmla="*/ 4602646 w 4602646"/>
                  <a:gd name="connsiteY3" fmla="*/ 206301 h 206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2646" h="206301">
                    <a:moveTo>
                      <a:pt x="0" y="206301"/>
                    </a:moveTo>
                    <a:cubicBezTo>
                      <a:pt x="0" y="92364"/>
                      <a:pt x="93705" y="0"/>
                      <a:pt x="209296" y="0"/>
                    </a:cubicBezTo>
                    <a:lnTo>
                      <a:pt x="4393350" y="0"/>
                    </a:lnTo>
                    <a:cubicBezTo>
                      <a:pt x="4508941" y="0"/>
                      <a:pt x="4602646" y="92364"/>
                      <a:pt x="4602646" y="206301"/>
                    </a:cubicBezTo>
                  </a:path>
                </a:pathLst>
              </a:custGeom>
              <a:noFill/>
              <a:ln w="28575">
                <a:solidFill>
                  <a:srgbClr val="656E7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 anchorCtr="0">
                <a:noAutofit/>
              </a:bodyPr>
              <a:lstStyle/>
              <a:p>
                <a:pPr algn="ctr"/>
                <a:endParaRPr lang="ko-KR" altLang="en-US" sz="4000" dirty="0">
                  <a:ln>
                    <a:solidFill>
                      <a:srgbClr val="4FA6AE">
                        <a:alpha val="0"/>
                      </a:srgbClr>
                    </a:solidFill>
                  </a:ln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맑은 고딕" panose="02000503000000020004" pitchFamily="2" charset="-127"/>
                </a:endParaRPr>
              </a:p>
            </p:txBody>
          </p:sp>
        </p:grpSp>
        <p:sp>
          <p:nvSpPr>
            <p:cNvPr id="51" name="TextBox 50"/>
            <p:cNvSpPr txBox="1"/>
            <p:nvPr/>
          </p:nvSpPr>
          <p:spPr>
            <a:xfrm>
              <a:off x="1837267" y="2437180"/>
              <a:ext cx="280569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ECW Ratio </a:t>
              </a:r>
              <a:r>
                <a:rPr lang="en-US" altLang="ko-KR" sz="1200" b="1" dirty="0">
                  <a:solidFill>
                    <a:srgbClr val="9D1F3A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still shows improvement </a:t>
              </a:r>
              <a:r>
                <a:rPr lang="en-US" altLang="ko-KR" sz="1200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even with the relatively lower edema level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Segmental ECW Ratio </a:t>
              </a:r>
              <a:r>
                <a:rPr lang="en-US" altLang="ko-KR" sz="1200" b="1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shows a more stable result </a:t>
              </a:r>
              <a:r>
                <a:rPr lang="en-US" altLang="ko-KR" sz="1200" dirty="0">
                  <a:solidFill>
                    <a:srgbClr val="656E7D"/>
                  </a:solidFill>
                  <a:latin typeface="Lato" panose="020B0604020202020204"/>
                  <a:ea typeface="에스코어 드림 4 Regular" panose="020B0503030302020204" pitchFamily="34" charset="-127"/>
                </a:rPr>
                <a:t>depending on the treatment effect</a:t>
              </a: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743701" y="4648729"/>
            <a:ext cx="3301677" cy="616376"/>
          </a:xfrm>
          <a:prstGeom prst="rect">
            <a:avLst/>
          </a:prstGeom>
          <a:solidFill>
            <a:srgbClr val="656E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ECW</a:t>
            </a:r>
            <a:r>
              <a:rPr lang="en-US" altLang="ko-KR" sz="10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en-US" altLang="ko-KR" sz="1000" dirty="0" err="1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ExtraCellularWater</a:t>
            </a:r>
            <a:r>
              <a:rPr lang="en-US" altLang="ko-KR" sz="10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 </a:t>
            </a:r>
            <a:r>
              <a:rPr lang="en-US" altLang="ko-KR" sz="14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Ratio: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0.390 </a:t>
            </a:r>
            <a:r>
              <a:rPr lang="ko-KR" altLang="en-US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→ </a:t>
            </a:r>
            <a:r>
              <a:rPr lang="en-US" altLang="ko-KR" sz="1400" b="1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0.386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479934" y="985664"/>
            <a:ext cx="1203960" cy="338554"/>
          </a:xfrm>
          <a:prstGeom prst="rect">
            <a:avLst/>
          </a:prstGeom>
          <a:solidFill>
            <a:srgbClr val="656E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>
                <a:ln>
                  <a:solidFill>
                    <a:srgbClr val="7E8080">
                      <a:alpha val="0"/>
                    </a:srgbClr>
                  </a:solidFill>
                </a:ln>
                <a:latin typeface="Lato" panose="020B0604020202020204"/>
                <a:ea typeface="Noto Sans KR" panose="020B0500000000000000" pitchFamily="34" charset="-127"/>
              </a:rPr>
              <a:t>Before</a:t>
            </a:r>
            <a:endParaRPr lang="ko-KR" altLang="en-US" dirty="0">
              <a:ln>
                <a:solidFill>
                  <a:srgbClr val="7E8080">
                    <a:alpha val="0"/>
                  </a:srgbClr>
                </a:solidFill>
              </a:ln>
              <a:latin typeface="Lato" panose="020B0604020202020204"/>
              <a:ea typeface="Noto Sans KR" panose="020B0500000000000000" pitchFamily="34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9489440" y="985663"/>
            <a:ext cx="1827424" cy="338554"/>
          </a:xfrm>
          <a:prstGeom prst="rect">
            <a:avLst/>
          </a:prstGeom>
          <a:solidFill>
            <a:srgbClr val="656E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>
                <a:ln>
                  <a:solidFill>
                    <a:srgbClr val="7E8080">
                      <a:alpha val="0"/>
                    </a:srgbClr>
                  </a:solidFill>
                </a:ln>
                <a:latin typeface="Lato" panose="020B0604020202020204"/>
                <a:ea typeface="Noto Sans KR" panose="020B0500000000000000" pitchFamily="34" charset="-127"/>
              </a:rPr>
              <a:t>After 8 weeks</a:t>
            </a:r>
            <a:endParaRPr lang="ko-KR" altLang="en-US" dirty="0">
              <a:ln>
                <a:solidFill>
                  <a:srgbClr val="7E8080">
                    <a:alpha val="0"/>
                  </a:srgbClr>
                </a:solidFill>
              </a:ln>
              <a:latin typeface="Lato" panose="020B0604020202020204"/>
              <a:ea typeface="Noto Sans KR" panose="020B0500000000000000" pitchFamily="34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360672" y="1540256"/>
            <a:ext cx="508000" cy="121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n>
                <a:solidFill>
                  <a:srgbClr val="7E8080">
                    <a:alpha val="0"/>
                  </a:srgbClr>
                </a:solidFill>
              </a:ln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8085328" y="1540256"/>
            <a:ext cx="508000" cy="121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n>
                <a:solidFill>
                  <a:srgbClr val="7E8080">
                    <a:alpha val="0"/>
                  </a:srgbClr>
                </a:solidFill>
              </a:ln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5" name="직사각형 24"/>
          <p:cNvSpPr/>
          <p:nvPr/>
        </p:nvSpPr>
        <p:spPr>
          <a:xfrm flipH="1">
            <a:off x="4294873" y="3794338"/>
            <a:ext cx="2116486" cy="1068702"/>
          </a:xfrm>
          <a:prstGeom prst="rect">
            <a:avLst/>
          </a:prstGeom>
          <a:noFill/>
          <a:ln w="25400">
            <a:solidFill>
              <a:srgbClr val="9D1F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 flipH="1">
            <a:off x="7972793" y="3794338"/>
            <a:ext cx="2116486" cy="1068702"/>
          </a:xfrm>
          <a:prstGeom prst="rect">
            <a:avLst/>
          </a:prstGeom>
          <a:noFill/>
          <a:ln w="25400">
            <a:solidFill>
              <a:srgbClr val="9D1F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 flipH="1">
            <a:off x="4291790" y="2378580"/>
            <a:ext cx="2131870" cy="372240"/>
          </a:xfrm>
          <a:prstGeom prst="rect">
            <a:avLst/>
          </a:prstGeom>
          <a:noFill/>
          <a:ln w="25400">
            <a:solidFill>
              <a:srgbClr val="9D1F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 flipH="1">
            <a:off x="8010350" y="2378580"/>
            <a:ext cx="2131870" cy="372240"/>
          </a:xfrm>
          <a:prstGeom prst="rect">
            <a:avLst/>
          </a:prstGeom>
          <a:noFill/>
          <a:ln w="25400">
            <a:solidFill>
              <a:srgbClr val="9D1F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149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50">
            <a:extLst>
              <a:ext uri="{FF2B5EF4-FFF2-40B4-BE49-F238E27FC236}">
                <a16:creationId xmlns:a16="http://schemas.microsoft.com/office/drawing/2014/main" id="{326D874F-1942-294B-90C5-320A68E69828}"/>
              </a:ext>
            </a:extLst>
          </p:cNvPr>
          <p:cNvSpPr txBox="1">
            <a:spLocks/>
          </p:cNvSpPr>
          <p:nvPr/>
        </p:nvSpPr>
        <p:spPr>
          <a:xfrm>
            <a:off x="4916570" y="2702895"/>
            <a:ext cx="2358859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2800" b="1" kern="1200" dirty="0" smtClean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656E7D"/>
                </a:solidFill>
                <a:latin typeface="Lato" panose="020F0502020204030203" pitchFamily="34" charset="0"/>
                <a:ea typeface="Noto Sans KR" panose="020B0500000000000000" pitchFamily="34" charset="-127"/>
                <a:cs typeface="Lato" panose="020F0502020204030203" pitchFamily="34" charset="0"/>
              </a:defRPr>
            </a:lvl1pPr>
            <a:lvl2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800" kern="1200" dirty="0" smtClean="0">
                <a:ln>
                  <a:solidFill>
                    <a:srgbClr val="656E7D">
                      <a:alpha val="0"/>
                    </a:srgbClr>
                  </a:solidFill>
                </a:ln>
                <a:solidFill>
                  <a:srgbClr val="4E4F4F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2pPr>
            <a:lvl3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800" kern="1200" dirty="0" smtClean="0">
                <a:ln>
                  <a:solidFill>
                    <a:srgbClr val="656E7D">
                      <a:alpha val="0"/>
                    </a:srgbClr>
                  </a:solidFill>
                </a:ln>
                <a:solidFill>
                  <a:srgbClr val="4E4F4F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3pPr>
            <a:lvl4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800" kern="1200" dirty="0" smtClean="0">
                <a:ln>
                  <a:solidFill>
                    <a:srgbClr val="656E7D">
                      <a:alpha val="0"/>
                    </a:srgbClr>
                  </a:solidFill>
                </a:ln>
                <a:solidFill>
                  <a:srgbClr val="4E4F4F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4pPr>
            <a:lvl5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800" kern="1200" dirty="0">
                <a:ln>
                  <a:solidFill>
                    <a:srgbClr val="656E7D">
                      <a:alpha val="0"/>
                    </a:srgbClr>
                  </a:solidFill>
                </a:ln>
                <a:solidFill>
                  <a:srgbClr val="4E4F4F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dirty="0">
                <a:ln>
                  <a:solidFill>
                    <a:schemeClr val="tx1">
                      <a:lumMod val="95000"/>
                      <a:lumOff val="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cs typeface="Lato Black" panose="020F0502020204030203" pitchFamily="34" charset="0"/>
              </a:rPr>
              <a:t>Part 3</a:t>
            </a:r>
            <a:endParaRPr lang="ko-KR" altLang="en-US" sz="2400" dirty="0">
              <a:ln>
                <a:solidFill>
                  <a:schemeClr val="tx1">
                    <a:lumMod val="95000"/>
                    <a:lumOff val="5000"/>
                    <a:alpha val="0"/>
                  </a:schemeClr>
                </a:solidFill>
              </a:ln>
              <a:solidFill>
                <a:srgbClr val="9E0B28"/>
              </a:solidFill>
              <a:latin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467AFA88-CA99-3047-90FB-F4C2473E60C3}"/>
              </a:ext>
            </a:extLst>
          </p:cNvPr>
          <p:cNvSpPr txBox="1">
            <a:spLocks/>
          </p:cNvSpPr>
          <p:nvPr/>
        </p:nvSpPr>
        <p:spPr>
          <a:xfrm>
            <a:off x="3459955" y="3217604"/>
            <a:ext cx="5272088" cy="6059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Insights</a:t>
            </a:r>
            <a:endParaRPr lang="ko-KR" altLang="en-US" sz="3400" dirty="0">
              <a:solidFill>
                <a:srgbClr val="3A3A38"/>
              </a:solidFill>
              <a:latin typeface="S-Core Dream 5 Medium" panose="020B0503030302020204" pitchFamily="34" charset="-127"/>
              <a:ea typeface="에스코어 드림 5 Medium" panose="020B05030303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19027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Lato" panose="020B0604020202020204" charset="0"/>
                  <a:ea typeface="에스코어 드림 6 Bold" panose="020B0703030302020204" pitchFamily="34" charset="-127"/>
                </a:rPr>
                <a:t>Direct Feedback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01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 err="1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Wegovy</a:t>
            </a:r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 Patient Data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+mn-ea"/>
            </a:endParaRPr>
          </a:p>
        </p:txBody>
      </p:sp>
      <p:graphicFrame>
        <p:nvGraphicFramePr>
          <p:cNvPr id="40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9917357"/>
              </p:ext>
            </p:extLst>
          </p:nvPr>
        </p:nvGraphicFramePr>
        <p:xfrm>
          <a:off x="1293957" y="1875168"/>
          <a:ext cx="9604081" cy="367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3473">
                  <a:extLst>
                    <a:ext uri="{9D8B030D-6E8A-4147-A177-3AD203B41FA5}">
                      <a16:colId xmlns:a16="http://schemas.microsoft.com/office/drawing/2014/main" val="2608900680"/>
                    </a:ext>
                  </a:extLst>
                </a:gridCol>
                <a:gridCol w="326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9008">
                  <a:extLst>
                    <a:ext uri="{9D8B030D-6E8A-4147-A177-3AD203B41FA5}">
                      <a16:colId xmlns:a16="http://schemas.microsoft.com/office/drawing/2014/main" val="522427154"/>
                    </a:ext>
                  </a:extLst>
                </a:gridCol>
              </a:tblGrid>
              <a:tr h="50891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Lato"/>
                          <a:ea typeface="+mn-ea"/>
                        </a:rPr>
                        <a:t>Common Trends</a:t>
                      </a:r>
                      <a:endParaRPr lang="ko-KR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Lato"/>
                        <a:ea typeface="+mn-ea"/>
                      </a:endParaRPr>
                    </a:p>
                  </a:txBody>
                  <a:tcPr marL="8583" marR="8583" marT="8583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76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Lato"/>
                          <a:ea typeface="+mn-ea"/>
                        </a:rPr>
                        <a:t>Effects</a:t>
                      </a:r>
                      <a:endParaRPr lang="ko-KR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Lato"/>
                        <a:ea typeface="+mn-ea"/>
                      </a:endParaRPr>
                    </a:p>
                  </a:txBody>
                  <a:tcPr marL="8583" marR="8583" marT="8583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76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Lato"/>
                          <a:ea typeface="+mn-ea"/>
                        </a:rPr>
                        <a:t>Side Effects</a:t>
                      </a:r>
                      <a:endParaRPr lang="ko-KR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Lato"/>
                        <a:ea typeface="+mn-ea"/>
                      </a:endParaRPr>
                    </a:p>
                  </a:txBody>
                  <a:tcPr marL="8583" marR="8583" marT="8583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76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800861"/>
                  </a:ext>
                </a:extLst>
              </a:tr>
              <a:tr h="3170157"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200" b="0" i="0" u="none" strike="noStrike" kern="0" spc="-30" dirty="0">
                        <a:ln>
                          <a:solidFill>
                            <a:srgbClr val="1E7678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Lato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200" b="0" i="0" u="none" strike="noStrike" kern="0" spc="-30" dirty="0">
                          <a:ln>
                            <a:solidFill>
                              <a:srgbClr val="1E767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Lato"/>
                          <a:ea typeface="+mn-ea"/>
                        </a:rPr>
                        <a:t> Fat-focused</a:t>
                      </a:r>
                      <a:r>
                        <a:rPr lang="en-US" altLang="ko-KR" sz="1200" b="0" i="0" u="none" strike="noStrike" kern="0" spc="-30" baseline="0" dirty="0">
                          <a:ln>
                            <a:solidFill>
                              <a:srgbClr val="1E7678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Lato"/>
                          <a:ea typeface="+mn-ea"/>
                        </a:rPr>
                        <a:t> weight loss</a:t>
                      </a: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</a:rPr>
                        <a:t> Lower muscle mass reduction </a:t>
                      </a: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</a:rPr>
                        <a:t> Higher body fat loss percentage</a:t>
                      </a:r>
                      <a:b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</a:rPr>
                      </a:br>
                      <a:endParaRPr lang="en-US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ato"/>
                      </a:endParaRPr>
                    </a:p>
                    <a:p>
                      <a:pPr marL="0" indent="0" algn="ctr" font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Lato"/>
                          <a:ea typeface="+mn-ea"/>
                        </a:rPr>
                        <a:t>[Summary]</a:t>
                      </a:r>
                    </a:p>
                    <a:p>
                      <a:pPr marL="0" indent="0" algn="ctr" font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Lato"/>
                          <a:ea typeface="+mn-ea"/>
                        </a:rPr>
                        <a:t>Most </a:t>
                      </a: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Lato"/>
                          <a:ea typeface="+mn-ea"/>
                        </a:rPr>
                        <a:t>diet</a:t>
                      </a:r>
                      <a:r>
                        <a:rPr lang="en-US" altLang="ko-KR" sz="12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Lato"/>
                          <a:ea typeface="+mn-ea"/>
                        </a:rPr>
                        <a:t> medication cause both muscle and fat loss, but </a:t>
                      </a:r>
                      <a:r>
                        <a:rPr lang="en-US" altLang="ko-KR" sz="1200" b="1" i="0" u="none" strike="noStrike" baseline="0" dirty="0" err="1">
                          <a:solidFill>
                            <a:srgbClr val="9D1F3A"/>
                          </a:solidFill>
                          <a:effectLst/>
                          <a:latin typeface="Lato"/>
                          <a:ea typeface="+mn-ea"/>
                        </a:rPr>
                        <a:t>Wegovy</a:t>
                      </a:r>
                      <a:r>
                        <a:rPr lang="en-US" altLang="ko-KR" sz="1200" b="1" i="0" u="none" strike="noStrike" baseline="0" dirty="0">
                          <a:solidFill>
                            <a:srgbClr val="9D1F3A"/>
                          </a:solidFill>
                          <a:effectLst/>
                          <a:latin typeface="Lato"/>
                          <a:ea typeface="+mn-ea"/>
                        </a:rPr>
                        <a:t> stands out for preserving muscle while primarily reduction fat</a:t>
                      </a:r>
                      <a:endParaRPr lang="en-US" altLang="ko-KR" sz="1200" b="1" i="0" u="none" strike="noStrike" dirty="0">
                        <a:solidFill>
                          <a:srgbClr val="9D1F3A"/>
                        </a:solidFill>
                        <a:effectLst/>
                        <a:latin typeface="Lato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2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Lato"/>
                        <a:ea typeface="+mn-ea"/>
                      </a:endParaRPr>
                    </a:p>
                  </a:txBody>
                  <a:tcPr marL="8583" marR="8583" marT="8583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3C3C3A"/>
                          </a:solidFill>
                          <a:latin typeface="Lato"/>
                        </a:rPr>
                        <a:t>Muscle Protection:</a:t>
                      </a:r>
                      <a:r>
                        <a:rPr lang="en-US" altLang="ko-KR" sz="1200" dirty="0">
                          <a:solidFill>
                            <a:srgbClr val="3C3C3A"/>
                          </a:solidFill>
                          <a:latin typeface="Lato"/>
                        </a:rPr>
                        <a:t> Weight loss mainly from fat.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3C3C3A"/>
                          </a:solidFill>
                          <a:latin typeface="Lato"/>
                        </a:rPr>
                        <a:t>Slow and Steady Loss:</a:t>
                      </a:r>
                      <a:r>
                        <a:rPr lang="en-US" altLang="ko-KR" sz="1200" dirty="0">
                          <a:solidFill>
                            <a:srgbClr val="3C3C3A"/>
                          </a:solidFill>
                          <a:latin typeface="Lato"/>
                        </a:rPr>
                        <a:t> 1–2 kg per month, maintaining stability.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3C3C3A"/>
                          </a:solidFill>
                          <a:latin typeface="Lato"/>
                        </a:rPr>
                        <a:t>Fewer side effects compared to other diet medication</a:t>
                      </a:r>
                      <a:r>
                        <a:rPr lang="en-US" altLang="ko-KR" sz="1200" baseline="0" dirty="0">
                          <a:solidFill>
                            <a:srgbClr val="3C3C3A"/>
                          </a:solidFill>
                          <a:latin typeface="Lato"/>
                        </a:rPr>
                        <a:t>.</a:t>
                      </a:r>
                      <a:endParaRPr lang="en-US" altLang="ko-KR" sz="1200" kern="0" spc="-30" dirty="0">
                        <a:ln>
                          <a:solidFill>
                            <a:srgbClr val="1E7678">
                              <a:alpha val="0"/>
                            </a:srgbClr>
                          </a:solidFill>
                        </a:ln>
                        <a:solidFill>
                          <a:srgbClr val="3C3C3A"/>
                        </a:solidFill>
                        <a:latin typeface="Lato"/>
                        <a:ea typeface="+mn-ea"/>
                      </a:endParaRPr>
                    </a:p>
                  </a:txBody>
                  <a:tcPr marL="8583" marR="8583" marT="8583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3C3C3A"/>
                          </a:solidFill>
                          <a:latin typeface="Lato" panose="020B0604020202020204"/>
                        </a:rPr>
                        <a:t>Reported issues: </a:t>
                      </a:r>
                      <a:r>
                        <a:rPr lang="en-US" altLang="ko-KR" sz="1200" dirty="0">
                          <a:solidFill>
                            <a:srgbClr val="3C3C3A"/>
                          </a:solidFill>
                          <a:latin typeface="Lato" panose="020B0604020202020204"/>
                        </a:rPr>
                        <a:t>Nausea, reduced focus, fatigue.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3C3C3A"/>
                          </a:solidFill>
                          <a:latin typeface="Lato" panose="020B0604020202020204"/>
                        </a:rPr>
                        <a:t>Positive Feedback:</a:t>
                      </a:r>
                      <a:r>
                        <a:rPr lang="en-US" altLang="ko-KR" sz="1200" dirty="0">
                          <a:solidFill>
                            <a:srgbClr val="3C3C3A"/>
                          </a:solidFill>
                          <a:latin typeface="Lato" panose="020B0604020202020204"/>
                        </a:rPr>
                        <a:t> Many patients appreciate reduced appetite and smaller meal portions.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rgbClr val="3C3C3A"/>
                        </a:solidFill>
                        <a:latin typeface="Lato" panose="020B0604020202020204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3C3C3A"/>
                          </a:solidFill>
                          <a:latin typeface="Lato" panose="020B0604020202020204"/>
                        </a:rPr>
                        <a:t>Other: After</a:t>
                      </a:r>
                      <a:r>
                        <a:rPr lang="en-US" altLang="ko-KR" sz="1200" baseline="0" dirty="0">
                          <a:solidFill>
                            <a:srgbClr val="3C3C3A"/>
                          </a:solidFill>
                          <a:latin typeface="Lato" panose="020B0604020202020204"/>
                        </a:rPr>
                        <a:t> </a:t>
                      </a:r>
                      <a:r>
                        <a:rPr lang="en-US" altLang="ko-KR" sz="1200" baseline="0" dirty="0" err="1">
                          <a:solidFill>
                            <a:srgbClr val="3C3C3A"/>
                          </a:solidFill>
                          <a:latin typeface="Lato" panose="020B0604020202020204"/>
                        </a:rPr>
                        <a:t>Wegovy</a:t>
                      </a:r>
                      <a:r>
                        <a:rPr lang="en-US" altLang="ko-KR" sz="1200" baseline="0" dirty="0">
                          <a:solidFill>
                            <a:srgbClr val="3C3C3A"/>
                          </a:solidFill>
                          <a:latin typeface="Lato" panose="020B0604020202020204"/>
                        </a:rPr>
                        <a:t> was launched in Korea in October 2024, one patient at this hospital discontinued its use due to skin rash.</a:t>
                      </a:r>
                      <a:endParaRPr lang="en-US" altLang="ko-KR" sz="1200" b="0" i="0" u="none" strike="noStrike" dirty="0">
                        <a:solidFill>
                          <a:srgbClr val="3C3C3A"/>
                        </a:solidFill>
                        <a:effectLst/>
                        <a:latin typeface="Lato"/>
                        <a:ea typeface="+mn-ea"/>
                      </a:endParaRPr>
                    </a:p>
                  </a:txBody>
                  <a:tcPr marL="8583" marR="8583" marT="8583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452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Lato" panose="020B0604020202020204" charset="0"/>
                  <a:ea typeface="에스코어 드림 6 Bold" panose="020B0703030302020204" pitchFamily="34" charset="-127"/>
                </a:rPr>
                <a:t>Direct Feedback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01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Opinion from Practicing Physicians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+mn-ea"/>
            </a:endParaRPr>
          </a:p>
        </p:txBody>
      </p:sp>
      <p:sp>
        <p:nvSpPr>
          <p:cNvPr id="9" name="사각형: 둥근 위쪽 모서리 110">
            <a:extLst>
              <a:ext uri="{FF2B5EF4-FFF2-40B4-BE49-F238E27FC236}">
                <a16:creationId xmlns:a16="http://schemas.microsoft.com/office/drawing/2014/main" id="{3C47DBCF-564B-C424-4E4D-F2A26F250C3C}"/>
              </a:ext>
            </a:extLst>
          </p:cNvPr>
          <p:cNvSpPr/>
          <p:nvPr/>
        </p:nvSpPr>
        <p:spPr>
          <a:xfrm>
            <a:off x="744738" y="2196326"/>
            <a:ext cx="5207883" cy="3338196"/>
          </a:xfrm>
          <a:prstGeom prst="round2SameRect">
            <a:avLst>
              <a:gd name="adj1" fmla="val 0"/>
              <a:gd name="adj2" fmla="val 5282"/>
            </a:avLst>
          </a:prstGeom>
          <a:solidFill>
            <a:srgbClr val="F4F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4FA6AE">
                    <a:alpha val="0"/>
                  </a:srgbClr>
                </a:solidFill>
              </a:ln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14497B-8BDE-3FE7-628A-C9AA8C104561}"/>
              </a:ext>
            </a:extLst>
          </p:cNvPr>
          <p:cNvSpPr txBox="1"/>
          <p:nvPr/>
        </p:nvSpPr>
        <p:spPr>
          <a:xfrm>
            <a:off x="1579683" y="1878094"/>
            <a:ext cx="3547145" cy="28004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ln>
                  <a:solidFill>
                    <a:srgbClr val="9E0B28">
                      <a:alpha val="0"/>
                    </a:srgbClr>
                  </a:solidFill>
                </a:ln>
                <a:solidFill>
                  <a:srgbClr val="656E7D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Lato Black" panose="020F0502020204030203" pitchFamily="34" charset="0"/>
              </a:rPr>
              <a:t>Doctor’s Perspective</a:t>
            </a:r>
            <a:endParaRPr lang="ko-KR" altLang="en-US" sz="1400" b="1" dirty="0">
              <a:ln>
                <a:solidFill>
                  <a:srgbClr val="9E0B28">
                    <a:alpha val="0"/>
                  </a:srgbClr>
                </a:solidFill>
              </a:ln>
              <a:solidFill>
                <a:srgbClr val="656E7D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  <a:cs typeface="Lato Black" panose="020F0502020204030203" pitchFamily="34" charset="0"/>
            </a:endParaRPr>
          </a:p>
        </p:txBody>
      </p:sp>
      <p:sp>
        <p:nvSpPr>
          <p:cNvPr id="12" name="자유형: 도형 99">
            <a:extLst>
              <a:ext uri="{FF2B5EF4-FFF2-40B4-BE49-F238E27FC236}">
                <a16:creationId xmlns:a16="http://schemas.microsoft.com/office/drawing/2014/main" id="{D8888880-4BF0-400E-4F28-D0141D3743DB}"/>
              </a:ext>
            </a:extLst>
          </p:cNvPr>
          <p:cNvSpPr/>
          <p:nvPr/>
        </p:nvSpPr>
        <p:spPr>
          <a:xfrm>
            <a:off x="744738" y="1803975"/>
            <a:ext cx="5207883" cy="221068"/>
          </a:xfrm>
          <a:custGeom>
            <a:avLst/>
            <a:gdLst>
              <a:gd name="connsiteX0" fmla="*/ 209296 w 4602646"/>
              <a:gd name="connsiteY0" fmla="*/ 0 h 206301"/>
              <a:gd name="connsiteX1" fmla="*/ 1276096 w 4602646"/>
              <a:gd name="connsiteY1" fmla="*/ 0 h 206301"/>
              <a:gd name="connsiteX2" fmla="*/ 1802007 w 4602646"/>
              <a:gd name="connsiteY2" fmla="*/ 0 h 206301"/>
              <a:gd name="connsiteX3" fmla="*/ 2800639 w 4602646"/>
              <a:gd name="connsiteY3" fmla="*/ 0 h 206301"/>
              <a:gd name="connsiteX4" fmla="*/ 2868807 w 4602646"/>
              <a:gd name="connsiteY4" fmla="*/ 0 h 206301"/>
              <a:gd name="connsiteX5" fmla="*/ 4393350 w 4602646"/>
              <a:gd name="connsiteY5" fmla="*/ 0 h 206301"/>
              <a:gd name="connsiteX6" fmla="*/ 4602646 w 4602646"/>
              <a:gd name="connsiteY6" fmla="*/ 206301 h 206301"/>
              <a:gd name="connsiteX7" fmla="*/ 3078103 w 4602646"/>
              <a:gd name="connsiteY7" fmla="*/ 206301 h 206301"/>
              <a:gd name="connsiteX8" fmla="*/ 2591343 w 4602646"/>
              <a:gd name="connsiteY8" fmla="*/ 206301 h 206301"/>
              <a:gd name="connsiteX9" fmla="*/ 2011303 w 4602646"/>
              <a:gd name="connsiteY9" fmla="*/ 206301 h 206301"/>
              <a:gd name="connsiteX10" fmla="*/ 1066800 w 4602646"/>
              <a:gd name="connsiteY10" fmla="*/ 206301 h 206301"/>
              <a:gd name="connsiteX11" fmla="*/ 0 w 4602646"/>
              <a:gd name="connsiteY11" fmla="*/ 206301 h 206301"/>
              <a:gd name="connsiteX12" fmla="*/ 209296 w 4602646"/>
              <a:gd name="connsiteY12" fmla="*/ 0 h 206301"/>
              <a:gd name="connsiteX0" fmla="*/ 0 w 4602646"/>
              <a:gd name="connsiteY0" fmla="*/ 206301 h 297741"/>
              <a:gd name="connsiteX1" fmla="*/ 209296 w 4602646"/>
              <a:gd name="connsiteY1" fmla="*/ 0 h 297741"/>
              <a:gd name="connsiteX2" fmla="*/ 1276096 w 4602646"/>
              <a:gd name="connsiteY2" fmla="*/ 0 h 297741"/>
              <a:gd name="connsiteX3" fmla="*/ 1802007 w 4602646"/>
              <a:gd name="connsiteY3" fmla="*/ 0 h 297741"/>
              <a:gd name="connsiteX4" fmla="*/ 2800639 w 4602646"/>
              <a:gd name="connsiteY4" fmla="*/ 0 h 297741"/>
              <a:gd name="connsiteX5" fmla="*/ 2868807 w 4602646"/>
              <a:gd name="connsiteY5" fmla="*/ 0 h 297741"/>
              <a:gd name="connsiteX6" fmla="*/ 4393350 w 4602646"/>
              <a:gd name="connsiteY6" fmla="*/ 0 h 297741"/>
              <a:gd name="connsiteX7" fmla="*/ 4602646 w 4602646"/>
              <a:gd name="connsiteY7" fmla="*/ 206301 h 297741"/>
              <a:gd name="connsiteX8" fmla="*/ 3078103 w 4602646"/>
              <a:gd name="connsiteY8" fmla="*/ 206301 h 297741"/>
              <a:gd name="connsiteX9" fmla="*/ 2591343 w 4602646"/>
              <a:gd name="connsiteY9" fmla="*/ 206301 h 297741"/>
              <a:gd name="connsiteX10" fmla="*/ 2011303 w 4602646"/>
              <a:gd name="connsiteY10" fmla="*/ 206301 h 297741"/>
              <a:gd name="connsiteX11" fmla="*/ 1066800 w 4602646"/>
              <a:gd name="connsiteY11" fmla="*/ 206301 h 297741"/>
              <a:gd name="connsiteX12" fmla="*/ 91440 w 4602646"/>
              <a:gd name="connsiteY12" fmla="*/ 297741 h 29774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1802007 w 4602646"/>
              <a:gd name="connsiteY3" fmla="*/ 0 h 206301"/>
              <a:gd name="connsiteX4" fmla="*/ 2800639 w 4602646"/>
              <a:gd name="connsiteY4" fmla="*/ 0 h 206301"/>
              <a:gd name="connsiteX5" fmla="*/ 2868807 w 4602646"/>
              <a:gd name="connsiteY5" fmla="*/ 0 h 206301"/>
              <a:gd name="connsiteX6" fmla="*/ 4393350 w 4602646"/>
              <a:gd name="connsiteY6" fmla="*/ 0 h 206301"/>
              <a:gd name="connsiteX7" fmla="*/ 4602646 w 4602646"/>
              <a:gd name="connsiteY7" fmla="*/ 206301 h 206301"/>
              <a:gd name="connsiteX8" fmla="*/ 3078103 w 4602646"/>
              <a:gd name="connsiteY8" fmla="*/ 206301 h 206301"/>
              <a:gd name="connsiteX9" fmla="*/ 2591343 w 4602646"/>
              <a:gd name="connsiteY9" fmla="*/ 206301 h 206301"/>
              <a:gd name="connsiteX10" fmla="*/ 2011303 w 4602646"/>
              <a:gd name="connsiteY10" fmla="*/ 206301 h 206301"/>
              <a:gd name="connsiteX11" fmla="*/ 1066800 w 4602646"/>
              <a:gd name="connsiteY11" fmla="*/ 206301 h 20630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1802007 w 4602646"/>
              <a:gd name="connsiteY3" fmla="*/ 0 h 206301"/>
              <a:gd name="connsiteX4" fmla="*/ 2800639 w 4602646"/>
              <a:gd name="connsiteY4" fmla="*/ 0 h 206301"/>
              <a:gd name="connsiteX5" fmla="*/ 2868807 w 4602646"/>
              <a:gd name="connsiteY5" fmla="*/ 0 h 206301"/>
              <a:gd name="connsiteX6" fmla="*/ 4393350 w 4602646"/>
              <a:gd name="connsiteY6" fmla="*/ 0 h 206301"/>
              <a:gd name="connsiteX7" fmla="*/ 4602646 w 4602646"/>
              <a:gd name="connsiteY7" fmla="*/ 206301 h 206301"/>
              <a:gd name="connsiteX8" fmla="*/ 3078103 w 4602646"/>
              <a:gd name="connsiteY8" fmla="*/ 206301 h 206301"/>
              <a:gd name="connsiteX9" fmla="*/ 2591343 w 4602646"/>
              <a:gd name="connsiteY9" fmla="*/ 206301 h 206301"/>
              <a:gd name="connsiteX10" fmla="*/ 2011303 w 4602646"/>
              <a:gd name="connsiteY10" fmla="*/ 206301 h 20630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1802007 w 4602646"/>
              <a:gd name="connsiteY3" fmla="*/ 0 h 206301"/>
              <a:gd name="connsiteX4" fmla="*/ 2800639 w 4602646"/>
              <a:gd name="connsiteY4" fmla="*/ 0 h 206301"/>
              <a:gd name="connsiteX5" fmla="*/ 2868807 w 4602646"/>
              <a:gd name="connsiteY5" fmla="*/ 0 h 206301"/>
              <a:gd name="connsiteX6" fmla="*/ 4393350 w 4602646"/>
              <a:gd name="connsiteY6" fmla="*/ 0 h 206301"/>
              <a:gd name="connsiteX7" fmla="*/ 4602646 w 4602646"/>
              <a:gd name="connsiteY7" fmla="*/ 206301 h 206301"/>
              <a:gd name="connsiteX8" fmla="*/ 3078103 w 4602646"/>
              <a:gd name="connsiteY8" fmla="*/ 206301 h 206301"/>
              <a:gd name="connsiteX9" fmla="*/ 2591343 w 4602646"/>
              <a:gd name="connsiteY9" fmla="*/ 206301 h 20630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1802007 w 4602646"/>
              <a:gd name="connsiteY3" fmla="*/ 0 h 206301"/>
              <a:gd name="connsiteX4" fmla="*/ 2800639 w 4602646"/>
              <a:gd name="connsiteY4" fmla="*/ 0 h 206301"/>
              <a:gd name="connsiteX5" fmla="*/ 2868807 w 4602646"/>
              <a:gd name="connsiteY5" fmla="*/ 0 h 206301"/>
              <a:gd name="connsiteX6" fmla="*/ 4393350 w 4602646"/>
              <a:gd name="connsiteY6" fmla="*/ 0 h 206301"/>
              <a:gd name="connsiteX7" fmla="*/ 4602646 w 4602646"/>
              <a:gd name="connsiteY7" fmla="*/ 206301 h 206301"/>
              <a:gd name="connsiteX8" fmla="*/ 3078103 w 4602646"/>
              <a:gd name="connsiteY8" fmla="*/ 206301 h 20630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1802007 w 4602646"/>
              <a:gd name="connsiteY3" fmla="*/ 0 h 206301"/>
              <a:gd name="connsiteX4" fmla="*/ 2800639 w 4602646"/>
              <a:gd name="connsiteY4" fmla="*/ 0 h 206301"/>
              <a:gd name="connsiteX5" fmla="*/ 2868807 w 4602646"/>
              <a:gd name="connsiteY5" fmla="*/ 0 h 206301"/>
              <a:gd name="connsiteX6" fmla="*/ 4393350 w 4602646"/>
              <a:gd name="connsiteY6" fmla="*/ 0 h 206301"/>
              <a:gd name="connsiteX7" fmla="*/ 4602646 w 4602646"/>
              <a:gd name="connsiteY7" fmla="*/ 206301 h 20630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1802007 w 4602646"/>
              <a:gd name="connsiteY3" fmla="*/ 0 h 206301"/>
              <a:gd name="connsiteX4" fmla="*/ 2868807 w 4602646"/>
              <a:gd name="connsiteY4" fmla="*/ 0 h 206301"/>
              <a:gd name="connsiteX5" fmla="*/ 4393350 w 4602646"/>
              <a:gd name="connsiteY5" fmla="*/ 0 h 206301"/>
              <a:gd name="connsiteX6" fmla="*/ 4602646 w 4602646"/>
              <a:gd name="connsiteY6" fmla="*/ 206301 h 206301"/>
              <a:gd name="connsiteX0" fmla="*/ 0 w 4602646"/>
              <a:gd name="connsiteY0" fmla="*/ 234876 h 234876"/>
              <a:gd name="connsiteX1" fmla="*/ 209296 w 4602646"/>
              <a:gd name="connsiteY1" fmla="*/ 28575 h 234876"/>
              <a:gd name="connsiteX2" fmla="*/ 1276096 w 4602646"/>
              <a:gd name="connsiteY2" fmla="*/ 28575 h 234876"/>
              <a:gd name="connsiteX3" fmla="*/ 1802007 w 4602646"/>
              <a:gd name="connsiteY3" fmla="*/ 28575 h 234876"/>
              <a:gd name="connsiteX4" fmla="*/ 2868807 w 4602646"/>
              <a:gd name="connsiteY4" fmla="*/ 28575 h 234876"/>
              <a:gd name="connsiteX5" fmla="*/ 2916723 w 4602646"/>
              <a:gd name="connsiteY5" fmla="*/ 0 h 234876"/>
              <a:gd name="connsiteX6" fmla="*/ 4393350 w 4602646"/>
              <a:gd name="connsiteY6" fmla="*/ 28575 h 234876"/>
              <a:gd name="connsiteX7" fmla="*/ 4602646 w 4602646"/>
              <a:gd name="connsiteY7" fmla="*/ 234876 h 234876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1802007 w 4602646"/>
              <a:gd name="connsiteY3" fmla="*/ 0 h 206301"/>
              <a:gd name="connsiteX4" fmla="*/ 2868807 w 4602646"/>
              <a:gd name="connsiteY4" fmla="*/ 0 h 206301"/>
              <a:gd name="connsiteX5" fmla="*/ 4393350 w 4602646"/>
              <a:gd name="connsiteY5" fmla="*/ 0 h 206301"/>
              <a:gd name="connsiteX6" fmla="*/ 4602646 w 4602646"/>
              <a:gd name="connsiteY6" fmla="*/ 206301 h 20630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2868807 w 4602646"/>
              <a:gd name="connsiteY3" fmla="*/ 0 h 206301"/>
              <a:gd name="connsiteX4" fmla="*/ 4393350 w 4602646"/>
              <a:gd name="connsiteY4" fmla="*/ 0 h 206301"/>
              <a:gd name="connsiteX5" fmla="*/ 4602646 w 4602646"/>
              <a:gd name="connsiteY5" fmla="*/ 206301 h 20630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4393350 w 4602646"/>
              <a:gd name="connsiteY3" fmla="*/ 0 h 206301"/>
              <a:gd name="connsiteX4" fmla="*/ 4602646 w 4602646"/>
              <a:gd name="connsiteY4" fmla="*/ 206301 h 20630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4393350 w 4602646"/>
              <a:gd name="connsiteY2" fmla="*/ 0 h 206301"/>
              <a:gd name="connsiteX3" fmla="*/ 4602646 w 4602646"/>
              <a:gd name="connsiteY3" fmla="*/ 206301 h 206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02646" h="206301">
                <a:moveTo>
                  <a:pt x="0" y="206301"/>
                </a:moveTo>
                <a:cubicBezTo>
                  <a:pt x="0" y="92364"/>
                  <a:pt x="93705" y="0"/>
                  <a:pt x="209296" y="0"/>
                </a:cubicBezTo>
                <a:lnTo>
                  <a:pt x="4393350" y="0"/>
                </a:lnTo>
                <a:cubicBezTo>
                  <a:pt x="4508941" y="0"/>
                  <a:pt x="4602646" y="92364"/>
                  <a:pt x="4602646" y="206301"/>
                </a:cubicBezTo>
              </a:path>
            </a:pathLst>
          </a:custGeom>
          <a:noFill/>
          <a:ln w="28575">
            <a:solidFill>
              <a:srgbClr val="656E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 anchorCtr="0">
            <a:noAutofit/>
          </a:bodyPr>
          <a:lstStyle/>
          <a:p>
            <a:pPr algn="ctr"/>
            <a:endParaRPr lang="ko-KR" altLang="en-US" sz="4000" dirty="0">
              <a:ln>
                <a:solidFill>
                  <a:srgbClr val="4FA6AE">
                    <a:alpha val="0"/>
                  </a:srgbClr>
                </a:solidFill>
              </a:ln>
              <a:latin typeface="에스코어 드림 5 Medium" panose="020B0503030302020204" pitchFamily="34" charset="-127"/>
              <a:ea typeface="에스코어 드림 5 Medium" panose="020B0503030302020204" pitchFamily="34" charset="-127"/>
              <a:cs typeface="맑은 고딕" panose="02000503000000020004" pitchFamily="2" charset="-127"/>
            </a:endParaRPr>
          </a:p>
        </p:txBody>
      </p:sp>
      <p:cxnSp>
        <p:nvCxnSpPr>
          <p:cNvPr id="13" name="직선 연결선 82">
            <a:extLst>
              <a:ext uri="{FF2B5EF4-FFF2-40B4-BE49-F238E27FC236}">
                <a16:creationId xmlns:a16="http://schemas.microsoft.com/office/drawing/2014/main" id="{0BFB65B4-613E-78C4-A574-49BF5A5B632A}"/>
              </a:ext>
            </a:extLst>
          </p:cNvPr>
          <p:cNvCxnSpPr>
            <a:cxnSpLocks/>
          </p:cNvCxnSpPr>
          <p:nvPr/>
        </p:nvCxnSpPr>
        <p:spPr>
          <a:xfrm>
            <a:off x="744071" y="2198278"/>
            <a:ext cx="5209217" cy="0"/>
          </a:xfrm>
          <a:prstGeom prst="line">
            <a:avLst/>
          </a:prstGeom>
          <a:ln w="6350">
            <a:solidFill>
              <a:schemeClr val="bg1">
                <a:lumMod val="7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6325" y="2384901"/>
            <a:ext cx="51266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1400" dirty="0">
                <a:latin typeface="Lato" panose="020B0604020202020204"/>
              </a:rPr>
              <a:t>Patients with </a:t>
            </a:r>
            <a:r>
              <a:rPr lang="en-US" altLang="ko-KR" sz="1400" b="1" dirty="0">
                <a:latin typeface="Lato" panose="020B0604020202020204"/>
              </a:rPr>
              <a:t>low BMI </a:t>
            </a:r>
            <a:r>
              <a:rPr lang="en-US" altLang="ko-KR" sz="1400" dirty="0">
                <a:latin typeface="Lato" panose="020B0604020202020204"/>
              </a:rPr>
              <a:t>frequently </a:t>
            </a:r>
            <a:r>
              <a:rPr lang="en-US" altLang="ko-KR" sz="1400" b="1" dirty="0">
                <a:latin typeface="Lato" panose="020B0604020202020204"/>
              </a:rPr>
              <a:t>struggle with muscle deficiency</a:t>
            </a:r>
            <a:r>
              <a:rPr lang="en-US" altLang="ko-KR" sz="1400" dirty="0">
                <a:latin typeface="Lato" panose="020B0604020202020204"/>
              </a:rPr>
              <a:t>, and </a:t>
            </a:r>
            <a:r>
              <a:rPr lang="en-US" altLang="ko-KR" sz="1400" b="1" dirty="0" err="1">
                <a:solidFill>
                  <a:srgbClr val="9D1F3A"/>
                </a:solidFill>
                <a:latin typeface="Lato" panose="020B0604020202020204"/>
              </a:rPr>
              <a:t>Wegovy</a:t>
            </a:r>
            <a:r>
              <a:rPr lang="en-US" altLang="ko-KR" sz="1400" b="1" dirty="0">
                <a:solidFill>
                  <a:srgbClr val="9D1F3A"/>
                </a:solidFill>
                <a:latin typeface="Lato" panose="020B0604020202020204"/>
              </a:rPr>
              <a:t> could be a solution</a:t>
            </a:r>
            <a:r>
              <a:rPr lang="en-US" altLang="ko-KR" sz="1400" dirty="0">
                <a:latin typeface="Lato" panose="020B0604020202020204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1400" b="1" dirty="0">
                <a:latin typeface="Lato" panose="020B0604020202020204"/>
              </a:rPr>
              <a:t>Muscle loss during dieting can lead to additional issues</a:t>
            </a:r>
            <a:r>
              <a:rPr lang="en-US" altLang="ko-KR" sz="1400" dirty="0">
                <a:latin typeface="Lato" panose="020B0604020202020204"/>
              </a:rPr>
              <a:t>, such as mental health challenges.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1400" dirty="0">
                <a:latin typeface="Lato" panose="020B0604020202020204"/>
              </a:rPr>
              <a:t>Patients with diabetes-related edema experienced </a:t>
            </a:r>
            <a:r>
              <a:rPr lang="en-US" altLang="ko-KR" sz="1400" b="1" dirty="0">
                <a:solidFill>
                  <a:srgbClr val="9D1F3A"/>
                </a:solidFill>
                <a:latin typeface="Lato" panose="020B0604020202020204"/>
              </a:rPr>
              <a:t>swelling reduction with GLP-1 treatment.</a:t>
            </a:r>
          </a:p>
        </p:txBody>
      </p:sp>
      <p:sp>
        <p:nvSpPr>
          <p:cNvPr id="16" name="사각형: 둥근 위쪽 모서리 110">
            <a:extLst>
              <a:ext uri="{FF2B5EF4-FFF2-40B4-BE49-F238E27FC236}">
                <a16:creationId xmlns:a16="http://schemas.microsoft.com/office/drawing/2014/main" id="{3C47DBCF-564B-C424-4E4D-F2A26F250C3C}"/>
              </a:ext>
            </a:extLst>
          </p:cNvPr>
          <p:cNvSpPr/>
          <p:nvPr/>
        </p:nvSpPr>
        <p:spPr>
          <a:xfrm>
            <a:off x="6398456" y="2196326"/>
            <a:ext cx="5207883" cy="3338196"/>
          </a:xfrm>
          <a:prstGeom prst="round2SameRect">
            <a:avLst>
              <a:gd name="adj1" fmla="val 0"/>
              <a:gd name="adj2" fmla="val 5282"/>
            </a:avLst>
          </a:prstGeom>
          <a:solidFill>
            <a:srgbClr val="F4F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4FA6AE">
                    <a:alpha val="0"/>
                  </a:srgbClr>
                </a:solidFill>
              </a:ln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14497B-8BDE-3FE7-628A-C9AA8C104561}"/>
              </a:ext>
            </a:extLst>
          </p:cNvPr>
          <p:cNvSpPr txBox="1"/>
          <p:nvPr/>
        </p:nvSpPr>
        <p:spPr>
          <a:xfrm>
            <a:off x="7233401" y="1878094"/>
            <a:ext cx="3547145" cy="28004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ln>
                  <a:solidFill>
                    <a:srgbClr val="9E0B28">
                      <a:alpha val="0"/>
                    </a:srgbClr>
                  </a:solidFill>
                </a:ln>
                <a:solidFill>
                  <a:srgbClr val="656E7D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Lato Black" panose="020F0502020204030203" pitchFamily="34" charset="0"/>
              </a:rPr>
              <a:t>Other Notes</a:t>
            </a:r>
            <a:endParaRPr lang="ko-KR" altLang="en-US" sz="1400" b="1" dirty="0">
              <a:ln>
                <a:solidFill>
                  <a:srgbClr val="9E0B28">
                    <a:alpha val="0"/>
                  </a:srgbClr>
                </a:solidFill>
              </a:ln>
              <a:solidFill>
                <a:srgbClr val="656E7D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  <a:cs typeface="Lato Black" panose="020F0502020204030203" pitchFamily="34" charset="0"/>
            </a:endParaRPr>
          </a:p>
        </p:txBody>
      </p:sp>
      <p:sp>
        <p:nvSpPr>
          <p:cNvPr id="18" name="자유형: 도형 99">
            <a:extLst>
              <a:ext uri="{FF2B5EF4-FFF2-40B4-BE49-F238E27FC236}">
                <a16:creationId xmlns:a16="http://schemas.microsoft.com/office/drawing/2014/main" id="{D8888880-4BF0-400E-4F28-D0141D3743DB}"/>
              </a:ext>
            </a:extLst>
          </p:cNvPr>
          <p:cNvSpPr/>
          <p:nvPr/>
        </p:nvSpPr>
        <p:spPr>
          <a:xfrm>
            <a:off x="6398456" y="1803975"/>
            <a:ext cx="5207883" cy="221068"/>
          </a:xfrm>
          <a:custGeom>
            <a:avLst/>
            <a:gdLst>
              <a:gd name="connsiteX0" fmla="*/ 209296 w 4602646"/>
              <a:gd name="connsiteY0" fmla="*/ 0 h 206301"/>
              <a:gd name="connsiteX1" fmla="*/ 1276096 w 4602646"/>
              <a:gd name="connsiteY1" fmla="*/ 0 h 206301"/>
              <a:gd name="connsiteX2" fmla="*/ 1802007 w 4602646"/>
              <a:gd name="connsiteY2" fmla="*/ 0 h 206301"/>
              <a:gd name="connsiteX3" fmla="*/ 2800639 w 4602646"/>
              <a:gd name="connsiteY3" fmla="*/ 0 h 206301"/>
              <a:gd name="connsiteX4" fmla="*/ 2868807 w 4602646"/>
              <a:gd name="connsiteY4" fmla="*/ 0 h 206301"/>
              <a:gd name="connsiteX5" fmla="*/ 4393350 w 4602646"/>
              <a:gd name="connsiteY5" fmla="*/ 0 h 206301"/>
              <a:gd name="connsiteX6" fmla="*/ 4602646 w 4602646"/>
              <a:gd name="connsiteY6" fmla="*/ 206301 h 206301"/>
              <a:gd name="connsiteX7" fmla="*/ 3078103 w 4602646"/>
              <a:gd name="connsiteY7" fmla="*/ 206301 h 206301"/>
              <a:gd name="connsiteX8" fmla="*/ 2591343 w 4602646"/>
              <a:gd name="connsiteY8" fmla="*/ 206301 h 206301"/>
              <a:gd name="connsiteX9" fmla="*/ 2011303 w 4602646"/>
              <a:gd name="connsiteY9" fmla="*/ 206301 h 206301"/>
              <a:gd name="connsiteX10" fmla="*/ 1066800 w 4602646"/>
              <a:gd name="connsiteY10" fmla="*/ 206301 h 206301"/>
              <a:gd name="connsiteX11" fmla="*/ 0 w 4602646"/>
              <a:gd name="connsiteY11" fmla="*/ 206301 h 206301"/>
              <a:gd name="connsiteX12" fmla="*/ 209296 w 4602646"/>
              <a:gd name="connsiteY12" fmla="*/ 0 h 206301"/>
              <a:gd name="connsiteX0" fmla="*/ 0 w 4602646"/>
              <a:gd name="connsiteY0" fmla="*/ 206301 h 297741"/>
              <a:gd name="connsiteX1" fmla="*/ 209296 w 4602646"/>
              <a:gd name="connsiteY1" fmla="*/ 0 h 297741"/>
              <a:gd name="connsiteX2" fmla="*/ 1276096 w 4602646"/>
              <a:gd name="connsiteY2" fmla="*/ 0 h 297741"/>
              <a:gd name="connsiteX3" fmla="*/ 1802007 w 4602646"/>
              <a:gd name="connsiteY3" fmla="*/ 0 h 297741"/>
              <a:gd name="connsiteX4" fmla="*/ 2800639 w 4602646"/>
              <a:gd name="connsiteY4" fmla="*/ 0 h 297741"/>
              <a:gd name="connsiteX5" fmla="*/ 2868807 w 4602646"/>
              <a:gd name="connsiteY5" fmla="*/ 0 h 297741"/>
              <a:gd name="connsiteX6" fmla="*/ 4393350 w 4602646"/>
              <a:gd name="connsiteY6" fmla="*/ 0 h 297741"/>
              <a:gd name="connsiteX7" fmla="*/ 4602646 w 4602646"/>
              <a:gd name="connsiteY7" fmla="*/ 206301 h 297741"/>
              <a:gd name="connsiteX8" fmla="*/ 3078103 w 4602646"/>
              <a:gd name="connsiteY8" fmla="*/ 206301 h 297741"/>
              <a:gd name="connsiteX9" fmla="*/ 2591343 w 4602646"/>
              <a:gd name="connsiteY9" fmla="*/ 206301 h 297741"/>
              <a:gd name="connsiteX10" fmla="*/ 2011303 w 4602646"/>
              <a:gd name="connsiteY10" fmla="*/ 206301 h 297741"/>
              <a:gd name="connsiteX11" fmla="*/ 1066800 w 4602646"/>
              <a:gd name="connsiteY11" fmla="*/ 206301 h 297741"/>
              <a:gd name="connsiteX12" fmla="*/ 91440 w 4602646"/>
              <a:gd name="connsiteY12" fmla="*/ 297741 h 29774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1802007 w 4602646"/>
              <a:gd name="connsiteY3" fmla="*/ 0 h 206301"/>
              <a:gd name="connsiteX4" fmla="*/ 2800639 w 4602646"/>
              <a:gd name="connsiteY4" fmla="*/ 0 h 206301"/>
              <a:gd name="connsiteX5" fmla="*/ 2868807 w 4602646"/>
              <a:gd name="connsiteY5" fmla="*/ 0 h 206301"/>
              <a:gd name="connsiteX6" fmla="*/ 4393350 w 4602646"/>
              <a:gd name="connsiteY6" fmla="*/ 0 h 206301"/>
              <a:gd name="connsiteX7" fmla="*/ 4602646 w 4602646"/>
              <a:gd name="connsiteY7" fmla="*/ 206301 h 206301"/>
              <a:gd name="connsiteX8" fmla="*/ 3078103 w 4602646"/>
              <a:gd name="connsiteY8" fmla="*/ 206301 h 206301"/>
              <a:gd name="connsiteX9" fmla="*/ 2591343 w 4602646"/>
              <a:gd name="connsiteY9" fmla="*/ 206301 h 206301"/>
              <a:gd name="connsiteX10" fmla="*/ 2011303 w 4602646"/>
              <a:gd name="connsiteY10" fmla="*/ 206301 h 206301"/>
              <a:gd name="connsiteX11" fmla="*/ 1066800 w 4602646"/>
              <a:gd name="connsiteY11" fmla="*/ 206301 h 20630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1802007 w 4602646"/>
              <a:gd name="connsiteY3" fmla="*/ 0 h 206301"/>
              <a:gd name="connsiteX4" fmla="*/ 2800639 w 4602646"/>
              <a:gd name="connsiteY4" fmla="*/ 0 h 206301"/>
              <a:gd name="connsiteX5" fmla="*/ 2868807 w 4602646"/>
              <a:gd name="connsiteY5" fmla="*/ 0 h 206301"/>
              <a:gd name="connsiteX6" fmla="*/ 4393350 w 4602646"/>
              <a:gd name="connsiteY6" fmla="*/ 0 h 206301"/>
              <a:gd name="connsiteX7" fmla="*/ 4602646 w 4602646"/>
              <a:gd name="connsiteY7" fmla="*/ 206301 h 206301"/>
              <a:gd name="connsiteX8" fmla="*/ 3078103 w 4602646"/>
              <a:gd name="connsiteY8" fmla="*/ 206301 h 206301"/>
              <a:gd name="connsiteX9" fmla="*/ 2591343 w 4602646"/>
              <a:gd name="connsiteY9" fmla="*/ 206301 h 206301"/>
              <a:gd name="connsiteX10" fmla="*/ 2011303 w 4602646"/>
              <a:gd name="connsiteY10" fmla="*/ 206301 h 20630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1802007 w 4602646"/>
              <a:gd name="connsiteY3" fmla="*/ 0 h 206301"/>
              <a:gd name="connsiteX4" fmla="*/ 2800639 w 4602646"/>
              <a:gd name="connsiteY4" fmla="*/ 0 h 206301"/>
              <a:gd name="connsiteX5" fmla="*/ 2868807 w 4602646"/>
              <a:gd name="connsiteY5" fmla="*/ 0 h 206301"/>
              <a:gd name="connsiteX6" fmla="*/ 4393350 w 4602646"/>
              <a:gd name="connsiteY6" fmla="*/ 0 h 206301"/>
              <a:gd name="connsiteX7" fmla="*/ 4602646 w 4602646"/>
              <a:gd name="connsiteY7" fmla="*/ 206301 h 206301"/>
              <a:gd name="connsiteX8" fmla="*/ 3078103 w 4602646"/>
              <a:gd name="connsiteY8" fmla="*/ 206301 h 206301"/>
              <a:gd name="connsiteX9" fmla="*/ 2591343 w 4602646"/>
              <a:gd name="connsiteY9" fmla="*/ 206301 h 20630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1802007 w 4602646"/>
              <a:gd name="connsiteY3" fmla="*/ 0 h 206301"/>
              <a:gd name="connsiteX4" fmla="*/ 2800639 w 4602646"/>
              <a:gd name="connsiteY4" fmla="*/ 0 h 206301"/>
              <a:gd name="connsiteX5" fmla="*/ 2868807 w 4602646"/>
              <a:gd name="connsiteY5" fmla="*/ 0 h 206301"/>
              <a:gd name="connsiteX6" fmla="*/ 4393350 w 4602646"/>
              <a:gd name="connsiteY6" fmla="*/ 0 h 206301"/>
              <a:gd name="connsiteX7" fmla="*/ 4602646 w 4602646"/>
              <a:gd name="connsiteY7" fmla="*/ 206301 h 206301"/>
              <a:gd name="connsiteX8" fmla="*/ 3078103 w 4602646"/>
              <a:gd name="connsiteY8" fmla="*/ 206301 h 20630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1802007 w 4602646"/>
              <a:gd name="connsiteY3" fmla="*/ 0 h 206301"/>
              <a:gd name="connsiteX4" fmla="*/ 2800639 w 4602646"/>
              <a:gd name="connsiteY4" fmla="*/ 0 h 206301"/>
              <a:gd name="connsiteX5" fmla="*/ 2868807 w 4602646"/>
              <a:gd name="connsiteY5" fmla="*/ 0 h 206301"/>
              <a:gd name="connsiteX6" fmla="*/ 4393350 w 4602646"/>
              <a:gd name="connsiteY6" fmla="*/ 0 h 206301"/>
              <a:gd name="connsiteX7" fmla="*/ 4602646 w 4602646"/>
              <a:gd name="connsiteY7" fmla="*/ 206301 h 20630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1802007 w 4602646"/>
              <a:gd name="connsiteY3" fmla="*/ 0 h 206301"/>
              <a:gd name="connsiteX4" fmla="*/ 2868807 w 4602646"/>
              <a:gd name="connsiteY4" fmla="*/ 0 h 206301"/>
              <a:gd name="connsiteX5" fmla="*/ 4393350 w 4602646"/>
              <a:gd name="connsiteY5" fmla="*/ 0 h 206301"/>
              <a:gd name="connsiteX6" fmla="*/ 4602646 w 4602646"/>
              <a:gd name="connsiteY6" fmla="*/ 206301 h 206301"/>
              <a:gd name="connsiteX0" fmla="*/ 0 w 4602646"/>
              <a:gd name="connsiteY0" fmla="*/ 234876 h 234876"/>
              <a:gd name="connsiteX1" fmla="*/ 209296 w 4602646"/>
              <a:gd name="connsiteY1" fmla="*/ 28575 h 234876"/>
              <a:gd name="connsiteX2" fmla="*/ 1276096 w 4602646"/>
              <a:gd name="connsiteY2" fmla="*/ 28575 h 234876"/>
              <a:gd name="connsiteX3" fmla="*/ 1802007 w 4602646"/>
              <a:gd name="connsiteY3" fmla="*/ 28575 h 234876"/>
              <a:gd name="connsiteX4" fmla="*/ 2868807 w 4602646"/>
              <a:gd name="connsiteY4" fmla="*/ 28575 h 234876"/>
              <a:gd name="connsiteX5" fmla="*/ 2916723 w 4602646"/>
              <a:gd name="connsiteY5" fmla="*/ 0 h 234876"/>
              <a:gd name="connsiteX6" fmla="*/ 4393350 w 4602646"/>
              <a:gd name="connsiteY6" fmla="*/ 28575 h 234876"/>
              <a:gd name="connsiteX7" fmla="*/ 4602646 w 4602646"/>
              <a:gd name="connsiteY7" fmla="*/ 234876 h 234876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1802007 w 4602646"/>
              <a:gd name="connsiteY3" fmla="*/ 0 h 206301"/>
              <a:gd name="connsiteX4" fmla="*/ 2868807 w 4602646"/>
              <a:gd name="connsiteY4" fmla="*/ 0 h 206301"/>
              <a:gd name="connsiteX5" fmla="*/ 4393350 w 4602646"/>
              <a:gd name="connsiteY5" fmla="*/ 0 h 206301"/>
              <a:gd name="connsiteX6" fmla="*/ 4602646 w 4602646"/>
              <a:gd name="connsiteY6" fmla="*/ 206301 h 20630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2868807 w 4602646"/>
              <a:gd name="connsiteY3" fmla="*/ 0 h 206301"/>
              <a:gd name="connsiteX4" fmla="*/ 4393350 w 4602646"/>
              <a:gd name="connsiteY4" fmla="*/ 0 h 206301"/>
              <a:gd name="connsiteX5" fmla="*/ 4602646 w 4602646"/>
              <a:gd name="connsiteY5" fmla="*/ 206301 h 20630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1276096 w 4602646"/>
              <a:gd name="connsiteY2" fmla="*/ 0 h 206301"/>
              <a:gd name="connsiteX3" fmla="*/ 4393350 w 4602646"/>
              <a:gd name="connsiteY3" fmla="*/ 0 h 206301"/>
              <a:gd name="connsiteX4" fmla="*/ 4602646 w 4602646"/>
              <a:gd name="connsiteY4" fmla="*/ 206301 h 206301"/>
              <a:gd name="connsiteX0" fmla="*/ 0 w 4602646"/>
              <a:gd name="connsiteY0" fmla="*/ 206301 h 206301"/>
              <a:gd name="connsiteX1" fmla="*/ 209296 w 4602646"/>
              <a:gd name="connsiteY1" fmla="*/ 0 h 206301"/>
              <a:gd name="connsiteX2" fmla="*/ 4393350 w 4602646"/>
              <a:gd name="connsiteY2" fmla="*/ 0 h 206301"/>
              <a:gd name="connsiteX3" fmla="*/ 4602646 w 4602646"/>
              <a:gd name="connsiteY3" fmla="*/ 206301 h 206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02646" h="206301">
                <a:moveTo>
                  <a:pt x="0" y="206301"/>
                </a:moveTo>
                <a:cubicBezTo>
                  <a:pt x="0" y="92364"/>
                  <a:pt x="93705" y="0"/>
                  <a:pt x="209296" y="0"/>
                </a:cubicBezTo>
                <a:lnTo>
                  <a:pt x="4393350" y="0"/>
                </a:lnTo>
                <a:cubicBezTo>
                  <a:pt x="4508941" y="0"/>
                  <a:pt x="4602646" y="92364"/>
                  <a:pt x="4602646" y="206301"/>
                </a:cubicBezTo>
              </a:path>
            </a:pathLst>
          </a:custGeom>
          <a:noFill/>
          <a:ln w="28575">
            <a:solidFill>
              <a:srgbClr val="656E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 anchorCtr="0">
            <a:noAutofit/>
          </a:bodyPr>
          <a:lstStyle/>
          <a:p>
            <a:pPr algn="ctr"/>
            <a:endParaRPr lang="ko-KR" altLang="en-US" sz="4000" dirty="0">
              <a:ln>
                <a:solidFill>
                  <a:srgbClr val="4FA6AE">
                    <a:alpha val="0"/>
                  </a:srgbClr>
                </a:solidFill>
              </a:ln>
              <a:latin typeface="에스코어 드림 5 Medium" panose="020B0503030302020204" pitchFamily="34" charset="-127"/>
              <a:ea typeface="에스코어 드림 5 Medium" panose="020B0503030302020204" pitchFamily="34" charset="-127"/>
              <a:cs typeface="맑은 고딕" panose="02000503000000020004" pitchFamily="2" charset="-127"/>
            </a:endParaRPr>
          </a:p>
        </p:txBody>
      </p:sp>
      <p:cxnSp>
        <p:nvCxnSpPr>
          <p:cNvPr id="19" name="직선 연결선 82">
            <a:extLst>
              <a:ext uri="{FF2B5EF4-FFF2-40B4-BE49-F238E27FC236}">
                <a16:creationId xmlns:a16="http://schemas.microsoft.com/office/drawing/2014/main" id="{0BFB65B4-613E-78C4-A574-49BF5A5B632A}"/>
              </a:ext>
            </a:extLst>
          </p:cNvPr>
          <p:cNvCxnSpPr>
            <a:cxnSpLocks/>
          </p:cNvCxnSpPr>
          <p:nvPr/>
        </p:nvCxnSpPr>
        <p:spPr>
          <a:xfrm>
            <a:off x="6397789" y="2198278"/>
            <a:ext cx="5209217" cy="0"/>
          </a:xfrm>
          <a:prstGeom prst="line">
            <a:avLst/>
          </a:prstGeom>
          <a:ln w="6350">
            <a:solidFill>
              <a:schemeClr val="bg1">
                <a:lumMod val="7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69779" y="2384901"/>
            <a:ext cx="48652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400" dirty="0">
                <a:latin typeface="Lato" panose="020B0604020202020204"/>
              </a:rPr>
              <a:t>→ </a:t>
            </a:r>
            <a:r>
              <a:rPr lang="en-US" altLang="ko-KR" sz="1400" b="1" dirty="0">
                <a:latin typeface="Lato" panose="020B0604020202020204"/>
              </a:rPr>
              <a:t>Some </a:t>
            </a:r>
            <a:r>
              <a:rPr lang="en-US" altLang="ko-KR" sz="1400" b="1" dirty="0" err="1">
                <a:latin typeface="Lato" panose="020B0604020202020204"/>
              </a:rPr>
              <a:t>Saxenda</a:t>
            </a:r>
            <a:r>
              <a:rPr lang="en-US" altLang="ko-KR" sz="1400" b="1" dirty="0">
                <a:latin typeface="Lato" panose="020B0604020202020204"/>
              </a:rPr>
              <a:t> users </a:t>
            </a:r>
            <a:r>
              <a:rPr lang="en-US" altLang="ko-KR" sz="1400" dirty="0">
                <a:latin typeface="Lato" panose="020B0604020202020204"/>
              </a:rPr>
              <a:t>are reluctant to switch to </a:t>
            </a:r>
            <a:r>
              <a:rPr lang="en-US" altLang="ko-KR" sz="1400" dirty="0" err="1">
                <a:latin typeface="Lato" panose="020B0604020202020204"/>
              </a:rPr>
              <a:t>Wegovy</a:t>
            </a:r>
            <a:r>
              <a:rPr lang="en-US" altLang="ko-KR" sz="1400" dirty="0">
                <a:latin typeface="Lato" panose="020B0604020202020204"/>
              </a:rPr>
              <a:t>.</a:t>
            </a:r>
            <a:br>
              <a:rPr lang="en-US" altLang="ko-KR" sz="1400" dirty="0">
                <a:latin typeface="Lato" panose="020B0604020202020204"/>
              </a:rPr>
            </a:br>
            <a:endParaRPr lang="en-US" altLang="ko-KR" sz="1400" dirty="0">
              <a:latin typeface="Lato" panose="020B0604020202020204"/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>
                <a:latin typeface="Lato" panose="020B0604020202020204"/>
              </a:rPr>
              <a:t>→ </a:t>
            </a:r>
            <a:r>
              <a:rPr lang="en-US" altLang="ko-KR" sz="1400" dirty="0">
                <a:latin typeface="Lato" panose="020B0604020202020204"/>
              </a:rPr>
              <a:t>Patients with low phase angle and skin rash discontinued </a:t>
            </a:r>
            <a:r>
              <a:rPr lang="en-US" altLang="ko-KR" sz="1400" dirty="0" err="1">
                <a:latin typeface="Lato" panose="020B0604020202020204"/>
              </a:rPr>
              <a:t>Wegovy</a:t>
            </a:r>
            <a:r>
              <a:rPr lang="en-US" altLang="ko-KR" sz="1400" dirty="0">
                <a:latin typeface="Lato" panose="020B0604020202020204"/>
              </a:rPr>
              <a:t>. </a:t>
            </a:r>
            <a:r>
              <a:rPr lang="en-US" altLang="ko-KR" sz="1400" b="1" dirty="0">
                <a:latin typeface="Lato" panose="020B0604020202020204"/>
              </a:rPr>
              <a:t>Further research and continuous monitoring of the correlation between </a:t>
            </a:r>
            <a:r>
              <a:rPr lang="en-US" altLang="ko-KR" sz="1400" b="1" dirty="0" err="1">
                <a:latin typeface="Lato" panose="020B0604020202020204"/>
              </a:rPr>
              <a:t>Wegovy</a:t>
            </a:r>
            <a:r>
              <a:rPr lang="en-US" altLang="ko-KR" sz="1400" b="1" dirty="0">
                <a:latin typeface="Lato" panose="020B0604020202020204"/>
              </a:rPr>
              <a:t> and phase angle are needed.</a:t>
            </a:r>
          </a:p>
        </p:txBody>
      </p:sp>
    </p:spTree>
    <p:extLst>
      <p:ext uri="{BB962C8B-B14F-4D97-AF65-F5344CB8AC3E}">
        <p14:creationId xmlns:p14="http://schemas.microsoft.com/office/powerpoint/2010/main" val="1735371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Lato" panose="020B0604020202020204" charset="0"/>
                  <a:ea typeface="에스코어 드림 6 Bold" panose="020B0703030302020204" pitchFamily="34" charset="-127"/>
                </a:rPr>
                <a:t>Summary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02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Doctor’s Feedback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+mn-ea"/>
            </a:endParaRPr>
          </a:p>
        </p:txBody>
      </p:sp>
      <p:graphicFrame>
        <p:nvGraphicFramePr>
          <p:cNvPr id="7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9650104"/>
              </p:ext>
            </p:extLst>
          </p:nvPr>
        </p:nvGraphicFramePr>
        <p:xfrm>
          <a:off x="1307736" y="1879600"/>
          <a:ext cx="9329784" cy="3680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268">
                  <a:extLst>
                    <a:ext uri="{9D8B030D-6E8A-4147-A177-3AD203B41FA5}">
                      <a16:colId xmlns:a16="http://schemas.microsoft.com/office/drawing/2014/main" val="637266212"/>
                    </a:ext>
                  </a:extLst>
                </a:gridCol>
                <a:gridCol w="6710516">
                  <a:extLst>
                    <a:ext uri="{9D8B030D-6E8A-4147-A177-3AD203B41FA5}">
                      <a16:colId xmlns:a16="http://schemas.microsoft.com/office/drawing/2014/main" val="2608900680"/>
                    </a:ext>
                  </a:extLst>
                </a:gridCol>
              </a:tblGrid>
              <a:tr h="2155863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</a:pPr>
                      <a:r>
                        <a:rPr lang="ko-KR" alt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Lato" panose="020B0604020202020204" charset="0"/>
                          <a:ea typeface="+mn-ea"/>
                        </a:rPr>
                        <a:t>▲</a:t>
                      </a:r>
                      <a:r>
                        <a:rPr lang="en-US" altLang="ko-KR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Lato" panose="020B0604020202020204" charset="0"/>
                          <a:ea typeface="+mn-ea"/>
                        </a:rPr>
                        <a:t>Advantages</a:t>
                      </a:r>
                      <a:endParaRPr lang="ko-KR" alt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Lato" panose="020B0604020202020204" charset="0"/>
                        <a:ea typeface="+mn-ea"/>
                      </a:endParaRPr>
                    </a:p>
                  </a:txBody>
                  <a:tcPr marL="8583" marR="8583" marT="8583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ctr" fontAlgn="ctr">
                        <a:lnSpc>
                          <a:spcPct val="2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200" b="1" dirty="0">
                          <a:solidFill>
                            <a:srgbClr val="9D1F3A"/>
                          </a:solidFill>
                          <a:latin typeface="Lato" panose="020B0604020202020204" charset="0"/>
                        </a:rPr>
                        <a:t>Effective</a:t>
                      </a:r>
                      <a:r>
                        <a:rPr lang="en-US" altLang="ko-KR" sz="1200" b="0" dirty="0">
                          <a:solidFill>
                            <a:srgbClr val="3C3C3A"/>
                          </a:solidFill>
                          <a:latin typeface="Lato" panose="020B0604020202020204" charset="0"/>
                        </a:rPr>
                        <a:t> even for patients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Lato" panose="020B0604020202020204" charset="0"/>
                        </a:rPr>
                        <a:t>who have failed with other weight loss medications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Lato" panose="020B0604020202020204" charset="0"/>
                        </a:rPr>
                        <a:t>.</a:t>
                      </a:r>
                    </a:p>
                    <a:p>
                      <a:pPr marL="171450" indent="-171450" algn="ctr" fontAlgn="ctr">
                        <a:lnSpc>
                          <a:spcPct val="2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200" b="1" dirty="0">
                          <a:solidFill>
                            <a:srgbClr val="9D1F3A"/>
                          </a:solidFill>
                          <a:latin typeface="Lato" panose="020B0604020202020204" charset="0"/>
                        </a:rPr>
                        <a:t>Preserves muscle mass </a:t>
                      </a:r>
                      <a:r>
                        <a:rPr lang="en-US" altLang="ko-KR" sz="1200" b="0" dirty="0">
                          <a:solidFill>
                            <a:srgbClr val="3C3C3A"/>
                          </a:solidFill>
                          <a:latin typeface="Lato" panose="020B0604020202020204" charset="0"/>
                        </a:rPr>
                        <a:t>while steadily reducing fat compared to other medication.</a:t>
                      </a:r>
                    </a:p>
                    <a:p>
                      <a:pPr marL="171450" indent="-171450" algn="ctr" fontAlgn="ctr">
                        <a:lnSpc>
                          <a:spcPct val="2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200" b="1" dirty="0">
                          <a:solidFill>
                            <a:srgbClr val="9D1F3A"/>
                          </a:solidFill>
                          <a:latin typeface="Lato" panose="020B0604020202020204" charset="0"/>
                        </a:rPr>
                        <a:t>Minimal impact </a:t>
                      </a:r>
                      <a:r>
                        <a:rPr lang="en-US" altLang="ko-KR" sz="1200" b="0" dirty="0">
                          <a:solidFill>
                            <a:srgbClr val="3C3C3A"/>
                          </a:solidFill>
                          <a:latin typeface="Lato" panose="020B0604020202020204" charset="0"/>
                        </a:rPr>
                        <a:t>on patients' quality of life.</a:t>
                      </a:r>
                    </a:p>
                    <a:p>
                      <a:pPr marL="171450" indent="-171450" algn="ctr" fontAlgn="ctr">
                        <a:lnSpc>
                          <a:spcPct val="2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200" b="1" dirty="0">
                          <a:solidFill>
                            <a:srgbClr val="9D1F3A"/>
                          </a:solidFill>
                          <a:latin typeface="Lato" panose="020B0604020202020204" charset="0"/>
                        </a:rPr>
                        <a:t>Consistent weight loss </a:t>
                      </a:r>
                      <a:r>
                        <a:rPr lang="en-US" altLang="ko-KR" sz="1200" b="0" dirty="0">
                          <a:solidFill>
                            <a:srgbClr val="3C3C3A"/>
                          </a:solidFill>
                          <a:latin typeface="Lato" panose="020B0604020202020204" charset="0"/>
                        </a:rPr>
                        <a:t>without plateaus.</a:t>
                      </a:r>
                      <a:endParaRPr lang="en-US" altLang="ko-KR" sz="1200" b="0" i="0" u="none" strike="noStrike" dirty="0">
                        <a:solidFill>
                          <a:srgbClr val="3C3C3A"/>
                        </a:solidFill>
                        <a:effectLst/>
                        <a:latin typeface="Lato" panose="020B0604020202020204" charset="0"/>
                        <a:ea typeface="+mn-ea"/>
                      </a:endParaRPr>
                    </a:p>
                  </a:txBody>
                  <a:tcPr marL="8583" marR="8583" marT="8583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971871"/>
                  </a:ext>
                </a:extLst>
              </a:tr>
              <a:tr h="1524533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</a:pPr>
                      <a:r>
                        <a:rPr lang="ko-KR" alt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Lato" panose="020B0604020202020204" charset="0"/>
                          <a:ea typeface="+mn-ea"/>
                        </a:rPr>
                        <a:t>▽</a:t>
                      </a:r>
                      <a:r>
                        <a:rPr lang="en-US" altLang="ko-KR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Lato" panose="020B0604020202020204" charset="0"/>
                          <a:ea typeface="+mn-ea"/>
                        </a:rPr>
                        <a:t>Disadvantages</a:t>
                      </a:r>
                      <a:endParaRPr lang="ko-KR" alt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Lato" panose="020B0604020202020204" charset="0"/>
                        <a:ea typeface="+mn-ea"/>
                      </a:endParaRPr>
                    </a:p>
                  </a:txBody>
                  <a:tcPr marL="8583" marR="8583" marT="8583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ctr" fontAlgn="ctr">
                        <a:lnSpc>
                          <a:spcPct val="2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200" dirty="0">
                          <a:solidFill>
                            <a:srgbClr val="3C3C3A"/>
                          </a:solidFill>
                          <a:latin typeface="Lato" panose="020B0604020202020204" charset="0"/>
                        </a:rPr>
                        <a:t>Patients </a:t>
                      </a:r>
                      <a:r>
                        <a:rPr lang="en-US" altLang="ko-KR" sz="1200" b="1" dirty="0">
                          <a:solidFill>
                            <a:srgbClr val="9D1F3A"/>
                          </a:solidFill>
                          <a:latin typeface="Lato" panose="020B0604020202020204" charset="0"/>
                        </a:rPr>
                        <a:t>may feel dissatisfied </a:t>
                      </a:r>
                      <a:r>
                        <a:rPr lang="en-US" altLang="ko-KR" sz="1200" dirty="0">
                          <a:solidFill>
                            <a:srgbClr val="3C3C3A"/>
                          </a:solidFill>
                          <a:latin typeface="Lato" panose="020B0604020202020204" charset="0"/>
                        </a:rPr>
                        <a:t>due to smaller weight loss relative to the cost.</a:t>
                      </a:r>
                    </a:p>
                    <a:p>
                      <a:pPr marL="171450" indent="-171450" algn="ctr" fontAlgn="ctr">
                        <a:lnSpc>
                          <a:spcPct val="2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200" dirty="0">
                          <a:solidFill>
                            <a:srgbClr val="3C3C3A"/>
                          </a:solidFill>
                          <a:latin typeface="Lato" panose="020B0604020202020204" charset="0"/>
                        </a:rPr>
                        <a:t>Potential for side effects, though no major cases have been reported yet.</a:t>
                      </a:r>
                      <a:endParaRPr lang="en-US" altLang="ko-KR" sz="1200" b="0" i="0" u="none" strike="noStrike" baseline="0" dirty="0">
                        <a:solidFill>
                          <a:srgbClr val="3C3C3A"/>
                        </a:solidFill>
                        <a:effectLst/>
                        <a:latin typeface="Lato" panose="020B0604020202020204" charset="0"/>
                        <a:ea typeface="+mn-ea"/>
                      </a:endParaRPr>
                    </a:p>
                  </a:txBody>
                  <a:tcPr marL="8583" marR="8583" marT="8583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185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905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>
            <a:extLst>
              <a:ext uri="{FF2B5EF4-FFF2-40B4-BE49-F238E27FC236}">
                <a16:creationId xmlns:a16="http://schemas.microsoft.com/office/drawing/2014/main" id="{023B7D84-C781-4E4D-BF70-03C8211A7D57}"/>
              </a:ext>
            </a:extLst>
          </p:cNvPr>
          <p:cNvGrpSpPr/>
          <p:nvPr/>
        </p:nvGrpSpPr>
        <p:grpSpPr>
          <a:xfrm>
            <a:off x="331487" y="523998"/>
            <a:ext cx="5764512" cy="480915"/>
            <a:chOff x="379112" y="671515"/>
            <a:chExt cx="5764512" cy="48091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995D38-B8C8-9940-85B6-4B9262D2B544}"/>
                </a:ext>
              </a:extLst>
            </p:cNvPr>
            <p:cNvSpPr txBox="1"/>
            <p:nvPr/>
          </p:nvSpPr>
          <p:spPr>
            <a:xfrm>
              <a:off x="859133" y="690765"/>
              <a:ext cx="52844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b="1" spc="-30" dirty="0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Lato" panose="020B0604020202020204" charset="0"/>
                  <a:ea typeface="에스코어 드림 6 Bold" panose="020B0703030302020204" pitchFamily="34" charset="-127"/>
                </a:rPr>
                <a:t>Benefits of </a:t>
              </a:r>
              <a:r>
                <a:rPr kumimoji="1" lang="en-US" altLang="ko-KR" sz="2400" b="1" spc="-30" dirty="0" err="1">
                  <a:ln>
                    <a:solidFill>
                      <a:srgbClr val="7E8080">
                        <a:alpha val="0"/>
                      </a:srgbClr>
                    </a:solidFill>
                  </a:ln>
                  <a:solidFill>
                    <a:srgbClr val="3C3C3A"/>
                  </a:solidFill>
                  <a:latin typeface="Lato" panose="020B0604020202020204" charset="0"/>
                  <a:ea typeface="에스코어 드림 6 Bold" panose="020B0703030302020204" pitchFamily="34" charset="-127"/>
                </a:rPr>
                <a:t>InBody</a:t>
              </a:r>
              <a:endParaRPr kumimoji="1" lang="en-US" altLang="ko-KR" sz="2400" b="1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3C3C3A"/>
                </a:solidFill>
                <a:latin typeface="Lato" panose="020B0604020202020204" charset="0"/>
                <a:ea typeface="에스코어 드림 6 Bold" panose="020B0703030302020204" pitchFamily="34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46B30-E467-5F45-BC8C-BF78453D3165}"/>
                </a:ext>
              </a:extLst>
            </p:cNvPr>
            <p:cNvSpPr txBox="1"/>
            <p:nvPr/>
          </p:nvSpPr>
          <p:spPr>
            <a:xfrm>
              <a:off x="379112" y="671515"/>
              <a:ext cx="7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9E0B28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03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에스코어 드림 4 Regular" panose="020B05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F3BC423-D5C2-CF4D-9FA4-B9274E19C590}"/>
              </a:ext>
            </a:extLst>
          </p:cNvPr>
          <p:cNvSpPr txBox="1"/>
          <p:nvPr/>
        </p:nvSpPr>
        <p:spPr>
          <a:xfrm>
            <a:off x="825991" y="985663"/>
            <a:ext cx="527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What are the Benefits of using </a:t>
            </a:r>
            <a:r>
              <a:rPr kumimoji="1" lang="en-US" altLang="ko-KR" sz="1600" spc="-30" dirty="0" err="1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InBody</a:t>
            </a:r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656E7D"/>
                </a:solidFill>
                <a:latin typeface="+mn-ea"/>
                <a:ea typeface="에스코어 드림 5 Medium" panose="020B0503030302020204" pitchFamily="34" charset="-127"/>
              </a:rPr>
              <a:t>?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656E7D"/>
              </a:solidFill>
              <a:latin typeface="+mn-ea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90FDB00-5D2A-E61A-CA42-01FFDB177212}"/>
              </a:ext>
            </a:extLst>
          </p:cNvPr>
          <p:cNvSpPr/>
          <p:nvPr/>
        </p:nvSpPr>
        <p:spPr>
          <a:xfrm>
            <a:off x="736509" y="1724066"/>
            <a:ext cx="3044809" cy="430352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1600" dirty="0">
              <a:ln>
                <a:solidFill>
                  <a:srgbClr val="1E7678"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084274-60F1-EEC2-26E1-4298A45D1AC6}"/>
              </a:ext>
            </a:extLst>
          </p:cNvPr>
          <p:cNvSpPr txBox="1"/>
          <p:nvPr/>
        </p:nvSpPr>
        <p:spPr>
          <a:xfrm>
            <a:off x="886196" y="4108398"/>
            <a:ext cx="2745436" cy="1113821"/>
          </a:xfrm>
          <a:prstGeom prst="rect">
            <a:avLst/>
          </a:prstGeom>
          <a:noFill/>
        </p:spPr>
        <p:txBody>
          <a:bodyPr wrap="square" rIns="0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100" b="1" dirty="0">
                <a:solidFill>
                  <a:srgbClr val="9D1F3A"/>
                </a:solidFill>
                <a:latin typeface="Lato"/>
              </a:rPr>
              <a:t>Ensures patient retention</a:t>
            </a:r>
            <a:r>
              <a:rPr lang="en-US" altLang="ko-KR" sz="1100" dirty="0">
                <a:solidFill>
                  <a:srgbClr val="9D1F3A"/>
                </a:solidFill>
                <a:latin typeface="Lato"/>
              </a:rPr>
              <a:t> </a:t>
            </a:r>
            <a:r>
              <a:rPr lang="en-US" altLang="ko-KR" sz="1100" dirty="0">
                <a:latin typeface="Lato"/>
              </a:rPr>
              <a:t>with reliable data </a:t>
            </a:r>
            <a:r>
              <a:rPr lang="en-US" altLang="ko-KR" sz="1100" b="1" dirty="0">
                <a:latin typeface="Lato"/>
              </a:rPr>
              <a:t>for long-term GLP-1 monitoring.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BAB0C0-EDF1-7FAA-4475-E4FE45CFE68A}"/>
              </a:ext>
            </a:extLst>
          </p:cNvPr>
          <p:cNvSpPr txBox="1"/>
          <p:nvPr/>
        </p:nvSpPr>
        <p:spPr>
          <a:xfrm>
            <a:off x="645628" y="5264865"/>
            <a:ext cx="3226567" cy="756094"/>
          </a:xfrm>
          <a:prstGeom prst="rect">
            <a:avLst/>
          </a:prstGeom>
          <a:solidFill>
            <a:srgbClr val="9097A7"/>
          </a:solidFill>
        </p:spPr>
        <p:txBody>
          <a:bodyPr wrap="square" lIns="180000" tIns="0" bIns="0" rtlCol="0" anchor="ctr" anchorCtr="0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en-US" sz="1200" b="1" dirty="0">
                <a:ln>
                  <a:solidFill>
                    <a:srgbClr val="1E7678">
                      <a:alpha val="0"/>
                    </a:srgbClr>
                  </a:solidFill>
                </a:ln>
                <a:solidFill>
                  <a:schemeClr val="bg1"/>
                </a:solidFill>
                <a:latin typeface="Lato" panose="020B0604020202020204" charset="0"/>
                <a:ea typeface="에스코어 드림 6 Bold" panose="020B0703030302020204" pitchFamily="34" charset="-127"/>
              </a:rPr>
              <a:t>Supports Patients </a:t>
            </a:r>
          </a:p>
          <a:p>
            <a:pPr algn="ctr">
              <a:spcBef>
                <a:spcPts val="500"/>
              </a:spcBef>
            </a:pPr>
            <a:r>
              <a:rPr lang="en-US" altLang="en-US" sz="1200" b="1" dirty="0">
                <a:ln>
                  <a:solidFill>
                    <a:srgbClr val="1E7678">
                      <a:alpha val="0"/>
                    </a:srgbClr>
                  </a:solidFill>
                </a:ln>
                <a:solidFill>
                  <a:schemeClr val="bg1"/>
                </a:solidFill>
                <a:latin typeface="Lato" panose="020B0604020202020204" charset="0"/>
                <a:ea typeface="에스코어 드림 6 Bold" panose="020B0703030302020204" pitchFamily="34" charset="-127"/>
              </a:rPr>
              <a:t> in Maintaining treatment</a:t>
            </a:r>
            <a:endParaRPr lang="ko-KR" altLang="en-US" sz="1200" spc="-70" dirty="0">
              <a:ln>
                <a:solidFill>
                  <a:srgbClr val="1E7678">
                    <a:alpha val="0"/>
                  </a:srgbClr>
                </a:solidFill>
              </a:ln>
              <a:solidFill>
                <a:schemeClr val="bg1"/>
              </a:solidFill>
              <a:latin typeface="Lato" panose="020B0604020202020204" charset="0"/>
              <a:ea typeface="에스코어 드림 6 Bold" panose="020B0703030302020204" pitchFamily="34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04A334E3-520F-8562-7EAA-E22F29EC01D4}"/>
              </a:ext>
            </a:extLst>
          </p:cNvPr>
          <p:cNvCxnSpPr>
            <a:cxnSpLocks/>
          </p:cNvCxnSpPr>
          <p:nvPr/>
        </p:nvCxnSpPr>
        <p:spPr>
          <a:xfrm>
            <a:off x="851590" y="3949960"/>
            <a:ext cx="2814647" cy="0"/>
          </a:xfrm>
          <a:prstGeom prst="line">
            <a:avLst/>
          </a:prstGeom>
          <a:ln>
            <a:solidFill>
              <a:srgbClr val="CDD2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각 삼각형 39">
            <a:extLst>
              <a:ext uri="{FF2B5EF4-FFF2-40B4-BE49-F238E27FC236}">
                <a16:creationId xmlns:a16="http://schemas.microsoft.com/office/drawing/2014/main" id="{5FBBED07-7E25-D5CF-BA29-73D4AB7D1BDC}"/>
              </a:ext>
            </a:extLst>
          </p:cNvPr>
          <p:cNvSpPr/>
          <p:nvPr/>
        </p:nvSpPr>
        <p:spPr>
          <a:xfrm>
            <a:off x="3777884" y="5182664"/>
            <a:ext cx="94316" cy="87594"/>
          </a:xfrm>
          <a:prstGeom prst="rtTriangle">
            <a:avLst/>
          </a:prstGeom>
          <a:solidFill>
            <a:srgbClr val="656E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1600" dirty="0">
              <a:ln>
                <a:solidFill>
                  <a:srgbClr val="1E7678"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41" name="직각 삼각형 40">
            <a:extLst>
              <a:ext uri="{FF2B5EF4-FFF2-40B4-BE49-F238E27FC236}">
                <a16:creationId xmlns:a16="http://schemas.microsoft.com/office/drawing/2014/main" id="{70B13FD3-1893-9138-A603-1C7FC23C7371}"/>
              </a:ext>
            </a:extLst>
          </p:cNvPr>
          <p:cNvSpPr/>
          <p:nvPr/>
        </p:nvSpPr>
        <p:spPr>
          <a:xfrm flipH="1">
            <a:off x="645630" y="5182664"/>
            <a:ext cx="94316" cy="87594"/>
          </a:xfrm>
          <a:prstGeom prst="rtTriangle">
            <a:avLst/>
          </a:prstGeom>
          <a:solidFill>
            <a:srgbClr val="656E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1600" dirty="0">
              <a:ln>
                <a:solidFill>
                  <a:srgbClr val="1E7678"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3" t="78567" r="63432" b="3625"/>
          <a:stretch/>
        </p:blipFill>
        <p:spPr>
          <a:xfrm>
            <a:off x="1067157" y="2018040"/>
            <a:ext cx="2383514" cy="174791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9831EEA-9D65-F80A-4CEE-DE7587740E9F}"/>
              </a:ext>
            </a:extLst>
          </p:cNvPr>
          <p:cNvSpPr txBox="1"/>
          <p:nvPr/>
        </p:nvSpPr>
        <p:spPr>
          <a:xfrm>
            <a:off x="549591" y="1812962"/>
            <a:ext cx="456250" cy="239498"/>
          </a:xfrm>
          <a:prstGeom prst="rect">
            <a:avLst/>
          </a:prstGeom>
          <a:solidFill>
            <a:srgbClr val="9E0B28"/>
          </a:solidFill>
          <a:effectLst>
            <a:outerShdw blurRad="1270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kumimoji="1" lang="en-US" altLang="ko-KR" sz="1100" b="1" dirty="0">
                <a:ln>
                  <a:solidFill>
                    <a:srgbClr val="1E7678">
                      <a:alpha val="0"/>
                    </a:srgbClr>
                  </a:solidFill>
                </a:ln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  <a:r>
              <a:rPr kumimoji="1" lang="en-US" altLang="ko-KR" sz="1100" b="1" baseline="30000" dirty="0">
                <a:ln>
                  <a:solidFill>
                    <a:srgbClr val="1E7678">
                      <a:alpha val="0"/>
                    </a:srgbClr>
                  </a:solidFill>
                </a:ln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</a:t>
            </a:r>
            <a:r>
              <a:rPr kumimoji="1" lang="en-US" altLang="ko-KR" sz="1100" b="1" dirty="0">
                <a:ln>
                  <a:solidFill>
                    <a:srgbClr val="1E7678">
                      <a:alpha val="0"/>
                    </a:srgbClr>
                  </a:solidFill>
                </a:ln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90FDB00-5D2A-E61A-CA42-01FFDB177212}"/>
              </a:ext>
            </a:extLst>
          </p:cNvPr>
          <p:cNvSpPr/>
          <p:nvPr/>
        </p:nvSpPr>
        <p:spPr>
          <a:xfrm>
            <a:off x="4607469" y="1713906"/>
            <a:ext cx="3044809" cy="430352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1600" dirty="0">
              <a:ln>
                <a:solidFill>
                  <a:srgbClr val="1E7678"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084274-60F1-EEC2-26E1-4298A45D1AC6}"/>
              </a:ext>
            </a:extLst>
          </p:cNvPr>
          <p:cNvSpPr txBox="1"/>
          <p:nvPr/>
        </p:nvSpPr>
        <p:spPr>
          <a:xfrm>
            <a:off x="4757156" y="4098238"/>
            <a:ext cx="2745436" cy="1113821"/>
          </a:xfrm>
          <a:prstGeom prst="rect">
            <a:avLst/>
          </a:prstGeom>
          <a:noFill/>
        </p:spPr>
        <p:txBody>
          <a:bodyPr wrap="square" rIns="0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100" b="1" dirty="0">
                <a:solidFill>
                  <a:srgbClr val="9D1F3A"/>
                </a:solidFill>
                <a:latin typeface="Lato"/>
              </a:rPr>
              <a:t>Supports physicians</a:t>
            </a:r>
            <a:r>
              <a:rPr lang="en-US" altLang="ko-KR" sz="1100" dirty="0">
                <a:solidFill>
                  <a:srgbClr val="9D1F3A"/>
                </a:solidFill>
                <a:latin typeface="Lato"/>
              </a:rPr>
              <a:t> </a:t>
            </a:r>
            <a:r>
              <a:rPr lang="en-US" altLang="ko-KR" sz="1100" dirty="0">
                <a:latin typeface="Lato"/>
              </a:rPr>
              <a:t>with consultation tools and data-driven prescription decisions.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4A334E3-520F-8562-7EAA-E22F29EC01D4}"/>
              </a:ext>
            </a:extLst>
          </p:cNvPr>
          <p:cNvCxnSpPr>
            <a:cxnSpLocks/>
          </p:cNvCxnSpPr>
          <p:nvPr/>
        </p:nvCxnSpPr>
        <p:spPr>
          <a:xfrm>
            <a:off x="4722550" y="3939800"/>
            <a:ext cx="2814647" cy="0"/>
          </a:xfrm>
          <a:prstGeom prst="line">
            <a:avLst/>
          </a:prstGeom>
          <a:ln>
            <a:solidFill>
              <a:srgbClr val="CDD2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각 삼각형 49">
            <a:extLst>
              <a:ext uri="{FF2B5EF4-FFF2-40B4-BE49-F238E27FC236}">
                <a16:creationId xmlns:a16="http://schemas.microsoft.com/office/drawing/2014/main" id="{5FBBED07-7E25-D5CF-BA29-73D4AB7D1BDC}"/>
              </a:ext>
            </a:extLst>
          </p:cNvPr>
          <p:cNvSpPr/>
          <p:nvPr/>
        </p:nvSpPr>
        <p:spPr>
          <a:xfrm>
            <a:off x="7648844" y="5172504"/>
            <a:ext cx="94316" cy="87594"/>
          </a:xfrm>
          <a:prstGeom prst="rtTriangle">
            <a:avLst/>
          </a:prstGeom>
          <a:solidFill>
            <a:srgbClr val="656E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1600" dirty="0">
              <a:ln>
                <a:solidFill>
                  <a:srgbClr val="1E7678"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831EEA-9D65-F80A-4CEE-DE7587740E9F}"/>
              </a:ext>
            </a:extLst>
          </p:cNvPr>
          <p:cNvSpPr txBox="1"/>
          <p:nvPr/>
        </p:nvSpPr>
        <p:spPr>
          <a:xfrm>
            <a:off x="4366891" y="1823122"/>
            <a:ext cx="456250" cy="239498"/>
          </a:xfrm>
          <a:prstGeom prst="rect">
            <a:avLst/>
          </a:prstGeom>
          <a:solidFill>
            <a:srgbClr val="9E0B28"/>
          </a:solidFill>
          <a:effectLst>
            <a:outerShdw blurRad="1270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kumimoji="1" lang="en-US" altLang="ko-KR" sz="1100" b="1" dirty="0">
                <a:ln>
                  <a:solidFill>
                    <a:srgbClr val="1E7678">
                      <a:alpha val="0"/>
                    </a:srgbClr>
                  </a:solidFill>
                </a:ln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</a:t>
            </a:r>
            <a:r>
              <a:rPr kumimoji="1" lang="en-US" altLang="ko-KR" sz="1100" b="1" baseline="30000" dirty="0">
                <a:ln>
                  <a:solidFill>
                    <a:srgbClr val="1E7678">
                      <a:alpha val="0"/>
                    </a:srgbClr>
                  </a:solidFill>
                </a:ln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nd</a:t>
            </a:r>
            <a:r>
              <a:rPr kumimoji="1" lang="en-US" altLang="ko-KR" sz="1100" b="1" dirty="0">
                <a:ln>
                  <a:solidFill>
                    <a:srgbClr val="1E7678">
                      <a:alpha val="0"/>
                    </a:srgbClr>
                  </a:solidFill>
                </a:ln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BAB0C0-EDF1-7FAA-4475-E4FE45CFE68A}"/>
              </a:ext>
            </a:extLst>
          </p:cNvPr>
          <p:cNvSpPr txBox="1"/>
          <p:nvPr/>
        </p:nvSpPr>
        <p:spPr>
          <a:xfrm>
            <a:off x="4516588" y="5264865"/>
            <a:ext cx="3226567" cy="756094"/>
          </a:xfrm>
          <a:prstGeom prst="rect">
            <a:avLst/>
          </a:prstGeom>
          <a:solidFill>
            <a:srgbClr val="9097A7"/>
          </a:solidFill>
        </p:spPr>
        <p:txBody>
          <a:bodyPr wrap="square" lIns="180000" tIns="0" bIns="0" rtlCol="0" anchor="ctr" anchorCtr="0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en-US" sz="1200" b="1" dirty="0">
                <a:ln>
                  <a:solidFill>
                    <a:srgbClr val="1E7678">
                      <a:alpha val="0"/>
                    </a:srgbClr>
                  </a:solidFill>
                </a:ln>
                <a:solidFill>
                  <a:schemeClr val="bg1"/>
                </a:solidFill>
                <a:latin typeface="Lato" panose="020B0604020202020204" charset="0"/>
                <a:ea typeface="에스코어 드림 6 Bold" panose="020B0703030302020204" pitchFamily="34" charset="-127"/>
              </a:rPr>
              <a:t>Provides Comprehensive Consultation </a:t>
            </a:r>
          </a:p>
          <a:p>
            <a:pPr algn="ctr">
              <a:spcBef>
                <a:spcPts val="500"/>
              </a:spcBef>
            </a:pPr>
            <a:r>
              <a:rPr lang="en-US" altLang="en-US" sz="1200" b="1" dirty="0">
                <a:ln>
                  <a:solidFill>
                    <a:srgbClr val="1E7678">
                      <a:alpha val="0"/>
                    </a:srgbClr>
                  </a:solidFill>
                </a:ln>
                <a:solidFill>
                  <a:schemeClr val="bg1"/>
                </a:solidFill>
                <a:latin typeface="Lato" panose="020B0604020202020204" charset="0"/>
                <a:ea typeface="에스코어 드림 6 Bold" panose="020B0703030302020204" pitchFamily="34" charset="-127"/>
              </a:rPr>
              <a:t>Data for Physicians</a:t>
            </a:r>
            <a:endParaRPr lang="ko-KR" altLang="en-US" sz="1200" spc="-70" dirty="0">
              <a:ln>
                <a:solidFill>
                  <a:srgbClr val="1E7678">
                    <a:alpha val="0"/>
                  </a:srgbClr>
                </a:solidFill>
              </a:ln>
              <a:solidFill>
                <a:schemeClr val="bg1"/>
              </a:solidFill>
              <a:latin typeface="Lato" panose="020B0604020202020204" charset="0"/>
              <a:ea typeface="에스코어 드림 6 Bold" panose="020B0703030302020204" pitchFamily="34" charset="-127"/>
            </a:endParaRPr>
          </a:p>
        </p:txBody>
      </p:sp>
      <p:sp>
        <p:nvSpPr>
          <p:cNvPr id="54" name="직각 삼각형 53">
            <a:extLst>
              <a:ext uri="{FF2B5EF4-FFF2-40B4-BE49-F238E27FC236}">
                <a16:creationId xmlns:a16="http://schemas.microsoft.com/office/drawing/2014/main" id="{70B13FD3-1893-9138-A603-1C7FC23C7371}"/>
              </a:ext>
            </a:extLst>
          </p:cNvPr>
          <p:cNvSpPr/>
          <p:nvPr/>
        </p:nvSpPr>
        <p:spPr>
          <a:xfrm flipH="1">
            <a:off x="4516590" y="5182664"/>
            <a:ext cx="94316" cy="87594"/>
          </a:xfrm>
          <a:prstGeom prst="rtTriangle">
            <a:avLst/>
          </a:prstGeom>
          <a:solidFill>
            <a:srgbClr val="656E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1600" dirty="0">
              <a:ln>
                <a:solidFill>
                  <a:srgbClr val="1E7678"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90FDB00-5D2A-E61A-CA42-01FFDB177212}"/>
              </a:ext>
            </a:extLst>
          </p:cNvPr>
          <p:cNvSpPr/>
          <p:nvPr/>
        </p:nvSpPr>
        <p:spPr>
          <a:xfrm>
            <a:off x="8437789" y="1734226"/>
            <a:ext cx="3044809" cy="430352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1600" dirty="0">
              <a:ln>
                <a:solidFill>
                  <a:srgbClr val="1E7678"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2084274-60F1-EEC2-26E1-4298A45D1AC6}"/>
              </a:ext>
            </a:extLst>
          </p:cNvPr>
          <p:cNvSpPr txBox="1"/>
          <p:nvPr/>
        </p:nvSpPr>
        <p:spPr>
          <a:xfrm>
            <a:off x="8587476" y="4118558"/>
            <a:ext cx="2745436" cy="1113821"/>
          </a:xfrm>
          <a:prstGeom prst="rect">
            <a:avLst/>
          </a:prstGeom>
          <a:noFill/>
        </p:spPr>
        <p:txBody>
          <a:bodyPr wrap="square" rIns="0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100" b="1" dirty="0">
                <a:solidFill>
                  <a:srgbClr val="9D1F3A"/>
                </a:solidFill>
                <a:latin typeface="Lato"/>
              </a:rPr>
              <a:t>Enables personalized care</a:t>
            </a:r>
            <a:r>
              <a:rPr lang="en-US" altLang="ko-KR" sz="1100" dirty="0">
                <a:solidFill>
                  <a:srgbClr val="9D1F3A"/>
                </a:solidFill>
                <a:latin typeface="Lato"/>
              </a:rPr>
              <a:t> </a:t>
            </a:r>
            <a:r>
              <a:rPr lang="en-US" altLang="ko-KR" sz="1100" dirty="0">
                <a:latin typeface="Lato"/>
              </a:rPr>
              <a:t>through phase angle monitoring.</a:t>
            </a: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4A334E3-520F-8562-7EAA-E22F29EC01D4}"/>
              </a:ext>
            </a:extLst>
          </p:cNvPr>
          <p:cNvCxnSpPr>
            <a:cxnSpLocks/>
          </p:cNvCxnSpPr>
          <p:nvPr/>
        </p:nvCxnSpPr>
        <p:spPr>
          <a:xfrm>
            <a:off x="8552870" y="3960120"/>
            <a:ext cx="2814647" cy="0"/>
          </a:xfrm>
          <a:prstGeom prst="line">
            <a:avLst/>
          </a:prstGeom>
          <a:ln>
            <a:solidFill>
              <a:srgbClr val="CDD2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각 삼각형 57">
            <a:extLst>
              <a:ext uri="{FF2B5EF4-FFF2-40B4-BE49-F238E27FC236}">
                <a16:creationId xmlns:a16="http://schemas.microsoft.com/office/drawing/2014/main" id="{5FBBED07-7E25-D5CF-BA29-73D4AB7D1BDC}"/>
              </a:ext>
            </a:extLst>
          </p:cNvPr>
          <p:cNvSpPr/>
          <p:nvPr/>
        </p:nvSpPr>
        <p:spPr>
          <a:xfrm>
            <a:off x="11479164" y="5192824"/>
            <a:ext cx="94316" cy="87594"/>
          </a:xfrm>
          <a:prstGeom prst="rtTriangle">
            <a:avLst/>
          </a:prstGeom>
          <a:solidFill>
            <a:srgbClr val="656E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1600" dirty="0">
              <a:ln>
                <a:solidFill>
                  <a:srgbClr val="1E7678"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BAB0C0-EDF1-7FAA-4475-E4FE45CFE68A}"/>
              </a:ext>
            </a:extLst>
          </p:cNvPr>
          <p:cNvSpPr txBox="1"/>
          <p:nvPr/>
        </p:nvSpPr>
        <p:spPr>
          <a:xfrm>
            <a:off x="8346908" y="5285185"/>
            <a:ext cx="3226567" cy="756094"/>
          </a:xfrm>
          <a:prstGeom prst="rect">
            <a:avLst/>
          </a:prstGeom>
          <a:solidFill>
            <a:srgbClr val="9097A7"/>
          </a:solidFill>
        </p:spPr>
        <p:txBody>
          <a:bodyPr wrap="square" lIns="180000" tIns="0" bIns="0" rtlCol="0" anchor="ctr" anchorCtr="0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en-US" sz="1200" b="1" dirty="0">
                <a:ln>
                  <a:solidFill>
                    <a:srgbClr val="1E7678">
                      <a:alpha val="0"/>
                    </a:srgbClr>
                  </a:solidFill>
                </a:ln>
                <a:solidFill>
                  <a:schemeClr val="bg1"/>
                </a:solidFill>
                <a:latin typeface="Lato" panose="020B0604020202020204" charset="0"/>
                <a:ea typeface="에스코어 드림 6 Bold" panose="020B0703030302020204" pitchFamily="34" charset="-127"/>
              </a:rPr>
              <a:t>Assesses Patient Condition </a:t>
            </a:r>
          </a:p>
          <a:p>
            <a:pPr algn="ctr">
              <a:spcBef>
                <a:spcPts val="500"/>
              </a:spcBef>
            </a:pPr>
            <a:r>
              <a:rPr lang="en-US" altLang="en-US" sz="1200" b="1" dirty="0">
                <a:ln>
                  <a:solidFill>
                    <a:srgbClr val="1E7678">
                      <a:alpha val="0"/>
                    </a:srgbClr>
                  </a:solidFill>
                </a:ln>
                <a:solidFill>
                  <a:schemeClr val="bg1"/>
                </a:solidFill>
                <a:latin typeface="Lato" panose="020B0604020202020204" charset="0"/>
                <a:ea typeface="에스코어 드림 6 Bold" panose="020B0703030302020204" pitchFamily="34" charset="-127"/>
              </a:rPr>
              <a:t>through Cellular Health</a:t>
            </a:r>
            <a:endParaRPr lang="ko-KR" altLang="en-US" sz="1200" spc="-70" dirty="0">
              <a:ln>
                <a:solidFill>
                  <a:srgbClr val="1E7678">
                    <a:alpha val="0"/>
                  </a:srgbClr>
                </a:solidFill>
              </a:ln>
              <a:solidFill>
                <a:schemeClr val="bg1"/>
              </a:solidFill>
              <a:latin typeface="Lato" panose="020B0604020202020204" charset="0"/>
              <a:ea typeface="에스코어 드림 6 Bold" panose="020B0703030302020204" pitchFamily="34" charset="-127"/>
            </a:endParaRPr>
          </a:p>
        </p:txBody>
      </p:sp>
      <p:sp>
        <p:nvSpPr>
          <p:cNvPr id="61" name="직각 삼각형 60">
            <a:extLst>
              <a:ext uri="{FF2B5EF4-FFF2-40B4-BE49-F238E27FC236}">
                <a16:creationId xmlns:a16="http://schemas.microsoft.com/office/drawing/2014/main" id="{70B13FD3-1893-9138-A603-1C7FC23C7371}"/>
              </a:ext>
            </a:extLst>
          </p:cNvPr>
          <p:cNvSpPr/>
          <p:nvPr/>
        </p:nvSpPr>
        <p:spPr>
          <a:xfrm flipH="1">
            <a:off x="8346910" y="5202984"/>
            <a:ext cx="94316" cy="87594"/>
          </a:xfrm>
          <a:prstGeom prst="rtTriangle">
            <a:avLst/>
          </a:prstGeom>
          <a:solidFill>
            <a:srgbClr val="656E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1600" dirty="0">
              <a:ln>
                <a:solidFill>
                  <a:srgbClr val="1E7678"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831EEA-9D65-F80A-4CEE-DE7587740E9F}"/>
              </a:ext>
            </a:extLst>
          </p:cNvPr>
          <p:cNvSpPr txBox="1"/>
          <p:nvPr/>
        </p:nvSpPr>
        <p:spPr>
          <a:xfrm>
            <a:off x="8184247" y="1816995"/>
            <a:ext cx="456250" cy="239498"/>
          </a:xfrm>
          <a:prstGeom prst="rect">
            <a:avLst/>
          </a:prstGeom>
          <a:solidFill>
            <a:srgbClr val="9E0B28"/>
          </a:solidFill>
          <a:effectLst>
            <a:outerShdw blurRad="1270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kumimoji="1" lang="en-US" altLang="ko-KR" sz="1100" b="1" dirty="0">
                <a:ln>
                  <a:solidFill>
                    <a:srgbClr val="1E7678">
                      <a:alpha val="0"/>
                    </a:srgbClr>
                  </a:solidFill>
                </a:ln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</a:t>
            </a:r>
            <a:r>
              <a:rPr kumimoji="1" lang="en-US" altLang="ko-KR" sz="1100" b="1" baseline="30000" dirty="0">
                <a:ln>
                  <a:solidFill>
                    <a:srgbClr val="1E7678">
                      <a:alpha val="0"/>
                    </a:srgbClr>
                  </a:solidFill>
                </a:ln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rd</a:t>
            </a:r>
            <a:r>
              <a:rPr kumimoji="1" lang="en-US" altLang="ko-KR" sz="1100" b="1" dirty="0">
                <a:ln>
                  <a:solidFill>
                    <a:srgbClr val="1E7678">
                      <a:alpha val="0"/>
                    </a:srgbClr>
                  </a:solidFill>
                </a:ln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</p:txBody>
      </p:sp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" t="28026" r="36009" b="49106"/>
          <a:stretch/>
        </p:blipFill>
        <p:spPr>
          <a:xfrm>
            <a:off x="4695073" y="2190577"/>
            <a:ext cx="2869596" cy="148065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184" y="2051678"/>
            <a:ext cx="1880142" cy="1829130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0D430E8C-0DB4-B7ED-9C24-1120C69C4A0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87" t="57801" r="4764" b="36524"/>
          <a:stretch/>
        </p:blipFill>
        <p:spPr>
          <a:xfrm>
            <a:off x="9872598" y="2342977"/>
            <a:ext cx="1494919" cy="379903"/>
          </a:xfrm>
          <a:prstGeom prst="rect">
            <a:avLst/>
          </a:prstGeom>
          <a:ln w="317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0241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CA2EDD0-D101-1ED9-3BFD-12C28B1916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8717" y="2898026"/>
            <a:ext cx="5272088" cy="605947"/>
          </a:xfrm>
        </p:spPr>
        <p:txBody>
          <a:bodyPr/>
          <a:lstStyle/>
          <a:p>
            <a:r>
              <a:rPr lang="en-US" altLang="ko-KR" sz="4500" b="1" dirty="0">
                <a:solidFill>
                  <a:srgbClr val="3A3A38"/>
                </a:solidFill>
                <a:latin typeface="Lato" panose="020F0502020204030203" pitchFamily="34" charset="0"/>
              </a:rPr>
              <a:t>Thank you</a:t>
            </a:r>
            <a:endParaRPr lang="ko-KR" altLang="en-US" sz="4500" b="1" dirty="0">
              <a:solidFill>
                <a:srgbClr val="3A3A38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67677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56E7D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>
            <a:ln>
              <a:solidFill>
                <a:srgbClr val="7E8080">
                  <a:alpha val="0"/>
                </a:srgbClr>
              </a:solidFill>
            </a:ln>
            <a:latin typeface="Noto Sans KR" panose="020B0500000000000000" pitchFamily="34" charset="-127"/>
            <a:ea typeface="Noto Sans KR" panose="020B0500000000000000" pitchFamily="34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