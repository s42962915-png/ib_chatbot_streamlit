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16"/>
  </p:notesMasterIdLst>
  <p:handoutMasterIdLst>
    <p:handoutMasterId r:id="rId17"/>
  </p:handoutMasterIdLst>
  <p:sldIdLst>
    <p:sldId id="262" r:id="rId5"/>
    <p:sldId id="267" r:id="rId6"/>
    <p:sldId id="264" r:id="rId7"/>
    <p:sldId id="266" r:id="rId8"/>
    <p:sldId id="268" r:id="rId9"/>
    <p:sldId id="269" r:id="rId10"/>
    <p:sldId id="270" r:id="rId11"/>
    <p:sldId id="272" r:id="rId12"/>
    <p:sldId id="273" r:id="rId13"/>
    <p:sldId id="274" r:id="rId14"/>
    <p:sldId id="265" r:id="rId15"/>
  </p:sldIdLst>
  <p:sldSz cx="6858000" cy="9906000" type="A4"/>
  <p:notesSz cx="6797675" cy="9926638"/>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0">
          <p15:clr>
            <a:srgbClr val="A4A3A4"/>
          </p15:clr>
        </p15:guide>
        <p15:guide id="2" pos="2296">
          <p15:clr>
            <a:srgbClr val="A4A3A4"/>
          </p15:clr>
        </p15:guide>
        <p15:guide id="3" pos="346">
          <p15:clr>
            <a:srgbClr val="A4A3A4"/>
          </p15:clr>
        </p15:guide>
        <p15:guide id="4" pos="3974">
          <p15:clr>
            <a:srgbClr val="A4A3A4"/>
          </p15:clr>
        </p15:guide>
      </p15:sldGuideLst>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C1F00"/>
    <a:srgbClr val="CDD8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7" d="100"/>
          <a:sy n="77" d="100"/>
        </p:scale>
        <p:origin x="3150" y="96"/>
      </p:cViewPr>
      <p:guideLst>
        <p:guide orient="horz" pos="3120"/>
        <p:guide pos="2296"/>
        <p:guide pos="346"/>
        <p:guide pos="3974"/>
      </p:guideLst>
    </p:cSldViewPr>
  </p:slideViewPr>
  <p:notesTextViewPr>
    <p:cViewPr>
      <p:scale>
        <a:sx n="100" d="100"/>
        <a:sy n="100" d="100"/>
      </p:scale>
      <p:origin x="0" y="0"/>
    </p:cViewPr>
  </p:notesTextViewPr>
  <p:notesViewPr>
    <p:cSldViewPr>
      <p:cViewPr varScale="1">
        <p:scale>
          <a:sx n="81" d="100"/>
          <a:sy n="81" d="100"/>
        </p:scale>
        <p:origin x="3996" y="114"/>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F186E5A8-4059-4EA8-8F92-9ABBBE230382}" type="datetimeFigureOut">
              <a:rPr lang="ko-KR" altLang="en-US" smtClean="0"/>
              <a:pPr/>
              <a:t>2025-08-06</a:t>
            </a:fld>
            <a:endParaRPr lang="ko-KR" altLang="en-US"/>
          </a:p>
        </p:txBody>
      </p:sp>
      <p:sp>
        <p:nvSpPr>
          <p:cNvPr id="4" name="바닥글 개체 틀 3"/>
          <p:cNvSpPr>
            <a:spLocks noGrp="1"/>
          </p:cNvSpPr>
          <p:nvPr>
            <p:ph type="ftr" sz="quarter" idx="2"/>
          </p:nvPr>
        </p:nvSpPr>
        <p:spPr>
          <a:xfrm>
            <a:off x="0" y="9428163"/>
            <a:ext cx="2946400" cy="496887"/>
          </a:xfrm>
          <a:prstGeom prst="rect">
            <a:avLst/>
          </a:prstGeom>
        </p:spPr>
        <p:txBody>
          <a:bodyPr vert="horz" lIns="91440" tIns="45720" rIns="91440" bIns="45720" rtlCol="0" anchor="b"/>
          <a:lstStyle>
            <a:lvl1pPr algn="l">
              <a:defRPr sz="1200"/>
            </a:lvl1pPr>
          </a:lstStyle>
          <a:p>
            <a:r>
              <a:rPr lang="en-US" altLang="ko-KR"/>
              <a:t>IB-202-001</a:t>
            </a:r>
            <a:endParaRPr lang="ko-KR" altLang="en-US"/>
          </a:p>
        </p:txBody>
      </p:sp>
      <p:sp>
        <p:nvSpPr>
          <p:cNvPr id="5" name="슬라이드 번호 개체 틀 4"/>
          <p:cNvSpPr>
            <a:spLocks noGrp="1"/>
          </p:cNvSpPr>
          <p:nvPr>
            <p:ph type="sldNum" sz="quarter" idx="3"/>
          </p:nvPr>
        </p:nvSpPr>
        <p:spPr>
          <a:xfrm>
            <a:off x="3849688" y="9428163"/>
            <a:ext cx="2946400" cy="496887"/>
          </a:xfrm>
          <a:prstGeom prst="rect">
            <a:avLst/>
          </a:prstGeom>
        </p:spPr>
        <p:txBody>
          <a:bodyPr vert="horz" lIns="91440" tIns="45720" rIns="91440" bIns="45720" rtlCol="0" anchor="b"/>
          <a:lstStyle>
            <a:lvl1pPr algn="r">
              <a:defRPr sz="1200"/>
            </a:lvl1pPr>
          </a:lstStyle>
          <a:p>
            <a:fld id="{548D8CC7-A5AC-4EB7-B3E7-69EABF89C1A7}" type="slidenum">
              <a:rPr lang="ko-KR" altLang="en-US" smtClean="0"/>
              <a:pPr/>
              <a:t>‹#›</a:t>
            </a:fld>
            <a:endParaRPr lang="ko-KR" altLang="en-US"/>
          </a:p>
        </p:txBody>
      </p:sp>
    </p:spTree>
    <p:extLst>
      <p:ext uri="{BB962C8B-B14F-4D97-AF65-F5344CB8AC3E}">
        <p14:creationId xmlns:p14="http://schemas.microsoft.com/office/powerpoint/2010/main" val="322838350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EE2FBDA4-232C-4F7D-9E8C-CBE77795CB67}" type="datetimeFigureOut">
              <a:rPr lang="ko-KR" altLang="en-US" smtClean="0"/>
              <a:pPr/>
              <a:t>2025-08-06</a:t>
            </a:fld>
            <a:endParaRPr lang="ko-KR" altLang="en-US"/>
          </a:p>
        </p:txBody>
      </p:sp>
      <p:sp>
        <p:nvSpPr>
          <p:cNvPr id="4" name="슬라이드 이미지 개체 틀 3"/>
          <p:cNvSpPr>
            <a:spLocks noGrp="1" noRot="1" noChangeAspect="1"/>
          </p:cNvSpPr>
          <p:nvPr>
            <p:ph type="sldImg" idx="2"/>
          </p:nvPr>
        </p:nvSpPr>
        <p:spPr>
          <a:xfrm>
            <a:off x="2109788" y="744538"/>
            <a:ext cx="2578100" cy="3722687"/>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79768" y="4715153"/>
            <a:ext cx="5438140" cy="4466987"/>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r>
              <a:rPr lang="en-US" altLang="ko-KR"/>
              <a:t>IB-202-001</a:t>
            </a:r>
            <a:endParaRPr lang="ko-KR" altLang="en-US"/>
          </a:p>
        </p:txBody>
      </p:sp>
      <p:sp>
        <p:nvSpPr>
          <p:cNvPr id="7" name="슬라이드 번호 개체 틀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A992CBF1-3F4D-4B1F-A246-7E426AA3F6E2}" type="slidenum">
              <a:rPr lang="ko-KR" altLang="en-US" smtClean="0"/>
              <a:pPr/>
              <a:t>‹#›</a:t>
            </a:fld>
            <a:endParaRPr lang="ko-KR" altLang="en-US"/>
          </a:p>
        </p:txBody>
      </p:sp>
    </p:spTree>
    <p:extLst>
      <p:ext uri="{BB962C8B-B14F-4D97-AF65-F5344CB8AC3E}">
        <p14:creationId xmlns:p14="http://schemas.microsoft.com/office/powerpoint/2010/main" val="386683398"/>
      </p:ext>
    </p:extLst>
  </p:cSld>
  <p:clrMap bg1="lt1" tx1="dk1" bg2="lt2" tx2="dk2" accent1="accent1" accent2="accent2" accent3="accent3" accent4="accent4" accent5="accent5" accent6="accent6" hlink="hlink" folHlink="folHlink"/>
  <p:hf hd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109788" y="744538"/>
            <a:ext cx="2578100" cy="3722687"/>
          </a:xfrm>
        </p:spPr>
      </p:sp>
      <p:sp>
        <p:nvSpPr>
          <p:cNvPr id="3" name="슬라이드 노트 개체 틀 2"/>
          <p:cNvSpPr>
            <a:spLocks noGrp="1"/>
          </p:cNvSpPr>
          <p:nvPr>
            <p:ph type="body" idx="1"/>
          </p:nvPr>
        </p:nvSpPr>
        <p:spPr/>
        <p:txBody>
          <a:bodyPr>
            <a:normAutofit/>
          </a:bodyPr>
          <a:lstStyle/>
          <a:p>
            <a:endParaRPr lang="ko-KR" altLang="en-US" dirty="0"/>
          </a:p>
        </p:txBody>
      </p:sp>
      <p:sp>
        <p:nvSpPr>
          <p:cNvPr id="4" name="슬라이드 번호 개체 틀 3"/>
          <p:cNvSpPr>
            <a:spLocks noGrp="1"/>
          </p:cNvSpPr>
          <p:nvPr>
            <p:ph type="sldNum" sz="quarter" idx="10"/>
          </p:nvPr>
        </p:nvSpPr>
        <p:spPr/>
        <p:txBody>
          <a:bodyPr/>
          <a:lstStyle/>
          <a:p>
            <a:fld id="{A992CBF1-3F4D-4B1F-A246-7E426AA3F6E2}" type="slidenum">
              <a:rPr lang="ko-KR" altLang="en-US" smtClean="0"/>
              <a:pPr/>
              <a:t>1</a:t>
            </a:fld>
            <a:endParaRPr lang="ko-KR" altLang="en-US"/>
          </a:p>
        </p:txBody>
      </p:sp>
      <p:sp>
        <p:nvSpPr>
          <p:cNvPr id="5" name="바닥글 개체 틀 4"/>
          <p:cNvSpPr>
            <a:spLocks noGrp="1"/>
          </p:cNvSpPr>
          <p:nvPr>
            <p:ph type="ftr" sz="quarter" idx="11"/>
          </p:nvPr>
        </p:nvSpPr>
        <p:spPr/>
        <p:txBody>
          <a:bodyPr/>
          <a:lstStyle/>
          <a:p>
            <a:r>
              <a:rPr lang="en-US" altLang="ko-KR"/>
              <a:t>IB-202-001</a:t>
            </a:r>
            <a:endParaRPr lang="ko-KR" altLang="en-US"/>
          </a:p>
        </p:txBody>
      </p:sp>
    </p:spTree>
    <p:extLst>
      <p:ext uri="{BB962C8B-B14F-4D97-AF65-F5344CB8AC3E}">
        <p14:creationId xmlns:p14="http://schemas.microsoft.com/office/powerpoint/2010/main" val="21017455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바닥글 개체 틀 3"/>
          <p:cNvSpPr>
            <a:spLocks noGrp="1"/>
          </p:cNvSpPr>
          <p:nvPr>
            <p:ph type="ftr" sz="quarter" idx="10"/>
          </p:nvPr>
        </p:nvSpPr>
        <p:spPr/>
        <p:txBody>
          <a:bodyPr/>
          <a:lstStyle/>
          <a:p>
            <a:r>
              <a:rPr lang="en-US" altLang="ko-KR"/>
              <a:t>IB-202-001</a:t>
            </a:r>
            <a:endParaRPr lang="ko-KR" altLang="en-US"/>
          </a:p>
        </p:txBody>
      </p:sp>
      <p:sp>
        <p:nvSpPr>
          <p:cNvPr id="5" name="슬라이드 번호 개체 틀 4"/>
          <p:cNvSpPr>
            <a:spLocks noGrp="1"/>
          </p:cNvSpPr>
          <p:nvPr>
            <p:ph type="sldNum" sz="quarter" idx="11"/>
          </p:nvPr>
        </p:nvSpPr>
        <p:spPr/>
        <p:txBody>
          <a:bodyPr/>
          <a:lstStyle/>
          <a:p>
            <a:fld id="{A992CBF1-3F4D-4B1F-A246-7E426AA3F6E2}" type="slidenum">
              <a:rPr lang="ko-KR" altLang="en-US" smtClean="0"/>
              <a:pPr/>
              <a:t>2</a:t>
            </a:fld>
            <a:endParaRPr lang="ko-KR" altLang="en-US"/>
          </a:p>
        </p:txBody>
      </p:sp>
    </p:spTree>
    <p:extLst>
      <p:ext uri="{BB962C8B-B14F-4D97-AF65-F5344CB8AC3E}">
        <p14:creationId xmlns:p14="http://schemas.microsoft.com/office/powerpoint/2010/main" val="35607292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바닥글 개체 틀 3"/>
          <p:cNvSpPr>
            <a:spLocks noGrp="1"/>
          </p:cNvSpPr>
          <p:nvPr>
            <p:ph type="ftr" sz="quarter" idx="10"/>
          </p:nvPr>
        </p:nvSpPr>
        <p:spPr/>
        <p:txBody>
          <a:bodyPr/>
          <a:lstStyle/>
          <a:p>
            <a:r>
              <a:rPr lang="en-US" altLang="ko-KR"/>
              <a:t>IB-202-001</a:t>
            </a:r>
            <a:endParaRPr lang="ko-KR" altLang="en-US"/>
          </a:p>
        </p:txBody>
      </p:sp>
      <p:sp>
        <p:nvSpPr>
          <p:cNvPr id="5" name="슬라이드 번호 개체 틀 4"/>
          <p:cNvSpPr>
            <a:spLocks noGrp="1"/>
          </p:cNvSpPr>
          <p:nvPr>
            <p:ph type="sldNum" sz="quarter" idx="11"/>
          </p:nvPr>
        </p:nvSpPr>
        <p:spPr/>
        <p:txBody>
          <a:bodyPr/>
          <a:lstStyle/>
          <a:p>
            <a:fld id="{A992CBF1-3F4D-4B1F-A246-7E426AA3F6E2}" type="slidenum">
              <a:rPr lang="ko-KR" altLang="en-US" smtClean="0"/>
              <a:pPr/>
              <a:t>4</a:t>
            </a:fld>
            <a:endParaRPr lang="ko-KR" altLang="en-US"/>
          </a:p>
        </p:txBody>
      </p:sp>
    </p:spTree>
    <p:extLst>
      <p:ext uri="{BB962C8B-B14F-4D97-AF65-F5344CB8AC3E}">
        <p14:creationId xmlns:p14="http://schemas.microsoft.com/office/powerpoint/2010/main" val="233718528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cxnSp>
        <p:nvCxnSpPr>
          <p:cNvPr id="8" name="直線コネクタ 6"/>
          <p:cNvCxnSpPr/>
          <p:nvPr userDrawn="1"/>
        </p:nvCxnSpPr>
        <p:spPr>
          <a:xfrm>
            <a:off x="361950" y="1352600"/>
            <a:ext cx="6143625" cy="0"/>
          </a:xfrm>
          <a:prstGeom prst="line">
            <a:avLst/>
          </a:prstGeom>
          <a:noFill/>
          <a:ln w="19050" cap="flat" cmpd="sng" algn="ctr">
            <a:solidFill>
              <a:sysClr val="windowText" lastClr="000000"/>
            </a:solidFill>
            <a:prstDash val="solid"/>
          </a:ln>
          <a:effectLst/>
        </p:spPr>
      </p:cxnSp>
      <p:pic>
        <p:nvPicPr>
          <p:cNvPr id="14" name="図 4"/>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445224" y="344488"/>
            <a:ext cx="1038225" cy="299085"/>
          </a:xfrm>
          <a:prstGeom prst="rect">
            <a:avLst/>
          </a:prstGeom>
          <a:noFill/>
          <a:ln>
            <a:noFill/>
          </a:ln>
        </p:spPr>
      </p:pic>
      <p:sp>
        <p:nvSpPr>
          <p:cNvPr id="19" name="날짜 개체 틀 18"/>
          <p:cNvSpPr>
            <a:spLocks noGrp="1"/>
          </p:cNvSpPr>
          <p:nvPr>
            <p:ph type="dt" sz="half" idx="10"/>
          </p:nvPr>
        </p:nvSpPr>
        <p:spPr/>
        <p:txBody>
          <a:bodyPr/>
          <a:lstStyle/>
          <a:p>
            <a:r>
              <a:rPr lang="en-US" altLang="ko-KR"/>
              <a:t>IB-202-001  </a:t>
            </a:r>
            <a:endParaRPr lang="ko-KR" altLang="en-US" dirty="0"/>
          </a:p>
        </p:txBody>
      </p:sp>
      <p:sp>
        <p:nvSpPr>
          <p:cNvPr id="20" name="바닥글 개체 틀 19"/>
          <p:cNvSpPr>
            <a:spLocks noGrp="1"/>
          </p:cNvSpPr>
          <p:nvPr>
            <p:ph type="ftr" sz="quarter" idx="11"/>
          </p:nvPr>
        </p:nvSpPr>
        <p:spPr/>
        <p:txBody>
          <a:bodyPr/>
          <a:lstStyle/>
          <a:p>
            <a:r>
              <a:rPr lang="en-US" altLang="ko-KR"/>
              <a:t>InBody Co., Ltd.</a:t>
            </a:r>
            <a:endParaRPr lang="ko-KR" altLang="en-US" dirty="0"/>
          </a:p>
        </p:txBody>
      </p:sp>
      <p:sp>
        <p:nvSpPr>
          <p:cNvPr id="21" name="슬라이드 번호 개체 틀 20"/>
          <p:cNvSpPr>
            <a:spLocks noGrp="1"/>
          </p:cNvSpPr>
          <p:nvPr>
            <p:ph type="sldNum" sz="quarter" idx="12"/>
          </p:nvPr>
        </p:nvSpPr>
        <p:spPr/>
        <p:txBody>
          <a:bodyPr/>
          <a:lstStyle/>
          <a:p>
            <a:r>
              <a:rPr lang="en-US" altLang="ko-KR"/>
              <a:t>Rev: 0</a:t>
            </a:r>
            <a:endParaRPr lang="ko-KR"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제목 슬라이드">
    <p:spTree>
      <p:nvGrpSpPr>
        <p:cNvPr id="1" name=""/>
        <p:cNvGrpSpPr/>
        <p:nvPr/>
      </p:nvGrpSpPr>
      <p:grpSpPr>
        <a:xfrm>
          <a:off x="0" y="0"/>
          <a:ext cx="0" cy="0"/>
          <a:chOff x="0" y="0"/>
          <a:chExt cx="0" cy="0"/>
        </a:xfrm>
      </p:grpSpPr>
      <p:sp>
        <p:nvSpPr>
          <p:cNvPr id="14" name="날짜 개체 틀 2"/>
          <p:cNvSpPr>
            <a:spLocks noGrp="1"/>
          </p:cNvSpPr>
          <p:nvPr>
            <p:ph type="dt" sz="half" idx="10"/>
          </p:nvPr>
        </p:nvSpPr>
        <p:spPr>
          <a:xfrm>
            <a:off x="342900" y="9181396"/>
            <a:ext cx="1600200" cy="527401"/>
          </a:xfrm>
        </p:spPr>
        <p:txBody>
          <a:bodyPr/>
          <a:lstStyle/>
          <a:p>
            <a:r>
              <a:rPr lang="en-US" altLang="ko-KR"/>
              <a:t>IB-202-001  </a:t>
            </a:r>
            <a:endParaRPr lang="ko-KR" altLang="en-US" dirty="0"/>
          </a:p>
        </p:txBody>
      </p:sp>
      <p:sp>
        <p:nvSpPr>
          <p:cNvPr id="15" name="바닥글 개체 틀 3"/>
          <p:cNvSpPr>
            <a:spLocks noGrp="1"/>
          </p:cNvSpPr>
          <p:nvPr>
            <p:ph type="ftr" sz="quarter" idx="11"/>
          </p:nvPr>
        </p:nvSpPr>
        <p:spPr>
          <a:xfrm>
            <a:off x="2343150" y="9181396"/>
            <a:ext cx="2171700" cy="527401"/>
          </a:xfrm>
        </p:spPr>
        <p:txBody>
          <a:bodyPr/>
          <a:lstStyle/>
          <a:p>
            <a:r>
              <a:rPr lang="en-US" altLang="ko-KR" dirty="0" err="1"/>
              <a:t>InBody</a:t>
            </a:r>
            <a:r>
              <a:rPr lang="en-US" altLang="ko-KR" dirty="0"/>
              <a:t> Co., Ltd.</a:t>
            </a:r>
            <a:endParaRPr lang="ko-KR" altLang="en-US" dirty="0"/>
          </a:p>
        </p:txBody>
      </p:sp>
      <p:sp>
        <p:nvSpPr>
          <p:cNvPr id="16" name="슬라이드 번호 개체 틀 4"/>
          <p:cNvSpPr>
            <a:spLocks noGrp="1"/>
          </p:cNvSpPr>
          <p:nvPr>
            <p:ph type="sldNum" sz="quarter" idx="12"/>
          </p:nvPr>
        </p:nvSpPr>
        <p:spPr>
          <a:xfrm>
            <a:off x="4914900" y="9181396"/>
            <a:ext cx="1600200" cy="527401"/>
          </a:xfrm>
        </p:spPr>
        <p:txBody>
          <a:bodyPr/>
          <a:lstStyle/>
          <a:p>
            <a:r>
              <a:rPr lang="en-US" altLang="ko-KR" dirty="0"/>
              <a:t>Rev:0</a:t>
            </a:r>
            <a:endParaRPr lang="ko-KR"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r>
              <a:rPr lang="en-US" altLang="ko-KR"/>
              <a:t>IB-202-001  </a:t>
            </a:r>
            <a:endParaRPr lang="ko-KR" altLang="en-US" dirty="0"/>
          </a:p>
        </p:txBody>
      </p:sp>
      <p:sp>
        <p:nvSpPr>
          <p:cNvPr id="4" name="바닥글 개체 틀 3"/>
          <p:cNvSpPr>
            <a:spLocks noGrp="1"/>
          </p:cNvSpPr>
          <p:nvPr>
            <p:ph type="ftr" sz="quarter" idx="11"/>
          </p:nvPr>
        </p:nvSpPr>
        <p:spPr/>
        <p:txBody>
          <a:bodyPr/>
          <a:lstStyle/>
          <a:p>
            <a:r>
              <a:rPr lang="en-US" altLang="ko-KR"/>
              <a:t>InBody Co., Ltd.</a:t>
            </a:r>
            <a:endParaRPr lang="ko-KR" altLang="en-US" dirty="0"/>
          </a:p>
        </p:txBody>
      </p:sp>
      <p:sp>
        <p:nvSpPr>
          <p:cNvPr id="5" name="슬라이드 번호 개체 틀 4"/>
          <p:cNvSpPr>
            <a:spLocks noGrp="1"/>
          </p:cNvSpPr>
          <p:nvPr>
            <p:ph type="sldNum" sz="quarter" idx="12"/>
          </p:nvPr>
        </p:nvSpPr>
        <p:spPr/>
        <p:txBody>
          <a:bodyPr/>
          <a:lstStyle/>
          <a:p>
            <a:r>
              <a:rPr lang="en-US" altLang="ko-KR"/>
              <a:t>Rev: 0</a:t>
            </a:r>
            <a:endParaRPr lang="ko-KR" altLang="en-US" dirty="0"/>
          </a:p>
        </p:txBody>
      </p:sp>
    </p:spTree>
    <p:extLst>
      <p:ext uri="{BB962C8B-B14F-4D97-AF65-F5344CB8AC3E}">
        <p14:creationId xmlns:p14="http://schemas.microsoft.com/office/powerpoint/2010/main" val="335076331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342900" y="396699"/>
            <a:ext cx="6172200" cy="1651000"/>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342900" y="2311402"/>
            <a:ext cx="6172200" cy="6537502"/>
          </a:xfrm>
          <a:prstGeom prst="rect">
            <a:avLst/>
          </a:prstGeom>
        </p:spPr>
        <p:txBody>
          <a:bodyPr vert="horz" lIns="91440" tIns="45720" rIns="91440" bIns="45720" rtlCol="0">
            <a:normAutofit/>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4" name="날짜 개체 틀 3"/>
          <p:cNvSpPr>
            <a:spLocks noGrp="1"/>
          </p:cNvSpPr>
          <p:nvPr>
            <p:ph type="dt" sz="half" idx="2"/>
          </p:nvPr>
        </p:nvSpPr>
        <p:spPr>
          <a:xfrm>
            <a:off x="342900" y="9181396"/>
            <a:ext cx="1600200" cy="527401"/>
          </a:xfrm>
          <a:prstGeom prst="rect">
            <a:avLst/>
          </a:prstGeom>
        </p:spPr>
        <p:txBody>
          <a:bodyPr vert="horz" lIns="91440" tIns="45720" rIns="91440" bIns="45720" rtlCol="0" anchor="ctr"/>
          <a:lstStyle>
            <a:lvl1pPr algn="l">
              <a:defRPr sz="1200">
                <a:solidFill>
                  <a:schemeClr val="tx1"/>
                </a:solidFill>
              </a:defRPr>
            </a:lvl1pPr>
          </a:lstStyle>
          <a:p>
            <a:r>
              <a:rPr lang="en-US" altLang="ko-KR"/>
              <a:t>IB-202-001  </a:t>
            </a:r>
            <a:endParaRPr lang="ko-KR" altLang="en-US" dirty="0"/>
          </a:p>
        </p:txBody>
      </p:sp>
      <p:sp>
        <p:nvSpPr>
          <p:cNvPr id="5" name="바닥글 개체 틀 4"/>
          <p:cNvSpPr>
            <a:spLocks noGrp="1"/>
          </p:cNvSpPr>
          <p:nvPr>
            <p:ph type="ftr" sz="quarter" idx="3"/>
          </p:nvPr>
        </p:nvSpPr>
        <p:spPr>
          <a:xfrm>
            <a:off x="2343150" y="9181396"/>
            <a:ext cx="2171700" cy="527401"/>
          </a:xfrm>
          <a:prstGeom prst="rect">
            <a:avLst/>
          </a:prstGeom>
        </p:spPr>
        <p:txBody>
          <a:bodyPr vert="horz" lIns="91440" tIns="45720" rIns="91440" bIns="45720" rtlCol="0" anchor="ctr"/>
          <a:lstStyle>
            <a:lvl1pPr algn="ctr">
              <a:defRPr sz="1200">
                <a:solidFill>
                  <a:schemeClr val="tx1"/>
                </a:solidFill>
              </a:defRPr>
            </a:lvl1pPr>
          </a:lstStyle>
          <a:p>
            <a:r>
              <a:rPr lang="en-US" altLang="ko-KR"/>
              <a:t>InBody Co., Ltd.</a:t>
            </a:r>
            <a:endParaRPr lang="ko-KR" altLang="en-US" dirty="0"/>
          </a:p>
        </p:txBody>
      </p:sp>
      <p:sp>
        <p:nvSpPr>
          <p:cNvPr id="6" name="슬라이드 번호 개체 틀 5"/>
          <p:cNvSpPr>
            <a:spLocks noGrp="1"/>
          </p:cNvSpPr>
          <p:nvPr>
            <p:ph type="sldNum" sz="quarter" idx="4"/>
          </p:nvPr>
        </p:nvSpPr>
        <p:spPr>
          <a:xfrm>
            <a:off x="4914900" y="9181396"/>
            <a:ext cx="1600200" cy="527401"/>
          </a:xfrm>
          <a:prstGeom prst="rect">
            <a:avLst/>
          </a:prstGeom>
        </p:spPr>
        <p:txBody>
          <a:bodyPr vert="horz" lIns="91440" tIns="45720" rIns="91440" bIns="45720" rtlCol="0" anchor="ctr"/>
          <a:lstStyle>
            <a:lvl1pPr algn="r">
              <a:defRPr sz="1200">
                <a:solidFill>
                  <a:schemeClr val="tx1"/>
                </a:solidFill>
              </a:defRPr>
            </a:lvl1pPr>
          </a:lstStyle>
          <a:p>
            <a:r>
              <a:rPr lang="en-US" altLang="ko-KR"/>
              <a:t>Rev: 0</a:t>
            </a:r>
            <a:endParaRPr lang="ko-KR" altLang="en-US" dirty="0"/>
          </a:p>
        </p:txBody>
      </p:sp>
      <p:pic>
        <p:nvPicPr>
          <p:cNvPr id="7" name="図 4"/>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5465128" y="398195"/>
            <a:ext cx="1038225" cy="299085"/>
          </a:xfrm>
          <a:prstGeom prst="rect">
            <a:avLst/>
          </a:prstGeom>
          <a:noFill/>
          <a:ln>
            <a:noFill/>
          </a:ln>
        </p:spPr>
      </p:pic>
      <p:cxnSp>
        <p:nvCxnSpPr>
          <p:cNvPr id="8" name="直線コネクタ 6"/>
          <p:cNvCxnSpPr/>
          <p:nvPr userDrawn="1"/>
        </p:nvCxnSpPr>
        <p:spPr>
          <a:xfrm>
            <a:off x="354648" y="1352600"/>
            <a:ext cx="6143625" cy="0"/>
          </a:xfrm>
          <a:prstGeom prst="line">
            <a:avLst/>
          </a:prstGeom>
          <a:noFill/>
          <a:ln w="19050" cap="flat" cmpd="sng" algn="ctr">
            <a:solidFill>
              <a:sysClr val="windowText" lastClr="000000"/>
            </a:solidFill>
            <a:prstDash val="solid"/>
          </a:ln>
          <a:effectLst/>
        </p:spPr>
      </p:cxnSp>
      <p:sp>
        <p:nvSpPr>
          <p:cNvPr id="9" name="正方形/長方形 2"/>
          <p:cNvSpPr/>
          <p:nvPr userDrawn="1"/>
        </p:nvSpPr>
        <p:spPr>
          <a:xfrm>
            <a:off x="354648" y="684580"/>
            <a:ext cx="6134100" cy="57150"/>
          </a:xfrm>
          <a:prstGeom prst="rect">
            <a:avLst/>
          </a:prstGeom>
          <a:solidFill>
            <a:sysClr val="windowText" lastClr="000000"/>
          </a:solidFill>
          <a:ln w="25400" cap="flat" cmpd="sng" algn="ctr">
            <a:no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ko-KR"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8.png"/><Relationship Id="rId2" Type="http://schemas.openxmlformats.org/officeDocument/2006/relationships/notesSlide" Target="../notesSlides/notesSlide2.xml"/><Relationship Id="rId16"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27.jpeg"/><Relationship Id="rId3" Type="http://schemas.openxmlformats.org/officeDocument/2006/relationships/image" Target="../media/image20.jpeg"/><Relationship Id="rId7" Type="http://schemas.openxmlformats.org/officeDocument/2006/relationships/image" Target="../media/image10.png"/><Relationship Id="rId12" Type="http://schemas.openxmlformats.org/officeDocument/2006/relationships/image" Target="../media/image26.jpeg"/><Relationship Id="rId2" Type="http://schemas.openxmlformats.org/officeDocument/2006/relationships/image" Target="../media/image19.jpe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25.jpeg"/><Relationship Id="rId5" Type="http://schemas.openxmlformats.org/officeDocument/2006/relationships/image" Target="../media/image22.jpeg"/><Relationship Id="rId10" Type="http://schemas.openxmlformats.org/officeDocument/2006/relationships/image" Target="../media/image24.jpeg"/><Relationship Id="rId4" Type="http://schemas.openxmlformats.org/officeDocument/2006/relationships/image" Target="../media/image21.jpeg"/><Relationship Id="rId9" Type="http://schemas.openxmlformats.org/officeDocument/2006/relationships/image" Target="../media/image23.png"/><Relationship Id="rId14" Type="http://schemas.openxmlformats.org/officeDocument/2006/relationships/image" Target="../media/image28.jpeg"/></Relationships>
</file>

<file path=ppt/slides/_rels/slide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jpeg"/></Relationships>
</file>

<file path=ppt/slides/_rels/slide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2.xml"/><Relationship Id="rId5" Type="http://schemas.openxmlformats.org/officeDocument/2006/relationships/image" Target="../media/image38.jpeg"/><Relationship Id="rId4" Type="http://schemas.openxmlformats.org/officeDocument/2006/relationships/image" Target="../media/image3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8"/>
          <p:cNvSpPr txBox="1"/>
          <p:nvPr/>
        </p:nvSpPr>
        <p:spPr>
          <a:xfrm>
            <a:off x="390782" y="728056"/>
            <a:ext cx="4567212" cy="584775"/>
          </a:xfrm>
          <a:prstGeom prst="rect">
            <a:avLst/>
          </a:prstGeom>
          <a:noFill/>
        </p:spPr>
        <p:txBody>
          <a:bodyPr wrap="none" rtlCol="0">
            <a:spAutoFit/>
          </a:bodyPr>
          <a:lstStyle/>
          <a:p>
            <a:pPr>
              <a:lnSpc>
                <a:spcPct val="150000"/>
              </a:lnSpc>
            </a:pPr>
            <a:r>
              <a:rPr lang="en-US" altLang="ko-KR" sz="1400" b="1">
                <a:latin typeface="+mn-ea"/>
                <a:cs typeface="Arial" pitchFamily="34" charset="0"/>
              </a:rPr>
              <a:t>How</a:t>
            </a:r>
            <a:r>
              <a:rPr lang="ko-KR" altLang="en-US" sz="1400" b="1">
                <a:latin typeface="+mn-ea"/>
                <a:cs typeface="Arial" pitchFamily="34" charset="0"/>
              </a:rPr>
              <a:t> </a:t>
            </a:r>
            <a:r>
              <a:rPr lang="en-US" altLang="ko-KR" sz="1400" b="1">
                <a:latin typeface="+mn-ea"/>
                <a:cs typeface="Arial" pitchFamily="34" charset="0"/>
              </a:rPr>
              <a:t>to check Impedance measured by InBodyS10</a:t>
            </a:r>
            <a:r>
              <a:rPr lang="ko-KR" altLang="en-US" sz="1400" b="1">
                <a:latin typeface="+mn-ea"/>
                <a:cs typeface="Arial" pitchFamily="34" charset="0"/>
              </a:rPr>
              <a:t> </a:t>
            </a:r>
            <a:endParaRPr lang="en-US" altLang="ko-KR" sz="1400" b="1">
              <a:latin typeface="+mn-ea"/>
              <a:cs typeface="Arial" pitchFamily="34" charset="0"/>
            </a:endParaRPr>
          </a:p>
          <a:p>
            <a:pPr>
              <a:buFont typeface="Wingdings"/>
              <a:buChar char="à"/>
            </a:pPr>
            <a:r>
              <a:rPr lang="en-US" altLang="ko-KR" sz="1100" b="1">
                <a:latin typeface="+mn-ea"/>
                <a:cs typeface="Arial" pitchFamily="34" charset="0"/>
                <a:sym typeface="Wingdings" pitchFamily="2" charset="2"/>
              </a:rPr>
              <a:t> Guide to evaluate measurement error</a:t>
            </a:r>
            <a:endParaRPr lang="en-US" altLang="ko-KR" sz="1100" b="1" dirty="0">
              <a:latin typeface="+mn-ea"/>
              <a:cs typeface="Arial" pitchFamily="34" charset="0"/>
              <a:sym typeface="Wingdings" pitchFamily="2" charset="2"/>
            </a:endParaRPr>
          </a:p>
        </p:txBody>
      </p:sp>
      <p:sp>
        <p:nvSpPr>
          <p:cNvPr id="13" name="TextBox 12"/>
          <p:cNvSpPr txBox="1"/>
          <p:nvPr/>
        </p:nvSpPr>
        <p:spPr>
          <a:xfrm>
            <a:off x="441328" y="1352600"/>
            <a:ext cx="5940000" cy="2169825"/>
          </a:xfrm>
          <a:prstGeom prst="rect">
            <a:avLst/>
          </a:prstGeom>
          <a:noFill/>
        </p:spPr>
        <p:txBody>
          <a:bodyPr wrap="square" rtlCol="0">
            <a:spAutoFit/>
          </a:bodyPr>
          <a:lstStyle/>
          <a:p>
            <a:pPr algn="just">
              <a:lnSpc>
                <a:spcPct val="150000"/>
              </a:lnSpc>
            </a:pPr>
            <a:r>
              <a:rPr lang="en-US" altLang="ko-KR" sz="1000" b="1">
                <a:latin typeface="맑은 고딕"/>
                <a:ea typeface="맑은 고딕"/>
              </a:rPr>
              <a:t>Impedance value is the raw data directly measured from InBody. Impedance indicates resistance which disturbs the flow of alternating current.</a:t>
            </a:r>
            <a:r>
              <a:rPr lang="en-US" altLang="ko-KR" sz="1000">
                <a:latin typeface="맑은 고딕"/>
                <a:ea typeface="맑은 고딕"/>
              </a:rPr>
              <a:t> InBody measures this impedance by flowing a broad range of alternating current to the body through body water, and interpreting the body composition by interpreting these values. </a:t>
            </a:r>
            <a:endParaRPr lang="en-US" altLang="ko-KR" sz="300" dirty="0">
              <a:latin typeface="맑은 고딕"/>
              <a:ea typeface="맑은 고딕"/>
            </a:endParaRPr>
          </a:p>
          <a:p>
            <a:pPr algn="just">
              <a:lnSpc>
                <a:spcPct val="150000"/>
              </a:lnSpc>
            </a:pPr>
            <a:r>
              <a:rPr lang="en-US" altLang="ko-KR" sz="1000" b="1">
                <a:latin typeface="맑은 고딕"/>
                <a:ea typeface="맑은 고딕"/>
              </a:rPr>
              <a:t>The measurement error can be detected by checking result sheet or LCD screen of InBodyS10.</a:t>
            </a:r>
          </a:p>
          <a:p>
            <a:pPr algn="just">
              <a:lnSpc>
                <a:spcPct val="150000"/>
              </a:lnSpc>
            </a:pPr>
            <a:r>
              <a:rPr lang="en-US" altLang="ko-KR" sz="1000">
                <a:latin typeface="맑은 고딕"/>
                <a:ea typeface="맑은 고딕"/>
              </a:rPr>
              <a:t>InBody sends alternating currents from low (1kHz) to high (1,000kHz) frequency to the body, and the high frequency flows through the cell membrane and flows along the whole body water. On the other hand, low frequency mainly flows along the extracellular water due to the resistance of the cell membrane which leads to the higher impedance than that of high frequency. </a:t>
            </a:r>
            <a:endParaRPr lang="en-US" altLang="ko-KR" sz="1000" dirty="0">
              <a:latin typeface="맑은 고딕"/>
              <a:ea typeface="맑은 고딕"/>
            </a:endParaRPr>
          </a:p>
        </p:txBody>
      </p:sp>
      <p:sp>
        <p:nvSpPr>
          <p:cNvPr id="15" name="TextBox 14"/>
          <p:cNvSpPr txBox="1"/>
          <p:nvPr/>
        </p:nvSpPr>
        <p:spPr>
          <a:xfrm>
            <a:off x="450853" y="5403046"/>
            <a:ext cx="5940000" cy="2862322"/>
          </a:xfrm>
          <a:prstGeom prst="rect">
            <a:avLst/>
          </a:prstGeom>
          <a:noFill/>
        </p:spPr>
        <p:txBody>
          <a:bodyPr wrap="square" rtlCol="0">
            <a:spAutoFit/>
          </a:bodyPr>
          <a:lstStyle/>
          <a:p>
            <a:pPr algn="just">
              <a:lnSpc>
                <a:spcPct val="150000"/>
              </a:lnSpc>
            </a:pPr>
            <a:r>
              <a:rPr lang="en-US" altLang="ko-KR" sz="1000"/>
              <a:t>Therefore, If the test is done in proper way, impedance is measured as above which reflects the characteristics of each frequency and body segment. In this background, the measurement error can be checked from the Impedance value in the right bottom of the result sheet or on a LCD result screen.</a:t>
            </a:r>
          </a:p>
          <a:p>
            <a:pPr algn="just">
              <a:lnSpc>
                <a:spcPct val="150000"/>
              </a:lnSpc>
            </a:pPr>
            <a:endParaRPr lang="en-US" altLang="ko-KR" sz="500" dirty="0"/>
          </a:p>
          <a:p>
            <a:pPr algn="just">
              <a:lnSpc>
                <a:spcPct val="150000"/>
              </a:lnSpc>
            </a:pPr>
            <a:r>
              <a:rPr lang="en-US" altLang="ko-KR" sz="1000">
                <a:solidFill>
                  <a:srgbClr val="FF0000"/>
                </a:solidFill>
                <a:latin typeface="맑은 고딕"/>
                <a:ea typeface="맑은 고딕"/>
              </a:rPr>
              <a:t>① Reversed Impedance in RA, LA, TR, RL, LL all between 5-500kHz</a:t>
            </a:r>
            <a:endParaRPr lang="ko-KR" altLang="ko-KR" sz="1000">
              <a:solidFill>
                <a:srgbClr val="FF0000"/>
              </a:solidFill>
              <a:latin typeface="맑은 고딕"/>
              <a:ea typeface="맑은 고딕"/>
            </a:endParaRPr>
          </a:p>
          <a:p>
            <a:pPr algn="just">
              <a:lnSpc>
                <a:spcPct val="150000"/>
              </a:lnSpc>
            </a:pPr>
            <a:r>
              <a:rPr lang="en-US" altLang="ko-KR" sz="1000">
                <a:solidFill>
                  <a:srgbClr val="FF0000"/>
                </a:solidFill>
                <a:latin typeface="맑은 고딕"/>
                <a:ea typeface="맑은 고딕"/>
              </a:rPr>
              <a:t>② Impedance over 50</a:t>
            </a:r>
            <a:r>
              <a:rPr lang="el-GR" altLang="ko-KR" sz="1000">
                <a:solidFill>
                  <a:srgbClr val="FF0000"/>
                </a:solidFill>
                <a:latin typeface="맑은 고딕"/>
                <a:ea typeface="맑은 고딕"/>
              </a:rPr>
              <a:t>Ω</a:t>
            </a:r>
            <a:r>
              <a:rPr lang="en-US" altLang="ko-KR" sz="1000">
                <a:solidFill>
                  <a:srgbClr val="FF0000"/>
                </a:solidFill>
                <a:latin typeface="맑은 고딕"/>
                <a:ea typeface="맑은 고딕"/>
              </a:rPr>
              <a:t> in trunk, or over 700</a:t>
            </a:r>
            <a:r>
              <a:rPr lang="el-GR" altLang="ko-KR" sz="1000">
                <a:solidFill>
                  <a:srgbClr val="FF0000"/>
                </a:solidFill>
                <a:latin typeface="맑은 고딕"/>
                <a:ea typeface="맑은 고딕"/>
              </a:rPr>
              <a:t>Ω</a:t>
            </a:r>
            <a:r>
              <a:rPr lang="ko-KR" altLang="en-US" sz="1000">
                <a:solidFill>
                  <a:srgbClr val="FF0000"/>
                </a:solidFill>
                <a:latin typeface="맑은 고딕"/>
                <a:ea typeface="맑은 고딕"/>
              </a:rPr>
              <a:t> </a:t>
            </a:r>
            <a:r>
              <a:rPr lang="en-US" altLang="ko-KR" sz="1000">
                <a:solidFill>
                  <a:srgbClr val="FF0000"/>
                </a:solidFill>
                <a:latin typeface="맑은 고딕"/>
                <a:ea typeface="맑은 고딕"/>
              </a:rPr>
              <a:t>in limb</a:t>
            </a:r>
          </a:p>
          <a:p>
            <a:pPr algn="just">
              <a:lnSpc>
                <a:spcPct val="150000"/>
              </a:lnSpc>
            </a:pPr>
            <a:r>
              <a:rPr lang="en-US" altLang="ko-KR" sz="1000">
                <a:solidFill>
                  <a:srgbClr val="FF0000"/>
                </a:solidFill>
                <a:latin typeface="맑은 고딕"/>
                <a:ea typeface="맑은 고딕"/>
              </a:rPr>
              <a:t>③ Sudden drop of impedance in trunk (more than 10</a:t>
            </a:r>
            <a:r>
              <a:rPr lang="el-GR" altLang="ko-KR" sz="1000">
                <a:solidFill>
                  <a:srgbClr val="FF0000"/>
                </a:solidFill>
                <a:latin typeface="맑은 고딕"/>
                <a:ea typeface="맑은 고딕"/>
              </a:rPr>
              <a:t>Ω</a:t>
            </a:r>
            <a:r>
              <a:rPr lang="en-US" altLang="ko-KR" sz="1000">
                <a:solidFill>
                  <a:srgbClr val="FF0000"/>
                </a:solidFill>
                <a:latin typeface="맑은 고딕"/>
                <a:ea typeface="맑은 고딕"/>
              </a:rPr>
              <a:t>), or in limb (more than 50</a:t>
            </a:r>
            <a:r>
              <a:rPr lang="el-GR" altLang="ko-KR" sz="1000">
                <a:solidFill>
                  <a:srgbClr val="FF0000"/>
                </a:solidFill>
                <a:latin typeface="맑은 고딕"/>
                <a:ea typeface="맑은 고딕"/>
              </a:rPr>
              <a:t>Ω</a:t>
            </a:r>
            <a:r>
              <a:rPr lang="en-US" altLang="ko-KR" sz="1000">
                <a:solidFill>
                  <a:srgbClr val="FF0000"/>
                </a:solidFill>
                <a:latin typeface="맑은 고딕"/>
                <a:ea typeface="맑은 고딕"/>
              </a:rPr>
              <a:t>)</a:t>
            </a:r>
            <a:endParaRPr lang="en-US" altLang="ko-KR" sz="500" dirty="0">
              <a:latin typeface="맑은 고딕"/>
              <a:ea typeface="맑은 고딕"/>
            </a:endParaRPr>
          </a:p>
          <a:p>
            <a:pPr algn="just">
              <a:lnSpc>
                <a:spcPct val="150000"/>
              </a:lnSpc>
            </a:pPr>
            <a:endParaRPr lang="en-US" altLang="ko-KR" sz="500"/>
          </a:p>
          <a:p>
            <a:pPr algn="just">
              <a:lnSpc>
                <a:spcPct val="150000"/>
              </a:lnSpc>
            </a:pPr>
            <a:r>
              <a:rPr lang="en-US" altLang="ko-KR" sz="1000"/>
              <a:t>Even though it does not detect all the measurement errors, it can be used as an initial screening for odd values in body composition results. </a:t>
            </a:r>
            <a:r>
              <a:rPr lang="en-US" altLang="ko-KR" sz="1000">
                <a:solidFill>
                  <a:srgbClr val="FF0000"/>
                </a:solidFill>
                <a:latin typeface="맑은 고딕"/>
                <a:ea typeface="맑은 고딕"/>
              </a:rPr>
              <a:t>Because most of the measurement errors are caused by keratin and dryness, it can be solved by moisturizing electrode contacting point using electrolyte tissue. If error continues, attach teared electrolyte tissue directly to the electrode. </a:t>
            </a:r>
            <a:endParaRPr lang="ko-KR" altLang="ko-KR" sz="1000">
              <a:solidFill>
                <a:srgbClr val="FF0000"/>
              </a:solidFill>
              <a:latin typeface="맑은 고딕"/>
              <a:ea typeface="맑은 고딕"/>
            </a:endParaRPr>
          </a:p>
        </p:txBody>
      </p:sp>
      <p:sp>
        <p:nvSpPr>
          <p:cNvPr id="1029" name="直線コネクタ 3"/>
          <p:cNvSpPr>
            <a:spLocks noChangeShapeType="1"/>
          </p:cNvSpPr>
          <p:nvPr/>
        </p:nvSpPr>
        <p:spPr bwMode="auto">
          <a:xfrm>
            <a:off x="558207" y="8265368"/>
            <a:ext cx="2314575"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ko-KR" altLang="en-US" dirty="0"/>
          </a:p>
        </p:txBody>
      </p:sp>
      <p:sp>
        <p:nvSpPr>
          <p:cNvPr id="19" name="TextBox 18"/>
          <p:cNvSpPr txBox="1"/>
          <p:nvPr/>
        </p:nvSpPr>
        <p:spPr>
          <a:xfrm>
            <a:off x="476672" y="8265370"/>
            <a:ext cx="5940000" cy="1131079"/>
          </a:xfrm>
          <a:prstGeom prst="rect">
            <a:avLst/>
          </a:prstGeom>
          <a:noFill/>
        </p:spPr>
        <p:txBody>
          <a:bodyPr wrap="square" rtlCol="0">
            <a:spAutoFit/>
          </a:bodyPr>
          <a:lstStyle/>
          <a:p>
            <a:pPr algn="just">
              <a:lnSpc>
                <a:spcPct val="150000"/>
              </a:lnSpc>
            </a:pPr>
            <a:r>
              <a:rPr lang="en-US" altLang="ko-KR" sz="900">
                <a:latin typeface="맑은 고딕"/>
                <a:ea typeface="맑은 고딕"/>
              </a:rPr>
              <a:t>※ </a:t>
            </a:r>
            <a:r>
              <a:rPr lang="en-US" altLang="ko-KR" sz="900"/>
              <a:t>Trunk impedance is frequently reversed between 1~5kHz, and 500~1,000kHz especially for the patients with ascites or pleural effusion. </a:t>
            </a:r>
            <a:r>
              <a:rPr lang="en-US" altLang="ko-KR" sz="900">
                <a:latin typeface="맑은 고딕" panose="020B0503020000020004" pitchFamily="50" charset="-127"/>
              </a:rPr>
              <a:t>Generally, the impedance is low when the water is high, and the impedance of the body is measured very low for the ascites and pleural effusion because the water is accumulated in trunk area. It happens because the characteristics of 1~5kHz, 500~1,000kHz is very similar and therefore, the data in this cas is normally used. </a:t>
            </a:r>
            <a:endParaRPr lang="en-US" altLang="ko-KR" sz="900" dirty="0">
              <a:latin typeface="맑은 고딕" panose="020B0503020000020004" pitchFamily="50" charset="-127"/>
            </a:endParaRPr>
          </a:p>
        </p:txBody>
      </p:sp>
      <p:pic>
        <p:nvPicPr>
          <p:cNvPr id="11" name="Picture 2"/>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92579" y="3569965"/>
            <a:ext cx="1971675" cy="1743075"/>
          </a:xfrm>
          <a:prstGeom prst="rect">
            <a:avLst/>
          </a:prstGeom>
          <a:noFill/>
          <a:ln>
            <a:noFill/>
          </a:ln>
          <a:effectLst/>
        </p:spPr>
      </p:pic>
      <p:pic>
        <p:nvPicPr>
          <p:cNvPr id="12" name="Picture 4"/>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84986" y="3834356"/>
            <a:ext cx="2624455" cy="1247775"/>
          </a:xfrm>
          <a:prstGeom prst="rect">
            <a:avLst/>
          </a:prstGeom>
          <a:noFill/>
          <a:ln>
            <a:noFill/>
          </a:ln>
          <a:effectLst/>
        </p:spPr>
      </p:pic>
      <p:sp>
        <p:nvSpPr>
          <p:cNvPr id="1026" name="下矢印 3"/>
          <p:cNvSpPr>
            <a:spLocks noChangeArrowheads="1"/>
          </p:cNvSpPr>
          <p:nvPr/>
        </p:nvSpPr>
        <p:spPr bwMode="auto">
          <a:xfrm>
            <a:off x="5949280" y="4054971"/>
            <a:ext cx="133350" cy="933451"/>
          </a:xfrm>
          <a:prstGeom prst="downArrow">
            <a:avLst>
              <a:gd name="adj1" fmla="val 50000"/>
              <a:gd name="adj2" fmla="val 50005"/>
            </a:avLst>
          </a:prstGeom>
          <a:solidFill>
            <a:srgbClr val="C00000"/>
          </a:solidFill>
          <a:ln w="25400">
            <a:noFill/>
            <a:miter lim="800000"/>
            <a:headEnd/>
            <a:tailEnd/>
          </a:ln>
        </p:spPr>
        <p:txBody>
          <a:bodyPr vert="horz" wrap="square" lIns="91440" tIns="45720" rIns="91440" bIns="45720" numCol="1" anchor="ctr" anchorCtr="0" compatLnSpc="1">
            <a:prstTxWarp prst="textNoShape">
              <a:avLst/>
            </a:prstTxWarp>
          </a:bodyPr>
          <a:lstStyle/>
          <a:p>
            <a:endParaRPr lang="ko-KR" altLang="en-US"/>
          </a:p>
        </p:txBody>
      </p:sp>
      <p:sp>
        <p:nvSpPr>
          <p:cNvPr id="14" name="바닥글 개체 틀 69"/>
          <p:cNvSpPr>
            <a:spLocks noGrp="1"/>
          </p:cNvSpPr>
          <p:nvPr>
            <p:ph type="ftr" sz="quarter" idx="11"/>
          </p:nvPr>
        </p:nvSpPr>
        <p:spPr>
          <a:xfrm>
            <a:off x="2343150" y="9181396"/>
            <a:ext cx="2171700" cy="527401"/>
          </a:xfrm>
        </p:spPr>
        <p:txBody>
          <a:bodyPr/>
          <a:lstStyle/>
          <a:p>
            <a:r>
              <a:rPr lang="en-US" altLang="ko-KR" sz="800" dirty="0" err="1"/>
              <a:t>InBody</a:t>
            </a:r>
            <a:r>
              <a:rPr lang="en-US" altLang="ko-KR" sz="800" dirty="0"/>
              <a:t> Co., Ltd.</a:t>
            </a:r>
            <a:endParaRPr lang="ko-KR" altLang="en-US" sz="800" dirty="0"/>
          </a:p>
        </p:txBody>
      </p:sp>
      <p:sp>
        <p:nvSpPr>
          <p:cNvPr id="16" name="날짜 개체 틀 70"/>
          <p:cNvSpPr>
            <a:spLocks noGrp="1"/>
          </p:cNvSpPr>
          <p:nvPr>
            <p:ph type="dt" sz="half" idx="10"/>
          </p:nvPr>
        </p:nvSpPr>
        <p:spPr>
          <a:xfrm>
            <a:off x="342900" y="9181396"/>
            <a:ext cx="1600200" cy="527401"/>
          </a:xfrm>
        </p:spPr>
        <p:txBody>
          <a:bodyPr/>
          <a:lstStyle/>
          <a:p>
            <a:r>
              <a:rPr lang="en-US" altLang="ko-KR" sz="800" dirty="0"/>
              <a:t>IB-202-001  </a:t>
            </a:r>
            <a:endParaRPr lang="ko-KR" altLang="en-US" sz="800" dirty="0"/>
          </a:p>
        </p:txBody>
      </p:sp>
      <p:sp>
        <p:nvSpPr>
          <p:cNvPr id="17" name="슬라이드 번호 개체 틀 71"/>
          <p:cNvSpPr>
            <a:spLocks noGrp="1"/>
          </p:cNvSpPr>
          <p:nvPr>
            <p:ph type="sldNum" sz="quarter" idx="12"/>
          </p:nvPr>
        </p:nvSpPr>
        <p:spPr>
          <a:xfrm>
            <a:off x="4914900" y="9181396"/>
            <a:ext cx="1600200" cy="527401"/>
          </a:xfrm>
        </p:spPr>
        <p:txBody>
          <a:bodyPr/>
          <a:lstStyle/>
          <a:p>
            <a:r>
              <a:rPr lang="en-US" altLang="ko-KR" sz="800" dirty="0"/>
              <a:t>Rev:0</a:t>
            </a:r>
            <a:endParaRPr lang="ko-KR" alt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그림 5"/>
          <p:cNvPicPr>
            <a:picLocks noChangeAspect="1"/>
          </p:cNvPicPr>
          <p:nvPr/>
        </p:nvPicPr>
        <p:blipFill>
          <a:blip r:embed="rId3"/>
          <a:stretch>
            <a:fillRect/>
          </a:stretch>
        </p:blipFill>
        <p:spPr>
          <a:xfrm>
            <a:off x="3931677" y="7585879"/>
            <a:ext cx="1564356" cy="1677010"/>
          </a:xfrm>
          <a:prstGeom prst="rect">
            <a:avLst/>
          </a:prstGeom>
        </p:spPr>
      </p:pic>
      <p:pic>
        <p:nvPicPr>
          <p:cNvPr id="5" name="그림 4"/>
          <p:cNvPicPr>
            <a:picLocks noChangeAspect="1"/>
          </p:cNvPicPr>
          <p:nvPr/>
        </p:nvPicPr>
        <p:blipFill>
          <a:blip r:embed="rId4"/>
          <a:stretch>
            <a:fillRect/>
          </a:stretch>
        </p:blipFill>
        <p:spPr>
          <a:xfrm>
            <a:off x="3517932" y="5015536"/>
            <a:ext cx="1229659" cy="863604"/>
          </a:xfrm>
          <a:prstGeom prst="rect">
            <a:avLst/>
          </a:prstGeom>
        </p:spPr>
      </p:pic>
      <p:sp>
        <p:nvSpPr>
          <p:cNvPr id="2" name="TextBox 1"/>
          <p:cNvSpPr txBox="1"/>
          <p:nvPr/>
        </p:nvSpPr>
        <p:spPr>
          <a:xfrm>
            <a:off x="390782" y="745472"/>
            <a:ext cx="3751348" cy="569387"/>
          </a:xfrm>
          <a:prstGeom prst="rect">
            <a:avLst/>
          </a:prstGeom>
          <a:noFill/>
        </p:spPr>
        <p:txBody>
          <a:bodyPr wrap="none" rtlCol="0">
            <a:spAutoFit/>
          </a:bodyPr>
          <a:lstStyle/>
          <a:p>
            <a:pPr>
              <a:lnSpc>
                <a:spcPct val="150000"/>
              </a:lnSpc>
            </a:pPr>
            <a:r>
              <a:rPr lang="en-US" altLang="ko-KR" sz="1400" b="1">
                <a:latin typeface="Arial" pitchFamily="34" charset="0"/>
                <a:cs typeface="Arial" pitchFamily="34" charset="0"/>
              </a:rPr>
              <a:t>How to connect the InBodyS10 electrodes</a:t>
            </a:r>
            <a:endParaRPr lang="en-US" altLang="ko-KR" sz="1400" b="1" dirty="0">
              <a:latin typeface="Arial" pitchFamily="34" charset="0"/>
              <a:cs typeface="Arial" pitchFamily="34" charset="0"/>
            </a:endParaRPr>
          </a:p>
          <a:p>
            <a:pPr>
              <a:buFont typeface="Wingdings"/>
              <a:buChar char="à"/>
            </a:pPr>
            <a:r>
              <a:rPr lang="en-US" altLang="ko-KR" sz="1000" b="1">
                <a:latin typeface="Arial" pitchFamily="34" charset="0"/>
                <a:cs typeface="Arial" pitchFamily="34" charset="0"/>
                <a:sym typeface="Wingdings" pitchFamily="2" charset="2"/>
              </a:rPr>
              <a:t>Touch type and Adhesive type </a:t>
            </a:r>
            <a:endParaRPr lang="en-US" altLang="ko-KR" sz="1000" b="1" dirty="0">
              <a:latin typeface="Arial" pitchFamily="34" charset="0"/>
              <a:cs typeface="Arial" pitchFamily="34" charset="0"/>
              <a:sym typeface="Wingdings" pitchFamily="2" charset="2"/>
            </a:endParaRPr>
          </a:p>
        </p:txBody>
      </p:sp>
      <p:grpSp>
        <p:nvGrpSpPr>
          <p:cNvPr id="54" name="그룹 53"/>
          <p:cNvGrpSpPr/>
          <p:nvPr/>
        </p:nvGrpSpPr>
        <p:grpSpPr>
          <a:xfrm>
            <a:off x="358448" y="1801160"/>
            <a:ext cx="6454928" cy="4355070"/>
            <a:chOff x="416574" y="1801160"/>
            <a:chExt cx="6454928" cy="4355070"/>
          </a:xfrm>
        </p:grpSpPr>
        <p:pic>
          <p:nvPicPr>
            <p:cNvPr id="32" name="Picture 2"/>
            <p:cNvPicPr>
              <a:picLocks noChangeAspect="1" noChangeArrowheads="1"/>
            </p:cNvPicPr>
            <p:nvPr/>
          </p:nvPicPr>
          <p:blipFill>
            <a:blip r:embed="rId5" cstate="print"/>
            <a:srcRect/>
            <a:stretch>
              <a:fillRect/>
            </a:stretch>
          </p:blipFill>
          <p:spPr bwMode="auto">
            <a:xfrm rot="14418202">
              <a:off x="3116877" y="3593506"/>
              <a:ext cx="300178" cy="482444"/>
            </a:xfrm>
            <a:prstGeom prst="rect">
              <a:avLst/>
            </a:prstGeom>
            <a:noFill/>
            <a:ln w="9525">
              <a:noFill/>
              <a:miter lim="800000"/>
              <a:headEnd/>
              <a:tailEnd/>
            </a:ln>
          </p:spPr>
        </p:pic>
        <p:sp>
          <p:nvSpPr>
            <p:cNvPr id="33" name="직사각형 32"/>
            <p:cNvSpPr/>
            <p:nvPr/>
          </p:nvSpPr>
          <p:spPr>
            <a:xfrm>
              <a:off x="416574" y="2162924"/>
              <a:ext cx="4176464" cy="1454244"/>
            </a:xfrm>
            <a:prstGeom prst="rect">
              <a:avLst/>
            </a:prstGeom>
          </p:spPr>
          <p:txBody>
            <a:bodyPr wrap="square" anchor="ctr">
              <a:spAutoFit/>
            </a:bodyPr>
            <a:lstStyle/>
            <a:p>
              <a:pPr marL="228600" indent="-228600">
                <a:lnSpc>
                  <a:spcPct val="150000"/>
                </a:lnSpc>
              </a:pPr>
              <a:r>
                <a:rPr lang="en-US" altLang="ko-KR" sz="1000" b="1">
                  <a:latin typeface="맑은 고딕" pitchFamily="50" charset="-127"/>
                  <a:ea typeface="맑은 고딕" pitchFamily="50" charset="-127"/>
                </a:rPr>
                <a:t>1. Hand electrodes</a:t>
              </a:r>
              <a:endParaRPr lang="en-US" altLang="ko-KR" sz="1000" b="1" dirty="0">
                <a:latin typeface="맑은 고딕" pitchFamily="50" charset="-127"/>
                <a:ea typeface="맑은 고딕" pitchFamily="50" charset="-127"/>
              </a:endParaRPr>
            </a:p>
            <a:p>
              <a:pPr marL="228600" indent="-228600">
                <a:lnSpc>
                  <a:spcPct val="150000"/>
                </a:lnSpc>
              </a:pPr>
              <a:r>
                <a:rPr lang="en-US" altLang="ko-KR" sz="1000">
                  <a:latin typeface="맑은 고딕" pitchFamily="50" charset="-127"/>
                  <a:ea typeface="맑은 고딕" pitchFamily="50" charset="-127"/>
                </a:rPr>
                <a:t>LA: connect to Left Arm. RA: connect to Right Arm</a:t>
              </a:r>
            </a:p>
            <a:p>
              <a:pPr marL="228600" indent="-228600">
                <a:lnSpc>
                  <a:spcPct val="150000"/>
                </a:lnSpc>
              </a:pPr>
              <a:r>
                <a:rPr lang="en-US" altLang="ko-KR" sz="1000">
                  <a:latin typeface="맑은 고딕" pitchFamily="50" charset="-127"/>
                  <a:ea typeface="맑은 고딕" pitchFamily="50" charset="-127"/>
                </a:rPr>
                <a:t>The hand electrodes are marked THUMB for the thumg and MIDDLE for the middle finger.</a:t>
              </a:r>
            </a:p>
            <a:p>
              <a:pPr marL="228600" indent="-228600">
                <a:lnSpc>
                  <a:spcPct val="150000"/>
                </a:lnSpc>
              </a:pPr>
              <a:r>
                <a:rPr lang="en-US" altLang="ko-KR" sz="1000">
                  <a:solidFill>
                    <a:srgbClr val="FF0000"/>
                  </a:solidFill>
                  <a:latin typeface="맑은 고딕" pitchFamily="50" charset="-127"/>
                  <a:ea typeface="맑은 고딕" pitchFamily="50" charset="-127"/>
                </a:rPr>
                <a:t>      </a:t>
              </a:r>
              <a:r>
                <a:rPr lang="en-US" altLang="ko-KR" sz="900">
                  <a:solidFill>
                    <a:srgbClr val="FF0000"/>
                  </a:solidFill>
                  <a:latin typeface="맑은 고딕" pitchFamily="50" charset="-127"/>
                  <a:ea typeface="맑은 고딕" pitchFamily="50" charset="-127"/>
                </a:rPr>
                <a:t>Let the finger print touches the aluminum electrodes, </a:t>
              </a:r>
              <a:br>
                <a:rPr lang="en-US" altLang="ko-KR" sz="900">
                  <a:solidFill>
                    <a:srgbClr val="FF0000"/>
                  </a:solidFill>
                  <a:latin typeface="맑은 고딕" pitchFamily="50" charset="-127"/>
                  <a:ea typeface="맑은 고딕" pitchFamily="50" charset="-127"/>
                </a:rPr>
              </a:br>
              <a:r>
                <a:rPr lang="en-US" altLang="ko-KR" sz="900">
                  <a:solidFill>
                    <a:srgbClr val="FF0000"/>
                  </a:solidFill>
                  <a:latin typeface="맑은 고딕" pitchFamily="50" charset="-127"/>
                  <a:ea typeface="맑은 고딕" pitchFamily="50" charset="-127"/>
                </a:rPr>
                <a:t> not nail. </a:t>
              </a:r>
              <a:endParaRPr lang="en-US" altLang="ko-KR" sz="900" dirty="0">
                <a:solidFill>
                  <a:srgbClr val="FF0000"/>
                </a:solidFill>
                <a:latin typeface="맑은 고딕" pitchFamily="50" charset="-127"/>
                <a:ea typeface="맑은 고딕" pitchFamily="50" charset="-127"/>
              </a:endParaRPr>
            </a:p>
          </p:txBody>
        </p:sp>
        <p:sp>
          <p:nvSpPr>
            <p:cNvPr id="34" name="TextBox 33"/>
            <p:cNvSpPr txBox="1"/>
            <p:nvPr/>
          </p:nvSpPr>
          <p:spPr>
            <a:xfrm>
              <a:off x="728714" y="1910687"/>
              <a:ext cx="2196000" cy="246221"/>
            </a:xfrm>
            <a:prstGeom prst="rect">
              <a:avLst/>
            </a:prstGeom>
            <a:solidFill>
              <a:srgbClr val="FFFF00"/>
            </a:solidFill>
          </p:spPr>
          <p:txBody>
            <a:bodyPr wrap="square" rtlCol="0">
              <a:spAutoFit/>
            </a:bodyPr>
            <a:lstStyle/>
            <a:p>
              <a:r>
                <a:rPr lang="en-US" altLang="ko-KR" sz="1000" b="1"/>
                <a:t>How to connect touch type</a:t>
              </a:r>
              <a:endParaRPr lang="ko-KR" altLang="en-US" sz="1000" b="1" dirty="0"/>
            </a:p>
          </p:txBody>
        </p:sp>
        <p:pic>
          <p:nvPicPr>
            <p:cNvPr id="35" name="Picture 3"/>
            <p:cNvPicPr>
              <a:picLocks noChangeAspect="1" noChangeArrowheads="1"/>
            </p:cNvPicPr>
            <p:nvPr/>
          </p:nvPicPr>
          <p:blipFill>
            <a:blip r:embed="rId6" cstate="print">
              <a:duotone>
                <a:schemeClr val="accent4">
                  <a:shade val="45000"/>
                  <a:satMod val="135000"/>
                </a:schemeClr>
                <a:prstClr val="white"/>
              </a:duotone>
            </a:blip>
            <a:srcRect/>
            <a:stretch>
              <a:fillRect/>
            </a:stretch>
          </p:blipFill>
          <p:spPr bwMode="auto">
            <a:xfrm>
              <a:off x="419357" y="1801160"/>
              <a:ext cx="394390" cy="416609"/>
            </a:xfrm>
            <a:prstGeom prst="rect">
              <a:avLst/>
            </a:prstGeom>
            <a:noFill/>
            <a:ln w="9525">
              <a:noFill/>
              <a:miter lim="800000"/>
              <a:headEnd/>
              <a:tailEnd/>
            </a:ln>
          </p:spPr>
        </p:pic>
        <p:pic>
          <p:nvPicPr>
            <p:cNvPr id="36" name="Picture 3"/>
            <p:cNvPicPr>
              <a:picLocks noChangeAspect="1" noChangeArrowheads="1"/>
            </p:cNvPicPr>
            <p:nvPr/>
          </p:nvPicPr>
          <p:blipFill>
            <a:blip r:embed="rId7" cstate="print"/>
            <a:srcRect/>
            <a:stretch>
              <a:fillRect/>
            </a:stretch>
          </p:blipFill>
          <p:spPr bwMode="auto">
            <a:xfrm>
              <a:off x="4671139" y="2162924"/>
              <a:ext cx="2056347" cy="1569988"/>
            </a:xfrm>
            <a:prstGeom prst="rect">
              <a:avLst/>
            </a:prstGeom>
            <a:noFill/>
            <a:ln w="9525">
              <a:noFill/>
              <a:miter lim="800000"/>
              <a:headEnd/>
              <a:tailEnd/>
            </a:ln>
          </p:spPr>
        </p:pic>
        <p:pic>
          <p:nvPicPr>
            <p:cNvPr id="37" name="Picture 6"/>
            <p:cNvPicPr>
              <a:picLocks noChangeAspect="1" noChangeArrowheads="1"/>
            </p:cNvPicPr>
            <p:nvPr/>
          </p:nvPicPr>
          <p:blipFill>
            <a:blip r:embed="rId8" cstate="print"/>
            <a:srcRect/>
            <a:stretch>
              <a:fillRect/>
            </a:stretch>
          </p:blipFill>
          <p:spPr bwMode="auto">
            <a:xfrm>
              <a:off x="5575358" y="5009277"/>
              <a:ext cx="908749" cy="576000"/>
            </a:xfrm>
            <a:prstGeom prst="rect">
              <a:avLst/>
            </a:prstGeom>
            <a:noFill/>
            <a:ln w="9525">
              <a:noFill/>
              <a:miter lim="800000"/>
              <a:headEnd/>
              <a:tailEnd/>
            </a:ln>
          </p:spPr>
        </p:pic>
        <p:pic>
          <p:nvPicPr>
            <p:cNvPr id="38" name="Picture 7"/>
            <p:cNvPicPr>
              <a:picLocks noChangeAspect="1" noChangeArrowheads="1"/>
            </p:cNvPicPr>
            <p:nvPr/>
          </p:nvPicPr>
          <p:blipFill>
            <a:blip r:embed="rId9" cstate="print"/>
            <a:srcRect/>
            <a:stretch>
              <a:fillRect/>
            </a:stretch>
          </p:blipFill>
          <p:spPr bwMode="auto">
            <a:xfrm>
              <a:off x="5670510" y="3987921"/>
              <a:ext cx="768944" cy="712307"/>
            </a:xfrm>
            <a:prstGeom prst="rect">
              <a:avLst/>
            </a:prstGeom>
            <a:noFill/>
            <a:ln w="9525">
              <a:noFill/>
              <a:miter lim="800000"/>
              <a:headEnd/>
              <a:tailEnd/>
            </a:ln>
          </p:spPr>
        </p:pic>
        <p:sp>
          <p:nvSpPr>
            <p:cNvPr id="39" name="TextBox 38"/>
            <p:cNvSpPr txBox="1"/>
            <p:nvPr/>
          </p:nvSpPr>
          <p:spPr>
            <a:xfrm>
              <a:off x="5359334" y="4716197"/>
              <a:ext cx="1512168" cy="338554"/>
            </a:xfrm>
            <a:prstGeom prst="rect">
              <a:avLst/>
            </a:prstGeom>
            <a:noFill/>
          </p:spPr>
          <p:txBody>
            <a:bodyPr wrap="square" rtlCol="0">
              <a:spAutoFit/>
            </a:bodyPr>
            <a:lstStyle/>
            <a:p>
              <a:pPr algn="ctr"/>
              <a:r>
                <a:rPr lang="en-US" altLang="ko-KR" sz="800"/>
                <a:t>&lt;Contact point for the inner side of the feet&gt;</a:t>
              </a:r>
              <a:endParaRPr lang="ko-KR" altLang="en-US" sz="800" dirty="0"/>
            </a:p>
          </p:txBody>
        </p:sp>
        <p:sp>
          <p:nvSpPr>
            <p:cNvPr id="40" name="TextBox 39"/>
            <p:cNvSpPr txBox="1"/>
            <p:nvPr/>
          </p:nvSpPr>
          <p:spPr>
            <a:xfrm>
              <a:off x="5143310" y="5673660"/>
              <a:ext cx="1584176" cy="338554"/>
            </a:xfrm>
            <a:prstGeom prst="rect">
              <a:avLst/>
            </a:prstGeom>
            <a:noFill/>
          </p:spPr>
          <p:txBody>
            <a:bodyPr wrap="square" rtlCol="0">
              <a:spAutoFit/>
            </a:bodyPr>
            <a:lstStyle/>
            <a:p>
              <a:pPr algn="ctr"/>
              <a:r>
                <a:rPr lang="en-US" altLang="ko-KR" sz="800"/>
                <a:t>&lt;Contact point for the outside of the feet&gt;</a:t>
              </a:r>
              <a:endParaRPr lang="ko-KR" altLang="en-US" sz="800" dirty="0"/>
            </a:p>
          </p:txBody>
        </p:sp>
        <p:pic>
          <p:nvPicPr>
            <p:cNvPr id="41" name="Picture 8"/>
            <p:cNvPicPr>
              <a:picLocks noChangeAspect="1" noChangeArrowheads="1"/>
            </p:cNvPicPr>
            <p:nvPr/>
          </p:nvPicPr>
          <p:blipFill>
            <a:blip r:embed="rId10" cstate="print"/>
            <a:srcRect/>
            <a:stretch>
              <a:fillRect/>
            </a:stretch>
          </p:blipFill>
          <p:spPr bwMode="auto">
            <a:xfrm>
              <a:off x="4627028" y="3764124"/>
              <a:ext cx="823364" cy="1665789"/>
            </a:xfrm>
            <a:prstGeom prst="rect">
              <a:avLst/>
            </a:prstGeom>
            <a:noFill/>
            <a:ln w="9525">
              <a:noFill/>
              <a:miter lim="800000"/>
              <a:headEnd/>
              <a:tailEnd/>
            </a:ln>
          </p:spPr>
        </p:pic>
        <p:cxnSp>
          <p:nvCxnSpPr>
            <p:cNvPr id="42" name="직선 화살표 연결선 41"/>
            <p:cNvCxnSpPr/>
            <p:nvPr/>
          </p:nvCxnSpPr>
          <p:spPr>
            <a:xfrm>
              <a:off x="5205793" y="4450296"/>
              <a:ext cx="432048" cy="0"/>
            </a:xfrm>
            <a:prstGeom prst="straightConnector1">
              <a:avLst/>
            </a:prstGeom>
            <a:ln w="28575">
              <a:solidFill>
                <a:schemeClr val="accent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3" name="직선 화살표 연결선 42"/>
            <p:cNvCxnSpPr/>
            <p:nvPr/>
          </p:nvCxnSpPr>
          <p:spPr>
            <a:xfrm>
              <a:off x="4823977" y="4453986"/>
              <a:ext cx="626415" cy="678290"/>
            </a:xfrm>
            <a:prstGeom prst="straightConnector1">
              <a:avLst/>
            </a:prstGeom>
            <a:ln w="28575">
              <a:solidFill>
                <a:schemeClr val="accent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44" name="Picture 11"/>
            <p:cNvPicPr>
              <a:picLocks noChangeAspect="1" noChangeArrowheads="1"/>
            </p:cNvPicPr>
            <p:nvPr/>
          </p:nvPicPr>
          <p:blipFill>
            <a:blip r:embed="rId11" cstate="print"/>
            <a:srcRect/>
            <a:stretch>
              <a:fillRect/>
            </a:stretch>
          </p:blipFill>
          <p:spPr bwMode="auto">
            <a:xfrm>
              <a:off x="5717464" y="4159957"/>
              <a:ext cx="246509" cy="108223"/>
            </a:xfrm>
            <a:prstGeom prst="rect">
              <a:avLst/>
            </a:prstGeom>
            <a:noFill/>
            <a:ln w="9525">
              <a:noFill/>
              <a:miter lim="800000"/>
              <a:headEnd/>
              <a:tailEnd/>
            </a:ln>
          </p:spPr>
        </p:pic>
        <p:pic>
          <p:nvPicPr>
            <p:cNvPr id="45" name="Picture 10"/>
            <p:cNvPicPr>
              <a:picLocks noChangeAspect="1" noChangeArrowheads="1"/>
            </p:cNvPicPr>
            <p:nvPr/>
          </p:nvPicPr>
          <p:blipFill>
            <a:blip r:embed="rId12" cstate="print"/>
            <a:srcRect/>
            <a:stretch>
              <a:fillRect/>
            </a:stretch>
          </p:blipFill>
          <p:spPr bwMode="auto">
            <a:xfrm rot="879992">
              <a:off x="5719309" y="5045540"/>
              <a:ext cx="346191" cy="154454"/>
            </a:xfrm>
            <a:prstGeom prst="rect">
              <a:avLst/>
            </a:prstGeom>
            <a:noFill/>
            <a:ln w="9525">
              <a:noFill/>
              <a:miter lim="800000"/>
              <a:headEnd/>
              <a:tailEnd/>
            </a:ln>
          </p:spPr>
        </p:pic>
        <p:pic>
          <p:nvPicPr>
            <p:cNvPr id="47" name="Picture 7"/>
            <p:cNvPicPr>
              <a:picLocks noChangeAspect="1" noChangeArrowheads="1"/>
            </p:cNvPicPr>
            <p:nvPr/>
          </p:nvPicPr>
          <p:blipFill>
            <a:blip r:embed="rId13" cstate="print"/>
            <a:srcRect/>
            <a:stretch>
              <a:fillRect/>
            </a:stretch>
          </p:blipFill>
          <p:spPr bwMode="auto">
            <a:xfrm>
              <a:off x="498383" y="5325000"/>
              <a:ext cx="180000" cy="180000"/>
            </a:xfrm>
            <a:prstGeom prst="rect">
              <a:avLst/>
            </a:prstGeom>
            <a:noFill/>
            <a:ln w="9525">
              <a:noFill/>
              <a:miter lim="800000"/>
              <a:headEnd/>
              <a:tailEnd/>
            </a:ln>
          </p:spPr>
        </p:pic>
        <p:pic>
          <p:nvPicPr>
            <p:cNvPr id="48" name="Picture 7"/>
            <p:cNvPicPr>
              <a:picLocks noChangeAspect="1" noChangeArrowheads="1"/>
            </p:cNvPicPr>
            <p:nvPr/>
          </p:nvPicPr>
          <p:blipFill>
            <a:blip r:embed="rId13" cstate="print"/>
            <a:srcRect/>
            <a:stretch>
              <a:fillRect/>
            </a:stretch>
          </p:blipFill>
          <p:spPr bwMode="auto">
            <a:xfrm>
              <a:off x="481840" y="3188824"/>
              <a:ext cx="180000" cy="180000"/>
            </a:xfrm>
            <a:prstGeom prst="rect">
              <a:avLst/>
            </a:prstGeom>
            <a:noFill/>
            <a:ln w="9525">
              <a:noFill/>
              <a:miter lim="800000"/>
              <a:headEnd/>
              <a:tailEnd/>
            </a:ln>
          </p:spPr>
        </p:pic>
        <p:pic>
          <p:nvPicPr>
            <p:cNvPr id="49" name="내용 개체 틀 4" descr="S10_thumb_20121207(0)[1].PNG"/>
            <p:cNvPicPr>
              <a:picLocks noChangeAspect="1"/>
            </p:cNvPicPr>
            <p:nvPr/>
          </p:nvPicPr>
          <p:blipFill>
            <a:blip r:embed="rId14" cstate="print"/>
            <a:stretch>
              <a:fillRect/>
            </a:stretch>
          </p:blipFill>
          <p:spPr>
            <a:xfrm>
              <a:off x="3559134" y="3224808"/>
              <a:ext cx="1152128" cy="709846"/>
            </a:xfrm>
            <a:prstGeom prst="rect">
              <a:avLst/>
            </a:prstGeom>
          </p:spPr>
        </p:pic>
        <p:sp>
          <p:nvSpPr>
            <p:cNvPr id="50" name="TextBox 49"/>
            <p:cNvSpPr txBox="1"/>
            <p:nvPr/>
          </p:nvSpPr>
          <p:spPr>
            <a:xfrm>
              <a:off x="3235006" y="4016896"/>
              <a:ext cx="1512168" cy="338554"/>
            </a:xfrm>
            <a:prstGeom prst="rect">
              <a:avLst/>
            </a:prstGeom>
            <a:noFill/>
          </p:spPr>
          <p:txBody>
            <a:bodyPr wrap="square" rtlCol="0">
              <a:spAutoFit/>
            </a:bodyPr>
            <a:lstStyle/>
            <a:p>
              <a:pPr algn="ctr"/>
              <a:r>
                <a:rPr lang="en-US" altLang="ko-KR" sz="800"/>
                <a:t>&lt;Contact point for figer electorde&gt;</a:t>
              </a:r>
              <a:endParaRPr lang="ko-KR" altLang="en-US" sz="800" dirty="0"/>
            </a:p>
          </p:txBody>
        </p:sp>
        <p:sp>
          <p:nvSpPr>
            <p:cNvPr id="51" name="순서도: 연결자 50"/>
            <p:cNvSpPr/>
            <p:nvPr/>
          </p:nvSpPr>
          <p:spPr>
            <a:xfrm>
              <a:off x="3699892" y="3631680"/>
              <a:ext cx="91784" cy="109984"/>
            </a:xfrm>
            <a:prstGeom prst="flowChartConnector">
              <a:avLst/>
            </a:prstGeom>
            <a:solidFill>
              <a:srgbClr val="C00000"/>
            </a:solidFill>
          </p:spPr>
          <p:txBody>
            <a:bodyPr wrap="square" rtlCol="0" anchor="ctr">
              <a:spAutoFit/>
            </a:bodyPr>
            <a:lstStyle/>
            <a:p>
              <a:pPr marL="228600" indent="-228600" algn="just">
                <a:lnSpc>
                  <a:spcPct val="150000"/>
                </a:lnSpc>
              </a:pPr>
              <a:endParaRPr lang="ko-KR" altLang="en-US" sz="100" dirty="0"/>
            </a:p>
          </p:txBody>
        </p:sp>
        <p:sp>
          <p:nvSpPr>
            <p:cNvPr id="52" name="TextBox 51"/>
            <p:cNvSpPr txBox="1"/>
            <p:nvPr/>
          </p:nvSpPr>
          <p:spPr>
            <a:xfrm>
              <a:off x="3259070" y="5817676"/>
              <a:ext cx="1707980" cy="338554"/>
            </a:xfrm>
            <a:prstGeom prst="rect">
              <a:avLst/>
            </a:prstGeom>
            <a:noFill/>
          </p:spPr>
          <p:txBody>
            <a:bodyPr wrap="square" rtlCol="0">
              <a:spAutoFit/>
            </a:bodyPr>
            <a:lstStyle/>
            <a:p>
              <a:pPr algn="ctr"/>
              <a:r>
                <a:rPr lang="en-US" altLang="ko-KR" sz="800"/>
                <a:t>&lt;When electrodes are attached to the heel&gt;</a:t>
              </a:r>
              <a:endParaRPr lang="ko-KR" altLang="en-US" sz="800" dirty="0"/>
            </a:p>
          </p:txBody>
        </p:sp>
        <p:sp>
          <p:nvSpPr>
            <p:cNvPr id="46" name="직사각형 45"/>
            <p:cNvSpPr/>
            <p:nvPr/>
          </p:nvSpPr>
          <p:spPr>
            <a:xfrm>
              <a:off x="448908" y="3958304"/>
              <a:ext cx="4176464" cy="1685077"/>
            </a:xfrm>
            <a:prstGeom prst="rect">
              <a:avLst/>
            </a:prstGeom>
          </p:spPr>
          <p:txBody>
            <a:bodyPr wrap="square" anchor="ctr">
              <a:spAutoFit/>
            </a:bodyPr>
            <a:lstStyle/>
            <a:p>
              <a:pPr marL="228600" indent="-228600">
                <a:lnSpc>
                  <a:spcPct val="150000"/>
                </a:lnSpc>
              </a:pPr>
              <a:r>
                <a:rPr lang="en-US" altLang="ko-KR" sz="1000" b="1">
                  <a:latin typeface="맑은 고딕" pitchFamily="50" charset="-127"/>
                  <a:ea typeface="맑은 고딕" pitchFamily="50" charset="-127"/>
                </a:rPr>
                <a:t>2. Foot electrodes</a:t>
              </a:r>
              <a:endParaRPr lang="en-US" altLang="ko-KR" sz="1000" b="1" dirty="0">
                <a:latin typeface="맑은 고딕" pitchFamily="50" charset="-127"/>
                <a:ea typeface="맑은 고딕" pitchFamily="50" charset="-127"/>
              </a:endParaRPr>
            </a:p>
            <a:p>
              <a:pPr marL="228600" indent="-228600">
                <a:lnSpc>
                  <a:spcPct val="150000"/>
                </a:lnSpc>
              </a:pPr>
              <a:r>
                <a:rPr lang="en-US" altLang="ko-KR" sz="1000">
                  <a:latin typeface="맑은 고딕" pitchFamily="50" charset="-127"/>
                  <a:ea typeface="맑은 고딕" pitchFamily="50" charset="-127"/>
                </a:rPr>
                <a:t>LL: connect to Left Leg. RL: connect to Right Leg</a:t>
              </a:r>
            </a:p>
            <a:p>
              <a:pPr marL="228600" indent="-228600">
                <a:lnSpc>
                  <a:spcPct val="150000"/>
                </a:lnSpc>
              </a:pPr>
              <a:r>
                <a:rPr lang="en-US" altLang="ko-KR" sz="1000">
                  <a:latin typeface="맑은 고딕" pitchFamily="50" charset="-127"/>
                  <a:ea typeface="맑은 고딕" pitchFamily="50" charset="-127"/>
                </a:rPr>
                <a:t>The foot electrodes should be positioned between examinee’s</a:t>
              </a:r>
            </a:p>
            <a:p>
              <a:pPr marL="228600" indent="-228600">
                <a:lnSpc>
                  <a:spcPct val="150000"/>
                </a:lnSpc>
              </a:pPr>
              <a:r>
                <a:rPr lang="en-US" altLang="ko-KR" sz="1000">
                  <a:latin typeface="맑은 고딕" pitchFamily="50" charset="-127"/>
                  <a:ea typeface="맑은 고딕" pitchFamily="50" charset="-127"/>
                </a:rPr>
                <a:t>anklebone and heel so that the widest and flattened area can be</a:t>
              </a:r>
            </a:p>
            <a:p>
              <a:pPr marL="228600" indent="-228600">
                <a:lnSpc>
                  <a:spcPct val="150000"/>
                </a:lnSpc>
              </a:pPr>
              <a:r>
                <a:rPr lang="en-US" altLang="ko-KR" sz="1000">
                  <a:latin typeface="맑은 고딕" pitchFamily="50" charset="-127"/>
                  <a:ea typeface="맑은 고딕" pitchFamily="50" charset="-127"/>
                </a:rPr>
                <a:t>touched by the electrodes.</a:t>
              </a:r>
            </a:p>
            <a:p>
              <a:pPr marL="228600" indent="-228600">
                <a:lnSpc>
                  <a:spcPct val="150000"/>
                </a:lnSpc>
              </a:pPr>
              <a:r>
                <a:rPr lang="en-US" altLang="ko-KR" sz="1000">
                  <a:solidFill>
                    <a:srgbClr val="FF0000"/>
                  </a:solidFill>
                  <a:latin typeface="맑은 고딕" pitchFamily="50" charset="-127"/>
                  <a:ea typeface="맑은 고딕" pitchFamily="50" charset="-127"/>
                </a:rPr>
                <a:t>     </a:t>
              </a:r>
              <a:r>
                <a:rPr lang="en-US" altLang="ko-KR" sz="900">
                  <a:solidFill>
                    <a:srgbClr val="FF0000"/>
                  </a:solidFill>
                  <a:latin typeface="맑은 고딕" pitchFamily="50" charset="-127"/>
                  <a:ea typeface="맑은 고딕" pitchFamily="50" charset="-127"/>
                </a:rPr>
                <a:t>If the examinee’s ankles are too thick to put </a:t>
              </a:r>
            </a:p>
            <a:p>
              <a:pPr marL="228600" indent="-228600">
                <a:lnSpc>
                  <a:spcPct val="150000"/>
                </a:lnSpc>
              </a:pPr>
              <a:r>
                <a:rPr lang="en-US" altLang="ko-KR" sz="900">
                  <a:solidFill>
                    <a:srgbClr val="FF0000"/>
                  </a:solidFill>
                  <a:latin typeface="맑은 고딕" pitchFamily="50" charset="-127"/>
                  <a:ea typeface="맑은 고딕" pitchFamily="50" charset="-127"/>
                </a:rPr>
                <a:t>      from top side of the foot, place it to the heel.</a:t>
              </a:r>
              <a:endParaRPr lang="en-US" altLang="ko-KR" sz="900" dirty="0">
                <a:solidFill>
                  <a:srgbClr val="FF0000"/>
                </a:solidFill>
                <a:latin typeface="맑은 고딕" pitchFamily="50" charset="-127"/>
                <a:ea typeface="맑은 고딕" pitchFamily="50" charset="-127"/>
              </a:endParaRPr>
            </a:p>
          </p:txBody>
        </p:sp>
      </p:grpSp>
      <p:sp>
        <p:nvSpPr>
          <p:cNvPr id="57" name="직사각형 56"/>
          <p:cNvSpPr/>
          <p:nvPr/>
        </p:nvSpPr>
        <p:spPr>
          <a:xfrm>
            <a:off x="332656" y="6380461"/>
            <a:ext cx="4280754" cy="1708160"/>
          </a:xfrm>
          <a:prstGeom prst="rect">
            <a:avLst/>
          </a:prstGeom>
        </p:spPr>
        <p:txBody>
          <a:bodyPr wrap="square" anchor="ctr">
            <a:spAutoFit/>
          </a:bodyPr>
          <a:lstStyle/>
          <a:p>
            <a:pPr marL="228600" indent="-228600" algn="just">
              <a:lnSpc>
                <a:spcPct val="150000"/>
              </a:lnSpc>
              <a:buAutoNum type="arabicPeriod"/>
            </a:pPr>
            <a:r>
              <a:rPr lang="en-US" altLang="ko-KR" sz="1000" b="1">
                <a:latin typeface="+mn-ea"/>
              </a:rPr>
              <a:t>Hand electrodes</a:t>
            </a:r>
          </a:p>
          <a:p>
            <a:pPr algn="just">
              <a:lnSpc>
                <a:spcPct val="150000"/>
              </a:lnSpc>
            </a:pPr>
            <a:r>
              <a:rPr lang="en-US" altLang="ko-KR" sz="1000">
                <a:latin typeface="+mn-ea"/>
              </a:rPr>
              <a:t>Attach the EKG electrodes to the outer wrist bone, and the other electrode should be wrapped around the base of a middle fingner.</a:t>
            </a:r>
          </a:p>
          <a:p>
            <a:pPr algn="just">
              <a:lnSpc>
                <a:spcPct val="150000"/>
              </a:lnSpc>
            </a:pPr>
            <a:endParaRPr lang="en-US" altLang="ko-KR" sz="1000" dirty="0">
              <a:latin typeface="+mn-ea"/>
            </a:endParaRPr>
          </a:p>
          <a:p>
            <a:pPr algn="just">
              <a:lnSpc>
                <a:spcPct val="150000"/>
              </a:lnSpc>
            </a:pPr>
            <a:r>
              <a:rPr lang="en-US" altLang="ko-KR" sz="1000" b="1">
                <a:latin typeface="+mn-ea"/>
              </a:rPr>
              <a:t>2.</a:t>
            </a:r>
            <a:r>
              <a:rPr lang="ko-KR" altLang="en-US" sz="1000" b="1">
                <a:latin typeface="+mn-ea"/>
              </a:rPr>
              <a:t> </a:t>
            </a:r>
            <a:r>
              <a:rPr lang="en-US" altLang="ko-KR" sz="1000" b="1">
                <a:latin typeface="+mn-ea"/>
              </a:rPr>
              <a:t>Foot electrodes</a:t>
            </a:r>
            <a:endParaRPr lang="ko-KR" altLang="en-US" sz="1000" b="1" dirty="0">
              <a:latin typeface="+mn-ea"/>
            </a:endParaRPr>
          </a:p>
          <a:p>
            <a:pPr algn="just">
              <a:lnSpc>
                <a:spcPct val="150000"/>
              </a:lnSpc>
            </a:pPr>
            <a:r>
              <a:rPr lang="en-US" altLang="ko-KR" sz="1000">
                <a:latin typeface="+mn-ea"/>
              </a:rPr>
              <a:t>Attach EKG in the middle of the inside ankle-bone, and the </a:t>
            </a:r>
          </a:p>
          <a:p>
            <a:pPr algn="just">
              <a:lnSpc>
                <a:spcPct val="150000"/>
              </a:lnSpc>
            </a:pPr>
            <a:r>
              <a:rPr lang="en-US" altLang="ko-KR" sz="1000">
                <a:latin typeface="+mn-ea"/>
              </a:rPr>
              <a:t>other electrode should be placed at the base of the second toe. </a:t>
            </a:r>
            <a:endParaRPr lang="en-US" altLang="ko-KR" sz="900" dirty="0">
              <a:solidFill>
                <a:srgbClr val="FF0000"/>
              </a:solidFill>
              <a:latin typeface="+mn-ea"/>
            </a:endParaRPr>
          </a:p>
        </p:txBody>
      </p:sp>
      <p:sp>
        <p:nvSpPr>
          <p:cNvPr id="58" name="TextBox 57"/>
          <p:cNvSpPr txBox="1"/>
          <p:nvPr/>
        </p:nvSpPr>
        <p:spPr>
          <a:xfrm>
            <a:off x="709454" y="6117432"/>
            <a:ext cx="2412000" cy="246221"/>
          </a:xfrm>
          <a:prstGeom prst="rect">
            <a:avLst/>
          </a:prstGeom>
          <a:solidFill>
            <a:srgbClr val="FFFF00"/>
          </a:solidFill>
        </p:spPr>
        <p:txBody>
          <a:bodyPr wrap="square" rtlCol="0">
            <a:spAutoFit/>
          </a:bodyPr>
          <a:lstStyle/>
          <a:p>
            <a:r>
              <a:rPr lang="en-US" altLang="ko-KR" sz="1000" b="1"/>
              <a:t>How to connect adhesive type</a:t>
            </a:r>
            <a:endParaRPr lang="ko-KR" altLang="en-US" sz="1000" b="1" dirty="0"/>
          </a:p>
        </p:txBody>
      </p:sp>
      <p:pic>
        <p:nvPicPr>
          <p:cNvPr id="59" name="Picture 4"/>
          <p:cNvPicPr>
            <a:picLocks noChangeAspect="1" noChangeArrowheads="1"/>
          </p:cNvPicPr>
          <p:nvPr/>
        </p:nvPicPr>
        <p:blipFill>
          <a:blip r:embed="rId15" cstate="print">
            <a:duotone>
              <a:schemeClr val="accent4">
                <a:shade val="45000"/>
                <a:satMod val="135000"/>
              </a:schemeClr>
              <a:prstClr val="white"/>
            </a:duotone>
          </a:blip>
          <a:srcRect/>
          <a:stretch>
            <a:fillRect/>
          </a:stretch>
        </p:blipFill>
        <p:spPr bwMode="auto">
          <a:xfrm>
            <a:off x="345909" y="6009424"/>
            <a:ext cx="394390" cy="383281"/>
          </a:xfrm>
          <a:prstGeom prst="rect">
            <a:avLst/>
          </a:prstGeom>
          <a:noFill/>
          <a:ln w="9525">
            <a:noFill/>
            <a:miter lim="800000"/>
            <a:headEnd/>
            <a:tailEnd/>
          </a:ln>
        </p:spPr>
      </p:pic>
      <p:pic>
        <p:nvPicPr>
          <p:cNvPr id="61" name="Picture 7"/>
          <p:cNvPicPr>
            <a:picLocks noChangeAspect="1" noChangeArrowheads="1"/>
          </p:cNvPicPr>
          <p:nvPr/>
        </p:nvPicPr>
        <p:blipFill>
          <a:blip r:embed="rId16" cstate="print"/>
          <a:srcRect/>
          <a:stretch>
            <a:fillRect/>
          </a:stretch>
        </p:blipFill>
        <p:spPr bwMode="auto">
          <a:xfrm>
            <a:off x="432542" y="8245822"/>
            <a:ext cx="187682" cy="187682"/>
          </a:xfrm>
          <a:prstGeom prst="rect">
            <a:avLst/>
          </a:prstGeom>
          <a:noFill/>
          <a:ln w="9525">
            <a:noFill/>
            <a:miter lim="800000"/>
            <a:headEnd/>
            <a:tailEnd/>
          </a:ln>
        </p:spPr>
      </p:pic>
      <p:pic>
        <p:nvPicPr>
          <p:cNvPr id="62" name="Picture 7"/>
          <p:cNvPicPr>
            <a:picLocks noChangeAspect="1" noChangeArrowheads="1"/>
          </p:cNvPicPr>
          <p:nvPr/>
        </p:nvPicPr>
        <p:blipFill>
          <a:blip r:embed="rId16" cstate="print"/>
          <a:srcRect/>
          <a:stretch>
            <a:fillRect/>
          </a:stretch>
        </p:blipFill>
        <p:spPr bwMode="auto">
          <a:xfrm>
            <a:off x="432775" y="8471138"/>
            <a:ext cx="187682" cy="187682"/>
          </a:xfrm>
          <a:prstGeom prst="rect">
            <a:avLst/>
          </a:prstGeom>
          <a:noFill/>
          <a:ln w="9525">
            <a:noFill/>
            <a:miter lim="800000"/>
            <a:headEnd/>
            <a:tailEnd/>
          </a:ln>
        </p:spPr>
      </p:pic>
      <p:sp>
        <p:nvSpPr>
          <p:cNvPr id="70" name="바닥글 개체 틀 69"/>
          <p:cNvSpPr>
            <a:spLocks noGrp="1"/>
          </p:cNvSpPr>
          <p:nvPr>
            <p:ph type="ftr" sz="quarter" idx="11"/>
          </p:nvPr>
        </p:nvSpPr>
        <p:spPr/>
        <p:txBody>
          <a:bodyPr/>
          <a:lstStyle/>
          <a:p>
            <a:r>
              <a:rPr lang="en-US" altLang="ko-KR" sz="800" dirty="0" err="1"/>
              <a:t>InBody</a:t>
            </a:r>
            <a:r>
              <a:rPr lang="en-US" altLang="ko-KR" sz="800" dirty="0"/>
              <a:t> Co., Ltd.</a:t>
            </a:r>
            <a:endParaRPr lang="ko-KR" altLang="en-US" sz="800" dirty="0"/>
          </a:p>
        </p:txBody>
      </p:sp>
      <p:sp>
        <p:nvSpPr>
          <p:cNvPr id="71" name="날짜 개체 틀 70"/>
          <p:cNvSpPr>
            <a:spLocks noGrp="1"/>
          </p:cNvSpPr>
          <p:nvPr>
            <p:ph type="dt" sz="half" idx="10"/>
          </p:nvPr>
        </p:nvSpPr>
        <p:spPr/>
        <p:txBody>
          <a:bodyPr/>
          <a:lstStyle/>
          <a:p>
            <a:r>
              <a:rPr lang="en-US" altLang="ko-KR" sz="800" dirty="0"/>
              <a:t>IB-202-001  </a:t>
            </a:r>
            <a:endParaRPr lang="ko-KR" altLang="en-US" sz="800" dirty="0"/>
          </a:p>
        </p:txBody>
      </p:sp>
      <p:sp>
        <p:nvSpPr>
          <p:cNvPr id="72" name="슬라이드 번호 개체 틀 71"/>
          <p:cNvSpPr>
            <a:spLocks noGrp="1"/>
          </p:cNvSpPr>
          <p:nvPr>
            <p:ph type="sldNum" sz="quarter" idx="12"/>
          </p:nvPr>
        </p:nvSpPr>
        <p:spPr/>
        <p:txBody>
          <a:bodyPr/>
          <a:lstStyle/>
          <a:p>
            <a:r>
              <a:rPr lang="en-US" altLang="ko-KR" sz="800" dirty="0"/>
              <a:t>Rev:0</a:t>
            </a:r>
            <a:endParaRPr lang="ko-KR" altLang="en-US" sz="800" dirty="0"/>
          </a:p>
        </p:txBody>
      </p:sp>
      <p:sp>
        <p:nvSpPr>
          <p:cNvPr id="73" name="직사각형 72"/>
          <p:cNvSpPr/>
          <p:nvPr/>
        </p:nvSpPr>
        <p:spPr>
          <a:xfrm>
            <a:off x="548680" y="8140926"/>
            <a:ext cx="3429000" cy="1200329"/>
          </a:xfrm>
          <a:prstGeom prst="rect">
            <a:avLst/>
          </a:prstGeom>
        </p:spPr>
        <p:txBody>
          <a:bodyPr>
            <a:spAutoFit/>
          </a:bodyPr>
          <a:lstStyle/>
          <a:p>
            <a:pPr algn="just">
              <a:lnSpc>
                <a:spcPct val="150000"/>
              </a:lnSpc>
            </a:pPr>
            <a:r>
              <a:rPr lang="en-US" altLang="ko-KR" sz="900">
                <a:solidFill>
                  <a:srgbClr val="FF0000"/>
                </a:solidFill>
                <a:latin typeface="+mn-ea"/>
              </a:rPr>
              <a:t>▶ Press Adhesive Type button     to use EKG electordes      ▶ Connect Cable after attaching ECK electrodes</a:t>
            </a:r>
          </a:p>
          <a:p>
            <a:pPr algn="just"/>
            <a:r>
              <a:rPr lang="en-US" altLang="ko-KR" sz="900">
                <a:solidFill>
                  <a:srgbClr val="FF0000"/>
                </a:solidFill>
                <a:latin typeface="+mn-ea"/>
              </a:rPr>
              <a:t>▶ Use EKG electrodes with CE certification. Once used, the EKG electrode should be discarded. </a:t>
            </a:r>
          </a:p>
          <a:p>
            <a:pPr algn="just">
              <a:lnSpc>
                <a:spcPct val="150000"/>
              </a:lnSpc>
            </a:pPr>
            <a:r>
              <a:rPr lang="en-US" altLang="ko-KR" sz="900">
                <a:solidFill>
                  <a:srgbClr val="FF0000"/>
                </a:solidFill>
                <a:latin typeface="+mn-ea"/>
              </a:rPr>
              <a:t>▶EKG electrodes can be used to arm and leg amputated patients. </a:t>
            </a:r>
            <a:endParaRPr lang="en-US" altLang="ko-KR" sz="900" dirty="0">
              <a:solidFill>
                <a:srgbClr val="FF0000"/>
              </a:solidFill>
              <a:latin typeface="+mn-ea"/>
            </a:endParaRPr>
          </a:p>
        </p:txBody>
      </p:sp>
      <p:pic>
        <p:nvPicPr>
          <p:cNvPr id="75" name="Picture 4"/>
          <p:cNvPicPr>
            <a:picLocks noChangeAspect="1" noChangeArrowheads="1"/>
          </p:cNvPicPr>
          <p:nvPr/>
        </p:nvPicPr>
        <p:blipFill>
          <a:blip r:embed="rId15" cstate="print">
            <a:grayscl/>
          </a:blip>
          <a:srcRect/>
          <a:stretch>
            <a:fillRect/>
          </a:stretch>
        </p:blipFill>
        <p:spPr bwMode="auto">
          <a:xfrm>
            <a:off x="2340564" y="8117151"/>
            <a:ext cx="296348" cy="288000"/>
          </a:xfrm>
          <a:prstGeom prst="rect">
            <a:avLst/>
          </a:prstGeom>
          <a:noFill/>
          <a:ln w="9525">
            <a:noFill/>
            <a:miter lim="800000"/>
            <a:headEnd/>
            <a:tailEnd/>
          </a:ln>
        </p:spPr>
      </p:pic>
      <p:pic>
        <p:nvPicPr>
          <p:cNvPr id="7" name="그림 6"/>
          <p:cNvPicPr>
            <a:picLocks noChangeAspect="1"/>
          </p:cNvPicPr>
          <p:nvPr/>
        </p:nvPicPr>
        <p:blipFill>
          <a:blip r:embed="rId17"/>
          <a:stretch>
            <a:fillRect/>
          </a:stretch>
        </p:blipFill>
        <p:spPr>
          <a:xfrm>
            <a:off x="5445224" y="7585879"/>
            <a:ext cx="1350898" cy="1638543"/>
          </a:xfrm>
          <a:prstGeom prst="rect">
            <a:avLst/>
          </a:prstGeom>
        </p:spPr>
      </p:pic>
    </p:spTree>
    <p:extLst>
      <p:ext uri="{BB962C8B-B14F-4D97-AF65-F5344CB8AC3E}">
        <p14:creationId xmlns:p14="http://schemas.microsoft.com/office/powerpoint/2010/main" val="1233874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3" name="Picture 5" descr="C:\Users\하은진\Documents\카카오톡 받은 파일\KakaoTalk_20151208_113402186.jpg"/>
          <p:cNvPicPr>
            <a:picLocks noChangeAspect="1" noChangeArrowheads="1"/>
          </p:cNvPicPr>
          <p:nvPr/>
        </p:nvPicPr>
        <p:blipFill>
          <a:blip r:embed="rId2" cstate="print">
            <a:lum bright="10000"/>
          </a:blip>
          <a:srcRect l="5703" t="19991" r="3001" b="12739"/>
          <a:stretch>
            <a:fillRect/>
          </a:stretch>
        </p:blipFill>
        <p:spPr bwMode="auto">
          <a:xfrm rot="10800000">
            <a:off x="4905894" y="3468632"/>
            <a:ext cx="1499185" cy="828471"/>
          </a:xfrm>
          <a:prstGeom prst="rect">
            <a:avLst/>
          </a:prstGeom>
          <a:noFill/>
        </p:spPr>
      </p:pic>
      <p:pic>
        <p:nvPicPr>
          <p:cNvPr id="1026" name="Picture 2" descr="G:\★ 바탕화면_백업\13. InBodyS10_자료모음\2014 일본법인 영업교육(신장내과)_from강은진_141206\S10 필드사진\(주)인바디 업무사진(S10)\사진 1075.jpg"/>
          <p:cNvPicPr>
            <a:picLocks noChangeAspect="1" noChangeArrowheads="1"/>
          </p:cNvPicPr>
          <p:nvPr/>
        </p:nvPicPr>
        <p:blipFill>
          <a:blip r:embed="rId3" cstate="print"/>
          <a:srcRect t="29970" r="-619" b="23991"/>
          <a:stretch>
            <a:fillRect/>
          </a:stretch>
        </p:blipFill>
        <p:spPr bwMode="auto">
          <a:xfrm>
            <a:off x="562137" y="7211508"/>
            <a:ext cx="3221310" cy="1263817"/>
          </a:xfrm>
          <a:prstGeom prst="rect">
            <a:avLst/>
          </a:prstGeom>
          <a:noFill/>
        </p:spPr>
      </p:pic>
      <p:pic>
        <p:nvPicPr>
          <p:cNvPr id="1030" name="Picture 6" descr="G:\★ 바탕화면_백업\01. 姜\01. 과제업무\5. 2013_과제_측정 시 주의사항\2013 휠체어 전류통과\김태성, 백송현 휠체어 실험 사진\KakaoTalk_20151207_172018600.jpg"/>
          <p:cNvPicPr>
            <a:picLocks noChangeAspect="1" noChangeArrowheads="1"/>
          </p:cNvPicPr>
          <p:nvPr/>
        </p:nvPicPr>
        <p:blipFill rotWithShape="1">
          <a:blip r:embed="rId4" cstate="print">
            <a:lum bright="20000"/>
          </a:blip>
          <a:srcRect l="34362" t="3999" r="9326" b="-727"/>
          <a:stretch/>
        </p:blipFill>
        <p:spPr bwMode="auto">
          <a:xfrm>
            <a:off x="3140969" y="4549509"/>
            <a:ext cx="1440160" cy="1847700"/>
          </a:xfrm>
          <a:prstGeom prst="rect">
            <a:avLst/>
          </a:prstGeom>
          <a:noFill/>
        </p:spPr>
      </p:pic>
      <p:pic>
        <p:nvPicPr>
          <p:cNvPr id="1031" name="Picture 7" descr="G:\★ 바탕화면_백업\01. 姜\01. 과제업무\5. 2013_과제_측정 시 주의사항\2013 휠체어 전류통과\김태성, 백송현 휠체어 실험 사진\KakaoTalk_20151207_172031249.jpg"/>
          <p:cNvPicPr>
            <a:picLocks noChangeAspect="1" noChangeArrowheads="1"/>
          </p:cNvPicPr>
          <p:nvPr/>
        </p:nvPicPr>
        <p:blipFill>
          <a:blip r:embed="rId5" cstate="print">
            <a:lum bright="20000"/>
          </a:blip>
          <a:srcRect l="4482" t="14400" r="62217" b="13853"/>
          <a:stretch>
            <a:fillRect/>
          </a:stretch>
        </p:blipFill>
        <p:spPr bwMode="auto">
          <a:xfrm>
            <a:off x="3097103" y="2076729"/>
            <a:ext cx="1412017" cy="2160240"/>
          </a:xfrm>
          <a:prstGeom prst="rect">
            <a:avLst/>
          </a:prstGeom>
          <a:noFill/>
        </p:spPr>
      </p:pic>
      <p:pic>
        <p:nvPicPr>
          <p:cNvPr id="10" name="Picture 6"/>
          <p:cNvPicPr>
            <a:picLocks noChangeAspect="1" noChangeArrowheads="1"/>
          </p:cNvPicPr>
          <p:nvPr/>
        </p:nvPicPr>
        <p:blipFill>
          <a:blip r:embed="rId6" cstate="print"/>
          <a:srcRect/>
          <a:stretch>
            <a:fillRect/>
          </a:stretch>
        </p:blipFill>
        <p:spPr bwMode="auto">
          <a:xfrm>
            <a:off x="1368123" y="3516953"/>
            <a:ext cx="908749" cy="576000"/>
          </a:xfrm>
          <a:prstGeom prst="rect">
            <a:avLst/>
          </a:prstGeom>
          <a:noFill/>
          <a:ln w="9525">
            <a:noFill/>
            <a:miter lim="800000"/>
            <a:headEnd/>
            <a:tailEnd/>
          </a:ln>
        </p:spPr>
      </p:pic>
      <p:pic>
        <p:nvPicPr>
          <p:cNvPr id="11" name="Picture 7"/>
          <p:cNvPicPr>
            <a:picLocks noChangeAspect="1" noChangeArrowheads="1"/>
          </p:cNvPicPr>
          <p:nvPr/>
        </p:nvPicPr>
        <p:blipFill>
          <a:blip r:embed="rId7" cstate="print"/>
          <a:srcRect/>
          <a:stretch>
            <a:fillRect/>
          </a:stretch>
        </p:blipFill>
        <p:spPr bwMode="auto">
          <a:xfrm>
            <a:off x="1460021" y="2516550"/>
            <a:ext cx="768944" cy="712307"/>
          </a:xfrm>
          <a:prstGeom prst="rect">
            <a:avLst/>
          </a:prstGeom>
          <a:noFill/>
          <a:ln w="9525">
            <a:noFill/>
            <a:miter lim="800000"/>
            <a:headEnd/>
            <a:tailEnd/>
          </a:ln>
        </p:spPr>
      </p:pic>
      <p:pic>
        <p:nvPicPr>
          <p:cNvPr id="12" name="Picture 8"/>
          <p:cNvPicPr>
            <a:picLocks noChangeAspect="1" noChangeArrowheads="1"/>
          </p:cNvPicPr>
          <p:nvPr/>
        </p:nvPicPr>
        <p:blipFill>
          <a:blip r:embed="rId8" cstate="print"/>
          <a:srcRect/>
          <a:stretch>
            <a:fillRect/>
          </a:stretch>
        </p:blipFill>
        <p:spPr bwMode="auto">
          <a:xfrm>
            <a:off x="416539" y="2284980"/>
            <a:ext cx="823364" cy="1665789"/>
          </a:xfrm>
          <a:prstGeom prst="rect">
            <a:avLst/>
          </a:prstGeom>
          <a:noFill/>
          <a:ln w="9525">
            <a:noFill/>
            <a:miter lim="800000"/>
            <a:headEnd/>
            <a:tailEnd/>
          </a:ln>
        </p:spPr>
      </p:pic>
      <p:cxnSp>
        <p:nvCxnSpPr>
          <p:cNvPr id="13" name="직선 화살표 연결선 12"/>
          <p:cNvCxnSpPr/>
          <p:nvPr/>
        </p:nvCxnSpPr>
        <p:spPr>
          <a:xfrm>
            <a:off x="1049749" y="3009143"/>
            <a:ext cx="432048" cy="0"/>
          </a:xfrm>
          <a:prstGeom prst="straightConnector1">
            <a:avLst/>
          </a:prstGeom>
          <a:ln w="28575">
            <a:solidFill>
              <a:schemeClr val="accent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직선 화살표 연결선 13"/>
          <p:cNvCxnSpPr/>
          <p:nvPr/>
        </p:nvCxnSpPr>
        <p:spPr>
          <a:xfrm>
            <a:off x="667933" y="3012833"/>
            <a:ext cx="626415" cy="678290"/>
          </a:xfrm>
          <a:prstGeom prst="straightConnector1">
            <a:avLst/>
          </a:prstGeom>
          <a:ln w="28575">
            <a:solidFill>
              <a:schemeClr val="accent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5" name="Picture 2"/>
          <p:cNvPicPr>
            <a:picLocks noChangeAspect="1" noChangeArrowheads="1"/>
          </p:cNvPicPr>
          <p:nvPr/>
        </p:nvPicPr>
        <p:blipFill>
          <a:blip r:embed="rId9" cstate="print"/>
          <a:srcRect r="-3407" b="19976"/>
          <a:stretch>
            <a:fillRect/>
          </a:stretch>
        </p:blipFill>
        <p:spPr bwMode="auto">
          <a:xfrm>
            <a:off x="404664" y="4721975"/>
            <a:ext cx="2028672" cy="1171178"/>
          </a:xfrm>
          <a:prstGeom prst="rect">
            <a:avLst/>
          </a:prstGeom>
          <a:noFill/>
          <a:ln w="9525">
            <a:noFill/>
            <a:miter lim="800000"/>
            <a:headEnd/>
            <a:tailEnd/>
          </a:ln>
        </p:spPr>
      </p:pic>
      <p:sp>
        <p:nvSpPr>
          <p:cNvPr id="16" name="TextBox 15"/>
          <p:cNvSpPr txBox="1"/>
          <p:nvPr/>
        </p:nvSpPr>
        <p:spPr>
          <a:xfrm>
            <a:off x="1749824" y="3264482"/>
            <a:ext cx="1512168" cy="369332"/>
          </a:xfrm>
          <a:prstGeom prst="rect">
            <a:avLst/>
          </a:prstGeom>
          <a:noFill/>
        </p:spPr>
        <p:txBody>
          <a:bodyPr wrap="square" rtlCol="0">
            <a:spAutoFit/>
          </a:bodyPr>
          <a:lstStyle/>
          <a:p>
            <a:pPr algn="ctr"/>
            <a:r>
              <a:rPr lang="en-US" altLang="ko-KR" sz="900"/>
              <a:t>&lt;Contact point for the inner side of the feet&gt;</a:t>
            </a:r>
            <a:endParaRPr lang="ko-KR" altLang="en-US" sz="900" dirty="0"/>
          </a:p>
        </p:txBody>
      </p:sp>
      <p:sp>
        <p:nvSpPr>
          <p:cNvPr id="17" name="TextBox 16"/>
          <p:cNvSpPr txBox="1"/>
          <p:nvPr/>
        </p:nvSpPr>
        <p:spPr>
          <a:xfrm>
            <a:off x="1822497" y="4157810"/>
            <a:ext cx="1656184" cy="369332"/>
          </a:xfrm>
          <a:prstGeom prst="rect">
            <a:avLst/>
          </a:prstGeom>
          <a:noFill/>
        </p:spPr>
        <p:txBody>
          <a:bodyPr wrap="square" rtlCol="0">
            <a:spAutoFit/>
          </a:bodyPr>
          <a:lstStyle/>
          <a:p>
            <a:pPr algn="ctr"/>
            <a:r>
              <a:rPr lang="en-US" altLang="ko-KR" sz="900"/>
              <a:t>&lt;Contact point for the outside of the feet&gt;</a:t>
            </a:r>
            <a:endParaRPr lang="ko-KR" altLang="en-US" sz="900" dirty="0"/>
          </a:p>
        </p:txBody>
      </p:sp>
      <p:sp>
        <p:nvSpPr>
          <p:cNvPr id="18" name="TextBox 17"/>
          <p:cNvSpPr txBox="1"/>
          <p:nvPr/>
        </p:nvSpPr>
        <p:spPr>
          <a:xfrm>
            <a:off x="416539" y="6222996"/>
            <a:ext cx="2304256" cy="230832"/>
          </a:xfrm>
          <a:prstGeom prst="rect">
            <a:avLst/>
          </a:prstGeom>
          <a:noFill/>
        </p:spPr>
        <p:txBody>
          <a:bodyPr wrap="square" rtlCol="0">
            <a:spAutoFit/>
          </a:bodyPr>
          <a:lstStyle/>
          <a:p>
            <a:pPr algn="ctr"/>
            <a:r>
              <a:rPr lang="en-US" altLang="ko-KR" sz="900"/>
              <a:t>&lt;Electrodes from the back side&gt;</a:t>
            </a:r>
            <a:endParaRPr lang="ko-KR" altLang="en-US" sz="900" dirty="0"/>
          </a:p>
        </p:txBody>
      </p:sp>
      <p:sp>
        <p:nvSpPr>
          <p:cNvPr id="21" name="TextBox 20"/>
          <p:cNvSpPr txBox="1"/>
          <p:nvPr/>
        </p:nvSpPr>
        <p:spPr>
          <a:xfrm>
            <a:off x="562137" y="8523203"/>
            <a:ext cx="3221310" cy="246221"/>
          </a:xfrm>
          <a:prstGeom prst="rect">
            <a:avLst/>
          </a:prstGeom>
          <a:noFill/>
        </p:spPr>
        <p:txBody>
          <a:bodyPr wrap="square" rtlCol="0">
            <a:spAutoFit/>
          </a:bodyPr>
          <a:lstStyle/>
          <a:p>
            <a:pPr algn="ctr"/>
            <a:r>
              <a:rPr lang="en-US" altLang="ko-KR" sz="1000" dirty="0"/>
              <a:t>&lt;Lying Posture</a:t>
            </a:r>
            <a:r>
              <a:rPr lang="en-US" altLang="ko-KR" sz="1000"/>
              <a:t>, electrodes from the backside&gt;</a:t>
            </a:r>
            <a:endParaRPr lang="ko-KR" altLang="en-US" sz="1000" dirty="0"/>
          </a:p>
        </p:txBody>
      </p:sp>
      <p:sp>
        <p:nvSpPr>
          <p:cNvPr id="22" name="오른쪽 화살표 21"/>
          <p:cNvSpPr/>
          <p:nvPr/>
        </p:nvSpPr>
        <p:spPr>
          <a:xfrm>
            <a:off x="2420888" y="3728864"/>
            <a:ext cx="648072" cy="36004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오른쪽 화살표 22"/>
          <p:cNvSpPr/>
          <p:nvPr/>
        </p:nvSpPr>
        <p:spPr>
          <a:xfrm>
            <a:off x="2420888" y="5504538"/>
            <a:ext cx="648072" cy="36004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TextBox 23"/>
          <p:cNvSpPr txBox="1"/>
          <p:nvPr/>
        </p:nvSpPr>
        <p:spPr>
          <a:xfrm>
            <a:off x="390782" y="745472"/>
            <a:ext cx="6596678" cy="569387"/>
          </a:xfrm>
          <a:prstGeom prst="rect">
            <a:avLst/>
          </a:prstGeom>
          <a:noFill/>
        </p:spPr>
        <p:txBody>
          <a:bodyPr wrap="none" rtlCol="0">
            <a:spAutoFit/>
          </a:bodyPr>
          <a:lstStyle/>
          <a:p>
            <a:pPr>
              <a:lnSpc>
                <a:spcPct val="150000"/>
              </a:lnSpc>
            </a:pPr>
            <a:r>
              <a:rPr lang="en-US" altLang="ko-KR" sz="1400" b="1">
                <a:latin typeface="Arial" pitchFamily="34" charset="0"/>
                <a:cs typeface="Arial" pitchFamily="34" charset="0"/>
              </a:rPr>
              <a:t>How to connect InBodyS10 foot electrodes</a:t>
            </a:r>
            <a:endParaRPr lang="en-US" altLang="ko-KR" sz="1400" b="1" dirty="0">
              <a:latin typeface="Arial" pitchFamily="34" charset="0"/>
              <a:cs typeface="Arial" pitchFamily="34" charset="0"/>
            </a:endParaRPr>
          </a:p>
          <a:p>
            <a:pPr>
              <a:buFont typeface="Wingdings"/>
              <a:buChar char="à"/>
            </a:pPr>
            <a:r>
              <a:rPr lang="en-US" altLang="ko-KR" sz="1000" b="1">
                <a:latin typeface="Arial" pitchFamily="34" charset="0"/>
                <a:cs typeface="Arial" pitchFamily="34" charset="0"/>
                <a:sym typeface="Wingdings" pitchFamily="2" charset="2"/>
              </a:rPr>
              <a:t> Moisten the bottom of the ankle-bone with </a:t>
            </a:r>
            <a:r>
              <a:rPr lang="en-US" altLang="ko-KR" sz="1000" b="1">
                <a:solidFill>
                  <a:srgbClr val="9C1F00"/>
                </a:solidFill>
                <a:latin typeface="Arial" pitchFamily="34" charset="0"/>
                <a:cs typeface="Arial" pitchFamily="34" charset="0"/>
                <a:sym typeface="Wingdings" pitchFamily="2" charset="2"/>
              </a:rPr>
              <a:t>InBody Tissue </a:t>
            </a:r>
            <a:r>
              <a:rPr lang="en-US" altLang="ko-KR" sz="1000" b="1">
                <a:latin typeface="Arial" pitchFamily="34" charset="0"/>
                <a:cs typeface="Arial" pitchFamily="34" charset="0"/>
                <a:sym typeface="Wingdings" pitchFamily="2" charset="2"/>
              </a:rPr>
              <a:t>and make sure that it is correctly conatacted.</a:t>
            </a:r>
            <a:endParaRPr lang="en-US" altLang="ko-KR" sz="1000" b="1" dirty="0">
              <a:latin typeface="Arial" pitchFamily="34" charset="0"/>
              <a:cs typeface="Arial" pitchFamily="34" charset="0"/>
              <a:sym typeface="Wingdings" pitchFamily="2" charset="2"/>
            </a:endParaRPr>
          </a:p>
        </p:txBody>
      </p:sp>
      <p:pic>
        <p:nvPicPr>
          <p:cNvPr id="2051" name="Picture 3" descr="C:\Users\하은진\Documents\카카오톡 받은 파일\KakaoTalk_20151208_113406028.jpg"/>
          <p:cNvPicPr>
            <a:picLocks noChangeAspect="1" noChangeArrowheads="1"/>
          </p:cNvPicPr>
          <p:nvPr/>
        </p:nvPicPr>
        <p:blipFill>
          <a:blip r:embed="rId10" cstate="print">
            <a:lum bright="20000"/>
          </a:blip>
          <a:srcRect l="6208" t="30014" r="9001" b="9945"/>
          <a:stretch>
            <a:fillRect/>
          </a:stretch>
        </p:blipFill>
        <p:spPr bwMode="auto">
          <a:xfrm rot="16200000">
            <a:off x="4603440" y="2387071"/>
            <a:ext cx="1440160" cy="819475"/>
          </a:xfrm>
          <a:prstGeom prst="rect">
            <a:avLst/>
          </a:prstGeom>
          <a:noFill/>
        </p:spPr>
      </p:pic>
      <p:pic>
        <p:nvPicPr>
          <p:cNvPr id="26" name="그림 25" descr="인바디티슈2.jpg"/>
          <p:cNvPicPr>
            <a:picLocks noChangeAspect="1"/>
          </p:cNvPicPr>
          <p:nvPr/>
        </p:nvPicPr>
        <p:blipFill>
          <a:blip r:embed="rId11" cstate="print"/>
          <a:srcRect l="5444" t="20788" r="51010" b="31206"/>
          <a:stretch>
            <a:fillRect/>
          </a:stretch>
        </p:blipFill>
        <p:spPr>
          <a:xfrm>
            <a:off x="2012843" y="1824700"/>
            <a:ext cx="1200133" cy="900101"/>
          </a:xfrm>
          <a:prstGeom prst="rect">
            <a:avLst/>
          </a:prstGeom>
        </p:spPr>
      </p:pic>
      <p:pic>
        <p:nvPicPr>
          <p:cNvPr id="2052" name="Picture 4" descr="C:\Users\하은진\Documents\카카오톡 받은 파일\KakaoTalk_20151208_113407797.jpg"/>
          <p:cNvPicPr>
            <a:picLocks noChangeAspect="1" noChangeArrowheads="1"/>
          </p:cNvPicPr>
          <p:nvPr/>
        </p:nvPicPr>
        <p:blipFill rotWithShape="1">
          <a:blip r:embed="rId12" cstate="print">
            <a:lum bright="20000"/>
          </a:blip>
          <a:srcRect l="3007" r="9001" b="8051"/>
          <a:stretch/>
        </p:blipFill>
        <p:spPr bwMode="auto">
          <a:xfrm rot="5400000">
            <a:off x="4525259" y="4724886"/>
            <a:ext cx="1848457" cy="1448687"/>
          </a:xfrm>
          <a:prstGeom prst="rect">
            <a:avLst/>
          </a:prstGeom>
          <a:noFill/>
        </p:spPr>
      </p:pic>
      <p:sp>
        <p:nvSpPr>
          <p:cNvPr id="29" name="TextBox 28"/>
          <p:cNvSpPr txBox="1"/>
          <p:nvPr/>
        </p:nvSpPr>
        <p:spPr>
          <a:xfrm>
            <a:off x="260648" y="6561668"/>
            <a:ext cx="6565454" cy="577081"/>
          </a:xfrm>
          <a:prstGeom prst="rect">
            <a:avLst/>
          </a:prstGeom>
          <a:noFill/>
        </p:spPr>
        <p:txBody>
          <a:bodyPr wrap="square" rtlCol="0">
            <a:spAutoFit/>
          </a:bodyPr>
          <a:lstStyle/>
          <a:p>
            <a:r>
              <a:rPr lang="en-US" altLang="ko-KR" sz="1050" b="1">
                <a:solidFill>
                  <a:srgbClr val="FF0000"/>
                </a:solidFill>
              </a:rPr>
              <a:t>※ If the skin on the contact area is very dry or very rough, cut electrode tissue as below picture and put it inside and outside before doing measurement. Make sure tissues do not touch each other. </a:t>
            </a:r>
            <a:endParaRPr lang="ko-KR" altLang="en-US" sz="1050" b="1" dirty="0">
              <a:solidFill>
                <a:srgbClr val="FF0000"/>
              </a:solidFill>
            </a:endParaRPr>
          </a:p>
        </p:txBody>
      </p:sp>
      <p:sp>
        <p:nvSpPr>
          <p:cNvPr id="30" name="타원 29"/>
          <p:cNvSpPr/>
          <p:nvPr/>
        </p:nvSpPr>
        <p:spPr>
          <a:xfrm>
            <a:off x="5725016" y="3552514"/>
            <a:ext cx="648072" cy="72008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타원 30"/>
          <p:cNvSpPr/>
          <p:nvPr/>
        </p:nvSpPr>
        <p:spPr>
          <a:xfrm>
            <a:off x="4869160" y="2004721"/>
            <a:ext cx="648072" cy="72008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타원 31"/>
          <p:cNvSpPr/>
          <p:nvPr/>
        </p:nvSpPr>
        <p:spPr>
          <a:xfrm>
            <a:off x="4725144" y="5307564"/>
            <a:ext cx="1287760" cy="119132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TextBox 34"/>
          <p:cNvSpPr txBox="1"/>
          <p:nvPr/>
        </p:nvSpPr>
        <p:spPr>
          <a:xfrm>
            <a:off x="5805264" y="2304628"/>
            <a:ext cx="709836" cy="415498"/>
          </a:xfrm>
          <a:prstGeom prst="rect">
            <a:avLst/>
          </a:prstGeom>
          <a:noFill/>
        </p:spPr>
        <p:txBody>
          <a:bodyPr wrap="square" rtlCol="0">
            <a:spAutoFit/>
          </a:bodyPr>
          <a:lstStyle/>
          <a:p>
            <a:pPr algn="r"/>
            <a:r>
              <a:rPr lang="en-US" altLang="ko-KR" sz="1050" b="1">
                <a:solidFill>
                  <a:srgbClr val="FF0000"/>
                </a:solidFill>
              </a:rPr>
              <a:t>InBody Tissue</a:t>
            </a:r>
            <a:endParaRPr lang="ko-KR" altLang="en-US" sz="1050" b="1" dirty="0">
              <a:solidFill>
                <a:srgbClr val="FF0000"/>
              </a:solidFill>
            </a:endParaRPr>
          </a:p>
        </p:txBody>
      </p:sp>
      <p:cxnSp>
        <p:nvCxnSpPr>
          <p:cNvPr id="43" name="직선 화살표 연결선 42"/>
          <p:cNvCxnSpPr/>
          <p:nvPr/>
        </p:nvCxnSpPr>
        <p:spPr>
          <a:xfrm>
            <a:off x="6249187" y="2796809"/>
            <a:ext cx="0" cy="648072"/>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직선 화살표 연결선 44"/>
          <p:cNvCxnSpPr/>
          <p:nvPr/>
        </p:nvCxnSpPr>
        <p:spPr>
          <a:xfrm flipH="1">
            <a:off x="5540982" y="2452073"/>
            <a:ext cx="360000"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 name="바닥글 개체 틀 1"/>
          <p:cNvSpPr>
            <a:spLocks noGrp="1"/>
          </p:cNvSpPr>
          <p:nvPr>
            <p:ph type="ftr" sz="quarter" idx="11"/>
          </p:nvPr>
        </p:nvSpPr>
        <p:spPr/>
        <p:txBody>
          <a:bodyPr/>
          <a:lstStyle/>
          <a:p>
            <a:r>
              <a:rPr lang="en-US" altLang="ko-KR" sz="800"/>
              <a:t>InBody Co., Ltd.</a:t>
            </a:r>
            <a:endParaRPr lang="ko-KR" altLang="en-US" sz="800" dirty="0"/>
          </a:p>
        </p:txBody>
      </p:sp>
      <p:sp>
        <p:nvSpPr>
          <p:cNvPr id="3" name="날짜 개체 틀 2"/>
          <p:cNvSpPr>
            <a:spLocks noGrp="1"/>
          </p:cNvSpPr>
          <p:nvPr>
            <p:ph type="dt" sz="half" idx="10"/>
          </p:nvPr>
        </p:nvSpPr>
        <p:spPr/>
        <p:txBody>
          <a:bodyPr/>
          <a:lstStyle/>
          <a:p>
            <a:r>
              <a:rPr lang="en-US" altLang="ko-KR" sz="800" dirty="0"/>
              <a:t>IB-202-001  </a:t>
            </a:r>
            <a:endParaRPr lang="ko-KR" altLang="en-US" sz="800" dirty="0"/>
          </a:p>
        </p:txBody>
      </p:sp>
      <p:sp>
        <p:nvSpPr>
          <p:cNvPr id="4" name="슬라이드 번호 개체 틀 3"/>
          <p:cNvSpPr>
            <a:spLocks noGrp="1"/>
          </p:cNvSpPr>
          <p:nvPr>
            <p:ph type="sldNum" sz="quarter" idx="12"/>
          </p:nvPr>
        </p:nvSpPr>
        <p:spPr/>
        <p:txBody>
          <a:bodyPr/>
          <a:lstStyle/>
          <a:p>
            <a:r>
              <a:rPr lang="en-US" altLang="ko-KR" sz="800"/>
              <a:t>Rev:0</a:t>
            </a:r>
            <a:endParaRPr lang="ko-KR" altLang="en-US" sz="800" dirty="0"/>
          </a:p>
        </p:txBody>
      </p:sp>
      <p:pic>
        <p:nvPicPr>
          <p:cNvPr id="6" name="그림 5"/>
          <p:cNvPicPr>
            <a:picLocks noChangeAspect="1"/>
          </p:cNvPicPr>
          <p:nvPr/>
        </p:nvPicPr>
        <p:blipFill rotWithShape="1">
          <a:blip r:embed="rId13" cstate="print">
            <a:extLst>
              <a:ext uri="{28A0092B-C50C-407E-A947-70E740481C1C}">
                <a14:useLocalDpi xmlns:a14="http://schemas.microsoft.com/office/drawing/2010/main" val="0"/>
              </a:ext>
            </a:extLst>
          </a:blip>
          <a:srcRect l="-2161" t="3801" r="2161" b="-3801"/>
          <a:stretch/>
        </p:blipFill>
        <p:spPr>
          <a:xfrm>
            <a:off x="4008097" y="7199314"/>
            <a:ext cx="1740755" cy="1300194"/>
          </a:xfrm>
          <a:prstGeom prst="rect">
            <a:avLst/>
          </a:prstGeom>
        </p:spPr>
      </p:pic>
      <p:pic>
        <p:nvPicPr>
          <p:cNvPr id="5" name="그림 4"/>
          <p:cNvPicPr>
            <a:picLocks noChangeAspect="1"/>
          </p:cNvPicPr>
          <p:nvPr/>
        </p:nvPicPr>
        <p:blipFill rotWithShape="1">
          <a:blip r:embed="rId14" cstate="print">
            <a:extLst>
              <a:ext uri="{28A0092B-C50C-407E-A947-70E740481C1C}">
                <a14:useLocalDpi xmlns:a14="http://schemas.microsoft.com/office/drawing/2010/main" val="0"/>
              </a:ext>
            </a:extLst>
          </a:blip>
          <a:srcRect l="15472" t="11836" r="15472" b="8203"/>
          <a:stretch/>
        </p:blipFill>
        <p:spPr>
          <a:xfrm rot="17635614">
            <a:off x="5975175" y="7437632"/>
            <a:ext cx="619066" cy="716814"/>
          </a:xfrm>
          <a:prstGeom prst="rect">
            <a:avLst/>
          </a:prstGeom>
        </p:spPr>
      </p:pic>
      <p:sp>
        <p:nvSpPr>
          <p:cNvPr id="39" name="TextBox 38"/>
          <p:cNvSpPr txBox="1"/>
          <p:nvPr/>
        </p:nvSpPr>
        <p:spPr>
          <a:xfrm>
            <a:off x="3706788" y="8517955"/>
            <a:ext cx="2808312" cy="246221"/>
          </a:xfrm>
          <a:prstGeom prst="rect">
            <a:avLst/>
          </a:prstGeom>
          <a:noFill/>
        </p:spPr>
        <p:txBody>
          <a:bodyPr wrap="square" rtlCol="0">
            <a:spAutoFit/>
          </a:bodyPr>
          <a:lstStyle/>
          <a:p>
            <a:pPr algn="ctr"/>
            <a:r>
              <a:rPr lang="en-US" altLang="ko-KR" sz="1000"/>
              <a:t>Teared InBody Tissue</a:t>
            </a:r>
            <a:endParaRPr lang="ko-KR" altLang="en-US" sz="1000" dirty="0"/>
          </a:p>
        </p:txBody>
      </p:sp>
      <p:cxnSp>
        <p:nvCxnSpPr>
          <p:cNvPr id="42" name="직선 화살표 연결선 41"/>
          <p:cNvCxnSpPr/>
          <p:nvPr/>
        </p:nvCxnSpPr>
        <p:spPr>
          <a:xfrm flipH="1">
            <a:off x="5189024" y="5461105"/>
            <a:ext cx="360000" cy="0"/>
          </a:xfrm>
          <a:prstGeom prst="straightConnector1">
            <a:avLst/>
          </a:prstGeom>
          <a:ln w="381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5704044" y="4642764"/>
            <a:ext cx="1169308" cy="707886"/>
          </a:xfrm>
          <a:prstGeom prst="rect">
            <a:avLst/>
          </a:prstGeom>
          <a:noFill/>
        </p:spPr>
        <p:txBody>
          <a:bodyPr wrap="square" rtlCol="0">
            <a:spAutoFit/>
          </a:bodyPr>
          <a:lstStyle/>
          <a:p>
            <a:pPr algn="ctr"/>
            <a:r>
              <a:rPr lang="en-US" altLang="ko-KR" sz="1000" b="1">
                <a:solidFill>
                  <a:srgbClr val="FF0000"/>
                </a:solidFill>
              </a:rPr>
              <a:t>Make sure the attached tissues separate each other.</a:t>
            </a:r>
            <a:endParaRPr lang="ko-KR" altLang="en-US" sz="1000" b="1" dirty="0">
              <a:solidFill>
                <a:srgbClr val="FF0000"/>
              </a:solidFill>
            </a:endParaRPr>
          </a:p>
        </p:txBody>
      </p:sp>
      <p:cxnSp>
        <p:nvCxnSpPr>
          <p:cNvPr id="47" name="직선 화살표 연결선 46"/>
          <p:cNvCxnSpPr/>
          <p:nvPr/>
        </p:nvCxnSpPr>
        <p:spPr>
          <a:xfrm flipH="1">
            <a:off x="5076699" y="6250697"/>
            <a:ext cx="584650" cy="4993"/>
          </a:xfrm>
          <a:prstGeom prst="straightConnector1">
            <a:avLst/>
          </a:prstGeom>
          <a:ln w="381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0782" y="745472"/>
            <a:ext cx="5819222" cy="584775"/>
          </a:xfrm>
          <a:prstGeom prst="rect">
            <a:avLst/>
          </a:prstGeom>
          <a:noFill/>
        </p:spPr>
        <p:txBody>
          <a:bodyPr wrap="none" rtlCol="0">
            <a:spAutoFit/>
          </a:bodyPr>
          <a:lstStyle/>
          <a:p>
            <a:pPr>
              <a:lnSpc>
                <a:spcPct val="150000"/>
              </a:lnSpc>
            </a:pPr>
            <a:r>
              <a:rPr lang="en-US" altLang="ko-KR" sz="1400" b="1">
                <a:latin typeface="Arial" pitchFamily="34" charset="0"/>
                <a:cs typeface="Arial" pitchFamily="34" charset="0"/>
              </a:rPr>
              <a:t>Cautions when measuring intensive care patients with InBodyS10 </a:t>
            </a:r>
          </a:p>
          <a:p>
            <a:pPr>
              <a:buFont typeface="Wingdings"/>
              <a:buChar char="à"/>
            </a:pPr>
            <a:r>
              <a:rPr lang="en-US" altLang="ko-KR" sz="1100" b="1">
                <a:latin typeface="Arial" pitchFamily="34" charset="0"/>
                <a:cs typeface="Arial" pitchFamily="34" charset="0"/>
                <a:sym typeface="Wingdings" pitchFamily="2" charset="2"/>
              </a:rPr>
              <a:t> How to check Junk data</a:t>
            </a:r>
            <a:endParaRPr lang="en-US" altLang="ko-KR" sz="1100" b="1" dirty="0">
              <a:latin typeface="Arial" pitchFamily="34" charset="0"/>
              <a:cs typeface="Arial" pitchFamily="34" charset="0"/>
              <a:sym typeface="Wingdings" pitchFamily="2" charset="2"/>
            </a:endParaRPr>
          </a:p>
        </p:txBody>
      </p:sp>
      <p:sp>
        <p:nvSpPr>
          <p:cNvPr id="3" name="TextBox 2"/>
          <p:cNvSpPr txBox="1"/>
          <p:nvPr/>
        </p:nvSpPr>
        <p:spPr>
          <a:xfrm>
            <a:off x="441328" y="1712640"/>
            <a:ext cx="5940000" cy="1938992"/>
          </a:xfrm>
          <a:prstGeom prst="rect">
            <a:avLst/>
          </a:prstGeom>
          <a:noFill/>
        </p:spPr>
        <p:txBody>
          <a:bodyPr wrap="square" rtlCol="0">
            <a:spAutoFit/>
          </a:bodyPr>
          <a:lstStyle/>
          <a:p>
            <a:pPr marL="228600" indent="-228600" algn="just">
              <a:lnSpc>
                <a:spcPct val="150000"/>
              </a:lnSpc>
              <a:buAutoNum type="arabicPeriod"/>
            </a:pPr>
            <a:r>
              <a:rPr lang="en-US" altLang="ko-KR" sz="1000" b="1">
                <a:latin typeface="맑은 고딕"/>
                <a:ea typeface="맑은 고딕"/>
              </a:rPr>
              <a:t>Measurement Protocol </a:t>
            </a:r>
          </a:p>
          <a:p>
            <a:pPr algn="just">
              <a:lnSpc>
                <a:spcPct val="150000"/>
              </a:lnSpc>
            </a:pPr>
            <a:r>
              <a:rPr lang="en-US" altLang="ko-KR" sz="1000">
                <a:latin typeface="맑은 고딕"/>
                <a:ea typeface="맑은 고딕"/>
              </a:rPr>
              <a:t>1) Initial Screen</a:t>
            </a:r>
            <a:endParaRPr lang="en-US" altLang="ko-KR" sz="1000" dirty="0">
              <a:latin typeface="맑은 고딕"/>
              <a:ea typeface="맑은 고딕"/>
            </a:endParaRPr>
          </a:p>
          <a:p>
            <a:pPr algn="just">
              <a:lnSpc>
                <a:spcPct val="150000"/>
              </a:lnSpc>
            </a:pPr>
            <a:r>
              <a:rPr lang="ko-KR" altLang="ko-KR" sz="1000">
                <a:latin typeface="맑은 고딕"/>
                <a:ea typeface="맑은 고딕"/>
              </a:rPr>
              <a:t>①</a:t>
            </a:r>
            <a:r>
              <a:rPr lang="en-US" altLang="ko-KR" sz="1000">
                <a:latin typeface="맑은 고딕"/>
                <a:ea typeface="맑은 고딕"/>
              </a:rPr>
              <a:t> Press ‘Enter’ at the front page and type in ID, Weight, Height, Age, Gender (Male / Female) using touch screen or key pad. </a:t>
            </a:r>
          </a:p>
          <a:p>
            <a:pPr algn="just">
              <a:lnSpc>
                <a:spcPct val="150000"/>
              </a:lnSpc>
            </a:pPr>
            <a:r>
              <a:rPr lang="ko-KR" altLang="en-US" sz="1000">
                <a:latin typeface="맑은 고딕" panose="020B0503020000020004" pitchFamily="50" charset="-127"/>
                <a:ea typeface="맑은 고딕" panose="020B0503020000020004" pitchFamily="50" charset="-127"/>
              </a:rPr>
              <a:t>② </a:t>
            </a:r>
            <a:r>
              <a:rPr lang="en-US" altLang="ko-KR" sz="1000">
                <a:latin typeface="맑은 고딕" panose="020B0503020000020004" pitchFamily="50" charset="-127"/>
                <a:ea typeface="맑은 고딕" panose="020B0503020000020004" pitchFamily="50" charset="-127"/>
              </a:rPr>
              <a:t>BIA devices like InBody calculate Body Water by dividing height</a:t>
            </a:r>
            <a:r>
              <a:rPr lang="en-US" altLang="ko-KR" sz="1000" baseline="30000">
                <a:latin typeface="맑은 고딕" panose="020B0503020000020004" pitchFamily="50" charset="-127"/>
                <a:ea typeface="맑은 고딕" panose="020B0503020000020004" pitchFamily="50" charset="-127"/>
              </a:rPr>
              <a:t>2 </a:t>
            </a:r>
            <a:r>
              <a:rPr lang="en-US" altLang="ko-KR" sz="1000">
                <a:latin typeface="맑은 고딕" panose="020B0503020000020004" pitchFamily="50" charset="-127"/>
                <a:ea typeface="맑은 고딕" panose="020B0503020000020004" pitchFamily="50" charset="-127"/>
              </a:rPr>
              <a:t>with impedance </a:t>
            </a:r>
            <a:r>
              <a:rPr lang="en-US" altLang="ko-KR" sz="1000">
                <a:latin typeface="맑은 고딕" panose="020B0503020000020004" pitchFamily="50" charset="-127"/>
              </a:rPr>
              <a:t>(TBW=L</a:t>
            </a:r>
            <a:r>
              <a:rPr lang="en-US" altLang="ko-KR" sz="1000" baseline="30000">
                <a:latin typeface="맑은 고딕" panose="020B0503020000020004" pitchFamily="50" charset="-127"/>
              </a:rPr>
              <a:t>2</a:t>
            </a:r>
            <a:r>
              <a:rPr lang="en-US" altLang="ko-KR" sz="1000">
                <a:latin typeface="맑은 고딕" panose="020B0503020000020004" pitchFamily="50" charset="-127"/>
              </a:rPr>
              <a:t>/Z) and calculate Body Fat by subtracting Fat Free mass from the total weight. Therefore, it is important to enter precise height and weight. </a:t>
            </a:r>
          </a:p>
          <a:p>
            <a:pPr algn="just">
              <a:lnSpc>
                <a:spcPct val="150000"/>
              </a:lnSpc>
            </a:pPr>
            <a:r>
              <a:rPr lang="ko-KR" altLang="en-US" sz="1000">
                <a:latin typeface="맑은 고딕" panose="020B0503020000020004" pitchFamily="50" charset="-127"/>
                <a:ea typeface="맑은 고딕" panose="020B0503020000020004" pitchFamily="50" charset="-127"/>
              </a:rPr>
              <a:t>③ </a:t>
            </a:r>
            <a:r>
              <a:rPr lang="en-US" altLang="ko-KR" sz="1000">
                <a:latin typeface="맑은 고딕" panose="020B0503020000020004" pitchFamily="50" charset="-127"/>
                <a:ea typeface="맑은 고딕" panose="020B0503020000020004" pitchFamily="50" charset="-127"/>
              </a:rPr>
              <a:t>Select measurement mode as</a:t>
            </a:r>
            <a:r>
              <a:rPr lang="ko-KR" altLang="en-US" sz="1000">
                <a:latin typeface="맑은 고딕" panose="020B0503020000020004" pitchFamily="50" charset="-127"/>
                <a:ea typeface="맑은 고딕" panose="020B0503020000020004" pitchFamily="50" charset="-127"/>
              </a:rPr>
              <a:t> </a:t>
            </a:r>
            <a:r>
              <a:rPr lang="en-US" altLang="ko-KR" sz="1000">
                <a:latin typeface="맑은 고딕" panose="020B0503020000020004" pitchFamily="50" charset="-127"/>
                <a:ea typeface="맑은 고딕" panose="020B0503020000020004" pitchFamily="50" charset="-127"/>
              </a:rPr>
              <a:t>Touch type, Lying posture, and disable Dialysis mode.</a:t>
            </a:r>
            <a:endParaRPr lang="en-US" altLang="ko-KR" sz="1000" dirty="0">
              <a:latin typeface="맑은 고딕"/>
              <a:ea typeface="맑은 고딕"/>
            </a:endParaRPr>
          </a:p>
        </p:txBody>
      </p:sp>
      <p:pic>
        <p:nvPicPr>
          <p:cNvPr id="4" name="Picture 4"/>
          <p:cNvPicPr>
            <a:picLocks noChangeAspect="1" noChangeArrowheads="1"/>
          </p:cNvPicPr>
          <p:nvPr/>
        </p:nvPicPr>
        <p:blipFill>
          <a:blip r:embed="rId3" cstate="print"/>
          <a:srcRect/>
          <a:stretch>
            <a:fillRect/>
          </a:stretch>
        </p:blipFill>
        <p:spPr bwMode="auto">
          <a:xfrm>
            <a:off x="528439" y="3732337"/>
            <a:ext cx="2958264" cy="1792800"/>
          </a:xfrm>
          <a:prstGeom prst="rect">
            <a:avLst/>
          </a:prstGeom>
          <a:noFill/>
          <a:ln w="9525">
            <a:noFill/>
            <a:miter lim="800000"/>
            <a:headEnd/>
            <a:tailEnd/>
          </a:ln>
        </p:spPr>
      </p:pic>
      <p:sp>
        <p:nvSpPr>
          <p:cNvPr id="9" name="타원 8"/>
          <p:cNvSpPr/>
          <p:nvPr/>
        </p:nvSpPr>
        <p:spPr>
          <a:xfrm>
            <a:off x="2347888" y="5097016"/>
            <a:ext cx="1017894" cy="504056"/>
          </a:xfrm>
          <a:prstGeom prst="ellipse">
            <a:avLst/>
          </a:prstGeom>
          <a:ln w="28575">
            <a:solidFill>
              <a:srgbClr val="FF0000"/>
            </a:solidFill>
          </a:ln>
        </p:spPr>
        <p:txBody>
          <a:bodyPr wrap="square" rtlCol="0" anchor="ctr">
            <a:spAutoFit/>
          </a:bodyPr>
          <a:lstStyle/>
          <a:p>
            <a:pPr algn="ctr">
              <a:lnSpc>
                <a:spcPct val="150000"/>
              </a:lnSpc>
            </a:pPr>
            <a:endParaRPr lang="ko-KR" altLang="en-US" sz="1100" b="1" dirty="0">
              <a:latin typeface="맑은 고딕" pitchFamily="50" charset="-127"/>
              <a:ea typeface="맑은 고딕" pitchFamily="50" charset="-127"/>
            </a:endParaRPr>
          </a:p>
        </p:txBody>
      </p:sp>
      <p:pic>
        <p:nvPicPr>
          <p:cNvPr id="10" name="Picture 2"/>
          <p:cNvPicPr>
            <a:picLocks noChangeAspect="1" noChangeArrowheads="1"/>
          </p:cNvPicPr>
          <p:nvPr/>
        </p:nvPicPr>
        <p:blipFill>
          <a:blip r:embed="rId4" cstate="print"/>
          <a:srcRect/>
          <a:stretch>
            <a:fillRect/>
          </a:stretch>
        </p:blipFill>
        <p:spPr bwMode="auto">
          <a:xfrm>
            <a:off x="4038567" y="4676343"/>
            <a:ext cx="2293328" cy="924729"/>
          </a:xfrm>
          <a:prstGeom prst="rect">
            <a:avLst/>
          </a:prstGeom>
          <a:noFill/>
          <a:ln w="9525">
            <a:noFill/>
            <a:miter lim="800000"/>
            <a:headEnd/>
            <a:tailEnd/>
          </a:ln>
        </p:spPr>
      </p:pic>
      <p:cxnSp>
        <p:nvCxnSpPr>
          <p:cNvPr id="20" name="직선 연결선 19"/>
          <p:cNvCxnSpPr/>
          <p:nvPr/>
        </p:nvCxnSpPr>
        <p:spPr>
          <a:xfrm>
            <a:off x="3367625" y="5337779"/>
            <a:ext cx="532656" cy="0"/>
          </a:xfrm>
          <a:prstGeom prst="line">
            <a:avLst/>
          </a:prstGeom>
          <a:ln w="28575">
            <a:solidFill>
              <a:srgbClr val="FF0000"/>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441328" y="5752028"/>
            <a:ext cx="5940000" cy="1708160"/>
          </a:xfrm>
          <a:prstGeom prst="rect">
            <a:avLst/>
          </a:prstGeom>
          <a:noFill/>
        </p:spPr>
        <p:txBody>
          <a:bodyPr wrap="square" rtlCol="0">
            <a:spAutoFit/>
          </a:bodyPr>
          <a:lstStyle/>
          <a:p>
            <a:pPr algn="just">
              <a:lnSpc>
                <a:spcPct val="150000"/>
              </a:lnSpc>
            </a:pPr>
            <a:r>
              <a:rPr lang="en-US" altLang="ko-KR" sz="1000" dirty="0">
                <a:latin typeface="맑은 고딕"/>
                <a:ea typeface="맑은 고딕"/>
              </a:rPr>
              <a:t>2</a:t>
            </a:r>
            <a:r>
              <a:rPr lang="en-US" altLang="ko-KR" sz="1000">
                <a:latin typeface="맑은 고딕"/>
                <a:ea typeface="맑은 고딕"/>
              </a:rPr>
              <a:t>) Measurement posture and how to connect electrodes</a:t>
            </a:r>
          </a:p>
          <a:p>
            <a:pPr algn="just">
              <a:lnSpc>
                <a:spcPct val="150000"/>
              </a:lnSpc>
            </a:pPr>
            <a:r>
              <a:rPr lang="en-US" altLang="ko-KR" sz="1000">
                <a:latin typeface="맑은 고딕" panose="020B0503020000020004" pitchFamily="50" charset="-127"/>
                <a:ea typeface="맑은 고딕" panose="020B0503020000020004" pitchFamily="50" charset="-127"/>
              </a:rPr>
              <a:t>① Moisten contact point (Thumb, middle finger, and base part of the ankle bone.) with InBody tissue. Make sure tissues do not touch each other. (If the patient is hard to maintain the posture, put blanke or pillow between armpit or legs to make each body segment separate). </a:t>
            </a:r>
          </a:p>
          <a:p>
            <a:pPr algn="just">
              <a:lnSpc>
                <a:spcPct val="150000"/>
              </a:lnSpc>
            </a:pPr>
            <a:r>
              <a:rPr lang="en-US" altLang="ko-KR" sz="1000">
                <a:latin typeface="맑은 고딕" panose="020B0503020000020004" pitchFamily="50" charset="-127"/>
                <a:ea typeface="맑은 고딕" panose="020B0503020000020004" pitchFamily="50" charset="-127"/>
              </a:rPr>
              <a:t>② Make sure not to talk or move during the test. If error keeps come out, use gloves, clothes, and blankets to make body segment separate. </a:t>
            </a:r>
            <a:endParaRPr lang="en-US" altLang="ko-KR" sz="1000" dirty="0">
              <a:solidFill>
                <a:srgbClr val="FF0000"/>
              </a:solidFill>
              <a:latin typeface="맑은 고딕" panose="020B0503020000020004" pitchFamily="50" charset="-127"/>
              <a:ea typeface="맑은 고딕" panose="020B0503020000020004" pitchFamily="50" charset="-127"/>
            </a:endParaRPr>
          </a:p>
          <a:p>
            <a:pPr algn="just">
              <a:lnSpc>
                <a:spcPct val="150000"/>
              </a:lnSpc>
            </a:pPr>
            <a:r>
              <a:rPr lang="en-US" altLang="ko-KR" sz="1000">
                <a:latin typeface="맑은 고딕" panose="020B0503020000020004" pitchFamily="50" charset="-127"/>
                <a:ea typeface="맑은 고딕" panose="020B0503020000020004" pitchFamily="50" charset="-127"/>
              </a:rPr>
              <a:t>③ It is recommended to measure at the same time as possible.</a:t>
            </a:r>
            <a:endParaRPr lang="en-US" altLang="ko-KR" sz="1000" dirty="0">
              <a:latin typeface="맑은 고딕"/>
              <a:ea typeface="맑은 고딕"/>
            </a:endParaRPr>
          </a:p>
        </p:txBody>
      </p:sp>
      <p:pic>
        <p:nvPicPr>
          <p:cNvPr id="22" name="Picture 2"/>
          <p:cNvPicPr>
            <a:picLocks noChangeAspect="1" noChangeArrowheads="1"/>
          </p:cNvPicPr>
          <p:nvPr/>
        </p:nvPicPr>
        <p:blipFill rotWithShape="1">
          <a:blip r:embed="rId5" cstate="print"/>
          <a:srcRect l="6621" t="241" r="-913" b="10918"/>
          <a:stretch/>
        </p:blipFill>
        <p:spPr bwMode="auto">
          <a:xfrm>
            <a:off x="540137" y="7649797"/>
            <a:ext cx="2958264" cy="1524826"/>
          </a:xfrm>
          <a:prstGeom prst="rect">
            <a:avLst/>
          </a:prstGeom>
          <a:noFill/>
          <a:ln w="9525">
            <a:noFill/>
            <a:miter lim="800000"/>
            <a:headEnd/>
            <a:tailEnd/>
          </a:ln>
        </p:spPr>
      </p:pic>
      <p:pic>
        <p:nvPicPr>
          <p:cNvPr id="24" name="그림 23"/>
          <p:cNvPicPr>
            <a:picLocks noChangeAspect="1"/>
          </p:cNvPicPr>
          <p:nvPr/>
        </p:nvPicPr>
        <p:blipFill rotWithShape="1">
          <a:blip r:embed="rId6"/>
          <a:srcRect t="23705" r="-2843"/>
          <a:stretch/>
        </p:blipFill>
        <p:spPr>
          <a:xfrm rot="10800000" flipV="1">
            <a:off x="3411328" y="8060887"/>
            <a:ext cx="3024335" cy="1099714"/>
          </a:xfrm>
          <a:prstGeom prst="rect">
            <a:avLst/>
          </a:prstGeom>
        </p:spPr>
      </p:pic>
      <p:sp>
        <p:nvSpPr>
          <p:cNvPr id="25" name="바닥글 개체 틀 24"/>
          <p:cNvSpPr>
            <a:spLocks noGrp="1"/>
          </p:cNvSpPr>
          <p:nvPr>
            <p:ph type="ftr" sz="quarter" idx="11"/>
          </p:nvPr>
        </p:nvSpPr>
        <p:spPr/>
        <p:txBody>
          <a:bodyPr/>
          <a:lstStyle/>
          <a:p>
            <a:r>
              <a:rPr lang="en-US" altLang="ko-KR" sz="800"/>
              <a:t>InBody Co., Ltd.</a:t>
            </a:r>
            <a:endParaRPr lang="ko-KR" altLang="en-US" sz="800" dirty="0"/>
          </a:p>
        </p:txBody>
      </p:sp>
      <p:sp>
        <p:nvSpPr>
          <p:cNvPr id="26" name="날짜 개체 틀 25"/>
          <p:cNvSpPr>
            <a:spLocks noGrp="1"/>
          </p:cNvSpPr>
          <p:nvPr>
            <p:ph type="dt" sz="half" idx="10"/>
          </p:nvPr>
        </p:nvSpPr>
        <p:spPr/>
        <p:txBody>
          <a:bodyPr/>
          <a:lstStyle/>
          <a:p>
            <a:r>
              <a:rPr lang="en-US" altLang="ko-KR" sz="800" dirty="0"/>
              <a:t>IB-202-001  </a:t>
            </a:r>
            <a:endParaRPr lang="ko-KR" altLang="en-US" sz="800" dirty="0"/>
          </a:p>
        </p:txBody>
      </p:sp>
      <p:sp>
        <p:nvSpPr>
          <p:cNvPr id="27" name="슬라이드 번호 개체 틀 26"/>
          <p:cNvSpPr>
            <a:spLocks noGrp="1"/>
          </p:cNvSpPr>
          <p:nvPr>
            <p:ph type="sldNum" sz="quarter" idx="12"/>
          </p:nvPr>
        </p:nvSpPr>
        <p:spPr/>
        <p:txBody>
          <a:bodyPr/>
          <a:lstStyle/>
          <a:p>
            <a:r>
              <a:rPr lang="en-US" altLang="ko-KR" sz="800"/>
              <a:t>Rev:0</a:t>
            </a:r>
            <a:endParaRPr lang="ko-KR" altLang="en-US" sz="800" dirty="0"/>
          </a:p>
        </p:txBody>
      </p:sp>
    </p:spTree>
    <p:extLst>
      <p:ext uri="{BB962C8B-B14F-4D97-AF65-F5344CB8AC3E}">
        <p14:creationId xmlns:p14="http://schemas.microsoft.com/office/powerpoint/2010/main" val="14420577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1328" y="1712640"/>
            <a:ext cx="5940000" cy="4247317"/>
          </a:xfrm>
          <a:prstGeom prst="rect">
            <a:avLst/>
          </a:prstGeom>
          <a:noFill/>
        </p:spPr>
        <p:txBody>
          <a:bodyPr wrap="square" rtlCol="0">
            <a:spAutoFit/>
          </a:bodyPr>
          <a:lstStyle/>
          <a:p>
            <a:pPr algn="just">
              <a:lnSpc>
                <a:spcPct val="150000"/>
              </a:lnSpc>
            </a:pPr>
            <a:r>
              <a:rPr lang="en-US" altLang="ko-KR" sz="1000" b="1" dirty="0">
                <a:latin typeface="맑은 고딕"/>
                <a:ea typeface="맑은 고딕"/>
              </a:rPr>
              <a:t>2. LCD</a:t>
            </a:r>
          </a:p>
          <a:p>
            <a:pPr marL="228600" indent="-228600" algn="just">
              <a:lnSpc>
                <a:spcPct val="150000"/>
              </a:lnSpc>
              <a:buAutoNum type="arabicParenR"/>
            </a:pPr>
            <a:r>
              <a:rPr lang="en-US" altLang="ko-KR" sz="1000" dirty="0">
                <a:latin typeface="맑은 고딕"/>
                <a:ea typeface="맑은 고딕"/>
              </a:rPr>
              <a:t>Impedance without error</a:t>
            </a:r>
          </a:p>
          <a:p>
            <a:pPr marL="228600" indent="-228600" algn="just">
              <a:lnSpc>
                <a:spcPct val="150000"/>
              </a:lnSpc>
              <a:buAutoNum type="arabicParenR"/>
            </a:pPr>
            <a:endParaRPr lang="en-US" altLang="ko-KR" sz="1000" dirty="0">
              <a:latin typeface="맑은 고딕"/>
              <a:ea typeface="맑은 고딕"/>
            </a:endParaRPr>
          </a:p>
          <a:p>
            <a:pPr marL="228600" indent="-228600" algn="just">
              <a:lnSpc>
                <a:spcPct val="150000"/>
              </a:lnSpc>
              <a:buAutoNum type="arabicParenR"/>
            </a:pPr>
            <a:endParaRPr lang="en-US" altLang="ko-KR" sz="1000" dirty="0">
              <a:latin typeface="맑은 고딕"/>
              <a:ea typeface="맑은 고딕"/>
            </a:endParaRPr>
          </a:p>
          <a:p>
            <a:pPr marL="228600" indent="-228600" algn="just">
              <a:lnSpc>
                <a:spcPct val="150000"/>
              </a:lnSpc>
              <a:buAutoNum type="arabicParenR"/>
            </a:pPr>
            <a:endParaRPr lang="en-US" altLang="ko-KR" sz="1000" dirty="0">
              <a:latin typeface="맑은 고딕"/>
              <a:ea typeface="맑은 고딕"/>
            </a:endParaRPr>
          </a:p>
          <a:p>
            <a:pPr marL="228600" indent="-228600" algn="just">
              <a:lnSpc>
                <a:spcPct val="150000"/>
              </a:lnSpc>
              <a:buAutoNum type="arabicParenR"/>
            </a:pPr>
            <a:endParaRPr lang="en-US" altLang="ko-KR" sz="1000" dirty="0">
              <a:latin typeface="맑은 고딕"/>
              <a:ea typeface="맑은 고딕"/>
            </a:endParaRPr>
          </a:p>
          <a:p>
            <a:pPr marL="228600" indent="-228600" algn="just">
              <a:lnSpc>
                <a:spcPct val="150000"/>
              </a:lnSpc>
              <a:buAutoNum type="arabicParenR"/>
            </a:pPr>
            <a:endParaRPr lang="en-US" altLang="ko-KR" sz="1000" dirty="0">
              <a:latin typeface="맑은 고딕"/>
              <a:ea typeface="맑은 고딕"/>
            </a:endParaRPr>
          </a:p>
          <a:p>
            <a:pPr marL="228600" indent="-228600" algn="just">
              <a:lnSpc>
                <a:spcPct val="150000"/>
              </a:lnSpc>
              <a:buAutoNum type="arabicParenR"/>
            </a:pPr>
            <a:endParaRPr lang="en-US" altLang="ko-KR" sz="1000" dirty="0">
              <a:latin typeface="맑은 고딕"/>
              <a:ea typeface="맑은 고딕"/>
            </a:endParaRPr>
          </a:p>
          <a:p>
            <a:pPr marL="228600" indent="-228600" algn="just">
              <a:lnSpc>
                <a:spcPct val="150000"/>
              </a:lnSpc>
              <a:buAutoNum type="arabicParenR"/>
            </a:pPr>
            <a:endParaRPr lang="en-US" altLang="ko-KR" sz="1000" dirty="0">
              <a:latin typeface="맑은 고딕"/>
              <a:ea typeface="맑은 고딕"/>
            </a:endParaRPr>
          </a:p>
          <a:p>
            <a:pPr marL="228600" indent="-228600" algn="just">
              <a:lnSpc>
                <a:spcPct val="150000"/>
              </a:lnSpc>
              <a:buAutoNum type="arabicParenR"/>
            </a:pPr>
            <a:endParaRPr lang="en-US" altLang="ko-KR" sz="1000" dirty="0">
              <a:latin typeface="맑은 고딕"/>
              <a:ea typeface="맑은 고딕"/>
            </a:endParaRPr>
          </a:p>
          <a:p>
            <a:pPr marL="228600" indent="-228600" algn="just">
              <a:lnSpc>
                <a:spcPct val="150000"/>
              </a:lnSpc>
              <a:buAutoNum type="arabicParenR"/>
            </a:pPr>
            <a:endParaRPr lang="en-US" altLang="ko-KR" sz="1000" dirty="0">
              <a:latin typeface="맑은 고딕"/>
              <a:ea typeface="맑은 고딕"/>
            </a:endParaRPr>
          </a:p>
          <a:p>
            <a:pPr marL="228600" indent="-228600" algn="just">
              <a:lnSpc>
                <a:spcPct val="150000"/>
              </a:lnSpc>
              <a:buAutoNum type="arabicParenR"/>
            </a:pPr>
            <a:endParaRPr lang="en-US" altLang="ko-KR" sz="1000" dirty="0">
              <a:latin typeface="맑은 고딕"/>
              <a:ea typeface="맑은 고딕"/>
            </a:endParaRPr>
          </a:p>
          <a:p>
            <a:pPr marL="228600" indent="-228600" algn="just">
              <a:lnSpc>
                <a:spcPct val="150000"/>
              </a:lnSpc>
              <a:buAutoNum type="arabicParenR"/>
            </a:pPr>
            <a:endParaRPr lang="en-US" altLang="ko-KR" sz="1000" dirty="0">
              <a:latin typeface="맑은 고딕"/>
              <a:ea typeface="맑은 고딕"/>
            </a:endParaRPr>
          </a:p>
          <a:p>
            <a:pPr marL="228600" indent="-228600" algn="just">
              <a:lnSpc>
                <a:spcPct val="150000"/>
              </a:lnSpc>
              <a:buAutoNum type="arabicParenR"/>
            </a:pPr>
            <a:endParaRPr lang="en-US" altLang="ko-KR" sz="1000" dirty="0">
              <a:latin typeface="맑은 고딕"/>
              <a:ea typeface="맑은 고딕"/>
            </a:endParaRPr>
          </a:p>
          <a:p>
            <a:pPr marL="228600" indent="-228600" algn="just">
              <a:lnSpc>
                <a:spcPct val="150000"/>
              </a:lnSpc>
              <a:buAutoNum type="arabicParenR"/>
            </a:pPr>
            <a:endParaRPr lang="en-US" altLang="ko-KR" sz="1000" dirty="0">
              <a:latin typeface="맑은 고딕"/>
              <a:ea typeface="맑은 고딕"/>
            </a:endParaRPr>
          </a:p>
          <a:p>
            <a:pPr marL="228600" indent="-228600" algn="just">
              <a:lnSpc>
                <a:spcPct val="150000"/>
              </a:lnSpc>
              <a:buAutoNum type="arabicParenR"/>
            </a:pPr>
            <a:endParaRPr lang="en-US" altLang="ko-KR" sz="1000" dirty="0">
              <a:latin typeface="맑은 고딕"/>
              <a:ea typeface="맑은 고딕"/>
            </a:endParaRPr>
          </a:p>
          <a:p>
            <a:pPr marL="228600" indent="-228600" algn="just">
              <a:lnSpc>
                <a:spcPct val="150000"/>
              </a:lnSpc>
              <a:buAutoNum type="arabicParenR"/>
            </a:pPr>
            <a:endParaRPr lang="en-US" altLang="ko-KR" sz="1000" dirty="0">
              <a:latin typeface="맑은 고딕"/>
              <a:ea typeface="맑은 고딕"/>
            </a:endParaRPr>
          </a:p>
          <a:p>
            <a:pPr marL="228600" indent="-228600" algn="just">
              <a:lnSpc>
                <a:spcPct val="150000"/>
              </a:lnSpc>
              <a:buAutoNum type="arabicParenR"/>
            </a:pPr>
            <a:r>
              <a:rPr lang="en-US" altLang="ko-KR" sz="1000" dirty="0">
                <a:latin typeface="맑은 고딕"/>
                <a:ea typeface="맑은 고딕"/>
              </a:rPr>
              <a:t>Impedance with an error</a:t>
            </a:r>
          </a:p>
        </p:txBody>
      </p:sp>
      <p:pic>
        <p:nvPicPr>
          <p:cNvPr id="3" name="Picture 2" descr="G:\★ 바탕화면_백업\04. InBody_전 장비\C. 제품 이미지\제품_S시리즈\InBodyS10_lcd_15_임피던스결과_o_from윤정현 (1).jpg"/>
          <p:cNvPicPr>
            <a:picLocks noChangeAspect="1" noChangeArrowheads="1"/>
          </p:cNvPicPr>
          <p:nvPr/>
        </p:nvPicPr>
        <p:blipFill>
          <a:blip r:embed="rId2" cstate="print"/>
          <a:srcRect/>
          <a:stretch>
            <a:fillRect/>
          </a:stretch>
        </p:blipFill>
        <p:spPr bwMode="auto">
          <a:xfrm>
            <a:off x="708507" y="2266638"/>
            <a:ext cx="5400000" cy="3240000"/>
          </a:xfrm>
          <a:prstGeom prst="rect">
            <a:avLst/>
          </a:prstGeom>
          <a:noFill/>
        </p:spPr>
      </p:pic>
      <p:pic>
        <p:nvPicPr>
          <p:cNvPr id="5" name="Picture 3" descr="G:\★ 바탕화면_백업\04. InBody_전 장비\C. 제품 이미지\제품_S시리즈\InBodyS10_lcd_15_임피던스결과_o_from윤정현 (2).jpg"/>
          <p:cNvPicPr>
            <a:picLocks noChangeAspect="1" noChangeArrowheads="1"/>
          </p:cNvPicPr>
          <p:nvPr/>
        </p:nvPicPr>
        <p:blipFill>
          <a:blip r:embed="rId3" cstate="print"/>
          <a:srcRect/>
          <a:stretch>
            <a:fillRect/>
          </a:stretch>
        </p:blipFill>
        <p:spPr bwMode="auto">
          <a:xfrm>
            <a:off x="708507" y="5929213"/>
            <a:ext cx="5400000" cy="3240000"/>
          </a:xfrm>
          <a:prstGeom prst="rect">
            <a:avLst/>
          </a:prstGeom>
          <a:noFill/>
        </p:spPr>
      </p:pic>
      <p:sp>
        <p:nvSpPr>
          <p:cNvPr id="8" name="TextBox 7"/>
          <p:cNvSpPr txBox="1"/>
          <p:nvPr/>
        </p:nvSpPr>
        <p:spPr>
          <a:xfrm>
            <a:off x="390782" y="745472"/>
            <a:ext cx="5819222" cy="584775"/>
          </a:xfrm>
          <a:prstGeom prst="rect">
            <a:avLst/>
          </a:prstGeom>
          <a:noFill/>
        </p:spPr>
        <p:txBody>
          <a:bodyPr wrap="none" rtlCol="0">
            <a:spAutoFit/>
          </a:bodyPr>
          <a:lstStyle/>
          <a:p>
            <a:pPr>
              <a:lnSpc>
                <a:spcPct val="150000"/>
              </a:lnSpc>
            </a:pPr>
            <a:r>
              <a:rPr lang="en-US" altLang="ko-KR" sz="1400" b="1">
                <a:latin typeface="Arial" pitchFamily="34" charset="0"/>
                <a:cs typeface="Arial" pitchFamily="34" charset="0"/>
              </a:rPr>
              <a:t>Cautions when measuring intensive care patients with InBodyS10 </a:t>
            </a:r>
          </a:p>
          <a:p>
            <a:pPr>
              <a:buFont typeface="Wingdings"/>
              <a:buChar char="à"/>
            </a:pPr>
            <a:r>
              <a:rPr lang="en-US" altLang="ko-KR" sz="1100" b="1">
                <a:latin typeface="Arial" pitchFamily="34" charset="0"/>
                <a:cs typeface="Arial" pitchFamily="34" charset="0"/>
                <a:sym typeface="Wingdings" pitchFamily="2" charset="2"/>
              </a:rPr>
              <a:t> How to check Junk data</a:t>
            </a:r>
            <a:endParaRPr lang="en-US" altLang="ko-KR" sz="1100" b="1" dirty="0">
              <a:latin typeface="Arial" pitchFamily="34" charset="0"/>
              <a:cs typeface="Arial" pitchFamily="34" charset="0"/>
              <a:sym typeface="Wingdings" pitchFamily="2" charset="2"/>
            </a:endParaRPr>
          </a:p>
        </p:txBody>
      </p:sp>
      <p:sp>
        <p:nvSpPr>
          <p:cNvPr id="9" name="바닥글 개체 틀 8"/>
          <p:cNvSpPr>
            <a:spLocks noGrp="1"/>
          </p:cNvSpPr>
          <p:nvPr>
            <p:ph type="ftr" sz="quarter" idx="11"/>
          </p:nvPr>
        </p:nvSpPr>
        <p:spPr/>
        <p:txBody>
          <a:bodyPr/>
          <a:lstStyle/>
          <a:p>
            <a:r>
              <a:rPr lang="en-US" altLang="ko-KR" sz="800"/>
              <a:t>InBody Co., Ltd.</a:t>
            </a:r>
            <a:endParaRPr lang="ko-KR" altLang="en-US" sz="800" dirty="0"/>
          </a:p>
        </p:txBody>
      </p:sp>
      <p:sp>
        <p:nvSpPr>
          <p:cNvPr id="10" name="날짜 개체 틀 9"/>
          <p:cNvSpPr>
            <a:spLocks noGrp="1"/>
          </p:cNvSpPr>
          <p:nvPr>
            <p:ph type="dt" sz="half" idx="10"/>
          </p:nvPr>
        </p:nvSpPr>
        <p:spPr/>
        <p:txBody>
          <a:bodyPr/>
          <a:lstStyle/>
          <a:p>
            <a:r>
              <a:rPr lang="en-US" altLang="ko-KR" sz="800" dirty="0"/>
              <a:t>IB-202-001  </a:t>
            </a:r>
            <a:endParaRPr lang="ko-KR" altLang="en-US" sz="800" dirty="0"/>
          </a:p>
        </p:txBody>
      </p:sp>
      <p:sp>
        <p:nvSpPr>
          <p:cNvPr id="11" name="슬라이드 번호 개체 틀 10"/>
          <p:cNvSpPr>
            <a:spLocks noGrp="1"/>
          </p:cNvSpPr>
          <p:nvPr>
            <p:ph type="sldNum" sz="quarter" idx="12"/>
          </p:nvPr>
        </p:nvSpPr>
        <p:spPr/>
        <p:txBody>
          <a:bodyPr/>
          <a:lstStyle/>
          <a:p>
            <a:r>
              <a:rPr lang="en-US" altLang="ko-KR" sz="800"/>
              <a:t>Rev:0</a:t>
            </a:r>
            <a:endParaRPr lang="ko-KR" altLang="en-US" sz="800" dirty="0"/>
          </a:p>
        </p:txBody>
      </p:sp>
    </p:spTree>
    <p:extLst>
      <p:ext uri="{BB962C8B-B14F-4D97-AF65-F5344CB8AC3E}">
        <p14:creationId xmlns:p14="http://schemas.microsoft.com/office/powerpoint/2010/main" val="33231105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1328" y="1568624"/>
            <a:ext cx="6084016" cy="5401479"/>
          </a:xfrm>
          <a:prstGeom prst="rect">
            <a:avLst/>
          </a:prstGeom>
          <a:noFill/>
        </p:spPr>
        <p:txBody>
          <a:bodyPr wrap="square" rtlCol="0">
            <a:spAutoFit/>
          </a:bodyPr>
          <a:lstStyle/>
          <a:p>
            <a:pPr algn="just">
              <a:lnSpc>
                <a:spcPct val="150000"/>
              </a:lnSpc>
            </a:pPr>
            <a:r>
              <a:rPr lang="en-US" altLang="ko-KR" sz="1000" b="1" dirty="0">
                <a:latin typeface="맑은 고딕"/>
                <a:ea typeface="맑은 고딕"/>
              </a:rPr>
              <a:t>3</a:t>
            </a:r>
            <a:r>
              <a:rPr lang="en-US" altLang="ko-KR" sz="1000" b="1">
                <a:latin typeface="맑은 고딕"/>
                <a:ea typeface="맑은 고딕"/>
              </a:rPr>
              <a:t>. Most common errer</a:t>
            </a:r>
            <a:endParaRPr lang="en-US" altLang="ko-KR" sz="1000" b="1" dirty="0">
              <a:latin typeface="맑은 고딕"/>
              <a:ea typeface="맑은 고딕"/>
            </a:endParaRPr>
          </a:p>
          <a:p>
            <a:pPr marL="228600" indent="-228600" algn="just">
              <a:lnSpc>
                <a:spcPct val="150000"/>
              </a:lnSpc>
              <a:buAutoNum type="arabicParenR"/>
            </a:pPr>
            <a:r>
              <a:rPr lang="en-US" altLang="ko-KR" sz="1000" b="1">
                <a:latin typeface="맑은 고딕"/>
                <a:ea typeface="맑은 고딕"/>
              </a:rPr>
              <a:t>Reverse in low frequency</a:t>
            </a:r>
          </a:p>
          <a:p>
            <a:pPr algn="just">
              <a:lnSpc>
                <a:spcPct val="150000"/>
              </a:lnSpc>
            </a:pPr>
            <a:r>
              <a:rPr lang="ko-KR" altLang="en-US" sz="1000">
                <a:latin typeface="맑은 고딕" panose="020B0503020000020004" pitchFamily="50" charset="-127"/>
                <a:ea typeface="맑은 고딕" panose="020B0503020000020004" pitchFamily="50" charset="-127"/>
              </a:rPr>
              <a:t>① </a:t>
            </a:r>
            <a:r>
              <a:rPr lang="en-US" altLang="ko-KR" sz="1000">
                <a:solidFill>
                  <a:srgbClr val="FF0000"/>
                </a:solidFill>
                <a:latin typeface="맑은 고딕" panose="020B0503020000020004" pitchFamily="50" charset="-127"/>
                <a:ea typeface="맑은 고딕" panose="020B0503020000020004" pitchFamily="50" charset="-127"/>
              </a:rPr>
              <a:t>Reverse in the low frequency occurs when skin of the contact point is dry.</a:t>
            </a:r>
            <a:r>
              <a:rPr lang="en-US" altLang="ko-KR" sz="1000">
                <a:latin typeface="맑은 고딕" panose="020B0503020000020004" pitchFamily="50" charset="-127"/>
                <a:ea typeface="맑은 고딕" panose="020B0503020000020004" pitchFamily="50" charset="-127"/>
              </a:rPr>
              <a:t> Moisten the contact point with InBody tissue and try measurement again. </a:t>
            </a:r>
          </a:p>
          <a:p>
            <a:pPr algn="just">
              <a:lnSpc>
                <a:spcPct val="150000"/>
              </a:lnSpc>
            </a:pPr>
            <a:r>
              <a:rPr lang="en-US" altLang="ko-KR" sz="1000">
                <a:latin typeface="맑은 고딕"/>
                <a:ea typeface="맑은 고딕"/>
              </a:rPr>
              <a:t>② Check whether the hand/foot electrodes are in proper contact with correct location.</a:t>
            </a:r>
          </a:p>
          <a:p>
            <a:pPr algn="just">
              <a:lnSpc>
                <a:spcPct val="150000"/>
              </a:lnSpc>
            </a:pPr>
            <a:r>
              <a:rPr lang="en-US" altLang="ko-KR" sz="1000">
                <a:latin typeface="맑은 고딕"/>
                <a:ea typeface="맑은 고딕"/>
              </a:rPr>
              <a:t> </a:t>
            </a:r>
            <a:endParaRPr lang="en-US" altLang="ko-KR" sz="1000" dirty="0">
              <a:latin typeface="맑은 고딕"/>
              <a:ea typeface="맑은 고딕"/>
            </a:endParaRPr>
          </a:p>
          <a:p>
            <a:pPr algn="just">
              <a:lnSpc>
                <a:spcPct val="150000"/>
              </a:lnSpc>
            </a:pPr>
            <a:endParaRPr lang="en-US" altLang="ko-KR" sz="1000" dirty="0">
              <a:latin typeface="맑은 고딕"/>
              <a:ea typeface="맑은 고딕"/>
            </a:endParaRPr>
          </a:p>
          <a:p>
            <a:pPr algn="just">
              <a:lnSpc>
                <a:spcPct val="150000"/>
              </a:lnSpc>
            </a:pPr>
            <a:endParaRPr lang="en-US" altLang="ko-KR" sz="1000" dirty="0">
              <a:latin typeface="맑은 고딕"/>
              <a:ea typeface="맑은 고딕"/>
            </a:endParaRPr>
          </a:p>
          <a:p>
            <a:pPr algn="just">
              <a:lnSpc>
                <a:spcPct val="150000"/>
              </a:lnSpc>
            </a:pPr>
            <a:endParaRPr lang="en-US" altLang="ko-KR" sz="1000" dirty="0">
              <a:latin typeface="맑은 고딕"/>
              <a:ea typeface="맑은 고딕"/>
            </a:endParaRPr>
          </a:p>
          <a:p>
            <a:pPr algn="just">
              <a:lnSpc>
                <a:spcPct val="150000"/>
              </a:lnSpc>
            </a:pPr>
            <a:endParaRPr lang="en-US" altLang="ko-KR" sz="1000" dirty="0">
              <a:latin typeface="맑은 고딕"/>
              <a:ea typeface="맑은 고딕"/>
            </a:endParaRPr>
          </a:p>
          <a:p>
            <a:pPr algn="just">
              <a:lnSpc>
                <a:spcPct val="150000"/>
              </a:lnSpc>
            </a:pPr>
            <a:endParaRPr lang="en-US" altLang="ko-KR" sz="1000" dirty="0">
              <a:latin typeface="맑은 고딕"/>
              <a:ea typeface="맑은 고딕"/>
            </a:endParaRPr>
          </a:p>
          <a:p>
            <a:pPr algn="just">
              <a:lnSpc>
                <a:spcPct val="150000"/>
              </a:lnSpc>
            </a:pPr>
            <a:endParaRPr lang="en-US" altLang="ko-KR" sz="1000" dirty="0">
              <a:latin typeface="맑은 고딕"/>
              <a:ea typeface="맑은 고딕"/>
            </a:endParaRPr>
          </a:p>
          <a:p>
            <a:pPr algn="just">
              <a:lnSpc>
                <a:spcPct val="150000"/>
              </a:lnSpc>
            </a:pPr>
            <a:endParaRPr lang="en-US" altLang="ko-KR" sz="1000" dirty="0">
              <a:latin typeface="맑은 고딕"/>
              <a:ea typeface="맑은 고딕"/>
            </a:endParaRPr>
          </a:p>
          <a:p>
            <a:pPr algn="just">
              <a:lnSpc>
                <a:spcPct val="150000"/>
              </a:lnSpc>
            </a:pPr>
            <a:endParaRPr lang="en-US" altLang="ko-KR" sz="1000" dirty="0">
              <a:latin typeface="맑은 고딕"/>
              <a:ea typeface="맑은 고딕"/>
            </a:endParaRPr>
          </a:p>
          <a:p>
            <a:pPr algn="just">
              <a:lnSpc>
                <a:spcPct val="150000"/>
              </a:lnSpc>
            </a:pPr>
            <a:endParaRPr lang="en-US" altLang="ko-KR" sz="1000" dirty="0">
              <a:latin typeface="맑은 고딕"/>
              <a:ea typeface="맑은 고딕"/>
            </a:endParaRPr>
          </a:p>
          <a:p>
            <a:pPr algn="just">
              <a:lnSpc>
                <a:spcPct val="150000"/>
              </a:lnSpc>
            </a:pPr>
            <a:endParaRPr lang="en-US" altLang="ko-KR" sz="1000" dirty="0">
              <a:latin typeface="맑은 고딕"/>
              <a:ea typeface="맑은 고딕"/>
            </a:endParaRPr>
          </a:p>
          <a:p>
            <a:pPr algn="just">
              <a:lnSpc>
                <a:spcPct val="150000"/>
              </a:lnSpc>
            </a:pPr>
            <a:r>
              <a:rPr lang="en-US" altLang="ko-KR" sz="1000" b="1" dirty="0">
                <a:latin typeface="맑은 고딕"/>
                <a:ea typeface="맑은 고딕"/>
              </a:rPr>
              <a:t>2</a:t>
            </a:r>
            <a:r>
              <a:rPr lang="en-US" altLang="ko-KR" sz="1000" b="1">
                <a:latin typeface="맑은 고딕"/>
                <a:ea typeface="맑은 고딕"/>
              </a:rPr>
              <a:t>) Reverse in high frequency</a:t>
            </a:r>
          </a:p>
          <a:p>
            <a:pPr algn="just">
              <a:lnSpc>
                <a:spcPct val="150000"/>
              </a:lnSpc>
            </a:pPr>
            <a:r>
              <a:rPr lang="ko-KR" altLang="ko-KR" sz="1000">
                <a:latin typeface="맑은 고딕"/>
                <a:ea typeface="맑은 고딕"/>
              </a:rPr>
              <a:t>①</a:t>
            </a:r>
            <a:r>
              <a:rPr lang="en-US" altLang="ko-KR" sz="1000">
                <a:latin typeface="맑은 고딕"/>
                <a:ea typeface="맑은 고딕"/>
              </a:rPr>
              <a:t> </a:t>
            </a:r>
            <a:r>
              <a:rPr lang="en-US" altLang="ko-KR" sz="1000">
                <a:solidFill>
                  <a:srgbClr val="FF0000"/>
                </a:solidFill>
                <a:latin typeface="맑은 고딕" panose="020B0503020000020004" pitchFamily="50" charset="-127"/>
              </a:rPr>
              <a:t>Impedance can be reversed because of the surrounding noise. </a:t>
            </a:r>
            <a:r>
              <a:rPr lang="en-US" altLang="ko-KR" sz="1000">
                <a:latin typeface="맑은 고딕" panose="020B0503020000020004" pitchFamily="50" charset="-127"/>
              </a:rPr>
              <a:t>Ensure the device to be connected to an outlet without ground terminal or not to be located close to the medical equipment that may cause electrical interference. </a:t>
            </a:r>
          </a:p>
          <a:p>
            <a:pPr algn="just">
              <a:lnSpc>
                <a:spcPct val="150000"/>
              </a:lnSpc>
            </a:pPr>
            <a:r>
              <a:rPr lang="ko-KR" altLang="en-US" sz="1000">
                <a:latin typeface="맑은 고딕" panose="020B0503020000020004" pitchFamily="50" charset="-127"/>
                <a:ea typeface="맑은 고딕" panose="020B0503020000020004" pitchFamily="50" charset="-127"/>
              </a:rPr>
              <a:t>② </a:t>
            </a:r>
            <a:r>
              <a:rPr lang="en-US" altLang="ko-KR" sz="1000">
                <a:latin typeface="맑은 고딕" panose="020B0503020000020004" pitchFamily="50" charset="-127"/>
                <a:ea typeface="맑은 고딕" panose="020B0503020000020004" pitchFamily="50" charset="-127"/>
              </a:rPr>
              <a:t>If several devices are connected to the same outlet, disconnect them and plug into the different outlets. </a:t>
            </a:r>
          </a:p>
          <a:p>
            <a:pPr algn="just">
              <a:lnSpc>
                <a:spcPct val="150000"/>
              </a:lnSpc>
            </a:pPr>
            <a:r>
              <a:rPr lang="ko-KR" altLang="en-US" sz="1000">
                <a:latin typeface="맑은 고딕" panose="020B0503020000020004" pitchFamily="50" charset="-127"/>
                <a:ea typeface="맑은 고딕" panose="020B0503020000020004" pitchFamily="50" charset="-127"/>
              </a:rPr>
              <a:t>③ </a:t>
            </a:r>
            <a:r>
              <a:rPr lang="en-US" altLang="ko-KR" sz="1000">
                <a:latin typeface="맑은 고딕" panose="020B0503020000020004" pitchFamily="50" charset="-127"/>
                <a:ea typeface="맑은 고딕" panose="020B0503020000020004" pitchFamily="50" charset="-127"/>
              </a:rPr>
              <a:t>Check if the patient has medical issues in that part of the body. </a:t>
            </a:r>
            <a:endParaRPr lang="en-US" altLang="ko-KR" sz="1000" dirty="0">
              <a:ea typeface="맑은 고딕"/>
            </a:endParaRPr>
          </a:p>
        </p:txBody>
      </p:sp>
      <p:graphicFrame>
        <p:nvGraphicFramePr>
          <p:cNvPr id="5" name="표 4"/>
          <p:cNvGraphicFramePr>
            <a:graphicFrameLocks noGrp="1" noChangeAspect="1"/>
          </p:cNvGraphicFramePr>
          <p:nvPr>
            <p:extLst>
              <p:ext uri="{D42A27DB-BD31-4B8C-83A1-F6EECF244321}">
                <p14:modId xmlns:p14="http://schemas.microsoft.com/office/powerpoint/2010/main" val="1461141343"/>
              </p:ext>
            </p:extLst>
          </p:nvPr>
        </p:nvGraphicFramePr>
        <p:xfrm>
          <a:off x="559311" y="2761572"/>
          <a:ext cx="5750010" cy="2263632"/>
        </p:xfrm>
        <a:graphic>
          <a:graphicData uri="http://schemas.openxmlformats.org/drawingml/2006/table">
            <a:tbl>
              <a:tblPr firstRow="1" firstCol="1" bandRow="1">
                <a:tableStyleId>{073A0DAA-6AF3-43AB-8588-CEC1D06C72B9}</a:tableStyleId>
              </a:tblPr>
              <a:tblGrid>
                <a:gridCol w="958335">
                  <a:extLst>
                    <a:ext uri="{9D8B030D-6E8A-4147-A177-3AD203B41FA5}">
                      <a16:colId xmlns:a16="http://schemas.microsoft.com/office/drawing/2014/main" val="20000"/>
                    </a:ext>
                  </a:extLst>
                </a:gridCol>
                <a:gridCol w="958335">
                  <a:extLst>
                    <a:ext uri="{9D8B030D-6E8A-4147-A177-3AD203B41FA5}">
                      <a16:colId xmlns:a16="http://schemas.microsoft.com/office/drawing/2014/main" val="20001"/>
                    </a:ext>
                  </a:extLst>
                </a:gridCol>
                <a:gridCol w="958335">
                  <a:extLst>
                    <a:ext uri="{9D8B030D-6E8A-4147-A177-3AD203B41FA5}">
                      <a16:colId xmlns:a16="http://schemas.microsoft.com/office/drawing/2014/main" val="20002"/>
                    </a:ext>
                  </a:extLst>
                </a:gridCol>
                <a:gridCol w="958335">
                  <a:extLst>
                    <a:ext uri="{9D8B030D-6E8A-4147-A177-3AD203B41FA5}">
                      <a16:colId xmlns:a16="http://schemas.microsoft.com/office/drawing/2014/main" val="20003"/>
                    </a:ext>
                  </a:extLst>
                </a:gridCol>
                <a:gridCol w="958335">
                  <a:extLst>
                    <a:ext uri="{9D8B030D-6E8A-4147-A177-3AD203B41FA5}">
                      <a16:colId xmlns:a16="http://schemas.microsoft.com/office/drawing/2014/main" val="20004"/>
                    </a:ext>
                  </a:extLst>
                </a:gridCol>
                <a:gridCol w="958335">
                  <a:extLst>
                    <a:ext uri="{9D8B030D-6E8A-4147-A177-3AD203B41FA5}">
                      <a16:colId xmlns:a16="http://schemas.microsoft.com/office/drawing/2014/main" val="20005"/>
                    </a:ext>
                  </a:extLst>
                </a:gridCol>
              </a:tblGrid>
              <a:tr h="323376">
                <a:tc>
                  <a:txBody>
                    <a:bodyPr/>
                    <a:lstStyle/>
                    <a:p>
                      <a:pPr algn="just"/>
                      <a:endParaRPr lang="ko-KR" sz="1000" kern="100" dirty="0">
                        <a:effectLst/>
                        <a:latin typeface="맑은 고딕" panose="020B0503020000020004" pitchFamily="50" charset="-127"/>
                        <a:ea typeface="맑은 고딕" panose="020B0503020000020004" pitchFamily="50" charset="-127"/>
                      </a:endParaRPr>
                    </a:p>
                  </a:txBody>
                  <a:tcPr marL="68580" marR="68580" marT="0" marB="0" anchor="ctr"/>
                </a:tc>
                <a:tc>
                  <a:txBody>
                    <a:bodyPr/>
                    <a:lstStyle/>
                    <a:p>
                      <a:pPr algn="ctr" latinLnBrk="0">
                        <a:lnSpc>
                          <a:spcPct val="107000"/>
                        </a:lnSpc>
                        <a:spcAft>
                          <a:spcPts val="0"/>
                        </a:spcAft>
                      </a:pPr>
                      <a:r>
                        <a:rPr lang="en-US" sz="1000" kern="0">
                          <a:effectLst/>
                        </a:rPr>
                        <a:t>RA</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dirty="0">
                          <a:effectLst/>
                        </a:rPr>
                        <a:t>LA</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dirty="0">
                          <a:effectLst/>
                        </a:rPr>
                        <a:t>TR</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effectLst/>
                        </a:rPr>
                        <a:t>RL</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effectLst/>
                        </a:rPr>
                        <a:t>LL</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323376">
                <a:tc>
                  <a:txBody>
                    <a:bodyPr/>
                    <a:lstStyle/>
                    <a:p>
                      <a:pPr algn="r" latinLnBrk="0">
                        <a:lnSpc>
                          <a:spcPct val="107000"/>
                        </a:lnSpc>
                        <a:spcAft>
                          <a:spcPts val="0"/>
                        </a:spcAft>
                      </a:pPr>
                      <a:r>
                        <a:rPr lang="en-US" sz="1000" kern="0">
                          <a:effectLst/>
                        </a:rPr>
                        <a:t>1kHz</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rPr>
                        <a:t>435.6</a:t>
                      </a:r>
                      <a:endParaRPr 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404.7</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21.0</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209.3</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163.7</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323376">
                <a:tc>
                  <a:txBody>
                    <a:bodyPr/>
                    <a:lstStyle/>
                    <a:p>
                      <a:pPr algn="r" latinLnBrk="0">
                        <a:lnSpc>
                          <a:spcPct val="107000"/>
                        </a:lnSpc>
                        <a:spcAft>
                          <a:spcPts val="0"/>
                        </a:spcAft>
                      </a:pPr>
                      <a:r>
                        <a:rPr lang="en-US" sz="1000" kern="0">
                          <a:effectLst/>
                        </a:rPr>
                        <a:t>5kHz</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rPr>
                        <a:t>442.1</a:t>
                      </a:r>
                      <a:endParaRPr 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397.5</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13.9</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161.1</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155.7</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323376">
                <a:tc>
                  <a:txBody>
                    <a:bodyPr/>
                    <a:lstStyle/>
                    <a:p>
                      <a:pPr algn="r" latinLnBrk="0">
                        <a:lnSpc>
                          <a:spcPct val="107000"/>
                        </a:lnSpc>
                        <a:spcAft>
                          <a:spcPts val="0"/>
                        </a:spcAft>
                      </a:pPr>
                      <a:r>
                        <a:rPr lang="en-US" sz="1000" kern="0" dirty="0">
                          <a:effectLst/>
                        </a:rPr>
                        <a:t>50kHz</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419.6</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382.4</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12.4</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147.8</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155.7</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323376">
                <a:tc>
                  <a:txBody>
                    <a:bodyPr/>
                    <a:lstStyle/>
                    <a:p>
                      <a:pPr algn="r" latinLnBrk="0">
                        <a:lnSpc>
                          <a:spcPct val="107000"/>
                        </a:lnSpc>
                        <a:spcAft>
                          <a:spcPts val="0"/>
                        </a:spcAft>
                      </a:pPr>
                      <a:r>
                        <a:rPr lang="en-US" sz="1000" kern="0">
                          <a:effectLst/>
                        </a:rPr>
                        <a:t>250kHz</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395.0</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362.7</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12.0</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140.7</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142.6</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323376">
                <a:tc>
                  <a:txBody>
                    <a:bodyPr/>
                    <a:lstStyle/>
                    <a:p>
                      <a:pPr algn="r" latinLnBrk="0">
                        <a:lnSpc>
                          <a:spcPct val="107000"/>
                        </a:lnSpc>
                        <a:spcAft>
                          <a:spcPts val="0"/>
                        </a:spcAft>
                      </a:pPr>
                      <a:r>
                        <a:rPr lang="en-US" sz="1000" kern="0">
                          <a:effectLst/>
                        </a:rPr>
                        <a:t>500kHz</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381.0</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349.7</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12.0</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137.1</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139.1</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r h="323376">
                <a:tc>
                  <a:txBody>
                    <a:bodyPr/>
                    <a:lstStyle/>
                    <a:p>
                      <a:pPr algn="r" latinLnBrk="0">
                        <a:lnSpc>
                          <a:spcPct val="107000"/>
                        </a:lnSpc>
                        <a:spcAft>
                          <a:spcPts val="0"/>
                        </a:spcAft>
                      </a:pPr>
                      <a:r>
                        <a:rPr lang="en-US" sz="1000" kern="0">
                          <a:effectLst/>
                        </a:rPr>
                        <a:t>1MHz</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359.3</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326.6</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12.0</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130.8</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132.6</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6"/>
                  </a:ext>
                </a:extLst>
              </a:tr>
            </a:tbl>
          </a:graphicData>
        </a:graphic>
      </p:graphicFrame>
      <p:graphicFrame>
        <p:nvGraphicFramePr>
          <p:cNvPr id="7" name="표 6"/>
          <p:cNvGraphicFramePr>
            <a:graphicFrameLocks noGrp="1" noChangeAspect="1"/>
          </p:cNvGraphicFramePr>
          <p:nvPr>
            <p:extLst>
              <p:ext uri="{D42A27DB-BD31-4B8C-83A1-F6EECF244321}">
                <p14:modId xmlns:p14="http://schemas.microsoft.com/office/powerpoint/2010/main" val="228279823"/>
              </p:ext>
            </p:extLst>
          </p:nvPr>
        </p:nvGraphicFramePr>
        <p:xfrm>
          <a:off x="559310" y="6942532"/>
          <a:ext cx="5750010" cy="2114924"/>
        </p:xfrm>
        <a:graphic>
          <a:graphicData uri="http://schemas.openxmlformats.org/drawingml/2006/table">
            <a:tbl>
              <a:tblPr firstRow="1" firstCol="1" bandRow="1">
                <a:tableStyleId>{073A0DAA-6AF3-43AB-8588-CEC1D06C72B9}</a:tableStyleId>
              </a:tblPr>
              <a:tblGrid>
                <a:gridCol w="958335">
                  <a:extLst>
                    <a:ext uri="{9D8B030D-6E8A-4147-A177-3AD203B41FA5}">
                      <a16:colId xmlns:a16="http://schemas.microsoft.com/office/drawing/2014/main" val="20000"/>
                    </a:ext>
                  </a:extLst>
                </a:gridCol>
                <a:gridCol w="958335">
                  <a:extLst>
                    <a:ext uri="{9D8B030D-6E8A-4147-A177-3AD203B41FA5}">
                      <a16:colId xmlns:a16="http://schemas.microsoft.com/office/drawing/2014/main" val="20001"/>
                    </a:ext>
                  </a:extLst>
                </a:gridCol>
                <a:gridCol w="958335">
                  <a:extLst>
                    <a:ext uri="{9D8B030D-6E8A-4147-A177-3AD203B41FA5}">
                      <a16:colId xmlns:a16="http://schemas.microsoft.com/office/drawing/2014/main" val="20002"/>
                    </a:ext>
                  </a:extLst>
                </a:gridCol>
                <a:gridCol w="958335">
                  <a:extLst>
                    <a:ext uri="{9D8B030D-6E8A-4147-A177-3AD203B41FA5}">
                      <a16:colId xmlns:a16="http://schemas.microsoft.com/office/drawing/2014/main" val="20003"/>
                    </a:ext>
                  </a:extLst>
                </a:gridCol>
                <a:gridCol w="958335">
                  <a:extLst>
                    <a:ext uri="{9D8B030D-6E8A-4147-A177-3AD203B41FA5}">
                      <a16:colId xmlns:a16="http://schemas.microsoft.com/office/drawing/2014/main" val="20004"/>
                    </a:ext>
                  </a:extLst>
                </a:gridCol>
                <a:gridCol w="958335">
                  <a:extLst>
                    <a:ext uri="{9D8B030D-6E8A-4147-A177-3AD203B41FA5}">
                      <a16:colId xmlns:a16="http://schemas.microsoft.com/office/drawing/2014/main" val="20005"/>
                    </a:ext>
                  </a:extLst>
                </a:gridCol>
              </a:tblGrid>
              <a:tr h="302132">
                <a:tc>
                  <a:txBody>
                    <a:bodyPr/>
                    <a:lstStyle/>
                    <a:p>
                      <a:pPr algn="just"/>
                      <a:endParaRPr lang="ko-KR" sz="1000" kern="100" dirty="0">
                        <a:effectLst/>
                        <a:latin typeface="맑은 고딕" panose="020B0503020000020004" pitchFamily="50" charset="-127"/>
                        <a:ea typeface="맑은 고딕" panose="020B0503020000020004" pitchFamily="50" charset="-127"/>
                      </a:endParaRPr>
                    </a:p>
                  </a:txBody>
                  <a:tcPr marL="68580" marR="68580" marT="0" marB="0" anchor="ctr"/>
                </a:tc>
                <a:tc>
                  <a:txBody>
                    <a:bodyPr/>
                    <a:lstStyle/>
                    <a:p>
                      <a:pPr algn="ctr" latinLnBrk="0">
                        <a:lnSpc>
                          <a:spcPct val="107000"/>
                        </a:lnSpc>
                        <a:spcAft>
                          <a:spcPts val="0"/>
                        </a:spcAft>
                      </a:pPr>
                      <a:r>
                        <a:rPr lang="en-US" sz="1000" kern="0">
                          <a:effectLst/>
                        </a:rPr>
                        <a:t>RA</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dirty="0">
                          <a:effectLst/>
                        </a:rPr>
                        <a:t>LA</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dirty="0">
                          <a:effectLst/>
                        </a:rPr>
                        <a:t>TR</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effectLst/>
                        </a:rPr>
                        <a:t>RL</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effectLst/>
                        </a:rPr>
                        <a:t>LL</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302132">
                <a:tc>
                  <a:txBody>
                    <a:bodyPr/>
                    <a:lstStyle/>
                    <a:p>
                      <a:pPr algn="r" latinLnBrk="0">
                        <a:lnSpc>
                          <a:spcPct val="107000"/>
                        </a:lnSpc>
                        <a:spcAft>
                          <a:spcPts val="0"/>
                        </a:spcAft>
                      </a:pPr>
                      <a:r>
                        <a:rPr lang="en-US" sz="1000" kern="0">
                          <a:effectLst/>
                        </a:rPr>
                        <a:t>1kHz</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662.8</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695.8</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36.5</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618.5</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608.7</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302132">
                <a:tc>
                  <a:txBody>
                    <a:bodyPr/>
                    <a:lstStyle/>
                    <a:p>
                      <a:pPr algn="r" latinLnBrk="0">
                        <a:lnSpc>
                          <a:spcPct val="107000"/>
                        </a:lnSpc>
                        <a:spcAft>
                          <a:spcPts val="0"/>
                        </a:spcAft>
                      </a:pPr>
                      <a:r>
                        <a:rPr lang="en-US" sz="1000" kern="0">
                          <a:effectLst/>
                        </a:rPr>
                        <a:t>5kHz</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646.5</a:t>
                      </a:r>
                      <a:endParaRPr 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667.4</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34.6</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605.4</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595.3</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302132">
                <a:tc>
                  <a:txBody>
                    <a:bodyPr/>
                    <a:lstStyle/>
                    <a:p>
                      <a:pPr algn="r" latinLnBrk="0">
                        <a:lnSpc>
                          <a:spcPct val="107000"/>
                        </a:lnSpc>
                        <a:spcAft>
                          <a:spcPts val="0"/>
                        </a:spcAft>
                      </a:pPr>
                      <a:r>
                        <a:rPr lang="en-US" sz="1000" kern="0" dirty="0">
                          <a:effectLst/>
                        </a:rPr>
                        <a:t>50kHz</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622.7</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613.1</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30.9</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rPr>
                        <a:t>583.1</a:t>
                      </a:r>
                      <a:endParaRPr 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579.3</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302132">
                <a:tc>
                  <a:txBody>
                    <a:bodyPr/>
                    <a:lstStyle/>
                    <a:p>
                      <a:pPr algn="r" latinLnBrk="0">
                        <a:lnSpc>
                          <a:spcPct val="107000"/>
                        </a:lnSpc>
                        <a:spcAft>
                          <a:spcPts val="0"/>
                        </a:spcAft>
                      </a:pPr>
                      <a:r>
                        <a:rPr lang="en-US" sz="1000" kern="0">
                          <a:effectLst/>
                        </a:rPr>
                        <a:t>250kHz</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590.9</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584.9</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28.6</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rPr>
                        <a:t>588.2</a:t>
                      </a:r>
                      <a:endParaRPr 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565.9</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302132">
                <a:tc>
                  <a:txBody>
                    <a:bodyPr/>
                    <a:lstStyle/>
                    <a:p>
                      <a:pPr algn="r" latinLnBrk="0">
                        <a:lnSpc>
                          <a:spcPct val="107000"/>
                        </a:lnSpc>
                        <a:spcAft>
                          <a:spcPts val="0"/>
                        </a:spcAft>
                      </a:pPr>
                      <a:r>
                        <a:rPr lang="en-US" sz="1000" kern="0" dirty="0">
                          <a:effectLst/>
                        </a:rPr>
                        <a:t>500kHz</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569.8</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566.5</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27.5</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rPr>
                        <a:t>597.6</a:t>
                      </a:r>
                      <a:endParaRPr 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555.5</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r h="302132">
                <a:tc>
                  <a:txBody>
                    <a:bodyPr/>
                    <a:lstStyle/>
                    <a:p>
                      <a:pPr algn="r" latinLnBrk="0">
                        <a:lnSpc>
                          <a:spcPct val="107000"/>
                        </a:lnSpc>
                        <a:spcAft>
                          <a:spcPts val="0"/>
                        </a:spcAft>
                      </a:pPr>
                      <a:r>
                        <a:rPr lang="en-US" sz="1000" kern="0" dirty="0">
                          <a:effectLst/>
                        </a:rPr>
                        <a:t>1MHz</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529.4</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528.9</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25.8</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550.3</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538.3</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6"/>
                  </a:ext>
                </a:extLst>
              </a:tr>
            </a:tbl>
          </a:graphicData>
        </a:graphic>
      </p:graphicFrame>
      <p:sp>
        <p:nvSpPr>
          <p:cNvPr id="8" name="TextBox 7"/>
          <p:cNvSpPr txBox="1"/>
          <p:nvPr/>
        </p:nvSpPr>
        <p:spPr>
          <a:xfrm>
            <a:off x="390782" y="745472"/>
            <a:ext cx="5819222" cy="584775"/>
          </a:xfrm>
          <a:prstGeom prst="rect">
            <a:avLst/>
          </a:prstGeom>
          <a:noFill/>
        </p:spPr>
        <p:txBody>
          <a:bodyPr wrap="none" rtlCol="0">
            <a:spAutoFit/>
          </a:bodyPr>
          <a:lstStyle/>
          <a:p>
            <a:pPr>
              <a:lnSpc>
                <a:spcPct val="150000"/>
              </a:lnSpc>
            </a:pPr>
            <a:r>
              <a:rPr lang="en-US" altLang="ko-KR" sz="1400" b="1">
                <a:latin typeface="Arial" pitchFamily="34" charset="0"/>
                <a:cs typeface="Arial" pitchFamily="34" charset="0"/>
              </a:rPr>
              <a:t>Cautions when measuring intensive care patients with InBodyS10 </a:t>
            </a:r>
          </a:p>
          <a:p>
            <a:pPr>
              <a:buFont typeface="Wingdings"/>
              <a:buChar char="à"/>
            </a:pPr>
            <a:r>
              <a:rPr lang="en-US" altLang="ko-KR" sz="1100" b="1">
                <a:latin typeface="Arial" pitchFamily="34" charset="0"/>
                <a:cs typeface="Arial" pitchFamily="34" charset="0"/>
                <a:sym typeface="Wingdings" pitchFamily="2" charset="2"/>
              </a:rPr>
              <a:t> How to check Junk data</a:t>
            </a:r>
            <a:endParaRPr lang="en-US" altLang="ko-KR" sz="1100" b="1" dirty="0">
              <a:latin typeface="Arial" pitchFamily="34" charset="0"/>
              <a:cs typeface="Arial" pitchFamily="34" charset="0"/>
              <a:sym typeface="Wingdings" pitchFamily="2" charset="2"/>
            </a:endParaRPr>
          </a:p>
        </p:txBody>
      </p:sp>
      <p:sp>
        <p:nvSpPr>
          <p:cNvPr id="9" name="모서리가 둥근 직사각형 8"/>
          <p:cNvSpPr/>
          <p:nvPr/>
        </p:nvSpPr>
        <p:spPr>
          <a:xfrm>
            <a:off x="1539600" y="3080792"/>
            <a:ext cx="914675" cy="648072"/>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ko-KR" altLang="en-US"/>
          </a:p>
        </p:txBody>
      </p:sp>
      <p:sp>
        <p:nvSpPr>
          <p:cNvPr id="10" name="모서리가 둥근 직사각형 9"/>
          <p:cNvSpPr/>
          <p:nvPr/>
        </p:nvSpPr>
        <p:spPr>
          <a:xfrm>
            <a:off x="4427232" y="7833320"/>
            <a:ext cx="914675" cy="936104"/>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ko-KR" altLang="en-US"/>
          </a:p>
        </p:txBody>
      </p:sp>
      <p:sp>
        <p:nvSpPr>
          <p:cNvPr id="12" name="바닥글 개체 틀 11"/>
          <p:cNvSpPr>
            <a:spLocks noGrp="1"/>
          </p:cNvSpPr>
          <p:nvPr>
            <p:ph type="ftr" sz="quarter" idx="11"/>
          </p:nvPr>
        </p:nvSpPr>
        <p:spPr/>
        <p:txBody>
          <a:bodyPr/>
          <a:lstStyle/>
          <a:p>
            <a:r>
              <a:rPr lang="en-US" altLang="ko-KR" sz="800"/>
              <a:t>InBody Co., Ltd.</a:t>
            </a:r>
            <a:endParaRPr lang="ko-KR" altLang="en-US" sz="800" dirty="0"/>
          </a:p>
        </p:txBody>
      </p:sp>
      <p:sp>
        <p:nvSpPr>
          <p:cNvPr id="13" name="날짜 개체 틀 12"/>
          <p:cNvSpPr>
            <a:spLocks noGrp="1"/>
          </p:cNvSpPr>
          <p:nvPr>
            <p:ph type="dt" sz="half" idx="10"/>
          </p:nvPr>
        </p:nvSpPr>
        <p:spPr/>
        <p:txBody>
          <a:bodyPr/>
          <a:lstStyle/>
          <a:p>
            <a:r>
              <a:rPr lang="en-US" altLang="ko-KR" sz="800"/>
              <a:t>IB-202-001  </a:t>
            </a:r>
            <a:endParaRPr lang="ko-KR" altLang="en-US" sz="800" dirty="0"/>
          </a:p>
        </p:txBody>
      </p:sp>
      <p:sp>
        <p:nvSpPr>
          <p:cNvPr id="14" name="슬라이드 번호 개체 틀 13"/>
          <p:cNvSpPr>
            <a:spLocks noGrp="1"/>
          </p:cNvSpPr>
          <p:nvPr>
            <p:ph type="sldNum" sz="quarter" idx="12"/>
          </p:nvPr>
        </p:nvSpPr>
        <p:spPr/>
        <p:txBody>
          <a:bodyPr/>
          <a:lstStyle/>
          <a:p>
            <a:r>
              <a:rPr lang="en-US" altLang="ko-KR" sz="800"/>
              <a:t>Rev:0</a:t>
            </a:r>
            <a:endParaRPr lang="ko-KR" altLang="en-US" sz="800" dirty="0"/>
          </a:p>
        </p:txBody>
      </p:sp>
    </p:spTree>
    <p:extLst>
      <p:ext uri="{BB962C8B-B14F-4D97-AF65-F5344CB8AC3E}">
        <p14:creationId xmlns:p14="http://schemas.microsoft.com/office/powerpoint/2010/main" val="91110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1328" y="1712640"/>
            <a:ext cx="6084016" cy="4478149"/>
          </a:xfrm>
          <a:prstGeom prst="rect">
            <a:avLst/>
          </a:prstGeom>
          <a:noFill/>
        </p:spPr>
        <p:txBody>
          <a:bodyPr wrap="square" rtlCol="0">
            <a:spAutoFit/>
          </a:bodyPr>
          <a:lstStyle/>
          <a:p>
            <a:pPr algn="just">
              <a:lnSpc>
                <a:spcPct val="150000"/>
              </a:lnSpc>
            </a:pPr>
            <a:r>
              <a:rPr lang="en-US" altLang="ko-KR" sz="1000" b="1" dirty="0">
                <a:latin typeface="맑은 고딕"/>
                <a:ea typeface="맑은 고딕"/>
              </a:rPr>
              <a:t>3. Most common error</a:t>
            </a:r>
          </a:p>
          <a:p>
            <a:pPr algn="just">
              <a:lnSpc>
                <a:spcPct val="150000"/>
              </a:lnSpc>
            </a:pPr>
            <a:r>
              <a:rPr lang="en-US" altLang="ko-KR" sz="1000" b="1" dirty="0">
                <a:latin typeface="맑은 고딕"/>
                <a:ea typeface="맑은 고딕"/>
              </a:rPr>
              <a:t>3) Reverse in trunk </a:t>
            </a:r>
          </a:p>
          <a:p>
            <a:pPr algn="just">
              <a:lnSpc>
                <a:spcPct val="150000"/>
              </a:lnSpc>
            </a:pPr>
            <a:r>
              <a:rPr lang="ko-KR" altLang="en-US" sz="1000" dirty="0">
                <a:latin typeface="맑은 고딕" panose="020B0503020000020004" pitchFamily="50" charset="-127"/>
                <a:ea typeface="맑은 고딕" panose="020B0503020000020004" pitchFamily="50" charset="-127"/>
              </a:rPr>
              <a:t>① </a:t>
            </a:r>
            <a:r>
              <a:rPr lang="en-US" altLang="ko-KR" sz="1000" dirty="0">
                <a:solidFill>
                  <a:srgbClr val="FF0000"/>
                </a:solidFill>
                <a:latin typeface="맑은 고딕" panose="020B0503020000020004" pitchFamily="50" charset="-127"/>
                <a:ea typeface="맑은 고딕" panose="020B0503020000020004" pitchFamily="50" charset="-127"/>
              </a:rPr>
              <a:t>When impedance is reversed in trunk, Medical issue needs to be checked. </a:t>
            </a:r>
            <a:r>
              <a:rPr lang="en-US" altLang="ko-KR" sz="1000" dirty="0">
                <a:latin typeface="맑은 고딕" panose="020B0503020000020004" pitchFamily="50" charset="-127"/>
              </a:rPr>
              <a:t>Laparotomy, and use of a catheter can lead to the reverse of TR impedance and the data cannot be used in this case.</a:t>
            </a:r>
          </a:p>
          <a:p>
            <a:pPr algn="just">
              <a:lnSpc>
                <a:spcPct val="150000"/>
              </a:lnSpc>
            </a:pPr>
            <a:endParaRPr lang="en-US" altLang="ko-KR" sz="1000" dirty="0">
              <a:latin typeface="맑은 고딕" panose="020B0503020000020004" pitchFamily="50" charset="-127"/>
            </a:endParaRPr>
          </a:p>
          <a:p>
            <a:pPr algn="just">
              <a:lnSpc>
                <a:spcPct val="150000"/>
              </a:lnSpc>
            </a:pPr>
            <a:endParaRPr lang="en-US" altLang="ko-KR" sz="1000" dirty="0">
              <a:latin typeface="맑은 고딕" panose="020B0503020000020004" pitchFamily="50" charset="-127"/>
            </a:endParaRPr>
          </a:p>
          <a:p>
            <a:pPr algn="just">
              <a:lnSpc>
                <a:spcPct val="150000"/>
              </a:lnSpc>
            </a:pPr>
            <a:endParaRPr lang="en-US" altLang="ko-KR" sz="1000" dirty="0">
              <a:latin typeface="맑은 고딕" panose="020B0503020000020004" pitchFamily="50" charset="-127"/>
            </a:endParaRPr>
          </a:p>
          <a:p>
            <a:pPr algn="just">
              <a:lnSpc>
                <a:spcPct val="150000"/>
              </a:lnSpc>
            </a:pPr>
            <a:endParaRPr lang="en-US" altLang="ko-KR" sz="1000" dirty="0">
              <a:latin typeface="맑은 고딕" panose="020B0503020000020004" pitchFamily="50" charset="-127"/>
            </a:endParaRPr>
          </a:p>
          <a:p>
            <a:pPr algn="just">
              <a:lnSpc>
                <a:spcPct val="150000"/>
              </a:lnSpc>
            </a:pPr>
            <a:endParaRPr lang="en-US" altLang="ko-KR" sz="1000" dirty="0">
              <a:latin typeface="맑은 고딕" panose="020B0503020000020004" pitchFamily="50" charset="-127"/>
            </a:endParaRPr>
          </a:p>
          <a:p>
            <a:pPr algn="just">
              <a:lnSpc>
                <a:spcPct val="150000"/>
              </a:lnSpc>
            </a:pPr>
            <a:endParaRPr lang="en-US" altLang="ko-KR" sz="1000" dirty="0">
              <a:latin typeface="맑은 고딕" panose="020B0503020000020004" pitchFamily="50" charset="-127"/>
            </a:endParaRPr>
          </a:p>
          <a:p>
            <a:pPr algn="just">
              <a:lnSpc>
                <a:spcPct val="150000"/>
              </a:lnSpc>
            </a:pPr>
            <a:endParaRPr lang="en-US" altLang="ko-KR" sz="1000" dirty="0">
              <a:latin typeface="맑은 고딕" panose="020B0503020000020004" pitchFamily="50" charset="-127"/>
              <a:ea typeface="맑은 고딕" panose="020B0503020000020004" pitchFamily="50" charset="-127"/>
            </a:endParaRPr>
          </a:p>
          <a:p>
            <a:pPr algn="just">
              <a:lnSpc>
                <a:spcPct val="150000"/>
              </a:lnSpc>
            </a:pPr>
            <a:endParaRPr lang="en-US" altLang="ko-KR" sz="1000" dirty="0">
              <a:latin typeface="맑은 고딕" panose="020B0503020000020004" pitchFamily="50" charset="-127"/>
              <a:ea typeface="맑은 고딕" panose="020B0503020000020004" pitchFamily="50" charset="-127"/>
            </a:endParaRPr>
          </a:p>
          <a:p>
            <a:pPr algn="just">
              <a:lnSpc>
                <a:spcPct val="150000"/>
              </a:lnSpc>
            </a:pPr>
            <a:endParaRPr lang="en-US" altLang="ko-KR" sz="1000" dirty="0">
              <a:latin typeface="맑은 고딕" panose="020B0503020000020004" pitchFamily="50" charset="-127"/>
              <a:ea typeface="맑은 고딕" panose="020B0503020000020004" pitchFamily="50" charset="-127"/>
            </a:endParaRPr>
          </a:p>
          <a:p>
            <a:pPr algn="just">
              <a:lnSpc>
                <a:spcPct val="150000"/>
              </a:lnSpc>
            </a:pPr>
            <a:endParaRPr lang="en-US" altLang="ko-KR" sz="1000" dirty="0">
              <a:latin typeface="맑은 고딕" panose="020B0503020000020004" pitchFamily="50" charset="-127"/>
              <a:ea typeface="맑은 고딕" panose="020B0503020000020004" pitchFamily="50" charset="-127"/>
            </a:endParaRPr>
          </a:p>
          <a:p>
            <a:pPr algn="just">
              <a:lnSpc>
                <a:spcPct val="150000"/>
              </a:lnSpc>
            </a:pPr>
            <a:r>
              <a:rPr lang="en-US" altLang="ko-KR" sz="1000" dirty="0">
                <a:latin typeface="맑은 고딕" panose="020B0503020000020004" pitchFamily="50" charset="-127"/>
              </a:rPr>
              <a:t>② Reversion in 1~5kHz, 500~1,000kHz are frequent in patients with ascites and pleural effusion. Generally, the impedance is low when the water is high, and the impedance of the body is measured very low for the ascites and pleural effusion because the water is accumulated in trunk area. It happens because the characteristics of 1~5kHz, 500~1,000kHz is very similar and therefore, the data in this </a:t>
            </a:r>
            <a:r>
              <a:rPr lang="en-US" altLang="ko-KR" sz="1000" dirty="0" err="1">
                <a:latin typeface="맑은 고딕" panose="020B0503020000020004" pitchFamily="50" charset="-127"/>
              </a:rPr>
              <a:t>cas</a:t>
            </a:r>
            <a:r>
              <a:rPr lang="en-US" altLang="ko-KR" sz="1000" dirty="0">
                <a:latin typeface="맑은 고딕" panose="020B0503020000020004" pitchFamily="50" charset="-127"/>
              </a:rPr>
              <a:t> is normally used. </a:t>
            </a:r>
            <a:endParaRPr lang="en-US" altLang="ko-KR" sz="1000" dirty="0">
              <a:latin typeface="맑은 고딕" panose="020B0503020000020004" pitchFamily="50" charset="-127"/>
              <a:ea typeface="맑은 고딕" panose="020B0503020000020004" pitchFamily="50" charset="-127"/>
            </a:endParaRPr>
          </a:p>
        </p:txBody>
      </p:sp>
      <p:graphicFrame>
        <p:nvGraphicFramePr>
          <p:cNvPr id="4" name="표 3"/>
          <p:cNvGraphicFramePr>
            <a:graphicFrameLocks noGrp="1" noChangeAspect="1"/>
          </p:cNvGraphicFramePr>
          <p:nvPr>
            <p:extLst>
              <p:ext uri="{D42A27DB-BD31-4B8C-83A1-F6EECF244321}">
                <p14:modId xmlns:p14="http://schemas.microsoft.com/office/powerpoint/2010/main" val="3763701914"/>
              </p:ext>
            </p:extLst>
          </p:nvPr>
        </p:nvGraphicFramePr>
        <p:xfrm>
          <a:off x="559311" y="2679932"/>
          <a:ext cx="5750010" cy="2263632"/>
        </p:xfrm>
        <a:graphic>
          <a:graphicData uri="http://schemas.openxmlformats.org/drawingml/2006/table">
            <a:tbl>
              <a:tblPr firstRow="1" firstCol="1" bandRow="1">
                <a:tableStyleId>{073A0DAA-6AF3-43AB-8588-CEC1D06C72B9}</a:tableStyleId>
              </a:tblPr>
              <a:tblGrid>
                <a:gridCol w="958335">
                  <a:extLst>
                    <a:ext uri="{9D8B030D-6E8A-4147-A177-3AD203B41FA5}">
                      <a16:colId xmlns:a16="http://schemas.microsoft.com/office/drawing/2014/main" val="20000"/>
                    </a:ext>
                  </a:extLst>
                </a:gridCol>
                <a:gridCol w="958335">
                  <a:extLst>
                    <a:ext uri="{9D8B030D-6E8A-4147-A177-3AD203B41FA5}">
                      <a16:colId xmlns:a16="http://schemas.microsoft.com/office/drawing/2014/main" val="20001"/>
                    </a:ext>
                  </a:extLst>
                </a:gridCol>
                <a:gridCol w="958335">
                  <a:extLst>
                    <a:ext uri="{9D8B030D-6E8A-4147-A177-3AD203B41FA5}">
                      <a16:colId xmlns:a16="http://schemas.microsoft.com/office/drawing/2014/main" val="20002"/>
                    </a:ext>
                  </a:extLst>
                </a:gridCol>
                <a:gridCol w="958335">
                  <a:extLst>
                    <a:ext uri="{9D8B030D-6E8A-4147-A177-3AD203B41FA5}">
                      <a16:colId xmlns:a16="http://schemas.microsoft.com/office/drawing/2014/main" val="20003"/>
                    </a:ext>
                  </a:extLst>
                </a:gridCol>
                <a:gridCol w="958335">
                  <a:extLst>
                    <a:ext uri="{9D8B030D-6E8A-4147-A177-3AD203B41FA5}">
                      <a16:colId xmlns:a16="http://schemas.microsoft.com/office/drawing/2014/main" val="20004"/>
                    </a:ext>
                  </a:extLst>
                </a:gridCol>
                <a:gridCol w="958335">
                  <a:extLst>
                    <a:ext uri="{9D8B030D-6E8A-4147-A177-3AD203B41FA5}">
                      <a16:colId xmlns:a16="http://schemas.microsoft.com/office/drawing/2014/main" val="20005"/>
                    </a:ext>
                  </a:extLst>
                </a:gridCol>
              </a:tblGrid>
              <a:tr h="323376">
                <a:tc>
                  <a:txBody>
                    <a:bodyPr/>
                    <a:lstStyle/>
                    <a:p>
                      <a:pPr algn="just"/>
                      <a:endParaRPr lang="ko-KR" sz="1000" kern="100" dirty="0">
                        <a:effectLst/>
                        <a:latin typeface="맑은 고딕" panose="020B0503020000020004" pitchFamily="50" charset="-127"/>
                        <a:ea typeface="맑은 고딕" panose="020B0503020000020004" pitchFamily="50" charset="-127"/>
                      </a:endParaRPr>
                    </a:p>
                  </a:txBody>
                  <a:tcPr marL="68580" marR="68580" marT="0" marB="0" anchor="ctr"/>
                </a:tc>
                <a:tc>
                  <a:txBody>
                    <a:bodyPr/>
                    <a:lstStyle/>
                    <a:p>
                      <a:pPr algn="ctr" latinLnBrk="0">
                        <a:lnSpc>
                          <a:spcPct val="107000"/>
                        </a:lnSpc>
                        <a:spcAft>
                          <a:spcPts val="0"/>
                        </a:spcAft>
                      </a:pPr>
                      <a:r>
                        <a:rPr lang="en-US" sz="1000" kern="0">
                          <a:effectLst/>
                        </a:rPr>
                        <a:t>RA</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dirty="0">
                          <a:effectLst/>
                        </a:rPr>
                        <a:t>LA</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dirty="0">
                          <a:effectLst/>
                        </a:rPr>
                        <a:t>TR</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effectLst/>
                        </a:rPr>
                        <a:t>RL</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dirty="0">
                          <a:effectLst/>
                        </a:rPr>
                        <a:t>LL</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323376">
                <a:tc>
                  <a:txBody>
                    <a:bodyPr/>
                    <a:lstStyle/>
                    <a:p>
                      <a:pPr algn="r" latinLnBrk="0">
                        <a:lnSpc>
                          <a:spcPct val="107000"/>
                        </a:lnSpc>
                        <a:spcAft>
                          <a:spcPts val="0"/>
                        </a:spcAft>
                      </a:pPr>
                      <a:r>
                        <a:rPr lang="en-US" sz="1000" kern="0">
                          <a:effectLst/>
                        </a:rPr>
                        <a:t>1kHz</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795.2</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834.2</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21.9</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591.6</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585.2</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323376">
                <a:tc>
                  <a:txBody>
                    <a:bodyPr/>
                    <a:lstStyle/>
                    <a:p>
                      <a:pPr algn="r" latinLnBrk="0">
                        <a:lnSpc>
                          <a:spcPct val="107000"/>
                        </a:lnSpc>
                        <a:spcAft>
                          <a:spcPts val="0"/>
                        </a:spcAft>
                      </a:pPr>
                      <a:r>
                        <a:rPr lang="en-US" sz="1000" kern="0">
                          <a:effectLst/>
                        </a:rPr>
                        <a:t>5kHz</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782.0</a:t>
                      </a:r>
                      <a:endParaRPr 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820.2</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20.6</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579.6</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573.5</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323376">
                <a:tc>
                  <a:txBody>
                    <a:bodyPr/>
                    <a:lstStyle/>
                    <a:p>
                      <a:pPr algn="r" latinLnBrk="0">
                        <a:lnSpc>
                          <a:spcPct val="107000"/>
                        </a:lnSpc>
                        <a:spcAft>
                          <a:spcPts val="0"/>
                        </a:spcAft>
                      </a:pPr>
                      <a:r>
                        <a:rPr lang="en-US" sz="1000" kern="0" dirty="0">
                          <a:effectLst/>
                        </a:rPr>
                        <a:t>50kHz</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763.3</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800.3</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rPr>
                        <a:t>20.5</a:t>
                      </a:r>
                      <a:endParaRPr 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562.5</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556.3</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323376">
                <a:tc>
                  <a:txBody>
                    <a:bodyPr/>
                    <a:lstStyle/>
                    <a:p>
                      <a:pPr algn="r" latinLnBrk="0">
                        <a:lnSpc>
                          <a:spcPct val="107000"/>
                        </a:lnSpc>
                        <a:spcAft>
                          <a:spcPts val="0"/>
                        </a:spcAft>
                      </a:pPr>
                      <a:r>
                        <a:rPr lang="en-US" sz="1000" kern="0">
                          <a:effectLst/>
                        </a:rPr>
                        <a:t>250kHz</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741.5</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775.7</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rPr>
                        <a:t>22.7</a:t>
                      </a:r>
                      <a:endParaRPr 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544.7</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539.7</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323376">
                <a:tc>
                  <a:txBody>
                    <a:bodyPr/>
                    <a:lstStyle/>
                    <a:p>
                      <a:pPr algn="r" latinLnBrk="0">
                        <a:lnSpc>
                          <a:spcPct val="107000"/>
                        </a:lnSpc>
                        <a:spcAft>
                          <a:spcPts val="0"/>
                        </a:spcAft>
                      </a:pPr>
                      <a:r>
                        <a:rPr lang="en-US" sz="1000" kern="0">
                          <a:effectLst/>
                        </a:rPr>
                        <a:t>500kHz</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715.6</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749.0</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rPr>
                        <a:t>27.1</a:t>
                      </a:r>
                      <a:endParaRPr 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530.0</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525.1</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r h="323376">
                <a:tc>
                  <a:txBody>
                    <a:bodyPr/>
                    <a:lstStyle/>
                    <a:p>
                      <a:pPr algn="r" latinLnBrk="0">
                        <a:lnSpc>
                          <a:spcPct val="107000"/>
                        </a:lnSpc>
                        <a:spcAft>
                          <a:spcPts val="0"/>
                        </a:spcAft>
                      </a:pPr>
                      <a:r>
                        <a:rPr lang="en-US" sz="1000" kern="0" dirty="0">
                          <a:effectLst/>
                        </a:rPr>
                        <a:t>1MHz</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656.6</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691.1</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27.1</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500.2</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494.3</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6"/>
                  </a:ext>
                </a:extLst>
              </a:tr>
            </a:tbl>
          </a:graphicData>
        </a:graphic>
      </p:graphicFrame>
      <p:graphicFrame>
        <p:nvGraphicFramePr>
          <p:cNvPr id="6" name="표 5"/>
          <p:cNvGraphicFramePr>
            <a:graphicFrameLocks noGrp="1" noChangeAspect="1"/>
          </p:cNvGraphicFramePr>
          <p:nvPr>
            <p:extLst>
              <p:ext uri="{D42A27DB-BD31-4B8C-83A1-F6EECF244321}">
                <p14:modId xmlns:p14="http://schemas.microsoft.com/office/powerpoint/2010/main" val="2625746536"/>
              </p:ext>
            </p:extLst>
          </p:nvPr>
        </p:nvGraphicFramePr>
        <p:xfrm>
          <a:off x="548680" y="6307504"/>
          <a:ext cx="5750010" cy="2263632"/>
        </p:xfrm>
        <a:graphic>
          <a:graphicData uri="http://schemas.openxmlformats.org/drawingml/2006/table">
            <a:tbl>
              <a:tblPr firstRow="1" firstCol="1" bandRow="1">
                <a:tableStyleId>{073A0DAA-6AF3-43AB-8588-CEC1D06C72B9}</a:tableStyleId>
              </a:tblPr>
              <a:tblGrid>
                <a:gridCol w="958335">
                  <a:extLst>
                    <a:ext uri="{9D8B030D-6E8A-4147-A177-3AD203B41FA5}">
                      <a16:colId xmlns:a16="http://schemas.microsoft.com/office/drawing/2014/main" val="20000"/>
                    </a:ext>
                  </a:extLst>
                </a:gridCol>
                <a:gridCol w="958335">
                  <a:extLst>
                    <a:ext uri="{9D8B030D-6E8A-4147-A177-3AD203B41FA5}">
                      <a16:colId xmlns:a16="http://schemas.microsoft.com/office/drawing/2014/main" val="20001"/>
                    </a:ext>
                  </a:extLst>
                </a:gridCol>
                <a:gridCol w="958335">
                  <a:extLst>
                    <a:ext uri="{9D8B030D-6E8A-4147-A177-3AD203B41FA5}">
                      <a16:colId xmlns:a16="http://schemas.microsoft.com/office/drawing/2014/main" val="20002"/>
                    </a:ext>
                  </a:extLst>
                </a:gridCol>
                <a:gridCol w="958335">
                  <a:extLst>
                    <a:ext uri="{9D8B030D-6E8A-4147-A177-3AD203B41FA5}">
                      <a16:colId xmlns:a16="http://schemas.microsoft.com/office/drawing/2014/main" val="20003"/>
                    </a:ext>
                  </a:extLst>
                </a:gridCol>
                <a:gridCol w="958335">
                  <a:extLst>
                    <a:ext uri="{9D8B030D-6E8A-4147-A177-3AD203B41FA5}">
                      <a16:colId xmlns:a16="http://schemas.microsoft.com/office/drawing/2014/main" val="20004"/>
                    </a:ext>
                  </a:extLst>
                </a:gridCol>
                <a:gridCol w="958335">
                  <a:extLst>
                    <a:ext uri="{9D8B030D-6E8A-4147-A177-3AD203B41FA5}">
                      <a16:colId xmlns:a16="http://schemas.microsoft.com/office/drawing/2014/main" val="20005"/>
                    </a:ext>
                  </a:extLst>
                </a:gridCol>
              </a:tblGrid>
              <a:tr h="323376">
                <a:tc>
                  <a:txBody>
                    <a:bodyPr/>
                    <a:lstStyle/>
                    <a:p>
                      <a:pPr algn="just"/>
                      <a:endParaRPr lang="ko-KR" sz="1000" kern="100" dirty="0">
                        <a:effectLst/>
                        <a:latin typeface="맑은 고딕" panose="020B0503020000020004" pitchFamily="50" charset="-127"/>
                        <a:ea typeface="맑은 고딕" panose="020B0503020000020004" pitchFamily="50" charset="-127"/>
                      </a:endParaRPr>
                    </a:p>
                  </a:txBody>
                  <a:tcPr marL="68580" marR="68580" marT="0" marB="0" anchor="ctr"/>
                </a:tc>
                <a:tc>
                  <a:txBody>
                    <a:bodyPr/>
                    <a:lstStyle/>
                    <a:p>
                      <a:pPr algn="ctr" latinLnBrk="0">
                        <a:lnSpc>
                          <a:spcPct val="107000"/>
                        </a:lnSpc>
                        <a:spcAft>
                          <a:spcPts val="0"/>
                        </a:spcAft>
                      </a:pPr>
                      <a:r>
                        <a:rPr lang="en-US" sz="1000" kern="0" dirty="0">
                          <a:effectLst/>
                        </a:rPr>
                        <a:t>RA</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dirty="0">
                          <a:effectLst/>
                        </a:rPr>
                        <a:t>LA</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dirty="0">
                          <a:effectLst/>
                        </a:rPr>
                        <a:t>TR</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dirty="0">
                          <a:effectLst/>
                        </a:rPr>
                        <a:t>RL</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effectLst/>
                        </a:rPr>
                        <a:t>LL</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323376">
                <a:tc>
                  <a:txBody>
                    <a:bodyPr/>
                    <a:lstStyle/>
                    <a:p>
                      <a:pPr algn="r" latinLnBrk="0">
                        <a:lnSpc>
                          <a:spcPct val="107000"/>
                        </a:lnSpc>
                        <a:spcAft>
                          <a:spcPts val="0"/>
                        </a:spcAft>
                      </a:pPr>
                      <a:r>
                        <a:rPr lang="en-US" sz="1000" kern="0">
                          <a:effectLst/>
                        </a:rPr>
                        <a:t>1kHz</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344.9</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359.0</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11.2</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141.1</a:t>
                      </a: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139.8</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323376">
                <a:tc>
                  <a:txBody>
                    <a:bodyPr/>
                    <a:lstStyle/>
                    <a:p>
                      <a:pPr algn="r" latinLnBrk="0">
                        <a:lnSpc>
                          <a:spcPct val="107000"/>
                        </a:lnSpc>
                        <a:spcAft>
                          <a:spcPts val="0"/>
                        </a:spcAft>
                      </a:pPr>
                      <a:r>
                        <a:rPr lang="en-US" sz="1000" kern="0">
                          <a:effectLst/>
                        </a:rPr>
                        <a:t>5kHz</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338.0</a:t>
                      </a:r>
                      <a:endParaRPr 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352.0</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11.1</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138.4</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138.0</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323376">
                <a:tc>
                  <a:txBody>
                    <a:bodyPr/>
                    <a:lstStyle/>
                    <a:p>
                      <a:pPr algn="r" latinLnBrk="0">
                        <a:lnSpc>
                          <a:spcPct val="107000"/>
                        </a:lnSpc>
                        <a:spcAft>
                          <a:spcPts val="0"/>
                        </a:spcAft>
                      </a:pPr>
                      <a:r>
                        <a:rPr lang="en-US" sz="1000" kern="0" dirty="0">
                          <a:effectLst/>
                        </a:rPr>
                        <a:t>50kHz</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307.8</a:t>
                      </a: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324.3</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11.0</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127.4</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128.0</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323376">
                <a:tc>
                  <a:txBody>
                    <a:bodyPr/>
                    <a:lstStyle/>
                    <a:p>
                      <a:pPr algn="r" latinLnBrk="0">
                        <a:lnSpc>
                          <a:spcPct val="107000"/>
                        </a:lnSpc>
                        <a:spcAft>
                          <a:spcPts val="0"/>
                        </a:spcAft>
                      </a:pPr>
                      <a:r>
                        <a:rPr lang="en-US" sz="1000" kern="0" dirty="0">
                          <a:effectLst/>
                        </a:rPr>
                        <a:t>50kHz</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280.2</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297.4</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rPr>
                        <a:t>10.4</a:t>
                      </a:r>
                      <a:endParaRPr 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117.6</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118.5</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323376">
                <a:tc>
                  <a:txBody>
                    <a:bodyPr/>
                    <a:lstStyle/>
                    <a:p>
                      <a:pPr algn="r" latinLnBrk="0">
                        <a:lnSpc>
                          <a:spcPct val="107000"/>
                        </a:lnSpc>
                        <a:spcAft>
                          <a:spcPts val="0"/>
                        </a:spcAft>
                      </a:pPr>
                      <a:r>
                        <a:rPr lang="en-US" sz="1000" kern="0">
                          <a:effectLst/>
                        </a:rPr>
                        <a:t>500kHz</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268.5</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286.3</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rPr>
                        <a:t>10.6</a:t>
                      </a:r>
                      <a:endParaRPr 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114.6</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115.7</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r h="323376">
                <a:tc>
                  <a:txBody>
                    <a:bodyPr/>
                    <a:lstStyle/>
                    <a:p>
                      <a:pPr algn="r" latinLnBrk="0">
                        <a:lnSpc>
                          <a:spcPct val="107000"/>
                        </a:lnSpc>
                        <a:spcAft>
                          <a:spcPts val="0"/>
                        </a:spcAft>
                      </a:pPr>
                      <a:r>
                        <a:rPr lang="en-US" sz="1000" kern="0" dirty="0">
                          <a:effectLst/>
                        </a:rPr>
                        <a:t>1MHz</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253.6</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268.6</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rPr>
                        <a:t>10.6</a:t>
                      </a:r>
                      <a:endParaRPr 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111.7</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113.4</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6"/>
                  </a:ext>
                </a:extLst>
              </a:tr>
            </a:tbl>
          </a:graphicData>
        </a:graphic>
      </p:graphicFrame>
      <p:sp>
        <p:nvSpPr>
          <p:cNvPr id="7" name="TextBox 6"/>
          <p:cNvSpPr txBox="1"/>
          <p:nvPr/>
        </p:nvSpPr>
        <p:spPr>
          <a:xfrm>
            <a:off x="390782" y="745472"/>
            <a:ext cx="5819222" cy="584775"/>
          </a:xfrm>
          <a:prstGeom prst="rect">
            <a:avLst/>
          </a:prstGeom>
          <a:noFill/>
        </p:spPr>
        <p:txBody>
          <a:bodyPr wrap="none" rtlCol="0">
            <a:spAutoFit/>
          </a:bodyPr>
          <a:lstStyle/>
          <a:p>
            <a:pPr>
              <a:lnSpc>
                <a:spcPct val="150000"/>
              </a:lnSpc>
            </a:pPr>
            <a:r>
              <a:rPr lang="en-US" altLang="ko-KR" sz="1400" b="1">
                <a:latin typeface="Arial" pitchFamily="34" charset="0"/>
                <a:cs typeface="Arial" pitchFamily="34" charset="0"/>
              </a:rPr>
              <a:t>Cautions when measuring intensive care patients with InBodyS10 </a:t>
            </a:r>
          </a:p>
          <a:p>
            <a:pPr>
              <a:buFont typeface="Wingdings"/>
              <a:buChar char="à"/>
            </a:pPr>
            <a:r>
              <a:rPr lang="en-US" altLang="ko-KR" sz="1100" b="1">
                <a:latin typeface="Arial" pitchFamily="34" charset="0"/>
                <a:cs typeface="Arial" pitchFamily="34" charset="0"/>
                <a:sym typeface="Wingdings" pitchFamily="2" charset="2"/>
              </a:rPr>
              <a:t> How to check Junk data</a:t>
            </a:r>
            <a:endParaRPr lang="en-US" altLang="ko-KR" sz="1100" b="1" dirty="0">
              <a:latin typeface="Arial" pitchFamily="34" charset="0"/>
              <a:cs typeface="Arial" pitchFamily="34" charset="0"/>
              <a:sym typeface="Wingdings" pitchFamily="2" charset="2"/>
            </a:endParaRPr>
          </a:p>
        </p:txBody>
      </p:sp>
      <p:sp>
        <p:nvSpPr>
          <p:cNvPr id="8" name="모서리가 둥근 직사각형 7"/>
          <p:cNvSpPr/>
          <p:nvPr/>
        </p:nvSpPr>
        <p:spPr>
          <a:xfrm>
            <a:off x="3450981" y="3648984"/>
            <a:ext cx="914675" cy="922508"/>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ko-KR" altLang="en-US"/>
          </a:p>
        </p:txBody>
      </p:sp>
      <p:sp>
        <p:nvSpPr>
          <p:cNvPr id="9" name="모서리가 둥근 직사각형 8"/>
          <p:cNvSpPr/>
          <p:nvPr/>
        </p:nvSpPr>
        <p:spPr>
          <a:xfrm>
            <a:off x="3423685" y="7586232"/>
            <a:ext cx="914675" cy="922508"/>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ko-KR" altLang="en-US"/>
          </a:p>
        </p:txBody>
      </p:sp>
      <p:sp>
        <p:nvSpPr>
          <p:cNvPr id="10" name="바닥글 개체 틀 9"/>
          <p:cNvSpPr>
            <a:spLocks noGrp="1"/>
          </p:cNvSpPr>
          <p:nvPr>
            <p:ph type="ftr" sz="quarter" idx="11"/>
          </p:nvPr>
        </p:nvSpPr>
        <p:spPr/>
        <p:txBody>
          <a:bodyPr/>
          <a:lstStyle/>
          <a:p>
            <a:r>
              <a:rPr lang="en-US" altLang="ko-KR" sz="800" dirty="0" err="1"/>
              <a:t>InBody</a:t>
            </a:r>
            <a:r>
              <a:rPr lang="en-US" altLang="ko-KR" sz="800" dirty="0"/>
              <a:t> Co., Ltd.</a:t>
            </a:r>
            <a:endParaRPr lang="ko-KR" altLang="en-US" sz="800" dirty="0"/>
          </a:p>
        </p:txBody>
      </p:sp>
      <p:sp>
        <p:nvSpPr>
          <p:cNvPr id="11" name="날짜 개체 틀 10"/>
          <p:cNvSpPr>
            <a:spLocks noGrp="1"/>
          </p:cNvSpPr>
          <p:nvPr>
            <p:ph type="dt" sz="half" idx="10"/>
          </p:nvPr>
        </p:nvSpPr>
        <p:spPr/>
        <p:txBody>
          <a:bodyPr/>
          <a:lstStyle/>
          <a:p>
            <a:r>
              <a:rPr lang="en-US" altLang="ko-KR" sz="800" dirty="0"/>
              <a:t>IB-202-001  </a:t>
            </a:r>
            <a:endParaRPr lang="ko-KR" altLang="en-US" sz="800" dirty="0"/>
          </a:p>
        </p:txBody>
      </p:sp>
      <p:sp>
        <p:nvSpPr>
          <p:cNvPr id="12" name="슬라이드 번호 개체 틀 11"/>
          <p:cNvSpPr>
            <a:spLocks noGrp="1"/>
          </p:cNvSpPr>
          <p:nvPr>
            <p:ph type="sldNum" sz="quarter" idx="12"/>
          </p:nvPr>
        </p:nvSpPr>
        <p:spPr/>
        <p:txBody>
          <a:bodyPr/>
          <a:lstStyle/>
          <a:p>
            <a:r>
              <a:rPr lang="en-US" altLang="ko-KR" sz="800" dirty="0"/>
              <a:t>Rev:0</a:t>
            </a:r>
            <a:endParaRPr lang="ko-KR" altLang="en-US" sz="800" dirty="0"/>
          </a:p>
        </p:txBody>
      </p:sp>
      <p:sp>
        <p:nvSpPr>
          <p:cNvPr id="5" name="직사각형 4"/>
          <p:cNvSpPr/>
          <p:nvPr/>
        </p:nvSpPr>
        <p:spPr>
          <a:xfrm>
            <a:off x="548680" y="8687851"/>
            <a:ext cx="2278188" cy="323165"/>
          </a:xfrm>
          <a:prstGeom prst="rect">
            <a:avLst/>
          </a:prstGeom>
        </p:spPr>
        <p:txBody>
          <a:bodyPr wrap="none">
            <a:spAutoFit/>
          </a:bodyPr>
          <a:lstStyle/>
          <a:p>
            <a:pPr algn="just">
              <a:lnSpc>
                <a:spcPct val="150000"/>
              </a:lnSpc>
            </a:pPr>
            <a:r>
              <a:rPr lang="en-US" altLang="ko-KR" sz="1000">
                <a:solidFill>
                  <a:srgbClr val="FF0000"/>
                </a:solidFill>
                <a:latin typeface="맑은 고딕" panose="020B0503020000020004" pitchFamily="50" charset="-127"/>
                <a:ea typeface="맑은 고딕" panose="020B0503020000020004" pitchFamily="50" charset="-127"/>
              </a:rPr>
              <a:t>※ Ascites patient, data can be used</a:t>
            </a:r>
            <a:endParaRPr lang="en-US" altLang="ko-KR" sz="1000" dirty="0">
              <a:solidFill>
                <a:srgbClr val="FF0000"/>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1144395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1328" y="1712640"/>
            <a:ext cx="6084016" cy="4478149"/>
          </a:xfrm>
          <a:prstGeom prst="rect">
            <a:avLst/>
          </a:prstGeom>
          <a:noFill/>
        </p:spPr>
        <p:txBody>
          <a:bodyPr wrap="square" rtlCol="0">
            <a:spAutoFit/>
          </a:bodyPr>
          <a:lstStyle/>
          <a:p>
            <a:pPr algn="just">
              <a:lnSpc>
                <a:spcPct val="150000"/>
              </a:lnSpc>
            </a:pPr>
            <a:r>
              <a:rPr lang="en-US" altLang="ko-KR" sz="1000" b="1" dirty="0">
                <a:latin typeface="맑은 고딕"/>
                <a:ea typeface="맑은 고딕"/>
              </a:rPr>
              <a:t>4</a:t>
            </a:r>
            <a:r>
              <a:rPr lang="en-US" altLang="ko-KR" sz="1000" b="1">
                <a:latin typeface="맑은 고딕"/>
                <a:ea typeface="맑은 고딕"/>
              </a:rPr>
              <a:t>. Impedance in ICU patient </a:t>
            </a:r>
          </a:p>
          <a:p>
            <a:pPr marL="228600" indent="-228600" algn="just">
              <a:lnSpc>
                <a:spcPct val="150000"/>
              </a:lnSpc>
              <a:buAutoNum type="arabicParenR"/>
            </a:pPr>
            <a:r>
              <a:rPr lang="en-US" altLang="ko-KR" sz="1000" b="1">
                <a:latin typeface="맑은 고딕"/>
                <a:ea typeface="맑은 고딕"/>
              </a:rPr>
              <a:t>Big impedance reverse </a:t>
            </a:r>
          </a:p>
          <a:p>
            <a:pPr algn="just">
              <a:lnSpc>
                <a:spcPct val="150000"/>
              </a:lnSpc>
            </a:pPr>
            <a:r>
              <a:rPr lang="en-US" altLang="ko-KR" sz="1000">
                <a:latin typeface="맑은 고딕"/>
                <a:ea typeface="맑은 고딕"/>
              </a:rPr>
              <a:t>Impedance reverse over 2</a:t>
            </a:r>
            <a:r>
              <a:rPr lang="ko-KR" altLang="ko-KR" sz="1000"/>
              <a:t>Ω </a:t>
            </a:r>
            <a:r>
              <a:rPr lang="en-US" altLang="ko-KR" sz="1000"/>
              <a:t>in the trunk, and over 20</a:t>
            </a:r>
            <a:r>
              <a:rPr lang="ko-KR" altLang="ko-KR" sz="1000"/>
              <a:t>Ω</a:t>
            </a:r>
            <a:r>
              <a:rPr lang="en-US" altLang="ko-KR" sz="1000"/>
              <a:t> in the arms and legs should be re-measured</a:t>
            </a:r>
            <a:r>
              <a:rPr lang="en-US" altLang="ko-KR" sz="1000">
                <a:latin typeface="맑은 고딕" panose="020B0503020000020004" pitchFamily="50" charset="-127"/>
                <a:ea typeface="맑은 고딕" panose="020B0503020000020004" pitchFamily="50" charset="-127"/>
              </a:rPr>
              <a:t>.</a:t>
            </a:r>
            <a:endParaRPr lang="en-US" altLang="ko-KR" sz="1000" dirty="0">
              <a:latin typeface="맑은 고딕" panose="020B0503020000020004" pitchFamily="50" charset="-127"/>
              <a:ea typeface="맑은 고딕" panose="020B0503020000020004" pitchFamily="50" charset="-127"/>
            </a:endParaRPr>
          </a:p>
          <a:p>
            <a:pPr algn="just">
              <a:lnSpc>
                <a:spcPct val="150000"/>
              </a:lnSpc>
            </a:pPr>
            <a:endParaRPr lang="en-US" altLang="ko-KR" sz="1000" dirty="0">
              <a:latin typeface="맑은 고딕" panose="020B0503020000020004" pitchFamily="50" charset="-127"/>
              <a:ea typeface="맑은 고딕" panose="020B0503020000020004" pitchFamily="50" charset="-127"/>
            </a:endParaRPr>
          </a:p>
          <a:p>
            <a:pPr algn="just">
              <a:lnSpc>
                <a:spcPct val="150000"/>
              </a:lnSpc>
            </a:pPr>
            <a:endParaRPr lang="en-US" altLang="ko-KR" sz="1000" dirty="0">
              <a:latin typeface="맑은 고딕" panose="020B0503020000020004" pitchFamily="50" charset="-127"/>
              <a:ea typeface="맑은 고딕" panose="020B0503020000020004" pitchFamily="50" charset="-127"/>
            </a:endParaRPr>
          </a:p>
          <a:p>
            <a:pPr algn="just">
              <a:lnSpc>
                <a:spcPct val="150000"/>
              </a:lnSpc>
            </a:pPr>
            <a:endParaRPr lang="en-US" altLang="ko-KR" sz="1000" dirty="0">
              <a:latin typeface="맑은 고딕" panose="020B0503020000020004" pitchFamily="50" charset="-127"/>
              <a:ea typeface="맑은 고딕" panose="020B0503020000020004" pitchFamily="50" charset="-127"/>
            </a:endParaRPr>
          </a:p>
          <a:p>
            <a:pPr algn="just">
              <a:lnSpc>
                <a:spcPct val="150000"/>
              </a:lnSpc>
            </a:pPr>
            <a:endParaRPr lang="en-US" altLang="ko-KR" sz="1000" dirty="0">
              <a:latin typeface="맑은 고딕" panose="020B0503020000020004" pitchFamily="50" charset="-127"/>
              <a:ea typeface="맑은 고딕" panose="020B0503020000020004" pitchFamily="50" charset="-127"/>
            </a:endParaRPr>
          </a:p>
          <a:p>
            <a:pPr algn="just">
              <a:lnSpc>
                <a:spcPct val="150000"/>
              </a:lnSpc>
            </a:pPr>
            <a:endParaRPr lang="en-US" altLang="ko-KR" sz="1000" dirty="0">
              <a:latin typeface="맑은 고딕" panose="020B0503020000020004" pitchFamily="50" charset="-127"/>
              <a:ea typeface="맑은 고딕" panose="020B0503020000020004" pitchFamily="50" charset="-127"/>
            </a:endParaRPr>
          </a:p>
          <a:p>
            <a:pPr algn="just">
              <a:lnSpc>
                <a:spcPct val="150000"/>
              </a:lnSpc>
            </a:pPr>
            <a:endParaRPr lang="en-US" altLang="ko-KR" sz="1000" dirty="0">
              <a:latin typeface="맑은 고딕" panose="020B0503020000020004" pitchFamily="50" charset="-127"/>
              <a:ea typeface="맑은 고딕" panose="020B0503020000020004" pitchFamily="50" charset="-127"/>
            </a:endParaRPr>
          </a:p>
          <a:p>
            <a:pPr algn="just">
              <a:lnSpc>
                <a:spcPct val="150000"/>
              </a:lnSpc>
            </a:pPr>
            <a:endParaRPr lang="en-US" altLang="ko-KR" sz="1000" dirty="0">
              <a:latin typeface="맑은 고딕" panose="020B0503020000020004" pitchFamily="50" charset="-127"/>
              <a:ea typeface="맑은 고딕" panose="020B0503020000020004" pitchFamily="50" charset="-127"/>
            </a:endParaRPr>
          </a:p>
          <a:p>
            <a:pPr algn="just">
              <a:lnSpc>
                <a:spcPct val="150000"/>
              </a:lnSpc>
            </a:pPr>
            <a:endParaRPr lang="en-US" altLang="ko-KR" sz="1000" dirty="0">
              <a:latin typeface="맑은 고딕" panose="020B0503020000020004" pitchFamily="50" charset="-127"/>
              <a:ea typeface="맑은 고딕" panose="020B0503020000020004" pitchFamily="50" charset="-127"/>
            </a:endParaRPr>
          </a:p>
          <a:p>
            <a:pPr algn="just">
              <a:lnSpc>
                <a:spcPct val="150000"/>
              </a:lnSpc>
            </a:pPr>
            <a:endParaRPr lang="en-US" altLang="ko-KR" sz="1000" dirty="0">
              <a:latin typeface="맑은 고딕" panose="020B0503020000020004" pitchFamily="50" charset="-127"/>
              <a:ea typeface="맑은 고딕" panose="020B0503020000020004" pitchFamily="50" charset="-127"/>
            </a:endParaRPr>
          </a:p>
          <a:p>
            <a:pPr algn="just">
              <a:lnSpc>
                <a:spcPct val="150000"/>
              </a:lnSpc>
            </a:pPr>
            <a:endParaRPr lang="en-US" altLang="ko-KR" sz="1000" dirty="0">
              <a:latin typeface="맑은 고딕" panose="020B0503020000020004" pitchFamily="50" charset="-127"/>
              <a:ea typeface="맑은 고딕" panose="020B0503020000020004" pitchFamily="50" charset="-127"/>
            </a:endParaRPr>
          </a:p>
          <a:p>
            <a:pPr algn="just">
              <a:lnSpc>
                <a:spcPct val="150000"/>
              </a:lnSpc>
            </a:pPr>
            <a:endParaRPr lang="en-US" altLang="ko-KR" sz="1000" b="1">
              <a:latin typeface="맑은 고딕" panose="020B0503020000020004" pitchFamily="50" charset="-127"/>
              <a:ea typeface="맑은 고딕" panose="020B0503020000020004" pitchFamily="50" charset="-127"/>
            </a:endParaRPr>
          </a:p>
          <a:p>
            <a:pPr algn="just">
              <a:lnSpc>
                <a:spcPct val="150000"/>
              </a:lnSpc>
            </a:pPr>
            <a:r>
              <a:rPr lang="en-US" altLang="ko-KR" sz="1000" b="1">
                <a:latin typeface="맑은 고딕" panose="020B0503020000020004" pitchFamily="50" charset="-127"/>
                <a:ea typeface="맑은 고딕" panose="020B0503020000020004" pitchFamily="50" charset="-127"/>
              </a:rPr>
              <a:t>2) Impedance difference over </a:t>
            </a:r>
            <a:r>
              <a:rPr lang="en-US" altLang="ko-KR" sz="1000" b="1"/>
              <a:t>100</a:t>
            </a:r>
            <a:r>
              <a:rPr lang="ko-KR" altLang="ko-KR" sz="1000" b="1"/>
              <a:t>Ω</a:t>
            </a:r>
            <a:r>
              <a:rPr lang="en-US" altLang="ko-KR" sz="1000" b="1"/>
              <a:t> between right/left</a:t>
            </a:r>
          </a:p>
          <a:p>
            <a:pPr algn="just">
              <a:lnSpc>
                <a:spcPct val="150000"/>
              </a:lnSpc>
            </a:pPr>
            <a:r>
              <a:rPr lang="en-US" altLang="ko-KR" sz="1000"/>
              <a:t>These are frequently seen in amputee patients. It tends to be low because of the physical characteristics of impededance that shorter the length, lower the impedance value. It can also be seen such as lymphedema or ICU patients whose specific body part is severely overhydrated or the circulation is very bad. All three cases can be used if there is no reverse in impedance. </a:t>
            </a:r>
            <a:endParaRPr lang="en-US" altLang="ko-KR" sz="1000" dirty="0"/>
          </a:p>
        </p:txBody>
      </p:sp>
      <p:graphicFrame>
        <p:nvGraphicFramePr>
          <p:cNvPr id="3" name="표 2"/>
          <p:cNvGraphicFramePr>
            <a:graphicFrameLocks noGrp="1" noChangeAspect="1"/>
          </p:cNvGraphicFramePr>
          <p:nvPr>
            <p:extLst>
              <p:ext uri="{D42A27DB-BD31-4B8C-83A1-F6EECF244321}">
                <p14:modId xmlns:p14="http://schemas.microsoft.com/office/powerpoint/2010/main" val="1669279218"/>
              </p:ext>
            </p:extLst>
          </p:nvPr>
        </p:nvGraphicFramePr>
        <p:xfrm>
          <a:off x="559311" y="2504728"/>
          <a:ext cx="5750010" cy="2263632"/>
        </p:xfrm>
        <a:graphic>
          <a:graphicData uri="http://schemas.openxmlformats.org/drawingml/2006/table">
            <a:tbl>
              <a:tblPr firstRow="1" firstCol="1" bandRow="1">
                <a:tableStyleId>{073A0DAA-6AF3-43AB-8588-CEC1D06C72B9}</a:tableStyleId>
              </a:tblPr>
              <a:tblGrid>
                <a:gridCol w="958335">
                  <a:extLst>
                    <a:ext uri="{9D8B030D-6E8A-4147-A177-3AD203B41FA5}">
                      <a16:colId xmlns:a16="http://schemas.microsoft.com/office/drawing/2014/main" val="20000"/>
                    </a:ext>
                  </a:extLst>
                </a:gridCol>
                <a:gridCol w="958335">
                  <a:extLst>
                    <a:ext uri="{9D8B030D-6E8A-4147-A177-3AD203B41FA5}">
                      <a16:colId xmlns:a16="http://schemas.microsoft.com/office/drawing/2014/main" val="20001"/>
                    </a:ext>
                  </a:extLst>
                </a:gridCol>
                <a:gridCol w="958335">
                  <a:extLst>
                    <a:ext uri="{9D8B030D-6E8A-4147-A177-3AD203B41FA5}">
                      <a16:colId xmlns:a16="http://schemas.microsoft.com/office/drawing/2014/main" val="20002"/>
                    </a:ext>
                  </a:extLst>
                </a:gridCol>
                <a:gridCol w="958335">
                  <a:extLst>
                    <a:ext uri="{9D8B030D-6E8A-4147-A177-3AD203B41FA5}">
                      <a16:colId xmlns:a16="http://schemas.microsoft.com/office/drawing/2014/main" val="20003"/>
                    </a:ext>
                  </a:extLst>
                </a:gridCol>
                <a:gridCol w="958335">
                  <a:extLst>
                    <a:ext uri="{9D8B030D-6E8A-4147-A177-3AD203B41FA5}">
                      <a16:colId xmlns:a16="http://schemas.microsoft.com/office/drawing/2014/main" val="20004"/>
                    </a:ext>
                  </a:extLst>
                </a:gridCol>
                <a:gridCol w="958335">
                  <a:extLst>
                    <a:ext uri="{9D8B030D-6E8A-4147-A177-3AD203B41FA5}">
                      <a16:colId xmlns:a16="http://schemas.microsoft.com/office/drawing/2014/main" val="20005"/>
                    </a:ext>
                  </a:extLst>
                </a:gridCol>
              </a:tblGrid>
              <a:tr h="323376">
                <a:tc>
                  <a:txBody>
                    <a:bodyPr/>
                    <a:lstStyle/>
                    <a:p>
                      <a:pPr algn="just"/>
                      <a:endParaRPr lang="ko-KR" sz="1000" kern="100" dirty="0">
                        <a:effectLst/>
                        <a:latin typeface="맑은 고딕" panose="020B0503020000020004" pitchFamily="50" charset="-127"/>
                        <a:ea typeface="맑은 고딕" panose="020B0503020000020004" pitchFamily="50" charset="-127"/>
                      </a:endParaRPr>
                    </a:p>
                  </a:txBody>
                  <a:tcPr marL="68580" marR="68580" marT="0" marB="0" anchor="ctr"/>
                </a:tc>
                <a:tc>
                  <a:txBody>
                    <a:bodyPr/>
                    <a:lstStyle/>
                    <a:p>
                      <a:pPr algn="ctr" latinLnBrk="0">
                        <a:lnSpc>
                          <a:spcPct val="107000"/>
                        </a:lnSpc>
                        <a:spcAft>
                          <a:spcPts val="0"/>
                        </a:spcAft>
                      </a:pPr>
                      <a:r>
                        <a:rPr lang="en-US" sz="1000" kern="0" dirty="0">
                          <a:effectLst/>
                        </a:rPr>
                        <a:t>RA</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dirty="0">
                          <a:effectLst/>
                        </a:rPr>
                        <a:t>LA</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dirty="0">
                          <a:effectLst/>
                        </a:rPr>
                        <a:t>TR</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effectLst/>
                        </a:rPr>
                        <a:t>RL</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effectLst/>
                        </a:rPr>
                        <a:t>LL</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323376">
                <a:tc>
                  <a:txBody>
                    <a:bodyPr/>
                    <a:lstStyle/>
                    <a:p>
                      <a:pPr algn="r" latinLnBrk="0">
                        <a:lnSpc>
                          <a:spcPct val="107000"/>
                        </a:lnSpc>
                        <a:spcAft>
                          <a:spcPts val="0"/>
                        </a:spcAft>
                      </a:pPr>
                      <a:r>
                        <a:rPr lang="en-US" sz="1000" kern="0">
                          <a:effectLst/>
                        </a:rPr>
                        <a:t>1kHz</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245.4</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dirty="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205.3</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b="1" kern="0" dirty="0">
                          <a:solidFill>
                            <a:srgbClr val="FF0000"/>
                          </a:solidFill>
                          <a:effectLst/>
                          <a:latin typeface="맑은 고딕" panose="020B0503020000020004" pitchFamily="50" charset="-127"/>
                          <a:ea typeface="맑은 고딕" panose="020B0503020000020004" pitchFamily="50" charset="-127"/>
                          <a:cs typeface="굴림" panose="020B0600000101010101" pitchFamily="50" charset="-127"/>
                        </a:rPr>
                        <a:t>12.1</a:t>
                      </a:r>
                      <a:endParaRPr 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280.9</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287.4</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323376">
                <a:tc>
                  <a:txBody>
                    <a:bodyPr/>
                    <a:lstStyle/>
                    <a:p>
                      <a:pPr algn="r" latinLnBrk="0">
                        <a:lnSpc>
                          <a:spcPct val="107000"/>
                        </a:lnSpc>
                        <a:spcAft>
                          <a:spcPts val="0"/>
                        </a:spcAft>
                      </a:pPr>
                      <a:r>
                        <a:rPr lang="en-US" sz="1000" kern="0">
                          <a:effectLst/>
                        </a:rPr>
                        <a:t>5kHz</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243.9</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204.2</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b="1" kern="0" dirty="0">
                          <a:solidFill>
                            <a:srgbClr val="FF0000"/>
                          </a:solidFill>
                          <a:effectLst/>
                          <a:latin typeface="맑은 고딕" panose="020B0503020000020004" pitchFamily="50" charset="-127"/>
                          <a:ea typeface="맑은 고딕" panose="020B0503020000020004" pitchFamily="50" charset="-127"/>
                          <a:cs typeface="굴림" panose="020B0600000101010101" pitchFamily="50" charset="-127"/>
                        </a:rPr>
                        <a:t>14.0</a:t>
                      </a:r>
                      <a:endParaRPr 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278.0</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284.2</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323376">
                <a:tc>
                  <a:txBody>
                    <a:bodyPr/>
                    <a:lstStyle/>
                    <a:p>
                      <a:pPr algn="r" latinLnBrk="0">
                        <a:lnSpc>
                          <a:spcPct val="107000"/>
                        </a:lnSpc>
                        <a:spcAft>
                          <a:spcPts val="0"/>
                        </a:spcAft>
                      </a:pPr>
                      <a:r>
                        <a:rPr lang="en-US" sz="1000" kern="0" dirty="0">
                          <a:effectLst/>
                        </a:rPr>
                        <a:t>50kHz</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234.4</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194.4</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b="1" kern="0" dirty="0">
                          <a:solidFill>
                            <a:srgbClr val="FF0000"/>
                          </a:solidFill>
                          <a:effectLst/>
                          <a:latin typeface="맑은 고딕" panose="020B0503020000020004" pitchFamily="50" charset="-127"/>
                          <a:ea typeface="맑은 고딕" panose="020B0503020000020004" pitchFamily="50" charset="-127"/>
                          <a:cs typeface="굴림" panose="020B0600000101010101" pitchFamily="50" charset="-127"/>
                        </a:rPr>
                        <a:t>26.9</a:t>
                      </a:r>
                      <a:endParaRPr 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262.0</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247.2</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323376">
                <a:tc>
                  <a:txBody>
                    <a:bodyPr/>
                    <a:lstStyle/>
                    <a:p>
                      <a:pPr algn="r" latinLnBrk="0">
                        <a:lnSpc>
                          <a:spcPct val="107000"/>
                        </a:lnSpc>
                        <a:spcAft>
                          <a:spcPts val="0"/>
                        </a:spcAft>
                      </a:pPr>
                      <a:r>
                        <a:rPr lang="en-US" sz="1000" kern="0">
                          <a:effectLst/>
                        </a:rPr>
                        <a:t>250kHz</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219.6</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180.9</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b="1" kern="0" dirty="0">
                          <a:solidFill>
                            <a:srgbClr val="FF0000"/>
                          </a:solidFill>
                          <a:effectLst/>
                          <a:latin typeface="맑은 고딕" panose="020B0503020000020004" pitchFamily="50" charset="-127"/>
                          <a:ea typeface="맑은 고딕" panose="020B0503020000020004" pitchFamily="50" charset="-127"/>
                          <a:cs typeface="굴림" panose="020B0600000101010101" pitchFamily="50" charset="-127"/>
                        </a:rPr>
                        <a:t>74.7</a:t>
                      </a:r>
                      <a:endParaRPr 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243.9</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b="0" kern="0" dirty="0">
                          <a:solidFill>
                            <a:schemeClr val="tx1"/>
                          </a:solidFill>
                          <a:effectLst/>
                          <a:latin typeface="맑은 고딕" panose="020B0503020000020004" pitchFamily="50" charset="-127"/>
                          <a:ea typeface="맑은 고딕" panose="020B0503020000020004" pitchFamily="50" charset="-127"/>
                          <a:cs typeface="굴림" panose="020B0600000101010101" pitchFamily="50" charset="-127"/>
                        </a:rPr>
                        <a:t>130.5</a:t>
                      </a:r>
                      <a:endParaRPr 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323376">
                <a:tc>
                  <a:txBody>
                    <a:bodyPr/>
                    <a:lstStyle/>
                    <a:p>
                      <a:pPr algn="r" latinLnBrk="0">
                        <a:lnSpc>
                          <a:spcPct val="107000"/>
                        </a:lnSpc>
                        <a:spcAft>
                          <a:spcPts val="0"/>
                        </a:spcAft>
                      </a:pPr>
                      <a:r>
                        <a:rPr lang="en-US" sz="1000" kern="0">
                          <a:effectLst/>
                        </a:rPr>
                        <a:t>500kHz</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dirty="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212.2</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175.1</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b="1" kern="0" dirty="0">
                          <a:solidFill>
                            <a:srgbClr val="FF0000"/>
                          </a:solidFill>
                          <a:effectLst/>
                          <a:latin typeface="맑은 고딕" panose="020B0503020000020004" pitchFamily="50" charset="-127"/>
                          <a:ea typeface="맑은 고딕" panose="020B0503020000020004" pitchFamily="50" charset="-127"/>
                          <a:cs typeface="굴림" panose="020B0600000101010101" pitchFamily="50" charset="-127"/>
                        </a:rPr>
                        <a:t>90.4</a:t>
                      </a:r>
                      <a:endParaRPr 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237.0</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b="0" kern="0" dirty="0">
                          <a:solidFill>
                            <a:schemeClr val="tx1"/>
                          </a:solidFill>
                          <a:effectLst/>
                          <a:latin typeface="맑은 고딕" panose="020B0503020000020004" pitchFamily="50" charset="-127"/>
                          <a:ea typeface="맑은 고딕" panose="020B0503020000020004" pitchFamily="50" charset="-127"/>
                          <a:cs typeface="굴림" panose="020B0600000101010101" pitchFamily="50" charset="-127"/>
                        </a:rPr>
                        <a:t>83.2</a:t>
                      </a:r>
                      <a:endParaRPr 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r h="323376">
                <a:tc>
                  <a:txBody>
                    <a:bodyPr/>
                    <a:lstStyle/>
                    <a:p>
                      <a:pPr algn="r" latinLnBrk="0">
                        <a:lnSpc>
                          <a:spcPct val="107000"/>
                        </a:lnSpc>
                        <a:spcAft>
                          <a:spcPts val="0"/>
                        </a:spcAft>
                      </a:pPr>
                      <a:r>
                        <a:rPr lang="en-US" sz="1000" kern="0">
                          <a:effectLst/>
                        </a:rPr>
                        <a:t>1MHz</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202.4</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166.7</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b="1" kern="0" dirty="0">
                          <a:solidFill>
                            <a:srgbClr val="FF0000"/>
                          </a:solidFill>
                          <a:effectLst/>
                          <a:latin typeface="맑은 고딕" panose="020B0503020000020004" pitchFamily="50" charset="-127"/>
                          <a:ea typeface="맑은 고딕" panose="020B0503020000020004" pitchFamily="50" charset="-127"/>
                          <a:cs typeface="굴림" panose="020B0600000101010101" pitchFamily="50" charset="-127"/>
                        </a:rPr>
                        <a:t>90.4</a:t>
                      </a:r>
                      <a:endParaRPr 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228.5</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b="0" kern="0" dirty="0">
                          <a:solidFill>
                            <a:schemeClr val="tx1"/>
                          </a:solidFill>
                          <a:effectLst/>
                          <a:latin typeface="맑은 고딕" panose="020B0503020000020004" pitchFamily="50" charset="-127"/>
                          <a:ea typeface="맑은 고딕" panose="020B0503020000020004" pitchFamily="50" charset="-127"/>
                          <a:cs typeface="굴림" panose="020B0600000101010101" pitchFamily="50" charset="-127"/>
                        </a:rPr>
                        <a:t>53.0</a:t>
                      </a:r>
                      <a:endParaRPr 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6"/>
                  </a:ext>
                </a:extLst>
              </a:tr>
            </a:tbl>
          </a:graphicData>
        </a:graphic>
      </p:graphicFrame>
      <p:graphicFrame>
        <p:nvGraphicFramePr>
          <p:cNvPr id="8" name="표 7"/>
          <p:cNvGraphicFramePr>
            <a:graphicFrameLocks noGrp="1" noChangeAspect="1"/>
          </p:cNvGraphicFramePr>
          <p:nvPr>
            <p:extLst>
              <p:ext uri="{D42A27DB-BD31-4B8C-83A1-F6EECF244321}">
                <p14:modId xmlns:p14="http://schemas.microsoft.com/office/powerpoint/2010/main" val="3887779403"/>
              </p:ext>
            </p:extLst>
          </p:nvPr>
        </p:nvGraphicFramePr>
        <p:xfrm>
          <a:off x="548680" y="6249144"/>
          <a:ext cx="5750010" cy="2263632"/>
        </p:xfrm>
        <a:graphic>
          <a:graphicData uri="http://schemas.openxmlformats.org/drawingml/2006/table">
            <a:tbl>
              <a:tblPr firstRow="1" firstCol="1" bandRow="1">
                <a:tableStyleId>{073A0DAA-6AF3-43AB-8588-CEC1D06C72B9}</a:tableStyleId>
              </a:tblPr>
              <a:tblGrid>
                <a:gridCol w="958335">
                  <a:extLst>
                    <a:ext uri="{9D8B030D-6E8A-4147-A177-3AD203B41FA5}">
                      <a16:colId xmlns:a16="http://schemas.microsoft.com/office/drawing/2014/main" val="20000"/>
                    </a:ext>
                  </a:extLst>
                </a:gridCol>
                <a:gridCol w="958335">
                  <a:extLst>
                    <a:ext uri="{9D8B030D-6E8A-4147-A177-3AD203B41FA5}">
                      <a16:colId xmlns:a16="http://schemas.microsoft.com/office/drawing/2014/main" val="20001"/>
                    </a:ext>
                  </a:extLst>
                </a:gridCol>
                <a:gridCol w="958335">
                  <a:extLst>
                    <a:ext uri="{9D8B030D-6E8A-4147-A177-3AD203B41FA5}">
                      <a16:colId xmlns:a16="http://schemas.microsoft.com/office/drawing/2014/main" val="20002"/>
                    </a:ext>
                  </a:extLst>
                </a:gridCol>
                <a:gridCol w="958335">
                  <a:extLst>
                    <a:ext uri="{9D8B030D-6E8A-4147-A177-3AD203B41FA5}">
                      <a16:colId xmlns:a16="http://schemas.microsoft.com/office/drawing/2014/main" val="20003"/>
                    </a:ext>
                  </a:extLst>
                </a:gridCol>
                <a:gridCol w="958335">
                  <a:extLst>
                    <a:ext uri="{9D8B030D-6E8A-4147-A177-3AD203B41FA5}">
                      <a16:colId xmlns:a16="http://schemas.microsoft.com/office/drawing/2014/main" val="20004"/>
                    </a:ext>
                  </a:extLst>
                </a:gridCol>
                <a:gridCol w="958335">
                  <a:extLst>
                    <a:ext uri="{9D8B030D-6E8A-4147-A177-3AD203B41FA5}">
                      <a16:colId xmlns:a16="http://schemas.microsoft.com/office/drawing/2014/main" val="20005"/>
                    </a:ext>
                  </a:extLst>
                </a:gridCol>
              </a:tblGrid>
              <a:tr h="323376">
                <a:tc>
                  <a:txBody>
                    <a:bodyPr/>
                    <a:lstStyle/>
                    <a:p>
                      <a:pPr algn="just"/>
                      <a:endParaRPr lang="ko-KR" sz="1000" kern="100" dirty="0">
                        <a:effectLst/>
                        <a:latin typeface="맑은 고딕" panose="020B0503020000020004" pitchFamily="50" charset="-127"/>
                        <a:ea typeface="맑은 고딕" panose="020B0503020000020004" pitchFamily="50" charset="-127"/>
                      </a:endParaRPr>
                    </a:p>
                  </a:txBody>
                  <a:tcPr marL="68580" marR="68580" marT="0" marB="0" anchor="ctr"/>
                </a:tc>
                <a:tc>
                  <a:txBody>
                    <a:bodyPr/>
                    <a:lstStyle/>
                    <a:p>
                      <a:pPr algn="ctr" latinLnBrk="0">
                        <a:lnSpc>
                          <a:spcPct val="107000"/>
                        </a:lnSpc>
                        <a:spcAft>
                          <a:spcPts val="0"/>
                        </a:spcAft>
                      </a:pPr>
                      <a:r>
                        <a:rPr lang="en-US" sz="1000" kern="0" dirty="0">
                          <a:effectLst/>
                        </a:rPr>
                        <a:t>RA</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dirty="0">
                          <a:effectLst/>
                        </a:rPr>
                        <a:t>LA</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dirty="0">
                          <a:effectLst/>
                        </a:rPr>
                        <a:t>TR</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dirty="0">
                          <a:effectLst/>
                        </a:rPr>
                        <a:t>RL</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effectLst/>
                        </a:rPr>
                        <a:t>LL</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323376">
                <a:tc>
                  <a:txBody>
                    <a:bodyPr/>
                    <a:lstStyle/>
                    <a:p>
                      <a:pPr algn="r" latinLnBrk="0">
                        <a:lnSpc>
                          <a:spcPct val="107000"/>
                        </a:lnSpc>
                        <a:spcAft>
                          <a:spcPts val="0"/>
                        </a:spcAft>
                      </a:pPr>
                      <a:r>
                        <a:rPr lang="en-US" sz="1000" kern="0">
                          <a:effectLst/>
                        </a:rPr>
                        <a:t>1kHz</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201.8</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213.9</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24.2</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b="1" kern="0" dirty="0">
                          <a:solidFill>
                            <a:srgbClr val="FF0000"/>
                          </a:solidFill>
                          <a:effectLst/>
                          <a:latin typeface="맑은 고딕" panose="020B0503020000020004" pitchFamily="50" charset="-127"/>
                          <a:ea typeface="맑은 고딕" panose="020B0503020000020004" pitchFamily="50" charset="-127"/>
                          <a:cs typeface="굴림" panose="020B0600000101010101" pitchFamily="50" charset="-127"/>
                        </a:rPr>
                        <a:t>90.9</a:t>
                      </a:r>
                      <a:endParaRPr 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231.2</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323376">
                <a:tc>
                  <a:txBody>
                    <a:bodyPr/>
                    <a:lstStyle/>
                    <a:p>
                      <a:pPr algn="r" latinLnBrk="0">
                        <a:lnSpc>
                          <a:spcPct val="107000"/>
                        </a:lnSpc>
                        <a:spcAft>
                          <a:spcPts val="0"/>
                        </a:spcAft>
                      </a:pPr>
                      <a:r>
                        <a:rPr lang="en-US" sz="1000" kern="0">
                          <a:effectLst/>
                        </a:rPr>
                        <a:t>5kHz</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198.1</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210.1</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23.4</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b="1" kern="0" dirty="0">
                          <a:solidFill>
                            <a:srgbClr val="FF0000"/>
                          </a:solidFill>
                          <a:effectLst/>
                          <a:latin typeface="맑은 고딕" panose="020B0503020000020004" pitchFamily="50" charset="-127"/>
                          <a:ea typeface="맑은 고딕" panose="020B0503020000020004" pitchFamily="50" charset="-127"/>
                          <a:cs typeface="굴림" panose="020B0600000101010101" pitchFamily="50" charset="-127"/>
                        </a:rPr>
                        <a:t>89.4</a:t>
                      </a:r>
                      <a:endParaRPr 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227.5</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323376">
                <a:tc>
                  <a:txBody>
                    <a:bodyPr/>
                    <a:lstStyle/>
                    <a:p>
                      <a:pPr algn="r" latinLnBrk="0">
                        <a:lnSpc>
                          <a:spcPct val="107000"/>
                        </a:lnSpc>
                        <a:spcAft>
                          <a:spcPts val="0"/>
                        </a:spcAft>
                      </a:pPr>
                      <a:r>
                        <a:rPr lang="en-US" sz="1000" kern="0" dirty="0">
                          <a:effectLst/>
                        </a:rPr>
                        <a:t>50kHz</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176.9</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191.1</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21.1</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b="1" kern="0" dirty="0">
                          <a:solidFill>
                            <a:srgbClr val="FF0000"/>
                          </a:solidFill>
                          <a:effectLst/>
                          <a:latin typeface="맑은 고딕" panose="020B0503020000020004" pitchFamily="50" charset="-127"/>
                          <a:ea typeface="맑은 고딕" panose="020B0503020000020004" pitchFamily="50" charset="-127"/>
                          <a:cs typeface="굴림" panose="020B0600000101010101" pitchFamily="50" charset="-127"/>
                        </a:rPr>
                        <a:t>83.1</a:t>
                      </a:r>
                      <a:endParaRPr 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206.4</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323376">
                <a:tc>
                  <a:txBody>
                    <a:bodyPr/>
                    <a:lstStyle/>
                    <a:p>
                      <a:pPr algn="r" latinLnBrk="0">
                        <a:lnSpc>
                          <a:spcPct val="107000"/>
                        </a:lnSpc>
                        <a:spcAft>
                          <a:spcPts val="0"/>
                        </a:spcAft>
                      </a:pPr>
                      <a:r>
                        <a:rPr lang="en-US" sz="1000" kern="0">
                          <a:effectLst/>
                        </a:rPr>
                        <a:t>250kHz</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159.1</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174.1</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dirty="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18.8</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b="1" kern="0" dirty="0">
                          <a:solidFill>
                            <a:srgbClr val="FF0000"/>
                          </a:solidFill>
                          <a:effectLst/>
                          <a:latin typeface="맑은 고딕" panose="020B0503020000020004" pitchFamily="50" charset="-127"/>
                          <a:ea typeface="맑은 고딕" panose="020B0503020000020004" pitchFamily="50" charset="-127"/>
                          <a:cs typeface="굴림" panose="020B0600000101010101" pitchFamily="50" charset="-127"/>
                        </a:rPr>
                        <a:t>77.5</a:t>
                      </a:r>
                      <a:endParaRPr 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191.7</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323376">
                <a:tc>
                  <a:txBody>
                    <a:bodyPr/>
                    <a:lstStyle/>
                    <a:p>
                      <a:pPr algn="r" latinLnBrk="0">
                        <a:lnSpc>
                          <a:spcPct val="107000"/>
                        </a:lnSpc>
                        <a:spcAft>
                          <a:spcPts val="0"/>
                        </a:spcAft>
                      </a:pPr>
                      <a:r>
                        <a:rPr lang="en-US" sz="1000" kern="0">
                          <a:effectLst/>
                        </a:rPr>
                        <a:t>500kHz</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153.3</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168.3</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18.0</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rPr>
                        <a:t>76.0</a:t>
                      </a:r>
                      <a:endParaRPr 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187.0</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r h="323376">
                <a:tc>
                  <a:txBody>
                    <a:bodyPr/>
                    <a:lstStyle/>
                    <a:p>
                      <a:pPr algn="r" latinLnBrk="0">
                        <a:lnSpc>
                          <a:spcPct val="107000"/>
                        </a:lnSpc>
                        <a:spcAft>
                          <a:spcPts val="0"/>
                        </a:spcAft>
                      </a:pPr>
                      <a:r>
                        <a:rPr lang="en-US" sz="1000" kern="0">
                          <a:effectLst/>
                        </a:rPr>
                        <a:t>1MHz</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147.9</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162.9</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17.6</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b="1" kern="0" dirty="0">
                          <a:solidFill>
                            <a:srgbClr val="FF0000"/>
                          </a:solidFill>
                          <a:effectLst/>
                          <a:latin typeface="맑은 고딕" panose="020B0503020000020004" pitchFamily="50" charset="-127"/>
                          <a:ea typeface="맑은 고딕" panose="020B0503020000020004" pitchFamily="50" charset="-127"/>
                          <a:cs typeface="굴림" panose="020B0600000101010101" pitchFamily="50" charset="-127"/>
                        </a:rPr>
                        <a:t>74.3</a:t>
                      </a:r>
                      <a:endParaRPr 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dirty="0">
                          <a:solidFill>
                            <a:srgbClr val="000000"/>
                          </a:solidFill>
                          <a:effectLst/>
                          <a:latin typeface="맑은 고딕" panose="020B0503020000020004" pitchFamily="50" charset="-127"/>
                          <a:ea typeface="맑은 고딕" panose="020B0503020000020004" pitchFamily="50" charset="-127"/>
                          <a:cs typeface="굴림" panose="020B0600000101010101" pitchFamily="50" charset="-127"/>
                        </a:rPr>
                        <a:t>182.6</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6"/>
                  </a:ext>
                </a:extLst>
              </a:tr>
            </a:tbl>
          </a:graphicData>
        </a:graphic>
      </p:graphicFrame>
      <p:sp>
        <p:nvSpPr>
          <p:cNvPr id="9" name="TextBox 8"/>
          <p:cNvSpPr txBox="1"/>
          <p:nvPr/>
        </p:nvSpPr>
        <p:spPr>
          <a:xfrm>
            <a:off x="390782" y="745472"/>
            <a:ext cx="5819222" cy="584775"/>
          </a:xfrm>
          <a:prstGeom prst="rect">
            <a:avLst/>
          </a:prstGeom>
          <a:noFill/>
        </p:spPr>
        <p:txBody>
          <a:bodyPr wrap="none" rtlCol="0">
            <a:spAutoFit/>
          </a:bodyPr>
          <a:lstStyle/>
          <a:p>
            <a:pPr>
              <a:lnSpc>
                <a:spcPct val="150000"/>
              </a:lnSpc>
            </a:pPr>
            <a:r>
              <a:rPr lang="en-US" altLang="ko-KR" sz="1400" b="1">
                <a:latin typeface="Arial" pitchFamily="34" charset="0"/>
                <a:cs typeface="Arial" pitchFamily="34" charset="0"/>
              </a:rPr>
              <a:t>Cautions when measuring intensive care patients with InBodyS10 </a:t>
            </a:r>
          </a:p>
          <a:p>
            <a:pPr>
              <a:buFont typeface="Wingdings"/>
              <a:buChar char="à"/>
            </a:pPr>
            <a:r>
              <a:rPr lang="en-US" altLang="ko-KR" sz="1100" b="1">
                <a:latin typeface="Arial" pitchFamily="34" charset="0"/>
                <a:cs typeface="Arial" pitchFamily="34" charset="0"/>
                <a:sym typeface="Wingdings" pitchFamily="2" charset="2"/>
              </a:rPr>
              <a:t> How to check Junk data</a:t>
            </a:r>
            <a:endParaRPr lang="en-US" altLang="ko-KR" sz="1100" b="1" dirty="0">
              <a:latin typeface="Arial" pitchFamily="34" charset="0"/>
              <a:cs typeface="Arial" pitchFamily="34" charset="0"/>
              <a:sym typeface="Wingdings" pitchFamily="2" charset="2"/>
            </a:endParaRPr>
          </a:p>
        </p:txBody>
      </p:sp>
      <p:sp>
        <p:nvSpPr>
          <p:cNvPr id="10" name="모서리가 둥근 직사각형 9"/>
          <p:cNvSpPr/>
          <p:nvPr/>
        </p:nvSpPr>
        <p:spPr>
          <a:xfrm>
            <a:off x="4388984" y="6566315"/>
            <a:ext cx="914675" cy="1934429"/>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ko-KR" altLang="en-US"/>
          </a:p>
        </p:txBody>
      </p:sp>
      <p:sp>
        <p:nvSpPr>
          <p:cNvPr id="11" name="모서리가 둥근 직사각형 10"/>
          <p:cNvSpPr/>
          <p:nvPr/>
        </p:nvSpPr>
        <p:spPr>
          <a:xfrm>
            <a:off x="3434316" y="2803393"/>
            <a:ext cx="930788" cy="1975601"/>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ko-KR" altLang="en-US"/>
          </a:p>
        </p:txBody>
      </p:sp>
      <p:sp>
        <p:nvSpPr>
          <p:cNvPr id="12" name="바닥글 개체 틀 11"/>
          <p:cNvSpPr>
            <a:spLocks noGrp="1"/>
          </p:cNvSpPr>
          <p:nvPr>
            <p:ph type="ftr" sz="quarter" idx="11"/>
          </p:nvPr>
        </p:nvSpPr>
        <p:spPr/>
        <p:txBody>
          <a:bodyPr/>
          <a:lstStyle/>
          <a:p>
            <a:r>
              <a:rPr lang="en-US" altLang="ko-KR" sz="800"/>
              <a:t>InBody Co., Ltd.</a:t>
            </a:r>
            <a:endParaRPr lang="ko-KR" altLang="en-US" sz="800" dirty="0"/>
          </a:p>
        </p:txBody>
      </p:sp>
      <p:sp>
        <p:nvSpPr>
          <p:cNvPr id="13" name="날짜 개체 틀 12"/>
          <p:cNvSpPr>
            <a:spLocks noGrp="1"/>
          </p:cNvSpPr>
          <p:nvPr>
            <p:ph type="dt" sz="half" idx="10"/>
          </p:nvPr>
        </p:nvSpPr>
        <p:spPr/>
        <p:txBody>
          <a:bodyPr/>
          <a:lstStyle/>
          <a:p>
            <a:r>
              <a:rPr lang="en-US" altLang="ko-KR" sz="800"/>
              <a:t>IB-202-001  </a:t>
            </a:r>
            <a:endParaRPr lang="ko-KR" altLang="en-US" sz="800" dirty="0"/>
          </a:p>
        </p:txBody>
      </p:sp>
      <p:sp>
        <p:nvSpPr>
          <p:cNvPr id="14" name="슬라이드 번호 개체 틀 13"/>
          <p:cNvSpPr>
            <a:spLocks noGrp="1"/>
          </p:cNvSpPr>
          <p:nvPr>
            <p:ph type="sldNum" sz="quarter" idx="12"/>
          </p:nvPr>
        </p:nvSpPr>
        <p:spPr/>
        <p:txBody>
          <a:bodyPr/>
          <a:lstStyle/>
          <a:p>
            <a:r>
              <a:rPr lang="en-US" altLang="ko-KR" sz="800"/>
              <a:t>Rev:0</a:t>
            </a:r>
            <a:endParaRPr lang="ko-KR" altLang="en-US" sz="800" dirty="0"/>
          </a:p>
        </p:txBody>
      </p:sp>
    </p:spTree>
    <p:extLst>
      <p:ext uri="{BB962C8B-B14F-4D97-AF65-F5344CB8AC3E}">
        <p14:creationId xmlns:p14="http://schemas.microsoft.com/office/powerpoint/2010/main" val="14900233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표 1"/>
          <p:cNvGraphicFramePr>
            <a:graphicFrameLocks noGrp="1" noChangeAspect="1"/>
          </p:cNvGraphicFramePr>
          <p:nvPr>
            <p:extLst>
              <p:ext uri="{D42A27DB-BD31-4B8C-83A1-F6EECF244321}">
                <p14:modId xmlns:p14="http://schemas.microsoft.com/office/powerpoint/2010/main" val="3777698461"/>
              </p:ext>
            </p:extLst>
          </p:nvPr>
        </p:nvGraphicFramePr>
        <p:xfrm>
          <a:off x="559310" y="3409448"/>
          <a:ext cx="5750010" cy="2263632"/>
        </p:xfrm>
        <a:graphic>
          <a:graphicData uri="http://schemas.openxmlformats.org/drawingml/2006/table">
            <a:tbl>
              <a:tblPr firstRow="1" firstCol="1" bandRow="1">
                <a:tableStyleId>{073A0DAA-6AF3-43AB-8588-CEC1D06C72B9}</a:tableStyleId>
              </a:tblPr>
              <a:tblGrid>
                <a:gridCol w="958335">
                  <a:extLst>
                    <a:ext uri="{9D8B030D-6E8A-4147-A177-3AD203B41FA5}">
                      <a16:colId xmlns:a16="http://schemas.microsoft.com/office/drawing/2014/main" val="20000"/>
                    </a:ext>
                  </a:extLst>
                </a:gridCol>
                <a:gridCol w="958335">
                  <a:extLst>
                    <a:ext uri="{9D8B030D-6E8A-4147-A177-3AD203B41FA5}">
                      <a16:colId xmlns:a16="http://schemas.microsoft.com/office/drawing/2014/main" val="20001"/>
                    </a:ext>
                  </a:extLst>
                </a:gridCol>
                <a:gridCol w="958335">
                  <a:extLst>
                    <a:ext uri="{9D8B030D-6E8A-4147-A177-3AD203B41FA5}">
                      <a16:colId xmlns:a16="http://schemas.microsoft.com/office/drawing/2014/main" val="20002"/>
                    </a:ext>
                  </a:extLst>
                </a:gridCol>
                <a:gridCol w="958335">
                  <a:extLst>
                    <a:ext uri="{9D8B030D-6E8A-4147-A177-3AD203B41FA5}">
                      <a16:colId xmlns:a16="http://schemas.microsoft.com/office/drawing/2014/main" val="20003"/>
                    </a:ext>
                  </a:extLst>
                </a:gridCol>
                <a:gridCol w="958335">
                  <a:extLst>
                    <a:ext uri="{9D8B030D-6E8A-4147-A177-3AD203B41FA5}">
                      <a16:colId xmlns:a16="http://schemas.microsoft.com/office/drawing/2014/main" val="20004"/>
                    </a:ext>
                  </a:extLst>
                </a:gridCol>
                <a:gridCol w="958335">
                  <a:extLst>
                    <a:ext uri="{9D8B030D-6E8A-4147-A177-3AD203B41FA5}">
                      <a16:colId xmlns:a16="http://schemas.microsoft.com/office/drawing/2014/main" val="20005"/>
                    </a:ext>
                  </a:extLst>
                </a:gridCol>
              </a:tblGrid>
              <a:tr h="323376">
                <a:tc>
                  <a:txBody>
                    <a:bodyPr/>
                    <a:lstStyle/>
                    <a:p>
                      <a:pPr algn="just"/>
                      <a:endParaRPr lang="ko-KR" sz="1000" kern="100" dirty="0">
                        <a:effectLst/>
                        <a:latin typeface="맑은 고딕" panose="020B0503020000020004" pitchFamily="50" charset="-127"/>
                        <a:ea typeface="맑은 고딕" panose="020B0503020000020004" pitchFamily="50" charset="-127"/>
                      </a:endParaRPr>
                    </a:p>
                  </a:txBody>
                  <a:tcPr marL="68580" marR="68580" marT="0" marB="0" anchor="ctr"/>
                </a:tc>
                <a:tc>
                  <a:txBody>
                    <a:bodyPr/>
                    <a:lstStyle/>
                    <a:p>
                      <a:pPr algn="ctr" latinLnBrk="0">
                        <a:lnSpc>
                          <a:spcPct val="107000"/>
                        </a:lnSpc>
                        <a:spcAft>
                          <a:spcPts val="0"/>
                        </a:spcAft>
                      </a:pPr>
                      <a:r>
                        <a:rPr lang="en-US" sz="1000" kern="0" dirty="0">
                          <a:effectLst/>
                        </a:rPr>
                        <a:t>RA</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dirty="0">
                          <a:effectLst/>
                        </a:rPr>
                        <a:t>LA</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dirty="0">
                          <a:effectLst/>
                        </a:rPr>
                        <a:t>TR</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dirty="0">
                          <a:effectLst/>
                        </a:rPr>
                        <a:t>RL</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dirty="0">
                          <a:effectLst/>
                        </a:rPr>
                        <a:t>LL</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323376">
                <a:tc>
                  <a:txBody>
                    <a:bodyPr/>
                    <a:lstStyle/>
                    <a:p>
                      <a:pPr algn="r" latinLnBrk="0">
                        <a:lnSpc>
                          <a:spcPct val="107000"/>
                        </a:lnSpc>
                        <a:spcAft>
                          <a:spcPts val="0"/>
                        </a:spcAft>
                      </a:pPr>
                      <a:r>
                        <a:rPr lang="en-US" sz="1000" kern="0">
                          <a:effectLst/>
                        </a:rPr>
                        <a:t>1kHz</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546.8</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492.0</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51.4</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435.1</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452.2</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323376">
                <a:tc>
                  <a:txBody>
                    <a:bodyPr/>
                    <a:lstStyle/>
                    <a:p>
                      <a:pPr algn="r" latinLnBrk="0">
                        <a:lnSpc>
                          <a:spcPct val="107000"/>
                        </a:lnSpc>
                        <a:spcAft>
                          <a:spcPts val="0"/>
                        </a:spcAft>
                      </a:pPr>
                      <a:r>
                        <a:rPr lang="en-US" sz="1000" kern="0">
                          <a:effectLst/>
                        </a:rPr>
                        <a:t>5kHz</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533.0</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484.7</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rPr>
                        <a:t>47.8</a:t>
                      </a:r>
                      <a:endParaRPr 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424.3</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442.0</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323376">
                <a:tc>
                  <a:txBody>
                    <a:bodyPr/>
                    <a:lstStyle/>
                    <a:p>
                      <a:pPr algn="r" latinLnBrk="0">
                        <a:lnSpc>
                          <a:spcPct val="107000"/>
                        </a:lnSpc>
                        <a:spcAft>
                          <a:spcPts val="0"/>
                        </a:spcAft>
                      </a:pPr>
                      <a:r>
                        <a:rPr lang="en-US" sz="1000" kern="0" dirty="0">
                          <a:effectLst/>
                        </a:rPr>
                        <a:t>50kHz</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rPr>
                        <a:t>482.8</a:t>
                      </a:r>
                      <a:endParaRPr 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451.6</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rPr>
                        <a:t>38.6</a:t>
                      </a:r>
                      <a:endParaRPr 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385.5</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403.0</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323376">
                <a:tc>
                  <a:txBody>
                    <a:bodyPr/>
                    <a:lstStyle/>
                    <a:p>
                      <a:pPr algn="r" latinLnBrk="0">
                        <a:lnSpc>
                          <a:spcPct val="107000"/>
                        </a:lnSpc>
                        <a:spcAft>
                          <a:spcPts val="0"/>
                        </a:spcAft>
                      </a:pPr>
                      <a:r>
                        <a:rPr lang="en-US" sz="1000" kern="0">
                          <a:effectLst/>
                        </a:rPr>
                        <a:t>250kHz</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rPr>
                        <a:t>392.8</a:t>
                      </a:r>
                      <a:endParaRPr 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428.0</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rPr>
                        <a:t>28.7</a:t>
                      </a:r>
                      <a:endParaRPr 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358.9</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375.2</a:t>
                      </a:r>
                      <a:endParaRPr 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323376">
                <a:tc>
                  <a:txBody>
                    <a:bodyPr/>
                    <a:lstStyle/>
                    <a:p>
                      <a:pPr algn="r" latinLnBrk="0">
                        <a:lnSpc>
                          <a:spcPct val="107000"/>
                        </a:lnSpc>
                        <a:spcAft>
                          <a:spcPts val="0"/>
                        </a:spcAft>
                      </a:pPr>
                      <a:r>
                        <a:rPr lang="en-US" sz="1000" kern="0">
                          <a:effectLst/>
                        </a:rPr>
                        <a:t>500kHz</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rPr>
                        <a:t>301.6</a:t>
                      </a:r>
                      <a:endParaRPr 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410.7</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24.0</a:t>
                      </a:r>
                      <a:endParaRPr 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348.3</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362.5</a:t>
                      </a:r>
                      <a:endParaRPr 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r h="323376">
                <a:tc>
                  <a:txBody>
                    <a:bodyPr/>
                    <a:lstStyle/>
                    <a:p>
                      <a:pPr algn="r" latinLnBrk="0">
                        <a:lnSpc>
                          <a:spcPct val="107000"/>
                        </a:lnSpc>
                        <a:spcAft>
                          <a:spcPts val="0"/>
                        </a:spcAft>
                      </a:pPr>
                      <a:r>
                        <a:rPr lang="en-US" sz="1000" kern="0">
                          <a:effectLst/>
                        </a:rPr>
                        <a:t>1MHz</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198.1</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382.4</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19.5</a:t>
                      </a:r>
                      <a:endParaRPr 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338.2</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347.3</a:t>
                      </a:r>
                      <a:endParaRPr 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6"/>
                  </a:ext>
                </a:extLst>
              </a:tr>
            </a:tbl>
          </a:graphicData>
        </a:graphic>
      </p:graphicFrame>
      <p:sp>
        <p:nvSpPr>
          <p:cNvPr id="4" name="TextBox 3"/>
          <p:cNvSpPr txBox="1"/>
          <p:nvPr/>
        </p:nvSpPr>
        <p:spPr>
          <a:xfrm>
            <a:off x="441328" y="1712640"/>
            <a:ext cx="6084016" cy="1477328"/>
          </a:xfrm>
          <a:prstGeom prst="rect">
            <a:avLst/>
          </a:prstGeom>
          <a:noFill/>
        </p:spPr>
        <p:txBody>
          <a:bodyPr wrap="square" rtlCol="0">
            <a:spAutoFit/>
          </a:bodyPr>
          <a:lstStyle/>
          <a:p>
            <a:pPr algn="just">
              <a:lnSpc>
                <a:spcPct val="150000"/>
              </a:lnSpc>
            </a:pPr>
            <a:r>
              <a:rPr lang="en-US" altLang="ko-KR" sz="1000" b="1" dirty="0">
                <a:latin typeface="맑은 고딕"/>
                <a:ea typeface="맑은 고딕"/>
              </a:rPr>
              <a:t>4</a:t>
            </a:r>
            <a:r>
              <a:rPr lang="en-US" altLang="ko-KR" sz="1000" b="1">
                <a:latin typeface="맑은 고딕"/>
                <a:ea typeface="맑은 고딕"/>
              </a:rPr>
              <a:t>. </a:t>
            </a:r>
            <a:r>
              <a:rPr lang="en-US" altLang="ko-KR" sz="1000" b="1">
                <a:ea typeface="맑은 고딕"/>
              </a:rPr>
              <a:t>Impedance in ICU patient </a:t>
            </a:r>
          </a:p>
          <a:p>
            <a:pPr algn="just">
              <a:lnSpc>
                <a:spcPct val="150000"/>
              </a:lnSpc>
            </a:pPr>
            <a:r>
              <a:rPr lang="en-US" altLang="ko-KR" sz="1000" b="1">
                <a:latin typeface="맑은 고딕"/>
                <a:ea typeface="맑은 고딕"/>
              </a:rPr>
              <a:t>3</a:t>
            </a:r>
            <a:r>
              <a:rPr lang="en-US" altLang="ko-KR" sz="1000" b="1">
                <a:latin typeface="맑은 고딕" panose="020B0503020000020004" pitchFamily="50" charset="-127"/>
                <a:ea typeface="맑은 고딕" panose="020B0503020000020004" pitchFamily="50" charset="-127"/>
              </a:rPr>
              <a:t>) Decrease more than 10</a:t>
            </a:r>
            <a:r>
              <a:rPr lang="ko-KR" altLang="ko-KR" sz="1000" b="1"/>
              <a:t>Ω</a:t>
            </a:r>
            <a:r>
              <a:rPr lang="en-US" altLang="ko-KR" sz="1000" b="1"/>
              <a:t> in trunk or </a:t>
            </a:r>
            <a:r>
              <a:rPr lang="en-US" altLang="ko-KR" sz="1000" b="1">
                <a:latin typeface="맑은 고딕" panose="020B0503020000020004" pitchFamily="50" charset="-127"/>
              </a:rPr>
              <a:t>50</a:t>
            </a:r>
            <a:r>
              <a:rPr lang="ko-KR" altLang="ko-KR" sz="1000" b="1"/>
              <a:t>Ω</a:t>
            </a:r>
            <a:r>
              <a:rPr lang="en-US" altLang="ko-KR" sz="1000" b="1"/>
              <a:t> in arms and legs</a:t>
            </a:r>
          </a:p>
          <a:p>
            <a:pPr algn="just">
              <a:lnSpc>
                <a:spcPct val="150000"/>
              </a:lnSpc>
            </a:pPr>
            <a:r>
              <a:rPr lang="en-US" altLang="ko-KR" sz="1000" b="1">
                <a:latin typeface="맑은 고딕" panose="020B0503020000020004" pitchFamily="50" charset="-127"/>
              </a:rPr>
              <a:t>Generally, arm impedance is </a:t>
            </a:r>
            <a:r>
              <a:rPr lang="en-US" altLang="ko-KR" sz="1000"/>
              <a:t>300~500</a:t>
            </a:r>
            <a:r>
              <a:rPr lang="ko-KR" altLang="ko-KR" sz="1000" dirty="0"/>
              <a:t>Ω</a:t>
            </a:r>
            <a:r>
              <a:rPr lang="en-US" altLang="ko-KR" sz="1000"/>
              <a:t>, trunk impedance is 10~40</a:t>
            </a:r>
            <a:r>
              <a:rPr lang="ko-KR" altLang="ko-KR" sz="1000" dirty="0"/>
              <a:t>Ω</a:t>
            </a:r>
            <a:r>
              <a:rPr lang="en-US" altLang="ko-KR" sz="1000"/>
              <a:t>, leg impedance is 200~300</a:t>
            </a:r>
            <a:r>
              <a:rPr lang="ko-KR" altLang="ko-KR" sz="1000"/>
              <a:t>Ω</a:t>
            </a:r>
            <a:r>
              <a:rPr lang="en-US" altLang="ko-KR" sz="1000"/>
              <a:t>. When ICU patient is severely overhydrated, impedance can be lower than the normal range. Even if there is no reverse, if the impedance drop more than 10 ohms in trunk and 50 ohms in limbs, re-measure the patient. </a:t>
            </a:r>
            <a:endParaRPr lang="en-US" altLang="ko-KR" sz="1000" dirty="0">
              <a:ea typeface="맑은 고딕"/>
            </a:endParaRPr>
          </a:p>
        </p:txBody>
      </p:sp>
      <p:graphicFrame>
        <p:nvGraphicFramePr>
          <p:cNvPr id="5" name="표 4"/>
          <p:cNvGraphicFramePr>
            <a:graphicFrameLocks noGrp="1" noChangeAspect="1"/>
          </p:cNvGraphicFramePr>
          <p:nvPr>
            <p:extLst>
              <p:ext uri="{D42A27DB-BD31-4B8C-83A1-F6EECF244321}">
                <p14:modId xmlns:p14="http://schemas.microsoft.com/office/powerpoint/2010/main" val="3496601731"/>
              </p:ext>
            </p:extLst>
          </p:nvPr>
        </p:nvGraphicFramePr>
        <p:xfrm>
          <a:off x="548680" y="6001736"/>
          <a:ext cx="5750010" cy="2263632"/>
        </p:xfrm>
        <a:graphic>
          <a:graphicData uri="http://schemas.openxmlformats.org/drawingml/2006/table">
            <a:tbl>
              <a:tblPr firstRow="1" firstCol="1" bandRow="1">
                <a:tableStyleId>{073A0DAA-6AF3-43AB-8588-CEC1D06C72B9}</a:tableStyleId>
              </a:tblPr>
              <a:tblGrid>
                <a:gridCol w="958335">
                  <a:extLst>
                    <a:ext uri="{9D8B030D-6E8A-4147-A177-3AD203B41FA5}">
                      <a16:colId xmlns:a16="http://schemas.microsoft.com/office/drawing/2014/main" val="20000"/>
                    </a:ext>
                  </a:extLst>
                </a:gridCol>
                <a:gridCol w="958335">
                  <a:extLst>
                    <a:ext uri="{9D8B030D-6E8A-4147-A177-3AD203B41FA5}">
                      <a16:colId xmlns:a16="http://schemas.microsoft.com/office/drawing/2014/main" val="20001"/>
                    </a:ext>
                  </a:extLst>
                </a:gridCol>
                <a:gridCol w="958335">
                  <a:extLst>
                    <a:ext uri="{9D8B030D-6E8A-4147-A177-3AD203B41FA5}">
                      <a16:colId xmlns:a16="http://schemas.microsoft.com/office/drawing/2014/main" val="20002"/>
                    </a:ext>
                  </a:extLst>
                </a:gridCol>
                <a:gridCol w="958335">
                  <a:extLst>
                    <a:ext uri="{9D8B030D-6E8A-4147-A177-3AD203B41FA5}">
                      <a16:colId xmlns:a16="http://schemas.microsoft.com/office/drawing/2014/main" val="20003"/>
                    </a:ext>
                  </a:extLst>
                </a:gridCol>
                <a:gridCol w="958335">
                  <a:extLst>
                    <a:ext uri="{9D8B030D-6E8A-4147-A177-3AD203B41FA5}">
                      <a16:colId xmlns:a16="http://schemas.microsoft.com/office/drawing/2014/main" val="20004"/>
                    </a:ext>
                  </a:extLst>
                </a:gridCol>
                <a:gridCol w="958335">
                  <a:extLst>
                    <a:ext uri="{9D8B030D-6E8A-4147-A177-3AD203B41FA5}">
                      <a16:colId xmlns:a16="http://schemas.microsoft.com/office/drawing/2014/main" val="20005"/>
                    </a:ext>
                  </a:extLst>
                </a:gridCol>
              </a:tblGrid>
              <a:tr h="323376">
                <a:tc>
                  <a:txBody>
                    <a:bodyPr/>
                    <a:lstStyle/>
                    <a:p>
                      <a:pPr algn="just"/>
                      <a:endParaRPr lang="ko-KR" sz="1000" kern="100" dirty="0">
                        <a:effectLst/>
                        <a:latin typeface="맑은 고딕" panose="020B0503020000020004" pitchFamily="50" charset="-127"/>
                        <a:ea typeface="맑은 고딕" panose="020B0503020000020004" pitchFamily="50" charset="-127"/>
                      </a:endParaRPr>
                    </a:p>
                  </a:txBody>
                  <a:tcPr marL="68580" marR="68580" marT="0" marB="0" anchor="ctr"/>
                </a:tc>
                <a:tc>
                  <a:txBody>
                    <a:bodyPr/>
                    <a:lstStyle/>
                    <a:p>
                      <a:pPr algn="ctr" latinLnBrk="0">
                        <a:lnSpc>
                          <a:spcPct val="107000"/>
                        </a:lnSpc>
                        <a:spcAft>
                          <a:spcPts val="0"/>
                        </a:spcAft>
                      </a:pPr>
                      <a:r>
                        <a:rPr lang="en-US" sz="1000" kern="0" dirty="0">
                          <a:effectLst/>
                        </a:rPr>
                        <a:t>RA</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dirty="0">
                          <a:effectLst/>
                        </a:rPr>
                        <a:t>LA</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dirty="0">
                          <a:effectLst/>
                        </a:rPr>
                        <a:t>TR</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effectLst/>
                        </a:rPr>
                        <a:t>RL</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sz="1000" kern="0">
                          <a:effectLst/>
                        </a:rPr>
                        <a:t>LL</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323376">
                <a:tc>
                  <a:txBody>
                    <a:bodyPr/>
                    <a:lstStyle/>
                    <a:p>
                      <a:pPr algn="r" latinLnBrk="0">
                        <a:lnSpc>
                          <a:spcPct val="107000"/>
                        </a:lnSpc>
                        <a:spcAft>
                          <a:spcPts val="0"/>
                        </a:spcAft>
                      </a:pPr>
                      <a:r>
                        <a:rPr lang="en-US" sz="1000" kern="0">
                          <a:effectLst/>
                        </a:rPr>
                        <a:t>1kHz</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150.4</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150.1</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10.6</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125.0</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109.6</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323376">
                <a:tc>
                  <a:txBody>
                    <a:bodyPr/>
                    <a:lstStyle/>
                    <a:p>
                      <a:pPr algn="r" latinLnBrk="0">
                        <a:lnSpc>
                          <a:spcPct val="107000"/>
                        </a:lnSpc>
                        <a:spcAft>
                          <a:spcPts val="0"/>
                        </a:spcAft>
                      </a:pPr>
                      <a:r>
                        <a:rPr lang="en-US" sz="1000" kern="0">
                          <a:effectLst/>
                        </a:rPr>
                        <a:t>5kHz</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137.8</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rPr>
                        <a:t>121.8</a:t>
                      </a:r>
                      <a:endParaRPr 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8.2</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123.8</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107.6</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323376">
                <a:tc>
                  <a:txBody>
                    <a:bodyPr/>
                    <a:lstStyle/>
                    <a:p>
                      <a:pPr algn="r" latinLnBrk="0">
                        <a:lnSpc>
                          <a:spcPct val="107000"/>
                        </a:lnSpc>
                        <a:spcAft>
                          <a:spcPts val="0"/>
                        </a:spcAft>
                      </a:pPr>
                      <a:r>
                        <a:rPr lang="en-US" sz="1000" kern="0" dirty="0">
                          <a:effectLst/>
                        </a:rPr>
                        <a:t>50kHz</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115.5</a:t>
                      </a:r>
                      <a:endParaRPr 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rPr>
                        <a:t>46.2</a:t>
                      </a:r>
                      <a:endParaRPr lang="ko-KR" sz="1000" b="1" kern="100" dirty="0">
                        <a:solidFill>
                          <a:srgbClr val="FF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4.0</a:t>
                      </a:r>
                      <a:endParaRPr 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119.0</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102.0</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323376">
                <a:tc>
                  <a:txBody>
                    <a:bodyPr/>
                    <a:lstStyle/>
                    <a:p>
                      <a:pPr algn="r" latinLnBrk="0">
                        <a:lnSpc>
                          <a:spcPct val="107000"/>
                        </a:lnSpc>
                        <a:spcAft>
                          <a:spcPts val="0"/>
                        </a:spcAft>
                      </a:pPr>
                      <a:r>
                        <a:rPr lang="en-US" sz="1000" kern="0" dirty="0">
                          <a:effectLst/>
                        </a:rPr>
                        <a:t>250kHz</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102.9</a:t>
                      </a:r>
                      <a:endParaRPr 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24.9</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3.2</a:t>
                      </a:r>
                      <a:endParaRPr 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119.0</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102.0</a:t>
                      </a:r>
                      <a:endParaRPr 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323376">
                <a:tc>
                  <a:txBody>
                    <a:bodyPr/>
                    <a:lstStyle/>
                    <a:p>
                      <a:pPr algn="r" latinLnBrk="0">
                        <a:lnSpc>
                          <a:spcPct val="107000"/>
                        </a:lnSpc>
                        <a:spcAft>
                          <a:spcPts val="0"/>
                        </a:spcAft>
                      </a:pPr>
                      <a:r>
                        <a:rPr lang="en-US" sz="1000" kern="0" dirty="0">
                          <a:effectLst/>
                        </a:rPr>
                        <a:t>500kHz</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99.7</a:t>
                      </a:r>
                      <a:endParaRPr 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19.8</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3.1</a:t>
                      </a:r>
                      <a:endParaRPr 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109.4</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93.6</a:t>
                      </a:r>
                      <a:endParaRPr 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r h="323376">
                <a:tc>
                  <a:txBody>
                    <a:bodyPr/>
                    <a:lstStyle/>
                    <a:p>
                      <a:pPr algn="r" latinLnBrk="0">
                        <a:lnSpc>
                          <a:spcPct val="107000"/>
                        </a:lnSpc>
                        <a:spcAft>
                          <a:spcPts val="0"/>
                        </a:spcAft>
                      </a:pPr>
                      <a:r>
                        <a:rPr lang="en-US" sz="1000" kern="0" dirty="0">
                          <a:effectLst/>
                        </a:rPr>
                        <a:t>1MHz</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91.1</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12.9</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2.9</a:t>
                      </a:r>
                      <a:endParaRPr 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104.2</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07000"/>
                        </a:lnSpc>
                        <a:spcAft>
                          <a:spcPts val="0"/>
                        </a:spcAft>
                      </a:pPr>
                      <a:r>
                        <a:rPr lang="en-US" alt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89.0</a:t>
                      </a:r>
                      <a:endParaRPr lang="ko-KR" sz="1000" b="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006"/>
                  </a:ext>
                </a:extLst>
              </a:tr>
            </a:tbl>
          </a:graphicData>
        </a:graphic>
      </p:graphicFrame>
      <p:sp>
        <p:nvSpPr>
          <p:cNvPr id="6" name="TextBox 5"/>
          <p:cNvSpPr txBox="1"/>
          <p:nvPr/>
        </p:nvSpPr>
        <p:spPr>
          <a:xfrm>
            <a:off x="390782" y="745472"/>
            <a:ext cx="5819222" cy="584775"/>
          </a:xfrm>
          <a:prstGeom prst="rect">
            <a:avLst/>
          </a:prstGeom>
          <a:noFill/>
        </p:spPr>
        <p:txBody>
          <a:bodyPr wrap="none" rtlCol="0">
            <a:spAutoFit/>
          </a:bodyPr>
          <a:lstStyle/>
          <a:p>
            <a:pPr>
              <a:lnSpc>
                <a:spcPct val="150000"/>
              </a:lnSpc>
            </a:pPr>
            <a:r>
              <a:rPr lang="en-US" altLang="ko-KR" sz="1400" b="1">
                <a:latin typeface="Arial" pitchFamily="34" charset="0"/>
                <a:cs typeface="Arial" pitchFamily="34" charset="0"/>
              </a:rPr>
              <a:t>Cautions when measuring intensive care patients with InBodyS10 </a:t>
            </a:r>
          </a:p>
          <a:p>
            <a:pPr>
              <a:buFont typeface="Wingdings"/>
              <a:buChar char="à"/>
            </a:pPr>
            <a:r>
              <a:rPr lang="en-US" altLang="ko-KR" sz="1100" b="1">
                <a:latin typeface="Arial" pitchFamily="34" charset="0"/>
                <a:cs typeface="Arial" pitchFamily="34" charset="0"/>
                <a:sym typeface="Wingdings" pitchFamily="2" charset="2"/>
              </a:rPr>
              <a:t> How to check Junk data</a:t>
            </a:r>
            <a:endParaRPr lang="en-US" altLang="ko-KR" sz="1100" b="1" dirty="0">
              <a:latin typeface="Arial" pitchFamily="34" charset="0"/>
              <a:cs typeface="Arial" pitchFamily="34" charset="0"/>
              <a:sym typeface="Wingdings" pitchFamily="2" charset="2"/>
            </a:endParaRPr>
          </a:p>
        </p:txBody>
      </p:sp>
      <p:sp>
        <p:nvSpPr>
          <p:cNvPr id="7" name="모서리가 둥근 직사각형 6"/>
          <p:cNvSpPr/>
          <p:nvPr/>
        </p:nvSpPr>
        <p:spPr>
          <a:xfrm>
            <a:off x="3450429" y="4018597"/>
            <a:ext cx="914675" cy="1047035"/>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ko-KR" altLang="en-US"/>
          </a:p>
        </p:txBody>
      </p:sp>
      <p:sp>
        <p:nvSpPr>
          <p:cNvPr id="8" name="모서리가 둥근 직사각형 7"/>
          <p:cNvSpPr/>
          <p:nvPr/>
        </p:nvSpPr>
        <p:spPr>
          <a:xfrm>
            <a:off x="1525846" y="4345553"/>
            <a:ext cx="958047" cy="1008112"/>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ko-KR" altLang="en-US"/>
          </a:p>
        </p:txBody>
      </p:sp>
      <p:sp>
        <p:nvSpPr>
          <p:cNvPr id="9" name="모서리가 둥근 직사각형 8"/>
          <p:cNvSpPr/>
          <p:nvPr/>
        </p:nvSpPr>
        <p:spPr>
          <a:xfrm>
            <a:off x="2483893" y="6622833"/>
            <a:ext cx="914675" cy="675047"/>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ko-KR" altLang="en-US"/>
          </a:p>
        </p:txBody>
      </p:sp>
      <p:sp>
        <p:nvSpPr>
          <p:cNvPr id="10" name="바닥글 개체 틀 9"/>
          <p:cNvSpPr>
            <a:spLocks noGrp="1"/>
          </p:cNvSpPr>
          <p:nvPr>
            <p:ph type="ftr" sz="quarter" idx="11"/>
          </p:nvPr>
        </p:nvSpPr>
        <p:spPr/>
        <p:txBody>
          <a:bodyPr/>
          <a:lstStyle/>
          <a:p>
            <a:r>
              <a:rPr lang="en-US" altLang="ko-KR" sz="800"/>
              <a:t>InBody Co., Ltd.</a:t>
            </a:r>
            <a:endParaRPr lang="ko-KR" altLang="en-US" sz="800" dirty="0"/>
          </a:p>
        </p:txBody>
      </p:sp>
      <p:sp>
        <p:nvSpPr>
          <p:cNvPr id="11" name="날짜 개체 틀 10"/>
          <p:cNvSpPr>
            <a:spLocks noGrp="1"/>
          </p:cNvSpPr>
          <p:nvPr>
            <p:ph type="dt" sz="half" idx="10"/>
          </p:nvPr>
        </p:nvSpPr>
        <p:spPr/>
        <p:txBody>
          <a:bodyPr/>
          <a:lstStyle/>
          <a:p>
            <a:r>
              <a:rPr lang="en-US" altLang="ko-KR" sz="800"/>
              <a:t>IB-202-001  </a:t>
            </a:r>
            <a:endParaRPr lang="ko-KR" altLang="en-US" sz="800" dirty="0"/>
          </a:p>
        </p:txBody>
      </p:sp>
      <p:sp>
        <p:nvSpPr>
          <p:cNvPr id="12" name="슬라이드 번호 개체 틀 11"/>
          <p:cNvSpPr>
            <a:spLocks noGrp="1"/>
          </p:cNvSpPr>
          <p:nvPr>
            <p:ph type="sldNum" sz="quarter" idx="12"/>
          </p:nvPr>
        </p:nvSpPr>
        <p:spPr/>
        <p:txBody>
          <a:bodyPr/>
          <a:lstStyle/>
          <a:p>
            <a:r>
              <a:rPr lang="en-US" altLang="ko-KR" sz="800"/>
              <a:t>Rev:0</a:t>
            </a:r>
            <a:endParaRPr lang="ko-KR" altLang="en-US" sz="800" dirty="0"/>
          </a:p>
        </p:txBody>
      </p:sp>
    </p:spTree>
    <p:extLst>
      <p:ext uri="{BB962C8B-B14F-4D97-AF65-F5344CB8AC3E}">
        <p14:creationId xmlns:p14="http://schemas.microsoft.com/office/powerpoint/2010/main" val="2631263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1328" y="1712640"/>
            <a:ext cx="6084016" cy="4708981"/>
          </a:xfrm>
          <a:prstGeom prst="rect">
            <a:avLst/>
          </a:prstGeom>
          <a:noFill/>
        </p:spPr>
        <p:txBody>
          <a:bodyPr wrap="square" rtlCol="0">
            <a:spAutoFit/>
          </a:bodyPr>
          <a:lstStyle/>
          <a:p>
            <a:pPr algn="just">
              <a:lnSpc>
                <a:spcPct val="150000"/>
              </a:lnSpc>
            </a:pPr>
            <a:r>
              <a:rPr lang="en-US" altLang="ko-KR" sz="1000" b="1" dirty="0">
                <a:latin typeface="맑은 고딕"/>
                <a:ea typeface="맑은 고딕"/>
              </a:rPr>
              <a:t>5</a:t>
            </a:r>
            <a:r>
              <a:rPr lang="en-US" altLang="ko-KR" sz="1000" b="1">
                <a:latin typeface="맑은 고딕"/>
                <a:ea typeface="맑은 고딕"/>
              </a:rPr>
              <a:t>. Check factors affecting measurement in an ICU environment</a:t>
            </a:r>
          </a:p>
          <a:p>
            <a:pPr algn="just">
              <a:lnSpc>
                <a:spcPct val="150000"/>
              </a:lnSpc>
            </a:pPr>
            <a:endParaRPr lang="en-US" altLang="ko-KR" sz="1000" dirty="0">
              <a:latin typeface="맑은 고딕" panose="020B0503020000020004" pitchFamily="50" charset="-127"/>
              <a:ea typeface="맑은 고딕" panose="020B0503020000020004" pitchFamily="50" charset="-127"/>
            </a:endParaRPr>
          </a:p>
          <a:p>
            <a:pPr marL="228600" indent="-228600" algn="just">
              <a:lnSpc>
                <a:spcPct val="150000"/>
              </a:lnSpc>
              <a:buAutoNum type="arabicParenR"/>
            </a:pPr>
            <a:r>
              <a:rPr lang="en-US" altLang="ko-KR" sz="1000">
                <a:latin typeface="맑은 고딕" panose="020B0503020000020004" pitchFamily="50" charset="-127"/>
                <a:ea typeface="맑은 고딕" panose="020B0503020000020004" pitchFamily="50" charset="-127"/>
              </a:rPr>
              <a:t>Release you blood pressure monitor</a:t>
            </a:r>
          </a:p>
          <a:p>
            <a:pPr marL="228600" indent="-228600" algn="just">
              <a:lnSpc>
                <a:spcPct val="150000"/>
              </a:lnSpc>
              <a:buAutoNum type="arabicParenR"/>
            </a:pPr>
            <a:endParaRPr lang="en-US" altLang="ko-KR" sz="1000">
              <a:latin typeface="맑은 고딕" panose="020B0503020000020004" pitchFamily="50" charset="-127"/>
              <a:ea typeface="맑은 고딕" panose="020B0503020000020004" pitchFamily="50" charset="-127"/>
            </a:endParaRPr>
          </a:p>
          <a:p>
            <a:pPr marL="228600" indent="-228600" algn="just">
              <a:lnSpc>
                <a:spcPct val="150000"/>
              </a:lnSpc>
              <a:buAutoNum type="arabicParenR"/>
            </a:pPr>
            <a:r>
              <a:rPr lang="en-US" altLang="ko-KR" sz="1000"/>
              <a:t>Remove pressing bandages</a:t>
            </a:r>
            <a:r>
              <a:rPr lang="ko-KR" altLang="en-US" sz="1000">
                <a:latin typeface="맑은 고딕" panose="020B0503020000020004" pitchFamily="50" charset="-127"/>
                <a:ea typeface="맑은 고딕" panose="020B0503020000020004" pitchFamily="50" charset="-127"/>
              </a:rPr>
              <a:t>〮</a:t>
            </a:r>
            <a:r>
              <a:rPr lang="en-US" altLang="ko-KR" sz="1000">
                <a:latin typeface="맑은 고딕" panose="020B0503020000020004" pitchFamily="50" charset="-127"/>
                <a:ea typeface="맑은 고딕" panose="020B0503020000020004" pitchFamily="50" charset="-127"/>
              </a:rPr>
              <a:t>pressure stockings</a:t>
            </a:r>
            <a:r>
              <a:rPr lang="ko-KR" altLang="en-US" sz="1000"/>
              <a:t> </a:t>
            </a:r>
            <a:r>
              <a:rPr lang="en-US" altLang="ko-KR" sz="1000"/>
              <a:t>or intermittent pneumatic massagers.</a:t>
            </a:r>
          </a:p>
          <a:p>
            <a:pPr marL="228600" indent="-228600" algn="just">
              <a:lnSpc>
                <a:spcPct val="150000"/>
              </a:lnSpc>
              <a:buAutoNum type="arabicParenR"/>
            </a:pPr>
            <a:endParaRPr lang="en-US" altLang="ko-KR" sz="1000"/>
          </a:p>
          <a:p>
            <a:pPr marL="228600" indent="-228600" algn="just">
              <a:lnSpc>
                <a:spcPct val="150000"/>
              </a:lnSpc>
              <a:buAutoNum type="arabicParenR"/>
            </a:pPr>
            <a:r>
              <a:rPr lang="en-US" altLang="ko-KR" sz="1000"/>
              <a:t>Error can occur when the test is done during CRRT. </a:t>
            </a:r>
            <a:endParaRPr lang="en-US" altLang="ko-KR" sz="1000" dirty="0"/>
          </a:p>
          <a:p>
            <a:pPr marL="228600" indent="-228600" algn="just">
              <a:lnSpc>
                <a:spcPct val="150000"/>
              </a:lnSpc>
              <a:buAutoNum type="arabicParenR"/>
            </a:pPr>
            <a:endParaRPr lang="en-US" altLang="ko-KR" sz="1000" dirty="0"/>
          </a:p>
          <a:p>
            <a:pPr marL="228600" indent="-228600" algn="just">
              <a:lnSpc>
                <a:spcPct val="150000"/>
              </a:lnSpc>
              <a:buAutoNum type="arabicParenR"/>
            </a:pPr>
            <a:r>
              <a:rPr lang="en-US" altLang="ko-KR" sz="1000"/>
              <a:t>Make sure the electordes and body do not touch the bed frame during the test. </a:t>
            </a:r>
          </a:p>
          <a:p>
            <a:pPr marL="228600" indent="-228600" algn="just">
              <a:lnSpc>
                <a:spcPct val="150000"/>
              </a:lnSpc>
              <a:buAutoNum type="arabicParenR"/>
            </a:pPr>
            <a:endParaRPr lang="en-US" altLang="ko-KR" sz="1000"/>
          </a:p>
          <a:p>
            <a:pPr marL="228600" indent="-228600" algn="just">
              <a:lnSpc>
                <a:spcPct val="150000"/>
              </a:lnSpc>
              <a:buAutoNum type="arabicParenR"/>
            </a:pPr>
            <a:r>
              <a:rPr lang="en-US" altLang="ko-KR" sz="1000"/>
              <a:t>Patient Monitor, sap automatic injector, Ventilator, and etc do not effect InBody test. But, the wave in patient monitor can be affected by the frequencies from InBody.</a:t>
            </a:r>
          </a:p>
          <a:p>
            <a:pPr marL="228600" indent="-228600" algn="just">
              <a:lnSpc>
                <a:spcPct val="150000"/>
              </a:lnSpc>
              <a:buAutoNum type="arabicParenR"/>
            </a:pPr>
            <a:endParaRPr lang="en-US" altLang="ko-KR" sz="1000">
              <a:ea typeface="맑은 고딕"/>
            </a:endParaRPr>
          </a:p>
          <a:p>
            <a:pPr marL="228600" indent="-228600" algn="just">
              <a:lnSpc>
                <a:spcPct val="150000"/>
              </a:lnSpc>
              <a:buAutoNum type="arabicParenR"/>
            </a:pPr>
            <a:r>
              <a:rPr lang="en-US" altLang="ko-KR" sz="1000">
                <a:ea typeface="맑은 고딕"/>
              </a:rPr>
              <a:t>Make arm and trunk / each leg separate, but inconvenient posture can make the patient to move which causes impedance error. In this case, use pillow or blanket to make each segment separate instead of forcing patient to do so. Especially when the patient is wearing a skirt, make sure each leg to be separated. </a:t>
            </a:r>
          </a:p>
          <a:p>
            <a:pPr marL="228600" indent="-228600" algn="just">
              <a:lnSpc>
                <a:spcPct val="150000"/>
              </a:lnSpc>
              <a:buAutoNum type="arabicParenR"/>
            </a:pPr>
            <a:endParaRPr lang="en-US" altLang="ko-KR" sz="1000">
              <a:ea typeface="맑은 고딕"/>
            </a:endParaRPr>
          </a:p>
          <a:p>
            <a:pPr marL="228600" indent="-228600" algn="just">
              <a:lnSpc>
                <a:spcPct val="150000"/>
              </a:lnSpc>
              <a:buAutoNum type="arabicParenR"/>
            </a:pPr>
            <a:r>
              <a:rPr lang="en-US" altLang="ko-KR" sz="1000">
                <a:ea typeface="맑은 고딕"/>
              </a:rPr>
              <a:t>When other devices are attached on the middle finger, the ring finger or the little finger can be used for InBody electrode. However, when the thumb cannot be used, use ECG electrodes.</a:t>
            </a:r>
            <a:endParaRPr lang="en-US" altLang="ko-KR" sz="1000" dirty="0">
              <a:ea typeface="맑은 고딕"/>
            </a:endParaRPr>
          </a:p>
        </p:txBody>
      </p:sp>
      <p:sp>
        <p:nvSpPr>
          <p:cNvPr id="3" name="TextBox 2"/>
          <p:cNvSpPr txBox="1"/>
          <p:nvPr/>
        </p:nvSpPr>
        <p:spPr>
          <a:xfrm>
            <a:off x="390782" y="745472"/>
            <a:ext cx="5325497" cy="584775"/>
          </a:xfrm>
          <a:prstGeom prst="rect">
            <a:avLst/>
          </a:prstGeom>
          <a:noFill/>
        </p:spPr>
        <p:txBody>
          <a:bodyPr wrap="none" rtlCol="0">
            <a:spAutoFit/>
          </a:bodyPr>
          <a:lstStyle/>
          <a:p>
            <a:pPr>
              <a:lnSpc>
                <a:spcPct val="150000"/>
              </a:lnSpc>
            </a:pPr>
            <a:r>
              <a:rPr lang="en-US" altLang="ko-KR" sz="1400" b="1">
                <a:latin typeface="Arial" pitchFamily="34" charset="0"/>
                <a:cs typeface="Arial" pitchFamily="34" charset="0"/>
              </a:rPr>
              <a:t>Check factors affecting measurement in an ICU environment</a:t>
            </a:r>
          </a:p>
          <a:p>
            <a:pPr>
              <a:buFont typeface="Wingdings"/>
              <a:buChar char="à"/>
            </a:pPr>
            <a:r>
              <a:rPr lang="en-US" altLang="ko-KR" sz="1100" b="1">
                <a:latin typeface="Arial" pitchFamily="34" charset="0"/>
                <a:cs typeface="Arial" pitchFamily="34" charset="0"/>
                <a:sym typeface="Wingdings" pitchFamily="2" charset="2"/>
              </a:rPr>
              <a:t> How to check Junk data</a:t>
            </a:r>
            <a:endParaRPr lang="en-US" altLang="ko-KR" sz="1100" b="1" dirty="0">
              <a:latin typeface="Arial" pitchFamily="34" charset="0"/>
              <a:cs typeface="Arial" pitchFamily="34" charset="0"/>
              <a:sym typeface="Wingdings" pitchFamily="2" charset="2"/>
            </a:endParaRPr>
          </a:p>
        </p:txBody>
      </p:sp>
      <p:sp>
        <p:nvSpPr>
          <p:cNvPr id="4" name="바닥글 개체 틀 3"/>
          <p:cNvSpPr>
            <a:spLocks noGrp="1"/>
          </p:cNvSpPr>
          <p:nvPr>
            <p:ph type="ftr" sz="quarter" idx="11"/>
          </p:nvPr>
        </p:nvSpPr>
        <p:spPr/>
        <p:txBody>
          <a:bodyPr/>
          <a:lstStyle/>
          <a:p>
            <a:r>
              <a:rPr lang="en-US" altLang="ko-KR" sz="800"/>
              <a:t>InBody Co., Ltd.</a:t>
            </a:r>
            <a:endParaRPr lang="ko-KR" altLang="en-US" sz="800" dirty="0"/>
          </a:p>
        </p:txBody>
      </p:sp>
      <p:sp>
        <p:nvSpPr>
          <p:cNvPr id="5" name="날짜 개체 틀 4"/>
          <p:cNvSpPr>
            <a:spLocks noGrp="1"/>
          </p:cNvSpPr>
          <p:nvPr>
            <p:ph type="dt" sz="half" idx="10"/>
          </p:nvPr>
        </p:nvSpPr>
        <p:spPr/>
        <p:txBody>
          <a:bodyPr/>
          <a:lstStyle/>
          <a:p>
            <a:r>
              <a:rPr lang="en-US" altLang="ko-KR" sz="800"/>
              <a:t>IB-202-001  </a:t>
            </a:r>
            <a:endParaRPr lang="ko-KR" altLang="en-US" sz="800" dirty="0"/>
          </a:p>
        </p:txBody>
      </p:sp>
      <p:sp>
        <p:nvSpPr>
          <p:cNvPr id="6" name="슬라이드 번호 개체 틀 5"/>
          <p:cNvSpPr>
            <a:spLocks noGrp="1"/>
          </p:cNvSpPr>
          <p:nvPr>
            <p:ph type="sldNum" sz="quarter" idx="12"/>
          </p:nvPr>
        </p:nvSpPr>
        <p:spPr/>
        <p:txBody>
          <a:bodyPr/>
          <a:lstStyle/>
          <a:p>
            <a:r>
              <a:rPr lang="en-US" altLang="ko-KR" sz="800"/>
              <a:t>Rev:0</a:t>
            </a:r>
            <a:endParaRPr lang="ko-KR" altLang="en-US" sz="800" dirty="0"/>
          </a:p>
        </p:txBody>
      </p:sp>
    </p:spTree>
    <p:extLst>
      <p:ext uri="{BB962C8B-B14F-4D97-AF65-F5344CB8AC3E}">
        <p14:creationId xmlns:p14="http://schemas.microsoft.com/office/powerpoint/2010/main" val="2430637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050" name="Picture 2" descr="G:\★ 바탕화면_백업\13. InBodyS10_자료모음\2015 필드사진_151207\S10 장비 정리_전극.jpg"/>
          <p:cNvPicPr>
            <a:picLocks noChangeAspect="1" noChangeArrowheads="1"/>
          </p:cNvPicPr>
          <p:nvPr/>
        </p:nvPicPr>
        <p:blipFill>
          <a:blip r:embed="rId2" cstate="print"/>
          <a:srcRect/>
          <a:stretch>
            <a:fillRect/>
          </a:stretch>
        </p:blipFill>
        <p:spPr bwMode="auto">
          <a:xfrm rot="5400000">
            <a:off x="225130" y="2012640"/>
            <a:ext cx="2400000" cy="1800000"/>
          </a:xfrm>
          <a:prstGeom prst="rect">
            <a:avLst/>
          </a:prstGeom>
          <a:noFill/>
        </p:spPr>
      </p:pic>
      <p:pic>
        <p:nvPicPr>
          <p:cNvPr id="2052" name="Picture 4" descr="G:\★ 바탕화면_백업\13. InBodyS10_자료모음\2015 필드사진_151207\S10 장비 정리_전극3.jpg"/>
          <p:cNvPicPr>
            <a:picLocks noChangeAspect="1" noChangeArrowheads="1"/>
          </p:cNvPicPr>
          <p:nvPr/>
        </p:nvPicPr>
        <p:blipFill>
          <a:blip r:embed="rId3" cstate="print"/>
          <a:srcRect l="9001" r="6990" b="3989"/>
          <a:stretch>
            <a:fillRect/>
          </a:stretch>
        </p:blipFill>
        <p:spPr bwMode="auto">
          <a:xfrm>
            <a:off x="524930" y="4365061"/>
            <a:ext cx="2016224" cy="1728192"/>
          </a:xfrm>
          <a:prstGeom prst="rect">
            <a:avLst/>
          </a:prstGeom>
          <a:noFill/>
        </p:spPr>
      </p:pic>
      <p:pic>
        <p:nvPicPr>
          <p:cNvPr id="2053" name="Picture 5" descr="G:\★ 바탕화면_백업\13. InBodyS10_자료모음\2015 필드사진_151207\S10 장비 정리_카트.jpg"/>
          <p:cNvPicPr>
            <a:picLocks noChangeAspect="1" noChangeArrowheads="1"/>
          </p:cNvPicPr>
          <p:nvPr/>
        </p:nvPicPr>
        <p:blipFill>
          <a:blip r:embed="rId4" cstate="print"/>
          <a:srcRect l="1176" t="7451" r="-8235" b="15686"/>
          <a:stretch>
            <a:fillRect/>
          </a:stretch>
        </p:blipFill>
        <p:spPr bwMode="auto">
          <a:xfrm rot="5400000">
            <a:off x="1484784" y="3224808"/>
            <a:ext cx="6552728" cy="3528392"/>
          </a:xfrm>
          <a:prstGeom prst="rect">
            <a:avLst/>
          </a:prstGeom>
          <a:noFill/>
        </p:spPr>
      </p:pic>
      <p:sp>
        <p:nvSpPr>
          <p:cNvPr id="8" name="타원 7"/>
          <p:cNvSpPr/>
          <p:nvPr/>
        </p:nvSpPr>
        <p:spPr>
          <a:xfrm>
            <a:off x="2852936" y="2097946"/>
            <a:ext cx="1368152" cy="211122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타원 8"/>
          <p:cNvSpPr/>
          <p:nvPr/>
        </p:nvSpPr>
        <p:spPr>
          <a:xfrm>
            <a:off x="3417125" y="4376936"/>
            <a:ext cx="2664296" cy="201622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오른쪽 화살표 9"/>
          <p:cNvSpPr/>
          <p:nvPr/>
        </p:nvSpPr>
        <p:spPr>
          <a:xfrm rot="10800000">
            <a:off x="2337006" y="2996909"/>
            <a:ext cx="504056" cy="36004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오른쪽 화살표 10"/>
          <p:cNvSpPr/>
          <p:nvPr/>
        </p:nvSpPr>
        <p:spPr>
          <a:xfrm rot="10800000">
            <a:off x="2624279" y="5241032"/>
            <a:ext cx="792088" cy="36004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026" name="Picture 2" descr="C:\Users\하은진\Documents\카카오톡 받은 파일\InBodyS10 배터리 연결사진.jpg"/>
          <p:cNvPicPr>
            <a:picLocks noChangeAspect="1" noChangeArrowheads="1"/>
          </p:cNvPicPr>
          <p:nvPr/>
        </p:nvPicPr>
        <p:blipFill>
          <a:blip r:embed="rId5" cstate="print"/>
          <a:srcRect t="3989" r="989"/>
          <a:stretch>
            <a:fillRect/>
          </a:stretch>
        </p:blipFill>
        <p:spPr bwMode="auto">
          <a:xfrm rot="5400000">
            <a:off x="170638" y="6711069"/>
            <a:ext cx="2772308" cy="2016224"/>
          </a:xfrm>
          <a:prstGeom prst="rect">
            <a:avLst/>
          </a:prstGeom>
          <a:noFill/>
        </p:spPr>
      </p:pic>
      <p:sp>
        <p:nvSpPr>
          <p:cNvPr id="12" name="타원 11"/>
          <p:cNvSpPr/>
          <p:nvPr/>
        </p:nvSpPr>
        <p:spPr>
          <a:xfrm>
            <a:off x="1028986" y="8265368"/>
            <a:ext cx="1008112" cy="93610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오른쪽 화살표 12"/>
          <p:cNvSpPr/>
          <p:nvPr/>
        </p:nvSpPr>
        <p:spPr>
          <a:xfrm>
            <a:off x="2048973" y="8528892"/>
            <a:ext cx="648072" cy="36004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p:cNvSpPr txBox="1"/>
          <p:nvPr/>
        </p:nvSpPr>
        <p:spPr>
          <a:xfrm>
            <a:off x="4005064" y="2084322"/>
            <a:ext cx="2792804" cy="1092607"/>
          </a:xfrm>
          <a:prstGeom prst="rect">
            <a:avLst/>
          </a:prstGeom>
          <a:noFill/>
        </p:spPr>
        <p:txBody>
          <a:bodyPr wrap="square" rtlCol="0">
            <a:spAutoFit/>
          </a:bodyPr>
          <a:lstStyle/>
          <a:p>
            <a:r>
              <a:rPr lang="en-US" altLang="ko-KR" sz="1300" b="1">
                <a:solidFill>
                  <a:schemeClr val="bg1"/>
                </a:solidFill>
              </a:rPr>
              <a:t>Make sure the cables are not twisted each other, Hang hand electrodes inside, and put foot to the outside so that the electrodes do not fall. </a:t>
            </a:r>
            <a:endParaRPr lang="ko-KR" altLang="en-US" sz="1300" b="1" dirty="0">
              <a:solidFill>
                <a:schemeClr val="bg1"/>
              </a:solidFill>
            </a:endParaRPr>
          </a:p>
        </p:txBody>
      </p:sp>
      <p:sp>
        <p:nvSpPr>
          <p:cNvPr id="15" name="TextBox 14"/>
          <p:cNvSpPr txBox="1"/>
          <p:nvPr/>
        </p:nvSpPr>
        <p:spPr>
          <a:xfrm>
            <a:off x="3212976" y="6613770"/>
            <a:ext cx="3672408" cy="492443"/>
          </a:xfrm>
          <a:prstGeom prst="rect">
            <a:avLst/>
          </a:prstGeom>
          <a:noFill/>
        </p:spPr>
        <p:txBody>
          <a:bodyPr wrap="square" rtlCol="0">
            <a:spAutoFit/>
          </a:bodyPr>
          <a:lstStyle/>
          <a:p>
            <a:r>
              <a:rPr lang="en-US" altLang="ko-KR" sz="1300" b="1">
                <a:solidFill>
                  <a:schemeClr val="bg1"/>
                </a:solidFill>
              </a:rPr>
              <a:t>In the basket, you may put </a:t>
            </a:r>
            <a:br>
              <a:rPr lang="en-US" altLang="ko-KR" sz="1300" b="1">
                <a:solidFill>
                  <a:schemeClr val="bg1"/>
                </a:solidFill>
              </a:rPr>
            </a:br>
            <a:r>
              <a:rPr lang="en-US" altLang="ko-KR" sz="1300" b="1">
                <a:solidFill>
                  <a:schemeClr val="bg1"/>
                </a:solidFill>
              </a:rPr>
              <a:t>S10 manual, InBody tissues and USB. </a:t>
            </a:r>
            <a:endParaRPr lang="ko-KR" altLang="en-US" sz="1300" b="1" dirty="0">
              <a:solidFill>
                <a:schemeClr val="bg1"/>
              </a:solidFill>
            </a:endParaRPr>
          </a:p>
        </p:txBody>
      </p:sp>
      <p:sp>
        <p:nvSpPr>
          <p:cNvPr id="16" name="TextBox 15"/>
          <p:cNvSpPr txBox="1"/>
          <p:nvPr/>
        </p:nvSpPr>
        <p:spPr>
          <a:xfrm>
            <a:off x="2924944" y="8244026"/>
            <a:ext cx="3744416" cy="669414"/>
          </a:xfrm>
          <a:prstGeom prst="rect">
            <a:avLst/>
          </a:prstGeom>
          <a:noFill/>
        </p:spPr>
        <p:txBody>
          <a:bodyPr wrap="square" rtlCol="0">
            <a:spAutoFit/>
          </a:bodyPr>
          <a:lstStyle/>
          <a:p>
            <a:pPr algn="just"/>
            <a:r>
              <a:rPr lang="en-US" altLang="ko-KR" sz="1250" b="1">
                <a:solidFill>
                  <a:srgbClr val="FF0000"/>
                </a:solidFill>
              </a:rPr>
              <a:t>Battery pack can be placed in the backside asket, and please charge all the time even during the device is not being used. </a:t>
            </a:r>
            <a:endParaRPr lang="ko-KR" altLang="en-US" sz="1250" b="1" dirty="0">
              <a:solidFill>
                <a:srgbClr val="FF0000"/>
              </a:solidFill>
            </a:endParaRPr>
          </a:p>
        </p:txBody>
      </p:sp>
      <p:sp>
        <p:nvSpPr>
          <p:cNvPr id="18" name="TextBox 17"/>
          <p:cNvSpPr txBox="1"/>
          <p:nvPr/>
        </p:nvSpPr>
        <p:spPr>
          <a:xfrm>
            <a:off x="390782" y="639367"/>
            <a:ext cx="6134562" cy="754053"/>
          </a:xfrm>
          <a:prstGeom prst="rect">
            <a:avLst/>
          </a:prstGeom>
          <a:noFill/>
        </p:spPr>
        <p:txBody>
          <a:bodyPr wrap="square" rtlCol="0">
            <a:spAutoFit/>
          </a:bodyPr>
          <a:lstStyle/>
          <a:p>
            <a:pPr>
              <a:lnSpc>
                <a:spcPct val="150000"/>
              </a:lnSpc>
            </a:pPr>
            <a:r>
              <a:rPr lang="en-US" altLang="ko-KR" sz="1400" b="1">
                <a:latin typeface="+mn-ea"/>
                <a:cs typeface="Arial" pitchFamily="34" charset="0"/>
              </a:rPr>
              <a:t>How to clean up InBodyS10</a:t>
            </a:r>
          </a:p>
          <a:p>
            <a:pPr>
              <a:buFont typeface="Wingdings"/>
              <a:buChar char="à"/>
            </a:pPr>
            <a:r>
              <a:rPr lang="en-US" altLang="ko-KR" sz="1100" b="1">
                <a:latin typeface="+mn-ea"/>
                <a:cs typeface="Arial" pitchFamily="34" charset="0"/>
                <a:sym typeface="Wingdings" pitchFamily="2" charset="2"/>
              </a:rPr>
              <a:t> After use, hand and foot electrode should be arranged separately that the cables are not twisted each other. </a:t>
            </a:r>
            <a:endParaRPr lang="en-US" altLang="ko-KR" sz="1100" b="1" dirty="0">
              <a:latin typeface="+mn-ea"/>
              <a:cs typeface="Arial" pitchFamily="34" charset="0"/>
              <a:sym typeface="Wingdings" pitchFamily="2" charset="2"/>
            </a:endParaRPr>
          </a:p>
        </p:txBody>
      </p:sp>
      <p:sp>
        <p:nvSpPr>
          <p:cNvPr id="2" name="바닥글 개체 틀 1"/>
          <p:cNvSpPr>
            <a:spLocks noGrp="1"/>
          </p:cNvSpPr>
          <p:nvPr>
            <p:ph type="ftr" sz="quarter" idx="11"/>
          </p:nvPr>
        </p:nvSpPr>
        <p:spPr/>
        <p:txBody>
          <a:bodyPr/>
          <a:lstStyle/>
          <a:p>
            <a:r>
              <a:rPr lang="en-US" altLang="ko-KR"/>
              <a:t>InBody Co., Ltd.</a:t>
            </a:r>
            <a:endParaRPr lang="ko-KR" altLang="en-US" dirty="0"/>
          </a:p>
        </p:txBody>
      </p:sp>
      <p:sp>
        <p:nvSpPr>
          <p:cNvPr id="3" name="날짜 개체 틀 2"/>
          <p:cNvSpPr>
            <a:spLocks noGrp="1"/>
          </p:cNvSpPr>
          <p:nvPr>
            <p:ph type="dt" sz="half" idx="10"/>
          </p:nvPr>
        </p:nvSpPr>
        <p:spPr/>
        <p:txBody>
          <a:bodyPr/>
          <a:lstStyle/>
          <a:p>
            <a:r>
              <a:rPr lang="en-US" altLang="ko-KR"/>
              <a:t>IB-202-001  </a:t>
            </a:r>
            <a:endParaRPr lang="ko-KR" altLang="en-US" dirty="0"/>
          </a:p>
        </p:txBody>
      </p:sp>
      <p:sp>
        <p:nvSpPr>
          <p:cNvPr id="4" name="슬라이드 번호 개체 틀 3"/>
          <p:cNvSpPr>
            <a:spLocks noGrp="1"/>
          </p:cNvSpPr>
          <p:nvPr>
            <p:ph type="sldNum" sz="quarter" idx="12"/>
          </p:nvPr>
        </p:nvSpPr>
        <p:spPr/>
        <p:txBody>
          <a:bodyPr/>
          <a:lstStyle/>
          <a:p>
            <a:r>
              <a:rPr lang="en-US" altLang="ko-KR"/>
              <a:t>Rev:0</a:t>
            </a:r>
            <a:endParaRPr lang="ko-KR" altLang="en-US" dirty="0"/>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2353e188-a583-4201-bde9-15d2e9fe9bb6" xsi:nil="true"/>
    <lcf76f155ced4ddcb4097134ff3c332f xmlns="e2990d1b-5485-460b-b411-a9cff0662b5f">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B8A7AC829B14941AF36CC2500620CCB" ma:contentTypeVersion="17" ma:contentTypeDescription="Create a new document." ma:contentTypeScope="" ma:versionID="9283c38b30555ad77a52fe9b2f187c60">
  <xsd:schema xmlns:xsd="http://www.w3.org/2001/XMLSchema" xmlns:xs="http://www.w3.org/2001/XMLSchema" xmlns:p="http://schemas.microsoft.com/office/2006/metadata/properties" xmlns:ns2="e2990d1b-5485-460b-b411-a9cff0662b5f" xmlns:ns3="2353e188-a583-4201-bde9-15d2e9fe9bb6" targetNamespace="http://schemas.microsoft.com/office/2006/metadata/properties" ma:root="true" ma:fieldsID="bce22b3c92da021dfd3f35f1dcd137f8" ns2:_="" ns3:_="">
    <xsd:import namespace="e2990d1b-5485-460b-b411-a9cff0662b5f"/>
    <xsd:import namespace="2353e188-a583-4201-bde9-15d2e9fe9bb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3:SharedWithUsers" minOccurs="0"/>
                <xsd:element ref="ns3:SharedWithDetails" minOccurs="0"/>
                <xsd:element ref="ns2:MediaServiceEventHashCode" minOccurs="0"/>
                <xsd:element ref="ns2:MediaServiceGenerationTime"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990d1b-5485-460b-b411-a9cff0662b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960cd5b6-3b1c-402d-b522-48f7955ea32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353e188-a583-4201-bde9-15d2e9fe9bb6"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3" nillable="true" ma:displayName="분류 통합 열" ma:hidden="true" ma:list="{fc2d177b-534d-4276-beaf-90a7b9511ab0}" ma:internalName="TaxCatchAll" ma:showField="CatchAllData" ma:web="2353e188-a583-4201-bde9-15d2e9fe9bb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5258D19-B6AC-402F-8554-30D57DA88D57}">
  <ds:schemaRefs>
    <ds:schemaRef ds:uri="http://schemas.microsoft.com/office/2006/metadata/properties"/>
    <ds:schemaRef ds:uri="http://schemas.microsoft.com/office/infopath/2007/PartnerControls"/>
    <ds:schemaRef ds:uri="2353e188-a583-4201-bde9-15d2e9fe9bb6"/>
    <ds:schemaRef ds:uri="e2990d1b-5485-460b-b411-a9cff0662b5f"/>
  </ds:schemaRefs>
</ds:datastoreItem>
</file>

<file path=customXml/itemProps2.xml><?xml version="1.0" encoding="utf-8"?>
<ds:datastoreItem xmlns:ds="http://schemas.openxmlformats.org/officeDocument/2006/customXml" ds:itemID="{74224038-0F8F-4DBE-B7E6-148D10BF997B}">
  <ds:schemaRefs>
    <ds:schemaRef ds:uri="http://schemas.microsoft.com/sharepoint/v3/contenttype/forms"/>
  </ds:schemaRefs>
</ds:datastoreItem>
</file>

<file path=customXml/itemProps3.xml><?xml version="1.0" encoding="utf-8"?>
<ds:datastoreItem xmlns:ds="http://schemas.openxmlformats.org/officeDocument/2006/customXml" ds:itemID="{58620EFE-0FC3-4787-9752-2936EBAAEF2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2990d1b-5485-460b-b411-a9cff0662b5f"/>
    <ds:schemaRef ds:uri="2353e188-a583-4201-bde9-15d2e9fe9bb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5175</TotalTime>
  <Words>2249</Words>
  <Application>Microsoft Office PowerPoint</Application>
  <PresentationFormat>A4 Paper (210x297 mm)</PresentationFormat>
  <Paragraphs>532</Paragraphs>
  <Slides>11</Slides>
  <Notes>3</Notes>
  <HiddenSlides>1</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테마</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슬라이드 1</dc:title>
  <dc:creator>ej.kang</dc:creator>
  <cp:lastModifiedBy>강 은진</cp:lastModifiedBy>
  <cp:revision>468</cp:revision>
  <cp:lastPrinted>2018-11-05T06:53:52Z</cp:lastPrinted>
  <dcterms:created xsi:type="dcterms:W3CDTF">2012-10-11T01:26:17Z</dcterms:created>
  <dcterms:modified xsi:type="dcterms:W3CDTF">2025-08-07T06:56:06Z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0x010100AB8A7AC829B14941AF36CC2500620CCB</vt:lpwstr>
  </property>
</Properties>
</file>