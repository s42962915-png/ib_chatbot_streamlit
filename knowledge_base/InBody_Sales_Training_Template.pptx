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ink/ink1.xml" ContentType="application/inkml+xml"/>
  <Override PartName="/ppt/media/image117.svg" ContentType="image/svg+xml"/>
  <Override PartName="/ppt/media/image118.tmp" ContentType="image/png"/>
  <Override PartName="/ppt/media/image119.tmp" ContentType="image/png"/>
  <Override PartName="/ppt/media/image120.tmp" ContentType="image/png"/>
  <Override PartName="/ppt/media/image1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8"/>
  </p:notesMasterIdLst>
  <p:sldIdLst>
    <p:sldId id="256" r:id="rId5"/>
    <p:sldId id="782" r:id="rId134"/>
    <p:sldId id="783" r:id="rId135"/>
    <p:sldId id="295" r:id="rId6"/>
    <p:sldId id="296" r:id="rId7"/>
    <p:sldId id="297" r:id="rId8"/>
    <p:sldId id="298" r:id="rId9"/>
    <p:sldId id="299" r:id="rId10"/>
    <p:sldId id="300" r:id="rId11"/>
    <p:sldId id="310" r:id="rId12"/>
    <p:sldId id="317" r:id="rId13"/>
    <p:sldId id="321" r:id="rId14"/>
    <p:sldId id="784" r:id="rId136"/>
    <p:sldId id="763" r:id="rId16"/>
    <p:sldId id="493" r:id="rId17"/>
    <p:sldId id="753" r:id="rId18"/>
    <p:sldId id="754" r:id="rId19"/>
    <p:sldId id="755" r:id="rId20"/>
    <p:sldId id="756" r:id="rId21"/>
    <p:sldId id="757" r:id="rId22"/>
    <p:sldId id="758" r:id="rId23"/>
    <p:sldId id="759" r:id="rId24"/>
    <p:sldId id="760" r:id="rId25"/>
    <p:sldId id="764" r:id="rId26"/>
    <p:sldId id="785" r:id="rId137"/>
    <p:sldId id="765" r:id="rId27"/>
    <p:sldId id="766" r:id="rId28"/>
    <p:sldId id="366" r:id="rId29"/>
    <p:sldId id="271" r:id="rId30"/>
    <p:sldId id="767" r:id="rId31"/>
    <p:sldId id="768" r:id="rId32"/>
    <p:sldId id="396" r:id="rId33"/>
    <p:sldId id="397" r:id="rId34"/>
    <p:sldId id="402" r:id="rId35"/>
    <p:sldId id="770" r:id="rId36"/>
    <p:sldId id="771" r:id="rId37"/>
    <p:sldId id="772" r:id="rId38"/>
    <p:sldId id="773" r:id="rId39"/>
    <p:sldId id="395" r:id="rId40"/>
    <p:sldId id="421" r:id="rId41"/>
    <p:sldId id="422" r:id="rId42"/>
    <p:sldId id="423" r:id="rId43"/>
    <p:sldId id="424" r:id="rId44"/>
    <p:sldId id="444" r:id="rId45"/>
    <p:sldId id="441" r:id="rId46"/>
    <p:sldId id="442" r:id="rId47"/>
    <p:sldId id="445" r:id="rId48"/>
    <p:sldId id="446" r:id="rId49"/>
    <p:sldId id="447" r:id="rId50"/>
    <p:sldId id="448" r:id="rId51"/>
    <p:sldId id="484" r:id="rId52"/>
    <p:sldId id="485" r:id="rId53"/>
    <p:sldId id="775" r:id="rId55"/>
    <p:sldId id="262" r:id="rId56"/>
    <p:sldId id="687" r:id="rId57"/>
    <p:sldId id="712" r:id="rId58"/>
    <p:sldId id="713" r:id="rId59"/>
    <p:sldId id="359" r:id="rId60"/>
    <p:sldId id="360" r:id="rId61"/>
    <p:sldId id="272" r:id="rId62"/>
    <p:sldId id="368" r:id="rId63"/>
    <p:sldId id="694" r:id="rId64"/>
    <p:sldId id="714" r:id="rId65"/>
    <p:sldId id="695" r:id="rId66"/>
    <p:sldId id="715" r:id="rId67"/>
    <p:sldId id="716" r:id="rId68"/>
    <p:sldId id="776" r:id="rId69"/>
    <p:sldId id="718" r:id="rId70"/>
    <p:sldId id="640" r:id="rId71"/>
    <p:sldId id="261" r:id="rId72"/>
    <p:sldId id="717" r:id="rId73"/>
    <p:sldId id="266" r:id="rId74"/>
    <p:sldId id="276" r:id="rId75"/>
    <p:sldId id="277" r:id="rId76"/>
    <p:sldId id="278" r:id="rId77"/>
    <p:sldId id="279" r:id="rId78"/>
    <p:sldId id="778" r:id="rId79"/>
    <p:sldId id="258" r:id="rId80"/>
    <p:sldId id="259" r:id="rId81"/>
    <p:sldId id="260" r:id="rId82"/>
    <p:sldId id="725" r:id="rId83"/>
    <p:sldId id="726" r:id="rId84"/>
    <p:sldId id="263" r:id="rId85"/>
    <p:sldId id="264" r:id="rId86"/>
    <p:sldId id="727" r:id="rId87"/>
    <p:sldId id="267" r:id="rId88"/>
    <p:sldId id="268" r:id="rId89"/>
    <p:sldId id="269" r:id="rId90"/>
    <p:sldId id="270" r:id="rId91"/>
    <p:sldId id="728" r:id="rId92"/>
    <p:sldId id="273" r:id="rId93"/>
    <p:sldId id="730" r:id="rId94"/>
    <p:sldId id="731" r:id="rId95"/>
    <p:sldId id="732" r:id="rId96"/>
    <p:sldId id="733" r:id="rId97"/>
    <p:sldId id="280" r:id="rId98"/>
    <p:sldId id="282" r:id="rId99"/>
    <p:sldId id="283" r:id="rId100"/>
    <p:sldId id="293" r:id="rId101"/>
    <p:sldId id="779" r:id="rId102"/>
    <p:sldId id="719" r:id="rId103"/>
    <p:sldId id="274" r:id="rId104"/>
    <p:sldId id="720" r:id="rId105"/>
    <p:sldId id="275" r:id="rId106"/>
    <p:sldId id="721" r:id="rId107"/>
    <p:sldId id="722" r:id="rId108"/>
    <p:sldId id="723" r:id="rId109"/>
    <p:sldId id="781" r:id="rId110"/>
    <p:sldId id="257" r:id="rId111"/>
    <p:sldId id="780" r:id="rId112"/>
    <p:sldId id="734" r:id="rId113"/>
    <p:sldId id="736" r:id="rId114"/>
    <p:sldId id="737" r:id="rId115"/>
    <p:sldId id="738" r:id="rId116"/>
    <p:sldId id="739" r:id="rId117"/>
    <p:sldId id="735" r:id="rId118"/>
    <p:sldId id="740" r:id="rId119"/>
    <p:sldId id="741" r:id="rId120"/>
    <p:sldId id="742" r:id="rId121"/>
    <p:sldId id="743" r:id="rId122"/>
    <p:sldId id="744" r:id="rId123"/>
    <p:sldId id="745" r:id="rId124"/>
    <p:sldId id="746" r:id="rId125"/>
    <p:sldId id="747" r:id="rId126"/>
    <p:sldId id="750" r:id="rId1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50" d="100"/>
          <a:sy n="50" d="100"/>
        </p:scale>
        <p:origin x="1934" y="8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notesMaster" Target="notesMasters/notes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heme" Target="theme/theme1.xml"/><Relationship Id="rId132" Type="http://schemas.openxmlformats.org/officeDocument/2006/relationships/tableStyles" Target="tableStyles.xml"/><Relationship Id="rId133" Type="http://schemas.microsoft.com/office/2016/11/relationships/changesInfo" Target="changesInfos/changesInfo1.xml"/><Relationship Id="rId134" Type="http://schemas.openxmlformats.org/officeDocument/2006/relationships/slide" Target="slides/slide124.xml"/><Relationship Id="rId135" Type="http://schemas.openxmlformats.org/officeDocument/2006/relationships/slide" Target="slides/slide125.xml"/><Relationship Id="rId136" Type="http://schemas.openxmlformats.org/officeDocument/2006/relationships/slide" Target="slides/slide126.xml"/><Relationship Id="rId137" Type="http://schemas.openxmlformats.org/officeDocument/2006/relationships/slide" Target="slides/slide1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utika Khedekar" userId="625b3a89-6638-4b33-9eb0-2f683d0f3088" providerId="ADAL" clId="{C9CCAF64-84E7-47C7-B8F2-6387211487A1}"/>
    <pc:docChg chg="undo custSel addSld delSld modSld sldOrd">
      <pc:chgData name="Shrutika Khedekar" userId="625b3a89-6638-4b33-9eb0-2f683d0f3088" providerId="ADAL" clId="{C9CCAF64-84E7-47C7-B8F2-6387211487A1}" dt="2026-09-28T10:34:41.783" v="278" actId="20577"/>
      <pc:docMkLst>
        <pc:docMk/>
      </pc:docMkLst>
      <pc:sldChg chg="addSp modSp">
        <pc:chgData name="Shrutika Khedekar" userId="625b3a89-6638-4b33-9eb0-2f683d0f3088" providerId="ADAL" clId="{C9CCAF64-84E7-47C7-B8F2-6387211487A1}" dt="2026-09-28T10:31:46.824" v="242" actId="1076"/>
        <pc:sldMkLst>
          <pc:docMk/>
          <pc:sldMk cId="0" sldId="257"/>
        </pc:sldMkLst>
        <pc:picChg chg="add mod">
          <ac:chgData name="Shrutika Khedekar" userId="625b3a89-6638-4b33-9eb0-2f683d0f3088" providerId="ADAL" clId="{C9CCAF64-84E7-47C7-B8F2-6387211487A1}" dt="2026-09-28T10:31:46.824" v="242" actId="1076"/>
          <ac:picMkLst>
            <pc:docMk/>
            <pc:sldMk cId="0" sldId="257"/>
            <ac:picMk id="4098" creationId="{CF4D2F03-8FD4-45A8-9A46-E678E45F128E}"/>
          </ac:picMkLst>
        </pc:picChg>
      </pc:sldChg>
      <pc:sldChg chg="del">
        <pc:chgData name="Shrutika Khedekar" userId="625b3a89-6638-4b33-9eb0-2f683d0f3088" providerId="ADAL" clId="{C9CCAF64-84E7-47C7-B8F2-6387211487A1}" dt="2026-09-28T10:20:42.644" v="178" actId="2696"/>
        <pc:sldMkLst>
          <pc:docMk/>
          <pc:sldMk cId="0" sldId="258"/>
        </pc:sldMkLst>
      </pc:sldChg>
      <pc:sldChg chg="add">
        <pc:chgData name="Shrutika Khedekar" userId="625b3a89-6638-4b33-9eb0-2f683d0f3088" providerId="ADAL" clId="{C9CCAF64-84E7-47C7-B8F2-6387211487A1}" dt="2026-09-28T10:21:00.118" v="201"/>
        <pc:sldMkLst>
          <pc:docMk/>
          <pc:sldMk cId="3165708278" sldId="258"/>
        </pc:sldMkLst>
      </pc:sldChg>
      <pc:sldChg chg="del">
        <pc:chgData name="Shrutika Khedekar" userId="625b3a89-6638-4b33-9eb0-2f683d0f3088" providerId="ADAL" clId="{C9CCAF64-84E7-47C7-B8F2-6387211487A1}" dt="2026-09-28T10:20:42.744" v="179" actId="2696"/>
        <pc:sldMkLst>
          <pc:docMk/>
          <pc:sldMk cId="0" sldId="259"/>
        </pc:sldMkLst>
      </pc:sldChg>
      <pc:sldChg chg="add">
        <pc:chgData name="Shrutika Khedekar" userId="625b3a89-6638-4b33-9eb0-2f683d0f3088" providerId="ADAL" clId="{C9CCAF64-84E7-47C7-B8F2-6387211487A1}" dt="2026-09-28T10:21:00.118" v="201"/>
        <pc:sldMkLst>
          <pc:docMk/>
          <pc:sldMk cId="226425618" sldId="259"/>
        </pc:sldMkLst>
      </pc:sldChg>
      <pc:sldChg chg="del">
        <pc:chgData name="Shrutika Khedekar" userId="625b3a89-6638-4b33-9eb0-2f683d0f3088" providerId="ADAL" clId="{C9CCAF64-84E7-47C7-B8F2-6387211487A1}" dt="2026-09-28T10:20:42.835" v="180" actId="2696"/>
        <pc:sldMkLst>
          <pc:docMk/>
          <pc:sldMk cId="0" sldId="260"/>
        </pc:sldMkLst>
      </pc:sldChg>
      <pc:sldChg chg="add">
        <pc:chgData name="Shrutika Khedekar" userId="625b3a89-6638-4b33-9eb0-2f683d0f3088" providerId="ADAL" clId="{C9CCAF64-84E7-47C7-B8F2-6387211487A1}" dt="2026-09-28T10:21:00.118" v="201"/>
        <pc:sldMkLst>
          <pc:docMk/>
          <pc:sldMk cId="3794746793" sldId="260"/>
        </pc:sldMkLst>
      </pc:sldChg>
      <pc:sldChg chg="del">
        <pc:chgData name="Shrutika Khedekar" userId="625b3a89-6638-4b33-9eb0-2f683d0f3088" providerId="ADAL" clId="{C9CCAF64-84E7-47C7-B8F2-6387211487A1}" dt="2026-09-28T10:20:43.311" v="183" actId="2696"/>
        <pc:sldMkLst>
          <pc:docMk/>
          <pc:sldMk cId="0" sldId="263"/>
        </pc:sldMkLst>
      </pc:sldChg>
      <pc:sldChg chg="add">
        <pc:chgData name="Shrutika Khedekar" userId="625b3a89-6638-4b33-9eb0-2f683d0f3088" providerId="ADAL" clId="{C9CCAF64-84E7-47C7-B8F2-6387211487A1}" dt="2026-09-28T10:21:00.118" v="201"/>
        <pc:sldMkLst>
          <pc:docMk/>
          <pc:sldMk cId="925477097" sldId="263"/>
        </pc:sldMkLst>
      </pc:sldChg>
      <pc:sldChg chg="del">
        <pc:chgData name="Shrutika Khedekar" userId="625b3a89-6638-4b33-9eb0-2f683d0f3088" providerId="ADAL" clId="{C9CCAF64-84E7-47C7-B8F2-6387211487A1}" dt="2026-09-28T10:20:43.421" v="184" actId="2696"/>
        <pc:sldMkLst>
          <pc:docMk/>
          <pc:sldMk cId="0" sldId="264"/>
        </pc:sldMkLst>
      </pc:sldChg>
      <pc:sldChg chg="add">
        <pc:chgData name="Shrutika Khedekar" userId="625b3a89-6638-4b33-9eb0-2f683d0f3088" providerId="ADAL" clId="{C9CCAF64-84E7-47C7-B8F2-6387211487A1}" dt="2026-09-28T10:21:00.118" v="201"/>
        <pc:sldMkLst>
          <pc:docMk/>
          <pc:sldMk cId="3476467369" sldId="264"/>
        </pc:sldMkLst>
      </pc:sldChg>
      <pc:sldChg chg="del">
        <pc:chgData name="Shrutika Khedekar" userId="625b3a89-6638-4b33-9eb0-2f683d0f3088" providerId="ADAL" clId="{C9CCAF64-84E7-47C7-B8F2-6387211487A1}" dt="2026-09-28T10:18:44.804" v="176" actId="2696"/>
        <pc:sldMkLst>
          <pc:docMk/>
          <pc:sldMk cId="0" sldId="265"/>
        </pc:sldMkLst>
      </pc:sldChg>
      <pc:sldChg chg="del">
        <pc:chgData name="Shrutika Khedekar" userId="625b3a89-6638-4b33-9eb0-2f683d0f3088" providerId="ADAL" clId="{C9CCAF64-84E7-47C7-B8F2-6387211487A1}" dt="2026-09-28T10:20:43.613" v="186" actId="2696"/>
        <pc:sldMkLst>
          <pc:docMk/>
          <pc:sldMk cId="0" sldId="267"/>
        </pc:sldMkLst>
      </pc:sldChg>
      <pc:sldChg chg="add">
        <pc:chgData name="Shrutika Khedekar" userId="625b3a89-6638-4b33-9eb0-2f683d0f3088" providerId="ADAL" clId="{C9CCAF64-84E7-47C7-B8F2-6387211487A1}" dt="2026-09-28T10:21:00.118" v="201"/>
        <pc:sldMkLst>
          <pc:docMk/>
          <pc:sldMk cId="2293163615" sldId="267"/>
        </pc:sldMkLst>
      </pc:sldChg>
      <pc:sldChg chg="del">
        <pc:chgData name="Shrutika Khedekar" userId="625b3a89-6638-4b33-9eb0-2f683d0f3088" providerId="ADAL" clId="{C9CCAF64-84E7-47C7-B8F2-6387211487A1}" dt="2026-09-28T10:20:43.677" v="187" actId="2696"/>
        <pc:sldMkLst>
          <pc:docMk/>
          <pc:sldMk cId="0" sldId="268"/>
        </pc:sldMkLst>
      </pc:sldChg>
      <pc:sldChg chg="add">
        <pc:chgData name="Shrutika Khedekar" userId="625b3a89-6638-4b33-9eb0-2f683d0f3088" providerId="ADAL" clId="{C9CCAF64-84E7-47C7-B8F2-6387211487A1}" dt="2026-09-28T10:21:00.118" v="201"/>
        <pc:sldMkLst>
          <pc:docMk/>
          <pc:sldMk cId="1956564848" sldId="268"/>
        </pc:sldMkLst>
      </pc:sldChg>
      <pc:sldChg chg="del">
        <pc:chgData name="Shrutika Khedekar" userId="625b3a89-6638-4b33-9eb0-2f683d0f3088" providerId="ADAL" clId="{C9CCAF64-84E7-47C7-B8F2-6387211487A1}" dt="2026-09-28T10:20:43.808" v="188" actId="2696"/>
        <pc:sldMkLst>
          <pc:docMk/>
          <pc:sldMk cId="0" sldId="269"/>
        </pc:sldMkLst>
      </pc:sldChg>
      <pc:sldChg chg="add">
        <pc:chgData name="Shrutika Khedekar" userId="625b3a89-6638-4b33-9eb0-2f683d0f3088" providerId="ADAL" clId="{C9CCAF64-84E7-47C7-B8F2-6387211487A1}" dt="2026-09-28T10:21:00.118" v="201"/>
        <pc:sldMkLst>
          <pc:docMk/>
          <pc:sldMk cId="3280688342" sldId="269"/>
        </pc:sldMkLst>
      </pc:sldChg>
      <pc:sldChg chg="del">
        <pc:chgData name="Shrutika Khedekar" userId="625b3a89-6638-4b33-9eb0-2f683d0f3088" providerId="ADAL" clId="{C9CCAF64-84E7-47C7-B8F2-6387211487A1}" dt="2026-09-28T10:20:43.992" v="189" actId="2696"/>
        <pc:sldMkLst>
          <pc:docMk/>
          <pc:sldMk cId="0" sldId="270"/>
        </pc:sldMkLst>
      </pc:sldChg>
      <pc:sldChg chg="add">
        <pc:chgData name="Shrutika Khedekar" userId="625b3a89-6638-4b33-9eb0-2f683d0f3088" providerId="ADAL" clId="{C9CCAF64-84E7-47C7-B8F2-6387211487A1}" dt="2026-09-28T10:21:00.118" v="201"/>
        <pc:sldMkLst>
          <pc:docMk/>
          <pc:sldMk cId="1713252751" sldId="270"/>
        </pc:sldMkLst>
      </pc:sldChg>
      <pc:sldChg chg="add modTransition">
        <pc:chgData name="Shrutika Khedekar" userId="625b3a89-6638-4b33-9eb0-2f683d0f3088" providerId="ADAL" clId="{C9CCAF64-84E7-47C7-B8F2-6387211487A1}" dt="2026-09-28T10:07:32.038" v="39"/>
        <pc:sldMkLst>
          <pc:docMk/>
          <pc:sldMk cId="0" sldId="271"/>
        </pc:sldMkLst>
      </pc:sldChg>
      <pc:sldChg chg="del">
        <pc:chgData name="Shrutika Khedekar" userId="625b3a89-6638-4b33-9eb0-2f683d0f3088" providerId="ADAL" clId="{C9CCAF64-84E7-47C7-B8F2-6387211487A1}" dt="2026-09-28T10:20:44.191" v="191" actId="2696"/>
        <pc:sldMkLst>
          <pc:docMk/>
          <pc:sldMk cId="0" sldId="273"/>
        </pc:sldMkLst>
      </pc:sldChg>
      <pc:sldChg chg="add">
        <pc:chgData name="Shrutika Khedekar" userId="625b3a89-6638-4b33-9eb0-2f683d0f3088" providerId="ADAL" clId="{C9CCAF64-84E7-47C7-B8F2-6387211487A1}" dt="2026-09-28T10:21:00.118" v="201"/>
        <pc:sldMkLst>
          <pc:docMk/>
          <pc:sldMk cId="3788937393" sldId="273"/>
        </pc:sldMkLst>
      </pc:sldChg>
      <pc:sldChg chg="del">
        <pc:chgData name="Shrutika Khedekar" userId="625b3a89-6638-4b33-9eb0-2f683d0f3088" providerId="ADAL" clId="{C9CCAF64-84E7-47C7-B8F2-6387211487A1}" dt="2026-09-28T10:20:44.665" v="196" actId="2696"/>
        <pc:sldMkLst>
          <pc:docMk/>
          <pc:sldMk cId="0" sldId="280"/>
        </pc:sldMkLst>
      </pc:sldChg>
      <pc:sldChg chg="add">
        <pc:chgData name="Shrutika Khedekar" userId="625b3a89-6638-4b33-9eb0-2f683d0f3088" providerId="ADAL" clId="{C9CCAF64-84E7-47C7-B8F2-6387211487A1}" dt="2026-09-28T10:21:00.118" v="201"/>
        <pc:sldMkLst>
          <pc:docMk/>
          <pc:sldMk cId="3824732008" sldId="280"/>
        </pc:sldMkLst>
      </pc:sldChg>
      <pc:sldChg chg="del">
        <pc:chgData name="Shrutika Khedekar" userId="625b3a89-6638-4b33-9eb0-2f683d0f3088" providerId="ADAL" clId="{C9CCAF64-84E7-47C7-B8F2-6387211487A1}" dt="2026-09-28T10:20:44.797" v="197" actId="2696"/>
        <pc:sldMkLst>
          <pc:docMk/>
          <pc:sldMk cId="0" sldId="282"/>
        </pc:sldMkLst>
      </pc:sldChg>
      <pc:sldChg chg="add">
        <pc:chgData name="Shrutika Khedekar" userId="625b3a89-6638-4b33-9eb0-2f683d0f3088" providerId="ADAL" clId="{C9CCAF64-84E7-47C7-B8F2-6387211487A1}" dt="2026-09-28T10:21:00.118" v="201"/>
        <pc:sldMkLst>
          <pc:docMk/>
          <pc:sldMk cId="1941964764" sldId="282"/>
        </pc:sldMkLst>
      </pc:sldChg>
      <pc:sldChg chg="del">
        <pc:chgData name="Shrutika Khedekar" userId="625b3a89-6638-4b33-9eb0-2f683d0f3088" providerId="ADAL" clId="{C9CCAF64-84E7-47C7-B8F2-6387211487A1}" dt="2026-09-28T10:20:44.890" v="198" actId="2696"/>
        <pc:sldMkLst>
          <pc:docMk/>
          <pc:sldMk cId="0" sldId="283"/>
        </pc:sldMkLst>
      </pc:sldChg>
      <pc:sldChg chg="add">
        <pc:chgData name="Shrutika Khedekar" userId="625b3a89-6638-4b33-9eb0-2f683d0f3088" providerId="ADAL" clId="{C9CCAF64-84E7-47C7-B8F2-6387211487A1}" dt="2026-09-28T10:21:00.118" v="201"/>
        <pc:sldMkLst>
          <pc:docMk/>
          <pc:sldMk cId="4166412391" sldId="283"/>
        </pc:sldMkLst>
      </pc:sldChg>
      <pc:sldChg chg="del">
        <pc:chgData name="Shrutika Khedekar" userId="625b3a89-6638-4b33-9eb0-2f683d0f3088" providerId="ADAL" clId="{C9CCAF64-84E7-47C7-B8F2-6387211487A1}" dt="2026-09-28T10:20:44.973" v="199" actId="2696"/>
        <pc:sldMkLst>
          <pc:docMk/>
          <pc:sldMk cId="0" sldId="292"/>
        </pc:sldMkLst>
      </pc:sldChg>
      <pc:sldChg chg="modSp add del">
        <pc:chgData name="Shrutika Khedekar" userId="625b3a89-6638-4b33-9eb0-2f683d0f3088" providerId="ADAL" clId="{C9CCAF64-84E7-47C7-B8F2-6387211487A1}" dt="2026-09-28T10:21:55.717" v="207" actId="2696"/>
        <pc:sldMkLst>
          <pc:docMk/>
          <pc:sldMk cId="3773581727" sldId="292"/>
        </pc:sldMkLst>
        <pc:spChg chg="mod">
          <ac:chgData name="Shrutika Khedekar" userId="625b3a89-6638-4b33-9eb0-2f683d0f3088" providerId="ADAL" clId="{C9CCAF64-84E7-47C7-B8F2-6387211487A1}" dt="2026-09-28T10:21:51.956" v="206" actId="20577"/>
          <ac:spMkLst>
            <pc:docMk/>
            <pc:sldMk cId="3773581727" sldId="292"/>
            <ac:spMk id="592" creationId="{00000000-0000-0000-0000-000000000000}"/>
          </ac:spMkLst>
        </pc:spChg>
      </pc:sldChg>
      <pc:sldChg chg="del">
        <pc:chgData name="Shrutika Khedekar" userId="625b3a89-6638-4b33-9eb0-2f683d0f3088" providerId="ADAL" clId="{C9CCAF64-84E7-47C7-B8F2-6387211487A1}" dt="2026-09-28T10:20:45.076" v="200" actId="2696"/>
        <pc:sldMkLst>
          <pc:docMk/>
          <pc:sldMk cId="0" sldId="293"/>
        </pc:sldMkLst>
      </pc:sldChg>
      <pc:sldChg chg="add">
        <pc:chgData name="Shrutika Khedekar" userId="625b3a89-6638-4b33-9eb0-2f683d0f3088" providerId="ADAL" clId="{C9CCAF64-84E7-47C7-B8F2-6387211487A1}" dt="2026-09-28T10:21:00.118" v="201"/>
        <pc:sldMkLst>
          <pc:docMk/>
          <pc:sldMk cId="752929431" sldId="293"/>
        </pc:sldMkLst>
      </pc:sldChg>
      <pc:sldChg chg="addSp delSp modSp">
        <pc:chgData name="Shrutika Khedekar" userId="625b3a89-6638-4b33-9eb0-2f683d0f3088" providerId="ADAL" clId="{C9CCAF64-84E7-47C7-B8F2-6387211487A1}" dt="2026-09-28T10:02:43.479" v="32" actId="20577"/>
        <pc:sldMkLst>
          <pc:docMk/>
          <pc:sldMk cId="0" sldId="321"/>
        </pc:sldMkLst>
        <pc:spChg chg="del mod">
          <ac:chgData name="Shrutika Khedekar" userId="625b3a89-6638-4b33-9eb0-2f683d0f3088" providerId="ADAL" clId="{C9CCAF64-84E7-47C7-B8F2-6387211487A1}" dt="2026-09-28T10:00:29.266" v="23" actId="478"/>
          <ac:spMkLst>
            <pc:docMk/>
            <pc:sldMk cId="0" sldId="321"/>
            <ac:spMk id="1429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29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29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29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29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00" creationId="{00000000-0000-0000-0000-000000000000}"/>
          </ac:spMkLst>
        </pc:spChg>
        <pc:spChg chg="mod">
          <ac:chgData name="Shrutika Khedekar" userId="625b3a89-6638-4b33-9eb0-2f683d0f3088" providerId="ADAL" clId="{C9CCAF64-84E7-47C7-B8F2-6387211487A1}" dt="2026-09-28T10:02:43.479" v="32" actId="20577"/>
          <ac:spMkLst>
            <pc:docMk/>
            <pc:sldMk cId="0" sldId="321"/>
            <ac:spMk id="1430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0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0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0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0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0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0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0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0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1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1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1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1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1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1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1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1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1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1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2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2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2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2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2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2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2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2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2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2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3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3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3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3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3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3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3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3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3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3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4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4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4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4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4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4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4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4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4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4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5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5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5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5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5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5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5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5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5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5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6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6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6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6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6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6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6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6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6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6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7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7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7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7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7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7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7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7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7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7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8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8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8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8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8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8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8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8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8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8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9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9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9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9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9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9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9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9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9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39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0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0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0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0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0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0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0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0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0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0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1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1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1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1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1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1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1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1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1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1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2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2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2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2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2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2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2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2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2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2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3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3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3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3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3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3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3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3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3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3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4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4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4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4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4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4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4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4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4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4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5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5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5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5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5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5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5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5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5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5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6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6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6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6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6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6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6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6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6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6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7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7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7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7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7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7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7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7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7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7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8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8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8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8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8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8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8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8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8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8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9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9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9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9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9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9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9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9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9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49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0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0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0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0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0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0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0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0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0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0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1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1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1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1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1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1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1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1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1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1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2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2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2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2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2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2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2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2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2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2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3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3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3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3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3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3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3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3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3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3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4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4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4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4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4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4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4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4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4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4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5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5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5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5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5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5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5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5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5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5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6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6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6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6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6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6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6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6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6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6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7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7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7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7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7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7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7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7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7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7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8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8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8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8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8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8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8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8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8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8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9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9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9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9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9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9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9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9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9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59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0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0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0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0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0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0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0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0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0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0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1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1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1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1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1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1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1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1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1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1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2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2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2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2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2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2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2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2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2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2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3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3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3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3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3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3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3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3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3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3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4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4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4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4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4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4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4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4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4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4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5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5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5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5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5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5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5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5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5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5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6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6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6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6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6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6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6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6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6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6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7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7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7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7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7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7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7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7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7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7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8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8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8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8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8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8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8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8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8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8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9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9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9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9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9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9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9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9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9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69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0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0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0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0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0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0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0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0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0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0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1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1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1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1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1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1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1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1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1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1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2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2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2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2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2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2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2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2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2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2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3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3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3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3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3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3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3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3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3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3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4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4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4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4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4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4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4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4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4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4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5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5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5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5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5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5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5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5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5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5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6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6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6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6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6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6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6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6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6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6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7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7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7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7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7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7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7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7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7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7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8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8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8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8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8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8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8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8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8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8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9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9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9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9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9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9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9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9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9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79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0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0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0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0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0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0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0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0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0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0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1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1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1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1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1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1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1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1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1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1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2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2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2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2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2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2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2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2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2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2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3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3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3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3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3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3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3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3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3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3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4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4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4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4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4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4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4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4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4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4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5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5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5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5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5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5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5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5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5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5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6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6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6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6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6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6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6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6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6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6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7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7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7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7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7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7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7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7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7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7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8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8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8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8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8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8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8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8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8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8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9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9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9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9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9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9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9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9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9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89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0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0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0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0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0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0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0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0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0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0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1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1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1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1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1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1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1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1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1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1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2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2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2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2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2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2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2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2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2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2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3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3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3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3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3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3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3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3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3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3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4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4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4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4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4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4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4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4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4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4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5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5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5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5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5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5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5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5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5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5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6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6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6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6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6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6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6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6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6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6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7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7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7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7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7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7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7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7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7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7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8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8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8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8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8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8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8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8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8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8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9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9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9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9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9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9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9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9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9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499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0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0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0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0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0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0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0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0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0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0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1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1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1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1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1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1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1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1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1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1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2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2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2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2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2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2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2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2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2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2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3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3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3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3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3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3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3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3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3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3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4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4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4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4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4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4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4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4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4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5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5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5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5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5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5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5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5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5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5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6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6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6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6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6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6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6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6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6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6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7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7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7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7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7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7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7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7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7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7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8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8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8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8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8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8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8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8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8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8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9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9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9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9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9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9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9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9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9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09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0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0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0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0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0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0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0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0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0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0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1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1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1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1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1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1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1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1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1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1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2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2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2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2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2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2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2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2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2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2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3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3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3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3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3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3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3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3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3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3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4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4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4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4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4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4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4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4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4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4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5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5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5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5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5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5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5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5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5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5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6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6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6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6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6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6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6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6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6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6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7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7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7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7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7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7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7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7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7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7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8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8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8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8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8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8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8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8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8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8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9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9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9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9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9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9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9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9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9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19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0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0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0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0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0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0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0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0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0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0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1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1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1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1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1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1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1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1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1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1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2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2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2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2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2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2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2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2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2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2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3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3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3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3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3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3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3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3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3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3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4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4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4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4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4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4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4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4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4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4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5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5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5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5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5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5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5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5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5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5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6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6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6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6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6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6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6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6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6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6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7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7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7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7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7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7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7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7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7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7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8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8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8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8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8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8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86"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8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8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8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9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92"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93"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94"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95"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97"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98"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299"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300"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301" creationId="{00000000-0000-0000-0000-000000000000}"/>
          </ac:spMkLst>
        </pc:spChg>
        <pc:spChg chg="mod">
          <ac:chgData name="Shrutika Khedekar" userId="625b3a89-6638-4b33-9eb0-2f683d0f3088" providerId="ADAL" clId="{C9CCAF64-84E7-47C7-B8F2-6387211487A1}" dt="2026-09-28T10:01:30.051" v="25" actId="1076"/>
          <ac:spMkLst>
            <pc:docMk/>
            <pc:sldMk cId="0" sldId="321"/>
            <ac:spMk id="15302" creationId="{00000000-0000-0000-0000-000000000000}"/>
          </ac:spMkLst>
        </pc:spChg>
        <pc:picChg chg="add mod modCrop">
          <ac:chgData name="Shrutika Khedekar" userId="625b3a89-6638-4b33-9eb0-2f683d0f3088" providerId="ADAL" clId="{C9CCAF64-84E7-47C7-B8F2-6387211487A1}" dt="2026-09-28T10:02:33.996" v="31" actId="14100"/>
          <ac:picMkLst>
            <pc:docMk/>
            <pc:sldMk cId="0" sldId="321"/>
            <ac:picMk id="2" creationId="{CE4F5274-96CF-481F-9032-5E34DE73EBB7}"/>
          </ac:picMkLst>
        </pc:picChg>
        <pc:picChg chg="mod">
          <ac:chgData name="Shrutika Khedekar" userId="625b3a89-6638-4b33-9eb0-2f683d0f3088" providerId="ADAL" clId="{C9CCAF64-84E7-47C7-B8F2-6387211487A1}" dt="2026-09-28T10:01:30.051" v="25" actId="1076"/>
          <ac:picMkLst>
            <pc:docMk/>
            <pc:sldMk cId="0" sldId="321"/>
            <ac:picMk id="14296" creationId="{00000000-0000-0000-0000-000000000000}"/>
          </ac:picMkLst>
        </pc:picChg>
        <pc:picChg chg="mod">
          <ac:chgData name="Shrutika Khedekar" userId="625b3a89-6638-4b33-9eb0-2f683d0f3088" providerId="ADAL" clId="{C9CCAF64-84E7-47C7-B8F2-6387211487A1}" dt="2026-09-28T10:01:30.051" v="25" actId="1076"/>
          <ac:picMkLst>
            <pc:docMk/>
            <pc:sldMk cId="0" sldId="321"/>
            <ac:picMk id="15043" creationId="{00000000-0000-0000-0000-000000000000}"/>
          </ac:picMkLst>
        </pc:picChg>
        <pc:picChg chg="mod">
          <ac:chgData name="Shrutika Khedekar" userId="625b3a89-6638-4b33-9eb0-2f683d0f3088" providerId="ADAL" clId="{C9CCAF64-84E7-47C7-B8F2-6387211487A1}" dt="2026-09-28T10:01:30.051" v="25" actId="1076"/>
          <ac:picMkLst>
            <pc:docMk/>
            <pc:sldMk cId="0" sldId="321"/>
            <ac:picMk id="15291" creationId="{00000000-0000-0000-0000-000000000000}"/>
          </ac:picMkLst>
        </pc:picChg>
        <pc:picChg chg="mod">
          <ac:chgData name="Shrutika Khedekar" userId="625b3a89-6638-4b33-9eb0-2f683d0f3088" providerId="ADAL" clId="{C9CCAF64-84E7-47C7-B8F2-6387211487A1}" dt="2026-09-28T10:01:30.051" v="25" actId="1076"/>
          <ac:picMkLst>
            <pc:docMk/>
            <pc:sldMk cId="0" sldId="321"/>
            <ac:picMk id="15296" creationId="{00000000-0000-0000-0000-000000000000}"/>
          </ac:picMkLst>
        </pc:picChg>
      </pc:sldChg>
      <pc:sldChg chg="del">
        <pc:chgData name="Shrutika Khedekar" userId="625b3a89-6638-4b33-9eb0-2f683d0f3088" providerId="ADAL" clId="{C9CCAF64-84E7-47C7-B8F2-6387211487A1}" dt="2026-09-28T10:02:48.729" v="33" actId="2696"/>
        <pc:sldMkLst>
          <pc:docMk/>
          <pc:sldMk cId="0" sldId="323"/>
        </pc:sldMkLst>
      </pc:sldChg>
      <pc:sldChg chg="del">
        <pc:chgData name="Shrutika Khedekar" userId="625b3a89-6638-4b33-9eb0-2f683d0f3088" providerId="ADAL" clId="{C9CCAF64-84E7-47C7-B8F2-6387211487A1}" dt="2026-09-28T10:08:58.461" v="42" actId="2696"/>
        <pc:sldMkLst>
          <pc:docMk/>
          <pc:sldMk cId="0" sldId="365"/>
        </pc:sldMkLst>
      </pc:sldChg>
      <pc:sldChg chg="add del">
        <pc:chgData name="Shrutika Khedekar" userId="625b3a89-6638-4b33-9eb0-2f683d0f3088" providerId="ADAL" clId="{C9CCAF64-84E7-47C7-B8F2-6387211487A1}" dt="2026-09-28T10:09:17.996" v="47" actId="2696"/>
        <pc:sldMkLst>
          <pc:docMk/>
          <pc:sldMk cId="1029576687" sldId="365"/>
        </pc:sldMkLst>
      </pc:sldChg>
      <pc:sldChg chg="ord">
        <pc:chgData name="Shrutika Khedekar" userId="625b3a89-6638-4b33-9eb0-2f683d0f3088" providerId="ADAL" clId="{C9CCAF64-84E7-47C7-B8F2-6387211487A1}" dt="2026-09-28T10:08:33.127" v="40"/>
        <pc:sldMkLst>
          <pc:docMk/>
          <pc:sldMk cId="0" sldId="366"/>
        </pc:sldMkLst>
      </pc:sldChg>
      <pc:sldChg chg="del">
        <pc:chgData name="Shrutika Khedekar" userId="625b3a89-6638-4b33-9eb0-2f683d0f3088" providerId="ADAL" clId="{C9CCAF64-84E7-47C7-B8F2-6387211487A1}" dt="2026-09-28T10:09:38.833" v="48" actId="2696"/>
        <pc:sldMkLst>
          <pc:docMk/>
          <pc:sldMk cId="0" sldId="396"/>
        </pc:sldMkLst>
      </pc:sldChg>
      <pc:sldChg chg="add">
        <pc:chgData name="Shrutika Khedekar" userId="625b3a89-6638-4b33-9eb0-2f683d0f3088" providerId="ADAL" clId="{C9CCAF64-84E7-47C7-B8F2-6387211487A1}" dt="2026-09-28T10:09:45.433" v="52"/>
        <pc:sldMkLst>
          <pc:docMk/>
          <pc:sldMk cId="709191774" sldId="396"/>
        </pc:sldMkLst>
      </pc:sldChg>
      <pc:sldChg chg="del">
        <pc:chgData name="Shrutika Khedekar" userId="625b3a89-6638-4b33-9eb0-2f683d0f3088" providerId="ADAL" clId="{C9CCAF64-84E7-47C7-B8F2-6387211487A1}" dt="2026-09-28T10:09:38.897" v="49" actId="2696"/>
        <pc:sldMkLst>
          <pc:docMk/>
          <pc:sldMk cId="0" sldId="397"/>
        </pc:sldMkLst>
      </pc:sldChg>
      <pc:sldChg chg="add">
        <pc:chgData name="Shrutika Khedekar" userId="625b3a89-6638-4b33-9eb0-2f683d0f3088" providerId="ADAL" clId="{C9CCAF64-84E7-47C7-B8F2-6387211487A1}" dt="2026-09-28T10:09:45.433" v="52"/>
        <pc:sldMkLst>
          <pc:docMk/>
          <pc:sldMk cId="1060171431" sldId="397"/>
        </pc:sldMkLst>
      </pc:sldChg>
      <pc:sldChg chg="del">
        <pc:chgData name="Shrutika Khedekar" userId="625b3a89-6638-4b33-9eb0-2f683d0f3088" providerId="ADAL" clId="{C9CCAF64-84E7-47C7-B8F2-6387211487A1}" dt="2026-09-28T10:09:39.006" v="50" actId="2696"/>
        <pc:sldMkLst>
          <pc:docMk/>
          <pc:sldMk cId="0" sldId="402"/>
        </pc:sldMkLst>
      </pc:sldChg>
      <pc:sldChg chg="add">
        <pc:chgData name="Shrutika Khedekar" userId="625b3a89-6638-4b33-9eb0-2f683d0f3088" providerId="ADAL" clId="{C9CCAF64-84E7-47C7-B8F2-6387211487A1}" dt="2026-09-28T10:09:45.433" v="52"/>
        <pc:sldMkLst>
          <pc:docMk/>
          <pc:sldMk cId="1301450869" sldId="402"/>
        </pc:sldMkLst>
      </pc:sldChg>
      <pc:sldChg chg="del">
        <pc:chgData name="Shrutika Khedekar" userId="625b3a89-6638-4b33-9eb0-2f683d0f3088" providerId="ADAL" clId="{C9CCAF64-84E7-47C7-B8F2-6387211487A1}" dt="2026-09-28T10:09:39.086" v="51" actId="2696"/>
        <pc:sldMkLst>
          <pc:docMk/>
          <pc:sldMk cId="0" sldId="403"/>
        </pc:sldMkLst>
      </pc:sldChg>
      <pc:sldChg chg="add del">
        <pc:chgData name="Shrutika Khedekar" userId="625b3a89-6638-4b33-9eb0-2f683d0f3088" providerId="ADAL" clId="{C9CCAF64-84E7-47C7-B8F2-6387211487A1}" dt="2026-09-28T10:10:06.364" v="54" actId="2696"/>
        <pc:sldMkLst>
          <pc:docMk/>
          <pc:sldMk cId="2393983179" sldId="403"/>
        </pc:sldMkLst>
      </pc:sldChg>
      <pc:sldChg chg="ord">
        <pc:chgData name="Shrutika Khedekar" userId="625b3a89-6638-4b33-9eb0-2f683d0f3088" providerId="ADAL" clId="{C9CCAF64-84E7-47C7-B8F2-6387211487A1}" dt="2026-09-28T10:10:53.246" v="56"/>
        <pc:sldMkLst>
          <pc:docMk/>
          <pc:sldMk cId="0" sldId="444"/>
        </pc:sldMkLst>
      </pc:sldChg>
      <pc:sldChg chg="del">
        <pc:chgData name="Shrutika Khedekar" userId="625b3a89-6638-4b33-9eb0-2f683d0f3088" providerId="ADAL" clId="{C9CCAF64-84E7-47C7-B8F2-6387211487A1}" dt="2026-09-28T10:12:04.888" v="57" actId="2696"/>
        <pc:sldMkLst>
          <pc:docMk/>
          <pc:sldMk cId="0" sldId="490"/>
        </pc:sldMkLst>
      </pc:sldChg>
      <pc:sldChg chg="del">
        <pc:chgData name="Shrutika Khedekar" userId="625b3a89-6638-4b33-9eb0-2f683d0f3088" providerId="ADAL" clId="{C9CCAF64-84E7-47C7-B8F2-6387211487A1}" dt="2026-09-28T10:12:37.328" v="58" actId="2696"/>
        <pc:sldMkLst>
          <pc:docMk/>
          <pc:sldMk cId="4151750094" sldId="491"/>
        </pc:sldMkLst>
      </pc:sldChg>
      <pc:sldChg chg="add">
        <pc:chgData name="Shrutika Khedekar" userId="625b3a89-6638-4b33-9eb0-2f683d0f3088" providerId="ADAL" clId="{C9CCAF64-84E7-47C7-B8F2-6387211487A1}" dt="2026-09-28T10:05:03.524" v="35"/>
        <pc:sldMkLst>
          <pc:docMk/>
          <pc:sldMk cId="3536971741" sldId="493"/>
        </pc:sldMkLst>
      </pc:sldChg>
      <pc:sldChg chg="del">
        <pc:chgData name="Shrutika Khedekar" userId="625b3a89-6638-4b33-9eb0-2f683d0f3088" providerId="ADAL" clId="{C9CCAF64-84E7-47C7-B8F2-6387211487A1}" dt="2026-09-28T10:34:09.404" v="256" actId="2696"/>
        <pc:sldMkLst>
          <pc:docMk/>
          <pc:sldMk cId="550371125" sldId="724"/>
        </pc:sldMkLst>
      </pc:sldChg>
      <pc:sldChg chg="del">
        <pc:chgData name="Shrutika Khedekar" userId="625b3a89-6638-4b33-9eb0-2f683d0f3088" providerId="ADAL" clId="{C9CCAF64-84E7-47C7-B8F2-6387211487A1}" dt="2026-09-28T10:20:42.928" v="181" actId="2696"/>
        <pc:sldMkLst>
          <pc:docMk/>
          <pc:sldMk cId="0" sldId="725"/>
        </pc:sldMkLst>
      </pc:sldChg>
      <pc:sldChg chg="add">
        <pc:chgData name="Shrutika Khedekar" userId="625b3a89-6638-4b33-9eb0-2f683d0f3088" providerId="ADAL" clId="{C9CCAF64-84E7-47C7-B8F2-6387211487A1}" dt="2026-09-28T10:21:00.118" v="201"/>
        <pc:sldMkLst>
          <pc:docMk/>
          <pc:sldMk cId="1238356756" sldId="725"/>
        </pc:sldMkLst>
      </pc:sldChg>
      <pc:sldChg chg="del">
        <pc:chgData name="Shrutika Khedekar" userId="625b3a89-6638-4b33-9eb0-2f683d0f3088" providerId="ADAL" clId="{C9CCAF64-84E7-47C7-B8F2-6387211487A1}" dt="2026-09-28T10:20:43.021" v="182" actId="2696"/>
        <pc:sldMkLst>
          <pc:docMk/>
          <pc:sldMk cId="0" sldId="726"/>
        </pc:sldMkLst>
      </pc:sldChg>
      <pc:sldChg chg="add">
        <pc:chgData name="Shrutika Khedekar" userId="625b3a89-6638-4b33-9eb0-2f683d0f3088" providerId="ADAL" clId="{C9CCAF64-84E7-47C7-B8F2-6387211487A1}" dt="2026-09-28T10:21:00.118" v="201"/>
        <pc:sldMkLst>
          <pc:docMk/>
          <pc:sldMk cId="3660270486" sldId="726"/>
        </pc:sldMkLst>
      </pc:sldChg>
      <pc:sldChg chg="del">
        <pc:chgData name="Shrutika Khedekar" userId="625b3a89-6638-4b33-9eb0-2f683d0f3088" providerId="ADAL" clId="{C9CCAF64-84E7-47C7-B8F2-6387211487A1}" dt="2026-09-28T10:20:43.517" v="185" actId="2696"/>
        <pc:sldMkLst>
          <pc:docMk/>
          <pc:sldMk cId="0" sldId="727"/>
        </pc:sldMkLst>
      </pc:sldChg>
      <pc:sldChg chg="add">
        <pc:chgData name="Shrutika Khedekar" userId="625b3a89-6638-4b33-9eb0-2f683d0f3088" providerId="ADAL" clId="{C9CCAF64-84E7-47C7-B8F2-6387211487A1}" dt="2026-09-28T10:21:00.118" v="201"/>
        <pc:sldMkLst>
          <pc:docMk/>
          <pc:sldMk cId="2925018131" sldId="727"/>
        </pc:sldMkLst>
      </pc:sldChg>
      <pc:sldChg chg="del">
        <pc:chgData name="Shrutika Khedekar" userId="625b3a89-6638-4b33-9eb0-2f683d0f3088" providerId="ADAL" clId="{C9CCAF64-84E7-47C7-B8F2-6387211487A1}" dt="2026-09-28T10:20:44.106" v="190" actId="2696"/>
        <pc:sldMkLst>
          <pc:docMk/>
          <pc:sldMk cId="0" sldId="728"/>
        </pc:sldMkLst>
      </pc:sldChg>
      <pc:sldChg chg="add">
        <pc:chgData name="Shrutika Khedekar" userId="625b3a89-6638-4b33-9eb0-2f683d0f3088" providerId="ADAL" clId="{C9CCAF64-84E7-47C7-B8F2-6387211487A1}" dt="2026-09-28T10:21:00.118" v="201"/>
        <pc:sldMkLst>
          <pc:docMk/>
          <pc:sldMk cId="2303145643" sldId="728"/>
        </pc:sldMkLst>
      </pc:sldChg>
      <pc:sldChg chg="del">
        <pc:chgData name="Shrutika Khedekar" userId="625b3a89-6638-4b33-9eb0-2f683d0f3088" providerId="ADAL" clId="{C9CCAF64-84E7-47C7-B8F2-6387211487A1}" dt="2026-09-28T10:20:44.276" v="192" actId="2696"/>
        <pc:sldMkLst>
          <pc:docMk/>
          <pc:sldMk cId="0" sldId="730"/>
        </pc:sldMkLst>
      </pc:sldChg>
      <pc:sldChg chg="add">
        <pc:chgData name="Shrutika Khedekar" userId="625b3a89-6638-4b33-9eb0-2f683d0f3088" providerId="ADAL" clId="{C9CCAF64-84E7-47C7-B8F2-6387211487A1}" dt="2026-09-28T10:21:00.118" v="201"/>
        <pc:sldMkLst>
          <pc:docMk/>
          <pc:sldMk cId="284107498" sldId="730"/>
        </pc:sldMkLst>
      </pc:sldChg>
      <pc:sldChg chg="del">
        <pc:chgData name="Shrutika Khedekar" userId="625b3a89-6638-4b33-9eb0-2f683d0f3088" providerId="ADAL" clId="{C9CCAF64-84E7-47C7-B8F2-6387211487A1}" dt="2026-09-28T10:20:44.344" v="193" actId="2696"/>
        <pc:sldMkLst>
          <pc:docMk/>
          <pc:sldMk cId="0" sldId="731"/>
        </pc:sldMkLst>
      </pc:sldChg>
      <pc:sldChg chg="add">
        <pc:chgData name="Shrutika Khedekar" userId="625b3a89-6638-4b33-9eb0-2f683d0f3088" providerId="ADAL" clId="{C9CCAF64-84E7-47C7-B8F2-6387211487A1}" dt="2026-09-28T10:21:00.118" v="201"/>
        <pc:sldMkLst>
          <pc:docMk/>
          <pc:sldMk cId="3470319034" sldId="731"/>
        </pc:sldMkLst>
      </pc:sldChg>
      <pc:sldChg chg="del">
        <pc:chgData name="Shrutika Khedekar" userId="625b3a89-6638-4b33-9eb0-2f683d0f3088" providerId="ADAL" clId="{C9CCAF64-84E7-47C7-B8F2-6387211487A1}" dt="2026-09-28T10:20:44.456" v="194" actId="2696"/>
        <pc:sldMkLst>
          <pc:docMk/>
          <pc:sldMk cId="0" sldId="732"/>
        </pc:sldMkLst>
      </pc:sldChg>
      <pc:sldChg chg="add">
        <pc:chgData name="Shrutika Khedekar" userId="625b3a89-6638-4b33-9eb0-2f683d0f3088" providerId="ADAL" clId="{C9CCAF64-84E7-47C7-B8F2-6387211487A1}" dt="2026-09-28T10:21:00.118" v="201"/>
        <pc:sldMkLst>
          <pc:docMk/>
          <pc:sldMk cId="1570661166" sldId="732"/>
        </pc:sldMkLst>
      </pc:sldChg>
      <pc:sldChg chg="del">
        <pc:chgData name="Shrutika Khedekar" userId="625b3a89-6638-4b33-9eb0-2f683d0f3088" providerId="ADAL" clId="{C9CCAF64-84E7-47C7-B8F2-6387211487A1}" dt="2026-09-28T10:20:44.534" v="195" actId="2696"/>
        <pc:sldMkLst>
          <pc:docMk/>
          <pc:sldMk cId="0" sldId="733"/>
        </pc:sldMkLst>
      </pc:sldChg>
      <pc:sldChg chg="add">
        <pc:chgData name="Shrutika Khedekar" userId="625b3a89-6638-4b33-9eb0-2f683d0f3088" providerId="ADAL" clId="{C9CCAF64-84E7-47C7-B8F2-6387211487A1}" dt="2026-09-28T10:21:00.118" v="201"/>
        <pc:sldMkLst>
          <pc:docMk/>
          <pc:sldMk cId="376370833" sldId="733"/>
        </pc:sldMkLst>
      </pc:sldChg>
      <pc:sldChg chg="ord">
        <pc:chgData name="Shrutika Khedekar" userId="625b3a89-6638-4b33-9eb0-2f683d0f3088" providerId="ADAL" clId="{C9CCAF64-84E7-47C7-B8F2-6387211487A1}" dt="2026-09-28T10:33:33.102" v="253"/>
        <pc:sldMkLst>
          <pc:docMk/>
          <pc:sldMk cId="0" sldId="734"/>
        </pc:sldMkLst>
      </pc:sldChg>
      <pc:sldChg chg="ord">
        <pc:chgData name="Shrutika Khedekar" userId="625b3a89-6638-4b33-9eb0-2f683d0f3088" providerId="ADAL" clId="{C9CCAF64-84E7-47C7-B8F2-6387211487A1}" dt="2026-09-28T10:33:49.985" v="254"/>
        <pc:sldMkLst>
          <pc:docMk/>
          <pc:sldMk cId="0" sldId="735"/>
        </pc:sldMkLst>
      </pc:sldChg>
      <pc:sldChg chg="del">
        <pc:chgData name="Shrutika Khedekar" userId="625b3a89-6638-4b33-9eb0-2f683d0f3088" providerId="ADAL" clId="{C9CCAF64-84E7-47C7-B8F2-6387211487A1}" dt="2026-09-28T10:29:22.871" v="237" actId="2696"/>
        <pc:sldMkLst>
          <pc:docMk/>
          <pc:sldMk cId="0" sldId="748"/>
        </pc:sldMkLst>
      </pc:sldChg>
      <pc:sldChg chg="del">
        <pc:chgData name="Shrutika Khedekar" userId="625b3a89-6638-4b33-9eb0-2f683d0f3088" providerId="ADAL" clId="{C9CCAF64-84E7-47C7-B8F2-6387211487A1}" dt="2026-09-28T10:29:23.760" v="238" actId="2696"/>
        <pc:sldMkLst>
          <pc:docMk/>
          <pc:sldMk cId="0" sldId="749"/>
        </pc:sldMkLst>
      </pc:sldChg>
      <pc:sldChg chg="add">
        <pc:chgData name="Shrutika Khedekar" userId="625b3a89-6638-4b33-9eb0-2f683d0f3088" providerId="ADAL" clId="{C9CCAF64-84E7-47C7-B8F2-6387211487A1}" dt="2026-09-28T10:04:58.319" v="34"/>
        <pc:sldMkLst>
          <pc:docMk/>
          <pc:sldMk cId="3722613767" sldId="751"/>
        </pc:sldMkLst>
      </pc:sldChg>
      <pc:sldChg chg="add del">
        <pc:chgData name="Shrutika Khedekar" userId="625b3a89-6638-4b33-9eb0-2f683d0f3088" providerId="ADAL" clId="{C9CCAF64-84E7-47C7-B8F2-6387211487A1}" dt="2026-09-28T10:05:59.158" v="36" actId="2696"/>
        <pc:sldMkLst>
          <pc:docMk/>
          <pc:sldMk cId="2791631133" sldId="752"/>
        </pc:sldMkLst>
      </pc:sldChg>
      <pc:sldChg chg="add">
        <pc:chgData name="Shrutika Khedekar" userId="625b3a89-6638-4b33-9eb0-2f683d0f3088" providerId="ADAL" clId="{C9CCAF64-84E7-47C7-B8F2-6387211487A1}" dt="2026-09-28T10:05:03.524" v="35"/>
        <pc:sldMkLst>
          <pc:docMk/>
          <pc:sldMk cId="1624090922" sldId="753"/>
        </pc:sldMkLst>
      </pc:sldChg>
      <pc:sldChg chg="add">
        <pc:chgData name="Shrutika Khedekar" userId="625b3a89-6638-4b33-9eb0-2f683d0f3088" providerId="ADAL" clId="{C9CCAF64-84E7-47C7-B8F2-6387211487A1}" dt="2026-09-28T10:05:03.524" v="35"/>
        <pc:sldMkLst>
          <pc:docMk/>
          <pc:sldMk cId="2128945496" sldId="754"/>
        </pc:sldMkLst>
      </pc:sldChg>
      <pc:sldChg chg="add">
        <pc:chgData name="Shrutika Khedekar" userId="625b3a89-6638-4b33-9eb0-2f683d0f3088" providerId="ADAL" clId="{C9CCAF64-84E7-47C7-B8F2-6387211487A1}" dt="2026-09-28T10:05:03.524" v="35"/>
        <pc:sldMkLst>
          <pc:docMk/>
          <pc:sldMk cId="4020050431" sldId="755"/>
        </pc:sldMkLst>
      </pc:sldChg>
      <pc:sldChg chg="add">
        <pc:chgData name="Shrutika Khedekar" userId="625b3a89-6638-4b33-9eb0-2f683d0f3088" providerId="ADAL" clId="{C9CCAF64-84E7-47C7-B8F2-6387211487A1}" dt="2026-09-28T10:05:03.524" v="35"/>
        <pc:sldMkLst>
          <pc:docMk/>
          <pc:sldMk cId="514423678" sldId="756"/>
        </pc:sldMkLst>
      </pc:sldChg>
      <pc:sldChg chg="add">
        <pc:chgData name="Shrutika Khedekar" userId="625b3a89-6638-4b33-9eb0-2f683d0f3088" providerId="ADAL" clId="{C9CCAF64-84E7-47C7-B8F2-6387211487A1}" dt="2026-09-28T10:05:03.524" v="35"/>
        <pc:sldMkLst>
          <pc:docMk/>
          <pc:sldMk cId="4035028225" sldId="757"/>
        </pc:sldMkLst>
      </pc:sldChg>
      <pc:sldChg chg="add">
        <pc:chgData name="Shrutika Khedekar" userId="625b3a89-6638-4b33-9eb0-2f683d0f3088" providerId="ADAL" clId="{C9CCAF64-84E7-47C7-B8F2-6387211487A1}" dt="2026-09-28T10:05:03.524" v="35"/>
        <pc:sldMkLst>
          <pc:docMk/>
          <pc:sldMk cId="3665239139" sldId="758"/>
        </pc:sldMkLst>
      </pc:sldChg>
      <pc:sldChg chg="add">
        <pc:chgData name="Shrutika Khedekar" userId="625b3a89-6638-4b33-9eb0-2f683d0f3088" providerId="ADAL" clId="{C9CCAF64-84E7-47C7-B8F2-6387211487A1}" dt="2026-09-28T10:05:03.524" v="35"/>
        <pc:sldMkLst>
          <pc:docMk/>
          <pc:sldMk cId="2498714583" sldId="759"/>
        </pc:sldMkLst>
      </pc:sldChg>
      <pc:sldChg chg="add">
        <pc:chgData name="Shrutika Khedekar" userId="625b3a89-6638-4b33-9eb0-2f683d0f3088" providerId="ADAL" clId="{C9CCAF64-84E7-47C7-B8F2-6387211487A1}" dt="2026-09-28T10:05:03.524" v="35"/>
        <pc:sldMkLst>
          <pc:docMk/>
          <pc:sldMk cId="3602118035" sldId="760"/>
        </pc:sldMkLst>
      </pc:sldChg>
      <pc:sldChg chg="add del">
        <pc:chgData name="Shrutika Khedekar" userId="625b3a89-6638-4b33-9eb0-2f683d0f3088" providerId="ADAL" clId="{C9CCAF64-84E7-47C7-B8F2-6387211487A1}" dt="2026-09-28T10:09:17.474" v="46" actId="2696"/>
        <pc:sldMkLst>
          <pc:docMk/>
          <pc:sldMk cId="130248961" sldId="761"/>
        </pc:sldMkLst>
      </pc:sldChg>
      <pc:sldChg chg="add del">
        <pc:chgData name="Shrutika Khedekar" userId="625b3a89-6638-4b33-9eb0-2f683d0f3088" providerId="ADAL" clId="{C9CCAF64-84E7-47C7-B8F2-6387211487A1}" dt="2026-09-28T10:08:58.345" v="41" actId="2696"/>
        <pc:sldMkLst>
          <pc:docMk/>
          <pc:sldMk cId="890165782" sldId="761"/>
        </pc:sldMkLst>
      </pc:sldChg>
      <pc:sldChg chg="add del modTransition">
        <pc:chgData name="Shrutika Khedekar" userId="625b3a89-6638-4b33-9eb0-2f683d0f3088" providerId="ADAL" clId="{C9CCAF64-84E7-47C7-B8F2-6387211487A1}" dt="2026-09-28T10:06:36.400" v="38" actId="2696"/>
        <pc:sldMkLst>
          <pc:docMk/>
          <pc:sldMk cId="0" sldId="762"/>
        </pc:sldMkLst>
      </pc:sldChg>
      <pc:sldChg chg="add">
        <pc:chgData name="Shrutika Khedekar" userId="625b3a89-6638-4b33-9eb0-2f683d0f3088" providerId="ADAL" clId="{C9CCAF64-84E7-47C7-B8F2-6387211487A1}" dt="2026-09-28T10:06:01.459" v="37"/>
        <pc:sldMkLst>
          <pc:docMk/>
          <pc:sldMk cId="0" sldId="763"/>
        </pc:sldMkLst>
      </pc:sldChg>
      <pc:sldChg chg="add modTransition">
        <pc:chgData name="Shrutika Khedekar" userId="625b3a89-6638-4b33-9eb0-2f683d0f3088" providerId="ADAL" clId="{C9CCAF64-84E7-47C7-B8F2-6387211487A1}" dt="2026-09-28T10:07:32.038" v="39"/>
        <pc:sldMkLst>
          <pc:docMk/>
          <pc:sldMk cId="0" sldId="764"/>
        </pc:sldMkLst>
      </pc:sldChg>
      <pc:sldChg chg="add modTransition">
        <pc:chgData name="Shrutika Khedekar" userId="625b3a89-6638-4b33-9eb0-2f683d0f3088" providerId="ADAL" clId="{C9CCAF64-84E7-47C7-B8F2-6387211487A1}" dt="2026-09-28T10:07:32.038" v="39"/>
        <pc:sldMkLst>
          <pc:docMk/>
          <pc:sldMk cId="0" sldId="765"/>
        </pc:sldMkLst>
      </pc:sldChg>
      <pc:sldChg chg="add modTransition">
        <pc:chgData name="Shrutika Khedekar" userId="625b3a89-6638-4b33-9eb0-2f683d0f3088" providerId="ADAL" clId="{C9CCAF64-84E7-47C7-B8F2-6387211487A1}" dt="2026-09-28T10:07:32.038" v="39"/>
        <pc:sldMkLst>
          <pc:docMk/>
          <pc:sldMk cId="0" sldId="766"/>
        </pc:sldMkLst>
      </pc:sldChg>
      <pc:sldChg chg="add modTransition">
        <pc:chgData name="Shrutika Khedekar" userId="625b3a89-6638-4b33-9eb0-2f683d0f3088" providerId="ADAL" clId="{C9CCAF64-84E7-47C7-B8F2-6387211487A1}" dt="2026-09-28T10:07:32.038" v="39"/>
        <pc:sldMkLst>
          <pc:docMk/>
          <pc:sldMk cId="0" sldId="767"/>
        </pc:sldMkLst>
      </pc:sldChg>
      <pc:sldChg chg="add modTransition">
        <pc:chgData name="Shrutika Khedekar" userId="625b3a89-6638-4b33-9eb0-2f683d0f3088" providerId="ADAL" clId="{C9CCAF64-84E7-47C7-B8F2-6387211487A1}" dt="2026-09-28T10:07:32.038" v="39"/>
        <pc:sldMkLst>
          <pc:docMk/>
          <pc:sldMk cId="0" sldId="768"/>
        </pc:sldMkLst>
      </pc:sldChg>
      <pc:sldChg chg="add del modTransition">
        <pc:chgData name="Shrutika Khedekar" userId="625b3a89-6638-4b33-9eb0-2f683d0f3088" providerId="ADAL" clId="{C9CCAF64-84E7-47C7-B8F2-6387211487A1}" dt="2026-09-28T10:09:50.409" v="53" actId="2696"/>
        <pc:sldMkLst>
          <pc:docMk/>
          <pc:sldMk cId="0" sldId="769"/>
        </pc:sldMkLst>
      </pc:sldChg>
      <pc:sldChg chg="add modTransition">
        <pc:chgData name="Shrutika Khedekar" userId="625b3a89-6638-4b33-9eb0-2f683d0f3088" providerId="ADAL" clId="{C9CCAF64-84E7-47C7-B8F2-6387211487A1}" dt="2026-09-28T10:07:32.038" v="39"/>
        <pc:sldMkLst>
          <pc:docMk/>
          <pc:sldMk cId="0" sldId="770"/>
        </pc:sldMkLst>
      </pc:sldChg>
      <pc:sldChg chg="add modTransition">
        <pc:chgData name="Shrutika Khedekar" userId="625b3a89-6638-4b33-9eb0-2f683d0f3088" providerId="ADAL" clId="{C9CCAF64-84E7-47C7-B8F2-6387211487A1}" dt="2026-09-28T10:07:32.038" v="39"/>
        <pc:sldMkLst>
          <pc:docMk/>
          <pc:sldMk cId="0" sldId="771"/>
        </pc:sldMkLst>
      </pc:sldChg>
      <pc:sldChg chg="add">
        <pc:chgData name="Shrutika Khedekar" userId="625b3a89-6638-4b33-9eb0-2f683d0f3088" providerId="ADAL" clId="{C9CCAF64-84E7-47C7-B8F2-6387211487A1}" dt="2026-09-28T10:07:32.038" v="39"/>
        <pc:sldMkLst>
          <pc:docMk/>
          <pc:sldMk cId="0" sldId="772"/>
        </pc:sldMkLst>
      </pc:sldChg>
      <pc:sldChg chg="add modTransition">
        <pc:chgData name="Shrutika Khedekar" userId="625b3a89-6638-4b33-9eb0-2f683d0f3088" providerId="ADAL" clId="{C9CCAF64-84E7-47C7-B8F2-6387211487A1}" dt="2026-09-28T10:07:32.038" v="39"/>
        <pc:sldMkLst>
          <pc:docMk/>
          <pc:sldMk cId="0" sldId="773"/>
        </pc:sldMkLst>
      </pc:sldChg>
      <pc:sldChg chg="add del modTransition">
        <pc:chgData name="Shrutika Khedekar" userId="625b3a89-6638-4b33-9eb0-2f683d0f3088" providerId="ADAL" clId="{C9CCAF64-84E7-47C7-B8F2-6387211487A1}" dt="2026-09-28T10:10:18.595" v="55" actId="2696"/>
        <pc:sldMkLst>
          <pc:docMk/>
          <pc:sldMk cId="0" sldId="774"/>
        </pc:sldMkLst>
      </pc:sldChg>
      <pc:sldChg chg="addSp delSp modSp add">
        <pc:chgData name="Shrutika Khedekar" userId="625b3a89-6638-4b33-9eb0-2f683d0f3088" providerId="ADAL" clId="{C9CCAF64-84E7-47C7-B8F2-6387211487A1}" dt="2026-09-28T10:13:46.010" v="72"/>
        <pc:sldMkLst>
          <pc:docMk/>
          <pc:sldMk cId="4254515686" sldId="774"/>
        </pc:sldMkLst>
        <pc:spChg chg="add del mod">
          <ac:chgData name="Shrutika Khedekar" userId="625b3a89-6638-4b33-9eb0-2f683d0f3088" providerId="ADAL" clId="{C9CCAF64-84E7-47C7-B8F2-6387211487A1}" dt="2026-09-28T10:13:46.010" v="72"/>
          <ac:spMkLst>
            <pc:docMk/>
            <pc:sldMk cId="4254515686" sldId="774"/>
            <ac:spMk id="2" creationId="{19B51986-E7AB-4059-8403-B5F5B580DD2B}"/>
          </ac:spMkLst>
        </pc:spChg>
      </pc:sldChg>
      <pc:sldChg chg="modSp add">
        <pc:chgData name="Shrutika Khedekar" userId="625b3a89-6638-4b33-9eb0-2f683d0f3088" providerId="ADAL" clId="{C9CCAF64-84E7-47C7-B8F2-6387211487A1}" dt="2026-09-28T10:14:15.316" v="105" actId="1076"/>
        <pc:sldMkLst>
          <pc:docMk/>
          <pc:sldMk cId="303221401" sldId="775"/>
        </pc:sldMkLst>
        <pc:spChg chg="mod">
          <ac:chgData name="Shrutika Khedekar" userId="625b3a89-6638-4b33-9eb0-2f683d0f3088" providerId="ADAL" clId="{C9CCAF64-84E7-47C7-B8F2-6387211487A1}" dt="2026-09-28T10:14:15.316" v="105" actId="1076"/>
          <ac:spMkLst>
            <pc:docMk/>
            <pc:sldMk cId="303221401" sldId="775"/>
            <ac:spMk id="350" creationId="{00000000-0000-0000-0000-000000000000}"/>
          </ac:spMkLst>
        </pc:spChg>
      </pc:sldChg>
      <pc:sldChg chg="modSp add">
        <pc:chgData name="Shrutika Khedekar" userId="625b3a89-6638-4b33-9eb0-2f683d0f3088" providerId="ADAL" clId="{C9CCAF64-84E7-47C7-B8F2-6387211487A1}" dt="2026-09-28T10:16:42.770" v="141" actId="1076"/>
        <pc:sldMkLst>
          <pc:docMk/>
          <pc:sldMk cId="3039501572" sldId="776"/>
        </pc:sldMkLst>
        <pc:spChg chg="mod">
          <ac:chgData name="Shrutika Khedekar" userId="625b3a89-6638-4b33-9eb0-2f683d0f3088" providerId="ADAL" clId="{C9CCAF64-84E7-47C7-B8F2-6387211487A1}" dt="2026-09-28T10:16:36.508" v="140" actId="20577"/>
          <ac:spMkLst>
            <pc:docMk/>
            <pc:sldMk cId="3039501572" sldId="776"/>
            <ac:spMk id="350" creationId="{00000000-0000-0000-0000-000000000000}"/>
          </ac:spMkLst>
        </pc:spChg>
        <pc:grpChg chg="mod">
          <ac:chgData name="Shrutika Khedekar" userId="625b3a89-6638-4b33-9eb0-2f683d0f3088" providerId="ADAL" clId="{C9CCAF64-84E7-47C7-B8F2-6387211487A1}" dt="2026-09-28T10:16:42.770" v="141" actId="1076"/>
          <ac:grpSpMkLst>
            <pc:docMk/>
            <pc:sldMk cId="3039501572" sldId="776"/>
            <ac:grpSpMk id="347" creationId="{00000000-0000-0000-0000-000000000000}"/>
          </ac:grpSpMkLst>
        </pc:grpChg>
      </pc:sldChg>
      <pc:sldChg chg="add del">
        <pc:chgData name="Shrutika Khedekar" userId="625b3a89-6638-4b33-9eb0-2f683d0f3088" providerId="ADAL" clId="{C9CCAF64-84E7-47C7-B8F2-6387211487A1}" dt="2026-09-28T10:21:04.227" v="202" actId="2696"/>
        <pc:sldMkLst>
          <pc:docMk/>
          <pc:sldMk cId="105573934" sldId="777"/>
        </pc:sldMkLst>
      </pc:sldChg>
      <pc:sldChg chg="modSp add del">
        <pc:chgData name="Shrutika Khedekar" userId="625b3a89-6638-4b33-9eb0-2f683d0f3088" providerId="ADAL" clId="{C9CCAF64-84E7-47C7-B8F2-6387211487A1}" dt="2026-09-28T10:20:42.549" v="177" actId="2696"/>
        <pc:sldMkLst>
          <pc:docMk/>
          <pc:sldMk cId="2818053825" sldId="778"/>
        </pc:sldMkLst>
        <pc:spChg chg="mod">
          <ac:chgData name="Shrutika Khedekar" userId="625b3a89-6638-4b33-9eb0-2f683d0f3088" providerId="ADAL" clId="{C9CCAF64-84E7-47C7-B8F2-6387211487A1}" dt="2026-09-28T10:17:56.946" v="175" actId="20577"/>
          <ac:spMkLst>
            <pc:docMk/>
            <pc:sldMk cId="2818053825" sldId="778"/>
            <ac:spMk id="350" creationId="{00000000-0000-0000-0000-000000000000}"/>
          </ac:spMkLst>
        </pc:spChg>
      </pc:sldChg>
      <pc:sldChg chg="add">
        <pc:chgData name="Shrutika Khedekar" userId="625b3a89-6638-4b33-9eb0-2f683d0f3088" providerId="ADAL" clId="{C9CCAF64-84E7-47C7-B8F2-6387211487A1}" dt="2026-09-28T10:21:00.118" v="201"/>
        <pc:sldMkLst>
          <pc:docMk/>
          <pc:sldMk cId="3856473631" sldId="778"/>
        </pc:sldMkLst>
      </pc:sldChg>
      <pc:sldChg chg="modSp add">
        <pc:chgData name="Shrutika Khedekar" userId="625b3a89-6638-4b33-9eb0-2f683d0f3088" providerId="ADAL" clId="{C9CCAF64-84E7-47C7-B8F2-6387211487A1}" dt="2026-09-28T10:22:37.752" v="231" actId="20577"/>
        <pc:sldMkLst>
          <pc:docMk/>
          <pc:sldMk cId="1395527156" sldId="779"/>
        </pc:sldMkLst>
        <pc:spChg chg="mod">
          <ac:chgData name="Shrutika Khedekar" userId="625b3a89-6638-4b33-9eb0-2f683d0f3088" providerId="ADAL" clId="{C9CCAF64-84E7-47C7-B8F2-6387211487A1}" dt="2026-09-28T10:22:37.752" v="231" actId="20577"/>
          <ac:spMkLst>
            <pc:docMk/>
            <pc:sldMk cId="1395527156" sldId="779"/>
            <ac:spMk id="350" creationId="{00000000-0000-0000-0000-000000000000}"/>
          </ac:spMkLst>
        </pc:spChg>
      </pc:sldChg>
      <pc:sldChg chg="addSp delSp modSp add">
        <pc:chgData name="Shrutika Khedekar" userId="625b3a89-6638-4b33-9eb0-2f683d0f3088" providerId="ADAL" clId="{C9CCAF64-84E7-47C7-B8F2-6387211487A1}" dt="2026-09-28T10:33:27.172" v="252" actId="14100"/>
        <pc:sldMkLst>
          <pc:docMk/>
          <pc:sldMk cId="3405674234" sldId="780"/>
        </pc:sldMkLst>
        <pc:spChg chg="add del mod">
          <ac:chgData name="Shrutika Khedekar" userId="625b3a89-6638-4b33-9eb0-2f683d0f3088" providerId="ADAL" clId="{C9CCAF64-84E7-47C7-B8F2-6387211487A1}" dt="2026-09-28T10:33:01.230" v="247" actId="478"/>
          <ac:spMkLst>
            <pc:docMk/>
            <pc:sldMk cId="3405674234" sldId="780"/>
            <ac:spMk id="2" creationId="{1C1B0353-A324-45F7-970D-60EEC869428C}"/>
          </ac:spMkLst>
        </pc:spChg>
        <pc:spChg chg="add del">
          <ac:chgData name="Shrutika Khedekar" userId="625b3a89-6638-4b33-9eb0-2f683d0f3088" providerId="ADAL" clId="{C9CCAF64-84E7-47C7-B8F2-6387211487A1}" dt="2026-09-28T10:32:16.636" v="245"/>
          <ac:spMkLst>
            <pc:docMk/>
            <pc:sldMk cId="3405674234" sldId="780"/>
            <ac:spMk id="4" creationId="{3F66B416-F9DE-424B-8BC1-DD6206780FAA}"/>
          </ac:spMkLst>
        </pc:spChg>
        <pc:spChg chg="add mod">
          <ac:chgData name="Shrutika Khedekar" userId="625b3a89-6638-4b33-9eb0-2f683d0f3088" providerId="ADAL" clId="{C9CCAF64-84E7-47C7-B8F2-6387211487A1}" dt="2026-09-28T10:33:05.280" v="248" actId="1076"/>
          <ac:spMkLst>
            <pc:docMk/>
            <pc:sldMk cId="3405674234" sldId="780"/>
            <ac:spMk id="5" creationId="{9C398D8D-7A60-4B79-9B95-0F3DD513926D}"/>
          </ac:spMkLst>
        </pc:spChg>
        <pc:graphicFrameChg chg="add del mod">
          <ac:chgData name="Shrutika Khedekar" userId="625b3a89-6638-4b33-9eb0-2f683d0f3088" providerId="ADAL" clId="{C9CCAF64-84E7-47C7-B8F2-6387211487A1}" dt="2026-09-28T10:32:14.567" v="243" actId="478"/>
          <ac:graphicFrameMkLst>
            <pc:docMk/>
            <pc:sldMk cId="3405674234" sldId="780"/>
            <ac:graphicFrameMk id="3" creationId="{FD5FE7DD-D64E-4943-BA7B-C57FA3F8FA3B}"/>
          </ac:graphicFrameMkLst>
        </pc:graphicFrameChg>
        <pc:picChg chg="add mod">
          <ac:chgData name="Shrutika Khedekar" userId="625b3a89-6638-4b33-9eb0-2f683d0f3088" providerId="ADAL" clId="{C9CCAF64-84E7-47C7-B8F2-6387211487A1}" dt="2026-09-28T10:33:27.172" v="252" actId="14100"/>
          <ac:picMkLst>
            <pc:docMk/>
            <pc:sldMk cId="3405674234" sldId="780"/>
            <ac:picMk id="6" creationId="{6F66CDF9-0622-49E3-974E-8F671A163B4A}"/>
          </ac:picMkLst>
        </pc:picChg>
      </pc:sldChg>
      <pc:sldChg chg="modSp add">
        <pc:chgData name="Shrutika Khedekar" userId="625b3a89-6638-4b33-9eb0-2f683d0f3088" providerId="ADAL" clId="{C9CCAF64-84E7-47C7-B8F2-6387211487A1}" dt="2026-09-28T10:34:41.783" v="278" actId="20577"/>
        <pc:sldMkLst>
          <pc:docMk/>
          <pc:sldMk cId="2286258977" sldId="781"/>
        </pc:sldMkLst>
        <pc:spChg chg="mod">
          <ac:chgData name="Shrutika Khedekar" userId="625b3a89-6638-4b33-9eb0-2f683d0f3088" providerId="ADAL" clId="{C9CCAF64-84E7-47C7-B8F2-6387211487A1}" dt="2026-09-28T10:34:41.783" v="278" actId="20577"/>
          <ac:spMkLst>
            <pc:docMk/>
            <pc:sldMk cId="2286258977" sldId="781"/>
            <ac:spMk id="350"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E32FBC-0C7A-4F4A-AF33-C2E9134170FE}" type="doc">
      <dgm:prSet loTypeId="urn:microsoft.com/office/officeart/2009/layout/CircleArrowProcess" loCatId="process" qsTypeId="urn:microsoft.com/office/officeart/2005/8/quickstyle/simple1" qsCatId="simple" csTypeId="urn:microsoft.com/office/officeart/2005/8/colors/colorful3" csCatId="colorful" phldr="1"/>
      <dgm:spPr/>
      <dgm:t>
        <a:bodyPr/>
        <a:lstStyle/>
        <a:p>
          <a:pPr latinLnBrk="1"/>
          <a:endParaRPr lang="ko-KR" altLang="en-US"/>
        </a:p>
      </dgm:t>
    </dgm:pt>
    <dgm:pt modelId="{73ED38B9-46AC-4727-91D8-E1B552D81804}">
      <dgm:prSet phldrT="[텍스트]"/>
      <dgm:spPr/>
      <dgm:t>
        <a:bodyPr/>
        <a:lstStyle/>
        <a:p>
          <a:pPr latinLnBrk="1"/>
          <a:r>
            <a:rPr lang="en-US" altLang="ko-KR" dirty="0"/>
            <a:t>Low leg muscle</a:t>
          </a:r>
          <a:endParaRPr lang="ko-KR" altLang="en-US" dirty="0"/>
        </a:p>
      </dgm:t>
    </dgm:pt>
    <dgm:pt modelId="{CDD3403A-C7B5-4690-BD8F-5DB447029C3E}" type="parTrans" cxnId="{699E32B3-551F-4775-B360-63E435A3CBDC}">
      <dgm:prSet/>
      <dgm:spPr/>
      <dgm:t>
        <a:bodyPr/>
        <a:lstStyle/>
        <a:p>
          <a:pPr latinLnBrk="1"/>
          <a:endParaRPr lang="ko-KR" altLang="en-US"/>
        </a:p>
      </dgm:t>
    </dgm:pt>
    <dgm:pt modelId="{B50518B6-AAC6-421C-BC06-250D58FB6E34}" type="sibTrans" cxnId="{699E32B3-551F-4775-B360-63E435A3CBDC}">
      <dgm:prSet/>
      <dgm:spPr/>
      <dgm:t>
        <a:bodyPr/>
        <a:lstStyle/>
        <a:p>
          <a:pPr latinLnBrk="1"/>
          <a:endParaRPr lang="ko-KR" altLang="en-US"/>
        </a:p>
      </dgm:t>
    </dgm:pt>
    <dgm:pt modelId="{AA1A54E5-228A-43FB-B51D-F0F9A8C55B68}">
      <dgm:prSet phldrT="[텍스트]"/>
      <dgm:spPr/>
      <dgm:t>
        <a:bodyPr/>
        <a:lstStyle/>
        <a:p>
          <a:pPr latinLnBrk="1"/>
          <a:r>
            <a:rPr lang="en-US" altLang="ko-KR" dirty="0"/>
            <a:t>Muscle weakness</a:t>
          </a:r>
          <a:endParaRPr lang="ko-KR" altLang="en-US" dirty="0"/>
        </a:p>
      </dgm:t>
    </dgm:pt>
    <dgm:pt modelId="{1D51D636-F4F8-4D64-AAF1-4BCC0C6CE06F}" type="parTrans" cxnId="{47582BF3-818F-4657-8932-81ED4C610212}">
      <dgm:prSet/>
      <dgm:spPr/>
      <dgm:t>
        <a:bodyPr/>
        <a:lstStyle/>
        <a:p>
          <a:pPr latinLnBrk="1"/>
          <a:endParaRPr lang="ko-KR" altLang="en-US"/>
        </a:p>
      </dgm:t>
    </dgm:pt>
    <dgm:pt modelId="{C615A4A8-4429-4672-A089-D0AAEEB894D3}" type="sibTrans" cxnId="{47582BF3-818F-4657-8932-81ED4C610212}">
      <dgm:prSet/>
      <dgm:spPr/>
      <dgm:t>
        <a:bodyPr/>
        <a:lstStyle/>
        <a:p>
          <a:pPr latinLnBrk="1"/>
          <a:endParaRPr lang="ko-KR" altLang="en-US"/>
        </a:p>
      </dgm:t>
    </dgm:pt>
    <dgm:pt modelId="{2ADE063D-3577-4ACB-B884-78D2CDC61E2E}">
      <dgm:prSet phldrT="[텍스트]"/>
      <dgm:spPr/>
      <dgm:t>
        <a:bodyPr/>
        <a:lstStyle/>
        <a:p>
          <a:pPr latinLnBrk="1"/>
          <a:r>
            <a:rPr lang="en-US" altLang="ko-KR" dirty="0"/>
            <a:t>Physical Activity ↓</a:t>
          </a:r>
          <a:endParaRPr lang="ko-KR" altLang="en-US" dirty="0"/>
        </a:p>
      </dgm:t>
    </dgm:pt>
    <dgm:pt modelId="{28D17306-589F-434D-BEBC-3D4082C5E682}" type="parTrans" cxnId="{03B4D81F-6B95-4D6C-B794-27DEE0B403F7}">
      <dgm:prSet/>
      <dgm:spPr/>
      <dgm:t>
        <a:bodyPr/>
        <a:lstStyle/>
        <a:p>
          <a:pPr latinLnBrk="1"/>
          <a:endParaRPr lang="ko-KR" altLang="en-US"/>
        </a:p>
      </dgm:t>
    </dgm:pt>
    <dgm:pt modelId="{98835283-887A-4C51-A705-056549FF75A5}" type="sibTrans" cxnId="{03B4D81F-6B95-4D6C-B794-27DEE0B403F7}">
      <dgm:prSet/>
      <dgm:spPr/>
      <dgm:t>
        <a:bodyPr/>
        <a:lstStyle/>
        <a:p>
          <a:pPr latinLnBrk="1"/>
          <a:endParaRPr lang="ko-KR" altLang="en-US"/>
        </a:p>
      </dgm:t>
    </dgm:pt>
    <dgm:pt modelId="{82CE8ED9-FFBC-4DBA-8499-EC9A33883FB9}">
      <dgm:prSet/>
      <dgm:spPr/>
      <dgm:t>
        <a:bodyPr/>
        <a:lstStyle/>
        <a:p>
          <a:pPr latinLnBrk="1"/>
          <a:r>
            <a:rPr lang="en-US" altLang="ko-KR" dirty="0"/>
            <a:t>Muscle loss</a:t>
          </a:r>
          <a:endParaRPr lang="ko-KR" altLang="en-US" dirty="0"/>
        </a:p>
      </dgm:t>
    </dgm:pt>
    <dgm:pt modelId="{EEE12CC0-F772-4C2C-A5A8-363EEDC913EA}" type="parTrans" cxnId="{70885F43-BDF0-4434-9C15-D67BF99AF156}">
      <dgm:prSet/>
      <dgm:spPr/>
      <dgm:t>
        <a:bodyPr/>
        <a:lstStyle/>
        <a:p>
          <a:pPr latinLnBrk="1"/>
          <a:endParaRPr lang="ko-KR" altLang="en-US"/>
        </a:p>
      </dgm:t>
    </dgm:pt>
    <dgm:pt modelId="{00DFA58D-B643-42AB-B3B9-9012B9DCCFBC}" type="sibTrans" cxnId="{70885F43-BDF0-4434-9C15-D67BF99AF156}">
      <dgm:prSet/>
      <dgm:spPr/>
      <dgm:t>
        <a:bodyPr/>
        <a:lstStyle/>
        <a:p>
          <a:pPr latinLnBrk="1"/>
          <a:endParaRPr lang="ko-KR" altLang="en-US"/>
        </a:p>
      </dgm:t>
    </dgm:pt>
    <dgm:pt modelId="{36D557F6-7FDC-4AA2-A1AA-5AFFBB282B2C}">
      <dgm:prSet/>
      <dgm:spPr/>
      <dgm:t>
        <a:bodyPr/>
        <a:lstStyle/>
        <a:p>
          <a:pPr latinLnBrk="1"/>
          <a:r>
            <a:rPr lang="en-US" altLang="ko-KR" dirty="0"/>
            <a:t>Insulin resistance </a:t>
          </a:r>
          <a:r>
            <a:rPr lang="en-US" altLang="ko-KR" dirty="0">
              <a:latin typeface="맑은 고딕" panose="020B0503020000020004" pitchFamily="50" charset="-127"/>
              <a:ea typeface="맑은 고딕" panose="020B0503020000020004" pitchFamily="50" charset="-127"/>
            </a:rPr>
            <a:t>↑</a:t>
          </a:r>
          <a:endParaRPr lang="ko-KR" altLang="en-US" dirty="0"/>
        </a:p>
      </dgm:t>
    </dgm:pt>
    <dgm:pt modelId="{2CD82DDF-424B-4C97-9C36-FB1AB1665A1F}" type="parTrans" cxnId="{9CC58635-1BA7-4C26-B8FF-3C56FBACC048}">
      <dgm:prSet/>
      <dgm:spPr/>
      <dgm:t>
        <a:bodyPr/>
        <a:lstStyle/>
        <a:p>
          <a:pPr latinLnBrk="1"/>
          <a:endParaRPr lang="ko-KR" altLang="en-US"/>
        </a:p>
      </dgm:t>
    </dgm:pt>
    <dgm:pt modelId="{081D0616-BC3F-4E56-AC3D-B2C33D3DBBE5}" type="sibTrans" cxnId="{9CC58635-1BA7-4C26-B8FF-3C56FBACC048}">
      <dgm:prSet/>
      <dgm:spPr/>
      <dgm:t>
        <a:bodyPr/>
        <a:lstStyle/>
        <a:p>
          <a:pPr latinLnBrk="1"/>
          <a:endParaRPr lang="ko-KR" altLang="en-US"/>
        </a:p>
      </dgm:t>
    </dgm:pt>
    <dgm:pt modelId="{C82FAD3A-E565-43BE-81F9-3F5CE07BBAF6}" type="pres">
      <dgm:prSet presAssocID="{09E32FBC-0C7A-4F4A-AF33-C2E9134170FE}" presName="Name0" presStyleCnt="0">
        <dgm:presLayoutVars>
          <dgm:chMax val="7"/>
          <dgm:chPref val="7"/>
          <dgm:dir/>
          <dgm:animLvl val="lvl"/>
        </dgm:presLayoutVars>
      </dgm:prSet>
      <dgm:spPr/>
    </dgm:pt>
    <dgm:pt modelId="{31DAB431-2C31-4CE9-B960-2A57B3A19E2A}" type="pres">
      <dgm:prSet presAssocID="{73ED38B9-46AC-4727-91D8-E1B552D81804}" presName="Accent1" presStyleCnt="0"/>
      <dgm:spPr/>
    </dgm:pt>
    <dgm:pt modelId="{D8492DCB-E75D-4E5F-AEB2-BE270ADB1883}" type="pres">
      <dgm:prSet presAssocID="{73ED38B9-46AC-4727-91D8-E1B552D81804}" presName="Accent" presStyleLbl="node1" presStyleIdx="0" presStyleCnt="5"/>
      <dgm:spPr/>
    </dgm:pt>
    <dgm:pt modelId="{4E950C64-4ED3-433F-A99A-54B9C741708B}" type="pres">
      <dgm:prSet presAssocID="{73ED38B9-46AC-4727-91D8-E1B552D81804}" presName="Parent1" presStyleLbl="revTx" presStyleIdx="0" presStyleCnt="5">
        <dgm:presLayoutVars>
          <dgm:chMax val="1"/>
          <dgm:chPref val="1"/>
          <dgm:bulletEnabled val="1"/>
        </dgm:presLayoutVars>
      </dgm:prSet>
      <dgm:spPr/>
    </dgm:pt>
    <dgm:pt modelId="{A3247463-E799-4815-941D-1E60302BCA88}" type="pres">
      <dgm:prSet presAssocID="{AA1A54E5-228A-43FB-B51D-F0F9A8C55B68}" presName="Accent2" presStyleCnt="0"/>
      <dgm:spPr/>
    </dgm:pt>
    <dgm:pt modelId="{C5D9B59F-5CAB-4E8D-B661-971601707954}" type="pres">
      <dgm:prSet presAssocID="{AA1A54E5-228A-43FB-B51D-F0F9A8C55B68}" presName="Accent" presStyleLbl="node1" presStyleIdx="1" presStyleCnt="5"/>
      <dgm:spPr/>
    </dgm:pt>
    <dgm:pt modelId="{DE007C6D-B6E8-4CDA-9716-D6819EBF8A3D}" type="pres">
      <dgm:prSet presAssocID="{AA1A54E5-228A-43FB-B51D-F0F9A8C55B68}" presName="Parent2" presStyleLbl="revTx" presStyleIdx="1" presStyleCnt="5">
        <dgm:presLayoutVars>
          <dgm:chMax val="1"/>
          <dgm:chPref val="1"/>
          <dgm:bulletEnabled val="1"/>
        </dgm:presLayoutVars>
      </dgm:prSet>
      <dgm:spPr/>
    </dgm:pt>
    <dgm:pt modelId="{FC53D90E-6DC7-4C36-AD4B-5F13EF9A2519}" type="pres">
      <dgm:prSet presAssocID="{2ADE063D-3577-4ACB-B884-78D2CDC61E2E}" presName="Accent3" presStyleCnt="0"/>
      <dgm:spPr/>
    </dgm:pt>
    <dgm:pt modelId="{443A8651-B42E-444D-B2E6-4D210C027DDC}" type="pres">
      <dgm:prSet presAssocID="{2ADE063D-3577-4ACB-B884-78D2CDC61E2E}" presName="Accent" presStyleLbl="node1" presStyleIdx="2" presStyleCnt="5"/>
      <dgm:spPr/>
    </dgm:pt>
    <dgm:pt modelId="{587F3996-99E6-4463-805C-100C15C26D43}" type="pres">
      <dgm:prSet presAssocID="{2ADE063D-3577-4ACB-B884-78D2CDC61E2E}" presName="Parent3" presStyleLbl="revTx" presStyleIdx="2" presStyleCnt="5">
        <dgm:presLayoutVars>
          <dgm:chMax val="1"/>
          <dgm:chPref val="1"/>
          <dgm:bulletEnabled val="1"/>
        </dgm:presLayoutVars>
      </dgm:prSet>
      <dgm:spPr/>
    </dgm:pt>
    <dgm:pt modelId="{0E13E6F0-3B22-460B-BC56-99AAADD602D1}" type="pres">
      <dgm:prSet presAssocID="{82CE8ED9-FFBC-4DBA-8499-EC9A33883FB9}" presName="Accent4" presStyleCnt="0"/>
      <dgm:spPr/>
    </dgm:pt>
    <dgm:pt modelId="{81192C55-60DF-4854-B114-BDE372C6F8CB}" type="pres">
      <dgm:prSet presAssocID="{82CE8ED9-FFBC-4DBA-8499-EC9A33883FB9}" presName="Accent" presStyleLbl="node1" presStyleIdx="3" presStyleCnt="5"/>
      <dgm:spPr/>
    </dgm:pt>
    <dgm:pt modelId="{ECD2D963-A95C-4533-8D65-1C50BE50587D}" type="pres">
      <dgm:prSet presAssocID="{82CE8ED9-FFBC-4DBA-8499-EC9A33883FB9}" presName="Parent4" presStyleLbl="revTx" presStyleIdx="3" presStyleCnt="5">
        <dgm:presLayoutVars>
          <dgm:chMax val="1"/>
          <dgm:chPref val="1"/>
          <dgm:bulletEnabled val="1"/>
        </dgm:presLayoutVars>
      </dgm:prSet>
      <dgm:spPr/>
    </dgm:pt>
    <dgm:pt modelId="{8EA00DBB-4FF2-411F-BE36-CAF428A3949A}" type="pres">
      <dgm:prSet presAssocID="{36D557F6-7FDC-4AA2-A1AA-5AFFBB282B2C}" presName="Accent5" presStyleCnt="0"/>
      <dgm:spPr/>
    </dgm:pt>
    <dgm:pt modelId="{32FCC25E-6FEE-43A8-BB20-0F2ECF131187}" type="pres">
      <dgm:prSet presAssocID="{36D557F6-7FDC-4AA2-A1AA-5AFFBB282B2C}" presName="Accent" presStyleLbl="node1" presStyleIdx="4" presStyleCnt="5"/>
      <dgm:spPr/>
    </dgm:pt>
    <dgm:pt modelId="{7725DA79-A855-4095-83CF-8DC8AA8A5751}" type="pres">
      <dgm:prSet presAssocID="{36D557F6-7FDC-4AA2-A1AA-5AFFBB282B2C}" presName="Parent5" presStyleLbl="revTx" presStyleIdx="4" presStyleCnt="5">
        <dgm:presLayoutVars>
          <dgm:chMax val="1"/>
          <dgm:chPref val="1"/>
          <dgm:bulletEnabled val="1"/>
        </dgm:presLayoutVars>
      </dgm:prSet>
      <dgm:spPr/>
    </dgm:pt>
  </dgm:ptLst>
  <dgm:cxnLst>
    <dgm:cxn modelId="{62E24C01-B38E-432C-A202-DC8D6518839C}" type="presOf" srcId="{AA1A54E5-228A-43FB-B51D-F0F9A8C55B68}" destId="{DE007C6D-B6E8-4CDA-9716-D6819EBF8A3D}" srcOrd="0" destOrd="0" presId="urn:microsoft.com/office/officeart/2009/layout/CircleArrowProcess"/>
    <dgm:cxn modelId="{43846009-C9DF-4EFB-8D16-1BC53D83C101}" type="presOf" srcId="{36D557F6-7FDC-4AA2-A1AA-5AFFBB282B2C}" destId="{7725DA79-A855-4095-83CF-8DC8AA8A5751}" srcOrd="0" destOrd="0" presId="urn:microsoft.com/office/officeart/2009/layout/CircleArrowProcess"/>
    <dgm:cxn modelId="{03B4D81F-6B95-4D6C-B794-27DEE0B403F7}" srcId="{09E32FBC-0C7A-4F4A-AF33-C2E9134170FE}" destId="{2ADE063D-3577-4ACB-B884-78D2CDC61E2E}" srcOrd="2" destOrd="0" parTransId="{28D17306-589F-434D-BEBC-3D4082C5E682}" sibTransId="{98835283-887A-4C51-A705-056549FF75A5}"/>
    <dgm:cxn modelId="{9CC58635-1BA7-4C26-B8FF-3C56FBACC048}" srcId="{09E32FBC-0C7A-4F4A-AF33-C2E9134170FE}" destId="{36D557F6-7FDC-4AA2-A1AA-5AFFBB282B2C}" srcOrd="4" destOrd="0" parTransId="{2CD82DDF-424B-4C97-9C36-FB1AB1665A1F}" sibTransId="{081D0616-BC3F-4E56-AC3D-B2C33D3DBBE5}"/>
    <dgm:cxn modelId="{70885F43-BDF0-4434-9C15-D67BF99AF156}" srcId="{09E32FBC-0C7A-4F4A-AF33-C2E9134170FE}" destId="{82CE8ED9-FFBC-4DBA-8499-EC9A33883FB9}" srcOrd="3" destOrd="0" parTransId="{EEE12CC0-F772-4C2C-A5A8-363EEDC913EA}" sibTransId="{00DFA58D-B643-42AB-B3B9-9012B9DCCFBC}"/>
    <dgm:cxn modelId="{28990C4C-FE49-4684-AF1C-501E3FA7BB9A}" type="presOf" srcId="{82CE8ED9-FFBC-4DBA-8499-EC9A33883FB9}" destId="{ECD2D963-A95C-4533-8D65-1C50BE50587D}" srcOrd="0" destOrd="0" presId="urn:microsoft.com/office/officeart/2009/layout/CircleArrowProcess"/>
    <dgm:cxn modelId="{D23F9C84-58E4-4917-AEE9-40DD15D15B40}" type="presOf" srcId="{2ADE063D-3577-4ACB-B884-78D2CDC61E2E}" destId="{587F3996-99E6-4463-805C-100C15C26D43}" srcOrd="0" destOrd="0" presId="urn:microsoft.com/office/officeart/2009/layout/CircleArrowProcess"/>
    <dgm:cxn modelId="{A76602B2-5811-4656-B03A-7192935A85D1}" type="presOf" srcId="{73ED38B9-46AC-4727-91D8-E1B552D81804}" destId="{4E950C64-4ED3-433F-A99A-54B9C741708B}" srcOrd="0" destOrd="0" presId="urn:microsoft.com/office/officeart/2009/layout/CircleArrowProcess"/>
    <dgm:cxn modelId="{699E32B3-551F-4775-B360-63E435A3CBDC}" srcId="{09E32FBC-0C7A-4F4A-AF33-C2E9134170FE}" destId="{73ED38B9-46AC-4727-91D8-E1B552D81804}" srcOrd="0" destOrd="0" parTransId="{CDD3403A-C7B5-4690-BD8F-5DB447029C3E}" sibTransId="{B50518B6-AAC6-421C-BC06-250D58FB6E34}"/>
    <dgm:cxn modelId="{C7215DEF-8772-4F1E-881A-4FF854514E7D}" type="presOf" srcId="{09E32FBC-0C7A-4F4A-AF33-C2E9134170FE}" destId="{C82FAD3A-E565-43BE-81F9-3F5CE07BBAF6}" srcOrd="0" destOrd="0" presId="urn:microsoft.com/office/officeart/2009/layout/CircleArrowProcess"/>
    <dgm:cxn modelId="{47582BF3-818F-4657-8932-81ED4C610212}" srcId="{09E32FBC-0C7A-4F4A-AF33-C2E9134170FE}" destId="{AA1A54E5-228A-43FB-B51D-F0F9A8C55B68}" srcOrd="1" destOrd="0" parTransId="{1D51D636-F4F8-4D64-AAF1-4BCC0C6CE06F}" sibTransId="{C615A4A8-4429-4672-A089-D0AAEEB894D3}"/>
    <dgm:cxn modelId="{8BDA0D89-7121-49B1-B6FD-777F3519EFB0}" type="presParOf" srcId="{C82FAD3A-E565-43BE-81F9-3F5CE07BBAF6}" destId="{31DAB431-2C31-4CE9-B960-2A57B3A19E2A}" srcOrd="0" destOrd="0" presId="urn:microsoft.com/office/officeart/2009/layout/CircleArrowProcess"/>
    <dgm:cxn modelId="{AFE66D27-F22A-46AB-A1EA-AF966739B8CD}" type="presParOf" srcId="{31DAB431-2C31-4CE9-B960-2A57B3A19E2A}" destId="{D8492DCB-E75D-4E5F-AEB2-BE270ADB1883}" srcOrd="0" destOrd="0" presId="urn:microsoft.com/office/officeart/2009/layout/CircleArrowProcess"/>
    <dgm:cxn modelId="{2B4A4A67-09A3-4F23-9149-9692F08E804A}" type="presParOf" srcId="{C82FAD3A-E565-43BE-81F9-3F5CE07BBAF6}" destId="{4E950C64-4ED3-433F-A99A-54B9C741708B}" srcOrd="1" destOrd="0" presId="urn:microsoft.com/office/officeart/2009/layout/CircleArrowProcess"/>
    <dgm:cxn modelId="{A60BFA97-31C8-4EAB-B98F-C000C0B7FED2}" type="presParOf" srcId="{C82FAD3A-E565-43BE-81F9-3F5CE07BBAF6}" destId="{A3247463-E799-4815-941D-1E60302BCA88}" srcOrd="2" destOrd="0" presId="urn:microsoft.com/office/officeart/2009/layout/CircleArrowProcess"/>
    <dgm:cxn modelId="{DA83E033-3888-413D-95D0-EFF428920467}" type="presParOf" srcId="{A3247463-E799-4815-941D-1E60302BCA88}" destId="{C5D9B59F-5CAB-4E8D-B661-971601707954}" srcOrd="0" destOrd="0" presId="urn:microsoft.com/office/officeart/2009/layout/CircleArrowProcess"/>
    <dgm:cxn modelId="{E6AC09DA-3DC7-4386-80F6-92ABEA9A309B}" type="presParOf" srcId="{C82FAD3A-E565-43BE-81F9-3F5CE07BBAF6}" destId="{DE007C6D-B6E8-4CDA-9716-D6819EBF8A3D}" srcOrd="3" destOrd="0" presId="urn:microsoft.com/office/officeart/2009/layout/CircleArrowProcess"/>
    <dgm:cxn modelId="{426EF413-1D3C-4442-A147-A3C424DA0671}" type="presParOf" srcId="{C82FAD3A-E565-43BE-81F9-3F5CE07BBAF6}" destId="{FC53D90E-6DC7-4C36-AD4B-5F13EF9A2519}" srcOrd="4" destOrd="0" presId="urn:microsoft.com/office/officeart/2009/layout/CircleArrowProcess"/>
    <dgm:cxn modelId="{E3ABBF6C-974C-45A2-821A-06CEEA1D5A9C}" type="presParOf" srcId="{FC53D90E-6DC7-4C36-AD4B-5F13EF9A2519}" destId="{443A8651-B42E-444D-B2E6-4D210C027DDC}" srcOrd="0" destOrd="0" presId="urn:microsoft.com/office/officeart/2009/layout/CircleArrowProcess"/>
    <dgm:cxn modelId="{F9EBE578-74C5-411F-B886-E0CDB2133C13}" type="presParOf" srcId="{C82FAD3A-E565-43BE-81F9-3F5CE07BBAF6}" destId="{587F3996-99E6-4463-805C-100C15C26D43}" srcOrd="5" destOrd="0" presId="urn:microsoft.com/office/officeart/2009/layout/CircleArrowProcess"/>
    <dgm:cxn modelId="{F8DCADE3-F65D-45F3-85B9-20DEF37F8437}" type="presParOf" srcId="{C82FAD3A-E565-43BE-81F9-3F5CE07BBAF6}" destId="{0E13E6F0-3B22-460B-BC56-99AAADD602D1}" srcOrd="6" destOrd="0" presId="urn:microsoft.com/office/officeart/2009/layout/CircleArrowProcess"/>
    <dgm:cxn modelId="{50CFD508-B8AE-45BF-862E-B8DA5A98B817}" type="presParOf" srcId="{0E13E6F0-3B22-460B-BC56-99AAADD602D1}" destId="{81192C55-60DF-4854-B114-BDE372C6F8CB}" srcOrd="0" destOrd="0" presId="urn:microsoft.com/office/officeart/2009/layout/CircleArrowProcess"/>
    <dgm:cxn modelId="{12F5FE43-FDA4-4CC6-86A2-7B83FD2AFEB0}" type="presParOf" srcId="{C82FAD3A-E565-43BE-81F9-3F5CE07BBAF6}" destId="{ECD2D963-A95C-4533-8D65-1C50BE50587D}" srcOrd="7" destOrd="0" presId="urn:microsoft.com/office/officeart/2009/layout/CircleArrowProcess"/>
    <dgm:cxn modelId="{6EFED188-A518-48AE-9B50-86ECF0F551ED}" type="presParOf" srcId="{C82FAD3A-E565-43BE-81F9-3F5CE07BBAF6}" destId="{8EA00DBB-4FF2-411F-BE36-CAF428A3949A}" srcOrd="8" destOrd="0" presId="urn:microsoft.com/office/officeart/2009/layout/CircleArrowProcess"/>
    <dgm:cxn modelId="{22E2F02A-5581-4623-8E28-2EF64A26EF4D}" type="presParOf" srcId="{8EA00DBB-4FF2-411F-BE36-CAF428A3949A}" destId="{32FCC25E-6FEE-43A8-BB20-0F2ECF131187}" srcOrd="0" destOrd="0" presId="urn:microsoft.com/office/officeart/2009/layout/CircleArrowProcess"/>
    <dgm:cxn modelId="{CD4A2B02-0D55-4900-B6D6-4312635C27BD}" type="presParOf" srcId="{C82FAD3A-E565-43BE-81F9-3F5CE07BBAF6}" destId="{7725DA79-A855-4095-83CF-8DC8AA8A5751}" srcOrd="9"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492DCB-E75D-4E5F-AEB2-BE270ADB1883}">
      <dsp:nvSpPr>
        <dsp:cNvPr id="0" name=""/>
        <dsp:cNvSpPr/>
      </dsp:nvSpPr>
      <dsp:spPr>
        <a:xfrm>
          <a:off x="2556067" y="0"/>
          <a:ext cx="1714971" cy="1715058"/>
        </a:xfrm>
        <a:prstGeom prst="circularArrow">
          <a:avLst>
            <a:gd name="adj1" fmla="val 10980"/>
            <a:gd name="adj2" fmla="val 1142322"/>
            <a:gd name="adj3" fmla="val 4500000"/>
            <a:gd name="adj4" fmla="val 10800000"/>
            <a:gd name="adj5" fmla="val 125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950C64-4ED3-433F-A99A-54B9C741708B}">
      <dsp:nvSpPr>
        <dsp:cNvPr id="0" name=""/>
        <dsp:cNvSpPr/>
      </dsp:nvSpPr>
      <dsp:spPr>
        <a:xfrm>
          <a:off x="2934705" y="621141"/>
          <a:ext cx="957051" cy="478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latinLnBrk="1">
            <a:lnSpc>
              <a:spcPct val="90000"/>
            </a:lnSpc>
            <a:spcBef>
              <a:spcPct val="0"/>
            </a:spcBef>
            <a:spcAft>
              <a:spcPct val="35000"/>
            </a:spcAft>
            <a:buNone/>
          </a:pPr>
          <a:r>
            <a:rPr lang="en-US" altLang="ko-KR" sz="1300" kern="1200" dirty="0"/>
            <a:t>Low leg muscle</a:t>
          </a:r>
          <a:endParaRPr lang="ko-KR" altLang="en-US" sz="1300" kern="1200" dirty="0"/>
        </a:p>
      </dsp:txBody>
      <dsp:txXfrm>
        <a:off x="2934705" y="621141"/>
        <a:ext cx="957051" cy="478311"/>
      </dsp:txXfrm>
    </dsp:sp>
    <dsp:sp modelId="{C5D9B59F-5CAB-4E8D-B661-971601707954}">
      <dsp:nvSpPr>
        <dsp:cNvPr id="0" name=""/>
        <dsp:cNvSpPr/>
      </dsp:nvSpPr>
      <dsp:spPr>
        <a:xfrm>
          <a:off x="2079632" y="985411"/>
          <a:ext cx="1714971" cy="1715058"/>
        </a:xfrm>
        <a:prstGeom prst="leftCircularArrow">
          <a:avLst>
            <a:gd name="adj1" fmla="val 10980"/>
            <a:gd name="adj2" fmla="val 1142322"/>
            <a:gd name="adj3" fmla="val 6300000"/>
            <a:gd name="adj4" fmla="val 18900000"/>
            <a:gd name="adj5" fmla="val 12500"/>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007C6D-B6E8-4CDA-9716-D6819EBF8A3D}">
      <dsp:nvSpPr>
        <dsp:cNvPr id="0" name=""/>
        <dsp:cNvSpPr/>
      </dsp:nvSpPr>
      <dsp:spPr>
        <a:xfrm>
          <a:off x="2456341" y="1608766"/>
          <a:ext cx="957051" cy="478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latinLnBrk="1">
            <a:lnSpc>
              <a:spcPct val="90000"/>
            </a:lnSpc>
            <a:spcBef>
              <a:spcPct val="0"/>
            </a:spcBef>
            <a:spcAft>
              <a:spcPct val="35000"/>
            </a:spcAft>
            <a:buNone/>
          </a:pPr>
          <a:r>
            <a:rPr lang="en-US" altLang="ko-KR" sz="1300" kern="1200" dirty="0"/>
            <a:t>Muscle weakness</a:t>
          </a:r>
          <a:endParaRPr lang="ko-KR" altLang="en-US" sz="1300" kern="1200" dirty="0"/>
        </a:p>
      </dsp:txBody>
      <dsp:txXfrm>
        <a:off x="2456341" y="1608766"/>
        <a:ext cx="957051" cy="478311"/>
      </dsp:txXfrm>
    </dsp:sp>
    <dsp:sp modelId="{443A8651-B42E-444D-B2E6-4D210C027DDC}">
      <dsp:nvSpPr>
        <dsp:cNvPr id="0" name=""/>
        <dsp:cNvSpPr/>
      </dsp:nvSpPr>
      <dsp:spPr>
        <a:xfrm>
          <a:off x="2556067" y="1975250"/>
          <a:ext cx="1714971" cy="1715058"/>
        </a:xfrm>
        <a:prstGeom prst="circularArrow">
          <a:avLst>
            <a:gd name="adj1" fmla="val 10980"/>
            <a:gd name="adj2" fmla="val 1142322"/>
            <a:gd name="adj3" fmla="val 4500000"/>
            <a:gd name="adj4" fmla="val 13500000"/>
            <a:gd name="adj5" fmla="val 12500"/>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7F3996-99E6-4463-805C-100C15C26D43}">
      <dsp:nvSpPr>
        <dsp:cNvPr id="0" name=""/>
        <dsp:cNvSpPr/>
      </dsp:nvSpPr>
      <dsp:spPr>
        <a:xfrm>
          <a:off x="2934705" y="2595838"/>
          <a:ext cx="957051" cy="478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latinLnBrk="1">
            <a:lnSpc>
              <a:spcPct val="90000"/>
            </a:lnSpc>
            <a:spcBef>
              <a:spcPct val="0"/>
            </a:spcBef>
            <a:spcAft>
              <a:spcPct val="35000"/>
            </a:spcAft>
            <a:buNone/>
          </a:pPr>
          <a:r>
            <a:rPr lang="en-US" altLang="ko-KR" sz="1300" kern="1200" dirty="0"/>
            <a:t>Physical Activity ↓</a:t>
          </a:r>
          <a:endParaRPr lang="ko-KR" altLang="en-US" sz="1300" kern="1200" dirty="0"/>
        </a:p>
      </dsp:txBody>
      <dsp:txXfrm>
        <a:off x="2934705" y="2595838"/>
        <a:ext cx="957051" cy="478311"/>
      </dsp:txXfrm>
    </dsp:sp>
    <dsp:sp modelId="{81192C55-60DF-4854-B114-BDE372C6F8CB}">
      <dsp:nvSpPr>
        <dsp:cNvPr id="0" name=""/>
        <dsp:cNvSpPr/>
      </dsp:nvSpPr>
      <dsp:spPr>
        <a:xfrm>
          <a:off x="2079632" y="2962322"/>
          <a:ext cx="1714971" cy="1715058"/>
        </a:xfrm>
        <a:prstGeom prst="leftCircularArrow">
          <a:avLst>
            <a:gd name="adj1" fmla="val 10980"/>
            <a:gd name="adj2" fmla="val 1142322"/>
            <a:gd name="adj3" fmla="val 6300000"/>
            <a:gd name="adj4" fmla="val 18900000"/>
            <a:gd name="adj5" fmla="val 12500"/>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D2D963-A95C-4533-8D65-1C50BE50587D}">
      <dsp:nvSpPr>
        <dsp:cNvPr id="0" name=""/>
        <dsp:cNvSpPr/>
      </dsp:nvSpPr>
      <dsp:spPr>
        <a:xfrm>
          <a:off x="2456341" y="3583463"/>
          <a:ext cx="957051" cy="478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latinLnBrk="1">
            <a:lnSpc>
              <a:spcPct val="90000"/>
            </a:lnSpc>
            <a:spcBef>
              <a:spcPct val="0"/>
            </a:spcBef>
            <a:spcAft>
              <a:spcPct val="35000"/>
            </a:spcAft>
            <a:buNone/>
          </a:pPr>
          <a:r>
            <a:rPr lang="en-US" altLang="ko-KR" sz="1300" kern="1200" dirty="0"/>
            <a:t>Muscle loss</a:t>
          </a:r>
          <a:endParaRPr lang="ko-KR" altLang="en-US" sz="1300" kern="1200" dirty="0"/>
        </a:p>
      </dsp:txBody>
      <dsp:txXfrm>
        <a:off x="2456341" y="3583463"/>
        <a:ext cx="957051" cy="478311"/>
      </dsp:txXfrm>
    </dsp:sp>
    <dsp:sp modelId="{32FCC25E-6FEE-43A8-BB20-0F2ECF131187}">
      <dsp:nvSpPr>
        <dsp:cNvPr id="0" name=""/>
        <dsp:cNvSpPr/>
      </dsp:nvSpPr>
      <dsp:spPr>
        <a:xfrm>
          <a:off x="2677990" y="4061775"/>
          <a:ext cx="1473376" cy="1474241"/>
        </a:xfrm>
        <a:prstGeom prst="blockArc">
          <a:avLst>
            <a:gd name="adj1" fmla="val 13500000"/>
            <a:gd name="adj2" fmla="val 10800000"/>
            <a:gd name="adj3" fmla="val 1274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25DA79-A855-4095-83CF-8DC8AA8A5751}">
      <dsp:nvSpPr>
        <dsp:cNvPr id="0" name=""/>
        <dsp:cNvSpPr/>
      </dsp:nvSpPr>
      <dsp:spPr>
        <a:xfrm>
          <a:off x="2934705" y="4571089"/>
          <a:ext cx="957051" cy="478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latinLnBrk="1">
            <a:lnSpc>
              <a:spcPct val="90000"/>
            </a:lnSpc>
            <a:spcBef>
              <a:spcPct val="0"/>
            </a:spcBef>
            <a:spcAft>
              <a:spcPct val="35000"/>
            </a:spcAft>
            <a:buNone/>
          </a:pPr>
          <a:r>
            <a:rPr lang="en-US" altLang="ko-KR" sz="1300" kern="1200" dirty="0"/>
            <a:t>Insulin resistance </a:t>
          </a:r>
          <a:r>
            <a:rPr lang="en-US" altLang="ko-KR" sz="1300" kern="1200" dirty="0">
              <a:latin typeface="맑은 고딕" panose="020B0503020000020004" pitchFamily="50" charset="-127"/>
              <a:ea typeface="맑은 고딕" panose="020B0503020000020004" pitchFamily="50" charset="-127"/>
            </a:rPr>
            <a:t>↑</a:t>
          </a:r>
          <a:endParaRPr lang="ko-KR" altLang="en-US" sz="1300" kern="1200" dirty="0"/>
        </a:p>
      </dsp:txBody>
      <dsp:txXfrm>
        <a:off x="2934705" y="4571089"/>
        <a:ext cx="957051" cy="478311"/>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1T06:47:26.806"/>
    </inkml:context>
    <inkml:brush xml:id="br0">
      <inkml:brushProperty name="width" value="0.035" units="cm"/>
      <inkml:brushProperty name="height" value="0.035" units="cm"/>
      <inkml:brushProperty name="color" value="#FFC11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0D8AF-A57F-4C80-A0AC-6BCED4326197}"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7FF0BD-C05C-4AA4-8278-53322C7FCF7B}" type="slidenum">
              <a:rPr lang="en-US" smtClean="0"/>
              <a:t>‹#›</a:t>
            </a:fld>
            <a:endParaRPr lang="en-US"/>
          </a:p>
        </p:txBody>
      </p:sp>
    </p:spTree>
    <p:extLst>
      <p:ext uri="{BB962C8B-B14F-4D97-AF65-F5344CB8AC3E}">
        <p14:creationId xmlns:p14="http://schemas.microsoft.com/office/powerpoint/2010/main" val="2213621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Shape 189"/>
          <p:cNvSpPr>
            <a:spLocks noGrp="1" noRot="1" noChangeAspect="1"/>
          </p:cNvSpPr>
          <p:nvPr>
            <p:ph type="sldImg"/>
          </p:nvPr>
        </p:nvSpPr>
        <p:spPr>
          <a:prstGeom prst="rect">
            <a:avLst/>
          </a:prstGeom>
        </p:spPr>
        <p:txBody>
          <a:bodyPr/>
          <a:lstStyle/>
          <a:p>
            <a:endParaRPr/>
          </a:p>
        </p:txBody>
      </p:sp>
      <p:sp>
        <p:nvSpPr>
          <p:cNvPr id="190" name="Shape 190"/>
          <p:cNvSpPr>
            <a:spLocks noGrp="1"/>
          </p:cNvSpPr>
          <p:nvPr>
            <p:ph type="body" sz="quarter" idx="1"/>
          </p:nvPr>
        </p:nvSpPr>
        <p:spPr>
          <a:prstGeom prst="rect">
            <a:avLst/>
          </a:prstGeom>
        </p:spPr>
        <p:txBody>
          <a:bodyPr/>
          <a:lstStyle/>
          <a:p>
            <a:pPr marL="227013" indent="-227013" defTabSz="915987">
              <a:lnSpc>
                <a:spcPct val="150000"/>
              </a:lnSpc>
            </a:pPr>
            <a:r>
              <a:t>The result is majorly divided into 6 parts: </a:t>
            </a:r>
          </a:p>
          <a:p>
            <a:pPr marL="227013" indent="-227013" defTabSz="915987">
              <a:lnSpc>
                <a:spcPct val="150000"/>
              </a:lnSpc>
              <a:defRPr b="1">
                <a:solidFill>
                  <a:srgbClr val="C00000"/>
                </a:solidFill>
                <a:latin typeface="Cambria"/>
                <a:ea typeface="Cambria"/>
                <a:cs typeface="Cambria"/>
                <a:sym typeface="Cambria"/>
              </a:defRPr>
            </a:pPr>
            <a:r>
              <a:t>Chapter 1. Body Composition Analysis</a:t>
            </a:r>
          </a:p>
          <a:p>
            <a:pPr marL="227013" indent="-227013" defTabSz="915987">
              <a:lnSpc>
                <a:spcPct val="150000"/>
              </a:lnSpc>
              <a:defRPr b="1">
                <a:solidFill>
                  <a:srgbClr val="C00000"/>
                </a:solidFill>
                <a:latin typeface="Cambria"/>
                <a:ea typeface="Cambria"/>
                <a:cs typeface="Cambria"/>
                <a:sym typeface="Cambria"/>
              </a:defRPr>
            </a:pPr>
            <a:r>
              <a:t>Chapter 2. Muscle-Fat Analysis</a:t>
            </a:r>
          </a:p>
          <a:p>
            <a:pPr marL="227013" indent="-227013" defTabSz="915987">
              <a:lnSpc>
                <a:spcPct val="150000"/>
              </a:lnSpc>
              <a:defRPr b="1">
                <a:solidFill>
                  <a:srgbClr val="C00000"/>
                </a:solidFill>
                <a:latin typeface="Cambria"/>
                <a:ea typeface="Cambria"/>
                <a:cs typeface="Cambria"/>
                <a:sym typeface="Cambria"/>
              </a:defRPr>
            </a:pPr>
            <a:r>
              <a:t>Chapter 3. Obesity Analysis</a:t>
            </a:r>
          </a:p>
          <a:p>
            <a:pPr marL="227013" indent="-227013" defTabSz="915987">
              <a:lnSpc>
                <a:spcPct val="150000"/>
              </a:lnSpc>
              <a:defRPr b="1">
                <a:solidFill>
                  <a:srgbClr val="C00000"/>
                </a:solidFill>
                <a:latin typeface="Cambria"/>
                <a:ea typeface="Cambria"/>
                <a:cs typeface="Cambria"/>
                <a:sym typeface="Cambria"/>
              </a:defRPr>
            </a:pPr>
            <a:r>
              <a:t>Chapter 4. Segmental Lean Balance</a:t>
            </a:r>
          </a:p>
          <a:p>
            <a:pPr marL="227013" indent="-227013" defTabSz="915987">
              <a:lnSpc>
                <a:spcPct val="150000"/>
              </a:lnSpc>
              <a:defRPr b="1">
                <a:solidFill>
                  <a:srgbClr val="C00000"/>
                </a:solidFill>
                <a:latin typeface="Cambria"/>
                <a:ea typeface="Cambria"/>
                <a:cs typeface="Cambria"/>
                <a:sym typeface="Cambria"/>
              </a:defRPr>
            </a:pPr>
            <a:r>
              <a:t>Chapter 5. Additional Data</a:t>
            </a:r>
          </a:p>
          <a:p>
            <a:pPr marL="227013" indent="-227013" defTabSz="915987">
              <a:lnSpc>
                <a:spcPct val="150000"/>
              </a:lnSpc>
              <a:defRPr b="1">
                <a:solidFill>
                  <a:srgbClr val="C00000"/>
                </a:solidFill>
                <a:latin typeface="Cambria"/>
                <a:ea typeface="Cambria"/>
                <a:cs typeface="Cambria"/>
                <a:sym typeface="Cambria"/>
              </a:defRPr>
            </a:pPr>
            <a:r>
              <a:t>Chapter 6. Phase angle and impedance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228600" indent="-228600">
              <a:buAutoNum type="arabicPeriod"/>
            </a:pPr>
            <a:r>
              <a:rPr lang="en-US" altLang="ko-KR" sz="1050" dirty="0"/>
              <a:t>InBody result sheet</a:t>
            </a:r>
          </a:p>
          <a:p>
            <a:pPr marL="171450" indent="-171450">
              <a:buFontTx/>
              <a:buChar char="-"/>
            </a:pPr>
            <a:r>
              <a:rPr lang="en-US" altLang="ko-KR" sz="1050" dirty="0"/>
              <a:t>Having more than 100 parameters</a:t>
            </a:r>
          </a:p>
          <a:p>
            <a:pPr marL="171450" indent="-171450">
              <a:buFontTx/>
              <a:buChar char="-"/>
            </a:pPr>
            <a:r>
              <a:rPr lang="en-US" altLang="ko-KR" sz="1050" dirty="0"/>
              <a:t>Seems difficult where to start but</a:t>
            </a:r>
          </a:p>
          <a:p>
            <a:pPr marL="0" indent="0">
              <a:buFontTx/>
              <a:buNone/>
            </a:pPr>
            <a:endParaRPr lang="en-US" altLang="ko-KR" sz="1050" dirty="0"/>
          </a:p>
          <a:p>
            <a:pPr marL="0" indent="0">
              <a:buFontTx/>
              <a:buNone/>
            </a:pPr>
            <a:r>
              <a:rPr lang="en-US" altLang="ko-KR" sz="1050" dirty="0"/>
              <a:t>2. But it’s all about 3 things : Fat, Muscle, Water</a:t>
            </a:r>
            <a:endParaRPr lang="ko-KR" altLang="en-US" sz="1050" dirty="0"/>
          </a:p>
        </p:txBody>
      </p:sp>
      <p:sp>
        <p:nvSpPr>
          <p:cNvPr id="4" name="슬라이드 번호 개체 틀 3"/>
          <p:cNvSpPr>
            <a:spLocks noGrp="1"/>
          </p:cNvSpPr>
          <p:nvPr>
            <p:ph type="sldNum" sz="quarter" idx="10"/>
          </p:nvPr>
        </p:nvSpPr>
        <p:spPr/>
        <p:txBody>
          <a:bodyPr/>
          <a:lstStyle/>
          <a:p>
            <a:fld id="{20056FD9-5D55-4BE3-A900-83863A4008F3}" type="slidenum">
              <a:rPr lang="ko-KR" altLang="en-US" smtClean="0"/>
              <a:t>13</a:t>
            </a:fld>
            <a:endParaRPr lang="ko-KR" altLang="en-US"/>
          </a:p>
        </p:txBody>
      </p:sp>
    </p:spTree>
    <p:extLst>
      <p:ext uri="{BB962C8B-B14F-4D97-AF65-F5344CB8AC3E}">
        <p14:creationId xmlns:p14="http://schemas.microsoft.com/office/powerpoint/2010/main" val="1798446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0056FD9-5D55-4BE3-A900-83863A4008F3}" type="slidenum">
              <a:rPr lang="ko-KR" altLang="en-US" smtClean="0"/>
              <a:t>15</a:t>
            </a:fld>
            <a:endParaRPr lang="ko-KR" altLang="en-US"/>
          </a:p>
        </p:txBody>
      </p:sp>
    </p:spTree>
    <p:extLst>
      <p:ext uri="{BB962C8B-B14F-4D97-AF65-F5344CB8AC3E}">
        <p14:creationId xmlns:p14="http://schemas.microsoft.com/office/powerpoint/2010/main" val="843031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The graphs vary for different sports. For E. g. Marathon runners will have less body fat and weight. While Crickets will have proper weight and body fat levels. Body Builders may have both in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higher ratios or can be overweight due to muscles and having less body fat.</a:t>
            </a:r>
          </a:p>
          <a:p>
            <a:endParaRPr lang="en-US" dirty="0"/>
          </a:p>
        </p:txBody>
      </p:sp>
      <p:sp>
        <p:nvSpPr>
          <p:cNvPr id="4" name="Slide Number Placeholder 3"/>
          <p:cNvSpPr>
            <a:spLocks noGrp="1"/>
          </p:cNvSpPr>
          <p:nvPr>
            <p:ph type="sldNum" sz="quarter" idx="5"/>
          </p:nvPr>
        </p:nvSpPr>
        <p:spPr/>
        <p:txBody>
          <a:bodyPr/>
          <a:lstStyle/>
          <a:p>
            <a:fld id="{17DDFDAF-4661-4CE7-A376-FAEE126C6AD7}" type="slidenum">
              <a:rPr lang="ko-KR" altLang="en-US" smtClean="0"/>
              <a:t>16</a:t>
            </a:fld>
            <a:endParaRPr lang="ko-KR" altLang="en-US"/>
          </a:p>
        </p:txBody>
      </p:sp>
    </p:spTree>
    <p:extLst>
      <p:ext uri="{BB962C8B-B14F-4D97-AF65-F5344CB8AC3E}">
        <p14:creationId xmlns:p14="http://schemas.microsoft.com/office/powerpoint/2010/main" val="2679620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DDFDAF-4661-4CE7-A376-FAEE126C6AD7}" type="slidenum">
              <a:rPr lang="ko-KR" altLang="en-US" smtClean="0"/>
              <a:t>18</a:t>
            </a:fld>
            <a:endParaRPr lang="ko-KR" altLang="en-US"/>
          </a:p>
        </p:txBody>
      </p:sp>
    </p:spTree>
    <p:extLst>
      <p:ext uri="{BB962C8B-B14F-4D97-AF65-F5344CB8AC3E}">
        <p14:creationId xmlns:p14="http://schemas.microsoft.com/office/powerpoint/2010/main" val="2395353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DDFDAF-4661-4CE7-A376-FAEE126C6AD7}" type="slidenum">
              <a:rPr lang="ko-KR" altLang="en-US" smtClean="0"/>
              <a:t>20</a:t>
            </a:fld>
            <a:endParaRPr lang="ko-KR" altLang="en-US"/>
          </a:p>
        </p:txBody>
      </p:sp>
    </p:spTree>
    <p:extLst>
      <p:ext uri="{BB962C8B-B14F-4D97-AF65-F5344CB8AC3E}">
        <p14:creationId xmlns:p14="http://schemas.microsoft.com/office/powerpoint/2010/main" val="1379046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Shape 266"/>
          <p:cNvSpPr>
            <a:spLocks noGrp="1" noRot="1" noChangeAspect="1"/>
          </p:cNvSpPr>
          <p:nvPr>
            <p:ph type="sldImg"/>
          </p:nvPr>
        </p:nvSpPr>
        <p:spPr>
          <a:prstGeom prst="rect">
            <a:avLst/>
          </a:prstGeom>
        </p:spPr>
        <p:txBody>
          <a:bodyPr/>
          <a:lstStyle/>
          <a:p>
            <a:endParaRPr/>
          </a:p>
        </p:txBody>
      </p:sp>
      <p:sp>
        <p:nvSpPr>
          <p:cNvPr id="267" name="Shape 267"/>
          <p:cNvSpPr>
            <a:spLocks noGrp="1"/>
          </p:cNvSpPr>
          <p:nvPr>
            <p:ph type="body" sz="quarter" idx="1"/>
          </p:nvPr>
        </p:nvSpPr>
        <p:spPr>
          <a:prstGeom prst="rect">
            <a:avLst/>
          </a:prstGeom>
        </p:spPr>
        <p:txBody>
          <a:bodyPr/>
          <a:lstStyle/>
          <a:p>
            <a:r>
              <a:t>BMI should not be considered as a parameter to assess health since there are cases where BMI maybe normal but there is high presence of PBF. </a:t>
            </a:r>
          </a:p>
          <a:p>
            <a:endParaRPr/>
          </a:p>
          <a:p>
            <a:r>
              <a:t>In Menopause or in PCOS/PCOD there is a observation that the PBF levels rise up to 40% and above.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Shape 382"/>
          <p:cNvSpPr>
            <a:spLocks noGrp="1" noRot="1" noChangeAspect="1"/>
          </p:cNvSpPr>
          <p:nvPr>
            <p:ph type="sldImg"/>
          </p:nvPr>
        </p:nvSpPr>
        <p:spPr>
          <a:prstGeom prst="rect">
            <a:avLst/>
          </a:prstGeom>
        </p:spPr>
        <p:txBody>
          <a:bodyPr/>
          <a:lstStyle/>
          <a:p>
            <a:endParaRPr/>
          </a:p>
        </p:txBody>
      </p:sp>
      <p:sp>
        <p:nvSpPr>
          <p:cNvPr id="383" name="Shape 383"/>
          <p:cNvSpPr>
            <a:spLocks noGrp="1"/>
          </p:cNvSpPr>
          <p:nvPr>
            <p:ph type="body" sz="quarter" idx="1"/>
          </p:nvPr>
        </p:nvSpPr>
        <p:spPr>
          <a:prstGeom prst="rect">
            <a:avLst/>
          </a:prstGeom>
        </p:spPr>
        <p:txBody>
          <a:bodyPr/>
          <a:lstStyle/>
          <a:p>
            <a:r>
              <a:t>This is to evaluate how the trainer is performing through the client’s history tracking.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38150" y="1252538"/>
            <a:ext cx="6013450" cy="3382962"/>
          </a:xfrm>
        </p:spPr>
      </p:sp>
      <p:sp>
        <p:nvSpPr>
          <p:cNvPr id="3" name="슬라이드 노트 개체 틀 2"/>
          <p:cNvSpPr>
            <a:spLocks noGrp="1"/>
          </p:cNvSpPr>
          <p:nvPr>
            <p:ph type="body" idx="1"/>
          </p:nvPr>
        </p:nvSpPr>
        <p:spPr/>
        <p:txBody>
          <a:bodyPr/>
          <a:lstStyle/>
          <a:p>
            <a:r>
              <a:rPr lang="ko-KR" altLang="en-US" dirty="0"/>
              <a:t>전신 </a:t>
            </a:r>
            <a:r>
              <a:rPr lang="ko-KR" altLang="en-US" dirty="0" err="1"/>
              <a:t>근육량과</a:t>
            </a:r>
            <a:r>
              <a:rPr lang="ko-KR" altLang="en-US" dirty="0"/>
              <a:t> 골격근량을 </a:t>
            </a:r>
            <a:r>
              <a:rPr lang="ko-KR" altLang="en-US" dirty="0" err="1"/>
              <a:t>모니터링하는</a:t>
            </a:r>
            <a:r>
              <a:rPr lang="ko-KR" altLang="en-US" dirty="0"/>
              <a:t> 것도 중요하지만 그 중 다리 </a:t>
            </a:r>
            <a:r>
              <a:rPr lang="ko-KR" altLang="en-US" dirty="0" err="1"/>
              <a:t>근육량을</a:t>
            </a:r>
            <a:r>
              <a:rPr lang="ko-KR" altLang="en-US" dirty="0"/>
              <a:t> 집중적으로 모니터링 하는 것도 필요하다</a:t>
            </a:r>
            <a:endParaRPr lang="en-US" altLang="ko-KR" dirty="0"/>
          </a:p>
          <a:p>
            <a:r>
              <a:rPr lang="ko-KR" altLang="en-US" dirty="0"/>
              <a:t>왜</a:t>
            </a:r>
            <a:r>
              <a:rPr lang="en-US" altLang="ko-KR" dirty="0"/>
              <a:t>? </a:t>
            </a:r>
            <a:r>
              <a:rPr lang="ko-KR" altLang="en-US" dirty="0"/>
              <a:t>전체 근육의 </a:t>
            </a:r>
            <a:r>
              <a:rPr lang="en-US" altLang="ko-KR" dirty="0"/>
              <a:t>2/3</a:t>
            </a:r>
            <a:r>
              <a:rPr lang="ko-KR" altLang="en-US" dirty="0"/>
              <a:t>를 차지하고</a:t>
            </a:r>
            <a:r>
              <a:rPr lang="en-US" altLang="ko-KR" dirty="0"/>
              <a:t>, </a:t>
            </a:r>
            <a:r>
              <a:rPr lang="ko-KR" altLang="en-US" dirty="0"/>
              <a:t>많은 양을 차지하는 많은 </a:t>
            </a:r>
            <a:r>
              <a:rPr lang="en-US" altLang="ko-KR" dirty="0"/>
              <a:t>Glucose clearance</a:t>
            </a:r>
            <a:r>
              <a:rPr lang="ko-KR" altLang="en-US" dirty="0"/>
              <a:t>에 더 많이 관여</a:t>
            </a:r>
            <a:endParaRPr lang="en-US" altLang="ko-KR" dirty="0"/>
          </a:p>
          <a:p>
            <a:r>
              <a:rPr lang="ko-KR" altLang="en-US" dirty="0"/>
              <a:t>실제 연구들에 따르면 많은 당뇨 환자들에게서 </a:t>
            </a:r>
            <a:r>
              <a:rPr lang="en-US" altLang="ko-KR" dirty="0"/>
              <a:t>low leg muscle</a:t>
            </a:r>
            <a:r>
              <a:rPr lang="ko-KR" altLang="en-US" dirty="0"/>
              <a:t>을 보이고 실제 </a:t>
            </a:r>
            <a:endParaRPr lang="en-IN" altLang="ko-KR" dirty="0"/>
          </a:p>
          <a:p>
            <a:endParaRPr lang="en-IN" altLang="ko-KR" dirty="0"/>
          </a:p>
          <a:p>
            <a:r>
              <a:rPr lang="ko-KR" altLang="en-US" dirty="0"/>
              <a:t>허벅지 근육이 중요한데</a:t>
            </a:r>
            <a:r>
              <a:rPr lang="en-US" altLang="ko-KR" dirty="0"/>
              <a:t>,</a:t>
            </a:r>
            <a:r>
              <a:rPr lang="ko-KR" altLang="en-US" dirty="0"/>
              <a:t> 근육이 혈당을 저장하는 역할을 해주는 곳인데</a:t>
            </a:r>
            <a:endParaRPr lang="en-IN" altLang="ko-KR" dirty="0"/>
          </a:p>
          <a:p>
            <a:r>
              <a:rPr lang="ko-KR" altLang="en-US" dirty="0"/>
              <a:t>허벅지의 경우에는 총 </a:t>
            </a:r>
            <a:r>
              <a:rPr lang="ko-KR" altLang="en-US" dirty="0" err="1"/>
              <a:t>근육량의</a:t>
            </a:r>
            <a:r>
              <a:rPr lang="ko-KR" altLang="en-US" dirty="0"/>
              <a:t> </a:t>
            </a:r>
            <a:r>
              <a:rPr lang="en-US" altLang="ko-KR" dirty="0"/>
              <a:t>2/3</a:t>
            </a:r>
            <a:r>
              <a:rPr lang="ko-KR" altLang="en-US" dirty="0" err="1"/>
              <a:t>를</a:t>
            </a:r>
            <a:r>
              <a:rPr lang="ko-KR" altLang="en-US" dirty="0"/>
              <a:t> 차지하고 있다</a:t>
            </a:r>
            <a:r>
              <a:rPr lang="en-US" altLang="ko-KR" dirty="0"/>
              <a:t>.</a:t>
            </a:r>
          </a:p>
          <a:p>
            <a:r>
              <a:rPr lang="ko-KR" altLang="en-US" dirty="0"/>
              <a:t>허벅지 근육이 많으면 면적도 </a:t>
            </a:r>
            <a:r>
              <a:rPr lang="ko-KR" altLang="en-US" dirty="0" err="1"/>
              <a:t>넓다보니</a:t>
            </a:r>
            <a:r>
              <a:rPr lang="ko-KR" altLang="en-US" dirty="0"/>
              <a:t> 혈당이 높아졌을 때 저장을 더 많이 할 수 있다</a:t>
            </a:r>
            <a:r>
              <a:rPr lang="en-US" altLang="ko-KR" dirty="0"/>
              <a:t>.</a:t>
            </a:r>
          </a:p>
          <a:p>
            <a:r>
              <a:rPr lang="ko-KR" altLang="en-US" dirty="0"/>
              <a:t>허벅지 근육이 줄어들면 반대의 효과</a:t>
            </a:r>
            <a:endParaRPr lang="en-IN" altLang="ko-KR" dirty="0"/>
          </a:p>
          <a:p>
            <a:endParaRPr lang="en-IN" altLang="ko-KR" dirty="0"/>
          </a:p>
          <a:p>
            <a:endParaRPr lang="ko-KR" altLang="en-US" dirty="0"/>
          </a:p>
        </p:txBody>
      </p:sp>
      <p:sp>
        <p:nvSpPr>
          <p:cNvPr id="4" name="슬라이드 번호 개체 틀 3"/>
          <p:cNvSpPr>
            <a:spLocks noGrp="1"/>
          </p:cNvSpPr>
          <p:nvPr>
            <p:ph type="sldNum" sz="quarter" idx="10"/>
          </p:nvPr>
        </p:nvSpPr>
        <p:spPr/>
        <p:txBody>
          <a:bodyPr/>
          <a:lstStyle/>
          <a:p>
            <a:fld id="{74809FEF-92BA-45EF-8ED0-C0986AF8FC75}" type="slidenum">
              <a:rPr lang="ko-KR" altLang="en-US" smtClean="0"/>
              <a:t>55</a:t>
            </a:fld>
            <a:endParaRPr lang="ko-KR" altLang="en-US"/>
          </a:p>
        </p:txBody>
      </p:sp>
    </p:spTree>
    <p:extLst>
      <p:ext uri="{BB962C8B-B14F-4D97-AF65-F5344CB8AC3E}">
        <p14:creationId xmlns:p14="http://schemas.microsoft.com/office/powerpoint/2010/main" val="2191650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38150" y="1252538"/>
            <a:ext cx="6013450" cy="3382962"/>
          </a:xfrm>
        </p:spPr>
      </p:sp>
      <p:sp>
        <p:nvSpPr>
          <p:cNvPr id="3" name="슬라이드 노트 개체 틀 2"/>
          <p:cNvSpPr>
            <a:spLocks noGrp="1"/>
          </p:cNvSpPr>
          <p:nvPr>
            <p:ph type="body" idx="1"/>
          </p:nvPr>
        </p:nvSpPr>
        <p:spPr/>
        <p:txBody>
          <a:bodyPr/>
          <a:lstStyle/>
          <a:p>
            <a:r>
              <a:rPr lang="ko-KR" altLang="en-US" dirty="0"/>
              <a:t>그렇기 </a:t>
            </a:r>
            <a:r>
              <a:rPr lang="ko-KR" altLang="en-US" dirty="0" err="1"/>
              <a:t>떄문에</a:t>
            </a:r>
            <a:r>
              <a:rPr lang="ko-KR" altLang="en-US" dirty="0"/>
              <a:t> 우리는 </a:t>
            </a:r>
            <a:r>
              <a:rPr lang="ko-KR" altLang="en-US" dirty="0" err="1"/>
              <a:t>근육량을</a:t>
            </a:r>
            <a:r>
              <a:rPr lang="ko-KR" altLang="en-US" dirty="0"/>
              <a:t> 통해 당뇨의 위험을 </a:t>
            </a:r>
            <a:r>
              <a:rPr lang="en-US" altLang="ko-KR" dirty="0"/>
              <a:t>Screening</a:t>
            </a:r>
            <a:r>
              <a:rPr lang="ko-KR" altLang="en-US" dirty="0"/>
              <a:t>하고</a:t>
            </a:r>
            <a:r>
              <a:rPr lang="en-US" altLang="ko-KR" dirty="0"/>
              <a:t>,</a:t>
            </a:r>
          </a:p>
          <a:p>
            <a:r>
              <a:rPr lang="ko-KR" altLang="en-US" dirty="0"/>
              <a:t>당뇨인 환자들의 </a:t>
            </a:r>
            <a:r>
              <a:rPr lang="ko-KR" altLang="en-US" dirty="0" err="1"/>
              <a:t>근육량이</a:t>
            </a:r>
            <a:r>
              <a:rPr lang="ko-KR" altLang="en-US" dirty="0"/>
              <a:t> 줄어들지 않도록</a:t>
            </a:r>
            <a:r>
              <a:rPr lang="en-US" altLang="ko-KR" dirty="0"/>
              <a:t>,</a:t>
            </a:r>
            <a:r>
              <a:rPr lang="en-US" altLang="ko-KR" baseline="0" dirty="0"/>
              <a:t> </a:t>
            </a:r>
            <a:r>
              <a:rPr lang="ko-KR" altLang="en-US" baseline="0" dirty="0" err="1"/>
              <a:t>저근육증이</a:t>
            </a:r>
            <a:r>
              <a:rPr lang="ko-KR" altLang="en-US" baseline="0" dirty="0"/>
              <a:t> 오지 않도록 </a:t>
            </a:r>
            <a:r>
              <a:rPr lang="ko-KR" altLang="en-US" baseline="0" dirty="0" err="1"/>
              <a:t>인바디를</a:t>
            </a:r>
            <a:r>
              <a:rPr lang="ko-KR" altLang="en-US" baseline="0" dirty="0"/>
              <a:t> 통해 </a:t>
            </a:r>
            <a:r>
              <a:rPr lang="ko-KR" altLang="en-US" baseline="0" dirty="0" err="1"/>
              <a:t>관리해야한다고</a:t>
            </a:r>
            <a:r>
              <a:rPr lang="ko-KR" altLang="en-US" baseline="0" dirty="0"/>
              <a:t> 말할 수 있는 것이다</a:t>
            </a:r>
            <a:r>
              <a:rPr lang="en-US" altLang="ko-KR" baseline="0" dirty="0"/>
              <a:t>.</a:t>
            </a:r>
            <a:endParaRPr lang="ko-KR" altLang="en-US" dirty="0"/>
          </a:p>
        </p:txBody>
      </p:sp>
      <p:sp>
        <p:nvSpPr>
          <p:cNvPr id="4" name="슬라이드 번호 개체 틀 3"/>
          <p:cNvSpPr>
            <a:spLocks noGrp="1"/>
          </p:cNvSpPr>
          <p:nvPr>
            <p:ph type="sldNum" sz="quarter" idx="10"/>
          </p:nvPr>
        </p:nvSpPr>
        <p:spPr/>
        <p:txBody>
          <a:bodyPr/>
          <a:lstStyle/>
          <a:p>
            <a:fld id="{493A263E-28DE-49B3-B84E-87978C2BD591}" type="slidenum">
              <a:rPr lang="ko-KR" altLang="en-US" smtClean="0"/>
              <a:t>56</a:t>
            </a:fld>
            <a:endParaRPr lang="ko-KR" altLang="en-US"/>
          </a:p>
        </p:txBody>
      </p:sp>
    </p:spTree>
    <p:extLst>
      <p:ext uri="{BB962C8B-B14F-4D97-AF65-F5344CB8AC3E}">
        <p14:creationId xmlns:p14="http://schemas.microsoft.com/office/powerpoint/2010/main" val="3679233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 of American Medical Directors Association</a:t>
            </a:r>
          </a:p>
        </p:txBody>
      </p:sp>
      <p:sp>
        <p:nvSpPr>
          <p:cNvPr id="4" name="Slide Number Placeholder 3"/>
          <p:cNvSpPr>
            <a:spLocks noGrp="1"/>
          </p:cNvSpPr>
          <p:nvPr>
            <p:ph type="sldNum" sz="quarter" idx="5"/>
          </p:nvPr>
        </p:nvSpPr>
        <p:spPr/>
        <p:txBody>
          <a:bodyPr/>
          <a:lstStyle/>
          <a:p>
            <a:fld id="{17DDFDAF-4661-4CE7-A376-FAEE126C6AD7}" type="slidenum">
              <a:rPr lang="ko-KR" altLang="en-US" smtClean="0"/>
              <a:t>57</a:t>
            </a:fld>
            <a:endParaRPr lang="ko-KR" altLang="en-US"/>
          </a:p>
        </p:txBody>
      </p:sp>
    </p:spTree>
    <p:extLst>
      <p:ext uri="{BB962C8B-B14F-4D97-AF65-F5344CB8AC3E}">
        <p14:creationId xmlns:p14="http://schemas.microsoft.com/office/powerpoint/2010/main" val="1776818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38150" y="1252538"/>
            <a:ext cx="6013450" cy="3382962"/>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74809FEF-92BA-45EF-8ED0-C0986AF8FC75}" type="slidenum">
              <a:rPr lang="ko-KR" altLang="en-US" smtClean="0"/>
              <a:t>59</a:t>
            </a:fld>
            <a:endParaRPr lang="ko-KR" altLang="en-US"/>
          </a:p>
        </p:txBody>
      </p:sp>
    </p:spTree>
    <p:extLst>
      <p:ext uri="{BB962C8B-B14F-4D97-AF65-F5344CB8AC3E}">
        <p14:creationId xmlns:p14="http://schemas.microsoft.com/office/powerpoint/2010/main" val="4102675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 연구는 제</a:t>
            </a:r>
            <a:r>
              <a:rPr lang="en-US" altLang="ko-KR" dirty="0"/>
              <a:t>2</a:t>
            </a:r>
            <a:r>
              <a:rPr lang="ko-KR" altLang="en-US" dirty="0"/>
              <a:t>형 당뇨병</a:t>
            </a:r>
            <a:r>
              <a:rPr lang="en-US" altLang="ko-KR" dirty="0"/>
              <a:t>(T2DM)</a:t>
            </a:r>
            <a:r>
              <a:rPr lang="ko-KR" altLang="en-US" dirty="0"/>
              <a:t>과 비만 성인을 대상으로 </a:t>
            </a:r>
            <a:r>
              <a:rPr lang="ko-KR" altLang="en-US" dirty="0" err="1"/>
              <a:t>세마글루타이드가</a:t>
            </a:r>
            <a:r>
              <a:rPr lang="ko-KR" altLang="en-US" dirty="0"/>
              <a:t> </a:t>
            </a:r>
            <a:r>
              <a:rPr lang="ko-KR" altLang="en-US" dirty="0" err="1"/>
              <a:t>체성분과</a:t>
            </a:r>
            <a:r>
              <a:rPr lang="ko-KR" altLang="en-US" dirty="0"/>
              <a:t> 대사 지표에 미치는 영향을 평가했습니다</a:t>
            </a:r>
            <a:r>
              <a:rPr lang="en-US" altLang="ko-KR" dirty="0"/>
              <a:t>. </a:t>
            </a:r>
            <a:r>
              <a:rPr lang="ko-KR" altLang="en-US" dirty="0" err="1"/>
              <a:t>세마글루타이드는</a:t>
            </a:r>
            <a:r>
              <a:rPr lang="ko-KR" altLang="en-US" dirty="0"/>
              <a:t> </a:t>
            </a:r>
            <a:r>
              <a:rPr lang="ko-KR" altLang="en-US" dirty="0" err="1"/>
              <a:t>글루카곤</a:t>
            </a:r>
            <a:r>
              <a:rPr lang="ko-KR" altLang="en-US" dirty="0"/>
              <a:t> 유사 </a:t>
            </a:r>
            <a:r>
              <a:rPr lang="ko-KR" altLang="en-US" dirty="0" err="1"/>
              <a:t>펩타이드</a:t>
            </a:r>
            <a:r>
              <a:rPr lang="en-US" altLang="ko-KR" dirty="0"/>
              <a:t>-1 </a:t>
            </a:r>
            <a:r>
              <a:rPr lang="ko-KR" altLang="en-US" dirty="0"/>
              <a:t>수용체 </a:t>
            </a:r>
            <a:r>
              <a:rPr lang="ko-KR" altLang="en-US" dirty="0" err="1"/>
              <a:t>작용제</a:t>
            </a:r>
            <a:r>
              <a:rPr lang="en-US" altLang="ko-KR" dirty="0"/>
              <a:t>(GLP-1ra)</a:t>
            </a:r>
            <a:r>
              <a:rPr lang="ko-KR" altLang="en-US" dirty="0"/>
              <a:t>로</a:t>
            </a:r>
            <a:r>
              <a:rPr lang="en-US" altLang="ko-KR" dirty="0"/>
              <a:t>, 24</a:t>
            </a:r>
            <a:r>
              <a:rPr lang="ko-KR" altLang="en-US" dirty="0"/>
              <a:t>주 동안 경구 또는 피하 투여 방식으로 사용되었습니다</a:t>
            </a:r>
            <a:r>
              <a:rPr lang="en-US" altLang="ko-KR" dirty="0"/>
              <a:t>. </a:t>
            </a:r>
            <a:r>
              <a:rPr lang="ko-KR" altLang="en-US" dirty="0"/>
              <a:t>연구는 </a:t>
            </a:r>
            <a:r>
              <a:rPr lang="ko-KR" altLang="en-US" dirty="0" err="1"/>
              <a:t>지방량</a:t>
            </a:r>
            <a:r>
              <a:rPr lang="en-US" altLang="ko-KR" dirty="0"/>
              <a:t>(FM), </a:t>
            </a:r>
            <a:r>
              <a:rPr lang="ko-KR" altLang="en-US" dirty="0" err="1"/>
              <a:t>제지방량</a:t>
            </a:r>
            <a:r>
              <a:rPr lang="en-US" altLang="ko-KR" dirty="0"/>
              <a:t>(FFM), </a:t>
            </a:r>
            <a:r>
              <a:rPr lang="ko-KR" altLang="en-US" dirty="0"/>
              <a:t>골격근량</a:t>
            </a:r>
            <a:r>
              <a:rPr lang="en-US" altLang="ko-KR" dirty="0"/>
              <a:t>, </a:t>
            </a:r>
            <a:r>
              <a:rPr lang="ko-KR" altLang="en-US" dirty="0"/>
              <a:t>총 체수분량</a:t>
            </a:r>
            <a:r>
              <a:rPr lang="en-US" altLang="ko-KR" dirty="0"/>
              <a:t>, </a:t>
            </a:r>
            <a:r>
              <a:rPr lang="ko-KR" altLang="en-US" dirty="0" err="1"/>
              <a:t>위상각</a:t>
            </a:r>
            <a:r>
              <a:rPr lang="en-US" altLang="ko-KR" dirty="0"/>
              <a:t>(</a:t>
            </a:r>
            <a:r>
              <a:rPr lang="en-US" altLang="ko-KR" dirty="0" err="1"/>
              <a:t>PhA</a:t>
            </a:r>
            <a:r>
              <a:rPr lang="en-US" altLang="ko-KR" dirty="0"/>
              <a:t>)</a:t>
            </a:r>
            <a:r>
              <a:rPr lang="ko-KR" altLang="en-US" dirty="0"/>
              <a:t>에 미치는 영향을 중점적으로 분석했습니다</a:t>
            </a:r>
            <a:r>
              <a:rPr lang="en-US" altLang="ko-KR" dirty="0"/>
              <a:t>.</a:t>
            </a:r>
          </a:p>
          <a:p>
            <a:r>
              <a:rPr lang="en-US" altLang="ko-KR" dirty="0"/>
              <a:t>This study assesses the impact of </a:t>
            </a:r>
            <a:r>
              <a:rPr lang="en-US" altLang="ko-KR" dirty="0" err="1"/>
              <a:t>semaglutide</a:t>
            </a:r>
            <a:r>
              <a:rPr lang="en-US" altLang="ko-KR" dirty="0"/>
              <a:t> on body composition and metabolic parameters in adults with type 2 diabetes mellitus (T2DM) and obesity. </a:t>
            </a:r>
            <a:r>
              <a:rPr lang="en-US" altLang="ko-KR" dirty="0" err="1"/>
              <a:t>Semaglutide</a:t>
            </a:r>
            <a:r>
              <a:rPr lang="en-US" altLang="ko-KR" dirty="0"/>
              <a:t>, a glucagon-like peptide-1 receptor agonist (GLP-1ra), was administered either orally or subcutaneously over 24 weeks. The focus was on its effects on fat mass (FM), fat-free mass (FFM), skeletal muscle mass, total body water, and phase angle (</a:t>
            </a:r>
            <a:r>
              <a:rPr lang="en-US" altLang="ko-KR" dirty="0" err="1"/>
              <a:t>PhA</a:t>
            </a:r>
            <a:r>
              <a:rPr lang="en-US" altLang="ko-KR" dirty="0"/>
              <a:t>).</a:t>
            </a:r>
          </a:p>
          <a:p>
            <a:endParaRPr lang="en-US" altLang="ko-KR" dirty="0"/>
          </a:p>
          <a:p>
            <a:pPr marL="228600" indent="-228600">
              <a:buAutoNum type="arabicParenR"/>
            </a:pPr>
            <a:r>
              <a:rPr lang="ko-KR" altLang="en-US" dirty="0"/>
              <a:t>경구 및 피하 투여 모두 유의미한 체중 감소</a:t>
            </a:r>
            <a:r>
              <a:rPr lang="en-US" altLang="ko-KR" dirty="0"/>
              <a:t>(~9.5%)</a:t>
            </a:r>
            <a:r>
              <a:rPr lang="ko-KR" altLang="en-US" dirty="0"/>
              <a:t>를 달성했으며</a:t>
            </a:r>
            <a:r>
              <a:rPr lang="en-US" altLang="ko-KR" dirty="0"/>
              <a:t>, </a:t>
            </a:r>
            <a:r>
              <a:rPr lang="ko-KR" altLang="en-US" dirty="0"/>
              <a:t>주로 </a:t>
            </a:r>
            <a:r>
              <a:rPr lang="ko-KR" altLang="en-US" dirty="0" err="1"/>
              <a:t>지방량</a:t>
            </a:r>
            <a:r>
              <a:rPr lang="ko-KR" altLang="en-US" dirty="0"/>
              <a:t> 감소로 인해 발생했으며 </a:t>
            </a:r>
            <a:r>
              <a:rPr lang="ko-KR" altLang="en-US" dirty="0" err="1"/>
              <a:t>제지방량은</a:t>
            </a:r>
            <a:r>
              <a:rPr lang="ko-KR" altLang="en-US" dirty="0"/>
              <a:t> 유지되었습니다</a:t>
            </a:r>
            <a:r>
              <a:rPr lang="en-US" altLang="ko-KR" dirty="0"/>
              <a:t>.</a:t>
            </a:r>
            <a:br>
              <a:rPr lang="en-US" altLang="ko-KR" dirty="0"/>
            </a:br>
            <a:r>
              <a:rPr lang="en-US" altLang="ko-KR" dirty="0"/>
              <a:t>Both oral and subcutaneous administration achieved significant weight loss (~9.5%), primarily due to FM reduction while preserving lean mass.</a:t>
            </a:r>
          </a:p>
          <a:p>
            <a:pPr marL="228600" indent="-228600">
              <a:buAutoNum type="arabicParenR"/>
            </a:pPr>
            <a:r>
              <a:rPr lang="ko-KR" altLang="en-US" dirty="0"/>
              <a:t>내장지방 영역과 전체 </a:t>
            </a:r>
            <a:r>
              <a:rPr lang="ko-KR" altLang="en-US" dirty="0" err="1"/>
              <a:t>지방량에서</a:t>
            </a:r>
            <a:r>
              <a:rPr lang="ko-KR" altLang="en-US" dirty="0"/>
              <a:t> 상당한 감소가 관찰되었습니다</a:t>
            </a:r>
            <a:r>
              <a:rPr lang="en-US" altLang="ko-KR" dirty="0"/>
              <a:t>.</a:t>
            </a:r>
            <a:br>
              <a:rPr lang="en-US" altLang="ko-KR" dirty="0"/>
            </a:br>
            <a:r>
              <a:rPr lang="en-US" altLang="ko-KR" dirty="0"/>
              <a:t>Substantial reductions in visceral fat area and overall FM were observed.</a:t>
            </a:r>
          </a:p>
          <a:p>
            <a:pPr marL="228600" indent="-228600">
              <a:buAutoNum type="arabicParenR"/>
            </a:pPr>
            <a:r>
              <a:rPr lang="ko-KR" altLang="en-US" dirty="0"/>
              <a:t>치료 중 </a:t>
            </a:r>
            <a:r>
              <a:rPr lang="en-US" altLang="ko-KR" dirty="0" err="1"/>
              <a:t>PhA</a:t>
            </a:r>
            <a:r>
              <a:rPr lang="ko-KR" altLang="en-US" dirty="0"/>
              <a:t>는 안정적으로 유지되어 세포 </a:t>
            </a:r>
            <a:r>
              <a:rPr lang="ko-KR" altLang="en-US" dirty="0" err="1"/>
              <a:t>무결성이</a:t>
            </a:r>
            <a:r>
              <a:rPr lang="ko-KR" altLang="en-US" dirty="0"/>
              <a:t> 유지됨을 나타냈습니다</a:t>
            </a:r>
            <a:r>
              <a:rPr lang="en-US" altLang="ko-KR" dirty="0"/>
              <a:t>.</a:t>
            </a:r>
            <a:br>
              <a:rPr lang="en-US" altLang="ko-KR" dirty="0"/>
            </a:br>
            <a:r>
              <a:rPr lang="en-US" altLang="ko-KR" dirty="0" err="1"/>
              <a:t>PhA</a:t>
            </a:r>
            <a:r>
              <a:rPr lang="en-US" altLang="ko-KR" dirty="0"/>
              <a:t> remained stable, indicating maintained cellular integrity during the treatment.</a:t>
            </a:r>
          </a:p>
          <a:p>
            <a:pPr marL="228600" indent="-228600">
              <a:buAutoNum type="arabicParenR"/>
            </a:pPr>
            <a:r>
              <a:rPr lang="en-US" altLang="ko-KR" dirty="0"/>
              <a:t>HbA1c, </a:t>
            </a:r>
            <a:r>
              <a:rPr lang="ko-KR" altLang="en-US" dirty="0"/>
              <a:t>공복 혈당</a:t>
            </a:r>
            <a:r>
              <a:rPr lang="en-US" altLang="ko-KR" dirty="0"/>
              <a:t>, </a:t>
            </a:r>
            <a:r>
              <a:rPr lang="ko-KR" altLang="en-US" dirty="0"/>
              <a:t>지질 프로파일이 유의미하게 개선되었습니다</a:t>
            </a:r>
            <a:r>
              <a:rPr lang="en-US" altLang="ko-KR" dirty="0"/>
              <a:t>.</a:t>
            </a:r>
            <a:br>
              <a:rPr lang="en-US" altLang="ko-KR" dirty="0"/>
            </a:br>
            <a:r>
              <a:rPr lang="en-US" altLang="ko-KR" dirty="0"/>
              <a:t>HbA1c, fasting glucose, and lipid profiles improved significantly.</a:t>
            </a:r>
          </a:p>
          <a:p>
            <a:pPr marL="228600" indent="-228600">
              <a:buAutoNum type="arabicParenR"/>
            </a:pPr>
            <a:r>
              <a:rPr lang="ko-KR" altLang="en-US" dirty="0"/>
              <a:t>경구와 피하 투여 방식 간에 유사한 결과가 관찰되었습니다</a:t>
            </a:r>
            <a:r>
              <a:rPr lang="en-US" altLang="ko-KR" dirty="0"/>
              <a:t>.</a:t>
            </a:r>
            <a:br>
              <a:rPr lang="en-US" altLang="ko-KR" dirty="0"/>
            </a:br>
            <a:r>
              <a:rPr lang="en-US" altLang="ko-KR" dirty="0"/>
              <a:t>Comparable outcomes were observed between oral and subcutaneous administration routes.</a:t>
            </a:r>
            <a:endParaRPr lang="ko-KR" altLang="en-US" dirty="0"/>
          </a:p>
        </p:txBody>
      </p:sp>
      <p:sp>
        <p:nvSpPr>
          <p:cNvPr id="7" name="바닥글 개체 틀 6"/>
          <p:cNvSpPr>
            <a:spLocks noGrp="1"/>
          </p:cNvSpPr>
          <p:nvPr>
            <p:ph type="ftr" sz="quarter" idx="10"/>
          </p:nvPr>
        </p:nvSpPr>
        <p:spPr/>
        <p:txBody>
          <a:bodyPr/>
          <a:lstStyle/>
          <a:p>
            <a:r>
              <a:rPr kumimoji="1" lang="en-US" altLang="en-US"/>
              <a:t>Novo Nordisk &amp; InBody</a:t>
            </a:r>
            <a:endParaRPr kumimoji="1" lang="x-none" altLang="en-US"/>
          </a:p>
        </p:txBody>
      </p:sp>
    </p:spTree>
    <p:extLst>
      <p:ext uri="{BB962C8B-B14F-4D97-AF65-F5344CB8AC3E}">
        <p14:creationId xmlns:p14="http://schemas.microsoft.com/office/powerpoint/2010/main" val="2191188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err="1"/>
              <a:t>세마글루타이드는</a:t>
            </a:r>
            <a:r>
              <a:rPr lang="ko-KR" altLang="en-US" dirty="0"/>
              <a:t> 체지방을 효과적으로 감소시키면서 골격근량과 근력을 유지하여 비만 치료에 유망한 치료 옵션을 제공합니다</a:t>
            </a:r>
            <a:r>
              <a:rPr lang="en-US" altLang="ko-KR" dirty="0"/>
              <a:t>.</a:t>
            </a:r>
          </a:p>
          <a:p>
            <a:r>
              <a:rPr lang="en-US" altLang="ko-KR" dirty="0" err="1"/>
              <a:t>Semaglutide</a:t>
            </a:r>
            <a:r>
              <a:rPr lang="en-US" altLang="ko-KR" dirty="0"/>
              <a:t> effectively reduces body fat while preserving skeletal muscle mass and strength, offering a promising treatment for obesity in a real-world setting.</a:t>
            </a:r>
          </a:p>
          <a:p>
            <a:endParaRPr lang="ko-KR" altLang="en-US" dirty="0"/>
          </a:p>
        </p:txBody>
      </p:sp>
      <p:sp>
        <p:nvSpPr>
          <p:cNvPr id="7" name="바닥글 개체 틀 6"/>
          <p:cNvSpPr>
            <a:spLocks noGrp="1"/>
          </p:cNvSpPr>
          <p:nvPr>
            <p:ph type="ftr" sz="quarter" idx="10"/>
          </p:nvPr>
        </p:nvSpPr>
        <p:spPr/>
        <p:txBody>
          <a:bodyPr/>
          <a:lstStyle/>
          <a:p>
            <a:r>
              <a:rPr kumimoji="1" lang="en-US" altLang="en-US"/>
              <a:t>Novo Nordisk &amp; InBody</a:t>
            </a:r>
            <a:endParaRPr kumimoji="1" lang="x-none" altLang="en-US"/>
          </a:p>
        </p:txBody>
      </p:sp>
    </p:spTree>
    <p:extLst>
      <p:ext uri="{BB962C8B-B14F-4D97-AF65-F5344CB8AC3E}">
        <p14:creationId xmlns:p14="http://schemas.microsoft.com/office/powerpoint/2010/main" val="22110009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결론</a:t>
            </a:r>
            <a:r>
              <a:rPr lang="en-US" altLang="ko-KR" dirty="0"/>
              <a:t>: </a:t>
            </a:r>
            <a:r>
              <a:rPr lang="ko-KR" altLang="en-US" dirty="0" err="1"/>
              <a:t>위상각</a:t>
            </a:r>
            <a:r>
              <a:rPr lang="en-US" altLang="ko-KR" dirty="0"/>
              <a:t>(</a:t>
            </a:r>
            <a:r>
              <a:rPr lang="en-US" altLang="ko-KR" dirty="0" err="1"/>
              <a:t>PhA</a:t>
            </a:r>
            <a:r>
              <a:rPr lang="en-US" altLang="ko-KR" dirty="0"/>
              <a:t>)</a:t>
            </a:r>
            <a:r>
              <a:rPr lang="ko-KR" altLang="en-US" dirty="0"/>
              <a:t>은 비만 환자의 건강 상태를 평가하는 데 유용한 </a:t>
            </a:r>
            <a:r>
              <a:rPr lang="ko-KR" altLang="en-US" dirty="0" err="1"/>
              <a:t>바이오마커가</a:t>
            </a:r>
            <a:r>
              <a:rPr lang="ko-KR" altLang="en-US" dirty="0"/>
              <a:t> 될 수 있습니다</a:t>
            </a:r>
            <a:r>
              <a:rPr lang="en-US" altLang="ko-KR" dirty="0"/>
              <a:t>.</a:t>
            </a:r>
          </a:p>
          <a:p>
            <a:r>
              <a:rPr lang="en-US" altLang="ko-KR" dirty="0"/>
              <a:t>→ </a:t>
            </a:r>
            <a:r>
              <a:rPr lang="ko-KR" altLang="en-US" dirty="0"/>
              <a:t>체중 감량 중재 중 영양 상태와 근육 보존을 </a:t>
            </a:r>
            <a:r>
              <a:rPr lang="ko-KR" altLang="en-US" dirty="0" err="1"/>
              <a:t>모니터링하는</a:t>
            </a:r>
            <a:r>
              <a:rPr lang="ko-KR" altLang="en-US" dirty="0"/>
              <a:t> 데 유용할 수 있습니다</a:t>
            </a:r>
            <a:r>
              <a:rPr lang="en-US" altLang="ko-KR" dirty="0"/>
              <a:t>.</a:t>
            </a:r>
          </a:p>
          <a:p>
            <a:r>
              <a:rPr lang="en-US" altLang="ko-KR" dirty="0"/>
              <a:t>→ </a:t>
            </a:r>
            <a:r>
              <a:rPr lang="ko-KR" altLang="en-US" dirty="0"/>
              <a:t>비만 치료</a:t>
            </a:r>
            <a:r>
              <a:rPr lang="en-US" altLang="ko-KR" dirty="0"/>
              <a:t>(</a:t>
            </a:r>
            <a:r>
              <a:rPr lang="ko-KR" altLang="en-US" dirty="0"/>
              <a:t>식이 요법</a:t>
            </a:r>
            <a:r>
              <a:rPr lang="en-US" altLang="ko-KR" dirty="0"/>
              <a:t>, </a:t>
            </a:r>
            <a:r>
              <a:rPr lang="ko-KR" altLang="en-US" dirty="0"/>
              <a:t>운동</a:t>
            </a:r>
            <a:r>
              <a:rPr lang="en-US" altLang="ko-KR" dirty="0"/>
              <a:t>, </a:t>
            </a:r>
            <a:r>
              <a:rPr lang="ko-KR" altLang="en-US" dirty="0"/>
              <a:t>약물 치료</a:t>
            </a:r>
            <a:r>
              <a:rPr lang="en-US" altLang="ko-KR" dirty="0"/>
              <a:t>, </a:t>
            </a:r>
            <a:r>
              <a:rPr lang="ko-KR" altLang="en-US" dirty="0"/>
              <a:t>비만 수술</a:t>
            </a:r>
            <a:r>
              <a:rPr lang="en-US" altLang="ko-KR" dirty="0"/>
              <a:t>)</a:t>
            </a:r>
            <a:r>
              <a:rPr lang="ko-KR" altLang="en-US" dirty="0"/>
              <a:t>에서 </a:t>
            </a:r>
            <a:r>
              <a:rPr lang="en-US" altLang="ko-KR" dirty="0" err="1"/>
              <a:t>PhA</a:t>
            </a:r>
            <a:r>
              <a:rPr lang="en-US" altLang="ko-KR" dirty="0"/>
              <a:t> </a:t>
            </a:r>
            <a:r>
              <a:rPr lang="ko-KR" altLang="en-US" dirty="0"/>
              <a:t>변화를 </a:t>
            </a:r>
            <a:r>
              <a:rPr lang="ko-KR" altLang="en-US" dirty="0" err="1"/>
              <a:t>모니터링하는</a:t>
            </a:r>
            <a:r>
              <a:rPr lang="ko-KR" altLang="en-US" dirty="0"/>
              <a:t> 것이 도움이 될 수 있습니다</a:t>
            </a:r>
            <a:r>
              <a:rPr lang="en-US" altLang="ko-KR" dirty="0"/>
              <a:t>.</a:t>
            </a:r>
          </a:p>
          <a:p>
            <a:endParaRPr lang="ko-KR" altLang="en-US" dirty="0"/>
          </a:p>
        </p:txBody>
      </p:sp>
      <p:sp>
        <p:nvSpPr>
          <p:cNvPr id="7" name="바닥글 개체 틀 6"/>
          <p:cNvSpPr>
            <a:spLocks noGrp="1"/>
          </p:cNvSpPr>
          <p:nvPr>
            <p:ph type="ftr" sz="quarter" idx="10"/>
          </p:nvPr>
        </p:nvSpPr>
        <p:spPr/>
        <p:txBody>
          <a:bodyPr/>
          <a:lstStyle/>
          <a:p>
            <a:r>
              <a:rPr kumimoji="1" lang="en-US" altLang="en-US"/>
              <a:t>Novo Nordisk &amp; InBody</a:t>
            </a:r>
            <a:endParaRPr kumimoji="1" lang="x-none" altLang="en-US"/>
          </a:p>
        </p:txBody>
      </p:sp>
    </p:spTree>
    <p:extLst>
      <p:ext uri="{BB962C8B-B14F-4D97-AF65-F5344CB8AC3E}">
        <p14:creationId xmlns:p14="http://schemas.microsoft.com/office/powerpoint/2010/main" val="2719900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The data from the field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Lato"/>
              </a:rPr>
              <a:t>Gradual weight &amp;</a:t>
            </a:r>
            <a:r>
              <a:rPr lang="en-US" altLang="ko-KR" sz="1200" baseline="0" dirty="0">
                <a:solidFill>
                  <a:schemeClr val="tx1">
                    <a:lumMod val="75000"/>
                    <a:lumOff val="25000"/>
                  </a:schemeClr>
                </a:solidFill>
                <a:latin typeface="Lato"/>
              </a:rPr>
              <a:t> fat loss</a:t>
            </a:r>
            <a:r>
              <a:rPr lang="en-US" altLang="ko-KR" sz="1200" dirty="0">
                <a:solidFill>
                  <a:schemeClr val="tx1">
                    <a:lumMod val="75000"/>
                    <a:lumOff val="25000"/>
                  </a:schemeClr>
                </a:solidFill>
                <a:latin typeface="Lato"/>
              </a:rPr>
              <a:t>, resembling a steady slope.</a:t>
            </a:r>
            <a:br>
              <a:rPr lang="en-US" altLang="ko-KR" sz="1200" dirty="0">
                <a:solidFill>
                  <a:schemeClr val="tx1">
                    <a:lumMod val="75000"/>
                    <a:lumOff val="25000"/>
                  </a:schemeClr>
                </a:solidFill>
                <a:latin typeface="Lato"/>
              </a:rPr>
            </a:br>
            <a:endParaRPr lang="en-US" altLang="ko-KR" sz="1200" dirty="0">
              <a:solidFill>
                <a:schemeClr val="tx1">
                  <a:lumMod val="75000"/>
                  <a:lumOff val="25000"/>
                </a:schemeClr>
              </a:solidFill>
              <a:latin typeface="Lato"/>
            </a:endParaRPr>
          </a:p>
          <a:p>
            <a:r>
              <a:rPr lang="en-US" altLang="ko-KR" dirty="0"/>
              <a:t>Food</a:t>
            </a:r>
            <a:r>
              <a:rPr lang="en-US" altLang="ko-KR" baseline="0" dirty="0"/>
              <a:t> intake </a:t>
            </a:r>
            <a:r>
              <a:rPr lang="ko-KR" altLang="en-US" baseline="0" dirty="0"/>
              <a:t>가 줄었음</a:t>
            </a:r>
            <a:r>
              <a:rPr lang="en-US" altLang="ko-KR" baseline="0" dirty="0"/>
              <a:t>.</a:t>
            </a:r>
            <a:endParaRPr lang="ko-KR" altLang="en-US" dirty="0"/>
          </a:p>
        </p:txBody>
      </p:sp>
      <p:sp>
        <p:nvSpPr>
          <p:cNvPr id="7" name="바닥글 개체 틀 6"/>
          <p:cNvSpPr>
            <a:spLocks noGrp="1"/>
          </p:cNvSpPr>
          <p:nvPr>
            <p:ph type="ftr" sz="quarter" idx="10"/>
          </p:nvPr>
        </p:nvSpPr>
        <p:spPr/>
        <p:txBody>
          <a:bodyPr/>
          <a:lstStyle/>
          <a:p>
            <a:r>
              <a:rPr kumimoji="1" lang="en-US" altLang="en-US"/>
              <a:t>Novo Nordisk &amp; InBody</a:t>
            </a:r>
            <a:endParaRPr kumimoji="1" lang="x-none" altLang="en-US"/>
          </a:p>
        </p:txBody>
      </p:sp>
    </p:spTree>
    <p:extLst>
      <p:ext uri="{BB962C8B-B14F-4D97-AF65-F5344CB8AC3E}">
        <p14:creationId xmlns:p14="http://schemas.microsoft.com/office/powerpoint/2010/main" val="2023466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The data from the field</a:t>
            </a:r>
            <a:endParaRPr lang="ko-KR" altLang="en-US" dirty="0"/>
          </a:p>
        </p:txBody>
      </p:sp>
      <p:sp>
        <p:nvSpPr>
          <p:cNvPr id="7" name="바닥글 개체 틀 6"/>
          <p:cNvSpPr>
            <a:spLocks noGrp="1"/>
          </p:cNvSpPr>
          <p:nvPr>
            <p:ph type="ftr" sz="quarter" idx="10"/>
          </p:nvPr>
        </p:nvSpPr>
        <p:spPr/>
        <p:txBody>
          <a:bodyPr/>
          <a:lstStyle/>
          <a:p>
            <a:r>
              <a:rPr kumimoji="1" lang="en-US" altLang="en-US"/>
              <a:t>Novo Nordisk &amp; InBody</a:t>
            </a:r>
            <a:endParaRPr kumimoji="1" lang="x-none" altLang="en-US"/>
          </a:p>
        </p:txBody>
      </p:sp>
    </p:spTree>
    <p:extLst>
      <p:ext uri="{BB962C8B-B14F-4D97-AF65-F5344CB8AC3E}">
        <p14:creationId xmlns:p14="http://schemas.microsoft.com/office/powerpoint/2010/main" val="27525839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1" i="0" u="none" strike="noStrike" kern="1200" dirty="0">
                <a:solidFill>
                  <a:schemeClr val="tx1"/>
                </a:solidFill>
                <a:effectLst/>
                <a:latin typeface="+mn-lt"/>
                <a:ea typeface="+mn-ea"/>
                <a:cs typeface="+mn-cs"/>
              </a:rPr>
              <a:t>Thailand</a:t>
            </a:r>
            <a:r>
              <a:rPr lang="en-US" altLang="ko-KR" dirty="0"/>
              <a:t> </a:t>
            </a:r>
            <a:r>
              <a:rPr lang="en-US" altLang="ko-KR" sz="1200" b="1" i="0" u="none" strike="noStrike" kern="1200" dirty="0">
                <a:solidFill>
                  <a:schemeClr val="tx1"/>
                </a:solidFill>
                <a:effectLst/>
                <a:latin typeface="+mn-lt"/>
                <a:ea typeface="+mn-ea"/>
                <a:cs typeface="+mn-cs"/>
              </a:rPr>
              <a:t>Marketing</a:t>
            </a:r>
            <a:r>
              <a:rPr lang="en-US" altLang="ko-KR" dirty="0"/>
              <a:t> </a:t>
            </a:r>
            <a:r>
              <a:rPr lang="en-US" altLang="ko-KR" sz="1200" b="1" i="0" u="none" strike="noStrike" kern="1200" dirty="0">
                <a:solidFill>
                  <a:schemeClr val="tx1"/>
                </a:solidFill>
                <a:effectLst/>
                <a:latin typeface="+mn-lt"/>
                <a:ea typeface="+mn-ea"/>
                <a:cs typeface="+mn-cs"/>
              </a:rPr>
              <a:t>570</a:t>
            </a:r>
            <a:r>
              <a:rPr lang="en-US" altLang="ko-KR" dirty="0"/>
              <a:t> </a:t>
            </a:r>
            <a:r>
              <a:rPr lang="en-US" altLang="ko-KR" sz="1200" b="1" i="0" u="none" strike="noStrike" kern="1200" dirty="0">
                <a:solidFill>
                  <a:schemeClr val="tx1"/>
                </a:solidFill>
                <a:effectLst/>
                <a:latin typeface="+mn-lt"/>
                <a:ea typeface="+mn-ea"/>
                <a:cs typeface="+mn-cs"/>
              </a:rPr>
              <a:t>4</a:t>
            </a:r>
            <a:r>
              <a:rPr lang="en-US" altLang="ko-KR" dirty="0"/>
              <a:t> </a:t>
            </a:r>
            <a:r>
              <a:rPr lang="en-US" altLang="ko-KR" sz="1200" b="1" i="0" u="none" strike="noStrike" kern="1200" dirty="0">
                <a:solidFill>
                  <a:schemeClr val="tx1"/>
                </a:solidFill>
                <a:effectLst/>
                <a:latin typeface="+mn-lt"/>
                <a:ea typeface="+mn-ea"/>
                <a:cs typeface="+mn-cs"/>
              </a:rPr>
              <a:t>Utilizing </a:t>
            </a:r>
            <a:r>
              <a:rPr lang="en-US" altLang="ko-KR" sz="1200" b="1" i="0" u="none" strike="noStrike" kern="1200" dirty="0" err="1">
                <a:solidFill>
                  <a:schemeClr val="tx1"/>
                </a:solidFill>
                <a:effectLst/>
                <a:latin typeface="+mn-lt"/>
                <a:ea typeface="+mn-ea"/>
                <a:cs typeface="+mn-cs"/>
              </a:rPr>
              <a:t>InBody</a:t>
            </a:r>
            <a:r>
              <a:rPr lang="en-US" altLang="ko-KR" sz="1200" b="1" i="0" u="none" strike="noStrike" kern="1200" dirty="0">
                <a:solidFill>
                  <a:schemeClr val="tx1"/>
                </a:solidFill>
                <a:effectLst/>
                <a:latin typeface="+mn-lt"/>
                <a:ea typeface="+mn-ea"/>
                <a:cs typeface="+mn-cs"/>
              </a:rPr>
              <a:t> for GLP-1 marketing purposes</a:t>
            </a:r>
            <a:r>
              <a:rPr lang="en-US" altLang="ko-KR" dirty="0"/>
              <a:t> </a:t>
            </a:r>
          </a:p>
          <a:p>
            <a:endParaRPr lang="en-US" altLang="ko-KR" dirty="0"/>
          </a:p>
          <a:p>
            <a:r>
              <a:rPr lang="en-US" altLang="ko-KR" sz="1200" b="0" i="0" u="none" strike="noStrike" kern="1200" dirty="0">
                <a:solidFill>
                  <a:schemeClr val="tx1"/>
                </a:solidFill>
                <a:effectLst/>
                <a:latin typeface="+mn-lt"/>
                <a:ea typeface="+mn-ea"/>
                <a:cs typeface="+mn-cs"/>
              </a:rPr>
              <a:t>Brazil</a:t>
            </a:r>
            <a:r>
              <a:rPr lang="en-US" altLang="ko-KR" dirty="0"/>
              <a:t> </a:t>
            </a:r>
          </a:p>
          <a:p>
            <a:r>
              <a:rPr lang="en-US" altLang="ko-KR" sz="1200" b="0" i="0" u="none" strike="noStrike" kern="1200" dirty="0">
                <a:solidFill>
                  <a:schemeClr val="tx1"/>
                </a:solidFill>
                <a:effectLst/>
                <a:latin typeface="+mn-lt"/>
                <a:ea typeface="+mn-ea"/>
                <a:cs typeface="+mn-cs"/>
              </a:rPr>
              <a:t>Costa Rica</a:t>
            </a:r>
            <a:r>
              <a:rPr lang="en-US" altLang="ko-KR" dirty="0"/>
              <a:t> </a:t>
            </a:r>
          </a:p>
          <a:p>
            <a:r>
              <a:rPr lang="en-US" altLang="ko-KR" sz="1200" b="0" i="0" u="none" strike="noStrike" kern="1200" dirty="0">
                <a:solidFill>
                  <a:schemeClr val="tx1"/>
                </a:solidFill>
                <a:effectLst/>
                <a:latin typeface="+mn-lt"/>
                <a:ea typeface="+mn-ea"/>
                <a:cs typeface="+mn-cs"/>
              </a:rPr>
              <a:t>Mexico</a:t>
            </a:r>
            <a:r>
              <a:rPr lang="en-US" altLang="ko-KR" dirty="0"/>
              <a:t> </a:t>
            </a:r>
          </a:p>
          <a:p>
            <a:r>
              <a:rPr lang="en-US" altLang="ko-KR" sz="1200" b="0" i="0" u="none" strike="noStrike" kern="1200" dirty="0">
                <a:solidFill>
                  <a:schemeClr val="tx1"/>
                </a:solidFill>
                <a:effectLst/>
                <a:latin typeface="+mn-lt"/>
                <a:ea typeface="+mn-ea"/>
                <a:cs typeface="+mn-cs"/>
              </a:rPr>
              <a:t>Colombia</a:t>
            </a:r>
            <a:r>
              <a:rPr lang="en-US" altLang="ko-KR" dirty="0"/>
              <a:t> </a:t>
            </a:r>
          </a:p>
          <a:p>
            <a:r>
              <a:rPr lang="en-US" altLang="ko-KR" sz="1200" b="0" i="0" u="none" strike="noStrike" kern="1200" dirty="0">
                <a:solidFill>
                  <a:schemeClr val="tx1"/>
                </a:solidFill>
                <a:effectLst/>
                <a:latin typeface="+mn-lt"/>
                <a:ea typeface="+mn-ea"/>
                <a:cs typeface="+mn-cs"/>
              </a:rPr>
              <a:t>Czech Republic </a:t>
            </a:r>
            <a:r>
              <a:rPr lang="en-US" altLang="ko-KR" dirty="0"/>
              <a:t> </a:t>
            </a:r>
          </a:p>
          <a:p>
            <a:r>
              <a:rPr lang="en-US" altLang="ko-KR" sz="1200" b="0" i="0" u="none" strike="noStrike" kern="1200" dirty="0">
                <a:solidFill>
                  <a:schemeClr val="tx1"/>
                </a:solidFill>
                <a:effectLst/>
                <a:latin typeface="+mn-lt"/>
                <a:ea typeface="+mn-ea"/>
                <a:cs typeface="+mn-cs"/>
              </a:rPr>
              <a:t>Hungary</a:t>
            </a:r>
            <a:r>
              <a:rPr lang="en-US" altLang="ko-KR" dirty="0"/>
              <a:t> </a:t>
            </a:r>
          </a:p>
          <a:p>
            <a:r>
              <a:rPr lang="en-US" altLang="ko-KR" sz="1200" b="0" i="0" u="none" strike="noStrike" kern="1200" dirty="0">
                <a:solidFill>
                  <a:schemeClr val="tx1"/>
                </a:solidFill>
                <a:effectLst/>
                <a:latin typeface="+mn-lt"/>
                <a:ea typeface="+mn-ea"/>
                <a:cs typeface="+mn-cs"/>
              </a:rPr>
              <a:t>Russia</a:t>
            </a:r>
            <a:r>
              <a:rPr lang="en-US" altLang="ko-KR" dirty="0"/>
              <a:t> </a:t>
            </a:r>
          </a:p>
          <a:p>
            <a:r>
              <a:rPr lang="en-US" altLang="ko-KR" sz="1200" b="0" i="0" u="none" strike="noStrike" kern="1200" dirty="0">
                <a:solidFill>
                  <a:schemeClr val="tx1"/>
                </a:solidFill>
                <a:effectLst/>
                <a:latin typeface="+mn-lt"/>
                <a:ea typeface="+mn-ea"/>
                <a:cs typeface="+mn-cs"/>
              </a:rPr>
              <a:t>South Africa</a:t>
            </a:r>
            <a:r>
              <a:rPr lang="en-US" altLang="ko-KR" dirty="0"/>
              <a:t> </a:t>
            </a:r>
          </a:p>
          <a:p>
            <a:r>
              <a:rPr lang="en-US" altLang="ko-KR" sz="1200" b="0" i="0" u="none" strike="noStrike" kern="1200" dirty="0">
                <a:solidFill>
                  <a:schemeClr val="tx1"/>
                </a:solidFill>
                <a:effectLst/>
                <a:latin typeface="+mn-lt"/>
                <a:ea typeface="+mn-ea"/>
                <a:cs typeface="+mn-cs"/>
              </a:rPr>
              <a:t>Saudi Arabia</a:t>
            </a:r>
            <a:endParaRPr lang="ko-KR" altLang="en-US" dirty="0"/>
          </a:p>
        </p:txBody>
      </p:sp>
      <p:sp>
        <p:nvSpPr>
          <p:cNvPr id="7" name="바닥글 개체 틀 6"/>
          <p:cNvSpPr>
            <a:spLocks noGrp="1"/>
          </p:cNvSpPr>
          <p:nvPr>
            <p:ph type="ftr" sz="quarter" idx="10"/>
          </p:nvPr>
        </p:nvSpPr>
        <p:spPr/>
        <p:txBody>
          <a:bodyPr/>
          <a:lstStyle/>
          <a:p>
            <a:r>
              <a:rPr kumimoji="1" lang="en-US" altLang="en-US"/>
              <a:t>Novo Nordisk &amp; InBody</a:t>
            </a:r>
            <a:endParaRPr kumimoji="1" lang="x-none" altLang="en-US"/>
          </a:p>
        </p:txBody>
      </p:sp>
    </p:spTree>
    <p:extLst>
      <p:ext uri="{BB962C8B-B14F-4D97-AF65-F5344CB8AC3E}">
        <p14:creationId xmlns:p14="http://schemas.microsoft.com/office/powerpoint/2010/main" val="295924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7" name="바닥글 개체 틀 6"/>
          <p:cNvSpPr>
            <a:spLocks noGrp="1"/>
          </p:cNvSpPr>
          <p:nvPr>
            <p:ph type="ftr" sz="quarter" idx="10"/>
          </p:nvPr>
        </p:nvSpPr>
        <p:spPr/>
        <p:txBody>
          <a:bodyPr/>
          <a:lstStyle/>
          <a:p>
            <a:r>
              <a:rPr kumimoji="1" lang="en-US" altLang="en-US"/>
              <a:t>Novo Nordisk &amp; InBody</a:t>
            </a:r>
            <a:endParaRPr kumimoji="1" lang="x-none" altLang="en-US"/>
          </a:p>
        </p:txBody>
      </p:sp>
    </p:spTree>
    <p:extLst>
      <p:ext uri="{BB962C8B-B14F-4D97-AF65-F5344CB8AC3E}">
        <p14:creationId xmlns:p14="http://schemas.microsoft.com/office/powerpoint/2010/main" val="21236510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Shape 165"/>
          <p:cNvSpPr>
            <a:spLocks noGrp="1" noRot="1" noChangeAspect="1"/>
          </p:cNvSpPr>
          <p:nvPr>
            <p:ph type="sldImg"/>
          </p:nvPr>
        </p:nvSpPr>
        <p:spPr>
          <a:xfrm>
            <a:off x="381000" y="685800"/>
            <a:ext cx="6096000" cy="3429000"/>
          </a:xfrm>
          <a:prstGeom prst="rect">
            <a:avLst/>
          </a:prstGeom>
        </p:spPr>
        <p:txBody>
          <a:bodyPr/>
          <a:lstStyle/>
          <a:p>
            <a:endParaRPr/>
          </a:p>
        </p:txBody>
      </p:sp>
      <p:sp>
        <p:nvSpPr>
          <p:cNvPr id="166" name="Shape 166"/>
          <p:cNvSpPr>
            <a:spLocks noGrp="1"/>
          </p:cNvSpPr>
          <p:nvPr>
            <p:ph type="body" sz="quarter" idx="1"/>
          </p:nvPr>
        </p:nvSpPr>
        <p:spPr>
          <a:prstGeom prst="rect">
            <a:avLst/>
          </a:prstGeom>
        </p:spPr>
        <p:txBody>
          <a:bodyPr/>
          <a:lstStyle/>
          <a:p>
            <a:r>
              <a:t>I’m sure that everyone already has heard so much about diabetes.</a:t>
            </a:r>
          </a:p>
          <a:p>
            <a:r>
              <a:t>Diabetes has been on the rise, and currently 422 million adults have diabetes. This means 1 out of 11 person has diabetes.</a:t>
            </a:r>
          </a:p>
          <a:p>
            <a:endParaRPr/>
          </a:p>
          <a:p>
            <a:r>
              <a:t>As we can see on the chart, compared to 1980, number of diabetes patients has significantly rise.</a:t>
            </a:r>
          </a:p>
          <a:p>
            <a:endParaRPr/>
          </a:p>
          <a:p>
            <a:r>
              <a:t>However, the real reason we have to take good care of diabetes is because it has a lot of complications.</a:t>
            </a:r>
          </a:p>
        </p:txBody>
      </p:sp>
    </p:spTree>
    <p:extLst>
      <p:ext uri="{BB962C8B-B14F-4D97-AF65-F5344CB8AC3E}">
        <p14:creationId xmlns:p14="http://schemas.microsoft.com/office/powerpoint/2010/main" val="36884896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0056FD9-5D55-4BE3-A900-83863A4008F3}" type="slidenum">
              <a:rPr lang="ko-KR" altLang="en-US" smtClean="0"/>
              <a:t>99</a:t>
            </a:fld>
            <a:endParaRPr lang="ko-KR" altLang="en-US"/>
          </a:p>
        </p:txBody>
      </p:sp>
    </p:spTree>
    <p:extLst>
      <p:ext uri="{BB962C8B-B14F-4D97-AF65-F5344CB8AC3E}">
        <p14:creationId xmlns:p14="http://schemas.microsoft.com/office/powerpoint/2010/main" val="8430318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The graphs vary for different sports. For E. g. Marathon runners will have less body fat and weight. While Crickets will have proper weight and body fat levels. Body Builders may have both in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higher ratios or can be overweight due to muscles and having less body fat.</a:t>
            </a:r>
          </a:p>
          <a:p>
            <a:endParaRPr lang="en-US" dirty="0"/>
          </a:p>
        </p:txBody>
      </p:sp>
      <p:sp>
        <p:nvSpPr>
          <p:cNvPr id="4" name="Slide Number Placeholder 3"/>
          <p:cNvSpPr>
            <a:spLocks noGrp="1"/>
          </p:cNvSpPr>
          <p:nvPr>
            <p:ph type="sldNum" sz="quarter" idx="5"/>
          </p:nvPr>
        </p:nvSpPr>
        <p:spPr/>
        <p:txBody>
          <a:bodyPr/>
          <a:lstStyle/>
          <a:p>
            <a:fld id="{17DDFDAF-4661-4CE7-A376-FAEE126C6AD7}" type="slidenum">
              <a:rPr lang="ko-KR" altLang="en-US" smtClean="0"/>
              <a:t>100</a:t>
            </a:fld>
            <a:endParaRPr lang="ko-KR" altLang="en-US"/>
          </a:p>
        </p:txBody>
      </p:sp>
    </p:spTree>
    <p:extLst>
      <p:ext uri="{BB962C8B-B14F-4D97-AF65-F5344CB8AC3E}">
        <p14:creationId xmlns:p14="http://schemas.microsoft.com/office/powerpoint/2010/main" val="26796207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DDFDAF-4661-4CE7-A376-FAEE126C6AD7}" type="slidenum">
              <a:rPr lang="ko-KR" altLang="en-US" smtClean="0"/>
              <a:t>102</a:t>
            </a:fld>
            <a:endParaRPr lang="ko-KR" altLang="en-US"/>
          </a:p>
        </p:txBody>
      </p:sp>
    </p:spTree>
    <p:extLst>
      <p:ext uri="{BB962C8B-B14F-4D97-AF65-F5344CB8AC3E}">
        <p14:creationId xmlns:p14="http://schemas.microsoft.com/office/powerpoint/2010/main" val="23953536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DDFDAF-4661-4CE7-A376-FAEE126C6AD7}" type="slidenum">
              <a:rPr lang="ko-KR" altLang="en-US" smtClean="0"/>
              <a:t>104</a:t>
            </a:fld>
            <a:endParaRPr lang="ko-KR" altLang="en-US"/>
          </a:p>
        </p:txBody>
      </p:sp>
    </p:spTree>
    <p:extLst>
      <p:ext uri="{BB962C8B-B14F-4D97-AF65-F5344CB8AC3E}">
        <p14:creationId xmlns:p14="http://schemas.microsoft.com/office/powerpoint/2010/main" val="1379046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48853-F332-4D88-AEC1-0C5D54619D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3E7364-B695-4EF4-8343-1AD231EFB5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A5DD4A-0332-4F06-BA7B-A02AE67E01E6}"/>
              </a:ext>
            </a:extLst>
          </p:cNvPr>
          <p:cNvSpPr>
            <a:spLocks noGrp="1"/>
          </p:cNvSpPr>
          <p:nvPr>
            <p:ph type="dt" sz="half" idx="10"/>
          </p:nvPr>
        </p:nvSpPr>
        <p:spPr/>
        <p:txBody>
          <a:bodyPr/>
          <a:lstStyle/>
          <a:p>
            <a:fld id="{7F9C9AE8-AFA5-47C2-8B30-071B00D9B306}" type="datetimeFigureOut">
              <a:rPr lang="en-US" smtClean="0"/>
              <a:t>9/28/2026</a:t>
            </a:fld>
            <a:endParaRPr lang="en-US"/>
          </a:p>
        </p:txBody>
      </p:sp>
      <p:sp>
        <p:nvSpPr>
          <p:cNvPr id="5" name="Footer Placeholder 4">
            <a:extLst>
              <a:ext uri="{FF2B5EF4-FFF2-40B4-BE49-F238E27FC236}">
                <a16:creationId xmlns:a16="http://schemas.microsoft.com/office/drawing/2014/main" id="{730A0E4D-9BEF-4621-B646-56BA7C6A17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E6E2E5-EFE3-479E-976B-F3514BE8E5CB}"/>
              </a:ext>
            </a:extLst>
          </p:cNvPr>
          <p:cNvSpPr>
            <a:spLocks noGrp="1"/>
          </p:cNvSpPr>
          <p:nvPr>
            <p:ph type="sldNum" sz="quarter" idx="12"/>
          </p:nvPr>
        </p:nvSpPr>
        <p:spPr/>
        <p:txBody>
          <a:bodyPr/>
          <a:lstStyle/>
          <a:p>
            <a:fld id="{2357476D-7E33-402B-87C8-E161A51BB6DF}" type="slidenum">
              <a:rPr lang="en-US" smtClean="0"/>
              <a:t>‹#›</a:t>
            </a:fld>
            <a:endParaRPr lang="en-US"/>
          </a:p>
        </p:txBody>
      </p:sp>
    </p:spTree>
    <p:extLst>
      <p:ext uri="{BB962C8B-B14F-4D97-AF65-F5344CB8AC3E}">
        <p14:creationId xmlns:p14="http://schemas.microsoft.com/office/powerpoint/2010/main" val="751111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B5478-C835-4D55-AD58-BFC48F95C2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BA345C-3EB6-4347-988B-F93C9674320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599C6E-00E3-4CBD-81F7-3081DE183647}"/>
              </a:ext>
            </a:extLst>
          </p:cNvPr>
          <p:cNvSpPr>
            <a:spLocks noGrp="1"/>
          </p:cNvSpPr>
          <p:nvPr>
            <p:ph type="dt" sz="half" idx="10"/>
          </p:nvPr>
        </p:nvSpPr>
        <p:spPr/>
        <p:txBody>
          <a:bodyPr/>
          <a:lstStyle/>
          <a:p>
            <a:fld id="{7F9C9AE8-AFA5-47C2-8B30-071B00D9B306}" type="datetimeFigureOut">
              <a:rPr lang="en-US" smtClean="0"/>
              <a:t>9/28/2026</a:t>
            </a:fld>
            <a:endParaRPr lang="en-US"/>
          </a:p>
        </p:txBody>
      </p:sp>
      <p:sp>
        <p:nvSpPr>
          <p:cNvPr id="5" name="Footer Placeholder 4">
            <a:extLst>
              <a:ext uri="{FF2B5EF4-FFF2-40B4-BE49-F238E27FC236}">
                <a16:creationId xmlns:a16="http://schemas.microsoft.com/office/drawing/2014/main" id="{FC196B35-6444-42AC-8D4E-F631F71377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2A27C4-683A-4381-BB0A-39CB7F43E273}"/>
              </a:ext>
            </a:extLst>
          </p:cNvPr>
          <p:cNvSpPr>
            <a:spLocks noGrp="1"/>
          </p:cNvSpPr>
          <p:nvPr>
            <p:ph type="sldNum" sz="quarter" idx="12"/>
          </p:nvPr>
        </p:nvSpPr>
        <p:spPr/>
        <p:txBody>
          <a:bodyPr/>
          <a:lstStyle/>
          <a:p>
            <a:fld id="{2357476D-7E33-402B-87C8-E161A51BB6DF}" type="slidenum">
              <a:rPr lang="en-US" smtClean="0"/>
              <a:t>‹#›</a:t>
            </a:fld>
            <a:endParaRPr lang="en-US"/>
          </a:p>
        </p:txBody>
      </p:sp>
    </p:spTree>
    <p:extLst>
      <p:ext uri="{BB962C8B-B14F-4D97-AF65-F5344CB8AC3E}">
        <p14:creationId xmlns:p14="http://schemas.microsoft.com/office/powerpoint/2010/main" val="675407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87CEF-03BC-422A-84A5-596ABBAAD6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E972B5-DD46-41EC-98DB-9E35011438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4BDCC9F-74C4-49C2-B0D0-5721CCBEF750}"/>
              </a:ext>
            </a:extLst>
          </p:cNvPr>
          <p:cNvSpPr>
            <a:spLocks noGrp="1"/>
          </p:cNvSpPr>
          <p:nvPr>
            <p:ph type="dt" sz="half" idx="10"/>
          </p:nvPr>
        </p:nvSpPr>
        <p:spPr/>
        <p:txBody>
          <a:bodyPr/>
          <a:lstStyle/>
          <a:p>
            <a:fld id="{7F9C9AE8-AFA5-47C2-8B30-071B00D9B306}" type="datetimeFigureOut">
              <a:rPr lang="en-US" smtClean="0"/>
              <a:t>9/28/2026</a:t>
            </a:fld>
            <a:endParaRPr lang="en-US"/>
          </a:p>
        </p:txBody>
      </p:sp>
      <p:sp>
        <p:nvSpPr>
          <p:cNvPr id="5" name="Footer Placeholder 4">
            <a:extLst>
              <a:ext uri="{FF2B5EF4-FFF2-40B4-BE49-F238E27FC236}">
                <a16:creationId xmlns:a16="http://schemas.microsoft.com/office/drawing/2014/main" id="{15369D2E-F23E-40CA-86D2-1BE62D10BA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7F9AAB-DFE0-4E8C-8D0D-AD5069127D7F}"/>
              </a:ext>
            </a:extLst>
          </p:cNvPr>
          <p:cNvSpPr>
            <a:spLocks noGrp="1"/>
          </p:cNvSpPr>
          <p:nvPr>
            <p:ph type="sldNum" sz="quarter" idx="12"/>
          </p:nvPr>
        </p:nvSpPr>
        <p:spPr/>
        <p:txBody>
          <a:bodyPr/>
          <a:lstStyle/>
          <a:p>
            <a:fld id="{2357476D-7E33-402B-87C8-E161A51BB6DF}" type="slidenum">
              <a:rPr lang="en-US" smtClean="0"/>
              <a:t>‹#›</a:t>
            </a:fld>
            <a:endParaRPr lang="en-US"/>
          </a:p>
        </p:txBody>
      </p:sp>
    </p:spTree>
    <p:extLst>
      <p:ext uri="{BB962C8B-B14F-4D97-AF65-F5344CB8AC3E}">
        <p14:creationId xmlns:p14="http://schemas.microsoft.com/office/powerpoint/2010/main" val="3400458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0D8B3-B30F-425B-8F39-06E4AD0FF9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8DD87C-E8CF-4007-B933-6D8D2A52FC8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C37C4A-6664-4EE4-99C1-D8E64D773D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6C529D-FC8B-4445-9FD0-AB03574BD013}"/>
              </a:ext>
            </a:extLst>
          </p:cNvPr>
          <p:cNvSpPr>
            <a:spLocks noGrp="1"/>
          </p:cNvSpPr>
          <p:nvPr>
            <p:ph type="dt" sz="half" idx="10"/>
          </p:nvPr>
        </p:nvSpPr>
        <p:spPr/>
        <p:txBody>
          <a:bodyPr/>
          <a:lstStyle/>
          <a:p>
            <a:fld id="{7F9C9AE8-AFA5-47C2-8B30-071B00D9B306}" type="datetimeFigureOut">
              <a:rPr lang="en-US" smtClean="0"/>
              <a:t>9/28/2026</a:t>
            </a:fld>
            <a:endParaRPr lang="en-US"/>
          </a:p>
        </p:txBody>
      </p:sp>
      <p:sp>
        <p:nvSpPr>
          <p:cNvPr id="6" name="Footer Placeholder 5">
            <a:extLst>
              <a:ext uri="{FF2B5EF4-FFF2-40B4-BE49-F238E27FC236}">
                <a16:creationId xmlns:a16="http://schemas.microsoft.com/office/drawing/2014/main" id="{92FC0224-C44C-462C-896C-0E919B620A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4918AD-26F3-40F3-816A-AFBACAD0CD01}"/>
              </a:ext>
            </a:extLst>
          </p:cNvPr>
          <p:cNvSpPr>
            <a:spLocks noGrp="1"/>
          </p:cNvSpPr>
          <p:nvPr>
            <p:ph type="sldNum" sz="quarter" idx="12"/>
          </p:nvPr>
        </p:nvSpPr>
        <p:spPr/>
        <p:txBody>
          <a:bodyPr/>
          <a:lstStyle/>
          <a:p>
            <a:fld id="{2357476D-7E33-402B-87C8-E161A51BB6DF}" type="slidenum">
              <a:rPr lang="en-US" smtClean="0"/>
              <a:t>‹#›</a:t>
            </a:fld>
            <a:endParaRPr lang="en-US"/>
          </a:p>
        </p:txBody>
      </p:sp>
    </p:spTree>
    <p:extLst>
      <p:ext uri="{BB962C8B-B14F-4D97-AF65-F5344CB8AC3E}">
        <p14:creationId xmlns:p14="http://schemas.microsoft.com/office/powerpoint/2010/main" val="2010663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D5E23-F01C-4D5F-93B4-D79F424F9B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B4ADB1-3AEA-451F-8C73-FA2E2AD714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CA6EA99-20D2-4965-9E1C-29E9174C067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A979AEA-A605-47A0-B67F-7BAEB42BD1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7F20B26-6430-4DA8-8574-55A820A70E9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89245B-DAB8-41E2-A216-B4A60BD96939}"/>
              </a:ext>
            </a:extLst>
          </p:cNvPr>
          <p:cNvSpPr>
            <a:spLocks noGrp="1"/>
          </p:cNvSpPr>
          <p:nvPr>
            <p:ph type="dt" sz="half" idx="10"/>
          </p:nvPr>
        </p:nvSpPr>
        <p:spPr/>
        <p:txBody>
          <a:bodyPr/>
          <a:lstStyle/>
          <a:p>
            <a:fld id="{7F9C9AE8-AFA5-47C2-8B30-071B00D9B306}" type="datetimeFigureOut">
              <a:rPr lang="en-US" smtClean="0"/>
              <a:t>9/28/2026</a:t>
            </a:fld>
            <a:endParaRPr lang="en-US"/>
          </a:p>
        </p:txBody>
      </p:sp>
      <p:sp>
        <p:nvSpPr>
          <p:cNvPr id="8" name="Footer Placeholder 7">
            <a:extLst>
              <a:ext uri="{FF2B5EF4-FFF2-40B4-BE49-F238E27FC236}">
                <a16:creationId xmlns:a16="http://schemas.microsoft.com/office/drawing/2014/main" id="{C0026AEC-E227-485D-90DF-0DF61368DC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B0678FA-C188-4C2C-AFA8-E81005CA4BA3}"/>
              </a:ext>
            </a:extLst>
          </p:cNvPr>
          <p:cNvSpPr>
            <a:spLocks noGrp="1"/>
          </p:cNvSpPr>
          <p:nvPr>
            <p:ph type="sldNum" sz="quarter" idx="12"/>
          </p:nvPr>
        </p:nvSpPr>
        <p:spPr/>
        <p:txBody>
          <a:bodyPr/>
          <a:lstStyle/>
          <a:p>
            <a:fld id="{2357476D-7E33-402B-87C8-E161A51BB6DF}" type="slidenum">
              <a:rPr lang="en-US" smtClean="0"/>
              <a:t>‹#›</a:t>
            </a:fld>
            <a:endParaRPr lang="en-US"/>
          </a:p>
        </p:txBody>
      </p:sp>
    </p:spTree>
    <p:extLst>
      <p:ext uri="{BB962C8B-B14F-4D97-AF65-F5344CB8AC3E}">
        <p14:creationId xmlns:p14="http://schemas.microsoft.com/office/powerpoint/2010/main" val="1339615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5461B-91A2-4A4E-91B2-3D9FDDEAF0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6AAAD8-55C9-4B35-B7AF-A66A44599BC1}"/>
              </a:ext>
            </a:extLst>
          </p:cNvPr>
          <p:cNvSpPr>
            <a:spLocks noGrp="1"/>
          </p:cNvSpPr>
          <p:nvPr>
            <p:ph type="dt" sz="half" idx="10"/>
          </p:nvPr>
        </p:nvSpPr>
        <p:spPr/>
        <p:txBody>
          <a:bodyPr/>
          <a:lstStyle/>
          <a:p>
            <a:fld id="{7F9C9AE8-AFA5-47C2-8B30-071B00D9B306}" type="datetimeFigureOut">
              <a:rPr lang="en-US" smtClean="0"/>
              <a:t>9/28/2026</a:t>
            </a:fld>
            <a:endParaRPr lang="en-US"/>
          </a:p>
        </p:txBody>
      </p:sp>
      <p:sp>
        <p:nvSpPr>
          <p:cNvPr id="4" name="Footer Placeholder 3">
            <a:extLst>
              <a:ext uri="{FF2B5EF4-FFF2-40B4-BE49-F238E27FC236}">
                <a16:creationId xmlns:a16="http://schemas.microsoft.com/office/drawing/2014/main" id="{844DFF77-65FA-4D44-BDA0-2D62A1B04D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837AE4-DEEF-498F-B76B-273540F5DCE7}"/>
              </a:ext>
            </a:extLst>
          </p:cNvPr>
          <p:cNvSpPr>
            <a:spLocks noGrp="1"/>
          </p:cNvSpPr>
          <p:nvPr>
            <p:ph type="sldNum" sz="quarter" idx="12"/>
          </p:nvPr>
        </p:nvSpPr>
        <p:spPr/>
        <p:txBody>
          <a:bodyPr/>
          <a:lstStyle/>
          <a:p>
            <a:fld id="{2357476D-7E33-402B-87C8-E161A51BB6DF}" type="slidenum">
              <a:rPr lang="en-US" smtClean="0"/>
              <a:t>‹#›</a:t>
            </a:fld>
            <a:endParaRPr lang="en-US"/>
          </a:p>
        </p:txBody>
      </p:sp>
    </p:spTree>
    <p:extLst>
      <p:ext uri="{BB962C8B-B14F-4D97-AF65-F5344CB8AC3E}">
        <p14:creationId xmlns:p14="http://schemas.microsoft.com/office/powerpoint/2010/main" val="1257021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E3AD85-D128-43C1-86DD-375350319917}"/>
              </a:ext>
            </a:extLst>
          </p:cNvPr>
          <p:cNvSpPr>
            <a:spLocks noGrp="1"/>
          </p:cNvSpPr>
          <p:nvPr>
            <p:ph type="dt" sz="half" idx="10"/>
          </p:nvPr>
        </p:nvSpPr>
        <p:spPr/>
        <p:txBody>
          <a:bodyPr/>
          <a:lstStyle/>
          <a:p>
            <a:fld id="{7F9C9AE8-AFA5-47C2-8B30-071B00D9B306}" type="datetimeFigureOut">
              <a:rPr lang="en-US" smtClean="0"/>
              <a:t>9/28/2026</a:t>
            </a:fld>
            <a:endParaRPr lang="en-US"/>
          </a:p>
        </p:txBody>
      </p:sp>
      <p:sp>
        <p:nvSpPr>
          <p:cNvPr id="3" name="Footer Placeholder 2">
            <a:extLst>
              <a:ext uri="{FF2B5EF4-FFF2-40B4-BE49-F238E27FC236}">
                <a16:creationId xmlns:a16="http://schemas.microsoft.com/office/drawing/2014/main" id="{5CCE3884-051C-46D2-9D5B-865C496A23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1663F5-2E40-4BCB-8B6D-B9F7078A97B2}"/>
              </a:ext>
            </a:extLst>
          </p:cNvPr>
          <p:cNvSpPr>
            <a:spLocks noGrp="1"/>
          </p:cNvSpPr>
          <p:nvPr>
            <p:ph type="sldNum" sz="quarter" idx="12"/>
          </p:nvPr>
        </p:nvSpPr>
        <p:spPr/>
        <p:txBody>
          <a:bodyPr/>
          <a:lstStyle/>
          <a:p>
            <a:fld id="{2357476D-7E33-402B-87C8-E161A51BB6DF}" type="slidenum">
              <a:rPr lang="en-US" smtClean="0"/>
              <a:t>‹#›</a:t>
            </a:fld>
            <a:endParaRPr lang="en-US"/>
          </a:p>
        </p:txBody>
      </p:sp>
    </p:spTree>
    <p:extLst>
      <p:ext uri="{BB962C8B-B14F-4D97-AF65-F5344CB8AC3E}">
        <p14:creationId xmlns:p14="http://schemas.microsoft.com/office/powerpoint/2010/main" val="3289478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A0203-F9E0-4449-81D4-A6F13EEBA4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E36692-B0AC-4DA5-823F-2E55720B5C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4E53A7-B5C2-45A0-82F7-6063AA62EC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E82ED9B-1C09-4D37-AA9F-B06DC4508D3F}"/>
              </a:ext>
            </a:extLst>
          </p:cNvPr>
          <p:cNvSpPr>
            <a:spLocks noGrp="1"/>
          </p:cNvSpPr>
          <p:nvPr>
            <p:ph type="dt" sz="half" idx="10"/>
          </p:nvPr>
        </p:nvSpPr>
        <p:spPr/>
        <p:txBody>
          <a:bodyPr/>
          <a:lstStyle/>
          <a:p>
            <a:fld id="{7F9C9AE8-AFA5-47C2-8B30-071B00D9B306}" type="datetimeFigureOut">
              <a:rPr lang="en-US" smtClean="0"/>
              <a:t>9/28/2026</a:t>
            </a:fld>
            <a:endParaRPr lang="en-US"/>
          </a:p>
        </p:txBody>
      </p:sp>
      <p:sp>
        <p:nvSpPr>
          <p:cNvPr id="6" name="Footer Placeholder 5">
            <a:extLst>
              <a:ext uri="{FF2B5EF4-FFF2-40B4-BE49-F238E27FC236}">
                <a16:creationId xmlns:a16="http://schemas.microsoft.com/office/drawing/2014/main" id="{2560363C-7598-4B41-A2EC-ED1AEEC124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A70F94-A8F0-4F77-9476-220D972AC2AB}"/>
              </a:ext>
            </a:extLst>
          </p:cNvPr>
          <p:cNvSpPr>
            <a:spLocks noGrp="1"/>
          </p:cNvSpPr>
          <p:nvPr>
            <p:ph type="sldNum" sz="quarter" idx="12"/>
          </p:nvPr>
        </p:nvSpPr>
        <p:spPr/>
        <p:txBody>
          <a:bodyPr/>
          <a:lstStyle/>
          <a:p>
            <a:fld id="{2357476D-7E33-402B-87C8-E161A51BB6DF}" type="slidenum">
              <a:rPr lang="en-US" smtClean="0"/>
              <a:t>‹#›</a:t>
            </a:fld>
            <a:endParaRPr lang="en-US"/>
          </a:p>
        </p:txBody>
      </p:sp>
    </p:spTree>
    <p:extLst>
      <p:ext uri="{BB962C8B-B14F-4D97-AF65-F5344CB8AC3E}">
        <p14:creationId xmlns:p14="http://schemas.microsoft.com/office/powerpoint/2010/main" val="2957048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584B6-A512-4AD0-B6AF-FE3174B597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86B5A7-A433-44FD-9504-9C8126DFA6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7B2973-E6CB-4096-916B-73B19185A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1E63F32-1BB6-4196-832E-10175C1FE480}"/>
              </a:ext>
            </a:extLst>
          </p:cNvPr>
          <p:cNvSpPr>
            <a:spLocks noGrp="1"/>
          </p:cNvSpPr>
          <p:nvPr>
            <p:ph type="dt" sz="half" idx="10"/>
          </p:nvPr>
        </p:nvSpPr>
        <p:spPr/>
        <p:txBody>
          <a:bodyPr/>
          <a:lstStyle/>
          <a:p>
            <a:fld id="{7F9C9AE8-AFA5-47C2-8B30-071B00D9B306}" type="datetimeFigureOut">
              <a:rPr lang="en-US" smtClean="0"/>
              <a:t>9/28/2026</a:t>
            </a:fld>
            <a:endParaRPr lang="en-US"/>
          </a:p>
        </p:txBody>
      </p:sp>
      <p:sp>
        <p:nvSpPr>
          <p:cNvPr id="6" name="Footer Placeholder 5">
            <a:extLst>
              <a:ext uri="{FF2B5EF4-FFF2-40B4-BE49-F238E27FC236}">
                <a16:creationId xmlns:a16="http://schemas.microsoft.com/office/drawing/2014/main" id="{07F2EE19-0C8A-40AD-A3BB-1D8A9606AF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4D432F-0016-44FD-8ECB-AC782B60DBBF}"/>
              </a:ext>
            </a:extLst>
          </p:cNvPr>
          <p:cNvSpPr>
            <a:spLocks noGrp="1"/>
          </p:cNvSpPr>
          <p:nvPr>
            <p:ph type="sldNum" sz="quarter" idx="12"/>
          </p:nvPr>
        </p:nvSpPr>
        <p:spPr/>
        <p:txBody>
          <a:bodyPr/>
          <a:lstStyle/>
          <a:p>
            <a:fld id="{2357476D-7E33-402B-87C8-E161A51BB6DF}" type="slidenum">
              <a:rPr lang="en-US" smtClean="0"/>
              <a:t>‹#›</a:t>
            </a:fld>
            <a:endParaRPr lang="en-US"/>
          </a:p>
        </p:txBody>
      </p:sp>
    </p:spTree>
    <p:extLst>
      <p:ext uri="{BB962C8B-B14F-4D97-AF65-F5344CB8AC3E}">
        <p14:creationId xmlns:p14="http://schemas.microsoft.com/office/powerpoint/2010/main" val="3730599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A610-26C5-4D80-A507-6F81253783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8AFEE6-7863-44F4-96ED-2FFF9C859DE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1A128A-1CDC-4B4B-AD74-85C0EF68C34E}"/>
              </a:ext>
            </a:extLst>
          </p:cNvPr>
          <p:cNvSpPr>
            <a:spLocks noGrp="1"/>
          </p:cNvSpPr>
          <p:nvPr>
            <p:ph type="dt" sz="half" idx="10"/>
          </p:nvPr>
        </p:nvSpPr>
        <p:spPr/>
        <p:txBody>
          <a:bodyPr/>
          <a:lstStyle/>
          <a:p>
            <a:fld id="{7F9C9AE8-AFA5-47C2-8B30-071B00D9B306}" type="datetimeFigureOut">
              <a:rPr lang="en-US" smtClean="0"/>
              <a:t>9/28/2026</a:t>
            </a:fld>
            <a:endParaRPr lang="en-US"/>
          </a:p>
        </p:txBody>
      </p:sp>
      <p:sp>
        <p:nvSpPr>
          <p:cNvPr id="5" name="Footer Placeholder 4">
            <a:extLst>
              <a:ext uri="{FF2B5EF4-FFF2-40B4-BE49-F238E27FC236}">
                <a16:creationId xmlns:a16="http://schemas.microsoft.com/office/drawing/2014/main" id="{1B7F43E3-D2F7-4166-9D49-A84DA0E90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03FD21-D5FB-4BEA-9892-7D0D6AA179AE}"/>
              </a:ext>
            </a:extLst>
          </p:cNvPr>
          <p:cNvSpPr>
            <a:spLocks noGrp="1"/>
          </p:cNvSpPr>
          <p:nvPr>
            <p:ph type="sldNum" sz="quarter" idx="12"/>
          </p:nvPr>
        </p:nvSpPr>
        <p:spPr/>
        <p:txBody>
          <a:bodyPr/>
          <a:lstStyle/>
          <a:p>
            <a:fld id="{2357476D-7E33-402B-87C8-E161A51BB6DF}" type="slidenum">
              <a:rPr lang="en-US" smtClean="0"/>
              <a:t>‹#›</a:t>
            </a:fld>
            <a:endParaRPr lang="en-US"/>
          </a:p>
        </p:txBody>
      </p:sp>
    </p:spTree>
    <p:extLst>
      <p:ext uri="{BB962C8B-B14F-4D97-AF65-F5344CB8AC3E}">
        <p14:creationId xmlns:p14="http://schemas.microsoft.com/office/powerpoint/2010/main" val="918298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692494-CC93-473D-A0F6-E7DA4D52DF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A94802-5869-46AD-B561-1DFE10CD9CB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00D650-6282-4A75-AFB1-A09FEC38559D}"/>
              </a:ext>
            </a:extLst>
          </p:cNvPr>
          <p:cNvSpPr>
            <a:spLocks noGrp="1"/>
          </p:cNvSpPr>
          <p:nvPr>
            <p:ph type="dt" sz="half" idx="10"/>
          </p:nvPr>
        </p:nvSpPr>
        <p:spPr/>
        <p:txBody>
          <a:bodyPr/>
          <a:lstStyle/>
          <a:p>
            <a:fld id="{7F9C9AE8-AFA5-47C2-8B30-071B00D9B306}" type="datetimeFigureOut">
              <a:rPr lang="en-US" smtClean="0"/>
              <a:t>9/28/2026</a:t>
            </a:fld>
            <a:endParaRPr lang="en-US"/>
          </a:p>
        </p:txBody>
      </p:sp>
      <p:sp>
        <p:nvSpPr>
          <p:cNvPr id="5" name="Footer Placeholder 4">
            <a:extLst>
              <a:ext uri="{FF2B5EF4-FFF2-40B4-BE49-F238E27FC236}">
                <a16:creationId xmlns:a16="http://schemas.microsoft.com/office/drawing/2014/main" id="{2E52110C-EA15-4B48-B568-DA86FA2D8E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958D3-95F1-443F-B91C-B8AC287265C5}"/>
              </a:ext>
            </a:extLst>
          </p:cNvPr>
          <p:cNvSpPr>
            <a:spLocks noGrp="1"/>
          </p:cNvSpPr>
          <p:nvPr>
            <p:ph type="sldNum" sz="quarter" idx="12"/>
          </p:nvPr>
        </p:nvSpPr>
        <p:spPr/>
        <p:txBody>
          <a:bodyPr/>
          <a:lstStyle/>
          <a:p>
            <a:fld id="{2357476D-7E33-402B-87C8-E161A51BB6DF}" type="slidenum">
              <a:rPr lang="en-US" smtClean="0"/>
              <a:t>‹#›</a:t>
            </a:fld>
            <a:endParaRPr lang="en-US"/>
          </a:p>
        </p:txBody>
      </p:sp>
    </p:spTree>
    <p:extLst>
      <p:ext uri="{BB962C8B-B14F-4D97-AF65-F5344CB8AC3E}">
        <p14:creationId xmlns:p14="http://schemas.microsoft.com/office/powerpoint/2010/main" val="1271916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cxnSp>
        <p:nvCxnSpPr>
          <p:cNvPr id="6" name="직선 연결선 5"/>
          <p:cNvCxnSpPr/>
          <p:nvPr userDrawn="1"/>
        </p:nvCxnSpPr>
        <p:spPr>
          <a:xfrm>
            <a:off x="0" y="54868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4" descr="http://inbodylibrary.com/image/DetailImage/ztvys0vt.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65672" y="0"/>
            <a:ext cx="726329" cy="823454"/>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1"/>
          <p:cNvSpPr txBox="1">
            <a:spLocks/>
          </p:cNvSpPr>
          <p:nvPr userDrawn="1"/>
        </p:nvSpPr>
        <p:spPr>
          <a:xfrm>
            <a:off x="838201" y="6356353"/>
            <a:ext cx="2743200" cy="365125"/>
          </a:xfrm>
          <a:prstGeom prst="rect">
            <a:avLst/>
          </a:prstGeom>
        </p:spPr>
        <p:txBody>
          <a:bodyPr vert="horz" lIns="91440" tIns="45720" rIns="91440" bIns="45720" rtlCol="0" anchor="ctr"/>
          <a:lstStyle>
            <a:defPPr>
              <a:defRPr lang="ko-KR"/>
            </a:defPPr>
            <a:lvl1pPr marL="0" algn="l"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endParaRPr lang="ko-KR" altLang="en-US" sz="120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42505" y="238667"/>
            <a:ext cx="1143067" cy="243963"/>
          </a:xfrm>
          <a:prstGeom prst="rect">
            <a:avLst/>
          </a:prstGeom>
        </p:spPr>
      </p:pic>
      <p:sp>
        <p:nvSpPr>
          <p:cNvPr id="11" name="직사각형 10"/>
          <p:cNvSpPr/>
          <p:nvPr userDrawn="1"/>
        </p:nvSpPr>
        <p:spPr>
          <a:xfrm>
            <a:off x="0" y="6721476"/>
            <a:ext cx="12192000" cy="14148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9" name="Slide Number Placeholder 6"/>
          <p:cNvSpPr>
            <a:spLocks noGrp="1"/>
          </p:cNvSpPr>
          <p:nvPr>
            <p:ph type="sldNum" sz="quarter" idx="12"/>
          </p:nvPr>
        </p:nvSpPr>
        <p:spPr>
          <a:xfrm>
            <a:off x="9448800" y="6609655"/>
            <a:ext cx="2743200" cy="365125"/>
          </a:xfrm>
        </p:spPr>
        <p:txBody>
          <a:bodyPr/>
          <a:lstStyle>
            <a:lvl1pPr>
              <a:defRPr>
                <a:solidFill>
                  <a:schemeClr val="bg1"/>
                </a:solidFill>
              </a:defRPr>
            </a:lvl1pPr>
          </a:lstStyle>
          <a:p>
            <a:fld id="{41072C47-7CEE-4DA9-AF89-22A17B894332}" type="slidenum">
              <a:rPr lang="ko-KR" altLang="en-US" smtClean="0"/>
              <a:pPr/>
              <a:t>‹#›</a:t>
            </a:fld>
            <a:endParaRPr lang="ko-KR" altLang="en-US" dirty="0"/>
          </a:p>
        </p:txBody>
      </p:sp>
    </p:spTree>
    <p:extLst>
      <p:ext uri="{BB962C8B-B14F-4D97-AF65-F5344CB8AC3E}">
        <p14:creationId xmlns:p14="http://schemas.microsoft.com/office/powerpoint/2010/main" val="519833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9/28/2026</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7080004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하단 대제목 수정">
    <p:spTree>
      <p:nvGrpSpPr>
        <p:cNvPr id="1" name=""/>
        <p:cNvGrpSpPr/>
        <p:nvPr/>
      </p:nvGrpSpPr>
      <p:grpSpPr>
        <a:xfrm>
          <a:off x="0" y="0"/>
          <a:ext cx="0" cy="0"/>
          <a:chOff x="0" y="0"/>
          <a:chExt cx="0" cy="0"/>
        </a:xfrm>
      </p:grpSpPr>
      <p:cxnSp>
        <p:nvCxnSpPr>
          <p:cNvPr id="9" name="직선 연결선 8">
            <a:extLst>
              <a:ext uri="{FF2B5EF4-FFF2-40B4-BE49-F238E27FC236}">
                <a16:creationId xmlns:a16="http://schemas.microsoft.com/office/drawing/2014/main" id="{770448A0-30FC-D54C-078E-075B9B01B909}"/>
              </a:ext>
            </a:extLst>
          </p:cNvPr>
          <p:cNvCxnSpPr>
            <a:cxnSpLocks/>
          </p:cNvCxnSpPr>
          <p:nvPr userDrawn="1"/>
        </p:nvCxnSpPr>
        <p:spPr>
          <a:xfrm flipH="1">
            <a:off x="1" y="6231814"/>
            <a:ext cx="12191999" cy="0"/>
          </a:xfrm>
          <a:prstGeom prst="line">
            <a:avLst/>
          </a:prstGeom>
          <a:ln>
            <a:solidFill>
              <a:srgbClr val="DDE0E7"/>
            </a:solidFill>
          </a:ln>
        </p:spPr>
        <p:style>
          <a:lnRef idx="1">
            <a:schemeClr val="accent1"/>
          </a:lnRef>
          <a:fillRef idx="0">
            <a:schemeClr val="accent1"/>
          </a:fillRef>
          <a:effectRef idx="0">
            <a:schemeClr val="accent1"/>
          </a:effectRef>
          <a:fontRef idx="minor">
            <a:schemeClr val="tx1"/>
          </a:fontRef>
        </p:style>
      </p:cxnSp>
      <p:sp>
        <p:nvSpPr>
          <p:cNvPr id="12" name="직사각형 11">
            <a:extLst>
              <a:ext uri="{FF2B5EF4-FFF2-40B4-BE49-F238E27FC236}">
                <a16:creationId xmlns:a16="http://schemas.microsoft.com/office/drawing/2014/main" id="{0764E376-B9E3-E14A-BEEB-3D128A87DD6D}"/>
              </a:ext>
            </a:extLst>
          </p:cNvPr>
          <p:cNvSpPr/>
          <p:nvPr userDrawn="1"/>
        </p:nvSpPr>
        <p:spPr>
          <a:xfrm flipH="1">
            <a:off x="-2" y="-4"/>
            <a:ext cx="12192002" cy="54000"/>
          </a:xfrm>
          <a:prstGeom prst="rect">
            <a:avLst/>
          </a:prstGeom>
          <a:solidFill>
            <a:srgbClr val="656E7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dirty="0">
              <a:ln>
                <a:solidFill>
                  <a:prstClr val="black">
                    <a:lumMod val="65000"/>
                    <a:lumOff val="35000"/>
                    <a:alpha val="0"/>
                  </a:prstClr>
                </a:solidFill>
              </a:ln>
              <a:solidFill>
                <a:prstClr val="white"/>
              </a:solidFill>
            </a:endParaRPr>
          </a:p>
        </p:txBody>
      </p:sp>
      <p:cxnSp>
        <p:nvCxnSpPr>
          <p:cNvPr id="13" name="직선 연결선 9">
            <a:extLst>
              <a:ext uri="{FF2B5EF4-FFF2-40B4-BE49-F238E27FC236}">
                <a16:creationId xmlns:a16="http://schemas.microsoft.com/office/drawing/2014/main" id="{EEC9624A-2A6A-6849-B9E9-9FB475852BBC}"/>
              </a:ext>
            </a:extLst>
          </p:cNvPr>
          <p:cNvCxnSpPr>
            <a:cxnSpLocks/>
          </p:cNvCxnSpPr>
          <p:nvPr userDrawn="1"/>
        </p:nvCxnSpPr>
        <p:spPr>
          <a:xfrm flipH="1">
            <a:off x="5712543" y="6231815"/>
            <a:ext cx="766914" cy="0"/>
          </a:xfrm>
          <a:prstGeom prst="line">
            <a:avLst/>
          </a:prstGeom>
          <a:ln w="22225">
            <a:solidFill>
              <a:srgbClr val="ADB3B9"/>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05C5F8EB-8389-3544-A205-74CB1A11A66E}"/>
              </a:ext>
            </a:extLst>
          </p:cNvPr>
          <p:cNvPicPr>
            <a:picLocks noChangeAspect="1"/>
          </p:cNvPicPr>
          <p:nvPr userDrawn="1"/>
        </p:nvPicPr>
        <p:blipFill>
          <a:blip r:embed="rId2">
            <a:alphaModFix amt="30000"/>
          </a:blip>
          <a:stretch>
            <a:fillRect/>
          </a:stretch>
        </p:blipFill>
        <p:spPr>
          <a:xfrm>
            <a:off x="356235" y="6379590"/>
            <a:ext cx="773724" cy="279659"/>
          </a:xfrm>
          <a:prstGeom prst="rect">
            <a:avLst/>
          </a:prstGeom>
        </p:spPr>
      </p:pic>
      <p:sp>
        <p:nvSpPr>
          <p:cNvPr id="5" name="TextBox 4"/>
          <p:cNvSpPr txBox="1"/>
          <p:nvPr userDrawn="1"/>
        </p:nvSpPr>
        <p:spPr>
          <a:xfrm>
            <a:off x="10077994" y="6413027"/>
            <a:ext cx="1436914" cy="492443"/>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1" dirty="0">
                <a:ln>
                  <a:solidFill>
                    <a:prstClr val="black">
                      <a:lumMod val="65000"/>
                      <a:lumOff val="35000"/>
                      <a:alpha val="0"/>
                    </a:prstClr>
                  </a:solidFill>
                </a:ln>
                <a:solidFill>
                  <a:schemeClr val="tx1">
                    <a:lumMod val="50000"/>
                    <a:lumOff val="50000"/>
                  </a:schemeClr>
                </a:solidFill>
                <a:latin typeface="에스코어 드림 4 Regular" panose="020B0503030302020204" pitchFamily="34" charset="-127"/>
                <a:ea typeface="에스코어 드림 4 Regular" panose="020B0503030302020204" pitchFamily="34" charset="-127"/>
              </a:rPr>
              <a:t>Novo Nordisk &amp; </a:t>
            </a:r>
            <a:r>
              <a:rPr lang="en-US" altLang="ko-KR" sz="800" b="1" dirty="0" err="1">
                <a:ln>
                  <a:solidFill>
                    <a:prstClr val="black">
                      <a:lumMod val="65000"/>
                      <a:lumOff val="35000"/>
                      <a:alpha val="0"/>
                    </a:prstClr>
                  </a:solidFill>
                </a:ln>
                <a:solidFill>
                  <a:schemeClr val="tx1">
                    <a:lumMod val="50000"/>
                    <a:lumOff val="50000"/>
                  </a:schemeClr>
                </a:solidFill>
                <a:latin typeface="에스코어 드림 4 Regular" panose="020B0503030302020204" pitchFamily="34" charset="-127"/>
                <a:ea typeface="에스코어 드림 4 Regular" panose="020B0503030302020204" pitchFamily="34" charset="-127"/>
              </a:rPr>
              <a:t>InBody</a:t>
            </a:r>
            <a:endParaRPr lang="ko-KR" altLang="en-US" sz="800" b="1" dirty="0">
              <a:ln>
                <a:solidFill>
                  <a:prstClr val="black">
                    <a:lumMod val="65000"/>
                    <a:lumOff val="35000"/>
                    <a:alpha val="0"/>
                  </a:prstClr>
                </a:solidFill>
              </a:ln>
              <a:solidFill>
                <a:schemeClr val="tx1">
                  <a:lumMod val="50000"/>
                  <a:lumOff val="50000"/>
                </a:schemeClr>
              </a:solidFill>
              <a:latin typeface="에스코어 드림 4 Regular" panose="020B0503030302020204" pitchFamily="34" charset="-127"/>
              <a:ea typeface="에스코어 드림 4 Regular" panose="020B0503030302020204" pitchFamily="34" charset="-127"/>
            </a:endParaRPr>
          </a:p>
          <a:p>
            <a:endParaRPr lang="ko-KR" altLang="en-US" dirty="0"/>
          </a:p>
        </p:txBody>
      </p:sp>
    </p:spTree>
    <p:extLst>
      <p:ext uri="{BB962C8B-B14F-4D97-AF65-F5344CB8AC3E}">
        <p14:creationId xmlns:p14="http://schemas.microsoft.com/office/powerpoint/2010/main" val="2169753149"/>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Custom Layout">
    <p:spTree>
      <p:nvGrpSpPr>
        <p:cNvPr id="1" name=""/>
        <p:cNvGrpSpPr/>
        <p:nvPr/>
      </p:nvGrpSpPr>
      <p:grpSpPr>
        <a:xfrm>
          <a:off x="0" y="0"/>
          <a:ext cx="0" cy="0"/>
          <a:chOff x="0" y="0"/>
          <a:chExt cx="0" cy="0"/>
        </a:xfrm>
      </p:grpSpPr>
      <p:pic>
        <p:nvPicPr>
          <p:cNvPr id="96" name="Picture 6" descr="Picture 6"/>
          <p:cNvPicPr>
            <a:picLocks noChangeAspect="1"/>
          </p:cNvPicPr>
          <p:nvPr/>
        </p:nvPicPr>
        <p:blipFill>
          <a:blip r:embed="rId2">
            <a:extLst/>
          </a:blip>
          <a:stretch>
            <a:fillRect/>
          </a:stretch>
        </p:blipFill>
        <p:spPr>
          <a:xfrm>
            <a:off x="10076250" y="6435616"/>
            <a:ext cx="1828039" cy="236969"/>
          </a:xfrm>
          <a:prstGeom prst="rect">
            <a:avLst/>
          </a:prstGeom>
          <a:ln w="12700">
            <a:miter lim="400000"/>
          </a:ln>
        </p:spPr>
      </p:pic>
      <p:sp>
        <p:nvSpPr>
          <p:cNvPr id="97" name="Straight Connector 7"/>
          <p:cNvSpPr/>
          <p:nvPr/>
        </p:nvSpPr>
        <p:spPr>
          <a:xfrm flipH="1" flipV="1">
            <a:off x="522514" y="6246631"/>
            <a:ext cx="11447106" cy="1"/>
          </a:xfrm>
          <a:prstGeom prst="line">
            <a:avLst/>
          </a:prstGeom>
          <a:ln w="19050">
            <a:solidFill>
              <a:srgbClr val="F2F2F2"/>
            </a:solidFill>
            <a:miter/>
          </a:ln>
        </p:spPr>
        <p:txBody>
          <a:bodyPr lIns="45719" rIns="45719"/>
          <a:lstStyle/>
          <a:p>
            <a:endParaRPr/>
          </a:p>
        </p:txBody>
      </p:sp>
      <p:sp>
        <p:nvSpPr>
          <p:cNvPr id="98" name="Slide Number"/>
          <p:cNvSpPr txBox="1">
            <a:spLocks noGrp="1"/>
          </p:cNvSpPr>
          <p:nvPr>
            <p:ph type="sldNum" sz="quarter" idx="2"/>
          </p:nvPr>
        </p:nvSpPr>
        <p:spPr>
          <a:xfrm>
            <a:off x="5892800" y="6172200"/>
            <a:ext cx="2844800" cy="368301"/>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92102321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9C985F-421C-4FAE-9AFB-1F91CDA4B3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48997B-863D-485A-B656-F2619CCAF0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0243C-F88B-4FE9-ADF9-E61B0139B8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9C9AE8-AFA5-47C2-8B30-071B00D9B306}" type="datetimeFigureOut">
              <a:rPr lang="en-US" smtClean="0"/>
              <a:t>9/28/2026</a:t>
            </a:fld>
            <a:endParaRPr lang="en-US"/>
          </a:p>
        </p:txBody>
      </p:sp>
      <p:sp>
        <p:nvSpPr>
          <p:cNvPr id="5" name="Footer Placeholder 4">
            <a:extLst>
              <a:ext uri="{FF2B5EF4-FFF2-40B4-BE49-F238E27FC236}">
                <a16:creationId xmlns:a16="http://schemas.microsoft.com/office/drawing/2014/main" id="{A9D0E09E-2DD2-4D3B-AB16-A85BEA9F3B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85EABA7-4C31-40F7-BEDE-B2B1466093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57476D-7E33-402B-87C8-E161A51BB6DF}" type="slidenum">
              <a:rPr lang="en-US" smtClean="0"/>
              <a:t>‹#›</a:t>
            </a:fld>
            <a:endParaRPr lang="en-US"/>
          </a:p>
        </p:txBody>
      </p:sp>
    </p:spTree>
    <p:extLst>
      <p:ext uri="{BB962C8B-B14F-4D97-AF65-F5344CB8AC3E}">
        <p14:creationId xmlns:p14="http://schemas.microsoft.com/office/powerpoint/2010/main" val="334175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195.png"/><Relationship Id="rId7" Type="http://schemas.openxmlformats.org/officeDocument/2006/relationships/image" Target="../media/image19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7.png"/><Relationship Id="rId6" Type="http://schemas.openxmlformats.org/officeDocument/2006/relationships/image" Target="../media/image19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5" Type="http://schemas.openxmlformats.org/officeDocument/2006/relationships/image" Target="../media/image193.png"/><Relationship Id="rId6" Type="http://schemas.openxmlformats.org/officeDocument/2006/relationships/image" Target="../media/image194.png"/><Relationship Id="rId7" Type="http://schemas.openxmlformats.org/officeDocument/2006/relationships/image" Target="../media/image198.png"/><Relationship Id="rId8" Type="http://schemas.openxmlformats.org/officeDocument/2006/relationships/image" Target="../media/image19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199.png"/><Relationship Id="rId7" Type="http://schemas.openxmlformats.org/officeDocument/2006/relationships/image" Target="../media/image19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8" Type="http://schemas.openxmlformats.org/officeDocument/2006/relationships/image" Target="../media/image193.png"/><Relationship Id="rId9" Type="http://schemas.openxmlformats.org/officeDocument/2006/relationships/image" Target="../media/image194.png"/><Relationship Id="rId10" Type="http://schemas.openxmlformats.org/officeDocument/2006/relationships/image" Target="../media/image200.png"/><Relationship Id="rId11" Type="http://schemas.openxmlformats.org/officeDocument/2006/relationships/image" Target="../media/image19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12" Type="http://schemas.openxmlformats.org/officeDocument/2006/relationships/image" Target="../media/image193.png"/><Relationship Id="rId13" Type="http://schemas.openxmlformats.org/officeDocument/2006/relationships/image" Target="../media/image194.png"/><Relationship Id="rId14" Type="http://schemas.openxmlformats.org/officeDocument/2006/relationships/image" Target="../media/image201.png"/><Relationship Id="rId15" Type="http://schemas.openxmlformats.org/officeDocument/2006/relationships/image" Target="../media/image19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24.png"/><Relationship Id="rId4" Type="http://schemas.openxmlformats.org/officeDocument/2006/relationships/image" Target="../media/image25.jpeg"/><Relationship Id="rId5" Type="http://schemas.openxmlformats.org/officeDocument/2006/relationships/image" Target="../media/image26.jpeg"/><Relationship Id="rId6" Type="http://schemas.openxmlformats.org/officeDocument/2006/relationships/image" Target="../media/image27.png"/><Relationship Id="rId7" Type="http://schemas.openxmlformats.org/officeDocument/2006/relationships/image" Target="../media/image28.jpe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 Id="rId11" Type="http://schemas.openxmlformats.org/officeDocument/2006/relationships/image" Target="../media/image32.png"/><Relationship Id="rId12" Type="http://schemas.openxmlformats.org/officeDocument/2006/relationships/image" Target="../media/image19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5" Type="http://schemas.openxmlformats.org/officeDocument/2006/relationships/image" Target="../media/image193.png"/><Relationship Id="rId6" Type="http://schemas.openxmlformats.org/officeDocument/2006/relationships/image" Target="../media/image194.png"/><Relationship Id="rId7" Type="http://schemas.openxmlformats.org/officeDocument/2006/relationships/image" Target="../media/image202.png"/><Relationship Id="rId8" Type="http://schemas.openxmlformats.org/officeDocument/2006/relationships/image" Target="../media/image19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7" Type="http://schemas.openxmlformats.org/officeDocument/2006/relationships/image" Target="../media/image193.png"/><Relationship Id="rId8" Type="http://schemas.openxmlformats.org/officeDocument/2006/relationships/image" Target="../media/image194.png"/><Relationship Id="rId9" Type="http://schemas.openxmlformats.org/officeDocument/2006/relationships/image" Target="../media/image203.png"/><Relationship Id="rId10" Type="http://schemas.openxmlformats.org/officeDocument/2006/relationships/image" Target="../media/image19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39.jpeg"/><Relationship Id="rId4" Type="http://schemas.openxmlformats.org/officeDocument/2006/relationships/image" Target="../media/image19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jpeg"/><Relationship Id="rId7" Type="http://schemas.openxmlformats.org/officeDocument/2006/relationships/image" Target="../media/image19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19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5.jpe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11" Type="http://schemas.openxmlformats.org/officeDocument/2006/relationships/image" Target="../media/image19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4" Type="http://schemas.openxmlformats.org/officeDocument/2006/relationships/image" Target="../media/image193.png"/><Relationship Id="rId5" Type="http://schemas.openxmlformats.org/officeDocument/2006/relationships/image" Target="../media/image204.png"/><Relationship Id="rId6" Type="http://schemas.openxmlformats.org/officeDocument/2006/relationships/image" Target="../media/image205.png"/><Relationship Id="rId7" Type="http://schemas.openxmlformats.org/officeDocument/2006/relationships/image" Target="../media/image20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19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4" Type="http://schemas.openxmlformats.org/officeDocument/2006/relationships/image" Target="../media/image193.png"/><Relationship Id="rId5" Type="http://schemas.openxmlformats.org/officeDocument/2006/relationships/image" Target="../media/image207.png"/><Relationship Id="rId6" Type="http://schemas.openxmlformats.org/officeDocument/2006/relationships/image" Target="../media/image208.png"/><Relationship Id="rId7" Type="http://schemas.openxmlformats.org/officeDocument/2006/relationships/image" Target="../media/image20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19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4" Type="http://schemas.openxmlformats.org/officeDocument/2006/relationships/image" Target="../media/image193.png"/><Relationship Id="rId5" Type="http://schemas.openxmlformats.org/officeDocument/2006/relationships/image" Target="../media/image210.png"/><Relationship Id="rId6" Type="http://schemas.openxmlformats.org/officeDocument/2006/relationships/image" Target="../media/image211.png"/><Relationship Id="rId7" Type="http://schemas.openxmlformats.org/officeDocument/2006/relationships/image" Target="../media/image2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19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62.png"/><Relationship Id="rId4" Type="http://schemas.openxmlformats.org/officeDocument/2006/relationships/image" Target="../media/image19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9" Type="http://schemas.openxmlformats.org/officeDocument/2006/relationships/image" Target="../media/image193.png"/><Relationship Id="rId10" Type="http://schemas.openxmlformats.org/officeDocument/2006/relationships/image" Target="../media/image194.png"/><Relationship Id="rId11" Type="http://schemas.openxmlformats.org/officeDocument/2006/relationships/image" Target="../media/image213.png"/><Relationship Id="rId12" Type="http://schemas.openxmlformats.org/officeDocument/2006/relationships/image" Target="../media/image19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8" Type="http://schemas.openxmlformats.org/officeDocument/2006/relationships/image" Target="../media/image74.jpeg"/><Relationship Id="rId9" Type="http://schemas.openxmlformats.org/officeDocument/2006/relationships/image" Target="../media/image75.jpeg"/><Relationship Id="rId10" Type="http://schemas.openxmlformats.org/officeDocument/2006/relationships/image" Target="../media/image19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8" Type="http://schemas.openxmlformats.org/officeDocument/2006/relationships/image" Target="../media/image193.png"/><Relationship Id="rId9" Type="http://schemas.openxmlformats.org/officeDocument/2006/relationships/image" Target="../media/image194.png"/><Relationship Id="rId10" Type="http://schemas.openxmlformats.org/officeDocument/2006/relationships/image" Target="../media/image214.png"/><Relationship Id="rId11" Type="http://schemas.openxmlformats.org/officeDocument/2006/relationships/image" Target="../media/image19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15.png"/><Relationship Id="rId6" Type="http://schemas.openxmlformats.org/officeDocument/2006/relationships/image" Target="../media/image19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16.png"/><Relationship Id="rId6" Type="http://schemas.openxmlformats.org/officeDocument/2006/relationships/image" Target="../media/image19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media/image193.png"/><Relationship Id="rId7" Type="http://schemas.openxmlformats.org/officeDocument/2006/relationships/image" Target="../media/image194.png"/><Relationship Id="rId8" Type="http://schemas.openxmlformats.org/officeDocument/2006/relationships/image" Target="../media/image217.png"/><Relationship Id="rId9" Type="http://schemas.openxmlformats.org/officeDocument/2006/relationships/image" Target="../media/image19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83.jpeg"/><Relationship Id="rId4" Type="http://schemas.openxmlformats.org/officeDocument/2006/relationships/image" Target="../media/image84.jpeg"/><Relationship Id="rId5" Type="http://schemas.openxmlformats.org/officeDocument/2006/relationships/image" Target="../media/image85.jpeg"/><Relationship Id="rId6" Type="http://schemas.openxmlformats.org/officeDocument/2006/relationships/image" Target="../media/image19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9" Type="http://schemas.openxmlformats.org/officeDocument/2006/relationships/image" Target="../media/image193.png"/><Relationship Id="rId10" Type="http://schemas.openxmlformats.org/officeDocument/2006/relationships/image" Target="../media/image194.png"/><Relationship Id="rId11" Type="http://schemas.openxmlformats.org/officeDocument/2006/relationships/image" Target="../media/image218.png"/><Relationship Id="rId12" Type="http://schemas.openxmlformats.org/officeDocument/2006/relationships/image" Target="../media/image19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19.png"/><Relationship Id="rId7" Type="http://schemas.openxmlformats.org/officeDocument/2006/relationships/image" Target="../media/image19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20.png"/><Relationship Id="rId7" Type="http://schemas.openxmlformats.org/officeDocument/2006/relationships/image" Target="../media/image19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8" Type="http://schemas.openxmlformats.org/officeDocument/2006/relationships/image" Target="../media/image193.png"/><Relationship Id="rId9" Type="http://schemas.openxmlformats.org/officeDocument/2006/relationships/image" Target="../media/image194.png"/><Relationship Id="rId10" Type="http://schemas.openxmlformats.org/officeDocument/2006/relationships/image" Target="../media/image221.png"/><Relationship Id="rId11" Type="http://schemas.openxmlformats.org/officeDocument/2006/relationships/image" Target="../media/image19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22.png"/><Relationship Id="rId6" Type="http://schemas.openxmlformats.org/officeDocument/2006/relationships/image" Target="../media/image19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 Id="rId3" Type="http://schemas.openxmlformats.org/officeDocument/2006/relationships/image" Target="../media/image194.png"/><Relationship Id="rId4" Type="http://schemas.openxmlformats.org/officeDocument/2006/relationships/image" Target="../media/image19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12" Type="http://schemas.openxmlformats.org/officeDocument/2006/relationships/image" Target="../media/image193.png"/><Relationship Id="rId13" Type="http://schemas.openxmlformats.org/officeDocument/2006/relationships/image" Target="../media/image194.png"/><Relationship Id="rId14" Type="http://schemas.openxmlformats.org/officeDocument/2006/relationships/image" Target="../media/image223.png"/><Relationship Id="rId15" Type="http://schemas.openxmlformats.org/officeDocument/2006/relationships/image" Target="../media/image19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93.png"/><Relationship Id="rId11" Type="http://schemas.openxmlformats.org/officeDocument/2006/relationships/image" Target="../media/image194.png"/><Relationship Id="rId12" Type="http://schemas.openxmlformats.org/officeDocument/2006/relationships/image" Target="../media/image224.png"/><Relationship Id="rId13" Type="http://schemas.openxmlformats.org/officeDocument/2006/relationships/image" Target="../media/image19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25.png"/><Relationship Id="rId6" Type="http://schemas.openxmlformats.org/officeDocument/2006/relationships/image" Target="../media/image19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26.png"/><Relationship Id="rId6" Type="http://schemas.openxmlformats.org/officeDocument/2006/relationships/image" Target="../media/image19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27.png"/><Relationship Id="rId7" Type="http://schemas.openxmlformats.org/officeDocument/2006/relationships/image" Target="../media/image19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 Id="rId3" Type="http://schemas.openxmlformats.org/officeDocument/2006/relationships/image" Target="../media/image194.png"/><Relationship Id="rId4" Type="http://schemas.openxmlformats.org/officeDocument/2006/relationships/image" Target="../media/image19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 Id="rId3" Type="http://schemas.openxmlformats.org/officeDocument/2006/relationships/image" Target="../media/image194.png"/><Relationship Id="rId4" Type="http://schemas.openxmlformats.org/officeDocument/2006/relationships/image" Target="../media/image19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 Id="rId3" Type="http://schemas.openxmlformats.org/officeDocument/2006/relationships/image" Target="../media/image194.png"/><Relationship Id="rId4" Type="http://schemas.openxmlformats.org/officeDocument/2006/relationships/image" Target="../media/image19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 Id="rId3" Type="http://schemas.openxmlformats.org/officeDocument/2006/relationships/image" Target="../media/image194.png"/><Relationship Id="rId4" Type="http://schemas.openxmlformats.org/officeDocument/2006/relationships/image" Target="../media/image19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28.png"/><Relationship Id="rId7" Type="http://schemas.openxmlformats.org/officeDocument/2006/relationships/image" Target="../media/image19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7.png"/><Relationship Id="rId3" Type="http://schemas.openxmlformats.org/officeDocument/2006/relationships/image" Target="../media/image19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8.png"/><Relationship Id="rId3" Type="http://schemas.openxmlformats.org/officeDocument/2006/relationships/image" Target="../media/image19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9" Type="http://schemas.openxmlformats.org/officeDocument/2006/relationships/image" Target="../media/image193.png"/><Relationship Id="rId10" Type="http://schemas.openxmlformats.org/officeDocument/2006/relationships/image" Target="../media/image194.png"/><Relationship Id="rId11" Type="http://schemas.openxmlformats.org/officeDocument/2006/relationships/image" Target="../media/image229.png"/><Relationship Id="rId12" Type="http://schemas.openxmlformats.org/officeDocument/2006/relationships/image" Target="../media/image19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10.png"/><Relationship Id="rId4" Type="http://schemas.openxmlformats.org/officeDocument/2006/relationships/image" Target="../media/image111.png"/><Relationship Id="rId5" Type="http://schemas.openxmlformats.org/officeDocument/2006/relationships/image" Target="../media/image112.png"/><Relationship Id="rId6" Type="http://schemas.openxmlformats.org/officeDocument/2006/relationships/image" Target="../media/image113.png"/><Relationship Id="rId7" Type="http://schemas.openxmlformats.org/officeDocument/2006/relationships/image" Target="../media/image19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5" Type="http://schemas.openxmlformats.org/officeDocument/2006/relationships/image" Target="../media/image193.png"/><Relationship Id="rId6" Type="http://schemas.openxmlformats.org/officeDocument/2006/relationships/image" Target="../media/image194.png"/><Relationship Id="rId7" Type="http://schemas.openxmlformats.org/officeDocument/2006/relationships/image" Target="../media/image230.png"/><Relationship Id="rId8" Type="http://schemas.openxmlformats.org/officeDocument/2006/relationships/image" Target="../media/image19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image" Target="../media/image117.svg"/><Relationship Id="rId4" Type="http://schemas.openxmlformats.org/officeDocument/2006/relationships/image" Target="../media/image118.tmp"/><Relationship Id="rId5" Type="http://schemas.openxmlformats.org/officeDocument/2006/relationships/image" Target="../media/image119.tmp"/><Relationship Id="rId6" Type="http://schemas.openxmlformats.org/officeDocument/2006/relationships/image" Target="../media/image120.tmp"/><Relationship Id="rId7" Type="http://schemas.openxmlformats.org/officeDocument/2006/relationships/image" Target="../media/image19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21.jpeg"/><Relationship Id="rId4" Type="http://schemas.openxmlformats.org/officeDocument/2006/relationships/image" Target="../media/image122.jpeg"/><Relationship Id="rId5" Type="http://schemas.openxmlformats.org/officeDocument/2006/relationships/image" Target="../media/image19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31.png"/><Relationship Id="rId7" Type="http://schemas.openxmlformats.org/officeDocument/2006/relationships/image" Target="../media/image19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32.png"/><Relationship Id="rId6" Type="http://schemas.openxmlformats.org/officeDocument/2006/relationships/image" Target="../media/image19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9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jpeg"/><Relationship Id="rId3" Type="http://schemas.openxmlformats.org/officeDocument/2006/relationships/image" Target="../media/image127.png"/><Relationship Id="rId4" Type="http://schemas.openxmlformats.org/officeDocument/2006/relationships/image" Target="../media/image19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6" Type="http://schemas.openxmlformats.org/officeDocument/2006/relationships/image" Target="../media/image193.png"/><Relationship Id="rId7" Type="http://schemas.openxmlformats.org/officeDocument/2006/relationships/image" Target="../media/image194.png"/><Relationship Id="rId8" Type="http://schemas.openxmlformats.org/officeDocument/2006/relationships/image" Target="../media/image233.png"/><Relationship Id="rId9" Type="http://schemas.openxmlformats.org/officeDocument/2006/relationships/image" Target="../media/image19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7" Type="http://schemas.openxmlformats.org/officeDocument/2006/relationships/image" Target="../media/image193.png"/><Relationship Id="rId8" Type="http://schemas.openxmlformats.org/officeDocument/2006/relationships/image" Target="../media/image194.png"/><Relationship Id="rId9" Type="http://schemas.openxmlformats.org/officeDocument/2006/relationships/image" Target="../media/image234.png"/><Relationship Id="rId10" Type="http://schemas.openxmlformats.org/officeDocument/2006/relationships/image" Target="../media/image19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7" Type="http://schemas.openxmlformats.org/officeDocument/2006/relationships/image" Target="../media/image193.png"/><Relationship Id="rId8" Type="http://schemas.openxmlformats.org/officeDocument/2006/relationships/image" Target="../media/image194.png"/><Relationship Id="rId9" Type="http://schemas.openxmlformats.org/officeDocument/2006/relationships/image" Target="../media/image235.png"/><Relationship Id="rId10" Type="http://schemas.openxmlformats.org/officeDocument/2006/relationships/image" Target="../media/image19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36.png"/><Relationship Id="rId7" Type="http://schemas.openxmlformats.org/officeDocument/2006/relationships/image" Target="../media/image19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9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9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9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41.jpeg"/><Relationship Id="rId4" Type="http://schemas.openxmlformats.org/officeDocument/2006/relationships/image" Target="../media/image142.jpeg"/><Relationship Id="rId5" Type="http://schemas.openxmlformats.org/officeDocument/2006/relationships/image" Target="../media/image143.png"/><Relationship Id="rId6" Type="http://schemas.openxmlformats.org/officeDocument/2006/relationships/image" Target="../media/image144.jpeg"/><Relationship Id="rId7" Type="http://schemas.openxmlformats.org/officeDocument/2006/relationships/image" Target="../media/image19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3" Type="http://schemas.openxmlformats.org/officeDocument/2006/relationships/image" Target="../media/image146.png"/><Relationship Id="rId4" Type="http://schemas.openxmlformats.org/officeDocument/2006/relationships/image" Target="../media/image19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4" Type="http://schemas.openxmlformats.org/officeDocument/2006/relationships/image" Target="../media/image147.png"/><Relationship Id="rId5" Type="http://schemas.openxmlformats.org/officeDocument/2006/relationships/image" Target="../media/image148.png"/><Relationship Id="rId6" Type="http://schemas.openxmlformats.org/officeDocument/2006/relationships/image" Target="../media/image19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9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37.png"/><Relationship Id="rId6" Type="http://schemas.openxmlformats.org/officeDocument/2006/relationships/image" Target="../media/image19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38.png"/><Relationship Id="rId6" Type="http://schemas.openxmlformats.org/officeDocument/2006/relationships/image" Target="../media/image19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jpeg"/><Relationship Id="rId3" Type="http://schemas.openxmlformats.org/officeDocument/2006/relationships/image" Target="../media/image19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jpeg"/><Relationship Id="rId3" Type="http://schemas.openxmlformats.org/officeDocument/2006/relationships/image" Target="../media/image152.png"/><Relationship Id="rId4" Type="http://schemas.openxmlformats.org/officeDocument/2006/relationships/image" Target="../media/image153.svg"/><Relationship Id="rId5" Type="http://schemas.openxmlformats.org/officeDocument/2006/relationships/image" Target="../media/image19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jpeg"/><Relationship Id="rId3" Type="http://schemas.openxmlformats.org/officeDocument/2006/relationships/image" Target="../media/image19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image" Target="../media/image19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customXml" Target="../ink/ink1.xml"/><Relationship Id="rId4" Type="http://schemas.openxmlformats.org/officeDocument/2006/relationships/image" Target="../media/image1610.png"/><Relationship Id="rId5" Type="http://schemas.openxmlformats.org/officeDocument/2006/relationships/image" Target="../media/image19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39.png"/><Relationship Id="rId7" Type="http://schemas.openxmlformats.org/officeDocument/2006/relationships/image" Target="../media/image19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5" Type="http://schemas.openxmlformats.org/officeDocument/2006/relationships/image" Target="../media/image193.png"/><Relationship Id="rId6" Type="http://schemas.openxmlformats.org/officeDocument/2006/relationships/image" Target="../media/image194.png"/><Relationship Id="rId7" Type="http://schemas.openxmlformats.org/officeDocument/2006/relationships/image" Target="../media/image240.png"/><Relationship Id="rId8" Type="http://schemas.openxmlformats.org/officeDocument/2006/relationships/image" Target="../media/image19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 Id="rId7" Type="http://schemas.openxmlformats.org/officeDocument/2006/relationships/image" Target="../media/image166.png"/><Relationship Id="rId8" Type="http://schemas.openxmlformats.org/officeDocument/2006/relationships/image" Target="../media/image167.png"/><Relationship Id="rId9" Type="http://schemas.openxmlformats.org/officeDocument/2006/relationships/image" Target="../media/image19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image" Target="../media/image19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jpeg"/><Relationship Id="rId3" Type="http://schemas.openxmlformats.org/officeDocument/2006/relationships/image" Target="../media/image169.png"/><Relationship Id="rId4" Type="http://schemas.openxmlformats.org/officeDocument/2006/relationships/image" Target="../media/image170.jpeg"/><Relationship Id="rId5" Type="http://schemas.openxmlformats.org/officeDocument/2006/relationships/image" Target="../media/image19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image" Target="../media/image19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9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41.png"/><Relationship Id="rId7" Type="http://schemas.openxmlformats.org/officeDocument/2006/relationships/image" Target="../media/image19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5.jpe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11" Type="http://schemas.openxmlformats.org/officeDocument/2006/relationships/image" Target="../media/image19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4" Type="http://schemas.openxmlformats.org/officeDocument/2006/relationships/image" Target="../media/image193.png"/><Relationship Id="rId5" Type="http://schemas.openxmlformats.org/officeDocument/2006/relationships/image" Target="../media/image204.png"/><Relationship Id="rId6" Type="http://schemas.openxmlformats.org/officeDocument/2006/relationships/image" Target="../media/image205.png"/><Relationship Id="rId7" Type="http://schemas.openxmlformats.org/officeDocument/2006/relationships/image" Target="../media/image20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19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4" Type="http://schemas.openxmlformats.org/officeDocument/2006/relationships/image" Target="../media/image193.png"/><Relationship Id="rId5" Type="http://schemas.openxmlformats.org/officeDocument/2006/relationships/image" Target="../media/image207.png"/><Relationship Id="rId6" Type="http://schemas.openxmlformats.org/officeDocument/2006/relationships/image" Target="../media/image208.png"/><Relationship Id="rId7" Type="http://schemas.openxmlformats.org/officeDocument/2006/relationships/image" Target="../media/image209.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19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4" Type="http://schemas.openxmlformats.org/officeDocument/2006/relationships/image" Target="../media/image193.png"/><Relationship Id="rId5" Type="http://schemas.openxmlformats.org/officeDocument/2006/relationships/image" Target="../media/image210.png"/><Relationship Id="rId6" Type="http://schemas.openxmlformats.org/officeDocument/2006/relationships/image" Target="../media/image211.png"/><Relationship Id="rId7" Type="http://schemas.openxmlformats.org/officeDocument/2006/relationships/image" Target="../media/image21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19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42.png"/><Relationship Id="rId6" Type="http://schemas.openxmlformats.org/officeDocument/2006/relationships/image" Target="../media/image19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 Id="rId3" Type="http://schemas.openxmlformats.org/officeDocument/2006/relationships/image" Target="../media/image19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43.png"/><Relationship Id="rId6" Type="http://schemas.openxmlformats.org/officeDocument/2006/relationships/image" Target="../media/image19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44.png"/><Relationship Id="rId7" Type="http://schemas.openxmlformats.org/officeDocument/2006/relationships/image" Target="../media/image19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45.png"/><Relationship Id="rId6" Type="http://schemas.openxmlformats.org/officeDocument/2006/relationships/image" Target="../media/image196.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46.png"/><Relationship Id="rId7" Type="http://schemas.openxmlformats.org/officeDocument/2006/relationships/image" Target="../media/image19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png"/><Relationship Id="rId3" Type="http://schemas.openxmlformats.org/officeDocument/2006/relationships/image" Target="../media/image19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47.png"/><Relationship Id="rId7" Type="http://schemas.openxmlformats.org/officeDocument/2006/relationships/image" Target="../media/image19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48.png"/><Relationship Id="rId6" Type="http://schemas.openxmlformats.org/officeDocument/2006/relationships/image" Target="../media/image196.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6.png"/><Relationship Id="rId3" Type="http://schemas.openxmlformats.org/officeDocument/2006/relationships/image" Target="../media/image193.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49.png"/><Relationship Id="rId6" Type="http://schemas.openxmlformats.org/officeDocument/2006/relationships/image" Target="../media/image196.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250.png"/><Relationship Id="rId6" Type="http://schemas.openxmlformats.org/officeDocument/2006/relationships/image" Target="../media/image19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251.png"/><Relationship Id="rId7" Type="http://schemas.openxmlformats.org/officeDocument/2006/relationships/image" Target="../media/image19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1.png"/><Relationship Id="rId3" Type="http://schemas.openxmlformats.org/officeDocument/2006/relationships/image" Target="../media/image19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81D27"/>
        </a:solidFill>
        <a:effectLst/>
      </p:bgPr>
    </p:bg>
    <p:spTree>
      <p:nvGrpSpPr>
        <p:cNvPr id="1" name=""/>
        <p:cNvGrpSpPr/>
        <p:nvPr/>
      </p:nvGrpSpPr>
      <p:grpSpPr>
        <a:xfrm>
          <a:off x="0" y="0"/>
          <a:ext cx="0" cy="0"/>
          <a:chOff x="0" y="0"/>
          <a:chExt cx="0" cy="0"/>
        </a:xfrm>
      </p:grpSpPr>
      <p:pic>
        <p:nvPicPr>
          <p:cNvPr id="2" name="Picture 1" descr="logo_white.png"/>
          <p:cNvPicPr>
            <a:picLocks noChangeAspect="1"/>
          </p:cNvPicPr>
          <p:nvPr/>
        </p:nvPicPr>
        <p:blipFill>
          <a:blip r:embed="rId2"/>
          <a:stretch>
            <a:fillRect/>
          </a:stretch>
        </p:blipFill>
        <p:spPr>
          <a:xfrm>
            <a:off x="9513809" y="640080"/>
            <a:ext cx="1946365" cy="548640"/>
          </a:xfrm>
          <a:prstGeom prst="rect">
            <a:avLst/>
          </a:prstGeom>
        </p:spPr>
      </p:pic>
      <p:sp>
        <p:nvSpPr>
          <p:cNvPr id="3" name="TextBox 2"/>
          <p:cNvSpPr txBox="1"/>
          <p:nvPr/>
        </p:nvSpPr>
        <p:spPr>
          <a:xfrm>
            <a:off x="822960" y="2103120"/>
            <a:ext cx="9144000" cy="365760"/>
          </a:xfrm>
          <a:prstGeom prst="rect">
            <a:avLst/>
          </a:prstGeom>
          <a:noFill/>
        </p:spPr>
        <p:txBody>
          <a:bodyPr wrap="square" lIns="0" rIns="0" tIns="0" bIns="0" anchor="ctr">
            <a:spAutoFit/>
          </a:bodyPr>
          <a:lstStyle/>
          <a:p>
            <a:pPr algn="l"/>
            <a:r>
              <a:rPr sz="1300" b="1" i="0" spc="300">
                <a:solidFill>
                  <a:srgbClr val="E8798F"/>
                </a:solidFill>
                <a:latin typeface="Calibri"/>
              </a:rPr>
              <a:t>CLINICAL WORKSHOP  ·  SALES TEAM</a:t>
            </a:r>
          </a:p>
        </p:txBody>
      </p:sp>
      <p:sp>
        <p:nvSpPr>
          <p:cNvPr id="4" name="TextBox 3"/>
          <p:cNvSpPr txBox="1"/>
          <p:nvPr/>
        </p:nvSpPr>
        <p:spPr>
          <a:xfrm>
            <a:off x="822960" y="2560320"/>
            <a:ext cx="9144000" cy="1097280"/>
          </a:xfrm>
          <a:prstGeom prst="rect">
            <a:avLst/>
          </a:prstGeom>
          <a:noFill/>
        </p:spPr>
        <p:txBody>
          <a:bodyPr wrap="square" lIns="0" rIns="0" tIns="0" bIns="0" anchor="t">
            <a:spAutoFit/>
          </a:bodyPr>
          <a:lstStyle/>
          <a:p>
            <a:pPr algn="l"/>
            <a:r>
              <a:rPr sz="5400" b="1" i="0">
                <a:solidFill>
                  <a:srgbClr val="FFFFFF"/>
                </a:solidFill>
                <a:latin typeface="Cambria"/>
              </a:rPr>
              <a:t>Sales Training</a:t>
            </a:r>
          </a:p>
        </p:txBody>
      </p:sp>
      <p:sp>
        <p:nvSpPr>
          <p:cNvPr id="5" name="TextBox 4"/>
          <p:cNvSpPr txBox="1"/>
          <p:nvPr/>
        </p:nvSpPr>
        <p:spPr>
          <a:xfrm>
            <a:off x="822960" y="3749039"/>
            <a:ext cx="9144000" cy="548640"/>
          </a:xfrm>
          <a:prstGeom prst="rect">
            <a:avLst/>
          </a:prstGeom>
          <a:noFill/>
        </p:spPr>
        <p:txBody>
          <a:bodyPr wrap="square" lIns="0" rIns="0" tIns="0" bIns="0" anchor="ctr">
            <a:spAutoFit/>
          </a:bodyPr>
          <a:lstStyle/>
          <a:p>
            <a:pPr algn="l"/>
            <a:r>
              <a:rPr sz="2000" b="0" i="0">
                <a:solidFill>
                  <a:srgbClr val="C9CDD4"/>
                </a:solidFill>
                <a:latin typeface="Calibri"/>
              </a:rPr>
              <a:t>From clinical knowledge to customer conversation</a:t>
            </a:r>
          </a:p>
        </p:txBody>
      </p:sp>
      <p:sp>
        <p:nvSpPr>
          <p:cNvPr id="6" name="TextBox 5"/>
          <p:cNvSpPr txBox="1"/>
          <p:nvPr/>
        </p:nvSpPr>
        <p:spPr>
          <a:xfrm>
            <a:off x="822960" y="6035040"/>
            <a:ext cx="5486400" cy="365760"/>
          </a:xfrm>
          <a:prstGeom prst="rect">
            <a:avLst/>
          </a:prstGeom>
          <a:noFill/>
        </p:spPr>
        <p:txBody>
          <a:bodyPr wrap="square" lIns="0" rIns="0" tIns="0" bIns="0" anchor="ctr">
            <a:spAutoFit/>
          </a:bodyPr>
          <a:lstStyle/>
          <a:p>
            <a:pPr algn="l"/>
            <a:r>
              <a:rPr sz="1200" b="1" i="0">
                <a:solidFill>
                  <a:srgbClr val="FFFFFF"/>
                </a:solidFill>
                <a:latin typeface="Calibri"/>
              </a:rPr>
              <a:t>InBody India  ·  2026</a:t>
            </a:r>
          </a:p>
        </p:txBody>
      </p:sp>
    </p:spTree>
    <p:extLst>
      <p:ext uri="{BB962C8B-B14F-4D97-AF65-F5344CB8AC3E}">
        <p14:creationId xmlns:p14="http://schemas.microsoft.com/office/powerpoint/2010/main" val="3485398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What is BIA?</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1</a:t>
            </a:r>
          </a:p>
          <a:p>
            <a:pPr algn="l"/>
            <a:r>
              <a:rPr sz="900" b="0" i="0">
                <a:solidFill>
                  <a:srgbClr val="5E6470"/>
                </a:solidFill>
                <a:latin typeface="Calibri"/>
              </a:rPr>
              <a:t>Basics of Body Composition Analysis Technology</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04</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200">
                <a:solidFill>
                  <a:srgbClr val="181D27"/>
                </a:solidFill>
                <a:latin typeface="Calibri"/>
              </a:rPr>
              <a:t>InBody is a Bioimpedance Analyzing device that measures Body Water, Skeletal Muscle Mass, Body Fat, Segmental Muscle Mass and more.</a:t>
            </a:r>
          </a:p>
          <a:p>
            <a:pPr>
              <a:spcAft>
                <a:spcPts val="600"/>
              </a:spcAft>
            </a:pPr>
            <a:r>
              <a:rPr sz="1200">
                <a:solidFill>
                  <a:srgbClr val="181D27"/>
                </a:solidFill>
                <a:latin typeface="Calibri"/>
              </a:rPr>
              <a:t>Grabbing an electrical device with a wet hand is dangerous, since electricity flows through water well.</a:t>
            </a:r>
          </a:p>
          <a:p>
            <a:pPr>
              <a:spcAft>
                <a:spcPts val="600"/>
              </a:spcAft>
            </a:pPr>
            <a:r>
              <a:rPr sz="1200">
                <a:solidFill>
                  <a:srgbClr val="181D27"/>
                </a:solidFill>
                <a:latin typeface="Calibri"/>
              </a:rPr>
              <a:t>Based on this theory, InBody uses Bio-Impedance Analysis: a small electrical current flows through the body, and the resistance (impedance) is measured to calculate body composition.</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2.png"/>
          <p:cNvPicPr>
            <a:picLocks noChangeAspect="1"/>
          </p:cNvPicPr>
          <p:nvPr/>
        </p:nvPicPr>
        <p:blipFill>
          <a:blip r:embed="rId6"/>
          <a:stretch>
            <a:fillRect/>
          </a:stretch>
        </p:blipFill>
        <p:spPr>
          <a:xfrm>
            <a:off x="6073388" y="1280160"/>
            <a:ext cx="5165557"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A small electrical current + the measured resistance (impedance) = body composition.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What is BIA?</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1</a:t>
            </a:r>
          </a:p>
          <a:p>
            <a:pPr algn="l"/>
            <a:r>
              <a:rPr sz="900" b="0" i="0">
                <a:solidFill>
                  <a:srgbClr val="5E6470"/>
                </a:solidFill>
                <a:latin typeface="Calibri"/>
              </a:rPr>
              <a:t>Basics of Body Composition Analysis Technology</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05</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Relationship between Body Water and Impedance</a:t>
            </a:r>
          </a:p>
          <a:p>
            <a:pPr marL="228600" indent="-228600">
              <a:spcAft>
                <a:spcPts val="600"/>
              </a:spcAft>
              <a:buChar char="•"/>
            </a:pPr>
            <a:r>
              <a:rPr sz="1300">
                <a:solidFill>
                  <a:srgbClr val="181D27"/>
                </a:solidFill>
                <a:latin typeface="Calibri"/>
              </a:rPr>
              <a:t>Electricity does not flow through FAT: the bulb stays OFF.</a:t>
            </a:r>
          </a:p>
          <a:p>
            <a:pPr marL="228600" indent="-228600">
              <a:spcAft>
                <a:spcPts val="600"/>
              </a:spcAft>
              <a:buChar char="•"/>
            </a:pPr>
            <a:r>
              <a:rPr sz="1300">
                <a:solidFill>
                  <a:srgbClr val="181D27"/>
                </a:solidFill>
                <a:latin typeface="Calibri"/>
              </a:rPr>
              <a:t>Electricity flows through WATER: the bulb turns ON.</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3.png"/>
          <p:cNvPicPr>
            <a:picLocks noChangeAspect="1"/>
          </p:cNvPicPr>
          <p:nvPr/>
        </p:nvPicPr>
        <p:blipFill>
          <a:blip r:embed="rId5"/>
          <a:stretch>
            <a:fillRect/>
          </a:stretch>
        </p:blipFill>
        <p:spPr>
          <a:xfrm>
            <a:off x="5760720" y="1952944"/>
            <a:ext cx="5790895" cy="2494910"/>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Resistance to electrical flow = Impedance.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What is BIA?</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1</a:t>
            </a:r>
          </a:p>
          <a:p>
            <a:pPr algn="l"/>
            <a:r>
              <a:rPr sz="900" b="0" i="0">
                <a:solidFill>
                  <a:srgbClr val="5E6470"/>
                </a:solidFill>
                <a:latin typeface="Calibri"/>
              </a:rPr>
              <a:t>Basics of Body Composition Analysis Technology</a:t>
            </a:r>
          </a:p>
        </p:txBody>
      </p:sp>
      <p:pic>
        <p:nvPicPr>
          <p:cNvPr id="5" name="Picture 4" descr="logo_red.png"/>
          <p:cNvPicPr>
            <a:picLocks noChangeAspect="1"/>
          </p:cNvPicPr>
          <p:nvPr/>
        </p:nvPicPr>
        <p:blipFill>
          <a:blip r:embed="rId5"/>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06</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6"/>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Relationship between Body Water and Impedance</a:t>
            </a:r>
          </a:p>
          <a:p>
            <a:pPr marL="228600" indent="-228600">
              <a:spcAft>
                <a:spcPts val="600"/>
              </a:spcAft>
              <a:buChar char="•"/>
            </a:pPr>
            <a:r>
              <a:rPr sz="1300">
                <a:solidFill>
                  <a:srgbClr val="181D27"/>
                </a:solidFill>
                <a:latin typeface="Calibri"/>
              </a:rPr>
              <a:t>High volume of water → current flows well → Low Impedance.</a:t>
            </a:r>
          </a:p>
          <a:p>
            <a:pPr marL="228600" indent="-228600">
              <a:spcAft>
                <a:spcPts val="600"/>
              </a:spcAft>
              <a:buChar char="•"/>
            </a:pPr>
            <a:r>
              <a:rPr sz="1300">
                <a:solidFill>
                  <a:srgbClr val="181D27"/>
                </a:solidFill>
                <a:latin typeface="Calibri"/>
              </a:rPr>
              <a:t>Low volume of water → current does not flow well → High Impedance.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4.png"/>
          <p:cNvPicPr>
            <a:picLocks noChangeAspect="1"/>
          </p:cNvPicPr>
          <p:nvPr/>
        </p:nvPicPr>
        <p:blipFill>
          <a:blip r:embed="rId7"/>
          <a:stretch>
            <a:fillRect/>
          </a:stretch>
        </p:blipFill>
        <p:spPr>
          <a:xfrm>
            <a:off x="5760720" y="2085863"/>
            <a:ext cx="5790895" cy="2229072"/>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8"/>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Impedance and body water are inversely proportional. BIA devices use impedance to measure body water.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What is BIA?</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1</a:t>
            </a:r>
          </a:p>
          <a:p>
            <a:pPr algn="l"/>
            <a:r>
              <a:rPr sz="900" b="0" i="0">
                <a:solidFill>
                  <a:srgbClr val="5E6470"/>
                </a:solidFill>
                <a:latin typeface="Calibri"/>
              </a:rPr>
              <a:t>Basics of Body Composition Analysis Technology</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07</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The shape of the cylinder changes impedance</a:t>
            </a:r>
          </a:p>
          <a:p>
            <a:pPr marL="228600" indent="-228600">
              <a:spcAft>
                <a:spcPts val="600"/>
              </a:spcAft>
              <a:buChar char="•"/>
            </a:pPr>
            <a:r>
              <a:rPr sz="1300">
                <a:solidFill>
                  <a:srgbClr val="181D27"/>
                </a:solidFill>
                <a:latin typeface="Calibri"/>
              </a:rPr>
              <a:t>Narrow and long cylinder = electricity does not flow well = High Impedance.</a:t>
            </a:r>
          </a:p>
          <a:p>
            <a:pPr marL="228600" indent="-228600">
              <a:spcAft>
                <a:spcPts val="600"/>
              </a:spcAft>
              <a:buChar char="•"/>
            </a:pPr>
            <a:r>
              <a:rPr sz="1300">
                <a:solidFill>
                  <a:srgbClr val="181D27"/>
                </a:solidFill>
                <a:latin typeface="Calibri"/>
              </a:rPr>
              <a:t>Wide and short cylinder = electricity flows well = Low Impedance.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5.png"/>
          <p:cNvPicPr>
            <a:picLocks noChangeAspect="1"/>
          </p:cNvPicPr>
          <p:nvPr/>
        </p:nvPicPr>
        <p:blipFill>
          <a:blip r:embed="rId6"/>
          <a:stretch>
            <a:fillRect/>
          </a:stretch>
        </p:blipFill>
        <p:spPr>
          <a:xfrm>
            <a:off x="5760720" y="1787875"/>
            <a:ext cx="5790895" cy="2825048"/>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Same amount of water, but different impedance due to the shape of the cylinder.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What is BIA?</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1</a:t>
            </a:r>
          </a:p>
          <a:p>
            <a:pPr algn="l"/>
            <a:r>
              <a:rPr sz="900" b="0" i="0">
                <a:solidFill>
                  <a:srgbClr val="5E6470"/>
                </a:solidFill>
                <a:latin typeface="Calibri"/>
              </a:rPr>
              <a:t>Basics of Body Composition Analysis Technology</a:t>
            </a:r>
          </a:p>
        </p:txBody>
      </p:sp>
      <p:pic>
        <p:nvPicPr>
          <p:cNvPr id="5" name="Picture 4" descr="logo_red.png"/>
          <p:cNvPicPr>
            <a:picLocks noChangeAspect="1"/>
          </p:cNvPicPr>
          <p:nvPr/>
        </p:nvPicPr>
        <p:blipFill>
          <a:blip r:embed="rId8"/>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08</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9"/>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How do we measure Body Water?</a:t>
            </a:r>
          </a:p>
          <a:p>
            <a:pPr marL="228600" indent="-228600">
              <a:spcAft>
                <a:spcPts val="600"/>
              </a:spcAft>
              <a:buChar char="•"/>
            </a:pPr>
            <a:r>
              <a:rPr sz="1300">
                <a:solidFill>
                  <a:srgbClr val="181D27"/>
                </a:solidFill>
                <a:latin typeface="Calibri"/>
              </a:rPr>
              <a:t>The body is modelled as cylinders: arm, trunk and leg.</a:t>
            </a:r>
          </a:p>
          <a:p>
            <a:pPr marL="228600" indent="-228600">
              <a:spcAft>
                <a:spcPts val="600"/>
              </a:spcAft>
              <a:buChar char="•"/>
            </a:pPr>
            <a:r>
              <a:rPr sz="1300">
                <a:solidFill>
                  <a:srgbClr val="181D27"/>
                </a:solidFill>
                <a:latin typeface="Calibri"/>
              </a:rPr>
              <a:t>Volume = Length × Area, and Impedance = ρ × Length / Area.</a:t>
            </a:r>
          </a:p>
          <a:p>
            <a:pPr marL="228600" indent="-228600">
              <a:spcAft>
                <a:spcPts val="600"/>
              </a:spcAft>
              <a:buChar char="•"/>
            </a:pPr>
            <a:r>
              <a:rPr sz="1300">
                <a:solidFill>
                  <a:srgbClr val="181D27"/>
                </a:solidFill>
                <a:latin typeface="Calibri"/>
              </a:rPr>
              <a:t>Combining the two: Volume = ρ × Length² / Impedance.</a:t>
            </a:r>
          </a:p>
          <a:p>
            <a:pPr marL="228600" indent="-228600">
              <a:spcAft>
                <a:spcPts val="600"/>
              </a:spcAft>
              <a:buChar char="•"/>
            </a:pPr>
            <a:r>
              <a:rPr sz="1300">
                <a:solidFill>
                  <a:srgbClr val="181D27"/>
                </a:solidFill>
                <a:latin typeface="Calibri"/>
              </a:rPr>
              <a:t>Using height as length, Total Body Water is proportional to Height² / Impedance, the Impedance Index.</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6.png"/>
          <p:cNvPicPr>
            <a:picLocks noChangeAspect="1"/>
          </p:cNvPicPr>
          <p:nvPr/>
        </p:nvPicPr>
        <p:blipFill>
          <a:blip r:embed="rId10"/>
          <a:stretch>
            <a:fillRect/>
          </a:stretch>
        </p:blipFill>
        <p:spPr>
          <a:xfrm>
            <a:off x="5760720" y="1481080"/>
            <a:ext cx="5790895" cy="343863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11"/>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InBody converts measured impedance into Total Body Water using the Impedance Index (Height² / Impedance).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What is BIA?</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1</a:t>
            </a:r>
          </a:p>
          <a:p>
            <a:pPr algn="l"/>
            <a:r>
              <a:rPr sz="900" b="0" i="0">
                <a:solidFill>
                  <a:srgbClr val="5E6470"/>
                </a:solidFill>
                <a:latin typeface="Calibri"/>
              </a:rPr>
              <a:t>Basics of Body Composition Analysis Technology</a:t>
            </a:r>
          </a:p>
        </p:txBody>
      </p:sp>
      <p:pic>
        <p:nvPicPr>
          <p:cNvPr id="5" name="Picture 4" descr="logo_red.png"/>
          <p:cNvPicPr>
            <a:picLocks noChangeAspect="1"/>
          </p:cNvPicPr>
          <p:nvPr/>
        </p:nvPicPr>
        <p:blipFill>
          <a:blip r:embed="rId12"/>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09</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13"/>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How do we measure other body composition?</a:t>
            </a:r>
          </a:p>
          <a:p>
            <a:pPr marL="228600" indent="-228600">
              <a:spcAft>
                <a:spcPts val="600"/>
              </a:spcAft>
              <a:buChar char="•"/>
            </a:pPr>
            <a:r>
              <a:rPr sz="1300">
                <a:solidFill>
                  <a:srgbClr val="181D27"/>
                </a:solidFill>
                <a:latin typeface="Calibri"/>
              </a:rPr>
              <a:t>Total Body Water (TBW) is calculated from the Impedance Index (Height² / Z).</a:t>
            </a:r>
          </a:p>
          <a:p>
            <a:pPr marL="228600" indent="-228600">
              <a:spcAft>
                <a:spcPts val="600"/>
              </a:spcAft>
              <a:buChar char="•"/>
            </a:pPr>
            <a:r>
              <a:rPr sz="1300">
                <a:solidFill>
                  <a:srgbClr val="181D27"/>
                </a:solidFill>
                <a:latin typeface="Calibri"/>
              </a:rPr>
              <a:t>Fat Free Mass is consistently hydrated at about 73%, so FFM = TBW ÷ 0.73.</a:t>
            </a:r>
          </a:p>
          <a:p>
            <a:pPr marL="228600" indent="-228600">
              <a:spcAft>
                <a:spcPts val="600"/>
              </a:spcAft>
              <a:buChar char="•"/>
            </a:pPr>
            <a:r>
              <a:rPr sz="1300">
                <a:solidFill>
                  <a:srgbClr val="181D27"/>
                </a:solidFill>
                <a:latin typeface="Calibri"/>
              </a:rPr>
              <a:t>Whatever is not fat-free is fat: Fat Mass = Weight − FFM.</a:t>
            </a:r>
          </a:p>
          <a:p>
            <a:pPr>
              <a:spcAft>
                <a:spcPts val="600"/>
              </a:spcAft>
            </a:pPr>
            <a:r>
              <a:rPr sz="1300">
                <a:solidFill>
                  <a:srgbClr val="181D27"/>
                </a:solidFill>
                <a:latin typeface="Calibri"/>
              </a:rPr>
              <a:t>Source: Clinical Nutrition 23:1226–1243, 2004</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7.png"/>
          <p:cNvPicPr>
            <a:picLocks noChangeAspect="1"/>
          </p:cNvPicPr>
          <p:nvPr/>
        </p:nvPicPr>
        <p:blipFill>
          <a:blip r:embed="rId14"/>
          <a:stretch>
            <a:fillRect/>
          </a:stretch>
        </p:blipFill>
        <p:spPr>
          <a:xfrm>
            <a:off x="5760720" y="1701964"/>
            <a:ext cx="5790895" cy="2996870"/>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15"/>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Every InBody result starts from water: Impedance → TBW → Fat Free Mass → Fat Mass.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13495" name="Picture 13494"/>
          <p:cNvPicPr/>
          <p:nvPr/>
        </p:nvPicPr>
        <p:blipFill>
          <a:blip r:embed="rId3"/>
          <a:stretch/>
        </p:blipFill>
        <p:spPr>
          <a:xfrm>
            <a:off x="2261510" y="1292570"/>
            <a:ext cx="7668674" cy="5062509"/>
          </a:xfrm>
          <a:prstGeom prst="rect">
            <a:avLst/>
          </a:prstGeom>
          <a:ln w="0">
            <a:noFill/>
          </a:ln>
        </p:spPr>
      </p:pic>
      <p:pic>
        <p:nvPicPr>
          <p:cNvPr id="13496" name="Picture 13495"/>
          <p:cNvPicPr/>
          <p:nvPr/>
        </p:nvPicPr>
        <p:blipFill>
          <a:blip r:embed="rId4"/>
          <a:stretch/>
        </p:blipFill>
        <p:spPr>
          <a:xfrm>
            <a:off x="6809132" y="1097280"/>
            <a:ext cx="2272175" cy="2290167"/>
          </a:xfrm>
          <a:prstGeom prst="rect">
            <a:avLst/>
          </a:prstGeom>
          <a:ln w="0">
            <a:noFill/>
          </a:ln>
        </p:spPr>
      </p:pic>
      <p:pic>
        <p:nvPicPr>
          <p:cNvPr id="13497" name="Picture 13496"/>
          <p:cNvPicPr/>
          <p:nvPr/>
        </p:nvPicPr>
        <p:blipFill>
          <a:blip r:embed="rId5"/>
          <a:stretch/>
        </p:blipFill>
        <p:spPr>
          <a:xfrm>
            <a:off x="2874860" y="4046921"/>
            <a:ext cx="2455035" cy="1856733"/>
          </a:xfrm>
          <a:prstGeom prst="rect">
            <a:avLst/>
          </a:prstGeom>
          <a:ln w="0">
            <a:noFill/>
          </a:ln>
        </p:spPr>
      </p:pic>
      <p:pic>
        <p:nvPicPr>
          <p:cNvPr id="13498" name="Picture 13497"/>
          <p:cNvPicPr/>
          <p:nvPr/>
        </p:nvPicPr>
        <p:blipFill>
          <a:blip r:embed="rId6"/>
          <a:stretch/>
        </p:blipFill>
        <p:spPr>
          <a:xfrm>
            <a:off x="7001806" y="3883361"/>
            <a:ext cx="2673879" cy="1992488"/>
          </a:xfrm>
          <a:prstGeom prst="rect">
            <a:avLst/>
          </a:prstGeom>
          <a:ln w="0">
            <a:noFill/>
          </a:ln>
        </p:spPr>
      </p:pic>
      <p:pic>
        <p:nvPicPr>
          <p:cNvPr id="13499" name="Picture 13498"/>
          <p:cNvPicPr/>
          <p:nvPr/>
        </p:nvPicPr>
        <p:blipFill>
          <a:blip r:embed="rId7"/>
          <a:stretch/>
        </p:blipFill>
        <p:spPr>
          <a:xfrm>
            <a:off x="2794715" y="1182985"/>
            <a:ext cx="2621212" cy="2204134"/>
          </a:xfrm>
          <a:prstGeom prst="rect">
            <a:avLst/>
          </a:prstGeom>
          <a:ln w="0">
            <a:noFill/>
          </a:ln>
        </p:spPr>
      </p:pic>
      <p:pic>
        <p:nvPicPr>
          <p:cNvPr id="13500" name="Picture 13499"/>
          <p:cNvPicPr/>
          <p:nvPr/>
        </p:nvPicPr>
        <p:blipFill>
          <a:blip r:embed="rId8"/>
          <a:stretch/>
        </p:blipFill>
        <p:spPr>
          <a:xfrm>
            <a:off x="3318107" y="1815962"/>
            <a:ext cx="1648357" cy="821725"/>
          </a:xfrm>
          <a:prstGeom prst="rect">
            <a:avLst/>
          </a:prstGeom>
          <a:ln w="0">
            <a:noFill/>
          </a:ln>
        </p:spPr>
      </p:pic>
      <p:pic>
        <p:nvPicPr>
          <p:cNvPr id="13501" name="Picture 13500"/>
          <p:cNvPicPr/>
          <p:nvPr/>
        </p:nvPicPr>
        <p:blipFill>
          <a:blip r:embed="rId9"/>
          <a:stretch/>
        </p:blipFill>
        <p:spPr>
          <a:xfrm>
            <a:off x="3288994" y="4413949"/>
            <a:ext cx="1865565" cy="997388"/>
          </a:xfrm>
          <a:prstGeom prst="rect">
            <a:avLst/>
          </a:prstGeom>
          <a:ln w="0">
            <a:noFill/>
          </a:ln>
        </p:spPr>
      </p:pic>
      <p:pic>
        <p:nvPicPr>
          <p:cNvPr id="13502" name="Picture 13501"/>
          <p:cNvPicPr/>
          <p:nvPr/>
        </p:nvPicPr>
        <p:blipFill>
          <a:blip r:embed="rId10"/>
          <a:stretch/>
        </p:blipFill>
        <p:spPr>
          <a:xfrm>
            <a:off x="7065267" y="1813018"/>
            <a:ext cx="2109269" cy="1022250"/>
          </a:xfrm>
          <a:prstGeom prst="rect">
            <a:avLst/>
          </a:prstGeom>
          <a:ln w="0">
            <a:noFill/>
          </a:ln>
        </p:spPr>
      </p:pic>
      <p:pic>
        <p:nvPicPr>
          <p:cNvPr id="13503" name="Picture 13502"/>
          <p:cNvPicPr/>
          <p:nvPr/>
        </p:nvPicPr>
        <p:blipFill>
          <a:blip r:embed="rId11"/>
          <a:stretch/>
        </p:blipFill>
        <p:spPr>
          <a:xfrm>
            <a:off x="7357713" y="4376331"/>
            <a:ext cx="1476619" cy="746814"/>
          </a:xfrm>
          <a:prstGeom prst="rect">
            <a:avLst/>
          </a:prstGeom>
          <a:ln w="0">
            <a:noFill/>
          </a:ln>
        </p:spPr>
      </p:pic>
      <p:sp>
        <p:nvSpPr>
          <p:cNvPr id="13504" name="Rectangle 13503"/>
          <p:cNvSpPr/>
          <p:nvPr/>
        </p:nvSpPr>
        <p:spPr>
          <a:xfrm>
            <a:off x="457200" y="320040"/>
            <a:ext cx="31546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5" name="TextBox 13504"/>
          <p:cNvSpPr txBox="1"/>
          <p:nvPr/>
        </p:nvSpPr>
        <p:spPr>
          <a:xfrm>
            <a:off x="457200" y="320040"/>
            <a:ext cx="3154680" cy="566928"/>
          </a:xfrm>
          <a:prstGeom prst="rect">
            <a:avLst/>
          </a:prstGeom>
          <a:noFill/>
        </p:spPr>
        <p:txBody>
          <a:bodyPr wrap="square" lIns="0" rIns="0" tIns="0" bIns="0" anchor="ctr">
            <a:spAutoFit/>
          </a:bodyPr>
          <a:lstStyle/>
          <a:p>
            <a:pPr algn="ctr"/>
            <a:r>
              <a:rPr sz="2200" b="1" i="0">
                <a:solidFill>
                  <a:srgbClr val="FFFFFF"/>
                </a:solidFill>
                <a:latin typeface="Calibri"/>
              </a:rPr>
              <a:t>InBody Technologies</a:t>
            </a:r>
          </a:p>
        </p:txBody>
      </p:sp>
      <p:sp>
        <p:nvSpPr>
          <p:cNvPr id="13506" name="TextBox 13505"/>
          <p:cNvSpPr txBox="1"/>
          <p:nvPr/>
        </p:nvSpPr>
        <p:spPr>
          <a:xfrm>
            <a:off x="3840480" y="320040"/>
            <a:ext cx="6065215" cy="566928"/>
          </a:xfrm>
          <a:prstGeom prst="rect">
            <a:avLst/>
          </a:prstGeom>
          <a:noFill/>
        </p:spPr>
        <p:txBody>
          <a:bodyPr wrap="square" lIns="0" rIns="0" tIns="0" bIns="0" anchor="ctr">
            <a:spAutoFit/>
          </a:bodyPr>
          <a:lstStyle/>
          <a:p>
            <a:pPr algn="l"/>
            <a:r>
              <a:rPr sz="900" b="1" i="0">
                <a:solidFill>
                  <a:srgbClr val="B50937"/>
                </a:solidFill>
                <a:latin typeface="Calibri"/>
              </a:rPr>
              <a:t>SESSION 1</a:t>
            </a:r>
          </a:p>
          <a:p>
            <a:pPr algn="l"/>
            <a:r>
              <a:rPr sz="900" b="0" i="0">
                <a:solidFill>
                  <a:srgbClr val="5E6470"/>
                </a:solidFill>
                <a:latin typeface="Calibri"/>
              </a:rPr>
              <a:t>Basics of Body Composition Analysis Technology</a:t>
            </a:r>
          </a:p>
        </p:txBody>
      </p:sp>
      <p:pic>
        <p:nvPicPr>
          <p:cNvPr id="13507" name="Picture 13506" descr="logo_red.png"/>
          <p:cNvPicPr>
            <a:picLocks noChangeAspect="1"/>
          </p:cNvPicPr>
          <p:nvPr/>
        </p:nvPicPr>
        <p:blipFill>
          <a:blip r:embed="rId12"/>
          <a:stretch>
            <a:fillRect/>
          </a:stretch>
        </p:blipFill>
        <p:spPr>
          <a:xfrm>
            <a:off x="10436918" y="420624"/>
            <a:ext cx="1297577" cy="365760"/>
          </a:xfrm>
          <a:prstGeom prst="rect">
            <a:avLst/>
          </a:prstGeom>
        </p:spPr>
      </p:pic>
      <p:sp>
        <p:nvSpPr>
          <p:cNvPr id="13508" name="TextBox 13507"/>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3509" name="TextBox 13508"/>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1546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154680" cy="566928"/>
          </a:xfrm>
          <a:prstGeom prst="rect">
            <a:avLst/>
          </a:prstGeom>
          <a:noFill/>
        </p:spPr>
        <p:txBody>
          <a:bodyPr wrap="square" lIns="0" rIns="0" tIns="0" bIns="0" anchor="ctr">
            <a:spAutoFit/>
          </a:bodyPr>
          <a:lstStyle/>
          <a:p>
            <a:pPr algn="ctr"/>
            <a:r>
              <a:rPr sz="2200" b="1" i="0">
                <a:solidFill>
                  <a:srgbClr val="FFFFFF"/>
                </a:solidFill>
                <a:latin typeface="Calibri"/>
              </a:rPr>
              <a:t>InBody Technologies</a:t>
            </a:r>
          </a:p>
        </p:txBody>
      </p:sp>
      <p:sp>
        <p:nvSpPr>
          <p:cNvPr id="4" name="TextBox 3"/>
          <p:cNvSpPr txBox="1"/>
          <p:nvPr/>
        </p:nvSpPr>
        <p:spPr>
          <a:xfrm>
            <a:off x="3840480" y="320040"/>
            <a:ext cx="6065215" cy="566928"/>
          </a:xfrm>
          <a:prstGeom prst="rect">
            <a:avLst/>
          </a:prstGeom>
          <a:noFill/>
        </p:spPr>
        <p:txBody>
          <a:bodyPr wrap="square" lIns="0" rIns="0" tIns="0" bIns="0" anchor="ctr">
            <a:spAutoFit/>
          </a:bodyPr>
          <a:lstStyle/>
          <a:p>
            <a:pPr algn="l"/>
            <a:r>
              <a:rPr sz="900" b="1" i="0">
                <a:solidFill>
                  <a:srgbClr val="B50937"/>
                </a:solidFill>
                <a:latin typeface="Calibri"/>
              </a:rPr>
              <a:t>SESSION 1</a:t>
            </a:r>
          </a:p>
          <a:p>
            <a:pPr algn="l"/>
            <a:r>
              <a:rPr sz="900" b="0" i="0">
                <a:solidFill>
                  <a:srgbClr val="5E6470"/>
                </a:solidFill>
                <a:latin typeface="Calibri"/>
              </a:rPr>
              <a:t>Basics of Body Composition Analysis Technology</a:t>
            </a:r>
          </a:p>
        </p:txBody>
      </p:sp>
      <p:pic>
        <p:nvPicPr>
          <p:cNvPr id="5" name="Picture 4" descr="logo_red.png"/>
          <p:cNvPicPr>
            <a:picLocks noChangeAspect="1"/>
          </p:cNvPicPr>
          <p:nvPr/>
        </p:nvPicPr>
        <p:blipFill>
          <a:blip r:embed="rId5"/>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11</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6"/>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Left arm measurement</a:t>
            </a:r>
          </a:p>
          <a:p>
            <a:pPr>
              <a:spcAft>
                <a:spcPts val="600"/>
              </a:spcAft>
            </a:pPr>
            <a:r>
              <a:rPr sz="1300">
                <a:solidFill>
                  <a:srgbClr val="181D27"/>
                </a:solidFill>
                <a:latin typeface="Calibri"/>
              </a:rPr>
              <a:t>Current flows from the left palm through the trunk to the left leg. Voltage is checked from the left thumb to the right thumb.</a:t>
            </a:r>
          </a:p>
          <a:p>
            <a:pPr>
              <a:spcBef>
                <a:spcPts val="400"/>
              </a:spcBef>
              <a:spcAft>
                <a:spcPts val="200"/>
              </a:spcAft>
            </a:pPr>
            <a:r>
              <a:rPr sz="1300" b="1">
                <a:solidFill>
                  <a:srgbClr val="B50937"/>
                </a:solidFill>
                <a:latin typeface="Calibri"/>
              </a:rPr>
              <a:t>Trunk measurement</a:t>
            </a:r>
          </a:p>
          <a:p>
            <a:pPr>
              <a:spcAft>
                <a:spcPts val="600"/>
              </a:spcAft>
            </a:pPr>
            <a:r>
              <a:rPr sz="1300">
                <a:solidFill>
                  <a:srgbClr val="181D27"/>
                </a:solidFill>
                <a:latin typeface="Calibri"/>
              </a:rPr>
              <a:t>Current flows from the right palm to the right front sole. Voltage is checked from the left thumb to the left rear sole.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9.png"/>
          <p:cNvPicPr>
            <a:picLocks noChangeAspect="1"/>
          </p:cNvPicPr>
          <p:nvPr/>
        </p:nvPicPr>
        <p:blipFill>
          <a:blip r:embed="rId7"/>
          <a:stretch>
            <a:fillRect/>
          </a:stretch>
        </p:blipFill>
        <p:spPr>
          <a:xfrm>
            <a:off x="5760720" y="1355441"/>
            <a:ext cx="5790895" cy="3689917"/>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8"/>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Tactile 8-point electrodes let InBody measure each body segment separately.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1546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154680" cy="566928"/>
          </a:xfrm>
          <a:prstGeom prst="rect">
            <a:avLst/>
          </a:prstGeom>
          <a:noFill/>
        </p:spPr>
        <p:txBody>
          <a:bodyPr wrap="square" lIns="0" rIns="0" tIns="0" bIns="0" anchor="ctr">
            <a:spAutoFit/>
          </a:bodyPr>
          <a:lstStyle/>
          <a:p>
            <a:pPr algn="ctr"/>
            <a:r>
              <a:rPr sz="2200" b="1" i="0">
                <a:solidFill>
                  <a:srgbClr val="FFFFFF"/>
                </a:solidFill>
                <a:latin typeface="Calibri"/>
              </a:rPr>
              <a:t>InBody Technologies</a:t>
            </a:r>
          </a:p>
        </p:txBody>
      </p:sp>
      <p:sp>
        <p:nvSpPr>
          <p:cNvPr id="4" name="TextBox 3"/>
          <p:cNvSpPr txBox="1"/>
          <p:nvPr/>
        </p:nvSpPr>
        <p:spPr>
          <a:xfrm>
            <a:off x="3840480" y="320040"/>
            <a:ext cx="6065215" cy="566928"/>
          </a:xfrm>
          <a:prstGeom prst="rect">
            <a:avLst/>
          </a:prstGeom>
          <a:noFill/>
        </p:spPr>
        <p:txBody>
          <a:bodyPr wrap="square" lIns="0" rIns="0" tIns="0" bIns="0" anchor="ctr">
            <a:spAutoFit/>
          </a:bodyPr>
          <a:lstStyle/>
          <a:p>
            <a:pPr algn="l"/>
            <a:r>
              <a:rPr sz="900" b="1" i="0">
                <a:solidFill>
                  <a:srgbClr val="B50937"/>
                </a:solidFill>
                <a:latin typeface="Calibri"/>
              </a:rPr>
              <a:t>SESSION 1</a:t>
            </a:r>
          </a:p>
          <a:p>
            <a:pPr algn="l"/>
            <a:r>
              <a:rPr sz="900" b="0" i="0">
                <a:solidFill>
                  <a:srgbClr val="5E6470"/>
                </a:solidFill>
                <a:latin typeface="Calibri"/>
              </a:rPr>
              <a:t>Basics of Body Composition Analysis Technology</a:t>
            </a:r>
          </a:p>
        </p:txBody>
      </p:sp>
      <p:pic>
        <p:nvPicPr>
          <p:cNvPr id="5" name="Picture 4" descr="logo_red.png"/>
          <p:cNvPicPr>
            <a:picLocks noChangeAspect="1"/>
          </p:cNvPicPr>
          <p:nvPr/>
        </p:nvPicPr>
        <p:blipFill>
          <a:blip r:embed="rId7"/>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12</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8"/>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Empirical estimations</a:t>
            </a:r>
          </a:p>
          <a:p>
            <a:pPr>
              <a:spcAft>
                <a:spcPts val="600"/>
              </a:spcAft>
            </a:pPr>
            <a:r>
              <a:rPr sz="1300">
                <a:solidFill>
                  <a:srgbClr val="181D27"/>
                </a:solidFill>
                <a:latin typeface="Calibri"/>
              </a:rPr>
              <a:t>Variables based on common knowledge accumulated over time, for example:</a:t>
            </a:r>
          </a:p>
          <a:p>
            <a:pPr marL="228600" indent="-228600">
              <a:spcAft>
                <a:spcPts val="600"/>
              </a:spcAft>
              <a:buChar char="•"/>
            </a:pPr>
            <a:r>
              <a:rPr sz="1300">
                <a:solidFill>
                  <a:srgbClr val="181D27"/>
                </a:solidFill>
                <a:latin typeface="Calibri"/>
              </a:rPr>
              <a:t>Men have more muscle than women.</a:t>
            </a:r>
          </a:p>
          <a:p>
            <a:pPr marL="228600" indent="-228600">
              <a:spcAft>
                <a:spcPts val="600"/>
              </a:spcAft>
              <a:buChar char="•"/>
            </a:pPr>
            <a:r>
              <a:rPr sz="1300">
                <a:solidFill>
                  <a:srgbClr val="181D27"/>
                </a:solidFill>
                <a:latin typeface="Calibri"/>
              </a:rPr>
              <a:t>Seniors have more fat mass and less lean mass than young people.</a:t>
            </a:r>
          </a:p>
          <a:p>
            <a:pPr marL="228600" indent="-228600">
              <a:spcAft>
                <a:spcPts val="600"/>
              </a:spcAft>
              <a:buChar char="•"/>
            </a:pPr>
            <a:r>
              <a:rPr sz="1300">
                <a:solidFill>
                  <a:srgbClr val="181D27"/>
                </a:solidFill>
                <a:latin typeface="Calibri"/>
              </a:rPr>
              <a:t>As people get older, the limbs get thinner and the trunk gets wider.</a:t>
            </a:r>
          </a:p>
          <a:p>
            <a:pPr marL="228600" indent="-228600">
              <a:spcAft>
                <a:spcPts val="600"/>
              </a:spcAft>
              <a:buChar char="•"/>
            </a:pPr>
            <a:r>
              <a:rPr sz="1300">
                <a:solidFill>
                  <a:srgbClr val="181D27"/>
                </a:solidFill>
                <a:latin typeface="Calibri"/>
              </a:rPr>
              <a:t>People who work out frequently have more muscle.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10.png"/>
          <p:cNvPicPr>
            <a:picLocks noChangeAspect="1"/>
          </p:cNvPicPr>
          <p:nvPr/>
        </p:nvPicPr>
        <p:blipFill>
          <a:blip r:embed="rId9"/>
          <a:stretch>
            <a:fillRect/>
          </a:stretch>
        </p:blipFill>
        <p:spPr>
          <a:xfrm>
            <a:off x="5760720" y="2338752"/>
            <a:ext cx="5790895" cy="1723295"/>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10"/>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300" b="1" i="0">
                <a:solidFill>
                  <a:srgbClr val="FFFFFF"/>
                </a:solidFill>
                <a:latin typeface="Calibri"/>
              </a:rPr>
              <a:t>InBody excludes these assumptions: results come from each person's measured impedance, not from age or gender.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85" name="TextBox 4"/>
          <p:cNvSpPr txBox="1"/>
          <p:nvPr/>
        </p:nvSpPr>
        <p:spPr>
          <a:xfrm>
            <a:off x="6479248" y="2617925"/>
            <a:ext cx="3646665" cy="19736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0" tIns="45710" rIns="45710" bIns="45710">
            <a:spAutoFit/>
          </a:bodyPr>
          <a:lstStyle/>
          <a:p>
            <a:pPr marL="227013" indent="-227013" defTabSz="915987">
              <a:lnSpc>
                <a:spcPct val="150000"/>
              </a:lnSpc>
              <a:defRPr sz="1533" b="1">
                <a:solidFill>
                  <a:srgbClr val="B50937"/>
                </a:solidFill>
                <a:latin typeface="Cambria"/>
                <a:ea typeface="Cambria"/>
                <a:cs typeface="Cambria"/>
                <a:sym typeface="Cambria"/>
              </a:defRPr>
            </a:pPr>
            <a:r>
              <a:rPr dirty="0"/>
              <a:t>Chapter 1. Body Composition Analysis</a:t>
            </a:r>
          </a:p>
          <a:p>
            <a:pPr marL="227013" indent="-227013" defTabSz="915987">
              <a:lnSpc>
                <a:spcPct val="150000"/>
              </a:lnSpc>
              <a:defRPr sz="1533" b="1">
                <a:solidFill>
                  <a:srgbClr val="B50937"/>
                </a:solidFill>
                <a:latin typeface="Cambria"/>
                <a:ea typeface="Cambria"/>
                <a:cs typeface="Cambria"/>
                <a:sym typeface="Cambria"/>
              </a:defRPr>
            </a:pPr>
            <a:r>
              <a:rPr dirty="0"/>
              <a:t>Chapter 2. Muscle-Fat Analysis</a:t>
            </a:r>
          </a:p>
          <a:p>
            <a:pPr marL="227013" indent="-227013" defTabSz="915987">
              <a:lnSpc>
                <a:spcPct val="150000"/>
              </a:lnSpc>
              <a:defRPr sz="1533" b="1">
                <a:solidFill>
                  <a:srgbClr val="B50937"/>
                </a:solidFill>
                <a:latin typeface="Cambria"/>
                <a:ea typeface="Cambria"/>
                <a:cs typeface="Cambria"/>
                <a:sym typeface="Cambria"/>
              </a:defRPr>
            </a:pPr>
            <a:r>
              <a:rPr dirty="0"/>
              <a:t>Chapter 3. Obesity Analysis</a:t>
            </a:r>
          </a:p>
          <a:p>
            <a:pPr marL="227013" indent="-227013" defTabSz="915987">
              <a:lnSpc>
                <a:spcPct val="150000"/>
              </a:lnSpc>
              <a:defRPr sz="1533" b="1">
                <a:solidFill>
                  <a:srgbClr val="B50937"/>
                </a:solidFill>
                <a:latin typeface="Cambria"/>
                <a:ea typeface="Cambria"/>
                <a:cs typeface="Cambria"/>
                <a:sym typeface="Cambria"/>
              </a:defRPr>
            </a:pPr>
            <a:r>
              <a:rPr dirty="0"/>
              <a:t>Chapter 4. Segmental Analysis</a:t>
            </a:r>
          </a:p>
          <a:p>
            <a:pPr marL="227013" indent="-227013" defTabSz="915987">
              <a:lnSpc>
                <a:spcPct val="150000"/>
              </a:lnSpc>
              <a:defRPr sz="1533" b="1">
                <a:solidFill>
                  <a:srgbClr val="B50937"/>
                </a:solidFill>
                <a:latin typeface="Cambria"/>
                <a:ea typeface="Cambria"/>
                <a:cs typeface="Cambria"/>
                <a:sym typeface="Cambria"/>
              </a:defRPr>
            </a:pPr>
            <a:r>
              <a:rPr dirty="0"/>
              <a:t>Chapter 5. ECW Ratio &amp; Phase angle</a:t>
            </a:r>
          </a:p>
          <a:p>
            <a:pPr marL="227013" indent="-227013" defTabSz="915987">
              <a:lnSpc>
                <a:spcPct val="150000"/>
              </a:lnSpc>
              <a:defRPr sz="1533" b="1">
                <a:solidFill>
                  <a:srgbClr val="B50937"/>
                </a:solidFill>
                <a:latin typeface="Cambria"/>
                <a:ea typeface="Cambria"/>
                <a:cs typeface="Cambria"/>
                <a:sym typeface="Cambria"/>
              </a:defRPr>
            </a:pPr>
            <a:r>
              <a:rPr dirty="0"/>
              <a:t>Chapter 6. Additional Parameters</a:t>
            </a:r>
          </a:p>
        </p:txBody>
      </p:sp>
      <p:grpSp>
        <p:nvGrpSpPr>
          <p:cNvPr id="188" name="Picture 2"/>
          <p:cNvGrpSpPr/>
          <p:nvPr/>
        </p:nvGrpSpPr>
        <p:grpSpPr>
          <a:xfrm>
            <a:off x="2065781" y="1097280"/>
            <a:ext cx="3716750" cy="5264226"/>
            <a:chOff x="0" y="0"/>
            <a:chExt cx="4847935" cy="6866381"/>
          </a:xfrm>
        </p:grpSpPr>
        <p:sp>
          <p:nvSpPr>
            <p:cNvPr id="186" name="Rectangle"/>
            <p:cNvSpPr/>
            <p:nvPr/>
          </p:nvSpPr>
          <p:spPr>
            <a:xfrm>
              <a:off x="0" y="0"/>
              <a:ext cx="4847936" cy="6866382"/>
            </a:xfrm>
            <a:prstGeom prst="rect">
              <a:avLst/>
            </a:prstGeom>
            <a:solidFill>
              <a:srgbClr val="B50937"/>
            </a:solidFill>
            <a:ln w="12700" cap="flat">
              <a:noFill/>
              <a:miter lim="400000"/>
            </a:ln>
            <a:effectLst/>
          </p:spPr>
          <p:txBody>
            <a:bodyPr wrap="square" lIns="45719" tIns="45719" rIns="45719" bIns="45719" numCol="1" anchor="ctr">
              <a:noAutofit/>
            </a:bodyPr>
            <a:lstStyle/>
            <a:p>
              <a:endParaRPr/>
            </a:p>
          </p:txBody>
        </p:sp>
        <p:pic>
          <p:nvPicPr>
            <p:cNvPr id="187" name="image15.jpeg" descr="image15.jpeg"/>
            <p:cNvPicPr>
              <a:picLocks noChangeAspect="1"/>
            </p:cNvPicPr>
            <p:nvPr/>
          </p:nvPicPr>
          <p:blipFill>
            <a:blip r:embed="rId3">
              <a:extLst/>
            </a:blip>
            <a:stretch>
              <a:fillRect/>
            </a:stretch>
          </p:blipFill>
          <p:spPr>
            <a:xfrm>
              <a:off x="0" y="0"/>
              <a:ext cx="4847936" cy="6866382"/>
            </a:xfrm>
            <a:prstGeom prst="rect">
              <a:avLst/>
            </a:prstGeom>
            <a:ln w="38100" cap="flat">
              <a:solidFill>
                <a:srgbClr val="87151B"/>
              </a:solidFill>
              <a:prstDash val="solid"/>
              <a:round/>
            </a:ln>
            <a:effectLst/>
          </p:spPr>
        </p:pic>
      </p:grpSp>
      <p:sp>
        <p:nvSpPr>
          <p:cNvPr id="189" name="Rectangle 188"/>
          <p:cNvSpPr/>
          <p:nvPr/>
        </p:nvSpPr>
        <p:spPr>
          <a:xfrm>
            <a:off x="457200" y="320040"/>
            <a:ext cx="46634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457200" y="320040"/>
            <a:ext cx="4663440" cy="566928"/>
          </a:xfrm>
          <a:prstGeom prst="rect">
            <a:avLst/>
          </a:prstGeom>
          <a:noFill/>
        </p:spPr>
        <p:txBody>
          <a:bodyPr wrap="square" lIns="0" rIns="0" tIns="0" bIns="0" anchor="ctr">
            <a:spAutoFit/>
          </a:bodyPr>
          <a:lstStyle/>
          <a:p>
            <a:pPr algn="ctr"/>
            <a:r>
              <a:rPr sz="2200" b="1" i="0">
                <a:solidFill>
                  <a:srgbClr val="FFFFFF"/>
                </a:solidFill>
                <a:latin typeface="Calibri"/>
              </a:rPr>
              <a:t>The Result Sheet in 6 Chapters</a:t>
            </a:r>
          </a:p>
        </p:txBody>
      </p:sp>
      <p:sp>
        <p:nvSpPr>
          <p:cNvPr id="191" name="TextBox 190"/>
          <p:cNvSpPr txBox="1"/>
          <p:nvPr/>
        </p:nvSpPr>
        <p:spPr>
          <a:xfrm>
            <a:off x="5349240" y="320040"/>
            <a:ext cx="4556455" cy="566928"/>
          </a:xfrm>
          <a:prstGeom prst="rect">
            <a:avLst/>
          </a:prstGeom>
          <a:noFill/>
        </p:spPr>
        <p:txBody>
          <a:bodyPr wrap="square" lIns="0" rIns="0" tIns="0" bIns="0" anchor="ctr">
            <a:spAutoFit/>
          </a:bodyPr>
          <a:lstStyle/>
          <a:p>
            <a:pPr algn="l"/>
            <a:r>
              <a:rPr sz="900" b="1" i="0">
                <a:solidFill>
                  <a:srgbClr val="B50937"/>
                </a:solidFill>
                <a:latin typeface="Calibri"/>
              </a:rPr>
              <a:t>SESSION 2</a:t>
            </a:r>
          </a:p>
          <a:p>
            <a:pPr algn="l"/>
            <a:r>
              <a:rPr sz="900" b="0" i="0">
                <a:solidFill>
                  <a:srgbClr val="5E6470"/>
                </a:solidFill>
                <a:latin typeface="Calibri"/>
              </a:rPr>
              <a:t>InBody Result Sheet Interpretation – Part 1</a:t>
            </a:r>
          </a:p>
        </p:txBody>
      </p:sp>
      <p:pic>
        <p:nvPicPr>
          <p:cNvPr id="192" name="Picture 191" descr="logo_red.png"/>
          <p:cNvPicPr>
            <a:picLocks noChangeAspect="1"/>
          </p:cNvPicPr>
          <p:nvPr/>
        </p:nvPicPr>
        <p:blipFill>
          <a:blip r:embed="rId4"/>
          <a:stretch>
            <a:fillRect/>
          </a:stretch>
        </p:blipFill>
        <p:spPr>
          <a:xfrm>
            <a:off x="10436918" y="420624"/>
            <a:ext cx="1297577" cy="365760"/>
          </a:xfrm>
          <a:prstGeom prst="rect">
            <a:avLst/>
          </a:prstGeom>
        </p:spPr>
      </p:pic>
      <p:sp>
        <p:nvSpPr>
          <p:cNvPr id="193" name="TextBox 192"/>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94" name="TextBox 193"/>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14</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44" name="그림 43"/>
          <p:cNvPicPr>
            <a:picLocks noChangeAspect="1"/>
          </p:cNvPicPr>
          <p:nvPr/>
        </p:nvPicPr>
        <p:blipFill>
          <a:blip r:embed="rId3"/>
          <a:stretch>
            <a:fillRect/>
          </a:stretch>
        </p:blipFill>
        <p:spPr>
          <a:xfrm>
            <a:off x="7121654" y="2719481"/>
            <a:ext cx="2343261" cy="1992648"/>
          </a:xfrm>
          <a:prstGeom prst="rect">
            <a:avLst/>
          </a:prstGeom>
        </p:spPr>
      </p:pic>
      <p:pic>
        <p:nvPicPr>
          <p:cNvPr id="47" name="그림 46"/>
          <p:cNvPicPr>
            <a:picLocks noChangeAspect="1"/>
          </p:cNvPicPr>
          <p:nvPr/>
        </p:nvPicPr>
        <p:blipFill>
          <a:blip r:embed="rId4"/>
          <a:stretch>
            <a:fillRect/>
          </a:stretch>
        </p:blipFill>
        <p:spPr>
          <a:xfrm>
            <a:off x="7121654" y="2719481"/>
            <a:ext cx="2343261" cy="1992648"/>
          </a:xfrm>
          <a:prstGeom prst="rect">
            <a:avLst/>
          </a:prstGeom>
        </p:spPr>
      </p:pic>
      <p:pic>
        <p:nvPicPr>
          <p:cNvPr id="48" name="그림 47"/>
          <p:cNvPicPr>
            <a:picLocks noChangeAspect="1"/>
          </p:cNvPicPr>
          <p:nvPr/>
        </p:nvPicPr>
        <p:blipFill>
          <a:blip r:embed="rId5"/>
          <a:stretch>
            <a:fillRect/>
          </a:stretch>
        </p:blipFill>
        <p:spPr>
          <a:xfrm>
            <a:off x="7121654" y="2729855"/>
            <a:ext cx="2343261" cy="1992648"/>
          </a:xfrm>
          <a:prstGeom prst="rect">
            <a:avLst/>
          </a:prstGeom>
        </p:spPr>
      </p:pic>
      <p:pic>
        <p:nvPicPr>
          <p:cNvPr id="2" name="그림 3">
            <a:extLst>
              <a:ext uri="{FF2B5EF4-FFF2-40B4-BE49-F238E27FC236}">
                <a16:creationId xmlns:a16="http://schemas.microsoft.com/office/drawing/2014/main" id="{E1EF9EB0-09AF-4533-F7F1-E0BCB57329B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26779" y="1097280"/>
            <a:ext cx="3717032" cy="5257800"/>
          </a:xfrm>
          <a:prstGeom prst="rect">
            <a:avLst/>
          </a:prstGeom>
          <a:ln>
            <a:solidFill>
              <a:schemeClr val="tx1"/>
            </a:solidFill>
          </a:ln>
        </p:spPr>
      </p:pic>
      <p:sp>
        <p:nvSpPr>
          <p:cNvPr id="49" name="Rectangle 48"/>
          <p:cNvSpPr/>
          <p:nvPr/>
        </p:nvSpPr>
        <p:spPr>
          <a:xfrm>
            <a:off x="457200" y="320040"/>
            <a:ext cx="452627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320040"/>
            <a:ext cx="4526279" cy="566928"/>
          </a:xfrm>
          <a:prstGeom prst="rect">
            <a:avLst/>
          </a:prstGeom>
          <a:noFill/>
        </p:spPr>
        <p:txBody>
          <a:bodyPr wrap="square" lIns="0" rIns="0" tIns="0" bIns="0" anchor="ctr">
            <a:spAutoFit/>
          </a:bodyPr>
          <a:lstStyle/>
          <a:p>
            <a:pPr algn="ctr"/>
            <a:r>
              <a:rPr sz="2200" b="1" i="0">
                <a:solidFill>
                  <a:srgbClr val="FFFFFF"/>
                </a:solidFill>
                <a:latin typeface="Calibri"/>
              </a:rPr>
              <a:t>Body Composition Result Sheet</a:t>
            </a:r>
          </a:p>
        </p:txBody>
      </p:sp>
      <p:sp>
        <p:nvSpPr>
          <p:cNvPr id="51" name="TextBox 50"/>
          <p:cNvSpPr txBox="1"/>
          <p:nvPr/>
        </p:nvSpPr>
        <p:spPr>
          <a:xfrm>
            <a:off x="5212079" y="320040"/>
            <a:ext cx="4693615" cy="566928"/>
          </a:xfrm>
          <a:prstGeom prst="rect">
            <a:avLst/>
          </a:prstGeom>
          <a:noFill/>
        </p:spPr>
        <p:txBody>
          <a:bodyPr wrap="square" lIns="0" rIns="0" tIns="0" bIns="0" anchor="ctr">
            <a:spAutoFit/>
          </a:bodyPr>
          <a:lstStyle/>
          <a:p>
            <a:pPr algn="l"/>
            <a:r>
              <a:rPr sz="900" b="1" i="0">
                <a:solidFill>
                  <a:srgbClr val="B50937"/>
                </a:solidFill>
                <a:latin typeface="Calibri"/>
              </a:rPr>
              <a:t>SESSION 2</a:t>
            </a:r>
          </a:p>
          <a:p>
            <a:pPr algn="l"/>
            <a:r>
              <a:rPr sz="900" b="0" i="0">
                <a:solidFill>
                  <a:srgbClr val="5E6470"/>
                </a:solidFill>
                <a:latin typeface="Calibri"/>
              </a:rPr>
              <a:t>InBody Result Sheet Interpretation – Part 1</a:t>
            </a:r>
          </a:p>
        </p:txBody>
      </p:sp>
      <p:pic>
        <p:nvPicPr>
          <p:cNvPr id="52" name="Picture 51" descr="logo_red.png"/>
          <p:cNvPicPr>
            <a:picLocks noChangeAspect="1"/>
          </p:cNvPicPr>
          <p:nvPr/>
        </p:nvPicPr>
        <p:blipFill>
          <a:blip r:embed="rId7"/>
          <a:stretch>
            <a:fillRect/>
          </a:stretch>
        </p:blipFill>
        <p:spPr>
          <a:xfrm>
            <a:off x="10436918" y="420624"/>
            <a:ext cx="1297577" cy="365760"/>
          </a:xfrm>
          <a:prstGeom prst="rect">
            <a:avLst/>
          </a:prstGeom>
        </p:spPr>
      </p:pic>
      <p:sp>
        <p:nvSpPr>
          <p:cNvPr id="53" name="TextBox 52"/>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54" name="TextBox 53"/>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15</a:t>
            </a:r>
          </a:p>
        </p:txBody>
      </p:sp>
    </p:spTree>
    <p:extLst>
      <p:ext uri="{BB962C8B-B14F-4D97-AF65-F5344CB8AC3E}">
        <p14:creationId xmlns:p14="http://schemas.microsoft.com/office/powerpoint/2010/main" val="353697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4627A0D-591F-4A76-B41F-E423B6612B2A}"/>
              </a:ext>
            </a:extLst>
          </p:cNvPr>
          <p:cNvGraphicFramePr>
            <a:graphicFrameLocks noGrp="1"/>
          </p:cNvGraphicFramePr>
          <p:nvPr>
            <p:extLst/>
          </p:nvPr>
        </p:nvGraphicFramePr>
        <p:xfrm>
          <a:off x="3434144" y="3625473"/>
          <a:ext cx="7689987" cy="2729606"/>
        </p:xfrm>
        <a:graphic>
          <a:graphicData uri="http://schemas.openxmlformats.org/drawingml/2006/table">
            <a:tbl>
              <a:tblPr/>
              <a:tblGrid>
                <a:gridCol w="2910581">
                  <a:extLst>
                    <a:ext uri="{9D8B030D-6E8A-4147-A177-3AD203B41FA5}">
                      <a16:colId xmlns:a16="http://schemas.microsoft.com/office/drawing/2014/main" val="3579261106"/>
                    </a:ext>
                  </a:extLst>
                </a:gridCol>
                <a:gridCol w="4779406">
                  <a:extLst>
                    <a:ext uri="{9D8B030D-6E8A-4147-A177-3AD203B41FA5}">
                      <a16:colId xmlns:a16="http://schemas.microsoft.com/office/drawing/2014/main" val="1393260383"/>
                    </a:ext>
                  </a:extLst>
                </a:gridCol>
              </a:tblGrid>
              <a:tr h="330109">
                <a:tc>
                  <a:txBody>
                    <a:bodyPr/>
                    <a:lstStyle/>
                    <a:p>
                      <a:pPr algn="l">
                        <a:lnSpc>
                          <a:spcPct val="150000"/>
                        </a:lnSpc>
                      </a:pPr>
                      <a:r>
                        <a:rPr lang="en-US" sz="2166" b="1" dirty="0">
                          <a:solidFill>
                            <a:srgbClr val="B50937"/>
                          </a:solidFill>
                        </a:rPr>
                        <a:t>External Factor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50000"/>
                        </a:lnSpc>
                      </a:pPr>
                      <a:r>
                        <a:rPr lang="en-US" sz="2166" b="1" dirty="0">
                          <a:solidFill>
                            <a:srgbClr val="B50937"/>
                          </a:solidFill>
                        </a:rPr>
                        <a:t>Influence of BCA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4052873"/>
                  </a:ext>
                </a:extLst>
              </a:tr>
              <a:tr h="330109">
                <a:tc>
                  <a:txBody>
                    <a:bodyPr/>
                    <a:lstStyle/>
                    <a:p>
                      <a:pPr>
                        <a:lnSpc>
                          <a:spcPct val="150000"/>
                        </a:lnSpc>
                      </a:pPr>
                      <a:r>
                        <a:rPr lang="en-US" sz="1624" b="1" i="1" dirty="0">
                          <a:solidFill>
                            <a:schemeClr val="accent1">
                              <a:lumMod val="75000"/>
                            </a:schemeClr>
                          </a:solidFill>
                        </a:rPr>
                        <a:t>Calories</a:t>
                      </a:r>
                      <a:endParaRPr lang="en-US" sz="1624" i="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1624" dirty="0"/>
                        <a:t>Influence weight/fat gain/loss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9717433"/>
                  </a:ext>
                </a:extLst>
              </a:tr>
              <a:tr h="480087">
                <a:tc>
                  <a:txBody>
                    <a:bodyPr/>
                    <a:lstStyle/>
                    <a:p>
                      <a:pPr>
                        <a:lnSpc>
                          <a:spcPct val="150000"/>
                        </a:lnSpc>
                      </a:pPr>
                      <a:r>
                        <a:rPr lang="en-US" sz="1624" b="1" i="1" dirty="0">
                          <a:solidFill>
                            <a:schemeClr val="accent1">
                              <a:lumMod val="75000"/>
                            </a:schemeClr>
                          </a:solidFill>
                        </a:rPr>
                        <a:t>Macronutrients</a:t>
                      </a:r>
                      <a:endParaRPr lang="en-US" sz="1624" i="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1624" dirty="0"/>
                        <a:t>Protein builds muscle, fat stored when excess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9520549"/>
                  </a:ext>
                </a:extLst>
              </a:tr>
              <a:tr h="476500">
                <a:tc>
                  <a:txBody>
                    <a:bodyPr/>
                    <a:lstStyle/>
                    <a:p>
                      <a:pPr>
                        <a:lnSpc>
                          <a:spcPct val="150000"/>
                        </a:lnSpc>
                      </a:pPr>
                      <a:r>
                        <a:rPr lang="en-US" sz="1624" b="1" i="1" dirty="0">
                          <a:solidFill>
                            <a:schemeClr val="accent1">
                              <a:lumMod val="75000"/>
                            </a:schemeClr>
                          </a:solidFill>
                        </a:rPr>
                        <a:t>Micronutrients</a:t>
                      </a:r>
                      <a:endParaRPr lang="en-US" sz="1624" i="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1624" dirty="0"/>
                        <a:t>Vitamin D, Magnesium affect muscle health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7602816"/>
                  </a:ext>
                </a:extLst>
              </a:tr>
              <a:tr h="330109">
                <a:tc>
                  <a:txBody>
                    <a:bodyPr/>
                    <a:lstStyle/>
                    <a:p>
                      <a:pPr>
                        <a:lnSpc>
                          <a:spcPct val="150000"/>
                        </a:lnSpc>
                      </a:pPr>
                      <a:r>
                        <a:rPr lang="en-US" sz="1624" b="1" i="1" dirty="0">
                          <a:solidFill>
                            <a:schemeClr val="accent1">
                              <a:lumMod val="75000"/>
                            </a:schemeClr>
                          </a:solidFill>
                        </a:rPr>
                        <a:t>Hydration</a:t>
                      </a:r>
                      <a:endParaRPr lang="en-US" sz="1624" i="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1624" dirty="0"/>
                        <a:t>Affects body water balance (ECW &amp; ICW)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5823946"/>
                  </a:ext>
                </a:extLst>
              </a:tr>
              <a:tr h="330109">
                <a:tc>
                  <a:txBody>
                    <a:bodyPr/>
                    <a:lstStyle/>
                    <a:p>
                      <a:pPr>
                        <a:lnSpc>
                          <a:spcPct val="150000"/>
                        </a:lnSpc>
                      </a:pPr>
                      <a:r>
                        <a:rPr lang="en-US" sz="1624" b="1" i="1" dirty="0">
                          <a:solidFill>
                            <a:schemeClr val="accent1">
                              <a:lumMod val="75000"/>
                            </a:schemeClr>
                          </a:solidFill>
                        </a:rPr>
                        <a:t>Meal Timing</a:t>
                      </a:r>
                      <a:endParaRPr lang="en-US" sz="1624" i="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1624" dirty="0"/>
                        <a:t>Impacts fat oxidation, muscle recovery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014008"/>
                  </a:ext>
                </a:extLst>
              </a:tr>
            </a:tbl>
          </a:graphicData>
        </a:graphic>
      </p:graphicFrame>
      <p:grpSp>
        <p:nvGrpSpPr>
          <p:cNvPr id="3" name="그룹 24">
            <a:extLst>
              <a:ext uri="{FF2B5EF4-FFF2-40B4-BE49-F238E27FC236}">
                <a16:creationId xmlns:a16="http://schemas.microsoft.com/office/drawing/2014/main" id="{16F2DAE5-C88A-47D8-8BE3-8148B66F3583}"/>
              </a:ext>
            </a:extLst>
          </p:cNvPr>
          <p:cNvGrpSpPr/>
          <p:nvPr/>
        </p:nvGrpSpPr>
        <p:grpSpPr>
          <a:xfrm>
            <a:off x="1067563" y="1097280"/>
            <a:ext cx="5862028" cy="2280994"/>
            <a:chOff x="7415696" y="3141946"/>
            <a:chExt cx="4407176" cy="1724729"/>
          </a:xfrm>
        </p:grpSpPr>
        <p:pic>
          <p:nvPicPr>
            <p:cNvPr id="4" name="그림 27">
              <a:extLst>
                <a:ext uri="{FF2B5EF4-FFF2-40B4-BE49-F238E27FC236}">
                  <a16:creationId xmlns:a16="http://schemas.microsoft.com/office/drawing/2014/main" id="{FB015386-5F04-4F47-80AD-ED0A99B6CB5C}"/>
                </a:ext>
              </a:extLst>
            </p:cNvPr>
            <p:cNvPicPr>
              <a:picLocks noChangeAspect="1"/>
            </p:cNvPicPr>
            <p:nvPr/>
          </p:nvPicPr>
          <p:blipFill>
            <a:blip r:embed="rId2"/>
            <a:stretch>
              <a:fillRect/>
            </a:stretch>
          </p:blipFill>
          <p:spPr>
            <a:xfrm>
              <a:off x="7416434" y="3141946"/>
              <a:ext cx="4406438" cy="1724729"/>
            </a:xfrm>
            <a:prstGeom prst="rect">
              <a:avLst/>
            </a:prstGeom>
          </p:spPr>
        </p:pic>
        <p:sp>
          <p:nvSpPr>
            <p:cNvPr id="5" name="자유형 28">
              <a:extLst>
                <a:ext uri="{FF2B5EF4-FFF2-40B4-BE49-F238E27FC236}">
                  <a16:creationId xmlns:a16="http://schemas.microsoft.com/office/drawing/2014/main" id="{A3C1F069-96E9-4037-B9B1-BD5872F1EEBF}"/>
                </a:ext>
              </a:extLst>
            </p:cNvPr>
            <p:cNvSpPr/>
            <p:nvPr/>
          </p:nvSpPr>
          <p:spPr>
            <a:xfrm>
              <a:off x="7415696" y="3393984"/>
              <a:ext cx="4382852" cy="1432940"/>
            </a:xfrm>
            <a:custGeom>
              <a:avLst/>
              <a:gdLst>
                <a:gd name="connsiteX0" fmla="*/ 4638907 w 5525429"/>
                <a:gd name="connsiteY0" fmla="*/ 0 h 1806497"/>
                <a:gd name="connsiteX1" fmla="*/ 5525429 w 5525429"/>
                <a:gd name="connsiteY1" fmla="*/ 0 h 1806497"/>
                <a:gd name="connsiteX2" fmla="*/ 5525429 w 5525429"/>
                <a:gd name="connsiteY2" fmla="*/ 1806497 h 1806497"/>
                <a:gd name="connsiteX3" fmla="*/ 0 w 5525429"/>
                <a:gd name="connsiteY3" fmla="*/ 1806497 h 1806497"/>
                <a:gd name="connsiteX4" fmla="*/ 0 w 5525429"/>
                <a:gd name="connsiteY4" fmla="*/ 1405054 h 1806497"/>
                <a:gd name="connsiteX5" fmla="*/ 0 w 5525429"/>
                <a:gd name="connsiteY5" fmla="*/ 195146 h 1806497"/>
                <a:gd name="connsiteX6" fmla="*/ 4644483 w 5525429"/>
                <a:gd name="connsiteY6" fmla="*/ 195146 h 1806497"/>
                <a:gd name="connsiteX7" fmla="*/ 4638907 w 5525429"/>
                <a:gd name="connsiteY7" fmla="*/ 0 h 180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5429" h="1806497">
                  <a:moveTo>
                    <a:pt x="4638907" y="0"/>
                  </a:moveTo>
                  <a:lnTo>
                    <a:pt x="5525429" y="0"/>
                  </a:lnTo>
                  <a:lnTo>
                    <a:pt x="5525429" y="1806497"/>
                  </a:lnTo>
                  <a:lnTo>
                    <a:pt x="0" y="1806497"/>
                  </a:lnTo>
                  <a:lnTo>
                    <a:pt x="0" y="1405054"/>
                  </a:lnTo>
                  <a:lnTo>
                    <a:pt x="0" y="195146"/>
                  </a:lnTo>
                  <a:lnTo>
                    <a:pt x="4644483" y="195146"/>
                  </a:lnTo>
                  <a:lnTo>
                    <a:pt x="4638907" y="0"/>
                  </a:lnTo>
                  <a:close/>
                </a:path>
              </a:pathLst>
            </a:custGeom>
            <a:solidFill>
              <a:schemeClr val="accent4">
                <a:alpha val="13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sp>
        <p:nvSpPr>
          <p:cNvPr id="8" name="Rectangle 7"/>
          <p:cNvSpPr/>
          <p:nvPr/>
        </p:nvSpPr>
        <p:spPr>
          <a:xfrm>
            <a:off x="457200" y="320040"/>
            <a:ext cx="397763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20040"/>
            <a:ext cx="3977639" cy="566928"/>
          </a:xfrm>
          <a:prstGeom prst="rect">
            <a:avLst/>
          </a:prstGeom>
          <a:noFill/>
        </p:spPr>
        <p:txBody>
          <a:bodyPr wrap="square" lIns="0" rIns="0" tIns="0" bIns="0" anchor="ctr">
            <a:spAutoFit/>
          </a:bodyPr>
          <a:lstStyle/>
          <a:p>
            <a:pPr algn="ctr"/>
            <a:r>
              <a:rPr sz="2200" b="1" i="0">
                <a:solidFill>
                  <a:srgbClr val="FFFFFF"/>
                </a:solidFill>
                <a:latin typeface="Calibri"/>
              </a:rPr>
              <a:t>Body Composition Analysis</a:t>
            </a:r>
          </a:p>
        </p:txBody>
      </p:sp>
      <p:sp>
        <p:nvSpPr>
          <p:cNvPr id="10" name="TextBox 9"/>
          <p:cNvSpPr txBox="1"/>
          <p:nvPr/>
        </p:nvSpPr>
        <p:spPr>
          <a:xfrm>
            <a:off x="4663440" y="320040"/>
            <a:ext cx="5242255" cy="566928"/>
          </a:xfrm>
          <a:prstGeom prst="rect">
            <a:avLst/>
          </a:prstGeom>
          <a:noFill/>
        </p:spPr>
        <p:txBody>
          <a:bodyPr wrap="square" lIns="0" rIns="0" tIns="0" bIns="0" anchor="ctr">
            <a:spAutoFit/>
          </a:bodyPr>
          <a:lstStyle/>
          <a:p>
            <a:pPr algn="l"/>
            <a:r>
              <a:rPr sz="900" b="1" i="0">
                <a:solidFill>
                  <a:srgbClr val="B50937"/>
                </a:solidFill>
                <a:latin typeface="Calibri"/>
              </a:rPr>
              <a:t>SESSION 2</a:t>
            </a:r>
          </a:p>
          <a:p>
            <a:pPr algn="l"/>
            <a:r>
              <a:rPr sz="900" b="0" i="0">
                <a:solidFill>
                  <a:srgbClr val="5E6470"/>
                </a:solidFill>
                <a:latin typeface="Calibri"/>
              </a:rPr>
              <a:t>InBody Result Sheet Interpretation – Part 1</a:t>
            </a:r>
          </a:p>
        </p:txBody>
      </p:sp>
      <p:pic>
        <p:nvPicPr>
          <p:cNvPr id="11" name="Picture 10" descr="logo_red.png"/>
          <p:cNvPicPr>
            <a:picLocks noChangeAspect="1"/>
          </p:cNvPicPr>
          <p:nvPr/>
        </p:nvPicPr>
        <p:blipFill>
          <a:blip r:embed="rId3"/>
          <a:stretch>
            <a:fillRect/>
          </a:stretch>
        </p:blipFill>
        <p:spPr>
          <a:xfrm>
            <a:off x="10436918" y="420624"/>
            <a:ext cx="1297577" cy="365760"/>
          </a:xfrm>
          <a:prstGeom prst="rect">
            <a:avLst/>
          </a:prstGeom>
        </p:spPr>
      </p:pic>
      <p:sp>
        <p:nvSpPr>
          <p:cNvPr id="12" name="TextBox 11"/>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3" name="TextBox 12"/>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16</a:t>
            </a:r>
          </a:p>
        </p:txBody>
      </p:sp>
    </p:spTree>
    <p:extLst>
      <p:ext uri="{BB962C8B-B14F-4D97-AF65-F5344CB8AC3E}">
        <p14:creationId xmlns:p14="http://schemas.microsoft.com/office/powerpoint/2010/main" val="162409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18" name="그림 17"/>
          <p:cNvPicPr>
            <a:picLocks noChangeAspect="1"/>
          </p:cNvPicPr>
          <p:nvPr/>
        </p:nvPicPr>
        <p:blipFill rotWithShape="1">
          <a:blip r:embed="rId3" cstate="print">
            <a:extLst>
              <a:ext uri="{28A0092B-C50C-407E-A947-70E740481C1C}">
                <a14:useLocalDpi xmlns:a14="http://schemas.microsoft.com/office/drawing/2010/main" val="0"/>
              </a:ext>
            </a:extLst>
          </a:blip>
          <a:srcRect l="3992" t="28422" r="36699" b="49181"/>
          <a:stretch/>
        </p:blipFill>
        <p:spPr>
          <a:xfrm>
            <a:off x="692650" y="1097280"/>
            <a:ext cx="2361670" cy="1260865"/>
          </a:xfrm>
          <a:prstGeom prst="rect">
            <a:avLst/>
          </a:prstGeom>
          <a:ln>
            <a:noFill/>
          </a:ln>
          <a:effectLst/>
        </p:spPr>
      </p:pic>
      <p:grpSp>
        <p:nvGrpSpPr>
          <p:cNvPr id="42" name="그룹 41"/>
          <p:cNvGrpSpPr/>
          <p:nvPr/>
        </p:nvGrpSpPr>
        <p:grpSpPr>
          <a:xfrm>
            <a:off x="4158159" y="3190414"/>
            <a:ext cx="3705360" cy="1588668"/>
            <a:chOff x="49824" y="2711269"/>
            <a:chExt cx="3989433" cy="1710464"/>
          </a:xfrm>
        </p:grpSpPr>
        <p:pic>
          <p:nvPicPr>
            <p:cNvPr id="17" name="Picture 4"/>
            <p:cNvPicPr>
              <a:picLocks noChangeAspect="1" noChangeArrowheads="1"/>
            </p:cNvPicPr>
            <p:nvPr/>
          </p:nvPicPr>
          <p:blipFill>
            <a:blip r:embed="rId4" cstate="print"/>
            <a:srcRect/>
            <a:stretch>
              <a:fillRect/>
            </a:stretch>
          </p:blipFill>
          <p:spPr bwMode="auto">
            <a:xfrm>
              <a:off x="121346" y="3071059"/>
              <a:ext cx="3917911" cy="1149069"/>
            </a:xfrm>
            <a:prstGeom prst="rect">
              <a:avLst/>
            </a:prstGeom>
            <a:noFill/>
            <a:ln w="9525">
              <a:noFill/>
              <a:miter lim="800000"/>
              <a:headEnd/>
              <a:tailEnd/>
            </a:ln>
          </p:spPr>
        </p:pic>
        <p:sp>
          <p:nvSpPr>
            <p:cNvPr id="23" name="TextBox 22"/>
            <p:cNvSpPr txBox="1"/>
            <p:nvPr/>
          </p:nvSpPr>
          <p:spPr>
            <a:xfrm>
              <a:off x="1762126" y="3098294"/>
              <a:ext cx="318175" cy="1323439"/>
            </a:xfrm>
            <a:prstGeom prst="rect">
              <a:avLst/>
            </a:prstGeom>
            <a:noFill/>
            <a:ln>
              <a:noFill/>
            </a:ln>
          </p:spPr>
          <p:txBody>
            <a:bodyPr wrap="square" rtlCol="0" anchor="b">
              <a:spAutoFit/>
            </a:bodyPr>
            <a:lstStyle/>
            <a:p>
              <a:pPr algn="ctr"/>
              <a:r>
                <a:rPr lang="en-US" altLang="ko-KR" sz="7430" dirty="0">
                  <a:solidFill>
                    <a:srgbClr val="B50937">
                      <a:alpha val="60000"/>
                    </a:srgbClr>
                  </a:solidFill>
                  <a:ea typeface="Adobe Heiti Std R" panose="020B0400000000000000" pitchFamily="34" charset="-128"/>
                  <a:cs typeface="Arial" panose="020B0604020202020204" pitchFamily="34" charset="0"/>
                </a:rPr>
                <a:t>I</a:t>
              </a:r>
              <a:endParaRPr lang="ko-KR" altLang="en-US" sz="7430" dirty="0">
                <a:solidFill>
                  <a:srgbClr val="B50937">
                    <a:alpha val="60000"/>
                  </a:srgbClr>
                </a:solidFill>
                <a:cs typeface="Arial" panose="020B0604020202020204" pitchFamily="34" charset="0"/>
              </a:endParaRPr>
            </a:p>
          </p:txBody>
        </p:sp>
        <p:sp>
          <p:nvSpPr>
            <p:cNvPr id="32" name="TextBox 31"/>
            <p:cNvSpPr txBox="1"/>
            <p:nvPr/>
          </p:nvSpPr>
          <p:spPr>
            <a:xfrm>
              <a:off x="49824" y="2711269"/>
              <a:ext cx="2771592" cy="338554"/>
            </a:xfrm>
            <a:prstGeom prst="rect">
              <a:avLst/>
            </a:prstGeom>
            <a:noFill/>
          </p:spPr>
          <p:txBody>
            <a:bodyPr wrap="square" rtlCol="0">
              <a:spAutoFit/>
            </a:bodyPr>
            <a:lstStyle/>
            <a:p>
              <a:r>
                <a:rPr lang="en-US" altLang="ko-KR" sz="1486" b="1">
                  <a:solidFill>
                    <a:srgbClr val="B50937"/>
                  </a:solidFill>
                </a:rPr>
                <a:t>I</a:t>
              </a:r>
              <a:r>
                <a:rPr lang="en-US" altLang="ko-KR" sz="1486">
                  <a:solidFill>
                    <a:srgbClr val="B50937"/>
                  </a:solidFill>
                </a:rPr>
                <a:t>deal </a:t>
              </a:r>
            </a:p>
          </p:txBody>
        </p:sp>
      </p:grpSp>
      <p:grpSp>
        <p:nvGrpSpPr>
          <p:cNvPr id="41" name="그룹 40"/>
          <p:cNvGrpSpPr/>
          <p:nvPr/>
        </p:nvGrpSpPr>
        <p:grpSpPr>
          <a:xfrm>
            <a:off x="7915324" y="3190414"/>
            <a:ext cx="3652745" cy="1588668"/>
            <a:chOff x="8079727" y="2711269"/>
            <a:chExt cx="3932784" cy="1710464"/>
          </a:xfrm>
        </p:grpSpPr>
        <p:pic>
          <p:nvPicPr>
            <p:cNvPr id="39" name="Picture 5"/>
            <p:cNvPicPr>
              <a:picLocks noChangeAspect="1" noChangeArrowheads="1"/>
            </p:cNvPicPr>
            <p:nvPr/>
          </p:nvPicPr>
          <p:blipFill rotWithShape="1">
            <a:blip r:embed="rId5" cstate="print"/>
            <a:srcRect r="1043"/>
            <a:stretch/>
          </p:blipFill>
          <p:spPr bwMode="auto">
            <a:xfrm>
              <a:off x="8096051" y="3042223"/>
              <a:ext cx="3916460" cy="1206740"/>
            </a:xfrm>
            <a:prstGeom prst="rect">
              <a:avLst/>
            </a:prstGeom>
            <a:noFill/>
            <a:ln w="9525">
              <a:noFill/>
              <a:miter lim="800000"/>
              <a:headEnd/>
              <a:tailEnd/>
            </a:ln>
          </p:spPr>
        </p:pic>
        <p:sp>
          <p:nvSpPr>
            <p:cNvPr id="31" name="TextBox 30"/>
            <p:cNvSpPr txBox="1"/>
            <p:nvPr/>
          </p:nvSpPr>
          <p:spPr>
            <a:xfrm>
              <a:off x="9703626" y="3098294"/>
              <a:ext cx="318175" cy="1323439"/>
            </a:xfrm>
            <a:prstGeom prst="rect">
              <a:avLst/>
            </a:prstGeom>
            <a:noFill/>
            <a:ln>
              <a:noFill/>
            </a:ln>
          </p:spPr>
          <p:txBody>
            <a:bodyPr wrap="square" rtlCol="0" anchor="b">
              <a:spAutoFit/>
            </a:bodyPr>
            <a:lstStyle/>
            <a:p>
              <a:pPr algn="ctr"/>
              <a:r>
                <a:rPr lang="en-US" altLang="ko-KR" sz="7430">
                  <a:solidFill>
                    <a:srgbClr val="B50937">
                      <a:alpha val="60000"/>
                    </a:srgbClr>
                  </a:solidFill>
                  <a:ea typeface="Adobe Heiti Std R" panose="020B0400000000000000" pitchFamily="34" charset="-128"/>
                  <a:cs typeface="Arial" panose="020B0604020202020204" pitchFamily="34" charset="0"/>
                </a:rPr>
                <a:t>D</a:t>
              </a:r>
              <a:endParaRPr lang="ko-KR" altLang="en-US" sz="7430" dirty="0">
                <a:solidFill>
                  <a:srgbClr val="B50937">
                    <a:alpha val="60000"/>
                  </a:srgbClr>
                </a:solidFill>
                <a:cs typeface="Arial" panose="020B0604020202020204" pitchFamily="34" charset="0"/>
              </a:endParaRPr>
            </a:p>
          </p:txBody>
        </p:sp>
        <p:sp>
          <p:nvSpPr>
            <p:cNvPr id="34" name="TextBox 33"/>
            <p:cNvSpPr txBox="1"/>
            <p:nvPr/>
          </p:nvSpPr>
          <p:spPr>
            <a:xfrm>
              <a:off x="8079727" y="2711269"/>
              <a:ext cx="2771592" cy="338554"/>
            </a:xfrm>
            <a:prstGeom prst="rect">
              <a:avLst/>
            </a:prstGeom>
            <a:noFill/>
          </p:spPr>
          <p:txBody>
            <a:bodyPr wrap="square" rtlCol="0">
              <a:spAutoFit/>
            </a:bodyPr>
            <a:lstStyle/>
            <a:p>
              <a:r>
                <a:rPr lang="en-US" altLang="ko-KR" sz="1486" b="1">
                  <a:solidFill>
                    <a:srgbClr val="B50937"/>
                  </a:solidFill>
                </a:rPr>
                <a:t>D</a:t>
              </a:r>
              <a:r>
                <a:rPr lang="en-US" altLang="ko-KR" sz="1486">
                  <a:solidFill>
                    <a:srgbClr val="B50937"/>
                  </a:solidFill>
                </a:rPr>
                <a:t>eveloped</a:t>
              </a:r>
            </a:p>
          </p:txBody>
        </p:sp>
      </p:grpSp>
      <p:sp>
        <p:nvSpPr>
          <p:cNvPr id="35" name="TextBox 34"/>
          <p:cNvSpPr txBox="1"/>
          <p:nvPr/>
        </p:nvSpPr>
        <p:spPr>
          <a:xfrm>
            <a:off x="4423990" y="4931901"/>
            <a:ext cx="3173697" cy="771824"/>
          </a:xfrm>
          <a:prstGeom prst="rect">
            <a:avLst/>
          </a:prstGeom>
          <a:noFill/>
        </p:spPr>
        <p:txBody>
          <a:bodyPr wrap="square" rtlCol="0" anchor="ctr">
            <a:spAutoFit/>
          </a:bodyPr>
          <a:lstStyle/>
          <a:p>
            <a:pPr marL="285750" indent="-285750">
              <a:lnSpc>
                <a:spcPct val="150000"/>
              </a:lnSpc>
              <a:buFont typeface="Arial" panose="020B0604020202020204" pitchFamily="34" charset="0"/>
              <a:buChar char="•"/>
            </a:pPr>
            <a:r>
              <a:rPr lang="en-US" altLang="ko-KR" sz="1486">
                <a:latin typeface="Arial" panose="020B0604020202020204" pitchFamily="34" charset="0"/>
                <a:cs typeface="Arial" panose="020B0604020202020204" pitchFamily="34" charset="0"/>
              </a:rPr>
              <a:t>Balanced Muscle &amp; Fat</a:t>
            </a:r>
            <a:endParaRPr lang="en-US" altLang="ko-KR" sz="1486"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ko-KR" sz="1486" dirty="0">
                <a:latin typeface="Arial" panose="020B0604020202020204" pitchFamily="34" charset="0"/>
                <a:cs typeface="Arial" panose="020B0604020202020204" pitchFamily="34" charset="0"/>
              </a:rPr>
              <a:t>Normal and Healthy</a:t>
            </a:r>
            <a:endParaRPr lang="ko-KR" altLang="en-US" sz="1486" dirty="0">
              <a:latin typeface="Arial" panose="020B0604020202020204" pitchFamily="34" charset="0"/>
              <a:cs typeface="Arial" panose="020B0604020202020204" pitchFamily="34" charset="0"/>
            </a:endParaRPr>
          </a:p>
        </p:txBody>
      </p:sp>
      <p:sp>
        <p:nvSpPr>
          <p:cNvPr id="36" name="TextBox 35"/>
          <p:cNvSpPr txBox="1"/>
          <p:nvPr/>
        </p:nvSpPr>
        <p:spPr>
          <a:xfrm>
            <a:off x="599003" y="4931901"/>
            <a:ext cx="3507352" cy="771824"/>
          </a:xfrm>
          <a:prstGeom prst="rect">
            <a:avLst/>
          </a:prstGeom>
          <a:noFill/>
        </p:spPr>
        <p:txBody>
          <a:bodyPr wrap="square" rtlCol="0" anchor="ctr">
            <a:spAutoFit/>
          </a:bodyPr>
          <a:lstStyle/>
          <a:p>
            <a:pPr marL="285750" indent="-285750">
              <a:lnSpc>
                <a:spcPct val="150000"/>
              </a:lnSpc>
              <a:buFont typeface="Arial" panose="020B0604020202020204" pitchFamily="34" charset="0"/>
              <a:buChar char="•"/>
            </a:pPr>
            <a:r>
              <a:rPr lang="en-US" altLang="ko-KR" sz="1486">
                <a:latin typeface="Arial" panose="020B0604020202020204" pitchFamily="34" charset="0"/>
                <a:cs typeface="Arial" panose="020B0604020202020204" pitchFamily="34" charset="0"/>
              </a:rPr>
              <a:t>Muscle &lt; Fat</a:t>
            </a:r>
            <a:endParaRPr lang="en-US" altLang="ko-KR" sz="1486"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ko-KR" sz="1486">
                <a:latin typeface="Arial" panose="020B0604020202020204" pitchFamily="34" charset="0"/>
                <a:cs typeface="Arial" panose="020B0604020202020204" pitchFamily="34" charset="0"/>
              </a:rPr>
              <a:t>Sarcopenia, Skinny </a:t>
            </a:r>
            <a:r>
              <a:rPr lang="en-US" altLang="ko-KR" sz="1486" dirty="0">
                <a:latin typeface="Arial" panose="020B0604020202020204" pitchFamily="34" charset="0"/>
                <a:cs typeface="Arial" panose="020B0604020202020204" pitchFamily="34" charset="0"/>
              </a:rPr>
              <a:t>obese body</a:t>
            </a:r>
            <a:endParaRPr lang="ko-KR" altLang="en-US" sz="1486" dirty="0">
              <a:latin typeface="Arial" panose="020B0604020202020204" pitchFamily="34" charset="0"/>
              <a:cs typeface="Arial" panose="020B0604020202020204" pitchFamily="34" charset="0"/>
            </a:endParaRPr>
          </a:p>
        </p:txBody>
      </p:sp>
      <p:sp>
        <p:nvSpPr>
          <p:cNvPr id="37" name="TextBox 36"/>
          <p:cNvSpPr txBox="1"/>
          <p:nvPr/>
        </p:nvSpPr>
        <p:spPr>
          <a:xfrm>
            <a:off x="7915324" y="4931901"/>
            <a:ext cx="4483069" cy="771824"/>
          </a:xfrm>
          <a:prstGeom prst="rect">
            <a:avLst/>
          </a:prstGeom>
          <a:noFill/>
        </p:spPr>
        <p:txBody>
          <a:bodyPr wrap="square" rtlCol="0" anchor="ctr">
            <a:spAutoFit/>
          </a:bodyPr>
          <a:lstStyle/>
          <a:p>
            <a:pPr marL="285750" indent="-285750">
              <a:lnSpc>
                <a:spcPct val="150000"/>
              </a:lnSpc>
              <a:buFont typeface="Arial" panose="020B0604020202020204" pitchFamily="34" charset="0"/>
              <a:buChar char="•"/>
            </a:pPr>
            <a:r>
              <a:rPr lang="en-US" altLang="ko-KR" sz="1486">
                <a:latin typeface="Arial" panose="020B0604020202020204" pitchFamily="34" charset="0"/>
                <a:cs typeface="Arial" panose="020B0604020202020204" pitchFamily="34" charset="0"/>
              </a:rPr>
              <a:t>Muscle &gt; Fat </a:t>
            </a:r>
            <a:endParaRPr lang="en-US" altLang="ko-KR" sz="1486"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ko-KR" sz="1486">
                <a:latin typeface="Arial" panose="020B0604020202020204" pitchFamily="34" charset="0"/>
                <a:cs typeface="Arial" panose="020B0604020202020204" pitchFamily="34" charset="0"/>
              </a:rPr>
              <a:t>Muscular, athletic people</a:t>
            </a:r>
            <a:endParaRPr lang="ko-KR" altLang="en-US" sz="1486" dirty="0">
              <a:latin typeface="Arial" panose="020B0604020202020204" pitchFamily="34" charset="0"/>
              <a:cs typeface="Arial" panose="020B0604020202020204" pitchFamily="34" charset="0"/>
            </a:endParaRPr>
          </a:p>
        </p:txBody>
      </p:sp>
      <p:grpSp>
        <p:nvGrpSpPr>
          <p:cNvPr id="12" name="그룹 11"/>
          <p:cNvGrpSpPr/>
          <p:nvPr/>
        </p:nvGrpSpPr>
        <p:grpSpPr>
          <a:xfrm>
            <a:off x="457200" y="3169212"/>
            <a:ext cx="3725508" cy="1588668"/>
            <a:chOff x="4031852" y="2711269"/>
            <a:chExt cx="4011125" cy="1710464"/>
          </a:xfrm>
        </p:grpSpPr>
        <p:pic>
          <p:nvPicPr>
            <p:cNvPr id="38" name="Picture 2"/>
            <p:cNvPicPr>
              <a:picLocks noChangeAspect="1" noChangeArrowheads="1"/>
            </p:cNvPicPr>
            <p:nvPr/>
          </p:nvPicPr>
          <p:blipFill rotWithShape="1">
            <a:blip r:embed="rId6" cstate="print"/>
            <a:srcRect r="1199"/>
            <a:stretch/>
          </p:blipFill>
          <p:spPr bwMode="auto">
            <a:xfrm>
              <a:off x="4092330" y="3071059"/>
              <a:ext cx="3950647" cy="1149069"/>
            </a:xfrm>
            <a:prstGeom prst="rect">
              <a:avLst/>
            </a:prstGeom>
            <a:noFill/>
            <a:ln w="9525">
              <a:noFill/>
              <a:miter lim="800000"/>
              <a:headEnd/>
              <a:tailEnd/>
            </a:ln>
          </p:spPr>
        </p:pic>
        <p:sp>
          <p:nvSpPr>
            <p:cNvPr id="29" name="TextBox 28"/>
            <p:cNvSpPr txBox="1"/>
            <p:nvPr/>
          </p:nvSpPr>
          <p:spPr>
            <a:xfrm>
              <a:off x="5653949" y="3098294"/>
              <a:ext cx="318175" cy="1323439"/>
            </a:xfrm>
            <a:prstGeom prst="rect">
              <a:avLst/>
            </a:prstGeom>
            <a:noFill/>
            <a:ln>
              <a:noFill/>
            </a:ln>
          </p:spPr>
          <p:txBody>
            <a:bodyPr wrap="square" rtlCol="0" anchor="b">
              <a:spAutoFit/>
            </a:bodyPr>
            <a:lstStyle/>
            <a:p>
              <a:pPr algn="ctr"/>
              <a:r>
                <a:rPr lang="en-US" altLang="ko-KR" sz="7430">
                  <a:solidFill>
                    <a:srgbClr val="B50937">
                      <a:alpha val="60000"/>
                    </a:srgbClr>
                  </a:solidFill>
                  <a:ea typeface="Adobe Heiti Std R" panose="020B0400000000000000" pitchFamily="34" charset="-128"/>
                  <a:cs typeface="Arial" panose="020B0604020202020204" pitchFamily="34" charset="0"/>
                </a:rPr>
                <a:t>C</a:t>
              </a:r>
              <a:endParaRPr lang="ko-KR" altLang="en-US" sz="7430" dirty="0">
                <a:solidFill>
                  <a:srgbClr val="B50937">
                    <a:alpha val="60000"/>
                  </a:srgbClr>
                </a:solidFill>
                <a:cs typeface="Arial" panose="020B0604020202020204" pitchFamily="34" charset="0"/>
              </a:endParaRPr>
            </a:p>
          </p:txBody>
        </p:sp>
        <p:sp>
          <p:nvSpPr>
            <p:cNvPr id="33" name="TextBox 32"/>
            <p:cNvSpPr txBox="1"/>
            <p:nvPr/>
          </p:nvSpPr>
          <p:spPr>
            <a:xfrm>
              <a:off x="4031852" y="2711269"/>
              <a:ext cx="2771592" cy="338554"/>
            </a:xfrm>
            <a:prstGeom prst="rect">
              <a:avLst/>
            </a:prstGeom>
            <a:noFill/>
          </p:spPr>
          <p:txBody>
            <a:bodyPr wrap="square" rtlCol="0">
              <a:spAutoFit/>
            </a:bodyPr>
            <a:lstStyle/>
            <a:p>
              <a:r>
                <a:rPr lang="en-US" altLang="ko-KR" sz="1486" b="1">
                  <a:solidFill>
                    <a:srgbClr val="B50937"/>
                  </a:solidFill>
                </a:rPr>
                <a:t>C</a:t>
              </a:r>
              <a:r>
                <a:rPr lang="en-US" altLang="ko-KR" sz="1486">
                  <a:solidFill>
                    <a:srgbClr val="B50937"/>
                  </a:solidFill>
                </a:rPr>
                <a:t>autious</a:t>
              </a:r>
            </a:p>
          </p:txBody>
        </p:sp>
      </p:grpSp>
      <p:sp>
        <p:nvSpPr>
          <p:cNvPr id="46" name="TextBox 45"/>
          <p:cNvSpPr txBox="1"/>
          <p:nvPr/>
        </p:nvSpPr>
        <p:spPr>
          <a:xfrm>
            <a:off x="4224588" y="1447794"/>
            <a:ext cx="4825435" cy="686066"/>
          </a:xfrm>
          <a:prstGeom prst="rect">
            <a:avLst/>
          </a:prstGeom>
        </p:spPr>
        <p:txBody>
          <a:bodyPr wrap="square" rtlCol="0">
            <a:spAutoFit/>
          </a:bodyPr>
          <a:lstStyle/>
          <a:p>
            <a:pPr marL="285750" indent="-285750">
              <a:buFont typeface="Arial" panose="020B0604020202020204" pitchFamily="34" charset="0"/>
              <a:buChar char="•"/>
            </a:pPr>
            <a:r>
              <a:rPr lang="en-US" altLang="ko-KR" sz="1300">
                <a:solidFill>
                  <a:schemeClr val="bg2">
                    <a:lumMod val="25000"/>
                  </a:schemeClr>
                </a:solidFill>
              </a:rPr>
              <a:t>Check body balance with </a:t>
            </a:r>
            <a:r>
              <a:rPr lang="en-US" altLang="ko-KR" sz="1300">
                <a:solidFill>
                  <a:srgbClr val="B50937"/>
                </a:solidFill>
              </a:rPr>
              <a:t>C D I</a:t>
            </a:r>
          </a:p>
          <a:p>
            <a:pPr marL="285750" indent="-285750">
              <a:buFont typeface="Arial" panose="020B0604020202020204" pitchFamily="34" charset="0"/>
              <a:buChar char="•"/>
            </a:pPr>
            <a:r>
              <a:rPr lang="en-US" altLang="ko-KR" sz="1300">
                <a:solidFill>
                  <a:srgbClr val="B50937"/>
                </a:solidFill>
              </a:rPr>
              <a:t>Muscle </a:t>
            </a:r>
            <a:r>
              <a:rPr lang="en-US" altLang="ko-KR" sz="1300">
                <a:solidFill>
                  <a:schemeClr val="bg2">
                    <a:lumMod val="25000"/>
                  </a:schemeClr>
                </a:solidFill>
              </a:rPr>
              <a:t>should be at least </a:t>
            </a:r>
            <a:r>
              <a:rPr lang="en-US" altLang="ko-KR" sz="1300">
                <a:solidFill>
                  <a:srgbClr val="B50937"/>
                </a:solidFill>
              </a:rPr>
              <a:t>90%</a:t>
            </a:r>
            <a:r>
              <a:rPr lang="en-US" altLang="ko-KR" sz="1300">
                <a:solidFill>
                  <a:schemeClr val="bg2">
                    <a:lumMod val="25000"/>
                  </a:schemeClr>
                </a:solidFill>
              </a:rPr>
              <a:t>, Fat should be within the normal range</a:t>
            </a:r>
          </a:p>
          <a:p>
            <a:pPr marL="285750" indent="-285750">
              <a:buFont typeface="Arial" panose="020B0604020202020204" pitchFamily="34" charset="0"/>
              <a:buChar char="•"/>
            </a:pPr>
            <a:r>
              <a:rPr lang="en-US" altLang="ko-KR" sz="1300">
                <a:solidFill>
                  <a:srgbClr val="B50937"/>
                </a:solidFill>
              </a:rPr>
              <a:t>Muscle </a:t>
            </a:r>
            <a:r>
              <a:rPr lang="en-US" altLang="ko-KR" sz="1300">
                <a:solidFill>
                  <a:srgbClr val="B50937"/>
                </a:solidFill>
                <a:sym typeface="Wingdings" panose="05000000000000000000" pitchFamily="2" charset="2"/>
              </a:rPr>
              <a:t> = Target weight , InBody Score  </a:t>
            </a:r>
            <a:endParaRPr lang="en-US" altLang="ko-KR" sz="1300">
              <a:solidFill>
                <a:srgbClr val="B50937"/>
              </a:solidFill>
            </a:endParaRPr>
          </a:p>
        </p:txBody>
      </p:sp>
      <p:sp>
        <p:nvSpPr>
          <p:cNvPr id="47" name="Rectangle 46"/>
          <p:cNvSpPr/>
          <p:nvPr/>
        </p:nvSpPr>
        <p:spPr>
          <a:xfrm>
            <a:off x="457200" y="320040"/>
            <a:ext cx="56235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20040"/>
            <a:ext cx="5623559" cy="566928"/>
          </a:xfrm>
          <a:prstGeom prst="rect">
            <a:avLst/>
          </a:prstGeom>
          <a:noFill/>
        </p:spPr>
        <p:txBody>
          <a:bodyPr wrap="square" lIns="0" rIns="0" tIns="0" bIns="0" anchor="ctr">
            <a:spAutoFit/>
          </a:bodyPr>
          <a:lstStyle/>
          <a:p>
            <a:pPr algn="ctr"/>
            <a:r>
              <a:rPr sz="1900" b="1" i="0">
                <a:solidFill>
                  <a:srgbClr val="FFFFFF"/>
                </a:solidFill>
                <a:latin typeface="Calibri"/>
              </a:rPr>
              <a:t>Check Body Type – Muscle-Fat Analysis</a:t>
            </a:r>
          </a:p>
        </p:txBody>
      </p:sp>
      <p:sp>
        <p:nvSpPr>
          <p:cNvPr id="49" name="TextBox 48"/>
          <p:cNvSpPr txBox="1"/>
          <p:nvPr/>
        </p:nvSpPr>
        <p:spPr>
          <a:xfrm>
            <a:off x="6309359" y="320040"/>
            <a:ext cx="3596335" cy="566928"/>
          </a:xfrm>
          <a:prstGeom prst="rect">
            <a:avLst/>
          </a:prstGeom>
          <a:noFill/>
        </p:spPr>
        <p:txBody>
          <a:bodyPr wrap="square" lIns="0" rIns="0" tIns="0" bIns="0" anchor="ctr">
            <a:spAutoFit/>
          </a:bodyPr>
          <a:lstStyle/>
          <a:p>
            <a:pPr algn="l"/>
            <a:r>
              <a:rPr sz="900" b="1" i="0">
                <a:solidFill>
                  <a:srgbClr val="B50937"/>
                </a:solidFill>
                <a:latin typeface="Calibri"/>
              </a:rPr>
              <a:t>SESSION 2</a:t>
            </a:r>
          </a:p>
          <a:p>
            <a:pPr algn="l"/>
            <a:r>
              <a:rPr sz="900" b="0" i="0">
                <a:solidFill>
                  <a:srgbClr val="5E6470"/>
                </a:solidFill>
                <a:latin typeface="Calibri"/>
              </a:rPr>
              <a:t>InBody Result Sheet Interpretation – Part 1</a:t>
            </a:r>
          </a:p>
        </p:txBody>
      </p:sp>
      <p:pic>
        <p:nvPicPr>
          <p:cNvPr id="50" name="Picture 49" descr="logo_red.png"/>
          <p:cNvPicPr>
            <a:picLocks noChangeAspect="1"/>
          </p:cNvPicPr>
          <p:nvPr/>
        </p:nvPicPr>
        <p:blipFill>
          <a:blip r:embed="rId11"/>
          <a:stretch>
            <a:fillRect/>
          </a:stretch>
        </p:blipFill>
        <p:spPr>
          <a:xfrm>
            <a:off x="10436918" y="420624"/>
            <a:ext cx="1297577" cy="365760"/>
          </a:xfrm>
          <a:prstGeom prst="rect">
            <a:avLst/>
          </a:prstGeom>
        </p:spPr>
      </p:pic>
      <p:sp>
        <p:nvSpPr>
          <p:cNvPr id="51" name="TextBox 50"/>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52" name="TextBox 51"/>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17</a:t>
            </a:r>
          </a:p>
        </p:txBody>
      </p:sp>
    </p:spTree>
    <p:extLst>
      <p:ext uri="{BB962C8B-B14F-4D97-AF65-F5344CB8AC3E}">
        <p14:creationId xmlns:p14="http://schemas.microsoft.com/office/powerpoint/2010/main" val="212894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8.33333E-7 -3.7037E-6 L -8.33333E-7 -0.26389 " pathEditMode="relative" rAng="0" ptsTypes="AA">
                                      <p:cBhvr>
                                        <p:cTn id="6" dur="2000" fill="hold"/>
                                        <p:tgtEl>
                                          <p:spTgt spid="18"/>
                                        </p:tgtEl>
                                        <p:attrNameLst>
                                          <p:attrName>ppt_x</p:attrName>
                                          <p:attrName>ppt_y</p:attrName>
                                        </p:attrNameLst>
                                      </p:cBhvr>
                                      <p:rCtr x="0" y="-13194"/>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500"/>
                                        <p:tgtEl>
                                          <p:spTgt spid="4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5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500"/>
                                        <p:tgtEl>
                                          <p:spTgt spid="3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46"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C-Shape Body Type</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2</a:t>
            </a:r>
          </a:p>
          <a:p>
            <a:pPr algn="l"/>
            <a:r>
              <a:rPr sz="900" b="0" i="0">
                <a:solidFill>
                  <a:srgbClr val="5E6470"/>
                </a:solidFill>
                <a:latin typeface="Calibri"/>
              </a:rPr>
              <a:t>InBody Result Sheet Interpretation – Part 1</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18</a:t>
            </a:r>
          </a:p>
        </p:txBody>
      </p:sp>
      <p:sp>
        <p:nvSpPr>
          <p:cNvPr id="8" name="Rectangle 7"/>
          <p:cNvSpPr/>
          <p:nvPr/>
        </p:nvSpPr>
        <p:spPr>
          <a:xfrm>
            <a:off x="457200" y="114300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 y="128016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80160"/>
            <a:ext cx="457200" cy="457200"/>
          </a:xfrm>
          <a:prstGeom prst="rect">
            <a:avLst/>
          </a:prstGeom>
          <a:noFill/>
        </p:spPr>
        <p:txBody>
          <a:bodyPr wrap="square" lIns="0" rIns="0" tIns="0" bIns="0" anchor="ctr">
            <a:spAutoFit/>
          </a:bodyPr>
          <a:lstStyle/>
          <a:p>
            <a:pPr algn="ctr"/>
            <a:r>
              <a:rPr sz="1600" b="1" i="0">
                <a:solidFill>
                  <a:srgbClr val="FFFFFF"/>
                </a:solidFill>
                <a:latin typeface="Calibri"/>
              </a:rPr>
              <a:t>1</a:t>
            </a:r>
          </a:p>
        </p:txBody>
      </p:sp>
      <p:pic>
        <p:nvPicPr>
          <p:cNvPr id="11" name="Picture 10" descr="bt_C1.png"/>
          <p:cNvPicPr>
            <a:picLocks noChangeAspect="1"/>
          </p:cNvPicPr>
          <p:nvPr/>
        </p:nvPicPr>
        <p:blipFill>
          <a:blip r:embed="rId5"/>
          <a:stretch>
            <a:fillRect/>
          </a:stretch>
        </p:blipFill>
        <p:spPr>
          <a:xfrm>
            <a:off x="1234440" y="1280160"/>
            <a:ext cx="2613567" cy="1371600"/>
          </a:xfrm>
          <a:prstGeom prst="rect">
            <a:avLst/>
          </a:prstGeom>
        </p:spPr>
      </p:pic>
      <p:sp>
        <p:nvSpPr>
          <p:cNvPr id="12" name="TextBox 11"/>
          <p:cNvSpPr txBox="1"/>
          <p:nvPr/>
        </p:nvSpPr>
        <p:spPr>
          <a:xfrm>
            <a:off x="4168047" y="1325880"/>
            <a:ext cx="4015832" cy="1280160"/>
          </a:xfrm>
          <a:prstGeom prst="rect">
            <a:avLst/>
          </a:prstGeom>
          <a:noFill/>
        </p:spPr>
        <p:txBody>
          <a:bodyPr wrap="square" lIns="0" rIns="0" tIns="0" bIns="0" anchor="t">
            <a:spAutoFit/>
          </a:bodyPr>
          <a:lstStyle/>
          <a:p>
            <a:pPr algn="l"/>
            <a:r>
              <a:rPr sz="1400" b="1" i="0">
                <a:solidFill>
                  <a:srgbClr val="B50937"/>
                </a:solidFill>
                <a:latin typeface="Calibri"/>
              </a:rPr>
              <a:t>Standard weight and weak</a:t>
            </a:r>
          </a:p>
          <a:p>
            <a:pPr algn="l"/>
            <a:r>
              <a:rPr sz="1150" b="0" i="0">
                <a:solidFill>
                  <a:srgbClr val="181D27"/>
                </a:solidFill>
                <a:latin typeface="Calibri"/>
              </a:rPr>
              <a:t>Lack of exercise or protein intake, injury or illness can lead to edema, loss of muscle tissue, changes to the nervous system, secondary infections or growth inhibition.</a:t>
            </a:r>
          </a:p>
        </p:txBody>
      </p:sp>
      <p:sp>
        <p:nvSpPr>
          <p:cNvPr id="13" name="Rectangle 12"/>
          <p:cNvSpPr/>
          <p:nvPr/>
        </p:nvSpPr>
        <p:spPr>
          <a:xfrm>
            <a:off x="8366760" y="128016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1280160"/>
            <a:ext cx="2819095" cy="1371600"/>
          </a:xfrm>
          <a:prstGeom prst="rect">
            <a:avLst/>
          </a:prstGeom>
          <a:noFill/>
        </p:spPr>
        <p:txBody>
          <a:bodyPr wrap="square" lIns="0" rIns="0" tIns="0" bIns="0" anchor="ctr">
            <a:spAutoFit/>
          </a:bodyPr>
          <a:lstStyle/>
          <a:p>
            <a:pPr algn="l"/>
            <a:r>
              <a:rPr sz="1100" b="0" i="0">
                <a:solidFill>
                  <a:srgbClr val="181D27"/>
                </a:solidFill>
                <a:latin typeface="Calibri"/>
              </a:rPr>
              <a:t>Should follow a proper exercise and diet regime. Mostly seen in the female population; nutrition plays a major role.</a:t>
            </a:r>
          </a:p>
        </p:txBody>
      </p:sp>
      <p:sp>
        <p:nvSpPr>
          <p:cNvPr id="15" name="Rectangle 14"/>
          <p:cNvSpPr/>
          <p:nvPr/>
        </p:nvSpPr>
        <p:spPr>
          <a:xfrm>
            <a:off x="457200" y="288036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 y="301752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017520"/>
            <a:ext cx="457200" cy="457200"/>
          </a:xfrm>
          <a:prstGeom prst="rect">
            <a:avLst/>
          </a:prstGeom>
          <a:noFill/>
        </p:spPr>
        <p:txBody>
          <a:bodyPr wrap="square" lIns="0" rIns="0" tIns="0" bIns="0" anchor="ctr">
            <a:spAutoFit/>
          </a:bodyPr>
          <a:lstStyle/>
          <a:p>
            <a:pPr algn="ctr"/>
            <a:r>
              <a:rPr sz="1600" b="1" i="0">
                <a:solidFill>
                  <a:srgbClr val="FFFFFF"/>
                </a:solidFill>
                <a:latin typeface="Calibri"/>
              </a:rPr>
              <a:t>2</a:t>
            </a:r>
          </a:p>
        </p:txBody>
      </p:sp>
      <p:pic>
        <p:nvPicPr>
          <p:cNvPr id="18" name="Picture 17" descr="bt_C2.png"/>
          <p:cNvPicPr>
            <a:picLocks noChangeAspect="1"/>
          </p:cNvPicPr>
          <p:nvPr/>
        </p:nvPicPr>
        <p:blipFill>
          <a:blip r:embed="rId6"/>
          <a:stretch>
            <a:fillRect/>
          </a:stretch>
        </p:blipFill>
        <p:spPr>
          <a:xfrm>
            <a:off x="1234440" y="3017520"/>
            <a:ext cx="2915816" cy="1371600"/>
          </a:xfrm>
          <a:prstGeom prst="rect">
            <a:avLst/>
          </a:prstGeom>
        </p:spPr>
      </p:pic>
      <p:sp>
        <p:nvSpPr>
          <p:cNvPr id="19" name="TextBox 18"/>
          <p:cNvSpPr txBox="1"/>
          <p:nvPr/>
        </p:nvSpPr>
        <p:spPr>
          <a:xfrm>
            <a:off x="4470296" y="3063240"/>
            <a:ext cx="3713583" cy="1280160"/>
          </a:xfrm>
          <a:prstGeom prst="rect">
            <a:avLst/>
          </a:prstGeom>
          <a:noFill/>
        </p:spPr>
        <p:txBody>
          <a:bodyPr wrap="square" lIns="0" rIns="0" tIns="0" bIns="0" anchor="t">
            <a:spAutoFit/>
          </a:bodyPr>
          <a:lstStyle/>
          <a:p>
            <a:pPr algn="l"/>
            <a:r>
              <a:rPr sz="1400" b="1" i="0">
                <a:solidFill>
                  <a:srgbClr val="B50937"/>
                </a:solidFill>
                <a:latin typeface="Calibri"/>
              </a:rPr>
              <a:t>Standard weight and obese</a:t>
            </a:r>
          </a:p>
          <a:p>
            <a:pPr algn="l"/>
            <a:r>
              <a:rPr sz="1150" b="0" i="0">
                <a:solidFill>
                  <a:srgbClr val="181D27"/>
                </a:solidFill>
                <a:latin typeface="Calibri"/>
              </a:rPr>
              <a:t>Body fat mass is greater than skeletal muscle mass, with abdominal obesity at both standard and higher weights. Risk of adult diseases; proper management and treatment are required.</a:t>
            </a:r>
          </a:p>
        </p:txBody>
      </p:sp>
      <p:sp>
        <p:nvSpPr>
          <p:cNvPr id="20" name="Rectangle 19"/>
          <p:cNvSpPr/>
          <p:nvPr/>
        </p:nvSpPr>
        <p:spPr>
          <a:xfrm>
            <a:off x="8366760" y="301752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640" y="3017520"/>
            <a:ext cx="2819095" cy="1371600"/>
          </a:xfrm>
          <a:prstGeom prst="rect">
            <a:avLst/>
          </a:prstGeom>
          <a:noFill/>
        </p:spPr>
        <p:txBody>
          <a:bodyPr wrap="square" lIns="0" rIns="0" tIns="0" bIns="0" anchor="ctr">
            <a:spAutoFit/>
          </a:bodyPr>
          <a:lstStyle/>
          <a:p>
            <a:pPr algn="l"/>
            <a:r>
              <a:rPr sz="1100" b="0" i="0">
                <a:solidFill>
                  <a:srgbClr val="181D27"/>
                </a:solidFill>
                <a:latin typeface="Calibri"/>
              </a:rPr>
              <a:t>The most common type in India: normal weight, but obese because of excess body fat mass.</a:t>
            </a:r>
          </a:p>
        </p:txBody>
      </p:sp>
      <p:sp>
        <p:nvSpPr>
          <p:cNvPr id="22" name="Rectangle 21"/>
          <p:cNvSpPr/>
          <p:nvPr/>
        </p:nvSpPr>
        <p:spPr>
          <a:xfrm>
            <a:off x="457200" y="461772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75488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754880"/>
            <a:ext cx="457200" cy="457200"/>
          </a:xfrm>
          <a:prstGeom prst="rect">
            <a:avLst/>
          </a:prstGeom>
          <a:noFill/>
        </p:spPr>
        <p:txBody>
          <a:bodyPr wrap="square" lIns="0" rIns="0" tIns="0" bIns="0" anchor="ctr">
            <a:spAutoFit/>
          </a:bodyPr>
          <a:lstStyle/>
          <a:p>
            <a:pPr algn="ctr"/>
            <a:r>
              <a:rPr sz="1600" b="1" i="0">
                <a:solidFill>
                  <a:srgbClr val="FFFFFF"/>
                </a:solidFill>
                <a:latin typeface="Calibri"/>
              </a:rPr>
              <a:t>3</a:t>
            </a:r>
          </a:p>
        </p:txBody>
      </p:sp>
      <p:pic>
        <p:nvPicPr>
          <p:cNvPr id="25" name="Picture 24" descr="bt_C3.png"/>
          <p:cNvPicPr>
            <a:picLocks noChangeAspect="1"/>
          </p:cNvPicPr>
          <p:nvPr/>
        </p:nvPicPr>
        <p:blipFill>
          <a:blip r:embed="rId7"/>
          <a:stretch>
            <a:fillRect/>
          </a:stretch>
        </p:blipFill>
        <p:spPr>
          <a:xfrm>
            <a:off x="1234440" y="4754880"/>
            <a:ext cx="2704258" cy="1371600"/>
          </a:xfrm>
          <a:prstGeom prst="rect">
            <a:avLst/>
          </a:prstGeom>
        </p:spPr>
      </p:pic>
      <p:sp>
        <p:nvSpPr>
          <p:cNvPr id="26" name="TextBox 25"/>
          <p:cNvSpPr txBox="1"/>
          <p:nvPr/>
        </p:nvSpPr>
        <p:spPr>
          <a:xfrm>
            <a:off x="4258738" y="4800600"/>
            <a:ext cx="3925141" cy="1280160"/>
          </a:xfrm>
          <a:prstGeom prst="rect">
            <a:avLst/>
          </a:prstGeom>
          <a:noFill/>
        </p:spPr>
        <p:txBody>
          <a:bodyPr wrap="square" lIns="0" rIns="0" tIns="0" bIns="0" anchor="t">
            <a:spAutoFit/>
          </a:bodyPr>
          <a:lstStyle/>
          <a:p>
            <a:pPr algn="l"/>
            <a:r>
              <a:rPr sz="1400" b="1" i="0">
                <a:solidFill>
                  <a:srgbClr val="B50937"/>
                </a:solidFill>
                <a:latin typeface="Calibri"/>
              </a:rPr>
              <a:t>Overweight and weak</a:t>
            </a:r>
          </a:p>
          <a:p>
            <a:pPr algn="l"/>
            <a:r>
              <a:rPr sz="1150" b="0" i="0">
                <a:solidFill>
                  <a:srgbClr val="181D27"/>
                </a:solidFill>
                <a:latin typeface="Calibri"/>
              </a:rPr>
              <a:t>Skeletal muscle is low compared with the excess body fat, which raises health risks. Reducing body fat is essential.</a:t>
            </a:r>
          </a:p>
        </p:txBody>
      </p:sp>
      <p:sp>
        <p:nvSpPr>
          <p:cNvPr id="27" name="Rectangle 26"/>
          <p:cNvSpPr/>
          <p:nvPr/>
        </p:nvSpPr>
        <p:spPr>
          <a:xfrm>
            <a:off x="8366760" y="475488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49640" y="4754880"/>
            <a:ext cx="2819095" cy="1371600"/>
          </a:xfrm>
          <a:prstGeom prst="rect">
            <a:avLst/>
          </a:prstGeom>
          <a:noFill/>
        </p:spPr>
        <p:txBody>
          <a:bodyPr wrap="square" lIns="0" rIns="0" tIns="0" bIns="0" anchor="ctr">
            <a:spAutoFit/>
          </a:bodyPr>
          <a:lstStyle/>
          <a:p>
            <a:pPr algn="l"/>
            <a:r>
              <a:rPr sz="1100" b="0" i="0">
                <a:solidFill>
                  <a:srgbClr val="181D27"/>
                </a:solidFill>
                <a:latin typeface="Calibri"/>
              </a:rPr>
              <a:t>Usually linked to a sedentary lifestyle. Weight management is a constant challenge, so a proper diet is required.</a:t>
            </a:r>
          </a:p>
        </p:txBody>
      </p:sp>
    </p:spTree>
    <p:extLst>
      <p:ext uri="{BB962C8B-B14F-4D97-AF65-F5344CB8AC3E}">
        <p14:creationId xmlns:p14="http://schemas.microsoft.com/office/powerpoint/2010/main" val="4020050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4AFB4A-6574-4F72-922F-2791FDC3648E}"/>
              </a:ext>
            </a:extLst>
          </p:cNvPr>
          <p:cNvPicPr>
            <a:picLocks noChangeAspect="1"/>
          </p:cNvPicPr>
          <p:nvPr/>
        </p:nvPicPr>
        <p:blipFill>
          <a:blip r:embed="rId2"/>
          <a:stretch>
            <a:fillRect/>
          </a:stretch>
        </p:blipFill>
        <p:spPr>
          <a:xfrm>
            <a:off x="2102057" y="1169605"/>
            <a:ext cx="3618444" cy="5108801"/>
          </a:xfrm>
          <a:prstGeom prst="rect">
            <a:avLst/>
          </a:prstGeom>
        </p:spPr>
      </p:pic>
      <p:pic>
        <p:nvPicPr>
          <p:cNvPr id="3" name="Picture 2">
            <a:extLst>
              <a:ext uri="{FF2B5EF4-FFF2-40B4-BE49-F238E27FC236}">
                <a16:creationId xmlns:a16="http://schemas.microsoft.com/office/drawing/2014/main" id="{10564D3B-B63E-424B-920B-81A6ED7C3B1A}"/>
              </a:ext>
            </a:extLst>
          </p:cNvPr>
          <p:cNvPicPr>
            <a:picLocks noChangeAspect="1"/>
          </p:cNvPicPr>
          <p:nvPr/>
        </p:nvPicPr>
        <p:blipFill>
          <a:blip r:embed="rId3"/>
          <a:stretch>
            <a:fillRect/>
          </a:stretch>
        </p:blipFill>
        <p:spPr>
          <a:xfrm>
            <a:off x="6250847" y="1097280"/>
            <a:ext cx="3838791" cy="5257800"/>
          </a:xfrm>
          <a:prstGeom prst="rect">
            <a:avLst/>
          </a:prstGeom>
        </p:spPr>
      </p:pic>
      <p:sp>
        <p:nvSpPr>
          <p:cNvPr id="4" name="Rectangle 3"/>
          <p:cNvSpPr/>
          <p:nvPr/>
        </p:nvSpPr>
        <p:spPr>
          <a:xfrm>
            <a:off x="457200" y="320040"/>
            <a:ext cx="46634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4663440" cy="566928"/>
          </a:xfrm>
          <a:prstGeom prst="rect">
            <a:avLst/>
          </a:prstGeom>
          <a:noFill/>
        </p:spPr>
        <p:txBody>
          <a:bodyPr wrap="square" lIns="0" rIns="0" tIns="0" bIns="0" anchor="ctr">
            <a:spAutoFit/>
          </a:bodyPr>
          <a:lstStyle/>
          <a:p>
            <a:pPr algn="ctr"/>
            <a:r>
              <a:rPr sz="2200" b="1" i="0">
                <a:solidFill>
                  <a:srgbClr val="FFFFFF"/>
                </a:solidFill>
                <a:latin typeface="Calibri"/>
              </a:rPr>
              <a:t>C-Type: Diet &amp; Lifestyle Guide</a:t>
            </a:r>
          </a:p>
        </p:txBody>
      </p:sp>
      <p:sp>
        <p:nvSpPr>
          <p:cNvPr id="6" name="TextBox 5"/>
          <p:cNvSpPr txBox="1"/>
          <p:nvPr/>
        </p:nvSpPr>
        <p:spPr>
          <a:xfrm>
            <a:off x="5349240" y="320040"/>
            <a:ext cx="4556455" cy="566928"/>
          </a:xfrm>
          <a:prstGeom prst="rect">
            <a:avLst/>
          </a:prstGeom>
          <a:noFill/>
        </p:spPr>
        <p:txBody>
          <a:bodyPr wrap="square" lIns="0" rIns="0" tIns="0" bIns="0" anchor="ctr">
            <a:spAutoFit/>
          </a:bodyPr>
          <a:lstStyle/>
          <a:p>
            <a:pPr algn="l"/>
            <a:r>
              <a:rPr sz="900" b="1" i="0">
                <a:solidFill>
                  <a:srgbClr val="B50937"/>
                </a:solidFill>
                <a:latin typeface="Calibri"/>
              </a:rPr>
              <a:t>SESSION 2</a:t>
            </a:r>
          </a:p>
          <a:p>
            <a:pPr algn="l"/>
            <a:r>
              <a:rPr sz="900" b="0" i="0">
                <a:solidFill>
                  <a:srgbClr val="5E6470"/>
                </a:solidFill>
                <a:latin typeface="Calibri"/>
              </a:rPr>
              <a:t>InBody Result Sheet Interpretation – Part 1</a:t>
            </a:r>
          </a:p>
        </p:txBody>
      </p:sp>
      <p:pic>
        <p:nvPicPr>
          <p:cNvPr id="7" name="Picture 6" descr="logo_red.png"/>
          <p:cNvPicPr>
            <a:picLocks noChangeAspect="1"/>
          </p:cNvPicPr>
          <p:nvPr/>
        </p:nvPicPr>
        <p:blipFill>
          <a:blip r:embed="rId4"/>
          <a:stretch>
            <a:fillRect/>
          </a:stretch>
        </p:blipFill>
        <p:spPr>
          <a:xfrm>
            <a:off x="10436918" y="420624"/>
            <a:ext cx="1297577" cy="365760"/>
          </a:xfrm>
          <a:prstGeom prst="rect">
            <a:avLst/>
          </a:prstGeom>
        </p:spPr>
      </p:pic>
      <p:sp>
        <p:nvSpPr>
          <p:cNvPr id="8" name="TextBox 7"/>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9" name="TextBox 8"/>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19</a:t>
            </a:r>
          </a:p>
        </p:txBody>
      </p:sp>
    </p:spTree>
    <p:extLst>
      <p:ext uri="{BB962C8B-B14F-4D97-AF65-F5344CB8AC3E}">
        <p14:creationId xmlns:p14="http://schemas.microsoft.com/office/powerpoint/2010/main" val="514423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I-Shape Body Type</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2</a:t>
            </a:r>
          </a:p>
          <a:p>
            <a:pPr algn="l"/>
            <a:r>
              <a:rPr sz="900" b="0" i="0">
                <a:solidFill>
                  <a:srgbClr val="5E6470"/>
                </a:solidFill>
                <a:latin typeface="Calibri"/>
              </a:rPr>
              <a:t>InBody Result Sheet Interpretation – Part 1</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20</a:t>
            </a:r>
          </a:p>
        </p:txBody>
      </p:sp>
      <p:sp>
        <p:nvSpPr>
          <p:cNvPr id="8" name="Rectangle 7"/>
          <p:cNvSpPr/>
          <p:nvPr/>
        </p:nvSpPr>
        <p:spPr>
          <a:xfrm>
            <a:off x="457200" y="114300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 y="128016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80160"/>
            <a:ext cx="457200" cy="457200"/>
          </a:xfrm>
          <a:prstGeom prst="rect">
            <a:avLst/>
          </a:prstGeom>
          <a:noFill/>
        </p:spPr>
        <p:txBody>
          <a:bodyPr wrap="square" lIns="0" rIns="0" tIns="0" bIns="0" anchor="ctr">
            <a:spAutoFit/>
          </a:bodyPr>
          <a:lstStyle/>
          <a:p>
            <a:pPr algn="ctr"/>
            <a:r>
              <a:rPr sz="1600" b="1" i="0">
                <a:solidFill>
                  <a:srgbClr val="FFFFFF"/>
                </a:solidFill>
                <a:latin typeface="Calibri"/>
              </a:rPr>
              <a:t>1</a:t>
            </a:r>
          </a:p>
        </p:txBody>
      </p:sp>
      <p:pic>
        <p:nvPicPr>
          <p:cNvPr id="11" name="Picture 10" descr="bt_I1.png"/>
          <p:cNvPicPr>
            <a:picLocks noChangeAspect="1"/>
          </p:cNvPicPr>
          <p:nvPr/>
        </p:nvPicPr>
        <p:blipFill>
          <a:blip r:embed="rId5"/>
          <a:stretch>
            <a:fillRect/>
          </a:stretch>
        </p:blipFill>
        <p:spPr>
          <a:xfrm>
            <a:off x="1234440" y="1280160"/>
            <a:ext cx="2730095" cy="1371600"/>
          </a:xfrm>
          <a:prstGeom prst="rect">
            <a:avLst/>
          </a:prstGeom>
        </p:spPr>
      </p:pic>
      <p:sp>
        <p:nvSpPr>
          <p:cNvPr id="12" name="TextBox 11"/>
          <p:cNvSpPr txBox="1"/>
          <p:nvPr/>
        </p:nvSpPr>
        <p:spPr>
          <a:xfrm>
            <a:off x="4284575" y="1325880"/>
            <a:ext cx="3899304" cy="1280160"/>
          </a:xfrm>
          <a:prstGeom prst="rect">
            <a:avLst/>
          </a:prstGeom>
          <a:noFill/>
        </p:spPr>
        <p:txBody>
          <a:bodyPr wrap="square" lIns="0" rIns="0" tIns="0" bIns="0" anchor="t">
            <a:spAutoFit/>
          </a:bodyPr>
          <a:lstStyle/>
          <a:p>
            <a:pPr algn="l"/>
            <a:r>
              <a:rPr sz="1400" b="1" i="0">
                <a:solidFill>
                  <a:srgbClr val="B50937"/>
                </a:solidFill>
                <a:latin typeface="Calibri"/>
              </a:rPr>
              <a:t>Underweight and weak</a:t>
            </a:r>
          </a:p>
          <a:p>
            <a:pPr algn="l"/>
            <a:r>
              <a:rPr sz="1150" b="0" i="0">
                <a:solidFill>
                  <a:srgbClr val="181D27"/>
                </a:solidFill>
                <a:latin typeface="Calibri"/>
              </a:rPr>
              <a:t>Serious underweight can cause edema and hair loss, and long-term malnutrition or poor nutrient absorption. Often due to appetite loss from illness, metabolic disorders or drug use.</a:t>
            </a:r>
          </a:p>
        </p:txBody>
      </p:sp>
      <p:sp>
        <p:nvSpPr>
          <p:cNvPr id="13" name="Rectangle 12"/>
          <p:cNvSpPr/>
          <p:nvPr/>
        </p:nvSpPr>
        <p:spPr>
          <a:xfrm>
            <a:off x="8366760" y="128016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1280160"/>
            <a:ext cx="2819095" cy="1371600"/>
          </a:xfrm>
          <a:prstGeom prst="rect">
            <a:avLst/>
          </a:prstGeom>
          <a:noFill/>
        </p:spPr>
        <p:txBody>
          <a:bodyPr wrap="square" lIns="0" rIns="0" tIns="0" bIns="0" anchor="ctr">
            <a:spAutoFit/>
          </a:bodyPr>
          <a:lstStyle/>
          <a:p>
            <a:pPr algn="l"/>
            <a:r>
              <a:rPr sz="1100" b="0" i="0">
                <a:solidFill>
                  <a:srgbClr val="181D27"/>
                </a:solidFill>
                <a:latin typeface="Calibri"/>
              </a:rPr>
              <a:t>Should follow a proper exercise and diet regime. Mostly seen in lower socioeconomic groups.</a:t>
            </a:r>
          </a:p>
        </p:txBody>
      </p:sp>
      <p:sp>
        <p:nvSpPr>
          <p:cNvPr id="15" name="Rectangle 14"/>
          <p:cNvSpPr/>
          <p:nvPr/>
        </p:nvSpPr>
        <p:spPr>
          <a:xfrm>
            <a:off x="457200" y="288036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 y="301752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017520"/>
            <a:ext cx="457200" cy="457200"/>
          </a:xfrm>
          <a:prstGeom prst="rect">
            <a:avLst/>
          </a:prstGeom>
          <a:noFill/>
        </p:spPr>
        <p:txBody>
          <a:bodyPr wrap="square" lIns="0" rIns="0" tIns="0" bIns="0" anchor="ctr">
            <a:spAutoFit/>
          </a:bodyPr>
          <a:lstStyle/>
          <a:p>
            <a:pPr algn="ctr"/>
            <a:r>
              <a:rPr sz="1600" b="1" i="0">
                <a:solidFill>
                  <a:srgbClr val="FFFFFF"/>
                </a:solidFill>
                <a:latin typeface="Calibri"/>
              </a:rPr>
              <a:t>2</a:t>
            </a:r>
          </a:p>
        </p:txBody>
      </p:sp>
      <p:pic>
        <p:nvPicPr>
          <p:cNvPr id="18" name="Picture 17" descr="bt_I2.png"/>
          <p:cNvPicPr>
            <a:picLocks noChangeAspect="1"/>
          </p:cNvPicPr>
          <p:nvPr/>
        </p:nvPicPr>
        <p:blipFill>
          <a:blip r:embed="rId6"/>
          <a:stretch>
            <a:fillRect/>
          </a:stretch>
        </p:blipFill>
        <p:spPr>
          <a:xfrm>
            <a:off x="1234440" y="3017520"/>
            <a:ext cx="2915816" cy="1371600"/>
          </a:xfrm>
          <a:prstGeom prst="rect">
            <a:avLst/>
          </a:prstGeom>
        </p:spPr>
      </p:pic>
      <p:sp>
        <p:nvSpPr>
          <p:cNvPr id="19" name="TextBox 18"/>
          <p:cNvSpPr txBox="1"/>
          <p:nvPr/>
        </p:nvSpPr>
        <p:spPr>
          <a:xfrm>
            <a:off x="4470296" y="3063240"/>
            <a:ext cx="3713583" cy="1280160"/>
          </a:xfrm>
          <a:prstGeom prst="rect">
            <a:avLst/>
          </a:prstGeom>
          <a:noFill/>
        </p:spPr>
        <p:txBody>
          <a:bodyPr wrap="square" lIns="0" rIns="0" tIns="0" bIns="0" anchor="t">
            <a:spAutoFit/>
          </a:bodyPr>
          <a:lstStyle/>
          <a:p>
            <a:pPr algn="l"/>
            <a:r>
              <a:rPr sz="1400" b="1" i="0">
                <a:solidFill>
                  <a:srgbClr val="B50937"/>
                </a:solidFill>
                <a:latin typeface="Calibri"/>
              </a:rPr>
              <a:t>Standard weight and healthy</a:t>
            </a:r>
          </a:p>
          <a:p>
            <a:pPr algn="l"/>
            <a:r>
              <a:rPr sz="1150" b="0" i="0">
                <a:solidFill>
                  <a:srgbClr val="181D27"/>
                </a:solidFill>
                <a:latin typeface="Calibri"/>
              </a:rPr>
              <a:t>The best body composition type. Keep it with consistent care, and monitor regularly, as abdominal fat can increase over time.</a:t>
            </a:r>
          </a:p>
        </p:txBody>
      </p:sp>
      <p:sp>
        <p:nvSpPr>
          <p:cNvPr id="20" name="Rectangle 19"/>
          <p:cNvSpPr/>
          <p:nvPr/>
        </p:nvSpPr>
        <p:spPr>
          <a:xfrm>
            <a:off x="8366760" y="301752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640" y="3017520"/>
            <a:ext cx="2819095" cy="1371600"/>
          </a:xfrm>
          <a:prstGeom prst="rect">
            <a:avLst/>
          </a:prstGeom>
          <a:noFill/>
        </p:spPr>
        <p:txBody>
          <a:bodyPr wrap="square" lIns="0" rIns="0" tIns="0" bIns="0" anchor="ctr">
            <a:spAutoFit/>
          </a:bodyPr>
          <a:lstStyle/>
          <a:p>
            <a:pPr algn="l"/>
            <a:r>
              <a:rPr sz="1100" b="0" i="0">
                <a:solidFill>
                  <a:srgbClr val="181D27"/>
                </a:solidFill>
                <a:latin typeface="Calibri"/>
              </a:rPr>
              <a:t>Exercise to control fat mass. A combination of diet and exercise works best.</a:t>
            </a:r>
          </a:p>
        </p:txBody>
      </p:sp>
      <p:sp>
        <p:nvSpPr>
          <p:cNvPr id="22" name="Rectangle 21"/>
          <p:cNvSpPr/>
          <p:nvPr/>
        </p:nvSpPr>
        <p:spPr>
          <a:xfrm>
            <a:off x="457200" y="461772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75488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754880"/>
            <a:ext cx="457200" cy="457200"/>
          </a:xfrm>
          <a:prstGeom prst="rect">
            <a:avLst/>
          </a:prstGeom>
          <a:noFill/>
        </p:spPr>
        <p:txBody>
          <a:bodyPr wrap="square" lIns="0" rIns="0" tIns="0" bIns="0" anchor="ctr">
            <a:spAutoFit/>
          </a:bodyPr>
          <a:lstStyle/>
          <a:p>
            <a:pPr algn="ctr"/>
            <a:r>
              <a:rPr sz="1600" b="1" i="0">
                <a:solidFill>
                  <a:srgbClr val="FFFFFF"/>
                </a:solidFill>
                <a:latin typeface="Calibri"/>
              </a:rPr>
              <a:t>3</a:t>
            </a:r>
          </a:p>
        </p:txBody>
      </p:sp>
      <p:pic>
        <p:nvPicPr>
          <p:cNvPr id="25" name="Picture 24" descr="bt_I3.png"/>
          <p:cNvPicPr>
            <a:picLocks noChangeAspect="1"/>
          </p:cNvPicPr>
          <p:nvPr/>
        </p:nvPicPr>
        <p:blipFill>
          <a:blip r:embed="rId7"/>
          <a:stretch>
            <a:fillRect/>
          </a:stretch>
        </p:blipFill>
        <p:spPr>
          <a:xfrm>
            <a:off x="1234440" y="4754880"/>
            <a:ext cx="2915816" cy="1371600"/>
          </a:xfrm>
          <a:prstGeom prst="rect">
            <a:avLst/>
          </a:prstGeom>
        </p:spPr>
      </p:pic>
      <p:sp>
        <p:nvSpPr>
          <p:cNvPr id="26" name="TextBox 25"/>
          <p:cNvSpPr txBox="1"/>
          <p:nvPr/>
        </p:nvSpPr>
        <p:spPr>
          <a:xfrm>
            <a:off x="4470296" y="4800600"/>
            <a:ext cx="3713583" cy="1280160"/>
          </a:xfrm>
          <a:prstGeom prst="rect">
            <a:avLst/>
          </a:prstGeom>
          <a:noFill/>
        </p:spPr>
        <p:txBody>
          <a:bodyPr wrap="square" lIns="0" rIns="0" tIns="0" bIns="0" anchor="t">
            <a:spAutoFit/>
          </a:bodyPr>
          <a:lstStyle/>
          <a:p>
            <a:pPr algn="l"/>
            <a:r>
              <a:rPr sz="1400" b="1" i="0">
                <a:solidFill>
                  <a:srgbClr val="B50937"/>
                </a:solidFill>
                <a:latin typeface="Calibri"/>
              </a:rPr>
              <a:t>Overweight and obese</a:t>
            </a:r>
          </a:p>
          <a:p>
            <a:pPr algn="l"/>
            <a:r>
              <a:rPr sz="1150" b="0" i="0">
                <a:solidFill>
                  <a:srgbClr val="181D27"/>
                </a:solidFill>
                <a:latin typeface="Calibri"/>
              </a:rPr>
              <a:t>Severely obese. Treatment to reduce body weight and body fat is required, which helps treat and prevent obesity-related illnesses.</a:t>
            </a:r>
          </a:p>
        </p:txBody>
      </p:sp>
      <p:sp>
        <p:nvSpPr>
          <p:cNvPr id="27" name="Rectangle 26"/>
          <p:cNvSpPr/>
          <p:nvPr/>
        </p:nvSpPr>
        <p:spPr>
          <a:xfrm>
            <a:off x="8366760" y="475488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49640" y="4754880"/>
            <a:ext cx="2819095" cy="1371600"/>
          </a:xfrm>
          <a:prstGeom prst="rect">
            <a:avLst/>
          </a:prstGeom>
          <a:noFill/>
        </p:spPr>
        <p:txBody>
          <a:bodyPr wrap="square" lIns="0" rIns="0" tIns="0" bIns="0" anchor="ctr">
            <a:spAutoFit/>
          </a:bodyPr>
          <a:lstStyle/>
          <a:p>
            <a:pPr algn="l"/>
            <a:r>
              <a:rPr sz="1100" b="0" i="0">
                <a:solidFill>
                  <a:srgbClr val="181D27"/>
                </a:solidFill>
                <a:latin typeface="Calibri"/>
              </a:rPr>
              <a:t>Needs proper exercise and diet to reduce fat mass and prevent lifestyle disorders.</a:t>
            </a:r>
          </a:p>
        </p:txBody>
      </p:sp>
    </p:spTree>
    <p:extLst>
      <p:ext uri="{BB962C8B-B14F-4D97-AF65-F5344CB8AC3E}">
        <p14:creationId xmlns:p14="http://schemas.microsoft.com/office/powerpoint/2010/main" val="4035028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FE29E8-9982-41AC-A949-34E2A0110562}"/>
              </a:ext>
            </a:extLst>
          </p:cNvPr>
          <p:cNvPicPr>
            <a:picLocks noChangeAspect="1"/>
          </p:cNvPicPr>
          <p:nvPr/>
        </p:nvPicPr>
        <p:blipFill>
          <a:blip r:embed="rId2"/>
          <a:stretch>
            <a:fillRect/>
          </a:stretch>
        </p:blipFill>
        <p:spPr>
          <a:xfrm>
            <a:off x="2186942" y="1097280"/>
            <a:ext cx="3672835" cy="5229719"/>
          </a:xfrm>
          <a:prstGeom prst="rect">
            <a:avLst/>
          </a:prstGeom>
        </p:spPr>
      </p:pic>
      <p:pic>
        <p:nvPicPr>
          <p:cNvPr id="3" name="Picture 2">
            <a:extLst>
              <a:ext uri="{FF2B5EF4-FFF2-40B4-BE49-F238E27FC236}">
                <a16:creationId xmlns:a16="http://schemas.microsoft.com/office/drawing/2014/main" id="{4C6AC91C-A58E-4E67-AC90-10AE38CD4D24}"/>
              </a:ext>
            </a:extLst>
          </p:cNvPr>
          <p:cNvPicPr>
            <a:picLocks noChangeAspect="1"/>
          </p:cNvPicPr>
          <p:nvPr/>
        </p:nvPicPr>
        <p:blipFill>
          <a:blip r:embed="rId3"/>
          <a:stretch>
            <a:fillRect/>
          </a:stretch>
        </p:blipFill>
        <p:spPr>
          <a:xfrm>
            <a:off x="6125430" y="1097280"/>
            <a:ext cx="3879322" cy="5257800"/>
          </a:xfrm>
          <a:prstGeom prst="rect">
            <a:avLst/>
          </a:prstGeom>
        </p:spPr>
      </p:pic>
      <p:sp>
        <p:nvSpPr>
          <p:cNvPr id="4" name="Rectangle 3"/>
          <p:cNvSpPr/>
          <p:nvPr/>
        </p:nvSpPr>
        <p:spPr>
          <a:xfrm>
            <a:off x="457200" y="320040"/>
            <a:ext cx="46634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4663440" cy="566928"/>
          </a:xfrm>
          <a:prstGeom prst="rect">
            <a:avLst/>
          </a:prstGeom>
          <a:noFill/>
        </p:spPr>
        <p:txBody>
          <a:bodyPr wrap="square" lIns="0" rIns="0" tIns="0" bIns="0" anchor="ctr">
            <a:spAutoFit/>
          </a:bodyPr>
          <a:lstStyle/>
          <a:p>
            <a:pPr algn="ctr"/>
            <a:r>
              <a:rPr sz="2200" b="1" i="0">
                <a:solidFill>
                  <a:srgbClr val="FFFFFF"/>
                </a:solidFill>
                <a:latin typeface="Calibri"/>
              </a:rPr>
              <a:t>I-Type: Diet &amp; Lifestyle Guide</a:t>
            </a:r>
          </a:p>
        </p:txBody>
      </p:sp>
      <p:sp>
        <p:nvSpPr>
          <p:cNvPr id="6" name="TextBox 5"/>
          <p:cNvSpPr txBox="1"/>
          <p:nvPr/>
        </p:nvSpPr>
        <p:spPr>
          <a:xfrm>
            <a:off x="5349240" y="320040"/>
            <a:ext cx="4556455" cy="566928"/>
          </a:xfrm>
          <a:prstGeom prst="rect">
            <a:avLst/>
          </a:prstGeom>
          <a:noFill/>
        </p:spPr>
        <p:txBody>
          <a:bodyPr wrap="square" lIns="0" rIns="0" tIns="0" bIns="0" anchor="ctr">
            <a:spAutoFit/>
          </a:bodyPr>
          <a:lstStyle/>
          <a:p>
            <a:pPr algn="l"/>
            <a:r>
              <a:rPr sz="900" b="1" i="0">
                <a:solidFill>
                  <a:srgbClr val="B50937"/>
                </a:solidFill>
                <a:latin typeface="Calibri"/>
              </a:rPr>
              <a:t>SESSION 2</a:t>
            </a:r>
          </a:p>
          <a:p>
            <a:pPr algn="l"/>
            <a:r>
              <a:rPr sz="900" b="0" i="0">
                <a:solidFill>
                  <a:srgbClr val="5E6470"/>
                </a:solidFill>
                <a:latin typeface="Calibri"/>
              </a:rPr>
              <a:t>InBody Result Sheet Interpretation – Part 1</a:t>
            </a:r>
          </a:p>
        </p:txBody>
      </p:sp>
      <p:pic>
        <p:nvPicPr>
          <p:cNvPr id="7" name="Picture 6" descr="logo_red.png"/>
          <p:cNvPicPr>
            <a:picLocks noChangeAspect="1"/>
          </p:cNvPicPr>
          <p:nvPr/>
        </p:nvPicPr>
        <p:blipFill>
          <a:blip r:embed="rId4"/>
          <a:stretch>
            <a:fillRect/>
          </a:stretch>
        </p:blipFill>
        <p:spPr>
          <a:xfrm>
            <a:off x="10436918" y="420624"/>
            <a:ext cx="1297577" cy="365760"/>
          </a:xfrm>
          <a:prstGeom prst="rect">
            <a:avLst/>
          </a:prstGeom>
        </p:spPr>
      </p:pic>
      <p:sp>
        <p:nvSpPr>
          <p:cNvPr id="8" name="TextBox 7"/>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9" name="TextBox 8"/>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21</a:t>
            </a:r>
          </a:p>
        </p:txBody>
      </p:sp>
    </p:spTree>
    <p:extLst>
      <p:ext uri="{BB962C8B-B14F-4D97-AF65-F5344CB8AC3E}">
        <p14:creationId xmlns:p14="http://schemas.microsoft.com/office/powerpoint/2010/main" val="3665239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D-Shape Body Type</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2</a:t>
            </a:r>
          </a:p>
          <a:p>
            <a:pPr algn="l"/>
            <a:r>
              <a:rPr sz="900" b="0" i="0">
                <a:solidFill>
                  <a:srgbClr val="5E6470"/>
                </a:solidFill>
                <a:latin typeface="Calibri"/>
              </a:rPr>
              <a:t>InBody Result Sheet Interpretation – Part 1</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22</a:t>
            </a:r>
          </a:p>
        </p:txBody>
      </p:sp>
      <p:sp>
        <p:nvSpPr>
          <p:cNvPr id="8" name="Rectangle 7"/>
          <p:cNvSpPr/>
          <p:nvPr/>
        </p:nvSpPr>
        <p:spPr>
          <a:xfrm>
            <a:off x="457200" y="114300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 y="128016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80160"/>
            <a:ext cx="457200" cy="457200"/>
          </a:xfrm>
          <a:prstGeom prst="rect">
            <a:avLst/>
          </a:prstGeom>
          <a:noFill/>
        </p:spPr>
        <p:txBody>
          <a:bodyPr wrap="square" lIns="0" rIns="0" tIns="0" bIns="0" anchor="ctr">
            <a:spAutoFit/>
          </a:bodyPr>
          <a:lstStyle/>
          <a:p>
            <a:pPr algn="ctr"/>
            <a:r>
              <a:rPr sz="1600" b="1" i="0">
                <a:solidFill>
                  <a:srgbClr val="FFFFFF"/>
                </a:solidFill>
                <a:latin typeface="Calibri"/>
              </a:rPr>
              <a:t>1</a:t>
            </a:r>
          </a:p>
        </p:txBody>
      </p:sp>
      <p:pic>
        <p:nvPicPr>
          <p:cNvPr id="11" name="Picture 10" descr="bt_D1.png"/>
          <p:cNvPicPr>
            <a:picLocks noChangeAspect="1"/>
          </p:cNvPicPr>
          <p:nvPr/>
        </p:nvPicPr>
        <p:blipFill>
          <a:blip r:embed="rId5"/>
          <a:stretch>
            <a:fillRect/>
          </a:stretch>
        </p:blipFill>
        <p:spPr>
          <a:xfrm>
            <a:off x="1234440" y="1280160"/>
            <a:ext cx="2654024" cy="1371600"/>
          </a:xfrm>
          <a:prstGeom prst="rect">
            <a:avLst/>
          </a:prstGeom>
        </p:spPr>
      </p:pic>
      <p:sp>
        <p:nvSpPr>
          <p:cNvPr id="12" name="TextBox 11"/>
          <p:cNvSpPr txBox="1"/>
          <p:nvPr/>
        </p:nvSpPr>
        <p:spPr>
          <a:xfrm>
            <a:off x="4208504" y="1325880"/>
            <a:ext cx="3975375" cy="1280160"/>
          </a:xfrm>
          <a:prstGeom prst="rect">
            <a:avLst/>
          </a:prstGeom>
          <a:noFill/>
        </p:spPr>
        <p:txBody>
          <a:bodyPr wrap="square" lIns="0" rIns="0" tIns="0" bIns="0" anchor="t">
            <a:spAutoFit/>
          </a:bodyPr>
          <a:lstStyle/>
          <a:p>
            <a:pPr algn="l"/>
            <a:r>
              <a:rPr sz="1400" b="1" i="0">
                <a:solidFill>
                  <a:srgbClr val="B50937"/>
                </a:solidFill>
                <a:latin typeface="Calibri"/>
              </a:rPr>
              <a:t>Underweight and strong</a:t>
            </a:r>
          </a:p>
          <a:p>
            <a:pPr algn="l"/>
            <a:r>
              <a:rPr sz="1150" b="0" i="0">
                <a:solidFill>
                  <a:srgbClr val="181D27"/>
                </a:solidFill>
                <a:latin typeface="Calibri"/>
              </a:rPr>
              <a:t>Low risk of adult diseases. While maintaining skeletal muscle, keep enough body fat for its essential functions, such as absorbing fat-soluble vitamins and building cell membranes.</a:t>
            </a:r>
          </a:p>
        </p:txBody>
      </p:sp>
      <p:sp>
        <p:nvSpPr>
          <p:cNvPr id="13" name="Rectangle 12"/>
          <p:cNvSpPr/>
          <p:nvPr/>
        </p:nvSpPr>
        <p:spPr>
          <a:xfrm>
            <a:off x="8366760" y="128016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1280160"/>
            <a:ext cx="2819095" cy="1371600"/>
          </a:xfrm>
          <a:prstGeom prst="rect">
            <a:avLst/>
          </a:prstGeom>
          <a:noFill/>
        </p:spPr>
        <p:txBody>
          <a:bodyPr wrap="square" lIns="0" rIns="0" tIns="0" bIns="0" anchor="ctr">
            <a:spAutoFit/>
          </a:bodyPr>
          <a:lstStyle/>
          <a:p>
            <a:pPr algn="l"/>
            <a:r>
              <a:rPr sz="1100" b="0" i="0">
                <a:solidFill>
                  <a:srgbClr val="181D27"/>
                </a:solidFill>
                <a:latin typeface="Calibri"/>
              </a:rPr>
              <a:t>Muscular because of their activity levels. They need proper nutrition guidance to maintain their condition.</a:t>
            </a:r>
          </a:p>
        </p:txBody>
      </p:sp>
      <p:sp>
        <p:nvSpPr>
          <p:cNvPr id="15" name="Rectangle 14"/>
          <p:cNvSpPr/>
          <p:nvPr/>
        </p:nvSpPr>
        <p:spPr>
          <a:xfrm>
            <a:off x="457200" y="288036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 y="301752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017520"/>
            <a:ext cx="457200" cy="457200"/>
          </a:xfrm>
          <a:prstGeom prst="rect">
            <a:avLst/>
          </a:prstGeom>
          <a:noFill/>
        </p:spPr>
        <p:txBody>
          <a:bodyPr wrap="square" lIns="0" rIns="0" tIns="0" bIns="0" anchor="ctr">
            <a:spAutoFit/>
          </a:bodyPr>
          <a:lstStyle/>
          <a:p>
            <a:pPr algn="ctr"/>
            <a:r>
              <a:rPr sz="1600" b="1" i="0">
                <a:solidFill>
                  <a:srgbClr val="FFFFFF"/>
                </a:solidFill>
                <a:latin typeface="Calibri"/>
              </a:rPr>
              <a:t>2</a:t>
            </a:r>
          </a:p>
        </p:txBody>
      </p:sp>
      <p:pic>
        <p:nvPicPr>
          <p:cNvPr id="18" name="Picture 17" descr="bt_D2.png"/>
          <p:cNvPicPr>
            <a:picLocks noChangeAspect="1"/>
          </p:cNvPicPr>
          <p:nvPr/>
        </p:nvPicPr>
        <p:blipFill>
          <a:blip r:embed="rId6"/>
          <a:stretch>
            <a:fillRect/>
          </a:stretch>
        </p:blipFill>
        <p:spPr>
          <a:xfrm>
            <a:off x="1234440" y="3017520"/>
            <a:ext cx="2915816" cy="1371600"/>
          </a:xfrm>
          <a:prstGeom prst="rect">
            <a:avLst/>
          </a:prstGeom>
        </p:spPr>
      </p:pic>
      <p:sp>
        <p:nvSpPr>
          <p:cNvPr id="19" name="TextBox 18"/>
          <p:cNvSpPr txBox="1"/>
          <p:nvPr/>
        </p:nvSpPr>
        <p:spPr>
          <a:xfrm>
            <a:off x="4470296" y="3063240"/>
            <a:ext cx="3713583" cy="1280160"/>
          </a:xfrm>
          <a:prstGeom prst="rect">
            <a:avLst/>
          </a:prstGeom>
          <a:noFill/>
        </p:spPr>
        <p:txBody>
          <a:bodyPr wrap="square" lIns="0" rIns="0" tIns="0" bIns="0" anchor="t">
            <a:spAutoFit/>
          </a:bodyPr>
          <a:lstStyle/>
          <a:p>
            <a:pPr algn="l"/>
            <a:r>
              <a:rPr sz="1400" b="1" i="0">
                <a:solidFill>
                  <a:srgbClr val="B50937"/>
                </a:solidFill>
                <a:latin typeface="Calibri"/>
              </a:rPr>
              <a:t>Standard weight and strong</a:t>
            </a:r>
          </a:p>
          <a:p>
            <a:pPr algn="l"/>
            <a:r>
              <a:rPr sz="1150" b="0" i="0">
                <a:solidFill>
                  <a:srgbClr val="181D27"/>
                </a:solidFill>
                <a:latin typeface="Calibri"/>
              </a:rPr>
              <a:t>Well-developed muscles and a strong body type, seen in many healthy people. Care is needed not to let body fat fall too far below the recommended level.</a:t>
            </a:r>
          </a:p>
        </p:txBody>
      </p:sp>
      <p:sp>
        <p:nvSpPr>
          <p:cNvPr id="20" name="Rectangle 19"/>
          <p:cNvSpPr/>
          <p:nvPr/>
        </p:nvSpPr>
        <p:spPr>
          <a:xfrm>
            <a:off x="8366760" y="301752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640" y="3017520"/>
            <a:ext cx="2819095" cy="1371600"/>
          </a:xfrm>
          <a:prstGeom prst="rect">
            <a:avLst/>
          </a:prstGeom>
          <a:noFill/>
        </p:spPr>
        <p:txBody>
          <a:bodyPr wrap="square" lIns="0" rIns="0" tIns="0" bIns="0" anchor="ctr">
            <a:spAutoFit/>
          </a:bodyPr>
          <a:lstStyle/>
          <a:p>
            <a:pPr algn="l"/>
            <a:r>
              <a:rPr sz="1100" b="0" i="0">
                <a:solidFill>
                  <a:srgbClr val="181D27"/>
                </a:solidFill>
                <a:latin typeface="Calibri"/>
              </a:rPr>
              <a:t>Muscular because of their activity levels. They need proper nutrition guidance to maintain their condition.</a:t>
            </a:r>
          </a:p>
        </p:txBody>
      </p:sp>
      <p:sp>
        <p:nvSpPr>
          <p:cNvPr id="22" name="Rectangle 21"/>
          <p:cNvSpPr/>
          <p:nvPr/>
        </p:nvSpPr>
        <p:spPr>
          <a:xfrm>
            <a:off x="457200" y="461772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75488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754880"/>
            <a:ext cx="457200" cy="457200"/>
          </a:xfrm>
          <a:prstGeom prst="rect">
            <a:avLst/>
          </a:prstGeom>
          <a:noFill/>
        </p:spPr>
        <p:txBody>
          <a:bodyPr wrap="square" lIns="0" rIns="0" tIns="0" bIns="0" anchor="ctr">
            <a:spAutoFit/>
          </a:bodyPr>
          <a:lstStyle/>
          <a:p>
            <a:pPr algn="ctr"/>
            <a:r>
              <a:rPr sz="1600" b="1" i="0">
                <a:solidFill>
                  <a:srgbClr val="FFFFFF"/>
                </a:solidFill>
                <a:latin typeface="Calibri"/>
              </a:rPr>
              <a:t>3</a:t>
            </a:r>
          </a:p>
        </p:txBody>
      </p:sp>
      <p:pic>
        <p:nvPicPr>
          <p:cNvPr id="25" name="Picture 24" descr="bt_D3.png"/>
          <p:cNvPicPr>
            <a:picLocks noChangeAspect="1"/>
          </p:cNvPicPr>
          <p:nvPr/>
        </p:nvPicPr>
        <p:blipFill>
          <a:blip r:embed="rId7"/>
          <a:stretch>
            <a:fillRect/>
          </a:stretch>
        </p:blipFill>
        <p:spPr>
          <a:xfrm>
            <a:off x="1234440" y="4754880"/>
            <a:ext cx="3029151" cy="1371600"/>
          </a:xfrm>
          <a:prstGeom prst="rect">
            <a:avLst/>
          </a:prstGeom>
        </p:spPr>
      </p:pic>
      <p:sp>
        <p:nvSpPr>
          <p:cNvPr id="26" name="TextBox 25"/>
          <p:cNvSpPr txBox="1"/>
          <p:nvPr/>
        </p:nvSpPr>
        <p:spPr>
          <a:xfrm>
            <a:off x="4583631" y="4800600"/>
            <a:ext cx="3600248" cy="1280160"/>
          </a:xfrm>
          <a:prstGeom prst="rect">
            <a:avLst/>
          </a:prstGeom>
          <a:noFill/>
        </p:spPr>
        <p:txBody>
          <a:bodyPr wrap="square" lIns="0" rIns="0" tIns="0" bIns="0" anchor="t">
            <a:spAutoFit/>
          </a:bodyPr>
          <a:lstStyle/>
          <a:p>
            <a:pPr algn="l"/>
            <a:r>
              <a:rPr sz="1400" b="1" i="0">
                <a:solidFill>
                  <a:srgbClr val="B50937"/>
                </a:solidFill>
                <a:latin typeface="Calibri"/>
              </a:rPr>
              <a:t>Overweight and strong</a:t>
            </a:r>
          </a:p>
          <a:p>
            <a:pPr algn="l"/>
            <a:r>
              <a:rPr sz="1150" b="0" i="0">
                <a:solidFill>
                  <a:srgbClr val="181D27"/>
                </a:solidFill>
                <a:latin typeface="Calibri"/>
              </a:rPr>
              <a:t>Often seen in athletes. BMI shows them as overweight, but the extra weight is skeletal muscle, so no weight management is required.</a:t>
            </a:r>
          </a:p>
        </p:txBody>
      </p:sp>
      <p:sp>
        <p:nvSpPr>
          <p:cNvPr id="27" name="Rectangle 26"/>
          <p:cNvSpPr/>
          <p:nvPr/>
        </p:nvSpPr>
        <p:spPr>
          <a:xfrm>
            <a:off x="8366760" y="475488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49640" y="4754880"/>
            <a:ext cx="2819095" cy="1371600"/>
          </a:xfrm>
          <a:prstGeom prst="rect">
            <a:avLst/>
          </a:prstGeom>
          <a:noFill/>
        </p:spPr>
        <p:txBody>
          <a:bodyPr wrap="square" lIns="0" rIns="0" tIns="0" bIns="0" anchor="ctr">
            <a:spAutoFit/>
          </a:bodyPr>
          <a:lstStyle/>
          <a:p>
            <a:pPr algn="l"/>
            <a:r>
              <a:rPr sz="1100" b="0" i="0">
                <a:solidFill>
                  <a:srgbClr val="181D27"/>
                </a:solidFill>
                <a:latin typeface="Calibri"/>
              </a:rPr>
              <a:t>Muscular because of their activity levels. They need proper nutrition guidance to maintain their condition.</a:t>
            </a:r>
          </a:p>
        </p:txBody>
      </p:sp>
    </p:spTree>
    <p:extLst>
      <p:ext uri="{BB962C8B-B14F-4D97-AF65-F5344CB8AC3E}">
        <p14:creationId xmlns:p14="http://schemas.microsoft.com/office/powerpoint/2010/main" val="2498714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CC5C61-7AE2-4FC3-A12A-EF9BE42E8637}"/>
              </a:ext>
            </a:extLst>
          </p:cNvPr>
          <p:cNvPicPr>
            <a:picLocks noChangeAspect="1"/>
          </p:cNvPicPr>
          <p:nvPr/>
        </p:nvPicPr>
        <p:blipFill>
          <a:blip r:embed="rId2"/>
          <a:stretch>
            <a:fillRect/>
          </a:stretch>
        </p:blipFill>
        <p:spPr>
          <a:xfrm>
            <a:off x="2244092" y="1097280"/>
            <a:ext cx="3712684" cy="5190618"/>
          </a:xfrm>
          <a:prstGeom prst="rect">
            <a:avLst/>
          </a:prstGeom>
        </p:spPr>
      </p:pic>
      <p:pic>
        <p:nvPicPr>
          <p:cNvPr id="3" name="Picture 2">
            <a:extLst>
              <a:ext uri="{FF2B5EF4-FFF2-40B4-BE49-F238E27FC236}">
                <a16:creationId xmlns:a16="http://schemas.microsoft.com/office/drawing/2014/main" id="{23598C63-517E-45EF-B943-09C71BB91E0A}"/>
              </a:ext>
            </a:extLst>
          </p:cNvPr>
          <p:cNvPicPr>
            <a:picLocks noChangeAspect="1"/>
          </p:cNvPicPr>
          <p:nvPr/>
        </p:nvPicPr>
        <p:blipFill>
          <a:blip r:embed="rId3"/>
          <a:stretch>
            <a:fillRect/>
          </a:stretch>
        </p:blipFill>
        <p:spPr>
          <a:xfrm>
            <a:off x="6194117" y="1097280"/>
            <a:ext cx="3753484" cy="5257800"/>
          </a:xfrm>
          <a:prstGeom prst="rect">
            <a:avLst/>
          </a:prstGeom>
        </p:spPr>
      </p:pic>
      <p:sp>
        <p:nvSpPr>
          <p:cNvPr id="4" name="Rectangle 3"/>
          <p:cNvSpPr/>
          <p:nvPr/>
        </p:nvSpPr>
        <p:spPr>
          <a:xfrm>
            <a:off x="457200" y="320040"/>
            <a:ext cx="46634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4663440" cy="566928"/>
          </a:xfrm>
          <a:prstGeom prst="rect">
            <a:avLst/>
          </a:prstGeom>
          <a:noFill/>
        </p:spPr>
        <p:txBody>
          <a:bodyPr wrap="square" lIns="0" rIns="0" tIns="0" bIns="0" anchor="ctr">
            <a:spAutoFit/>
          </a:bodyPr>
          <a:lstStyle/>
          <a:p>
            <a:pPr algn="ctr"/>
            <a:r>
              <a:rPr sz="2200" b="1" i="0">
                <a:solidFill>
                  <a:srgbClr val="FFFFFF"/>
                </a:solidFill>
                <a:latin typeface="Calibri"/>
              </a:rPr>
              <a:t>D-Type: Diet &amp; Lifestyle Guide</a:t>
            </a:r>
          </a:p>
        </p:txBody>
      </p:sp>
      <p:sp>
        <p:nvSpPr>
          <p:cNvPr id="6" name="TextBox 5"/>
          <p:cNvSpPr txBox="1"/>
          <p:nvPr/>
        </p:nvSpPr>
        <p:spPr>
          <a:xfrm>
            <a:off x="5349240" y="320040"/>
            <a:ext cx="4556455" cy="566928"/>
          </a:xfrm>
          <a:prstGeom prst="rect">
            <a:avLst/>
          </a:prstGeom>
          <a:noFill/>
        </p:spPr>
        <p:txBody>
          <a:bodyPr wrap="square" lIns="0" rIns="0" tIns="0" bIns="0" anchor="ctr">
            <a:spAutoFit/>
          </a:bodyPr>
          <a:lstStyle/>
          <a:p>
            <a:pPr algn="l"/>
            <a:r>
              <a:rPr sz="900" b="1" i="0">
                <a:solidFill>
                  <a:srgbClr val="B50937"/>
                </a:solidFill>
                <a:latin typeface="Calibri"/>
              </a:rPr>
              <a:t>SESSION 2</a:t>
            </a:r>
          </a:p>
          <a:p>
            <a:pPr algn="l"/>
            <a:r>
              <a:rPr sz="900" b="0" i="0">
                <a:solidFill>
                  <a:srgbClr val="5E6470"/>
                </a:solidFill>
                <a:latin typeface="Calibri"/>
              </a:rPr>
              <a:t>InBody Result Sheet Interpretation – Part 1</a:t>
            </a:r>
          </a:p>
        </p:txBody>
      </p:sp>
      <p:pic>
        <p:nvPicPr>
          <p:cNvPr id="7" name="Picture 6" descr="logo_red.png"/>
          <p:cNvPicPr>
            <a:picLocks noChangeAspect="1"/>
          </p:cNvPicPr>
          <p:nvPr/>
        </p:nvPicPr>
        <p:blipFill>
          <a:blip r:embed="rId4"/>
          <a:stretch>
            <a:fillRect/>
          </a:stretch>
        </p:blipFill>
        <p:spPr>
          <a:xfrm>
            <a:off x="10436918" y="420624"/>
            <a:ext cx="1297577" cy="365760"/>
          </a:xfrm>
          <a:prstGeom prst="rect">
            <a:avLst/>
          </a:prstGeom>
        </p:spPr>
      </p:pic>
      <p:sp>
        <p:nvSpPr>
          <p:cNvPr id="8" name="TextBox 7"/>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9" name="TextBox 8"/>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23</a:t>
            </a:r>
          </a:p>
        </p:txBody>
      </p:sp>
    </p:spTree>
    <p:extLst>
      <p:ext uri="{BB962C8B-B14F-4D97-AF65-F5344CB8AC3E}">
        <p14:creationId xmlns:p14="http://schemas.microsoft.com/office/powerpoint/2010/main" val="3602118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65" name="Google Shape;139;p28" descr="Google Shape;139;p28"/>
          <p:cNvPicPr>
            <a:picLocks noChangeAspect="1"/>
          </p:cNvPicPr>
          <p:nvPr/>
        </p:nvPicPr>
        <p:blipFill>
          <a:blip r:embed="rId3">
            <a:extLst/>
          </a:blip>
          <a:stretch>
            <a:fillRect/>
          </a:stretch>
        </p:blipFill>
        <p:spPr>
          <a:xfrm>
            <a:off x="1022408" y="1097280"/>
            <a:ext cx="10146878" cy="5257800"/>
          </a:xfrm>
          <a:prstGeom prst="rect">
            <a:avLst/>
          </a:prstGeom>
          <a:ln w="12700">
            <a:miter lim="400000"/>
          </a:ln>
        </p:spPr>
      </p:pic>
      <p:sp>
        <p:nvSpPr>
          <p:cNvPr id="266" name="Rectangle 265"/>
          <p:cNvSpPr/>
          <p:nvPr/>
        </p:nvSpPr>
        <p:spPr>
          <a:xfrm>
            <a:off x="457200" y="320040"/>
            <a:ext cx="411480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457200" y="320040"/>
            <a:ext cx="4114800" cy="566928"/>
          </a:xfrm>
          <a:prstGeom prst="rect">
            <a:avLst/>
          </a:prstGeom>
          <a:noFill/>
        </p:spPr>
        <p:txBody>
          <a:bodyPr wrap="square" lIns="0" rIns="0" tIns="0" bIns="0" anchor="ctr">
            <a:spAutoFit/>
          </a:bodyPr>
          <a:lstStyle/>
          <a:p>
            <a:pPr algn="ctr"/>
            <a:r>
              <a:rPr sz="2200" b="1" i="0">
                <a:solidFill>
                  <a:srgbClr val="FFFFFF"/>
                </a:solidFill>
                <a:latin typeface="Calibri"/>
              </a:rPr>
              <a:t>The Healthy Body Fat Range</a:t>
            </a:r>
          </a:p>
        </p:txBody>
      </p:sp>
      <p:sp>
        <p:nvSpPr>
          <p:cNvPr id="268" name="TextBox 267"/>
          <p:cNvSpPr txBox="1"/>
          <p:nvPr/>
        </p:nvSpPr>
        <p:spPr>
          <a:xfrm>
            <a:off x="4800600" y="320040"/>
            <a:ext cx="5105095" cy="566928"/>
          </a:xfrm>
          <a:prstGeom prst="rect">
            <a:avLst/>
          </a:prstGeom>
          <a:noFill/>
        </p:spPr>
        <p:txBody>
          <a:bodyPr wrap="square" lIns="0" rIns="0" tIns="0" bIns="0" anchor="ctr">
            <a:spAutoFit/>
          </a:bodyPr>
          <a:lstStyle/>
          <a:p>
            <a:pPr algn="l"/>
            <a:r>
              <a:rPr sz="900" b="1" i="0">
                <a:solidFill>
                  <a:srgbClr val="B50937"/>
                </a:solidFill>
                <a:latin typeface="Calibri"/>
              </a:rPr>
              <a:t>SESSION 2</a:t>
            </a:r>
          </a:p>
          <a:p>
            <a:pPr algn="l"/>
            <a:r>
              <a:rPr sz="900" b="0" i="0">
                <a:solidFill>
                  <a:srgbClr val="5E6470"/>
                </a:solidFill>
                <a:latin typeface="Calibri"/>
              </a:rPr>
              <a:t>InBody Result Sheet Interpretation – Part 1</a:t>
            </a:r>
          </a:p>
        </p:txBody>
      </p:sp>
      <p:pic>
        <p:nvPicPr>
          <p:cNvPr id="269" name="Picture 268" descr="logo_red.png"/>
          <p:cNvPicPr>
            <a:picLocks noChangeAspect="1"/>
          </p:cNvPicPr>
          <p:nvPr/>
        </p:nvPicPr>
        <p:blipFill>
          <a:blip r:embed="rId4"/>
          <a:stretch>
            <a:fillRect/>
          </a:stretch>
        </p:blipFill>
        <p:spPr>
          <a:xfrm>
            <a:off x="10436918" y="420624"/>
            <a:ext cx="1297577" cy="365760"/>
          </a:xfrm>
          <a:prstGeom prst="rect">
            <a:avLst/>
          </a:prstGeom>
        </p:spPr>
      </p:pic>
      <p:sp>
        <p:nvSpPr>
          <p:cNvPr id="270" name="TextBox 269"/>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71" name="TextBox 270"/>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24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365760"/>
          </a:xfrm>
          <a:prstGeom prst="rect">
            <a:avLst/>
          </a:prstGeom>
          <a:noFill/>
        </p:spPr>
        <p:txBody>
          <a:bodyPr wrap="square" lIns="0" rIns="0" tIns="0" bIns="0" anchor="ctr">
            <a:spAutoFit/>
          </a:bodyPr>
          <a:lstStyle/>
          <a:p>
            <a:pPr algn="l"/>
            <a:r>
              <a:rPr sz="1100" b="1" i="0" spc="200">
                <a:solidFill>
                  <a:srgbClr val="B50937"/>
                </a:solidFill>
                <a:latin typeface="Calibri"/>
              </a:rPr>
              <a:t>SESSION 3  ·  RESULT SHEET INTERPRETATION – PART 2: CLINICAL INTERPRETATION</a:t>
            </a:r>
          </a:p>
        </p:txBody>
      </p:sp>
      <p:sp>
        <p:nvSpPr>
          <p:cNvPr id="4" name="TextBox 3"/>
          <p:cNvSpPr txBox="1"/>
          <p:nvPr/>
        </p:nvSpPr>
        <p:spPr>
          <a:xfrm>
            <a:off x="914400" y="2788920"/>
            <a:ext cx="10332720" cy="1097280"/>
          </a:xfrm>
          <a:prstGeom prst="rect">
            <a:avLst/>
          </a:prstGeom>
          <a:noFill/>
        </p:spPr>
        <p:txBody>
          <a:bodyPr wrap="square" lIns="0" rIns="0" tIns="0" bIns="0" anchor="t">
            <a:spAutoFit/>
          </a:bodyPr>
          <a:lstStyle/>
          <a:p>
            <a:pPr algn="l"/>
            <a:r>
              <a:rPr sz="4000" b="1" i="0">
                <a:solidFill>
                  <a:srgbClr val="181D27"/>
                </a:solidFill>
                <a:latin typeface="Cambria"/>
              </a:rPr>
              <a:t>Segmental Analysis</a:t>
            </a:r>
          </a:p>
        </p:txBody>
      </p:sp>
      <p:sp>
        <p:nvSpPr>
          <p:cNvPr id="5" name="Rectangle 4"/>
          <p:cNvSpPr/>
          <p:nvPr/>
        </p:nvSpPr>
        <p:spPr>
          <a:xfrm>
            <a:off x="914400" y="3977639"/>
            <a:ext cx="1097280" cy="73152"/>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red.png"/>
          <p:cNvPicPr>
            <a:picLocks noChangeAspect="1"/>
          </p:cNvPicPr>
          <p:nvPr/>
        </p:nvPicPr>
        <p:blipFill>
          <a:blip r:embed="rId3"/>
          <a:stretch>
            <a:fillRect/>
          </a:stretch>
        </p:blipFill>
        <p:spPr>
          <a:xfrm>
            <a:off x="10436918" y="420624"/>
            <a:ext cx="1297577" cy="36576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53492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5349240" cy="566928"/>
          </a:xfrm>
          <a:prstGeom prst="rect">
            <a:avLst/>
          </a:prstGeom>
          <a:noFill/>
        </p:spPr>
        <p:txBody>
          <a:bodyPr wrap="square" lIns="0" rIns="0" tIns="0" bIns="0" anchor="ctr">
            <a:spAutoFit/>
          </a:bodyPr>
          <a:lstStyle/>
          <a:p>
            <a:pPr algn="ctr"/>
            <a:r>
              <a:rPr sz="1900" b="1" i="0">
                <a:solidFill>
                  <a:srgbClr val="FFFFFF"/>
                </a:solidFill>
                <a:latin typeface="Calibri"/>
              </a:rPr>
              <a:t>How to Read Segmental Lean Analysis</a:t>
            </a:r>
          </a:p>
        </p:txBody>
      </p:sp>
      <p:sp>
        <p:nvSpPr>
          <p:cNvPr id="4" name="TextBox 3"/>
          <p:cNvSpPr txBox="1"/>
          <p:nvPr/>
        </p:nvSpPr>
        <p:spPr>
          <a:xfrm>
            <a:off x="6035040" y="320040"/>
            <a:ext cx="387065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9"/>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27</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10"/>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Through InBody's advanced BIA technology, it is easy to see the exact amount of lean muscle and fat in each segment of the body.</a:t>
            </a:r>
          </a:p>
          <a:p>
            <a:pPr>
              <a:spcBef>
                <a:spcPts val="400"/>
              </a:spcBef>
              <a:spcAft>
                <a:spcPts val="200"/>
              </a:spcAft>
            </a:pPr>
            <a:r>
              <a:rPr sz="1300" b="1">
                <a:solidFill>
                  <a:srgbClr val="B50937"/>
                </a:solidFill>
                <a:latin typeface="Calibri"/>
              </a:rPr>
              <a:t>Example</a:t>
            </a:r>
          </a:p>
          <a:p>
            <a:pPr>
              <a:spcAft>
                <a:spcPts val="600"/>
              </a:spcAft>
            </a:pPr>
            <a:r>
              <a:rPr sz="1300">
                <a:solidFill>
                  <a:srgbClr val="181D27"/>
                </a:solidFill>
                <a:latin typeface="Calibri"/>
              </a:rPr>
              <a:t>This person has 2.01 kg of muscle in the right arm, which is just over 100% of the required muscle.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24.png"/>
          <p:cNvPicPr>
            <a:picLocks noChangeAspect="1"/>
          </p:cNvPicPr>
          <p:nvPr/>
        </p:nvPicPr>
        <p:blipFill>
          <a:blip r:embed="rId11"/>
          <a:stretch>
            <a:fillRect/>
          </a:stretch>
        </p:blipFill>
        <p:spPr>
          <a:xfrm>
            <a:off x="5760720" y="1436107"/>
            <a:ext cx="5790895" cy="3528585"/>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12"/>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Segmental analysis shows exactly how much muscle and fat sits in each arm, each leg and the trunk.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5449" name="Picture 25448"/>
          <p:cNvPicPr/>
          <p:nvPr/>
        </p:nvPicPr>
        <p:blipFill>
          <a:blip r:embed="rId8"/>
          <a:stretch/>
        </p:blipFill>
        <p:spPr>
          <a:xfrm>
            <a:off x="1225227" y="1843200"/>
            <a:ext cx="4879440" cy="3788280"/>
          </a:xfrm>
          <a:prstGeom prst="rect">
            <a:avLst/>
          </a:prstGeom>
          <a:ln w="0">
            <a:noFill/>
          </a:ln>
        </p:spPr>
      </p:pic>
      <p:pic>
        <p:nvPicPr>
          <p:cNvPr id="25450" name="Picture 25449"/>
          <p:cNvPicPr/>
          <p:nvPr/>
        </p:nvPicPr>
        <p:blipFill>
          <a:blip r:embed="rId9"/>
          <a:stretch/>
        </p:blipFill>
        <p:spPr>
          <a:xfrm>
            <a:off x="6179907" y="1820520"/>
            <a:ext cx="4786560" cy="3811319"/>
          </a:xfrm>
          <a:prstGeom prst="rect">
            <a:avLst/>
          </a:prstGeom>
          <a:ln w="0">
            <a:noFill/>
          </a:ln>
        </p:spPr>
      </p:pic>
      <p:sp>
        <p:nvSpPr>
          <p:cNvPr id="25451" name="Rectangle 25450"/>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52" name="TextBox 25451"/>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Muscle Imbalance Assessment</a:t>
            </a:r>
          </a:p>
        </p:txBody>
      </p:sp>
      <p:sp>
        <p:nvSpPr>
          <p:cNvPr id="25453" name="TextBox 25452"/>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25454" name="Picture 25453" descr="logo_red.png"/>
          <p:cNvPicPr>
            <a:picLocks noChangeAspect="1"/>
          </p:cNvPicPr>
          <p:nvPr/>
        </p:nvPicPr>
        <p:blipFill>
          <a:blip r:embed="rId10"/>
          <a:stretch>
            <a:fillRect/>
          </a:stretch>
        </p:blipFill>
        <p:spPr>
          <a:xfrm>
            <a:off x="10436918" y="420624"/>
            <a:ext cx="1297577" cy="365760"/>
          </a:xfrm>
          <a:prstGeom prst="rect">
            <a:avLst/>
          </a:prstGeom>
        </p:spPr>
      </p:pic>
      <p:sp>
        <p:nvSpPr>
          <p:cNvPr id="25455" name="TextBox 25454"/>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5456" name="TextBox 25455"/>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28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2" name="Rectangle 21"/>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Sarcopenia Assessment (SMI)</a:t>
            </a:r>
          </a:p>
        </p:txBody>
      </p:sp>
      <p:sp>
        <p:nvSpPr>
          <p:cNvPr id="24" name="TextBox 23"/>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25" name="Picture 24" descr="logo_red.png"/>
          <p:cNvPicPr>
            <a:picLocks noChangeAspect="1"/>
          </p:cNvPicPr>
          <p:nvPr/>
        </p:nvPicPr>
        <p:blipFill>
          <a:blip r:embed="rId8"/>
          <a:stretch>
            <a:fillRect/>
          </a:stretch>
        </p:blipFill>
        <p:spPr>
          <a:xfrm>
            <a:off x="10436918" y="420624"/>
            <a:ext cx="1297577" cy="365760"/>
          </a:xfrm>
          <a:prstGeom prst="rect">
            <a:avLst/>
          </a:prstGeom>
        </p:spPr>
      </p:pic>
      <p:sp>
        <p:nvSpPr>
          <p:cNvPr id="26" name="TextBox 2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7" name="TextBox 2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29</a:t>
            </a:r>
          </a:p>
        </p:txBody>
      </p:sp>
      <p:sp>
        <p:nvSpPr>
          <p:cNvPr id="28" name="Rectangle 2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c_concept.png"/>
          <p:cNvPicPr>
            <a:picLocks noChangeAspect="1"/>
          </p:cNvPicPr>
          <p:nvPr/>
        </p:nvPicPr>
        <p:blipFill>
          <a:blip r:embed="rId9"/>
          <a:stretch>
            <a:fillRect/>
          </a:stretch>
        </p:blipFill>
        <p:spPr>
          <a:xfrm>
            <a:off x="603504" y="1216152"/>
            <a:ext cx="146304" cy="146304"/>
          </a:xfrm>
          <a:prstGeom prst="rect">
            <a:avLst/>
          </a:prstGeom>
        </p:spPr>
      </p:pic>
      <p:sp>
        <p:nvSpPr>
          <p:cNvPr id="31" name="TextBox 3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32" name="Rectangle 3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Cut-off (Muscle Mass, SMI)</a:t>
            </a:r>
          </a:p>
          <a:p>
            <a:pPr marL="228600" indent="-228600">
              <a:spcAft>
                <a:spcPts val="600"/>
              </a:spcAft>
              <a:buChar char="•"/>
            </a:pPr>
            <a:r>
              <a:rPr sz="1300">
                <a:solidFill>
                  <a:srgbClr val="181D27"/>
                </a:solidFill>
                <a:latin typeface="Calibri"/>
              </a:rPr>
              <a:t>Men: below 7.0 kg/m²</a:t>
            </a:r>
          </a:p>
          <a:p>
            <a:pPr marL="228600" indent="-228600">
              <a:spcAft>
                <a:spcPts val="600"/>
              </a:spcAft>
              <a:buChar char="•"/>
            </a:pPr>
            <a:r>
              <a:rPr sz="1300">
                <a:solidFill>
                  <a:srgbClr val="181D27"/>
                </a:solidFill>
                <a:latin typeface="Calibri"/>
              </a:rPr>
              <a:t>Women: below 5.7 kg/m²</a:t>
            </a:r>
          </a:p>
          <a:p>
            <a:pPr>
              <a:spcBef>
                <a:spcPts val="400"/>
              </a:spcBef>
              <a:spcAft>
                <a:spcPts val="200"/>
              </a:spcAft>
            </a:pPr>
            <a:r>
              <a:rPr sz="1300" b="1">
                <a:solidFill>
                  <a:srgbClr val="B50937"/>
                </a:solidFill>
                <a:latin typeface="Calibri"/>
              </a:rPr>
              <a:t>Formula</a:t>
            </a:r>
          </a:p>
          <a:p>
            <a:pPr>
              <a:spcAft>
                <a:spcPts val="600"/>
              </a:spcAft>
            </a:pPr>
            <a:r>
              <a:rPr sz="1300">
                <a:solidFill>
                  <a:srgbClr val="181D27"/>
                </a:solidFill>
                <a:latin typeface="Calibri"/>
              </a:rPr>
              <a:t>ASM (appendicular skeletal muscle) = RA + LA + RL + LL</a:t>
            </a:r>
          </a:p>
          <a:p>
            <a:pPr>
              <a:spcAft>
                <a:spcPts val="600"/>
              </a:spcAft>
            </a:pPr>
            <a:r>
              <a:rPr sz="1300">
                <a:solidFill>
                  <a:srgbClr val="181D27"/>
                </a:solidFill>
                <a:latin typeface="Calibri"/>
              </a:rPr>
              <a:t>SMI = ASM ÷ height (m)²</a:t>
            </a:r>
          </a:p>
          <a:p>
            <a:pPr>
              <a:spcBef>
                <a:spcPts val="400"/>
              </a:spcBef>
              <a:spcAft>
                <a:spcPts val="200"/>
              </a:spcAft>
            </a:pPr>
            <a:r>
              <a:rPr sz="1300" b="1">
                <a:solidFill>
                  <a:srgbClr val="B50937"/>
                </a:solidFill>
                <a:latin typeface="Calibri"/>
              </a:rPr>
              <a:t>Example</a:t>
            </a:r>
          </a:p>
          <a:p>
            <a:pPr>
              <a:spcAft>
                <a:spcPts val="600"/>
              </a:spcAft>
            </a:pPr>
            <a:r>
              <a:rPr sz="1300">
                <a:solidFill>
                  <a:srgbClr val="181D27"/>
                </a:solidFill>
                <a:latin typeface="Calibri"/>
              </a:rPr>
              <a:t>ASM = 1.11 + 1.05 + 4.00 + 3.97 = 10.13 kg</a:t>
            </a:r>
          </a:p>
          <a:p>
            <a:pPr>
              <a:spcAft>
                <a:spcPts val="600"/>
              </a:spcAft>
            </a:pPr>
            <a:r>
              <a:rPr sz="1300">
                <a:solidFill>
                  <a:srgbClr val="181D27"/>
                </a:solidFill>
                <a:latin typeface="Calibri"/>
              </a:rPr>
              <a:t>SMI = 10.13 ÷ 1.523² = 4.37 kg/m²</a:t>
            </a:r>
          </a:p>
        </p:txBody>
      </p:sp>
      <p:sp>
        <p:nvSpPr>
          <p:cNvPr id="34" name="Rectangle 3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kc_26.png"/>
          <p:cNvPicPr>
            <a:picLocks noChangeAspect="1"/>
          </p:cNvPicPr>
          <p:nvPr/>
        </p:nvPicPr>
        <p:blipFill>
          <a:blip r:embed="rId10"/>
          <a:stretch>
            <a:fillRect/>
          </a:stretch>
        </p:blipFill>
        <p:spPr>
          <a:xfrm>
            <a:off x="5760720" y="1664935"/>
            <a:ext cx="5790895" cy="3070929"/>
          </a:xfrm>
          <a:prstGeom prst="rect">
            <a:avLst/>
          </a:prstGeom>
        </p:spPr>
      </p:pic>
      <p:sp>
        <p:nvSpPr>
          <p:cNvPr id="36" name="Rectangle 3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_bulb.png"/>
          <p:cNvPicPr>
            <a:picLocks noChangeAspect="1"/>
          </p:cNvPicPr>
          <p:nvPr/>
        </p:nvPicPr>
        <p:blipFill>
          <a:blip r:embed="rId11"/>
          <a:stretch>
            <a:fillRect/>
          </a:stretch>
        </p:blipFill>
        <p:spPr>
          <a:xfrm>
            <a:off x="822960" y="5788152"/>
            <a:ext cx="274320" cy="274320"/>
          </a:xfrm>
          <a:prstGeom prst="rect">
            <a:avLst/>
          </a:prstGeom>
        </p:spPr>
      </p:pic>
      <p:sp>
        <p:nvSpPr>
          <p:cNvPr id="39" name="TextBox 3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Muscle wasting in diabetic and sarcopenic patients can be assessed through the SMI.</a:t>
            </a:r>
          </a:p>
        </p:txBody>
      </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0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01"/>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29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302"/>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303"/>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3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 grpId="0" animBg="1" advAuto="0"/>
      <p:bldP spid="300" grpId="0" animBg="1" advAuto="0"/>
      <p:bldP spid="301" grpId="0" animBg="1" advAuto="0"/>
      <p:bldP spid="302" grpId="0" animBg="1" advAuto="0"/>
      <p:bldP spid="303" grpId="0" animBg="1" advAuto="0"/>
      <p:bldP spid="304" grpId="0" animBg="1" advAuto="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365760"/>
          </a:xfrm>
          <a:prstGeom prst="rect">
            <a:avLst/>
          </a:prstGeom>
          <a:noFill/>
        </p:spPr>
        <p:txBody>
          <a:bodyPr wrap="square" lIns="0" rIns="0" tIns="0" bIns="0" anchor="ctr">
            <a:spAutoFit/>
          </a:bodyPr>
          <a:lstStyle/>
          <a:p>
            <a:pPr algn="l"/>
            <a:r>
              <a:rPr sz="1100" b="1" i="0" spc="200">
                <a:solidFill>
                  <a:srgbClr val="B50937"/>
                </a:solidFill>
                <a:latin typeface="Calibri"/>
              </a:rPr>
              <a:t>SESSION 3  ·  RESULT SHEET INTERPRETATION – PART 2: CLINICAL INTERPRETATION</a:t>
            </a:r>
          </a:p>
        </p:txBody>
      </p:sp>
      <p:sp>
        <p:nvSpPr>
          <p:cNvPr id="4" name="TextBox 3"/>
          <p:cNvSpPr txBox="1"/>
          <p:nvPr/>
        </p:nvSpPr>
        <p:spPr>
          <a:xfrm>
            <a:off x="914400" y="2788920"/>
            <a:ext cx="10332720" cy="1097280"/>
          </a:xfrm>
          <a:prstGeom prst="rect">
            <a:avLst/>
          </a:prstGeom>
          <a:noFill/>
        </p:spPr>
        <p:txBody>
          <a:bodyPr wrap="square" lIns="0" rIns="0" tIns="0" bIns="0" anchor="t">
            <a:spAutoFit/>
          </a:bodyPr>
          <a:lstStyle/>
          <a:p>
            <a:pPr algn="l"/>
            <a:r>
              <a:rPr sz="4000" b="1" i="0">
                <a:solidFill>
                  <a:srgbClr val="181D27"/>
                </a:solidFill>
                <a:latin typeface="Cambria"/>
              </a:rPr>
              <a:t>ECW Ratio Analysis &amp; Phase Angle</a:t>
            </a:r>
          </a:p>
        </p:txBody>
      </p:sp>
      <p:sp>
        <p:nvSpPr>
          <p:cNvPr id="5" name="Rectangle 4"/>
          <p:cNvSpPr/>
          <p:nvPr/>
        </p:nvSpPr>
        <p:spPr>
          <a:xfrm>
            <a:off x="914400" y="3977639"/>
            <a:ext cx="1097280" cy="73152"/>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red.png"/>
          <p:cNvPicPr>
            <a:picLocks noChangeAspect="1"/>
          </p:cNvPicPr>
          <p:nvPr/>
        </p:nvPicPr>
        <p:blipFill>
          <a:blip r:embed="rId3"/>
          <a:stretch>
            <a:fillRect/>
          </a:stretch>
        </p:blipFill>
        <p:spPr>
          <a:xfrm>
            <a:off x="10436918" y="420624"/>
            <a:ext cx="1297577" cy="36576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30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0175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017520" cy="566928"/>
          </a:xfrm>
          <a:prstGeom prst="rect">
            <a:avLst/>
          </a:prstGeom>
          <a:noFill/>
        </p:spPr>
        <p:txBody>
          <a:bodyPr wrap="square" lIns="0" rIns="0" tIns="0" bIns="0" anchor="ctr">
            <a:spAutoFit/>
          </a:bodyPr>
          <a:lstStyle/>
          <a:p>
            <a:pPr algn="ctr"/>
            <a:r>
              <a:rPr sz="2200" b="1" i="0">
                <a:solidFill>
                  <a:srgbClr val="FFFFFF"/>
                </a:solidFill>
                <a:latin typeface="Calibri"/>
              </a:rPr>
              <a:t>ECW Ratio Analysis</a:t>
            </a:r>
          </a:p>
        </p:txBody>
      </p:sp>
      <p:sp>
        <p:nvSpPr>
          <p:cNvPr id="4" name="TextBox 3"/>
          <p:cNvSpPr txBox="1"/>
          <p:nvPr/>
        </p:nvSpPr>
        <p:spPr>
          <a:xfrm>
            <a:off x="3703320" y="320040"/>
            <a:ext cx="620237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31</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The normal range for ECW ratio is 0.360 to 0.390. Higher values indicate inflammation or water retention in the body.</a:t>
            </a:r>
          </a:p>
          <a:p>
            <a:pPr>
              <a:spcAft>
                <a:spcPts val="600"/>
              </a:spcAft>
            </a:pPr>
            <a:r>
              <a:rPr sz="1300">
                <a:solidFill>
                  <a:srgbClr val="181D27"/>
                </a:solidFill>
                <a:latin typeface="Calibri"/>
              </a:rPr>
              <a:t>The body composition analyzer shows exactly where the water retention is: arms, trunk or legs.</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28.png"/>
          <p:cNvPicPr>
            <a:picLocks noChangeAspect="1"/>
          </p:cNvPicPr>
          <p:nvPr/>
        </p:nvPicPr>
        <p:blipFill>
          <a:blip r:embed="rId5"/>
          <a:stretch>
            <a:fillRect/>
          </a:stretch>
        </p:blipFill>
        <p:spPr>
          <a:xfrm>
            <a:off x="5820380" y="1280160"/>
            <a:ext cx="5671574"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ECW ratio above 0.390 signals inflammation or water retention, and InBody shows which segment.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Phase Angle</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32</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200">
                <a:solidFill>
                  <a:srgbClr val="181D27"/>
                </a:solidFill>
                <a:latin typeface="Calibri"/>
              </a:rPr>
              <a:t>Phase angle represents the structural integrity and physiological function of the cells, and is used for nutritional assessment.</a:t>
            </a:r>
          </a:p>
          <a:p>
            <a:pPr marL="228600" indent="-228600">
              <a:spcAft>
                <a:spcPts val="600"/>
              </a:spcAft>
              <a:buChar char="•"/>
            </a:pPr>
            <a:r>
              <a:rPr sz="1200">
                <a:solidFill>
                  <a:srgbClr val="181D27"/>
                </a:solidFill>
                <a:latin typeface="Calibri"/>
              </a:rPr>
              <a:t>Healthy cells with high membrane integrity → High phase angle.</a:t>
            </a:r>
          </a:p>
          <a:p>
            <a:pPr marL="228600" indent="-228600">
              <a:spcAft>
                <a:spcPts val="600"/>
              </a:spcAft>
              <a:buChar char="•"/>
            </a:pPr>
            <a:r>
              <a:rPr sz="1200">
                <a:solidFill>
                  <a:srgbClr val="181D27"/>
                </a:solidFill>
                <a:latin typeface="Calibri"/>
              </a:rPr>
              <a:t>Damaged cells or low cell density → Low phase angle.</a:t>
            </a:r>
          </a:p>
          <a:p>
            <a:pPr marL="228600" indent="-228600">
              <a:spcAft>
                <a:spcPts val="600"/>
              </a:spcAft>
              <a:buChar char="•"/>
            </a:pPr>
            <a:r>
              <a:rPr sz="1200">
                <a:solidFill>
                  <a:srgbClr val="181D27"/>
                </a:solidFill>
                <a:latin typeface="Calibri"/>
              </a:rPr>
              <a:t>Improvements in cell membrane and function → phase angle increases.</a:t>
            </a:r>
          </a:p>
          <a:p>
            <a:pPr marL="228600" indent="-228600">
              <a:spcAft>
                <a:spcPts val="600"/>
              </a:spcAft>
              <a:buChar char="•"/>
            </a:pPr>
            <a:r>
              <a:rPr sz="1200">
                <a:solidFill>
                  <a:srgbClr val="181D27"/>
                </a:solidFill>
                <a:latin typeface="Calibri"/>
              </a:rPr>
              <a:t>Deterioration of cell integrity and selective permeability → phase angle decreases.</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29.png"/>
          <p:cNvPicPr>
            <a:picLocks noChangeAspect="1"/>
          </p:cNvPicPr>
          <p:nvPr/>
        </p:nvPicPr>
        <p:blipFill>
          <a:blip r:embed="rId5"/>
          <a:stretch>
            <a:fillRect/>
          </a:stretch>
        </p:blipFill>
        <p:spPr>
          <a:xfrm>
            <a:off x="5760720" y="2199170"/>
            <a:ext cx="5790895" cy="200245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Higher phase angle = healthier, more intact cells.</a:t>
            </a:r>
          </a:p>
        </p:txBody>
      </p:sp>
    </p:spTree>
    <p:extLst>
      <p:ext uri="{BB962C8B-B14F-4D97-AF65-F5344CB8AC3E}">
        <p14:creationId xmlns:p14="http://schemas.microsoft.com/office/powerpoint/2010/main" val="7091917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53492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5349240" cy="566928"/>
          </a:xfrm>
          <a:prstGeom prst="rect">
            <a:avLst/>
          </a:prstGeom>
          <a:noFill/>
        </p:spPr>
        <p:txBody>
          <a:bodyPr wrap="square" lIns="0" rIns="0" tIns="0" bIns="0" anchor="ctr">
            <a:spAutoFit/>
          </a:bodyPr>
          <a:lstStyle/>
          <a:p>
            <a:pPr algn="ctr"/>
            <a:r>
              <a:rPr sz="1900" b="1" i="0">
                <a:solidFill>
                  <a:srgbClr val="FFFFFF"/>
                </a:solidFill>
                <a:latin typeface="Calibri"/>
              </a:rPr>
              <a:t>Phase Angle: Resistance &amp; Reactance</a:t>
            </a:r>
          </a:p>
        </p:txBody>
      </p:sp>
      <p:sp>
        <p:nvSpPr>
          <p:cNvPr id="4" name="TextBox 3"/>
          <p:cNvSpPr txBox="1"/>
          <p:nvPr/>
        </p:nvSpPr>
        <p:spPr>
          <a:xfrm>
            <a:off x="6035040" y="320040"/>
            <a:ext cx="387065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6"/>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33</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7"/>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Sending alternating current through the body gives impedance (Z) values, which can be separated into resistance (R) and reactance (Xc).</a:t>
            </a:r>
          </a:p>
          <a:p>
            <a:pPr>
              <a:spcAft>
                <a:spcPts val="600"/>
              </a:spcAft>
            </a:pPr>
            <a:r>
              <a:rPr sz="1300">
                <a:solidFill>
                  <a:srgbClr val="181D27"/>
                </a:solidFill>
                <a:latin typeface="Calibri"/>
              </a:rPr>
              <a:t>Phase angle represents Xc relative to R: it increases as Xc increases and decreases as Xc decreases.</a:t>
            </a:r>
          </a:p>
          <a:p>
            <a:pPr>
              <a:spcAft>
                <a:spcPts val="600"/>
              </a:spcAft>
            </a:pPr>
            <a:r>
              <a:rPr sz="1300">
                <a:solidFill>
                  <a:srgbClr val="181D27"/>
                </a:solidFill>
                <a:latin typeface="Calibri"/>
              </a:rPr>
              <a:t>Source: Clinical Nutrition 2004;23:1226–1243</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30.png"/>
          <p:cNvPicPr>
            <a:picLocks noChangeAspect="1"/>
          </p:cNvPicPr>
          <p:nvPr/>
        </p:nvPicPr>
        <p:blipFill>
          <a:blip r:embed="rId8"/>
          <a:stretch>
            <a:fillRect/>
          </a:stretch>
        </p:blipFill>
        <p:spPr>
          <a:xfrm>
            <a:off x="5760720" y="2323796"/>
            <a:ext cx="5790895" cy="1753206"/>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9"/>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Phase angle rises with reactance (Xc), a measure of healthy cell membranes.</a:t>
            </a:r>
          </a:p>
        </p:txBody>
      </p:sp>
    </p:spTree>
    <p:extLst>
      <p:ext uri="{BB962C8B-B14F-4D97-AF65-F5344CB8AC3E}">
        <p14:creationId xmlns:p14="http://schemas.microsoft.com/office/powerpoint/2010/main" val="1060171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6839" name="Freeform: Shape 26838"/>
          <p:cNvSpPr/>
          <p:nvPr/>
        </p:nvSpPr>
        <p:spPr>
          <a:xfrm>
            <a:off x="2499987" y="5927040"/>
            <a:ext cx="7430039" cy="152640"/>
          </a:xfrm>
          <a:custGeom>
            <a:avLst/>
            <a:gdLst/>
            <a:ahLst/>
            <a:cxnLst/>
            <a:rect l="0" t="0" r="r" b="b"/>
            <a:pathLst>
              <a:path w="20639" h="424">
                <a:moveTo>
                  <a:pt x="0" y="424"/>
                </a:moveTo>
                <a:lnTo>
                  <a:pt x="20639" y="424"/>
                </a:lnTo>
                <a:lnTo>
                  <a:pt x="20639" y="0"/>
                </a:lnTo>
                <a:lnTo>
                  <a:pt x="0" y="0"/>
                </a:lnTo>
                <a:lnTo>
                  <a:pt x="0" y="424"/>
                </a:lnTo>
                <a:close/>
              </a:path>
            </a:pathLst>
          </a:custGeom>
          <a:solidFill>
            <a:srgbClr val="B50937"/>
          </a:solidFill>
          <a:ln w="0">
            <a:noFill/>
          </a:ln>
        </p:spPr>
        <p:txBody>
          <a:bodyPr lIns="0" tIns="0" rIns="0" bIns="0" anchor="t">
            <a:noAutofit/>
          </a:bodyPr>
          <a:lstStyle/>
          <a:p>
            <a:endParaRPr lang="en-US" sz="2400" spc="-1">
              <a:solidFill>
                <a:srgbClr val="FFFFFF"/>
              </a:solidFill>
              <a:latin typeface="Times New Roman"/>
            </a:endParaRPr>
          </a:p>
        </p:txBody>
      </p:sp>
      <p:sp>
        <p:nvSpPr>
          <p:cNvPr id="26840" name="Straight Connector 26839"/>
          <p:cNvSpPr/>
          <p:nvPr/>
        </p:nvSpPr>
        <p:spPr>
          <a:xfrm>
            <a:off x="2499987" y="1097280"/>
            <a:ext cx="7429680" cy="0"/>
          </a:xfrm>
          <a:prstGeom prst="line">
            <a:avLst/>
          </a:prstGeom>
          <a:ln w="63360">
            <a:solidFill>
              <a:srgbClr val="7F7F7F"/>
            </a:solidFill>
            <a:miter/>
          </a:ln>
        </p:spPr>
        <p:style>
          <a:lnRef idx="0">
            <a:scrgbClr r="0" g="0" b="0"/>
          </a:lnRef>
          <a:fillRef idx="0">
            <a:scrgbClr r="0" g="0" b="0"/>
          </a:fillRef>
          <a:effectRef idx="0">
            <a:scrgbClr r="0" g="0" b="0"/>
          </a:effectRef>
          <a:fontRef idx="minor"/>
        </p:style>
        <p:txBody>
          <a:bodyPr lIns="31680" tIns="-31680" rIns="31680" bIns="-31680" anchor="t">
            <a:noAutofit/>
          </a:bodyPr>
          <a:lstStyle/>
          <a:p>
            <a:endParaRPr lang="en-US" sz="2400" spc="-1">
              <a:solidFill>
                <a:srgbClr val="000000"/>
              </a:solidFill>
              <a:latin typeface="Times New Roman"/>
            </a:endParaRPr>
          </a:p>
        </p:txBody>
      </p:sp>
      <p:pic>
        <p:nvPicPr>
          <p:cNvPr id="26842" name="Picture 26841"/>
          <p:cNvPicPr/>
          <p:nvPr/>
        </p:nvPicPr>
        <p:blipFill>
          <a:blip r:embed="rId3"/>
          <a:stretch/>
        </p:blipFill>
        <p:spPr>
          <a:xfrm>
            <a:off x="7662027" y="1150920"/>
            <a:ext cx="3193920" cy="4484880"/>
          </a:xfrm>
          <a:prstGeom prst="rect">
            <a:avLst/>
          </a:prstGeom>
          <a:ln w="0">
            <a:noFill/>
          </a:ln>
        </p:spPr>
      </p:pic>
      <p:pic>
        <p:nvPicPr>
          <p:cNvPr id="26843" name="Picture 26842"/>
          <p:cNvPicPr/>
          <p:nvPr/>
        </p:nvPicPr>
        <p:blipFill>
          <a:blip r:embed="rId4"/>
          <a:stretch/>
        </p:blipFill>
        <p:spPr>
          <a:xfrm>
            <a:off x="1335747" y="1143360"/>
            <a:ext cx="3168000" cy="4486320"/>
          </a:xfrm>
          <a:prstGeom prst="rect">
            <a:avLst/>
          </a:prstGeom>
          <a:ln w="0">
            <a:noFill/>
          </a:ln>
        </p:spPr>
      </p:pic>
      <p:pic>
        <p:nvPicPr>
          <p:cNvPr id="26844" name="Picture 26843"/>
          <p:cNvPicPr/>
          <p:nvPr/>
        </p:nvPicPr>
        <p:blipFill>
          <a:blip r:embed="rId5"/>
          <a:stretch/>
        </p:blipFill>
        <p:spPr>
          <a:xfrm>
            <a:off x="4475307" y="1141920"/>
            <a:ext cx="3186360" cy="4486320"/>
          </a:xfrm>
          <a:prstGeom prst="rect">
            <a:avLst/>
          </a:prstGeom>
          <a:ln w="0">
            <a:noFill/>
          </a:ln>
        </p:spPr>
      </p:pic>
      <p:sp>
        <p:nvSpPr>
          <p:cNvPr id="26846" name="TextBox 26845"/>
          <p:cNvSpPr txBox="1"/>
          <p:nvPr/>
        </p:nvSpPr>
        <p:spPr>
          <a:xfrm>
            <a:off x="8605227" y="5609160"/>
            <a:ext cx="1166760" cy="227520"/>
          </a:xfrm>
          <a:prstGeom prst="rect">
            <a:avLst/>
          </a:prstGeom>
          <a:noFill/>
          <a:ln w="0">
            <a:noFill/>
          </a:ln>
        </p:spPr>
        <p:txBody>
          <a:bodyPr wrap="none" lIns="0" tIns="0" rIns="0" bIns="0" anchor="t">
            <a:noAutofit/>
          </a:bodyPr>
          <a:lstStyle/>
          <a:p>
            <a:r>
              <a:rPr lang="en-US" sz="1470" b="1" spc="-1">
                <a:solidFill>
                  <a:srgbClr val="000000"/>
                </a:solidFill>
                <a:latin typeface="Calibri"/>
                <a:ea typeface="Calibri"/>
              </a:rPr>
              <a:t>[Normal Stage]</a:t>
            </a:r>
            <a:endParaRPr lang="en-US" sz="1470" spc="-1">
              <a:solidFill>
                <a:srgbClr val="000000"/>
              </a:solidFill>
              <a:latin typeface="Times New Roman"/>
            </a:endParaRPr>
          </a:p>
        </p:txBody>
      </p:sp>
      <p:sp>
        <p:nvSpPr>
          <p:cNvPr id="26847" name="TextBox 26846"/>
          <p:cNvSpPr txBox="1"/>
          <p:nvPr/>
        </p:nvSpPr>
        <p:spPr>
          <a:xfrm>
            <a:off x="2381547" y="5626800"/>
            <a:ext cx="1040040" cy="227520"/>
          </a:xfrm>
          <a:prstGeom prst="rect">
            <a:avLst/>
          </a:prstGeom>
          <a:noFill/>
          <a:ln w="0">
            <a:noFill/>
          </a:ln>
        </p:spPr>
        <p:txBody>
          <a:bodyPr wrap="none" lIns="0" tIns="0" rIns="0" bIns="0" anchor="t">
            <a:noAutofit/>
          </a:bodyPr>
          <a:lstStyle/>
          <a:p>
            <a:r>
              <a:rPr lang="en-US" sz="1470" b="1" spc="-1">
                <a:solidFill>
                  <a:srgbClr val="000000"/>
                </a:solidFill>
                <a:latin typeface="Calibri"/>
                <a:ea typeface="Calibri"/>
              </a:rPr>
              <a:t>[Injury Stage]</a:t>
            </a:r>
            <a:endParaRPr lang="en-US" sz="1470" spc="-1">
              <a:solidFill>
                <a:srgbClr val="000000"/>
              </a:solidFill>
              <a:latin typeface="Times New Roman"/>
            </a:endParaRPr>
          </a:p>
        </p:txBody>
      </p:sp>
      <p:sp>
        <p:nvSpPr>
          <p:cNvPr id="26848" name="Freeform: Shape 26847"/>
          <p:cNvSpPr/>
          <p:nvPr/>
        </p:nvSpPr>
        <p:spPr>
          <a:xfrm>
            <a:off x="9709347" y="4630680"/>
            <a:ext cx="948240" cy="204840"/>
          </a:xfrm>
          <a:custGeom>
            <a:avLst/>
            <a:gdLst/>
            <a:ahLst/>
            <a:cxnLst/>
            <a:rect l="0" t="0" r="r" b="b"/>
            <a:pathLst>
              <a:path w="2634" h="569">
                <a:moveTo>
                  <a:pt x="0" y="569"/>
                </a:moveTo>
                <a:lnTo>
                  <a:pt x="2634" y="569"/>
                </a:lnTo>
                <a:lnTo>
                  <a:pt x="2634" y="0"/>
                </a:lnTo>
                <a:lnTo>
                  <a:pt x="0" y="0"/>
                </a:lnTo>
                <a:lnTo>
                  <a:pt x="0" y="569"/>
                </a:lnTo>
                <a:close/>
              </a:path>
            </a:pathLst>
          </a:custGeom>
          <a:noFill/>
          <a:ln w="28440">
            <a:solidFill>
              <a:srgbClr val="B50937"/>
            </a:solidFill>
            <a:miter/>
          </a:ln>
        </p:spPr>
        <p:txBody>
          <a:bodyPr lIns="14040" tIns="14040" rIns="14040" bIns="14040" anchor="t">
            <a:noAutofit/>
          </a:bodyPr>
          <a:lstStyle/>
          <a:p>
            <a:endParaRPr lang="en-US" sz="2400" spc="-1">
              <a:solidFill>
                <a:srgbClr val="000000"/>
              </a:solidFill>
              <a:latin typeface="Times New Roman"/>
            </a:endParaRPr>
          </a:p>
        </p:txBody>
      </p:sp>
      <p:sp>
        <p:nvSpPr>
          <p:cNvPr id="26849" name="Freeform: Shape 26848"/>
          <p:cNvSpPr/>
          <p:nvPr/>
        </p:nvSpPr>
        <p:spPr>
          <a:xfrm>
            <a:off x="3381627" y="4630680"/>
            <a:ext cx="946800" cy="204840"/>
          </a:xfrm>
          <a:custGeom>
            <a:avLst/>
            <a:gdLst/>
            <a:ahLst/>
            <a:cxnLst/>
            <a:rect l="0" t="0" r="r" b="b"/>
            <a:pathLst>
              <a:path w="2630" h="569">
                <a:moveTo>
                  <a:pt x="0" y="569"/>
                </a:moveTo>
                <a:lnTo>
                  <a:pt x="2630" y="569"/>
                </a:lnTo>
                <a:lnTo>
                  <a:pt x="2630" y="0"/>
                </a:lnTo>
                <a:lnTo>
                  <a:pt x="0" y="0"/>
                </a:lnTo>
                <a:lnTo>
                  <a:pt x="0" y="569"/>
                </a:lnTo>
                <a:close/>
              </a:path>
            </a:pathLst>
          </a:custGeom>
          <a:noFill/>
          <a:ln w="28440">
            <a:solidFill>
              <a:srgbClr val="B50937"/>
            </a:solidFill>
            <a:miter/>
          </a:ln>
        </p:spPr>
        <p:txBody>
          <a:bodyPr lIns="14040" tIns="14040" rIns="14040" bIns="14040" anchor="t">
            <a:noAutofit/>
          </a:bodyPr>
          <a:lstStyle/>
          <a:p>
            <a:endParaRPr lang="en-US" sz="2400" spc="-1">
              <a:solidFill>
                <a:srgbClr val="000000"/>
              </a:solidFill>
              <a:latin typeface="Times New Roman"/>
            </a:endParaRPr>
          </a:p>
        </p:txBody>
      </p:sp>
      <p:sp>
        <p:nvSpPr>
          <p:cNvPr id="26850" name="Freeform: Shape 26849"/>
          <p:cNvSpPr/>
          <p:nvPr/>
        </p:nvSpPr>
        <p:spPr>
          <a:xfrm>
            <a:off x="6525867" y="4630680"/>
            <a:ext cx="948240" cy="204840"/>
          </a:xfrm>
          <a:custGeom>
            <a:avLst/>
            <a:gdLst/>
            <a:ahLst/>
            <a:cxnLst/>
            <a:rect l="0" t="0" r="r" b="b"/>
            <a:pathLst>
              <a:path w="2634" h="569">
                <a:moveTo>
                  <a:pt x="0" y="569"/>
                </a:moveTo>
                <a:lnTo>
                  <a:pt x="2634" y="569"/>
                </a:lnTo>
                <a:lnTo>
                  <a:pt x="2634" y="0"/>
                </a:lnTo>
                <a:lnTo>
                  <a:pt x="0" y="0"/>
                </a:lnTo>
                <a:lnTo>
                  <a:pt x="0" y="569"/>
                </a:lnTo>
                <a:close/>
              </a:path>
            </a:pathLst>
          </a:custGeom>
          <a:noFill/>
          <a:ln w="28440">
            <a:solidFill>
              <a:srgbClr val="B50937"/>
            </a:solidFill>
            <a:miter/>
          </a:ln>
        </p:spPr>
        <p:txBody>
          <a:bodyPr lIns="14040" tIns="14040" rIns="14040" bIns="14040" anchor="t">
            <a:noAutofit/>
          </a:bodyPr>
          <a:lstStyle/>
          <a:p>
            <a:endParaRPr lang="en-US" sz="2400" spc="-1">
              <a:solidFill>
                <a:srgbClr val="000000"/>
              </a:solidFill>
              <a:latin typeface="Times New Roman"/>
            </a:endParaRPr>
          </a:p>
        </p:txBody>
      </p:sp>
      <p:sp>
        <p:nvSpPr>
          <p:cNvPr id="26851" name="Freeform: Shape 26850"/>
          <p:cNvSpPr/>
          <p:nvPr/>
        </p:nvSpPr>
        <p:spPr>
          <a:xfrm>
            <a:off x="1857747" y="4034880"/>
            <a:ext cx="376560" cy="474480"/>
          </a:xfrm>
          <a:custGeom>
            <a:avLst/>
            <a:gdLst/>
            <a:ahLst/>
            <a:cxnLst/>
            <a:rect l="0" t="0" r="r" b="b"/>
            <a:pathLst>
              <a:path w="1046" h="1318">
                <a:moveTo>
                  <a:pt x="0" y="1318"/>
                </a:moveTo>
                <a:lnTo>
                  <a:pt x="1046" y="1318"/>
                </a:lnTo>
                <a:lnTo>
                  <a:pt x="1046" y="0"/>
                </a:lnTo>
                <a:lnTo>
                  <a:pt x="0" y="0"/>
                </a:lnTo>
                <a:lnTo>
                  <a:pt x="0" y="1318"/>
                </a:lnTo>
                <a:close/>
              </a:path>
            </a:pathLst>
          </a:custGeom>
          <a:noFill/>
          <a:ln w="28440">
            <a:solidFill>
              <a:srgbClr val="B50937"/>
            </a:solidFill>
            <a:miter/>
          </a:ln>
        </p:spPr>
        <p:txBody>
          <a:bodyPr lIns="14040" tIns="14040" rIns="14040" bIns="14040" anchor="t">
            <a:noAutofit/>
          </a:bodyPr>
          <a:lstStyle/>
          <a:p>
            <a:endParaRPr lang="en-US" sz="2400" spc="-1">
              <a:solidFill>
                <a:srgbClr val="000000"/>
              </a:solidFill>
              <a:latin typeface="Times New Roman"/>
            </a:endParaRPr>
          </a:p>
        </p:txBody>
      </p:sp>
      <p:sp>
        <p:nvSpPr>
          <p:cNvPr id="26852" name="Freeform: Shape 26851"/>
          <p:cNvSpPr/>
          <p:nvPr/>
        </p:nvSpPr>
        <p:spPr>
          <a:xfrm>
            <a:off x="4998747" y="4034880"/>
            <a:ext cx="375120" cy="474480"/>
          </a:xfrm>
          <a:custGeom>
            <a:avLst/>
            <a:gdLst/>
            <a:ahLst/>
            <a:cxnLst/>
            <a:rect l="0" t="0" r="r" b="b"/>
            <a:pathLst>
              <a:path w="1042" h="1318">
                <a:moveTo>
                  <a:pt x="0" y="1318"/>
                </a:moveTo>
                <a:lnTo>
                  <a:pt x="1042" y="1318"/>
                </a:lnTo>
                <a:lnTo>
                  <a:pt x="1042" y="0"/>
                </a:lnTo>
                <a:lnTo>
                  <a:pt x="0" y="0"/>
                </a:lnTo>
                <a:lnTo>
                  <a:pt x="0" y="1318"/>
                </a:lnTo>
                <a:close/>
              </a:path>
            </a:pathLst>
          </a:custGeom>
          <a:noFill/>
          <a:ln w="28440">
            <a:solidFill>
              <a:srgbClr val="B50937"/>
            </a:solidFill>
            <a:miter/>
          </a:ln>
        </p:spPr>
        <p:txBody>
          <a:bodyPr lIns="14040" tIns="14040" rIns="14040" bIns="14040" anchor="t">
            <a:noAutofit/>
          </a:bodyPr>
          <a:lstStyle/>
          <a:p>
            <a:endParaRPr lang="en-US" sz="2400" spc="-1">
              <a:solidFill>
                <a:srgbClr val="000000"/>
              </a:solidFill>
              <a:latin typeface="Times New Roman"/>
            </a:endParaRPr>
          </a:p>
        </p:txBody>
      </p:sp>
      <p:sp>
        <p:nvSpPr>
          <p:cNvPr id="26853" name="Freeform: Shape 26852"/>
          <p:cNvSpPr/>
          <p:nvPr/>
        </p:nvSpPr>
        <p:spPr>
          <a:xfrm>
            <a:off x="8223267" y="4197960"/>
            <a:ext cx="1485000" cy="203040"/>
          </a:xfrm>
          <a:custGeom>
            <a:avLst/>
            <a:gdLst/>
            <a:ahLst/>
            <a:cxnLst/>
            <a:rect l="0" t="0" r="r" b="b"/>
            <a:pathLst>
              <a:path w="4125" h="564">
                <a:moveTo>
                  <a:pt x="0" y="564"/>
                </a:moveTo>
                <a:lnTo>
                  <a:pt x="4125" y="564"/>
                </a:lnTo>
                <a:lnTo>
                  <a:pt x="4125" y="0"/>
                </a:lnTo>
                <a:lnTo>
                  <a:pt x="0" y="0"/>
                </a:lnTo>
                <a:lnTo>
                  <a:pt x="0" y="564"/>
                </a:lnTo>
                <a:close/>
              </a:path>
            </a:pathLst>
          </a:custGeom>
          <a:noFill/>
          <a:ln w="28440">
            <a:solidFill>
              <a:srgbClr val="B50937"/>
            </a:solidFill>
            <a:miter/>
          </a:ln>
        </p:spPr>
        <p:txBody>
          <a:bodyPr lIns="14040" tIns="14040" rIns="14040" bIns="14040" anchor="t">
            <a:noAutofit/>
          </a:bodyPr>
          <a:lstStyle/>
          <a:p>
            <a:endParaRPr lang="en-US" sz="2400" spc="-1">
              <a:solidFill>
                <a:srgbClr val="000000"/>
              </a:solidFill>
              <a:latin typeface="Times New Roman"/>
            </a:endParaRPr>
          </a:p>
        </p:txBody>
      </p:sp>
      <p:sp>
        <p:nvSpPr>
          <p:cNvPr id="26854" name="TextBox 26853"/>
          <p:cNvSpPr txBox="1"/>
          <p:nvPr/>
        </p:nvSpPr>
        <p:spPr>
          <a:xfrm>
            <a:off x="5448387" y="5580000"/>
            <a:ext cx="1325160" cy="227520"/>
          </a:xfrm>
          <a:prstGeom prst="rect">
            <a:avLst/>
          </a:prstGeom>
          <a:noFill/>
          <a:ln w="0">
            <a:noFill/>
          </a:ln>
        </p:spPr>
        <p:txBody>
          <a:bodyPr wrap="none" lIns="0" tIns="0" rIns="0" bIns="0" anchor="t">
            <a:noAutofit/>
          </a:bodyPr>
          <a:lstStyle/>
          <a:p>
            <a:r>
              <a:rPr lang="en-US" sz="1470" b="1" spc="-1">
                <a:solidFill>
                  <a:srgbClr val="000000"/>
                </a:solidFill>
                <a:latin typeface="Calibri"/>
                <a:ea typeface="Calibri"/>
              </a:rPr>
              <a:t>[Injury Recovery]</a:t>
            </a:r>
            <a:endParaRPr lang="en-US" sz="1470" spc="-1">
              <a:solidFill>
                <a:srgbClr val="000000"/>
              </a:solidFill>
              <a:latin typeface="Times New Roman"/>
            </a:endParaRPr>
          </a:p>
        </p:txBody>
      </p:sp>
      <p:sp>
        <p:nvSpPr>
          <p:cNvPr id="26855" name="Rectangle 26854"/>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56" name="TextBox 26855"/>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Injury Management</a:t>
            </a:r>
          </a:p>
        </p:txBody>
      </p:sp>
      <p:sp>
        <p:nvSpPr>
          <p:cNvPr id="26857" name="TextBox 26856"/>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26858" name="Picture 26857" descr="logo_red.png"/>
          <p:cNvPicPr>
            <a:picLocks noChangeAspect="1"/>
          </p:cNvPicPr>
          <p:nvPr/>
        </p:nvPicPr>
        <p:blipFill>
          <a:blip r:embed="rId6"/>
          <a:stretch>
            <a:fillRect/>
          </a:stretch>
        </p:blipFill>
        <p:spPr>
          <a:xfrm>
            <a:off x="10436918" y="420624"/>
            <a:ext cx="1297577" cy="365760"/>
          </a:xfrm>
          <a:prstGeom prst="rect">
            <a:avLst/>
          </a:prstGeom>
        </p:spPr>
      </p:pic>
      <p:sp>
        <p:nvSpPr>
          <p:cNvPr id="26859" name="TextBox 26858"/>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6860" name="TextBox 26859"/>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34</a:t>
            </a:r>
          </a:p>
        </p:txBody>
      </p:sp>
    </p:spTree>
    <p:extLst>
      <p:ext uri="{BB962C8B-B14F-4D97-AF65-F5344CB8AC3E}">
        <p14:creationId xmlns:p14="http://schemas.microsoft.com/office/powerpoint/2010/main" val="13014508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365760"/>
          </a:xfrm>
          <a:prstGeom prst="rect">
            <a:avLst/>
          </a:prstGeom>
          <a:noFill/>
        </p:spPr>
        <p:txBody>
          <a:bodyPr wrap="square" lIns="0" rIns="0" tIns="0" bIns="0" anchor="ctr">
            <a:spAutoFit/>
          </a:bodyPr>
          <a:lstStyle/>
          <a:p>
            <a:pPr algn="l"/>
            <a:r>
              <a:rPr sz="1100" b="1" i="0" spc="200">
                <a:solidFill>
                  <a:srgbClr val="B50937"/>
                </a:solidFill>
                <a:latin typeface="Calibri"/>
              </a:rPr>
              <a:t>SESSION 3  ·  RESULT SHEET INTERPRETATION – PART 2: CLINICAL INTERPRETATION</a:t>
            </a:r>
          </a:p>
        </p:txBody>
      </p:sp>
      <p:sp>
        <p:nvSpPr>
          <p:cNvPr id="4" name="TextBox 3"/>
          <p:cNvSpPr txBox="1"/>
          <p:nvPr/>
        </p:nvSpPr>
        <p:spPr>
          <a:xfrm>
            <a:off x="914400" y="2788920"/>
            <a:ext cx="10332720" cy="1097280"/>
          </a:xfrm>
          <a:prstGeom prst="rect">
            <a:avLst/>
          </a:prstGeom>
          <a:noFill/>
        </p:spPr>
        <p:txBody>
          <a:bodyPr wrap="square" lIns="0" rIns="0" tIns="0" bIns="0" anchor="t">
            <a:spAutoFit/>
          </a:bodyPr>
          <a:lstStyle/>
          <a:p>
            <a:pPr algn="l"/>
            <a:r>
              <a:rPr sz="4000" b="1" i="0">
                <a:solidFill>
                  <a:srgbClr val="181D27"/>
                </a:solidFill>
                <a:latin typeface="Cambria"/>
              </a:rPr>
              <a:t>Additional Parameters</a:t>
            </a:r>
          </a:p>
        </p:txBody>
      </p:sp>
      <p:sp>
        <p:nvSpPr>
          <p:cNvPr id="5" name="Rectangle 4"/>
          <p:cNvSpPr/>
          <p:nvPr/>
        </p:nvSpPr>
        <p:spPr>
          <a:xfrm>
            <a:off x="914400" y="3977639"/>
            <a:ext cx="1097280" cy="73152"/>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red.png"/>
          <p:cNvPicPr>
            <a:picLocks noChangeAspect="1"/>
          </p:cNvPicPr>
          <p:nvPr/>
        </p:nvPicPr>
        <p:blipFill>
          <a:blip r:embed="rId3"/>
          <a:stretch>
            <a:fillRect/>
          </a:stretch>
        </p:blipFill>
        <p:spPr>
          <a:xfrm>
            <a:off x="10436918" y="420624"/>
            <a:ext cx="1297577" cy="36576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35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56235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5623559" cy="566928"/>
          </a:xfrm>
          <a:prstGeom prst="rect">
            <a:avLst/>
          </a:prstGeom>
          <a:noFill/>
        </p:spPr>
        <p:txBody>
          <a:bodyPr wrap="square" lIns="0" rIns="0" tIns="0" bIns="0" anchor="ctr">
            <a:spAutoFit/>
          </a:bodyPr>
          <a:lstStyle/>
          <a:p>
            <a:pPr algn="ctr"/>
            <a:r>
              <a:rPr sz="1900" b="1" i="0">
                <a:solidFill>
                  <a:srgbClr val="FFFFFF"/>
                </a:solidFill>
                <a:latin typeface="Calibri"/>
              </a:rPr>
              <a:t>Muscle Quality Assessment (ECW Ratio)</a:t>
            </a:r>
          </a:p>
        </p:txBody>
      </p:sp>
      <p:sp>
        <p:nvSpPr>
          <p:cNvPr id="4" name="TextBox 3"/>
          <p:cNvSpPr txBox="1"/>
          <p:nvPr/>
        </p:nvSpPr>
        <p:spPr>
          <a:xfrm>
            <a:off x="6309359" y="320040"/>
            <a:ext cx="359633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9"/>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36</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10"/>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Positive case</a:t>
            </a:r>
          </a:p>
          <a:p>
            <a:pPr>
              <a:spcAft>
                <a:spcPts val="600"/>
              </a:spcAft>
            </a:pPr>
            <a:r>
              <a:rPr sz="1300">
                <a:solidFill>
                  <a:srgbClr val="181D27"/>
                </a:solidFill>
                <a:latin typeface="Calibri"/>
              </a:rPr>
              <a:t>Weight decreased 2 kg, muscle held at 37.6 kg, and percent body fat fell by 2.1%.</a:t>
            </a:r>
          </a:p>
          <a:p>
            <a:pPr>
              <a:spcBef>
                <a:spcPts val="400"/>
              </a:spcBef>
              <a:spcAft>
                <a:spcPts val="200"/>
              </a:spcAft>
            </a:pPr>
            <a:r>
              <a:rPr sz="1300" b="1">
                <a:solidFill>
                  <a:srgbClr val="B50937"/>
                </a:solidFill>
                <a:latin typeface="Calibri"/>
              </a:rPr>
              <a:t>Negative case</a:t>
            </a:r>
          </a:p>
          <a:p>
            <a:pPr>
              <a:spcAft>
                <a:spcPts val="600"/>
              </a:spcAft>
            </a:pPr>
            <a:r>
              <a:rPr sz="1300">
                <a:solidFill>
                  <a:srgbClr val="181D27"/>
                </a:solidFill>
                <a:latin typeface="Calibri"/>
              </a:rPr>
              <a:t>Weight stayed almost the same, but slow muscle loss led to a higher percent body fat.</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33.png"/>
          <p:cNvPicPr>
            <a:picLocks noChangeAspect="1"/>
          </p:cNvPicPr>
          <p:nvPr/>
        </p:nvPicPr>
        <p:blipFill>
          <a:blip r:embed="rId11"/>
          <a:stretch>
            <a:fillRect/>
          </a:stretch>
        </p:blipFill>
        <p:spPr>
          <a:xfrm>
            <a:off x="5760720" y="1868803"/>
            <a:ext cx="5790895" cy="2663192"/>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12"/>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The scale can hide muscle loss: the body composition history shows the real trend.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52627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4526279" cy="566928"/>
          </a:xfrm>
          <a:prstGeom prst="rect">
            <a:avLst/>
          </a:prstGeom>
          <a:noFill/>
        </p:spPr>
        <p:txBody>
          <a:bodyPr wrap="square" lIns="0" rIns="0" tIns="0" bIns="0" anchor="ctr">
            <a:spAutoFit/>
          </a:bodyPr>
          <a:lstStyle/>
          <a:p>
            <a:pPr algn="ctr"/>
            <a:r>
              <a:rPr sz="2200" b="1" i="0">
                <a:solidFill>
                  <a:srgbClr val="FFFFFF"/>
                </a:solidFill>
                <a:latin typeface="Calibri"/>
              </a:rPr>
              <a:t>Weight Control &amp; InBody Score</a:t>
            </a:r>
          </a:p>
        </p:txBody>
      </p:sp>
      <p:sp>
        <p:nvSpPr>
          <p:cNvPr id="4" name="TextBox 3"/>
          <p:cNvSpPr txBox="1"/>
          <p:nvPr/>
        </p:nvSpPr>
        <p:spPr>
          <a:xfrm>
            <a:off x="5212079" y="320040"/>
            <a:ext cx="469361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37</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The full body composition report shows the person's target weight, how much fat to lose and how much muscle to gain.</a:t>
            </a:r>
          </a:p>
          <a:p>
            <a:pPr>
              <a:spcBef>
                <a:spcPts val="400"/>
              </a:spcBef>
              <a:spcAft>
                <a:spcPts val="200"/>
              </a:spcAft>
            </a:pPr>
            <a:r>
              <a:rPr sz="1300" b="1">
                <a:solidFill>
                  <a:srgbClr val="B50937"/>
                </a:solidFill>
                <a:latin typeface="Calibri"/>
              </a:rPr>
              <a:t>InBody Score</a:t>
            </a:r>
          </a:p>
          <a:p>
            <a:pPr>
              <a:spcAft>
                <a:spcPts val="600"/>
              </a:spcAft>
            </a:pPr>
            <a:r>
              <a:rPr sz="1300">
                <a:solidFill>
                  <a:srgbClr val="181D27"/>
                </a:solidFill>
                <a:latin typeface="Calibri"/>
              </a:rPr>
              <a:t>A score of 80 points indicates ideal body composition. A very muscular person can score over 100.</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34.png"/>
          <p:cNvPicPr>
            <a:picLocks noChangeAspect="1"/>
          </p:cNvPicPr>
          <p:nvPr/>
        </p:nvPicPr>
        <p:blipFill>
          <a:blip r:embed="rId6"/>
          <a:stretch>
            <a:fillRect/>
          </a:stretch>
        </p:blipFill>
        <p:spPr>
          <a:xfrm>
            <a:off x="5760720" y="2603148"/>
            <a:ext cx="5790895" cy="1194503"/>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Target weight, fat control and muscle control turn the result sheet into a clear plan.</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1546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154680" cy="566928"/>
          </a:xfrm>
          <a:prstGeom prst="rect">
            <a:avLst/>
          </a:prstGeom>
          <a:noFill/>
        </p:spPr>
        <p:txBody>
          <a:bodyPr wrap="square" lIns="0" rIns="0" tIns="0" bIns="0" anchor="ctr">
            <a:spAutoFit/>
          </a:bodyPr>
          <a:lstStyle/>
          <a:p>
            <a:pPr algn="ctr"/>
            <a:r>
              <a:rPr sz="2200" b="1" i="0">
                <a:solidFill>
                  <a:srgbClr val="FFFFFF"/>
                </a:solidFill>
                <a:latin typeface="Calibri"/>
              </a:rPr>
              <a:t>Research Parameters</a:t>
            </a:r>
          </a:p>
        </p:txBody>
      </p:sp>
      <p:sp>
        <p:nvSpPr>
          <p:cNvPr id="4" name="TextBox 3"/>
          <p:cNvSpPr txBox="1"/>
          <p:nvPr/>
        </p:nvSpPr>
        <p:spPr>
          <a:xfrm>
            <a:off x="3840480" y="320040"/>
            <a:ext cx="606521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38</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marL="228600" indent="-228600">
              <a:spcAft>
                <a:spcPts val="600"/>
              </a:spcAft>
              <a:buChar char="•"/>
            </a:pPr>
            <a:r>
              <a:rPr sz="1300">
                <a:solidFill>
                  <a:srgbClr val="181D27"/>
                </a:solidFill>
                <a:latin typeface="Calibri"/>
              </a:rPr>
              <a:t>Visceral Fat Area (VFA): cut-off 100 cm². Above it can indicate future cardiovascular issues.</a:t>
            </a:r>
          </a:p>
          <a:p>
            <a:pPr marL="228600" indent="-228600">
              <a:spcAft>
                <a:spcPts val="600"/>
              </a:spcAft>
              <a:buChar char="•"/>
            </a:pPr>
            <a:r>
              <a:rPr sz="1300">
                <a:solidFill>
                  <a:srgbClr val="181D27"/>
                </a:solidFill>
                <a:latin typeface="Calibri"/>
              </a:rPr>
              <a:t>ICW and ECW should always be in the normal ranges.</a:t>
            </a:r>
          </a:p>
          <a:p>
            <a:pPr marL="228600" indent="-228600">
              <a:spcAft>
                <a:spcPts val="600"/>
              </a:spcAft>
              <a:buChar char="•"/>
            </a:pPr>
            <a:r>
              <a:rPr sz="1300">
                <a:solidFill>
                  <a:srgbClr val="181D27"/>
                </a:solidFill>
                <a:latin typeface="Calibri"/>
              </a:rPr>
              <a:t>BMR can be tracked to see if metabolism is improving.</a:t>
            </a:r>
          </a:p>
          <a:p>
            <a:pPr marL="228600" indent="-228600">
              <a:spcAft>
                <a:spcPts val="600"/>
              </a:spcAft>
              <a:buChar char="•"/>
            </a:pPr>
            <a:r>
              <a:rPr sz="1300">
                <a:solidFill>
                  <a:srgbClr val="181D27"/>
                </a:solidFill>
                <a:latin typeface="Calibri"/>
              </a:rPr>
              <a:t>Waist-Hip Ratio: normal 0.75–0.85 (women), 0.80–0.90 (men).</a:t>
            </a:r>
          </a:p>
          <a:p>
            <a:pPr marL="228600" indent="-228600">
              <a:spcAft>
                <a:spcPts val="600"/>
              </a:spcAft>
              <a:buChar char="•"/>
            </a:pPr>
            <a:r>
              <a:rPr sz="1300">
                <a:solidFill>
                  <a:srgbClr val="181D27"/>
                </a:solidFill>
                <a:latin typeface="Calibri"/>
              </a:rPr>
              <a:t>Body Cell Mass = ICW + protein, which also shows health status.</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35.png"/>
          <p:cNvPicPr>
            <a:picLocks noChangeAspect="1"/>
          </p:cNvPicPr>
          <p:nvPr/>
        </p:nvPicPr>
        <p:blipFill>
          <a:blip r:embed="rId6"/>
          <a:stretch>
            <a:fillRect/>
          </a:stretch>
        </p:blipFill>
        <p:spPr>
          <a:xfrm>
            <a:off x="5760720" y="2363897"/>
            <a:ext cx="5790895" cy="1673005"/>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VFA above 100 cm² flags future cardiovascular risk.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50749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5074920" cy="566928"/>
          </a:xfrm>
          <a:prstGeom prst="rect">
            <a:avLst/>
          </a:prstGeom>
          <a:noFill/>
        </p:spPr>
        <p:txBody>
          <a:bodyPr wrap="square" lIns="0" rIns="0" tIns="0" bIns="0" anchor="ctr">
            <a:spAutoFit/>
          </a:bodyPr>
          <a:lstStyle/>
          <a:p>
            <a:pPr algn="ctr"/>
            <a:r>
              <a:rPr sz="2200" b="1" i="0">
                <a:solidFill>
                  <a:srgbClr val="FFFFFF"/>
                </a:solidFill>
                <a:latin typeface="Calibri"/>
              </a:rPr>
              <a:t>Nutritional Parameters – BMR, BCM</a:t>
            </a:r>
          </a:p>
        </p:txBody>
      </p:sp>
      <p:sp>
        <p:nvSpPr>
          <p:cNvPr id="4" name="TextBox 3"/>
          <p:cNvSpPr txBox="1"/>
          <p:nvPr/>
        </p:nvSpPr>
        <p:spPr>
          <a:xfrm>
            <a:off x="5760720" y="320040"/>
            <a:ext cx="414497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8"/>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39</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9"/>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Basal Metabolic Rate (BMR)</a:t>
            </a:r>
          </a:p>
          <a:p>
            <a:pPr>
              <a:spcAft>
                <a:spcPts val="600"/>
              </a:spcAft>
            </a:pPr>
            <a:r>
              <a:rPr sz="1300">
                <a:solidFill>
                  <a:srgbClr val="181D27"/>
                </a:solidFill>
                <a:latin typeface="Calibri"/>
              </a:rPr>
              <a:t>Calories you burn to maintain basic essential functions.</a:t>
            </a:r>
          </a:p>
          <a:p>
            <a:pPr>
              <a:spcBef>
                <a:spcPts val="400"/>
              </a:spcBef>
              <a:spcAft>
                <a:spcPts val="200"/>
              </a:spcAft>
            </a:pPr>
            <a:r>
              <a:rPr sz="1300" b="1">
                <a:solidFill>
                  <a:srgbClr val="B50937"/>
                </a:solidFill>
                <a:latin typeface="Calibri"/>
              </a:rPr>
              <a:t>Body Cell Mass (BCM)</a:t>
            </a:r>
          </a:p>
          <a:p>
            <a:pPr>
              <a:spcAft>
                <a:spcPts val="600"/>
              </a:spcAft>
            </a:pPr>
            <a:r>
              <a:rPr sz="1300">
                <a:solidFill>
                  <a:srgbClr val="181D27"/>
                </a:solidFill>
                <a:latin typeface="Calibri"/>
              </a:rPr>
              <a:t>Protein + ICW; useful for patients with edema.</a:t>
            </a:r>
          </a:p>
          <a:p>
            <a:pPr>
              <a:spcBef>
                <a:spcPts val="400"/>
              </a:spcBef>
              <a:spcAft>
                <a:spcPts val="200"/>
              </a:spcAft>
            </a:pPr>
            <a:r>
              <a:rPr sz="1300" b="1">
                <a:solidFill>
                  <a:srgbClr val="B50937"/>
                </a:solidFill>
                <a:latin typeface="Calibri"/>
              </a:rPr>
              <a:t>Mifflin-St Jeor (common formula)</a:t>
            </a:r>
          </a:p>
          <a:p>
            <a:pPr>
              <a:spcAft>
                <a:spcPts val="600"/>
              </a:spcAft>
            </a:pPr>
            <a:r>
              <a:rPr sz="1300">
                <a:solidFill>
                  <a:srgbClr val="181D27"/>
                </a:solidFill>
                <a:latin typeface="Calibri"/>
              </a:rPr>
              <a:t>Men: (10 × kg) + (6.25 × cm) − (5 × age) + 5</a:t>
            </a:r>
          </a:p>
          <a:p>
            <a:pPr>
              <a:spcAft>
                <a:spcPts val="600"/>
              </a:spcAft>
            </a:pPr>
            <a:r>
              <a:rPr sz="1300">
                <a:solidFill>
                  <a:srgbClr val="181D27"/>
                </a:solidFill>
                <a:latin typeface="Calibri"/>
              </a:rPr>
              <a:t>Women: (10 × kg) + (6.25 × cm) − (5 × age) − 161</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36.png"/>
          <p:cNvPicPr>
            <a:picLocks noChangeAspect="1"/>
          </p:cNvPicPr>
          <p:nvPr/>
        </p:nvPicPr>
        <p:blipFill>
          <a:blip r:embed="rId10"/>
          <a:stretch>
            <a:fillRect/>
          </a:stretch>
        </p:blipFill>
        <p:spPr>
          <a:xfrm>
            <a:off x="5760720" y="1628585"/>
            <a:ext cx="5790895" cy="3143628"/>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11"/>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InBody itself calculates BMR from lean body mass: BMR = 370 + 21.6 × LBM (kg).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Q&amp;A: Muscle Terms</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40</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Q. There are many terms for muscle. What is the difference?</a:t>
            </a:r>
          </a:p>
          <a:p>
            <a:pPr marL="228600" indent="-228600">
              <a:spcAft>
                <a:spcPts val="600"/>
              </a:spcAft>
              <a:buChar char="•"/>
            </a:pPr>
            <a:r>
              <a:rPr sz="1300">
                <a:solidFill>
                  <a:srgbClr val="181D27"/>
                </a:solidFill>
                <a:latin typeface="Calibri"/>
              </a:rPr>
              <a:t>Fat Free Mass (FFM) = Total body mass − Body fat mass</a:t>
            </a:r>
          </a:p>
          <a:p>
            <a:pPr marL="228600" indent="-228600">
              <a:spcAft>
                <a:spcPts val="600"/>
              </a:spcAft>
              <a:buChar char="•"/>
            </a:pPr>
            <a:r>
              <a:rPr sz="1300">
                <a:solidFill>
                  <a:srgbClr val="181D27"/>
                </a:solidFill>
                <a:latin typeface="Calibri"/>
              </a:rPr>
              <a:t>Soft Lean Mass = Total body mass − Body fat mass − Bone mineral</a:t>
            </a:r>
          </a:p>
          <a:p>
            <a:pPr marL="228600" indent="-228600">
              <a:spcAft>
                <a:spcPts val="600"/>
              </a:spcAft>
              <a:buChar char="•"/>
            </a:pPr>
            <a:r>
              <a:rPr sz="1300">
                <a:solidFill>
                  <a:srgbClr val="181D27"/>
                </a:solidFill>
                <a:latin typeface="Calibri"/>
              </a:rPr>
              <a:t>Skeletal Muscle Mass (SMM) = Sum of limb muscle mass ÷ 0.75</a:t>
            </a:r>
          </a:p>
          <a:p>
            <a:pPr marL="228600" indent="-228600">
              <a:spcAft>
                <a:spcPts val="600"/>
              </a:spcAft>
              <a:buChar char="•"/>
            </a:pPr>
            <a:r>
              <a:rPr sz="1300">
                <a:solidFill>
                  <a:srgbClr val="181D27"/>
                </a:solidFill>
                <a:latin typeface="Calibri"/>
              </a:rPr>
              <a:t>Segmental Lean = Fat Free Mass in one segment</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37.png"/>
          <p:cNvPicPr>
            <a:picLocks noChangeAspect="1"/>
          </p:cNvPicPr>
          <p:nvPr/>
        </p:nvPicPr>
        <p:blipFill>
          <a:blip r:embed="rId5"/>
          <a:stretch>
            <a:fillRect/>
          </a:stretch>
        </p:blipFill>
        <p:spPr>
          <a:xfrm>
            <a:off x="7294542" y="1280160"/>
            <a:ext cx="2723249"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Each muscle term measures something different. Use the right one when explaining the sheet.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11480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4114800" cy="566928"/>
          </a:xfrm>
          <a:prstGeom prst="rect">
            <a:avLst/>
          </a:prstGeom>
          <a:noFill/>
        </p:spPr>
        <p:txBody>
          <a:bodyPr wrap="square" lIns="0" rIns="0" tIns="0" bIns="0" anchor="ctr">
            <a:spAutoFit/>
          </a:bodyPr>
          <a:lstStyle/>
          <a:p>
            <a:pPr algn="ctr"/>
            <a:r>
              <a:rPr sz="2200" b="1" i="0">
                <a:solidFill>
                  <a:srgbClr val="FFFFFF"/>
                </a:solidFill>
                <a:latin typeface="Calibri"/>
              </a:rPr>
              <a:t>Q&amp;A: Ideal &amp; Target Weight</a:t>
            </a:r>
          </a:p>
        </p:txBody>
      </p:sp>
      <p:sp>
        <p:nvSpPr>
          <p:cNvPr id="4" name="TextBox 3"/>
          <p:cNvSpPr txBox="1"/>
          <p:nvPr/>
        </p:nvSpPr>
        <p:spPr>
          <a:xfrm>
            <a:off x="4800600" y="320040"/>
            <a:ext cx="510509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2"/>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41</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3"/>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Ideal weight</a:t>
            </a:r>
          </a:p>
          <a:p>
            <a:pPr>
              <a:spcAft>
                <a:spcPts val="600"/>
              </a:spcAft>
            </a:pPr>
            <a:r>
              <a:rPr sz="1300">
                <a:solidFill>
                  <a:srgbClr val="181D27"/>
                </a:solidFill>
                <a:latin typeface="Calibri"/>
              </a:rPr>
              <a:t>Ideal BMI × height (m)²   (men: 22 × height², women: 21 × height²)</a:t>
            </a:r>
          </a:p>
          <a:p>
            <a:pPr>
              <a:spcAft>
                <a:spcPts val="600"/>
              </a:spcAft>
            </a:pPr>
            <a:r>
              <a:rPr sz="1300">
                <a:solidFill>
                  <a:srgbClr val="181D27"/>
                </a:solidFill>
                <a:latin typeface="Calibri"/>
              </a:rPr>
              <a:t>Based on weight and height only; it does not factor in body composition.</a:t>
            </a:r>
          </a:p>
          <a:p>
            <a:pPr>
              <a:spcBef>
                <a:spcPts val="400"/>
              </a:spcBef>
              <a:spcAft>
                <a:spcPts val="200"/>
              </a:spcAft>
            </a:pPr>
            <a:r>
              <a:rPr sz="1300" b="1">
                <a:solidFill>
                  <a:srgbClr val="B50937"/>
                </a:solidFill>
                <a:latin typeface="Calibri"/>
              </a:rPr>
              <a:t>Target weight</a:t>
            </a:r>
          </a:p>
          <a:p>
            <a:pPr>
              <a:spcAft>
                <a:spcPts val="600"/>
              </a:spcAft>
            </a:pPr>
            <a:r>
              <a:rPr sz="1300">
                <a:solidFill>
                  <a:srgbClr val="181D27"/>
                </a:solidFill>
                <a:latin typeface="Calibri"/>
              </a:rPr>
              <a:t>Fat control = (15% men / 23% women × ideal weight) − current body fat mass</a:t>
            </a:r>
          </a:p>
          <a:p>
            <a:pPr>
              <a:spcAft>
                <a:spcPts val="600"/>
              </a:spcAft>
            </a:pPr>
            <a:r>
              <a:rPr sz="1300">
                <a:solidFill>
                  <a:srgbClr val="181D27"/>
                </a:solidFill>
                <a:latin typeface="Calibri"/>
              </a:rPr>
              <a:t>Muscle control = (85% men / 77% women × ideal weight) − current fat-free mass</a:t>
            </a:r>
          </a:p>
        </p:txBody>
      </p:sp>
      <p:sp>
        <p:nvSpPr>
          <p:cNvPr id="14" name="Rectangle 13"/>
          <p:cNvSpPr/>
          <p:nvPr/>
        </p:nvSpPr>
        <p:spPr>
          <a:xfrm>
            <a:off x="5577840" y="1097280"/>
            <a:ext cx="6156655" cy="4206240"/>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35040" y="1600200"/>
            <a:ext cx="822960" cy="822960"/>
          </a:xfrm>
          <a:prstGeom prst="ellipse">
            <a:avLst/>
          </a:prstGeom>
          <a:solidFill>
            <a:srgbClr val="B50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1600200"/>
            <a:ext cx="822960" cy="822960"/>
          </a:xfrm>
          <a:prstGeom prst="rect">
            <a:avLst/>
          </a:prstGeom>
          <a:noFill/>
        </p:spPr>
        <p:txBody>
          <a:bodyPr wrap="square" lIns="0" rIns="0" tIns="0" bIns="0" anchor="ctr">
            <a:spAutoFit/>
          </a:bodyPr>
          <a:lstStyle/>
          <a:p>
            <a:pPr algn="ctr"/>
            <a:r>
              <a:rPr sz="3400" b="1" i="0">
                <a:solidFill>
                  <a:srgbClr val="FFFFFF"/>
                </a:solidFill>
                <a:latin typeface="Cambria"/>
              </a:rPr>
              <a:t>Q</a:t>
            </a:r>
          </a:p>
        </p:txBody>
      </p:sp>
      <p:sp>
        <p:nvSpPr>
          <p:cNvPr id="17" name="TextBox 16"/>
          <p:cNvSpPr txBox="1"/>
          <p:nvPr/>
        </p:nvSpPr>
        <p:spPr>
          <a:xfrm>
            <a:off x="6035040" y="2651760"/>
            <a:ext cx="5242255" cy="320040"/>
          </a:xfrm>
          <a:prstGeom prst="rect">
            <a:avLst/>
          </a:prstGeom>
          <a:noFill/>
        </p:spPr>
        <p:txBody>
          <a:bodyPr wrap="square" lIns="0" rIns="0" tIns="0" bIns="0" anchor="ctr">
            <a:spAutoFit/>
          </a:bodyPr>
          <a:lstStyle/>
          <a:p>
            <a:pPr algn="l"/>
            <a:r>
              <a:rPr sz="1100" b="1" i="0" spc="200">
                <a:solidFill>
                  <a:srgbClr val="F5C6D1"/>
                </a:solidFill>
                <a:latin typeface="Calibri"/>
              </a:rPr>
              <a:t>CUSTOMER QUESTION</a:t>
            </a:r>
          </a:p>
        </p:txBody>
      </p:sp>
      <p:sp>
        <p:nvSpPr>
          <p:cNvPr id="18" name="TextBox 17"/>
          <p:cNvSpPr txBox="1"/>
          <p:nvPr/>
        </p:nvSpPr>
        <p:spPr>
          <a:xfrm>
            <a:off x="6035040" y="3017520"/>
            <a:ext cx="5242255" cy="1920239"/>
          </a:xfrm>
          <a:prstGeom prst="rect">
            <a:avLst/>
          </a:prstGeom>
          <a:noFill/>
        </p:spPr>
        <p:txBody>
          <a:bodyPr wrap="square" lIns="0" rIns="0" tIns="0" bIns="0" anchor="t">
            <a:spAutoFit/>
          </a:bodyPr>
          <a:lstStyle/>
          <a:p>
            <a:pPr algn="l"/>
            <a:r>
              <a:rPr sz="2400" b="1" i="0">
                <a:solidFill>
                  <a:srgbClr val="FFFFFF"/>
                </a:solidFill>
                <a:latin typeface="Cambria"/>
              </a:rPr>
              <a:t>How can we calculate ideal weight and target weight?</a:t>
            </a:r>
          </a:p>
        </p:txBody>
      </p:sp>
      <p:sp>
        <p:nvSpPr>
          <p:cNvPr id="19" name="Rectangle 18"/>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ulb.png"/>
          <p:cNvPicPr>
            <a:picLocks noChangeAspect="1"/>
          </p:cNvPicPr>
          <p:nvPr/>
        </p:nvPicPr>
        <p:blipFill>
          <a:blip r:embed="rId4"/>
          <a:stretch>
            <a:fillRect/>
          </a:stretch>
        </p:blipFill>
        <p:spPr>
          <a:xfrm>
            <a:off x="822960" y="5788152"/>
            <a:ext cx="274320" cy="274320"/>
          </a:xfrm>
          <a:prstGeom prst="rect">
            <a:avLst/>
          </a:prstGeom>
        </p:spPr>
      </p:pic>
      <p:sp>
        <p:nvSpPr>
          <p:cNvPr id="22" name="TextBox 21"/>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Target weight = current weight + fat control + muscle control.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6634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4663440" cy="566928"/>
          </a:xfrm>
          <a:prstGeom prst="rect">
            <a:avLst/>
          </a:prstGeom>
          <a:noFill/>
        </p:spPr>
        <p:txBody>
          <a:bodyPr wrap="square" lIns="0" rIns="0" tIns="0" bIns="0" anchor="ctr">
            <a:spAutoFit/>
          </a:bodyPr>
          <a:lstStyle/>
          <a:p>
            <a:pPr algn="ctr"/>
            <a:r>
              <a:rPr sz="2200" b="1" i="0">
                <a:solidFill>
                  <a:srgbClr val="FFFFFF"/>
                </a:solidFill>
                <a:latin typeface="Calibri"/>
              </a:rPr>
              <a:t>Current, Ideal &amp; Target Weight</a:t>
            </a:r>
          </a:p>
        </p:txBody>
      </p:sp>
      <p:sp>
        <p:nvSpPr>
          <p:cNvPr id="4" name="TextBox 3"/>
          <p:cNvSpPr txBox="1"/>
          <p:nvPr/>
        </p:nvSpPr>
        <p:spPr>
          <a:xfrm>
            <a:off x="5349240" y="320040"/>
            <a:ext cx="455645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12"/>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42</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13"/>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Ideal weight</a:t>
            </a:r>
          </a:p>
          <a:p>
            <a:pPr>
              <a:spcAft>
                <a:spcPts val="600"/>
              </a:spcAft>
            </a:pPr>
            <a:r>
              <a:rPr sz="1300">
                <a:solidFill>
                  <a:srgbClr val="181D27"/>
                </a:solidFill>
                <a:latin typeface="Calibri"/>
              </a:rPr>
              <a:t>Men: 22 × height²   ·   Women: 21 × height²</a:t>
            </a:r>
          </a:p>
          <a:p>
            <a:pPr>
              <a:spcAft>
                <a:spcPts val="600"/>
              </a:spcAft>
            </a:pPr>
            <a:r>
              <a:rPr sz="1300">
                <a:solidFill>
                  <a:srgbClr val="181D27"/>
                </a:solidFill>
                <a:latin typeface="Calibri"/>
              </a:rPr>
              <a:t>Jane Doe: 21 × 1.569 × 1.569 = 51.70 kg</a:t>
            </a:r>
          </a:p>
          <a:p>
            <a:pPr>
              <a:spcBef>
                <a:spcPts val="400"/>
              </a:spcBef>
              <a:spcAft>
                <a:spcPts val="200"/>
              </a:spcAft>
            </a:pPr>
            <a:r>
              <a:rPr sz="1300" b="1">
                <a:solidFill>
                  <a:srgbClr val="B50937"/>
                </a:solidFill>
                <a:latin typeface="Calibri"/>
              </a:rPr>
              <a:t>Target weight = current weight + weight control</a:t>
            </a:r>
          </a:p>
          <a:p>
            <a:pPr>
              <a:spcAft>
                <a:spcPts val="600"/>
              </a:spcAft>
            </a:pPr>
            <a:r>
              <a:rPr sz="1300">
                <a:solidFill>
                  <a:srgbClr val="181D27"/>
                </a:solidFill>
                <a:latin typeface="Calibri"/>
              </a:rPr>
              <a:t>Fat control = (23% × ideal weight) − current fat mass = −9.9 kg</a:t>
            </a:r>
          </a:p>
          <a:p>
            <a:pPr>
              <a:spcAft>
                <a:spcPts val="600"/>
              </a:spcAft>
            </a:pPr>
            <a:r>
              <a:rPr sz="1300">
                <a:solidFill>
                  <a:srgbClr val="181D27"/>
                </a:solidFill>
                <a:latin typeface="Calibri"/>
              </a:rPr>
              <a:t>Muscle control = (77% × ideal weight) − current fat-free mass = +2.5 kg</a:t>
            </a:r>
          </a:p>
          <a:p>
            <a:pPr>
              <a:spcAft>
                <a:spcPts val="600"/>
              </a:spcAft>
            </a:pPr>
            <a:r>
              <a:rPr sz="1300">
                <a:solidFill>
                  <a:srgbClr val="181D27"/>
                </a:solidFill>
                <a:latin typeface="Calibri"/>
              </a:rPr>
              <a:t>Jane Doe: 59.1 − 9.9 + 2.5 = 51.7 kg</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39.png"/>
          <p:cNvPicPr>
            <a:picLocks noChangeAspect="1"/>
          </p:cNvPicPr>
          <p:nvPr/>
        </p:nvPicPr>
        <p:blipFill>
          <a:blip r:embed="rId14"/>
          <a:stretch>
            <a:fillRect/>
          </a:stretch>
        </p:blipFill>
        <p:spPr>
          <a:xfrm>
            <a:off x="7370155" y="1280160"/>
            <a:ext cx="2572024"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15"/>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Show customers their target weight: exactly how much fat to lose and muscle to gain.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57607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5760720" cy="566928"/>
          </a:xfrm>
          <a:prstGeom prst="rect">
            <a:avLst/>
          </a:prstGeom>
          <a:noFill/>
        </p:spPr>
        <p:txBody>
          <a:bodyPr wrap="square" lIns="0" rIns="0" tIns="0" bIns="0" anchor="ctr">
            <a:spAutoFit/>
          </a:bodyPr>
          <a:lstStyle/>
          <a:p>
            <a:pPr algn="ctr"/>
            <a:r>
              <a:rPr sz="1900" b="1" i="0">
                <a:solidFill>
                  <a:srgbClr val="FFFFFF"/>
                </a:solidFill>
                <a:latin typeface="Calibri"/>
              </a:rPr>
              <a:t>Segmental Lean: Interpretation Example</a:t>
            </a:r>
          </a:p>
        </p:txBody>
      </p:sp>
      <p:sp>
        <p:nvSpPr>
          <p:cNvPr id="4" name="TextBox 3"/>
          <p:cNvSpPr txBox="1"/>
          <p:nvPr/>
        </p:nvSpPr>
        <p:spPr>
          <a:xfrm>
            <a:off x="6446520" y="320040"/>
            <a:ext cx="345917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10"/>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43</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11"/>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Interpretation example</a:t>
            </a:r>
          </a:p>
          <a:p>
            <a:pPr marL="228600" indent="-228600">
              <a:spcAft>
                <a:spcPts val="600"/>
              </a:spcAft>
              <a:buChar char="•"/>
            </a:pPr>
            <a:r>
              <a:rPr sz="1300">
                <a:solidFill>
                  <a:srgbClr val="181D27"/>
                </a:solidFill>
                <a:latin typeface="Calibri"/>
              </a:rPr>
              <a:t>Right arm: 2.01 kg of lean mass = 102.1%, enough to support the current weight.</a:t>
            </a:r>
          </a:p>
          <a:p>
            <a:pPr marL="228600" indent="-228600">
              <a:spcAft>
                <a:spcPts val="600"/>
              </a:spcAft>
              <a:buChar char="•"/>
            </a:pPr>
            <a:r>
              <a:rPr sz="1300">
                <a:solidFill>
                  <a:srgbClr val="181D27"/>
                </a:solidFill>
                <a:latin typeface="Calibri"/>
              </a:rPr>
              <a:t>Left arm: 1.93 kg = 97.8%, not quite enough for the current weight.</a:t>
            </a:r>
          </a:p>
          <a:p>
            <a:pPr marL="228600" indent="-228600">
              <a:spcAft>
                <a:spcPts val="600"/>
              </a:spcAft>
              <a:buChar char="•"/>
            </a:pPr>
            <a:r>
              <a:rPr sz="1300">
                <a:solidFill>
                  <a:srgbClr val="181D27"/>
                </a:solidFill>
                <a:latin typeface="Calibri"/>
              </a:rPr>
              <a:t>The top bar is based on ideal weight (51.70 kg). Against ideal weight, the left arm has enough muscle.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40.png"/>
          <p:cNvPicPr>
            <a:picLocks noChangeAspect="1"/>
          </p:cNvPicPr>
          <p:nvPr/>
        </p:nvPicPr>
        <p:blipFill>
          <a:blip r:embed="rId12"/>
          <a:stretch>
            <a:fillRect/>
          </a:stretch>
        </p:blipFill>
        <p:spPr>
          <a:xfrm>
            <a:off x="5760720" y="2434239"/>
            <a:ext cx="5790895" cy="1532320"/>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13"/>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The % compares muscle to current weight; the bar length compares it to ideal weight.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42900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429000" cy="566928"/>
          </a:xfrm>
          <a:prstGeom prst="rect">
            <a:avLst/>
          </a:prstGeom>
          <a:noFill/>
        </p:spPr>
        <p:txBody>
          <a:bodyPr wrap="square" lIns="0" rIns="0" tIns="0" bIns="0" anchor="ctr">
            <a:spAutoFit/>
          </a:bodyPr>
          <a:lstStyle/>
          <a:p>
            <a:pPr algn="ctr"/>
            <a:r>
              <a:rPr sz="2200" b="1" i="0">
                <a:solidFill>
                  <a:srgbClr val="FFFFFF"/>
                </a:solidFill>
                <a:latin typeface="Calibri"/>
              </a:rPr>
              <a:t>Result Parameters Q&amp;A</a:t>
            </a:r>
          </a:p>
        </p:txBody>
      </p:sp>
      <p:sp>
        <p:nvSpPr>
          <p:cNvPr id="4" name="TextBox 3"/>
          <p:cNvSpPr txBox="1"/>
          <p:nvPr/>
        </p:nvSpPr>
        <p:spPr>
          <a:xfrm>
            <a:off x="4114800" y="320040"/>
            <a:ext cx="579089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44</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Q. How is SMM calculated?</a:t>
            </a:r>
          </a:p>
          <a:p>
            <a:pPr>
              <a:spcAft>
                <a:spcPts val="600"/>
              </a:spcAft>
            </a:pPr>
            <a:r>
              <a:rPr sz="1300">
                <a:solidFill>
                  <a:srgbClr val="181D27"/>
                </a:solidFill>
                <a:latin typeface="Calibri"/>
              </a:rPr>
              <a:t>Physiology says the arms and legs contain 75% of whole-body skeletal muscle.</a:t>
            </a:r>
          </a:p>
          <a:p>
            <a:pPr>
              <a:spcAft>
                <a:spcPts val="600"/>
              </a:spcAft>
            </a:pPr>
            <a:r>
              <a:rPr sz="1300">
                <a:solidFill>
                  <a:srgbClr val="181D27"/>
                </a:solidFill>
                <a:latin typeface="Calibri"/>
              </a:rPr>
              <a:t>SMM = (RA + LA + RL + LL lean mass) ÷ 0.75</a:t>
            </a:r>
          </a:p>
          <a:p>
            <a:pPr>
              <a:spcAft>
                <a:spcPts val="600"/>
              </a:spcAft>
            </a:pPr>
            <a:r>
              <a:rPr sz="1300">
                <a:solidFill>
                  <a:srgbClr val="181D27"/>
                </a:solidFill>
                <a:latin typeface="Calibri"/>
              </a:rPr>
              <a:t>InBody also factors in the ECW ratio and upper/lower body balance.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41.png"/>
          <p:cNvPicPr>
            <a:picLocks noChangeAspect="1"/>
          </p:cNvPicPr>
          <p:nvPr/>
        </p:nvPicPr>
        <p:blipFill>
          <a:blip r:embed="rId5"/>
          <a:stretch>
            <a:fillRect/>
          </a:stretch>
        </p:blipFill>
        <p:spPr>
          <a:xfrm>
            <a:off x="5760720" y="2935281"/>
            <a:ext cx="5790895" cy="530236"/>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SMM is calculated from limb muscle, adjusted for water balance and body balance.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42900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429000" cy="566928"/>
          </a:xfrm>
          <a:prstGeom prst="rect">
            <a:avLst/>
          </a:prstGeom>
          <a:noFill/>
        </p:spPr>
        <p:txBody>
          <a:bodyPr wrap="square" lIns="0" rIns="0" tIns="0" bIns="0" anchor="ctr">
            <a:spAutoFit/>
          </a:bodyPr>
          <a:lstStyle/>
          <a:p>
            <a:pPr algn="ctr"/>
            <a:r>
              <a:rPr sz="2200" b="1" i="0">
                <a:solidFill>
                  <a:srgbClr val="FFFFFF"/>
                </a:solidFill>
                <a:latin typeface="Calibri"/>
              </a:rPr>
              <a:t>Result Parameters Q&amp;A</a:t>
            </a:r>
          </a:p>
        </p:txBody>
      </p:sp>
      <p:sp>
        <p:nvSpPr>
          <p:cNvPr id="4" name="TextBox 3"/>
          <p:cNvSpPr txBox="1"/>
          <p:nvPr/>
        </p:nvSpPr>
        <p:spPr>
          <a:xfrm>
            <a:off x="4114800" y="320040"/>
            <a:ext cx="579089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45</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Q. How does InBody measure visceral fat?</a:t>
            </a:r>
          </a:p>
          <a:p>
            <a:pPr>
              <a:spcAft>
                <a:spcPts val="600"/>
              </a:spcAft>
            </a:pPr>
            <a:r>
              <a:rPr sz="1300">
                <a:solidFill>
                  <a:srgbClr val="181D27"/>
                </a:solidFill>
                <a:latin typeface="Calibri"/>
              </a:rPr>
              <a:t>BIA cannot directly separate visceral fat from subcutaneous fat.</a:t>
            </a:r>
          </a:p>
          <a:p>
            <a:pPr>
              <a:spcAft>
                <a:spcPts val="600"/>
              </a:spcAft>
            </a:pPr>
            <a:r>
              <a:rPr sz="1300">
                <a:solidFill>
                  <a:srgbClr val="181D27"/>
                </a:solidFill>
                <a:latin typeface="Calibri"/>
              </a:rPr>
              <a:t>InBody built regression equations against CT-measured VFA.</a:t>
            </a:r>
          </a:p>
          <a:p>
            <a:pPr>
              <a:spcAft>
                <a:spcPts val="600"/>
              </a:spcAft>
            </a:pPr>
            <a:r>
              <a:rPr sz="1300">
                <a:solidFill>
                  <a:srgbClr val="181D27"/>
                </a:solidFill>
                <a:latin typeface="Calibri"/>
              </a:rPr>
              <a:t>The estimate is based on research linking a person's segmental lean and fat distribution to fat-storage trends.</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42.png"/>
          <p:cNvPicPr>
            <a:picLocks noChangeAspect="1"/>
          </p:cNvPicPr>
          <p:nvPr/>
        </p:nvPicPr>
        <p:blipFill>
          <a:blip r:embed="rId5"/>
          <a:stretch>
            <a:fillRect/>
          </a:stretch>
        </p:blipFill>
        <p:spPr>
          <a:xfrm>
            <a:off x="6394321" y="1280160"/>
            <a:ext cx="4523692"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VFA is estimated from CT-validated equations using segmental fat and lean distribution.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42900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429000" cy="566928"/>
          </a:xfrm>
          <a:prstGeom prst="rect">
            <a:avLst/>
          </a:prstGeom>
          <a:noFill/>
        </p:spPr>
        <p:txBody>
          <a:bodyPr wrap="square" lIns="0" rIns="0" tIns="0" bIns="0" anchor="ctr">
            <a:spAutoFit/>
          </a:bodyPr>
          <a:lstStyle/>
          <a:p>
            <a:pPr algn="ctr"/>
            <a:r>
              <a:rPr sz="2200" b="1" i="0">
                <a:solidFill>
                  <a:srgbClr val="FFFFFF"/>
                </a:solidFill>
                <a:latin typeface="Calibri"/>
              </a:rPr>
              <a:t>Result Parameters Q&amp;A</a:t>
            </a:r>
          </a:p>
        </p:txBody>
      </p:sp>
      <p:sp>
        <p:nvSpPr>
          <p:cNvPr id="4" name="TextBox 3"/>
          <p:cNvSpPr txBox="1"/>
          <p:nvPr/>
        </p:nvSpPr>
        <p:spPr>
          <a:xfrm>
            <a:off x="4114800" y="320040"/>
            <a:ext cx="579089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46</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Q. What is the difference between VFA and VFL?</a:t>
            </a:r>
          </a:p>
          <a:p>
            <a:pPr marL="228600" indent="-228600">
              <a:spcAft>
                <a:spcPts val="600"/>
              </a:spcAft>
              <a:buChar char="•"/>
            </a:pPr>
            <a:r>
              <a:rPr sz="1300">
                <a:solidFill>
                  <a:srgbClr val="181D27"/>
                </a:solidFill>
                <a:latin typeface="Calibri"/>
              </a:rPr>
              <a:t>VFA estimates the area of visceral fat in cm².</a:t>
            </a:r>
          </a:p>
          <a:p>
            <a:pPr marL="228600" indent="-228600">
              <a:spcAft>
                <a:spcPts val="600"/>
              </a:spcAft>
              <a:buChar char="•"/>
            </a:pPr>
            <a:r>
              <a:rPr sz="1300">
                <a:solidFill>
                  <a:srgbClr val="181D27"/>
                </a:solidFill>
                <a:latin typeface="Calibri"/>
              </a:rPr>
              <a:t>VFL is a simplified 1–20 scale; each level equals 10 cm² of VFA.</a:t>
            </a:r>
          </a:p>
          <a:p>
            <a:pPr marL="228600" indent="-228600">
              <a:spcAft>
                <a:spcPts val="600"/>
              </a:spcAft>
              <a:buChar char="•"/>
            </a:pPr>
            <a:r>
              <a:rPr sz="1300">
                <a:solidFill>
                  <a:srgbClr val="181D27"/>
                </a:solidFill>
                <a:latin typeface="Calibri"/>
              </a:rPr>
              <a:t>A VFA of 11.3 cm² is roughly a VFL of 1. The maximum is Level 20.</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43.png"/>
          <p:cNvPicPr>
            <a:picLocks noChangeAspect="1"/>
          </p:cNvPicPr>
          <p:nvPr/>
        </p:nvPicPr>
        <p:blipFill>
          <a:blip r:embed="rId6"/>
          <a:stretch>
            <a:fillRect/>
          </a:stretch>
        </p:blipFill>
        <p:spPr>
          <a:xfrm>
            <a:off x="5760720" y="2325102"/>
            <a:ext cx="5790895" cy="1750594"/>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VFA gives the exact area in cm²; VFL is the same measure on a simple 1–20 scale.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0175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017520" cy="566928"/>
          </a:xfrm>
          <a:prstGeom prst="rect">
            <a:avLst/>
          </a:prstGeom>
          <a:noFill/>
        </p:spPr>
        <p:txBody>
          <a:bodyPr wrap="square" lIns="0" rIns="0" tIns="0" bIns="0" anchor="ctr">
            <a:spAutoFit/>
          </a:bodyPr>
          <a:lstStyle/>
          <a:p>
            <a:pPr algn="ctr"/>
            <a:r>
              <a:rPr sz="2200" b="1" i="0">
                <a:solidFill>
                  <a:srgbClr val="FFFFFF"/>
                </a:solidFill>
                <a:latin typeface="Calibri"/>
              </a:rPr>
              <a:t>Interpretation Q&amp;A</a:t>
            </a:r>
          </a:p>
        </p:txBody>
      </p:sp>
      <p:sp>
        <p:nvSpPr>
          <p:cNvPr id="4" name="TextBox 3"/>
          <p:cNvSpPr txBox="1"/>
          <p:nvPr/>
        </p:nvSpPr>
        <p:spPr>
          <a:xfrm>
            <a:off x="3703320" y="320040"/>
            <a:ext cx="620237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2"/>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47</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3"/>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marL="228600" indent="-228600">
              <a:spcAft>
                <a:spcPts val="600"/>
              </a:spcAft>
              <a:buChar char="•"/>
            </a:pPr>
            <a:r>
              <a:rPr sz="1300">
                <a:solidFill>
                  <a:srgbClr val="181D27"/>
                </a:solidFill>
                <a:latin typeface="Calibri"/>
              </a:rPr>
              <a:t>Safe: an implant is not electronic like a pacemaker, whatever its size or position.</a:t>
            </a:r>
          </a:p>
          <a:p>
            <a:pPr marL="228600" indent="-228600">
              <a:spcAft>
                <a:spcPts val="600"/>
              </a:spcAft>
              <a:buChar char="•"/>
            </a:pPr>
            <a:r>
              <a:rPr sz="1300">
                <a:solidFill>
                  <a:srgbClr val="181D27"/>
                </a:solidFill>
                <a:latin typeface="Calibri"/>
              </a:rPr>
              <a:t>Metal conducts current better than water, so readings near the implant show low impedance, making body water and muscle look higher.</a:t>
            </a:r>
          </a:p>
          <a:p>
            <a:pPr marL="228600" indent="-228600">
              <a:spcAft>
                <a:spcPts val="600"/>
              </a:spcAft>
              <a:buChar char="•"/>
            </a:pPr>
            <a:r>
              <a:rPr sz="1300">
                <a:solidFill>
                  <a:srgbClr val="181D27"/>
                </a:solidFill>
                <a:latin typeface="Calibri"/>
              </a:rPr>
              <a:t>The effect varies by material, shape, size and site, so there is no fixed reference.</a:t>
            </a:r>
          </a:p>
          <a:p>
            <a:pPr marL="228600" indent="-228600">
              <a:spcAft>
                <a:spcPts val="600"/>
              </a:spcAft>
              <a:buChar char="•"/>
            </a:pPr>
            <a:r>
              <a:rPr sz="1300">
                <a:solidFill>
                  <a:srgbClr val="181D27"/>
                </a:solidFill>
                <a:latin typeface="Calibri"/>
              </a:rPr>
              <a:t>Small bolts have very little effect; changes stay within the error range.</a:t>
            </a:r>
          </a:p>
        </p:txBody>
      </p:sp>
      <p:sp>
        <p:nvSpPr>
          <p:cNvPr id="14" name="Rectangle 13"/>
          <p:cNvSpPr/>
          <p:nvPr/>
        </p:nvSpPr>
        <p:spPr>
          <a:xfrm>
            <a:off x="5577840" y="1097280"/>
            <a:ext cx="6156655" cy="4206240"/>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35040" y="1600200"/>
            <a:ext cx="822960" cy="822960"/>
          </a:xfrm>
          <a:prstGeom prst="ellipse">
            <a:avLst/>
          </a:prstGeom>
          <a:solidFill>
            <a:srgbClr val="B50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1600200"/>
            <a:ext cx="822960" cy="822960"/>
          </a:xfrm>
          <a:prstGeom prst="rect">
            <a:avLst/>
          </a:prstGeom>
          <a:noFill/>
        </p:spPr>
        <p:txBody>
          <a:bodyPr wrap="square" lIns="0" rIns="0" tIns="0" bIns="0" anchor="ctr">
            <a:spAutoFit/>
          </a:bodyPr>
          <a:lstStyle/>
          <a:p>
            <a:pPr algn="ctr"/>
            <a:r>
              <a:rPr sz="3400" b="1" i="0">
                <a:solidFill>
                  <a:srgbClr val="FFFFFF"/>
                </a:solidFill>
                <a:latin typeface="Cambria"/>
              </a:rPr>
              <a:t>Q</a:t>
            </a:r>
          </a:p>
        </p:txBody>
      </p:sp>
      <p:sp>
        <p:nvSpPr>
          <p:cNvPr id="17" name="TextBox 16"/>
          <p:cNvSpPr txBox="1"/>
          <p:nvPr/>
        </p:nvSpPr>
        <p:spPr>
          <a:xfrm>
            <a:off x="6035040" y="2651760"/>
            <a:ext cx="5242255" cy="320040"/>
          </a:xfrm>
          <a:prstGeom prst="rect">
            <a:avLst/>
          </a:prstGeom>
          <a:noFill/>
        </p:spPr>
        <p:txBody>
          <a:bodyPr wrap="square" lIns="0" rIns="0" tIns="0" bIns="0" anchor="ctr">
            <a:spAutoFit/>
          </a:bodyPr>
          <a:lstStyle/>
          <a:p>
            <a:pPr algn="l"/>
            <a:r>
              <a:rPr sz="1100" b="1" i="0" spc="200">
                <a:solidFill>
                  <a:srgbClr val="F5C6D1"/>
                </a:solidFill>
                <a:latin typeface="Calibri"/>
              </a:rPr>
              <a:t>CUSTOMER QUESTION</a:t>
            </a:r>
          </a:p>
        </p:txBody>
      </p:sp>
      <p:sp>
        <p:nvSpPr>
          <p:cNvPr id="18" name="TextBox 17"/>
          <p:cNvSpPr txBox="1"/>
          <p:nvPr/>
        </p:nvSpPr>
        <p:spPr>
          <a:xfrm>
            <a:off x="6035040" y="3017520"/>
            <a:ext cx="5242255" cy="1920239"/>
          </a:xfrm>
          <a:prstGeom prst="rect">
            <a:avLst/>
          </a:prstGeom>
          <a:noFill/>
        </p:spPr>
        <p:txBody>
          <a:bodyPr wrap="square" lIns="0" rIns="0" tIns="0" bIns="0" anchor="t">
            <a:spAutoFit/>
          </a:bodyPr>
          <a:lstStyle/>
          <a:p>
            <a:pPr algn="l"/>
            <a:r>
              <a:rPr sz="2400" b="1" i="0">
                <a:solidFill>
                  <a:srgbClr val="FFFFFF"/>
                </a:solidFill>
                <a:latin typeface="Cambria"/>
              </a:rPr>
              <a:t>Can we measure patients with metal implants?</a:t>
            </a:r>
          </a:p>
        </p:txBody>
      </p:sp>
      <p:sp>
        <p:nvSpPr>
          <p:cNvPr id="19" name="Rectangle 18"/>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ulb.png"/>
          <p:cNvPicPr>
            <a:picLocks noChangeAspect="1"/>
          </p:cNvPicPr>
          <p:nvPr/>
        </p:nvPicPr>
        <p:blipFill>
          <a:blip r:embed="rId4"/>
          <a:stretch>
            <a:fillRect/>
          </a:stretch>
        </p:blipFill>
        <p:spPr>
          <a:xfrm>
            <a:off x="822960" y="5788152"/>
            <a:ext cx="274320" cy="274320"/>
          </a:xfrm>
          <a:prstGeom prst="rect">
            <a:avLst/>
          </a:prstGeom>
        </p:spPr>
      </p:pic>
      <p:sp>
        <p:nvSpPr>
          <p:cNvPr id="22" name="TextBox 21"/>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Patients with implants can be measured: use InBody to monitor their change over time.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0175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017520" cy="566928"/>
          </a:xfrm>
          <a:prstGeom prst="rect">
            <a:avLst/>
          </a:prstGeom>
          <a:noFill/>
        </p:spPr>
        <p:txBody>
          <a:bodyPr wrap="square" lIns="0" rIns="0" tIns="0" bIns="0" anchor="ctr">
            <a:spAutoFit/>
          </a:bodyPr>
          <a:lstStyle/>
          <a:p>
            <a:pPr algn="ctr"/>
            <a:r>
              <a:rPr sz="2200" b="1" i="0">
                <a:solidFill>
                  <a:srgbClr val="FFFFFF"/>
                </a:solidFill>
                <a:latin typeface="Calibri"/>
              </a:rPr>
              <a:t>Interpretation Q&amp;A</a:t>
            </a:r>
          </a:p>
        </p:txBody>
      </p:sp>
      <p:sp>
        <p:nvSpPr>
          <p:cNvPr id="4" name="TextBox 3"/>
          <p:cNvSpPr txBox="1"/>
          <p:nvPr/>
        </p:nvSpPr>
        <p:spPr>
          <a:xfrm>
            <a:off x="3703320" y="320040"/>
            <a:ext cx="620237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2"/>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48</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3"/>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marL="228600" indent="-228600">
              <a:spcAft>
                <a:spcPts val="600"/>
              </a:spcAft>
              <a:buChar char="•"/>
            </a:pPr>
            <a:r>
              <a:rPr sz="1300">
                <a:solidFill>
                  <a:srgbClr val="181D27"/>
                </a:solidFill>
                <a:latin typeface="Calibri"/>
              </a:rPr>
              <a:t>Safe: a stent is not electronic like a pacemaker, whatever its size or position.</a:t>
            </a:r>
          </a:p>
          <a:p>
            <a:pPr marL="228600" indent="-228600">
              <a:spcAft>
                <a:spcPts val="600"/>
              </a:spcAft>
              <a:buChar char="•"/>
            </a:pPr>
            <a:r>
              <a:rPr sz="1300">
                <a:solidFill>
                  <a:srgbClr val="181D27"/>
                </a:solidFill>
                <a:latin typeface="Calibri"/>
              </a:rPr>
              <a:t>A stent is metal, but very small, so its effect on impedance is within the error range.</a:t>
            </a:r>
          </a:p>
          <a:p>
            <a:pPr marL="228600" indent="-228600">
              <a:spcAft>
                <a:spcPts val="600"/>
              </a:spcAft>
              <a:buChar char="•"/>
            </a:pPr>
            <a:r>
              <a:rPr sz="1300">
                <a:solidFill>
                  <a:srgbClr val="181D27"/>
                </a:solidFill>
                <a:latin typeface="Calibri"/>
              </a:rPr>
              <a:t>Results can be used with the same level of confidence.</a:t>
            </a:r>
          </a:p>
        </p:txBody>
      </p:sp>
      <p:sp>
        <p:nvSpPr>
          <p:cNvPr id="14" name="Rectangle 13"/>
          <p:cNvSpPr/>
          <p:nvPr/>
        </p:nvSpPr>
        <p:spPr>
          <a:xfrm>
            <a:off x="5577840" y="1097280"/>
            <a:ext cx="6156655" cy="4206240"/>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35040" y="1600200"/>
            <a:ext cx="822960" cy="822960"/>
          </a:xfrm>
          <a:prstGeom prst="ellipse">
            <a:avLst/>
          </a:prstGeom>
          <a:solidFill>
            <a:srgbClr val="B50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1600200"/>
            <a:ext cx="822960" cy="822960"/>
          </a:xfrm>
          <a:prstGeom prst="rect">
            <a:avLst/>
          </a:prstGeom>
          <a:noFill/>
        </p:spPr>
        <p:txBody>
          <a:bodyPr wrap="square" lIns="0" rIns="0" tIns="0" bIns="0" anchor="ctr">
            <a:spAutoFit/>
          </a:bodyPr>
          <a:lstStyle/>
          <a:p>
            <a:pPr algn="ctr"/>
            <a:r>
              <a:rPr sz="3400" b="1" i="0">
                <a:solidFill>
                  <a:srgbClr val="FFFFFF"/>
                </a:solidFill>
                <a:latin typeface="Cambria"/>
              </a:rPr>
              <a:t>Q</a:t>
            </a:r>
          </a:p>
        </p:txBody>
      </p:sp>
      <p:sp>
        <p:nvSpPr>
          <p:cNvPr id="17" name="TextBox 16"/>
          <p:cNvSpPr txBox="1"/>
          <p:nvPr/>
        </p:nvSpPr>
        <p:spPr>
          <a:xfrm>
            <a:off x="6035040" y="2651760"/>
            <a:ext cx="5242255" cy="320040"/>
          </a:xfrm>
          <a:prstGeom prst="rect">
            <a:avLst/>
          </a:prstGeom>
          <a:noFill/>
        </p:spPr>
        <p:txBody>
          <a:bodyPr wrap="square" lIns="0" rIns="0" tIns="0" bIns="0" anchor="ctr">
            <a:spAutoFit/>
          </a:bodyPr>
          <a:lstStyle/>
          <a:p>
            <a:pPr algn="l"/>
            <a:r>
              <a:rPr sz="1100" b="1" i="0" spc="200">
                <a:solidFill>
                  <a:srgbClr val="F5C6D1"/>
                </a:solidFill>
                <a:latin typeface="Calibri"/>
              </a:rPr>
              <a:t>CUSTOMER QUESTION</a:t>
            </a:r>
          </a:p>
        </p:txBody>
      </p:sp>
      <p:sp>
        <p:nvSpPr>
          <p:cNvPr id="18" name="TextBox 17"/>
          <p:cNvSpPr txBox="1"/>
          <p:nvPr/>
        </p:nvSpPr>
        <p:spPr>
          <a:xfrm>
            <a:off x="6035040" y="3017520"/>
            <a:ext cx="5242255" cy="1920239"/>
          </a:xfrm>
          <a:prstGeom prst="rect">
            <a:avLst/>
          </a:prstGeom>
          <a:noFill/>
        </p:spPr>
        <p:txBody>
          <a:bodyPr wrap="square" lIns="0" rIns="0" tIns="0" bIns="0" anchor="t">
            <a:spAutoFit/>
          </a:bodyPr>
          <a:lstStyle/>
          <a:p>
            <a:pPr algn="l"/>
            <a:r>
              <a:rPr sz="2400" b="1" i="0">
                <a:solidFill>
                  <a:srgbClr val="FFFFFF"/>
                </a:solidFill>
                <a:latin typeface="Cambria"/>
              </a:rPr>
              <a:t>Can a patient with a cardiovascular stent be measured? Does it affect the results?</a:t>
            </a:r>
          </a:p>
        </p:txBody>
      </p:sp>
      <p:sp>
        <p:nvSpPr>
          <p:cNvPr id="19" name="Rectangle 18"/>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ulb.png"/>
          <p:cNvPicPr>
            <a:picLocks noChangeAspect="1"/>
          </p:cNvPicPr>
          <p:nvPr/>
        </p:nvPicPr>
        <p:blipFill>
          <a:blip r:embed="rId4"/>
          <a:stretch>
            <a:fillRect/>
          </a:stretch>
        </p:blipFill>
        <p:spPr>
          <a:xfrm>
            <a:off x="822960" y="5788152"/>
            <a:ext cx="274320" cy="274320"/>
          </a:xfrm>
          <a:prstGeom prst="rect">
            <a:avLst/>
          </a:prstGeom>
        </p:spPr>
      </p:pic>
      <p:sp>
        <p:nvSpPr>
          <p:cNvPr id="22" name="TextBox 21"/>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Stent patients can be measured normally, with full confidence in the results.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0175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017520" cy="566928"/>
          </a:xfrm>
          <a:prstGeom prst="rect">
            <a:avLst/>
          </a:prstGeom>
          <a:noFill/>
        </p:spPr>
        <p:txBody>
          <a:bodyPr wrap="square" lIns="0" rIns="0" tIns="0" bIns="0" anchor="ctr">
            <a:spAutoFit/>
          </a:bodyPr>
          <a:lstStyle/>
          <a:p>
            <a:pPr algn="ctr"/>
            <a:r>
              <a:rPr sz="2200" b="1" i="0">
                <a:solidFill>
                  <a:srgbClr val="FFFFFF"/>
                </a:solidFill>
                <a:latin typeface="Calibri"/>
              </a:rPr>
              <a:t>Interpretation Q&amp;A</a:t>
            </a:r>
          </a:p>
        </p:txBody>
      </p:sp>
      <p:sp>
        <p:nvSpPr>
          <p:cNvPr id="4" name="TextBox 3"/>
          <p:cNvSpPr txBox="1"/>
          <p:nvPr/>
        </p:nvSpPr>
        <p:spPr>
          <a:xfrm>
            <a:off x="3703320" y="320040"/>
            <a:ext cx="620237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2"/>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49</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3"/>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marL="228600" indent="-228600">
              <a:spcAft>
                <a:spcPts val="600"/>
              </a:spcAft>
              <a:buChar char="•"/>
            </a:pPr>
            <a:r>
              <a:rPr sz="1300">
                <a:solidFill>
                  <a:srgbClr val="181D27"/>
                </a:solidFill>
                <a:latin typeface="Calibri"/>
              </a:rPr>
              <a:t>Breast implants are measured as FAT.</a:t>
            </a:r>
          </a:p>
          <a:p>
            <a:pPr marL="228600" indent="-228600">
              <a:spcAft>
                <a:spcPts val="600"/>
              </a:spcAft>
              <a:buChar char="•"/>
            </a:pPr>
            <a:r>
              <a:rPr sz="1300">
                <a:solidFill>
                  <a:srgbClr val="181D27"/>
                </a:solidFill>
                <a:latin typeface="Calibri"/>
              </a:rPr>
              <a:t>In female bodybuilders, fat mass is sometimes measured higher than expected.</a:t>
            </a:r>
          </a:p>
          <a:p>
            <a:pPr marL="228600" indent="-228600">
              <a:spcAft>
                <a:spcPts val="600"/>
              </a:spcAft>
              <a:buChar char="•"/>
            </a:pPr>
            <a:r>
              <a:rPr sz="1300">
                <a:solidFill>
                  <a:srgbClr val="181D27"/>
                </a:solidFill>
                <a:latin typeface="Calibri"/>
              </a:rPr>
              <a:t>Subjects with breast or other cosmetic implants can show results like this.</a:t>
            </a:r>
          </a:p>
        </p:txBody>
      </p:sp>
      <p:sp>
        <p:nvSpPr>
          <p:cNvPr id="14" name="Rectangle 13"/>
          <p:cNvSpPr/>
          <p:nvPr/>
        </p:nvSpPr>
        <p:spPr>
          <a:xfrm>
            <a:off x="5577840" y="1097280"/>
            <a:ext cx="6156655" cy="4206240"/>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35040" y="1600200"/>
            <a:ext cx="822960" cy="822960"/>
          </a:xfrm>
          <a:prstGeom prst="ellipse">
            <a:avLst/>
          </a:prstGeom>
          <a:solidFill>
            <a:srgbClr val="B50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1600200"/>
            <a:ext cx="822960" cy="822960"/>
          </a:xfrm>
          <a:prstGeom prst="rect">
            <a:avLst/>
          </a:prstGeom>
          <a:noFill/>
        </p:spPr>
        <p:txBody>
          <a:bodyPr wrap="square" lIns="0" rIns="0" tIns="0" bIns="0" anchor="ctr">
            <a:spAutoFit/>
          </a:bodyPr>
          <a:lstStyle/>
          <a:p>
            <a:pPr algn="ctr"/>
            <a:r>
              <a:rPr sz="3400" b="1" i="0">
                <a:solidFill>
                  <a:srgbClr val="FFFFFF"/>
                </a:solidFill>
                <a:latin typeface="Cambria"/>
              </a:rPr>
              <a:t>Q</a:t>
            </a:r>
          </a:p>
        </p:txBody>
      </p:sp>
      <p:sp>
        <p:nvSpPr>
          <p:cNvPr id="17" name="TextBox 16"/>
          <p:cNvSpPr txBox="1"/>
          <p:nvPr/>
        </p:nvSpPr>
        <p:spPr>
          <a:xfrm>
            <a:off x="6035040" y="2651760"/>
            <a:ext cx="5242255" cy="320040"/>
          </a:xfrm>
          <a:prstGeom prst="rect">
            <a:avLst/>
          </a:prstGeom>
          <a:noFill/>
        </p:spPr>
        <p:txBody>
          <a:bodyPr wrap="square" lIns="0" rIns="0" tIns="0" bIns="0" anchor="ctr">
            <a:spAutoFit/>
          </a:bodyPr>
          <a:lstStyle/>
          <a:p>
            <a:pPr algn="l"/>
            <a:r>
              <a:rPr sz="1100" b="1" i="0" spc="200">
                <a:solidFill>
                  <a:srgbClr val="F5C6D1"/>
                </a:solidFill>
                <a:latin typeface="Calibri"/>
              </a:rPr>
              <a:t>CUSTOMER QUESTION</a:t>
            </a:r>
          </a:p>
        </p:txBody>
      </p:sp>
      <p:sp>
        <p:nvSpPr>
          <p:cNvPr id="18" name="TextBox 17"/>
          <p:cNvSpPr txBox="1"/>
          <p:nvPr/>
        </p:nvSpPr>
        <p:spPr>
          <a:xfrm>
            <a:off x="6035040" y="3017520"/>
            <a:ext cx="5242255" cy="1920239"/>
          </a:xfrm>
          <a:prstGeom prst="rect">
            <a:avLst/>
          </a:prstGeom>
          <a:noFill/>
        </p:spPr>
        <p:txBody>
          <a:bodyPr wrap="square" lIns="0" rIns="0" tIns="0" bIns="0" anchor="t">
            <a:spAutoFit/>
          </a:bodyPr>
          <a:lstStyle/>
          <a:p>
            <a:pPr algn="l"/>
            <a:r>
              <a:rPr sz="2400" b="1" i="0">
                <a:solidFill>
                  <a:srgbClr val="FFFFFF"/>
                </a:solidFill>
                <a:latin typeface="Cambria"/>
              </a:rPr>
              <a:t>What are breast implants measured as?</a:t>
            </a:r>
          </a:p>
        </p:txBody>
      </p:sp>
      <p:sp>
        <p:nvSpPr>
          <p:cNvPr id="19" name="Rectangle 18"/>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ulb.png"/>
          <p:cNvPicPr>
            <a:picLocks noChangeAspect="1"/>
          </p:cNvPicPr>
          <p:nvPr/>
        </p:nvPicPr>
        <p:blipFill>
          <a:blip r:embed="rId4"/>
          <a:stretch>
            <a:fillRect/>
          </a:stretch>
        </p:blipFill>
        <p:spPr>
          <a:xfrm>
            <a:off x="822960" y="5788152"/>
            <a:ext cx="274320" cy="274320"/>
          </a:xfrm>
          <a:prstGeom prst="rect">
            <a:avLst/>
          </a:prstGeom>
        </p:spPr>
      </p:pic>
      <p:sp>
        <p:nvSpPr>
          <p:cNvPr id="22" name="TextBox 21"/>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Cosmetic implants read as fat, so fat mass may look higher than expected.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0175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017520" cy="566928"/>
          </a:xfrm>
          <a:prstGeom prst="rect">
            <a:avLst/>
          </a:prstGeom>
          <a:noFill/>
        </p:spPr>
        <p:txBody>
          <a:bodyPr wrap="square" lIns="0" rIns="0" tIns="0" bIns="0" anchor="ctr">
            <a:spAutoFit/>
          </a:bodyPr>
          <a:lstStyle/>
          <a:p>
            <a:pPr algn="ctr"/>
            <a:r>
              <a:rPr sz="2200" b="1" i="0">
                <a:solidFill>
                  <a:srgbClr val="FFFFFF"/>
                </a:solidFill>
                <a:latin typeface="Calibri"/>
              </a:rPr>
              <a:t>Interpretation Q&amp;A</a:t>
            </a:r>
          </a:p>
        </p:txBody>
      </p:sp>
      <p:sp>
        <p:nvSpPr>
          <p:cNvPr id="4" name="TextBox 3"/>
          <p:cNvSpPr txBox="1"/>
          <p:nvPr/>
        </p:nvSpPr>
        <p:spPr>
          <a:xfrm>
            <a:off x="3703320" y="320040"/>
            <a:ext cx="620237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2"/>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50</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3"/>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marL="228600" indent="-228600">
              <a:spcAft>
                <a:spcPts val="600"/>
              </a:spcAft>
              <a:buChar char="•"/>
            </a:pPr>
            <a:r>
              <a:rPr sz="1300">
                <a:solidFill>
                  <a:srgbClr val="181D27"/>
                </a:solidFill>
                <a:latin typeface="Calibri"/>
              </a:rPr>
              <a:t>A missing limb length means less resistance to the current in that segment.</a:t>
            </a:r>
          </a:p>
          <a:p>
            <a:pPr marL="228600" indent="-228600">
              <a:spcAft>
                <a:spcPts val="600"/>
              </a:spcAft>
              <a:buChar char="•"/>
            </a:pPr>
            <a:r>
              <a:rPr sz="1300">
                <a:solidFill>
                  <a:srgbClr val="181D27"/>
                </a:solidFill>
                <a:latin typeface="Calibri"/>
              </a:rPr>
              <a:t>InBody assumes all limbs are normal length, so it reads that segment as having a lot of body water.</a:t>
            </a:r>
          </a:p>
          <a:p>
            <a:pPr marL="228600" indent="-228600">
              <a:spcAft>
                <a:spcPts val="600"/>
              </a:spcAft>
              <a:buChar char="•"/>
            </a:pPr>
            <a:r>
              <a:rPr sz="1300">
                <a:solidFill>
                  <a:srgbClr val="181D27"/>
                </a:solidFill>
                <a:latin typeface="Calibri"/>
              </a:rPr>
              <a:t>InBody shows the impedance values as they are, so it can still track the amputated limb's condition over time.</a:t>
            </a:r>
          </a:p>
        </p:txBody>
      </p:sp>
      <p:sp>
        <p:nvSpPr>
          <p:cNvPr id="14" name="Rectangle 13"/>
          <p:cNvSpPr/>
          <p:nvPr/>
        </p:nvSpPr>
        <p:spPr>
          <a:xfrm>
            <a:off x="5577840" y="1097280"/>
            <a:ext cx="6156655" cy="4206240"/>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35040" y="1600200"/>
            <a:ext cx="822960" cy="822960"/>
          </a:xfrm>
          <a:prstGeom prst="ellipse">
            <a:avLst/>
          </a:prstGeom>
          <a:solidFill>
            <a:srgbClr val="B50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1600200"/>
            <a:ext cx="822960" cy="822960"/>
          </a:xfrm>
          <a:prstGeom prst="rect">
            <a:avLst/>
          </a:prstGeom>
          <a:noFill/>
        </p:spPr>
        <p:txBody>
          <a:bodyPr wrap="square" lIns="0" rIns="0" tIns="0" bIns="0" anchor="ctr">
            <a:spAutoFit/>
          </a:bodyPr>
          <a:lstStyle/>
          <a:p>
            <a:pPr algn="ctr"/>
            <a:r>
              <a:rPr sz="3400" b="1" i="0">
                <a:solidFill>
                  <a:srgbClr val="FFFFFF"/>
                </a:solidFill>
                <a:latin typeface="Cambria"/>
              </a:rPr>
              <a:t>Q</a:t>
            </a:r>
          </a:p>
        </p:txBody>
      </p:sp>
      <p:sp>
        <p:nvSpPr>
          <p:cNvPr id="17" name="TextBox 16"/>
          <p:cNvSpPr txBox="1"/>
          <p:nvPr/>
        </p:nvSpPr>
        <p:spPr>
          <a:xfrm>
            <a:off x="6035040" y="2651760"/>
            <a:ext cx="5242255" cy="320040"/>
          </a:xfrm>
          <a:prstGeom prst="rect">
            <a:avLst/>
          </a:prstGeom>
          <a:noFill/>
        </p:spPr>
        <p:txBody>
          <a:bodyPr wrap="square" lIns="0" rIns="0" tIns="0" bIns="0" anchor="ctr">
            <a:spAutoFit/>
          </a:bodyPr>
          <a:lstStyle/>
          <a:p>
            <a:pPr algn="l"/>
            <a:r>
              <a:rPr sz="1100" b="1" i="0" spc="200">
                <a:solidFill>
                  <a:srgbClr val="F5C6D1"/>
                </a:solidFill>
                <a:latin typeface="Calibri"/>
              </a:rPr>
              <a:t>CUSTOMER QUESTION</a:t>
            </a:r>
          </a:p>
        </p:txBody>
      </p:sp>
      <p:sp>
        <p:nvSpPr>
          <p:cNvPr id="18" name="TextBox 17"/>
          <p:cNvSpPr txBox="1"/>
          <p:nvPr/>
        </p:nvSpPr>
        <p:spPr>
          <a:xfrm>
            <a:off x="6035040" y="3017520"/>
            <a:ext cx="5242255" cy="1920239"/>
          </a:xfrm>
          <a:prstGeom prst="rect">
            <a:avLst/>
          </a:prstGeom>
          <a:noFill/>
        </p:spPr>
        <p:txBody>
          <a:bodyPr wrap="square" lIns="0" rIns="0" tIns="0" bIns="0" anchor="t">
            <a:spAutoFit/>
          </a:bodyPr>
          <a:lstStyle/>
          <a:p>
            <a:pPr algn="l"/>
            <a:r>
              <a:rPr sz="2400" b="1" i="0">
                <a:solidFill>
                  <a:srgbClr val="FFFFFF"/>
                </a:solidFill>
                <a:latin typeface="Cambria"/>
              </a:rPr>
              <a:t>How much can we trust results for amputated patients? Is there a minimum limb length?</a:t>
            </a:r>
          </a:p>
        </p:txBody>
      </p:sp>
      <p:sp>
        <p:nvSpPr>
          <p:cNvPr id="19" name="Rectangle 18"/>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ulb.png"/>
          <p:cNvPicPr>
            <a:picLocks noChangeAspect="1"/>
          </p:cNvPicPr>
          <p:nvPr/>
        </p:nvPicPr>
        <p:blipFill>
          <a:blip r:embed="rId4"/>
          <a:stretch>
            <a:fillRect/>
          </a:stretch>
        </p:blipFill>
        <p:spPr>
          <a:xfrm>
            <a:off x="822960" y="5788152"/>
            <a:ext cx="274320" cy="274320"/>
          </a:xfrm>
          <a:prstGeom prst="rect">
            <a:avLst/>
          </a:prstGeom>
        </p:spPr>
      </p:pic>
      <p:sp>
        <p:nvSpPr>
          <p:cNvPr id="22" name="TextBox 21"/>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For amputees, use InBody to monitor change over time, not for absolute values.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50749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5074920" cy="566928"/>
          </a:xfrm>
          <a:prstGeom prst="rect">
            <a:avLst/>
          </a:prstGeom>
          <a:noFill/>
        </p:spPr>
        <p:txBody>
          <a:bodyPr wrap="square" lIns="0" rIns="0" tIns="0" bIns="0" anchor="ctr">
            <a:spAutoFit/>
          </a:bodyPr>
          <a:lstStyle/>
          <a:p>
            <a:pPr algn="ctr"/>
            <a:r>
              <a:rPr sz="2200" b="1" i="0">
                <a:solidFill>
                  <a:srgbClr val="FFFFFF"/>
                </a:solidFill>
                <a:latin typeface="Calibri"/>
              </a:rPr>
              <a:t>All About Bioelectrical Impedance</a:t>
            </a:r>
          </a:p>
        </p:txBody>
      </p:sp>
      <p:sp>
        <p:nvSpPr>
          <p:cNvPr id="4" name="TextBox 3"/>
          <p:cNvSpPr txBox="1"/>
          <p:nvPr/>
        </p:nvSpPr>
        <p:spPr>
          <a:xfrm>
            <a:off x="5760720" y="320040"/>
            <a:ext cx="414497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51</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What to check after measuring</a:t>
            </a:r>
          </a:p>
          <a:p>
            <a:pPr marL="228600" indent="-228600">
              <a:spcAft>
                <a:spcPts val="600"/>
              </a:spcAft>
              <a:buChar char="•"/>
            </a:pPr>
            <a:r>
              <a:rPr sz="1300">
                <a:solidFill>
                  <a:srgbClr val="181D27"/>
                </a:solidFill>
                <a:latin typeface="Calibri"/>
              </a:rPr>
              <a:t>Impedance should decrease as the frequency increases.</a:t>
            </a:r>
          </a:p>
          <a:p>
            <a:pPr marL="228600" indent="-228600">
              <a:spcAft>
                <a:spcPts val="600"/>
              </a:spcAft>
              <a:buChar char="•"/>
            </a:pPr>
            <a:r>
              <a:rPr sz="1300">
                <a:solidFill>
                  <a:srgbClr val="181D27"/>
                </a:solidFill>
                <a:latin typeface="Calibri"/>
              </a:rPr>
              <a:t>Each impedance should not be too low or too high.</a:t>
            </a:r>
          </a:p>
          <a:p>
            <a:pPr marL="228600" indent="-228600">
              <a:spcAft>
                <a:spcPts val="600"/>
              </a:spcAft>
              <a:buChar char="•"/>
            </a:pPr>
            <a:r>
              <a:rPr sz="1300">
                <a:solidFill>
                  <a:srgbClr val="181D27"/>
                </a:solidFill>
                <a:latin typeface="Calibri"/>
              </a:rPr>
              <a:t>The left–right impedance difference should be below 30 ohms.</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48.png"/>
          <p:cNvPicPr>
            <a:picLocks noChangeAspect="1"/>
          </p:cNvPicPr>
          <p:nvPr/>
        </p:nvPicPr>
        <p:blipFill>
          <a:blip r:embed="rId6"/>
          <a:stretch>
            <a:fillRect/>
          </a:stretch>
        </p:blipFill>
        <p:spPr>
          <a:xfrm>
            <a:off x="7960908" y="1280160"/>
            <a:ext cx="1390518"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Check the impedance first: it tells you whether the test was done correctly.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50749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5074920" cy="566928"/>
          </a:xfrm>
          <a:prstGeom prst="rect">
            <a:avLst/>
          </a:prstGeom>
          <a:noFill/>
        </p:spPr>
        <p:txBody>
          <a:bodyPr wrap="square" lIns="0" rIns="0" tIns="0" bIns="0" anchor="ctr">
            <a:spAutoFit/>
          </a:bodyPr>
          <a:lstStyle/>
          <a:p>
            <a:pPr algn="ctr"/>
            <a:r>
              <a:rPr sz="2200" b="1" i="0">
                <a:solidFill>
                  <a:srgbClr val="FFFFFF"/>
                </a:solidFill>
                <a:latin typeface="Calibri"/>
              </a:rPr>
              <a:t>All About Bioelectrical Impedance</a:t>
            </a:r>
          </a:p>
        </p:txBody>
      </p:sp>
      <p:sp>
        <p:nvSpPr>
          <p:cNvPr id="4" name="TextBox 3"/>
          <p:cNvSpPr txBox="1"/>
          <p:nvPr/>
        </p:nvSpPr>
        <p:spPr>
          <a:xfrm>
            <a:off x="5760720" y="320040"/>
            <a:ext cx="4144975" cy="566928"/>
          </a:xfrm>
          <a:prstGeom prst="rect">
            <a:avLst/>
          </a:prstGeom>
          <a:noFill/>
        </p:spPr>
        <p:txBody>
          <a:bodyPr wrap="square" lIns="0" rIns="0" tIns="0" bIns="0" anchor="ctr">
            <a:spAutoFit/>
          </a:bodyPr>
          <a:lstStyle/>
          <a:p>
            <a:pPr algn="l"/>
            <a:r>
              <a:rPr sz="900" b="1" i="0">
                <a:solidFill>
                  <a:srgbClr val="B50937"/>
                </a:solidFill>
                <a:latin typeface="Calibri"/>
              </a:rPr>
              <a:t>SESSION 3</a:t>
            </a:r>
          </a:p>
          <a:p>
            <a:pPr algn="l"/>
            <a:r>
              <a:rPr sz="900" b="0" i="0">
                <a:solidFill>
                  <a:srgbClr val="5E6470"/>
                </a:solidFill>
                <a:latin typeface="Calibri"/>
              </a:rPr>
              <a:t>Result Sheet Interpretation – Part 2: Clinical Interpretation</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52</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Impedance is the individual value behind every body composition result.</a:t>
            </a:r>
          </a:p>
          <a:p>
            <a:pPr>
              <a:spcAft>
                <a:spcPts val="600"/>
              </a:spcAft>
            </a:pPr>
            <a:r>
              <a:rPr sz="1300">
                <a:solidFill>
                  <a:srgbClr val="181D27"/>
                </a:solidFill>
                <a:latin typeface="Calibri"/>
              </a:rPr>
              <a:t>For accurate measurements, check the impedance first to confirm the test was done correctly.</a:t>
            </a:r>
          </a:p>
        </p:txBody>
      </p:sp>
      <p:sp>
        <p:nvSpPr>
          <p:cNvPr id="14" name="Rectangle 13"/>
          <p:cNvSpPr/>
          <p:nvPr/>
        </p:nvSpPr>
        <p:spPr>
          <a:xfrm>
            <a:off x="5577840" y="1097280"/>
            <a:ext cx="6156655" cy="4206240"/>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35040" y="1600200"/>
            <a:ext cx="822960" cy="822960"/>
          </a:xfrm>
          <a:prstGeom prst="ellipse">
            <a:avLst/>
          </a:prstGeom>
          <a:solidFill>
            <a:srgbClr val="B50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1600200"/>
            <a:ext cx="822960" cy="822960"/>
          </a:xfrm>
          <a:prstGeom prst="rect">
            <a:avLst/>
          </a:prstGeom>
          <a:noFill/>
        </p:spPr>
        <p:txBody>
          <a:bodyPr wrap="square" lIns="0" rIns="0" tIns="0" bIns="0" anchor="ctr">
            <a:spAutoFit/>
          </a:bodyPr>
          <a:lstStyle/>
          <a:p>
            <a:pPr algn="ctr"/>
            <a:r>
              <a:rPr sz="3400" b="1" i="0">
                <a:solidFill>
                  <a:srgbClr val="FFFFFF"/>
                </a:solidFill>
                <a:latin typeface="Cambria"/>
              </a:rPr>
              <a:t>Q</a:t>
            </a:r>
          </a:p>
        </p:txBody>
      </p:sp>
      <p:sp>
        <p:nvSpPr>
          <p:cNvPr id="17" name="TextBox 16"/>
          <p:cNvSpPr txBox="1"/>
          <p:nvPr/>
        </p:nvSpPr>
        <p:spPr>
          <a:xfrm>
            <a:off x="6035040" y="2651760"/>
            <a:ext cx="5242255" cy="320040"/>
          </a:xfrm>
          <a:prstGeom prst="rect">
            <a:avLst/>
          </a:prstGeom>
          <a:noFill/>
        </p:spPr>
        <p:txBody>
          <a:bodyPr wrap="square" lIns="0" rIns="0" tIns="0" bIns="0" anchor="ctr">
            <a:spAutoFit/>
          </a:bodyPr>
          <a:lstStyle/>
          <a:p>
            <a:pPr algn="l"/>
            <a:r>
              <a:rPr sz="1100" b="1" i="0" spc="200">
                <a:solidFill>
                  <a:srgbClr val="F5C6D1"/>
                </a:solidFill>
                <a:latin typeface="Calibri"/>
              </a:rPr>
              <a:t>CUSTOMER QUESTION</a:t>
            </a:r>
          </a:p>
        </p:txBody>
      </p:sp>
      <p:sp>
        <p:nvSpPr>
          <p:cNvPr id="18" name="TextBox 17"/>
          <p:cNvSpPr txBox="1"/>
          <p:nvPr/>
        </p:nvSpPr>
        <p:spPr>
          <a:xfrm>
            <a:off x="6035040" y="3017520"/>
            <a:ext cx="5242255" cy="1920239"/>
          </a:xfrm>
          <a:prstGeom prst="rect">
            <a:avLst/>
          </a:prstGeom>
          <a:noFill/>
        </p:spPr>
        <p:txBody>
          <a:bodyPr wrap="square" lIns="0" rIns="0" tIns="0" bIns="0" anchor="t">
            <a:spAutoFit/>
          </a:bodyPr>
          <a:lstStyle/>
          <a:p>
            <a:pPr algn="l"/>
            <a:r>
              <a:rPr sz="2400" b="1" i="0">
                <a:solidFill>
                  <a:srgbClr val="FFFFFF"/>
                </a:solidFill>
                <a:latin typeface="Cambria"/>
              </a:rPr>
              <a:t>How do we know the measurement was done correctly? Check the impedance.</a:t>
            </a:r>
          </a:p>
        </p:txBody>
      </p:sp>
      <p:sp>
        <p:nvSpPr>
          <p:cNvPr id="19" name="Rectangle 18"/>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ulb.png"/>
          <p:cNvPicPr>
            <a:picLocks noChangeAspect="1"/>
          </p:cNvPicPr>
          <p:nvPr/>
        </p:nvPicPr>
        <p:blipFill>
          <a:blip r:embed="rId5"/>
          <a:stretch>
            <a:fillRect/>
          </a:stretch>
        </p:blipFill>
        <p:spPr>
          <a:xfrm>
            <a:off x="822960" y="5788152"/>
            <a:ext cx="274320" cy="274320"/>
          </a:xfrm>
          <a:prstGeom prst="rect">
            <a:avLst/>
          </a:prstGeom>
        </p:spPr>
      </p:pic>
      <p:sp>
        <p:nvSpPr>
          <p:cNvPr id="22" name="TextBox 21"/>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Make sure the measurement is correct using the impedance values.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181D27"/>
        </a:solidFill>
        <a:effectLst/>
      </p:bgPr>
    </p:bg>
    <p:spTree>
      <p:nvGrpSpPr>
        <p:cNvPr id="1" name=""/>
        <p:cNvGrpSpPr/>
        <p:nvPr/>
      </p:nvGrpSpPr>
      <p:grpSpPr>
        <a:xfrm>
          <a:off x="0" y="0"/>
          <a:ext cx="0" cy="0"/>
          <a:chOff x="0" y="0"/>
          <a:chExt cx="0" cy="0"/>
        </a:xfrm>
      </p:grpSpPr>
      <p:sp>
        <p:nvSpPr>
          <p:cNvPr id="2" name="Rounded Rectangle 1"/>
          <p:cNvSpPr/>
          <p:nvPr/>
        </p:nvSpPr>
        <p:spPr>
          <a:xfrm>
            <a:off x="822960" y="2148840"/>
            <a:ext cx="1371600" cy="1371600"/>
          </a:xfrm>
          <a:prstGeom prst="roundRect">
            <a:avLst>
              <a:gd name="adj" fmla="val 12000"/>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1371600" cy="1371600"/>
          </a:xfrm>
          <a:prstGeom prst="rect">
            <a:avLst/>
          </a:prstGeom>
          <a:noFill/>
        </p:spPr>
        <p:txBody>
          <a:bodyPr wrap="square" lIns="0" rIns="0" tIns="0" bIns="0" anchor="ctr">
            <a:spAutoFit/>
          </a:bodyPr>
          <a:lstStyle/>
          <a:p>
            <a:pPr algn="ctr"/>
            <a:r>
              <a:rPr sz="4400" b="1" i="0">
                <a:solidFill>
                  <a:srgbClr val="FFFFFF"/>
                </a:solidFill>
                <a:latin typeface="Cambria"/>
              </a:rPr>
              <a:t>04</a:t>
            </a:r>
          </a:p>
        </p:txBody>
      </p:sp>
      <p:sp>
        <p:nvSpPr>
          <p:cNvPr id="4" name="TextBox 3"/>
          <p:cNvSpPr txBox="1"/>
          <p:nvPr/>
        </p:nvSpPr>
        <p:spPr>
          <a:xfrm>
            <a:off x="2560320" y="2148840"/>
            <a:ext cx="8686800" cy="365760"/>
          </a:xfrm>
          <a:prstGeom prst="rect">
            <a:avLst/>
          </a:prstGeom>
          <a:noFill/>
        </p:spPr>
        <p:txBody>
          <a:bodyPr wrap="square" lIns="0" rIns="0" tIns="0" bIns="0" anchor="ctr">
            <a:spAutoFit/>
          </a:bodyPr>
          <a:lstStyle/>
          <a:p>
            <a:pPr algn="l"/>
            <a:r>
              <a:rPr sz="1200" b="1" i="0">
                <a:solidFill>
                  <a:srgbClr val="F5C6D1"/>
                </a:solidFill>
                <a:latin typeface="Calibri"/>
              </a:rPr>
              <a:t>SESSION 4  ·  12:10 – 12:50 PM</a:t>
            </a:r>
          </a:p>
        </p:txBody>
      </p:sp>
      <p:sp>
        <p:nvSpPr>
          <p:cNvPr id="5" name="TextBox 4"/>
          <p:cNvSpPr txBox="1"/>
          <p:nvPr/>
        </p:nvSpPr>
        <p:spPr>
          <a:xfrm>
            <a:off x="2560320" y="2560320"/>
            <a:ext cx="8961120" cy="1463040"/>
          </a:xfrm>
          <a:prstGeom prst="rect">
            <a:avLst/>
          </a:prstGeom>
          <a:noFill/>
        </p:spPr>
        <p:txBody>
          <a:bodyPr wrap="square" lIns="0" rIns="0" tIns="0" bIns="0" anchor="t">
            <a:spAutoFit/>
          </a:bodyPr>
          <a:lstStyle/>
          <a:p>
            <a:pPr algn="l"/>
            <a:r>
              <a:rPr sz="3600" b="1" i="0">
                <a:solidFill>
                  <a:srgbClr val="FFFFFF"/>
                </a:solidFill>
                <a:latin typeface="Cambria"/>
              </a:rPr>
              <a:t>Diabetes &amp; Body Composition</a:t>
            </a:r>
          </a:p>
        </p:txBody>
      </p:sp>
      <p:pic>
        <p:nvPicPr>
          <p:cNvPr id="6" name="Picture 5" descr="logo_white.png"/>
          <p:cNvPicPr>
            <a:picLocks noChangeAspect="1"/>
          </p:cNvPicPr>
          <p:nvPr/>
        </p:nvPicPr>
        <p:blipFill>
          <a:blip r:embed="rId3"/>
          <a:stretch>
            <a:fillRect/>
          </a:stretch>
        </p:blipFill>
        <p:spPr>
          <a:xfrm>
            <a:off x="10021083" y="457200"/>
            <a:ext cx="1621971" cy="45720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9AA0AA"/>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F5C6D1"/>
                </a:solidFill>
                <a:latin typeface="Calibri"/>
              </a:rPr>
              <a:t>53</a:t>
            </a:r>
          </a:p>
        </p:txBody>
      </p:sp>
    </p:spTree>
    <p:extLst>
      <p:ext uri="{BB962C8B-B14F-4D97-AF65-F5344CB8AC3E}">
        <p14:creationId xmlns:p14="http://schemas.microsoft.com/office/powerpoint/2010/main" val="303221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1422364" y="1097280"/>
            <a:ext cx="9347200" cy="5257800"/>
          </a:xfrm>
          <a:prstGeom prst="rect">
            <a:avLst/>
          </a:prstGeom>
          <a:blipFill>
            <a:blip r:embed="rId2" cstate="print"/>
            <a:stretch>
              <a:fillRect/>
            </a:stretch>
          </a:blipFill>
        </p:spPr>
        <p:txBody>
          <a:bodyPr wrap="square" lIns="0" tIns="0" rIns="0" bIns="0" rtlCol="0">
            <a:spAutoFit/>
          </a:bodyPr>
          <a:lstStyle/>
          <a:p>
            <a:endParaRPr/>
          </a:p>
        </p:txBody>
      </p:sp>
      <p:sp>
        <p:nvSpPr>
          <p:cNvPr id="4" name="object 4"/>
          <p:cNvSpPr txBox="1"/>
          <p:nvPr/>
        </p:nvSpPr>
        <p:spPr>
          <a:xfrm>
            <a:off x="3953415" y="2628229"/>
            <a:ext cx="933484" cy="398791"/>
          </a:xfrm>
          <a:prstGeom prst="rect">
            <a:avLst/>
          </a:prstGeom>
        </p:spPr>
        <p:txBody>
          <a:bodyPr vert="horz" wrap="square" lIns="0" tIns="0" rIns="0" bIns="0" rtlCol="0">
            <a:spAutoFit/>
          </a:bodyPr>
          <a:lstStyle/>
          <a:p>
            <a:pPr marL="1389" marR="0">
              <a:lnSpc>
                <a:spcPts val="1437"/>
              </a:lnSpc>
              <a:spcBef>
                <a:spcPts val="0"/>
              </a:spcBef>
              <a:spcAft>
                <a:spcPts val="0"/>
              </a:spcAft>
            </a:pPr>
            <a:r>
              <a:rPr sz="1226" b="1" dirty="0">
                <a:solidFill>
                  <a:srgbClr val="000000"/>
                </a:solidFill>
                <a:latin typeface="Cambria"/>
                <a:cs typeface="Cambria"/>
              </a:rPr>
              <a:t>HbA1c Test</a:t>
            </a:r>
          </a:p>
          <a:p>
            <a:pPr marL="0" marR="0">
              <a:lnSpc>
                <a:spcPts val="1437"/>
              </a:lnSpc>
              <a:spcBef>
                <a:spcPts val="33"/>
              </a:spcBef>
              <a:spcAft>
                <a:spcPts val="0"/>
              </a:spcAft>
            </a:pPr>
            <a:r>
              <a:rPr sz="1226" b="1" dirty="0">
                <a:solidFill>
                  <a:srgbClr val="000000"/>
                </a:solidFill>
                <a:latin typeface="Cambria"/>
                <a:cs typeface="Cambria"/>
              </a:rPr>
              <a:t>(6.5 above)</a:t>
            </a:r>
          </a:p>
        </p:txBody>
      </p:sp>
      <p:sp>
        <p:nvSpPr>
          <p:cNvPr id="5" name="object 5"/>
          <p:cNvSpPr txBox="1"/>
          <p:nvPr/>
        </p:nvSpPr>
        <p:spPr>
          <a:xfrm>
            <a:off x="7579411" y="2840594"/>
            <a:ext cx="629155" cy="211848"/>
          </a:xfrm>
          <a:prstGeom prst="rect">
            <a:avLst/>
          </a:prstGeom>
        </p:spPr>
        <p:txBody>
          <a:bodyPr vert="horz" wrap="square" lIns="0" tIns="0" rIns="0" bIns="0" rtlCol="0">
            <a:spAutoFit/>
          </a:bodyPr>
          <a:lstStyle/>
          <a:p>
            <a:pPr marL="0" marR="0">
              <a:lnSpc>
                <a:spcPts val="1437"/>
              </a:lnSpc>
              <a:spcBef>
                <a:spcPts val="0"/>
              </a:spcBef>
              <a:spcAft>
                <a:spcPts val="0"/>
              </a:spcAft>
            </a:pPr>
            <a:r>
              <a:rPr sz="1226" b="1" dirty="0">
                <a:solidFill>
                  <a:srgbClr val="000000"/>
                </a:solidFill>
                <a:latin typeface="Cambria"/>
                <a:cs typeface="Cambria"/>
              </a:rPr>
              <a:t>Weight</a:t>
            </a:r>
          </a:p>
        </p:txBody>
      </p:sp>
      <p:sp>
        <p:nvSpPr>
          <p:cNvPr id="6" name="object 6"/>
          <p:cNvSpPr txBox="1"/>
          <p:nvPr/>
        </p:nvSpPr>
        <p:spPr>
          <a:xfrm>
            <a:off x="2841249" y="3650792"/>
            <a:ext cx="1784031" cy="211848"/>
          </a:xfrm>
          <a:prstGeom prst="rect">
            <a:avLst/>
          </a:prstGeom>
        </p:spPr>
        <p:txBody>
          <a:bodyPr vert="horz" wrap="square" lIns="0" tIns="0" rIns="0" bIns="0" rtlCol="0">
            <a:spAutoFit/>
          </a:bodyPr>
          <a:lstStyle/>
          <a:p>
            <a:pPr marL="0" marR="0">
              <a:lnSpc>
                <a:spcPts val="1437"/>
              </a:lnSpc>
              <a:spcBef>
                <a:spcPts val="0"/>
              </a:spcBef>
              <a:spcAft>
                <a:spcPts val="0"/>
              </a:spcAft>
            </a:pPr>
            <a:r>
              <a:rPr sz="1226" b="1" dirty="0">
                <a:solidFill>
                  <a:srgbClr val="000000"/>
                </a:solidFill>
                <a:latin typeface="Cambria"/>
                <a:cs typeface="Cambria"/>
              </a:rPr>
              <a:t>Fasting Plasma Glucose</a:t>
            </a:r>
          </a:p>
        </p:txBody>
      </p:sp>
      <p:sp>
        <p:nvSpPr>
          <p:cNvPr id="7" name="object 7"/>
          <p:cNvSpPr txBox="1"/>
          <p:nvPr/>
        </p:nvSpPr>
        <p:spPr>
          <a:xfrm>
            <a:off x="7814888" y="3742161"/>
            <a:ext cx="1596775" cy="211848"/>
          </a:xfrm>
          <a:prstGeom prst="rect">
            <a:avLst/>
          </a:prstGeom>
        </p:spPr>
        <p:txBody>
          <a:bodyPr vert="horz" wrap="square" lIns="0" tIns="0" rIns="0" bIns="0" rtlCol="0">
            <a:spAutoFit/>
          </a:bodyPr>
          <a:lstStyle/>
          <a:p>
            <a:pPr marL="0" marR="0">
              <a:lnSpc>
                <a:spcPts val="1437"/>
              </a:lnSpc>
              <a:spcBef>
                <a:spcPts val="0"/>
              </a:spcBef>
              <a:spcAft>
                <a:spcPts val="0"/>
              </a:spcAft>
            </a:pPr>
            <a:r>
              <a:rPr sz="1226" b="1" dirty="0">
                <a:solidFill>
                  <a:srgbClr val="000000"/>
                </a:solidFill>
                <a:latin typeface="Cambria"/>
                <a:cs typeface="Cambria"/>
              </a:rPr>
              <a:t>Waist circumference</a:t>
            </a:r>
          </a:p>
        </p:txBody>
      </p:sp>
      <p:sp>
        <p:nvSpPr>
          <p:cNvPr id="8" name="object 8"/>
          <p:cNvSpPr txBox="1"/>
          <p:nvPr/>
        </p:nvSpPr>
        <p:spPr>
          <a:xfrm>
            <a:off x="3446063" y="3837736"/>
            <a:ext cx="1178868" cy="211848"/>
          </a:xfrm>
          <a:prstGeom prst="rect">
            <a:avLst/>
          </a:prstGeom>
        </p:spPr>
        <p:txBody>
          <a:bodyPr vert="horz" wrap="square" lIns="0" tIns="0" rIns="0" bIns="0" rtlCol="0">
            <a:spAutoFit/>
          </a:bodyPr>
          <a:lstStyle/>
          <a:p>
            <a:pPr marL="0" marR="0">
              <a:lnSpc>
                <a:spcPts val="1437"/>
              </a:lnSpc>
              <a:spcBef>
                <a:spcPts val="0"/>
              </a:spcBef>
              <a:spcAft>
                <a:spcPts val="0"/>
              </a:spcAft>
            </a:pPr>
            <a:r>
              <a:rPr sz="1226" b="1" dirty="0">
                <a:solidFill>
                  <a:srgbClr val="000000"/>
                </a:solidFill>
                <a:latin typeface="Cambria"/>
                <a:cs typeface="Cambria"/>
              </a:rPr>
              <a:t>(126 or above)</a:t>
            </a:r>
          </a:p>
        </p:txBody>
      </p:sp>
      <p:sp>
        <p:nvSpPr>
          <p:cNvPr id="9" name="object 9"/>
          <p:cNvSpPr txBox="1"/>
          <p:nvPr/>
        </p:nvSpPr>
        <p:spPr>
          <a:xfrm>
            <a:off x="2799663" y="4699333"/>
            <a:ext cx="2121850" cy="398791"/>
          </a:xfrm>
          <a:prstGeom prst="rect">
            <a:avLst/>
          </a:prstGeom>
        </p:spPr>
        <p:txBody>
          <a:bodyPr vert="horz" wrap="square" lIns="0" tIns="0" rIns="0" bIns="0" rtlCol="0">
            <a:spAutoFit/>
          </a:bodyPr>
          <a:lstStyle/>
          <a:p>
            <a:pPr marL="0" marR="0">
              <a:lnSpc>
                <a:spcPts val="1437"/>
              </a:lnSpc>
              <a:spcBef>
                <a:spcPts val="0"/>
              </a:spcBef>
              <a:spcAft>
                <a:spcPts val="0"/>
              </a:spcAft>
            </a:pPr>
            <a:r>
              <a:rPr sz="1226" b="1" dirty="0">
                <a:solidFill>
                  <a:srgbClr val="000000"/>
                </a:solidFill>
                <a:latin typeface="Cambria"/>
                <a:cs typeface="Cambria"/>
              </a:rPr>
              <a:t>Oral Glucose Tolerance Test</a:t>
            </a:r>
          </a:p>
          <a:p>
            <a:pPr marL="1193601" marR="0">
              <a:lnSpc>
                <a:spcPts val="1437"/>
              </a:lnSpc>
              <a:spcBef>
                <a:spcPts val="33"/>
              </a:spcBef>
              <a:spcAft>
                <a:spcPts val="0"/>
              </a:spcAft>
            </a:pPr>
            <a:r>
              <a:rPr sz="1226" b="1" dirty="0">
                <a:solidFill>
                  <a:srgbClr val="000000"/>
                </a:solidFill>
                <a:latin typeface="Cambria"/>
                <a:cs typeface="Cambria"/>
              </a:rPr>
              <a:t>(200 or above)</a:t>
            </a:r>
          </a:p>
        </p:txBody>
      </p:sp>
      <p:sp>
        <p:nvSpPr>
          <p:cNvPr id="10" name="object 10"/>
          <p:cNvSpPr txBox="1"/>
          <p:nvPr/>
        </p:nvSpPr>
        <p:spPr>
          <a:xfrm>
            <a:off x="7494226" y="4793718"/>
            <a:ext cx="1210892" cy="211848"/>
          </a:xfrm>
          <a:prstGeom prst="rect">
            <a:avLst/>
          </a:prstGeom>
        </p:spPr>
        <p:txBody>
          <a:bodyPr vert="horz" wrap="square" lIns="0" tIns="0" rIns="0" bIns="0" rtlCol="0">
            <a:spAutoFit/>
          </a:bodyPr>
          <a:lstStyle/>
          <a:p>
            <a:pPr marL="0" marR="0">
              <a:lnSpc>
                <a:spcPts val="1437"/>
              </a:lnSpc>
              <a:spcBef>
                <a:spcPts val="0"/>
              </a:spcBef>
              <a:spcAft>
                <a:spcPts val="0"/>
              </a:spcAft>
            </a:pPr>
            <a:r>
              <a:rPr sz="1226" b="1" dirty="0">
                <a:solidFill>
                  <a:srgbClr val="000000"/>
                </a:solidFill>
                <a:latin typeface="Cambria"/>
                <a:cs typeface="Cambria"/>
              </a:rPr>
              <a:t>Blood Pressure</a:t>
            </a:r>
          </a:p>
        </p:txBody>
      </p:sp>
      <p:sp>
        <p:nvSpPr>
          <p:cNvPr id="11" name="Rectangle 10">
            <a:extLst>
              <a:ext uri="{FF2B5EF4-FFF2-40B4-BE49-F238E27FC236}">
                <a16:creationId xmlns:a16="http://schemas.microsoft.com/office/drawing/2014/main" id="{A68589FA-5107-4C11-8155-D0907446DE8C}"/>
              </a:ext>
            </a:extLst>
          </p:cNvPr>
          <p:cNvSpPr/>
          <p:nvPr/>
        </p:nvSpPr>
        <p:spPr>
          <a:xfrm>
            <a:off x="7337745" y="1728587"/>
            <a:ext cx="3308973" cy="779608"/>
          </a:xfrm>
          <a:prstGeom prst="rect">
            <a:avLst/>
          </a:prstGeom>
        </p:spPr>
        <p:txBody>
          <a:bodyPr wrap="none">
            <a:spAutoFit/>
          </a:bodyPr>
          <a:lstStyle/>
          <a:p>
            <a:pPr algn="ctr">
              <a:lnSpc>
                <a:spcPts val="6471"/>
              </a:lnSpc>
            </a:pPr>
            <a:r>
              <a:rPr lang="en-US" sz="3066" b="1" dirty="0">
                <a:solidFill>
                  <a:srgbClr val="404040"/>
                </a:solidFill>
                <a:latin typeface="Cambria"/>
                <a:cs typeface="Cambria"/>
              </a:rPr>
              <a:t>BUT, is it enough?</a:t>
            </a:r>
          </a:p>
        </p:txBody>
      </p:sp>
      <p:sp>
        <p:nvSpPr>
          <p:cNvPr id="12" name="Rectangle 11"/>
          <p:cNvSpPr/>
          <p:nvPr/>
        </p:nvSpPr>
        <p:spPr>
          <a:xfrm>
            <a:off x="457200" y="320040"/>
            <a:ext cx="31546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0040"/>
            <a:ext cx="3154680" cy="566928"/>
          </a:xfrm>
          <a:prstGeom prst="rect">
            <a:avLst/>
          </a:prstGeom>
          <a:noFill/>
        </p:spPr>
        <p:txBody>
          <a:bodyPr wrap="square" lIns="0" rIns="0" tIns="0" bIns="0" anchor="ctr">
            <a:spAutoFit/>
          </a:bodyPr>
          <a:lstStyle/>
          <a:p>
            <a:pPr algn="ctr"/>
            <a:r>
              <a:rPr sz="2200" b="1" i="0">
                <a:solidFill>
                  <a:srgbClr val="FFFFFF"/>
                </a:solidFill>
                <a:latin typeface="Calibri"/>
              </a:rPr>
              <a:t>Diabetes Monitoring</a:t>
            </a:r>
          </a:p>
        </p:txBody>
      </p:sp>
      <p:sp>
        <p:nvSpPr>
          <p:cNvPr id="14" name="TextBox 13"/>
          <p:cNvSpPr txBox="1"/>
          <p:nvPr/>
        </p:nvSpPr>
        <p:spPr>
          <a:xfrm>
            <a:off x="3840480" y="320040"/>
            <a:ext cx="6065215" cy="566928"/>
          </a:xfrm>
          <a:prstGeom prst="rect">
            <a:avLst/>
          </a:prstGeom>
          <a:noFill/>
        </p:spPr>
        <p:txBody>
          <a:bodyPr wrap="square" lIns="0" rIns="0" tIns="0" bIns="0" anchor="ctr">
            <a:spAutoFit/>
          </a:bodyPr>
          <a:lstStyle/>
          <a:p>
            <a:pPr algn="l"/>
            <a:r>
              <a:rPr sz="900" b="1" i="0">
                <a:solidFill>
                  <a:srgbClr val="B50937"/>
                </a:solidFill>
                <a:latin typeface="Calibri"/>
              </a:rPr>
              <a:t>SESSION 4</a:t>
            </a:r>
          </a:p>
          <a:p>
            <a:pPr algn="l"/>
            <a:r>
              <a:rPr sz="900" b="0" i="0">
                <a:solidFill>
                  <a:srgbClr val="5E6470"/>
                </a:solidFill>
                <a:latin typeface="Calibri"/>
              </a:rPr>
              <a:t>Diabetes &amp; Body Composition</a:t>
            </a:r>
          </a:p>
        </p:txBody>
      </p:sp>
      <p:pic>
        <p:nvPicPr>
          <p:cNvPr id="15" name="Picture 14" descr="logo_red.png"/>
          <p:cNvPicPr>
            <a:picLocks noChangeAspect="1"/>
          </p:cNvPicPr>
          <p:nvPr/>
        </p:nvPicPr>
        <p:blipFill>
          <a:blip r:embed="rId3"/>
          <a:stretch>
            <a:fillRect/>
          </a:stretch>
        </p:blipFill>
        <p:spPr>
          <a:xfrm>
            <a:off x="10436918" y="420624"/>
            <a:ext cx="1297577" cy="365760"/>
          </a:xfrm>
          <a:prstGeom prst="rect">
            <a:avLst/>
          </a:prstGeom>
        </p:spPr>
      </p:pic>
      <p:sp>
        <p:nvSpPr>
          <p:cNvPr id="16" name="TextBox 1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7" name="TextBox 1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54</a:t>
            </a:r>
          </a:p>
        </p:txBody>
      </p:sp>
    </p:spTree>
    <p:extLst>
      <p:ext uri="{BB962C8B-B14F-4D97-AF65-F5344CB8AC3E}">
        <p14:creationId xmlns:p14="http://schemas.microsoft.com/office/powerpoint/2010/main" val="1590612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044E81E-0428-4A6B-A5C1-385AC2E03D94}"/>
              </a:ext>
            </a:extLst>
          </p:cNvPr>
          <p:cNvSpPr/>
          <p:nvPr/>
        </p:nvSpPr>
        <p:spPr>
          <a:xfrm>
            <a:off x="1523847" y="3487110"/>
            <a:ext cx="9144000" cy="38193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6" name="Oval 5">
            <a:extLst>
              <a:ext uri="{FF2B5EF4-FFF2-40B4-BE49-F238E27FC236}">
                <a16:creationId xmlns:a16="http://schemas.microsoft.com/office/drawing/2014/main" id="{05AF12DF-E515-4CB7-98AD-8AFD0E219394}"/>
              </a:ext>
            </a:extLst>
          </p:cNvPr>
          <p:cNvSpPr/>
          <p:nvPr/>
        </p:nvSpPr>
        <p:spPr>
          <a:xfrm>
            <a:off x="6800031" y="2637574"/>
            <a:ext cx="2163186" cy="216318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solidFill>
                <a:schemeClr val="tx2">
                  <a:lumMod val="75000"/>
                </a:schemeClr>
              </a:solidFill>
            </a:endParaRPr>
          </a:p>
        </p:txBody>
      </p:sp>
      <p:sp>
        <p:nvSpPr>
          <p:cNvPr id="8" name="Oval 7">
            <a:extLst>
              <a:ext uri="{FF2B5EF4-FFF2-40B4-BE49-F238E27FC236}">
                <a16:creationId xmlns:a16="http://schemas.microsoft.com/office/drawing/2014/main" id="{5631C776-488B-476C-BF39-1CE2CD337C28}"/>
              </a:ext>
            </a:extLst>
          </p:cNvPr>
          <p:cNvSpPr/>
          <p:nvPr/>
        </p:nvSpPr>
        <p:spPr>
          <a:xfrm>
            <a:off x="4760368" y="2651599"/>
            <a:ext cx="2205881" cy="2163186"/>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9" name="Oval 8">
            <a:extLst>
              <a:ext uri="{FF2B5EF4-FFF2-40B4-BE49-F238E27FC236}">
                <a16:creationId xmlns:a16="http://schemas.microsoft.com/office/drawing/2014/main" id="{C4309547-1EE0-4713-80BC-3F3FBD34C452}"/>
              </a:ext>
            </a:extLst>
          </p:cNvPr>
          <p:cNvSpPr/>
          <p:nvPr/>
        </p:nvSpPr>
        <p:spPr>
          <a:xfrm>
            <a:off x="2763398" y="2637574"/>
            <a:ext cx="2205880" cy="2163186"/>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16" name="Rectangle 15">
            <a:extLst>
              <a:ext uri="{FF2B5EF4-FFF2-40B4-BE49-F238E27FC236}">
                <a16:creationId xmlns:a16="http://schemas.microsoft.com/office/drawing/2014/main" id="{E4B24A1E-9653-43EB-9A11-9425620384A9}"/>
              </a:ext>
            </a:extLst>
          </p:cNvPr>
          <p:cNvSpPr/>
          <p:nvPr/>
        </p:nvSpPr>
        <p:spPr>
          <a:xfrm>
            <a:off x="3025251" y="3533137"/>
            <a:ext cx="1671409" cy="707886"/>
          </a:xfrm>
          <a:prstGeom prst="rect">
            <a:avLst/>
          </a:prstGeom>
        </p:spPr>
        <p:txBody>
          <a:bodyPr wrap="square">
            <a:spAutoFit/>
          </a:bodyPr>
          <a:lstStyle/>
          <a:p>
            <a:pPr algn="ctr"/>
            <a:r>
              <a:rPr lang="en-US" altLang="ko-KR" sz="2000" b="1" dirty="0">
                <a:solidFill>
                  <a:schemeClr val="bg1">
                    <a:lumMod val="95000"/>
                  </a:schemeClr>
                </a:solidFill>
                <a:latin typeface="Segoe UI" panose="020B0502040204020203" pitchFamily="34" charset="0"/>
                <a:ea typeface="Segoe UI" panose="020B0502040204020203" pitchFamily="34" charset="0"/>
                <a:cs typeface="Segoe UI" panose="020B0502040204020203" pitchFamily="34" charset="0"/>
              </a:rPr>
              <a:t>Muscle Mass</a:t>
            </a:r>
            <a:endParaRPr lang="en-US" sz="2000" dirty="0">
              <a:solidFill>
                <a:schemeClr val="bg1">
                  <a:lumMod val="95000"/>
                </a:schemeClr>
              </a:solidFill>
            </a:endParaRPr>
          </a:p>
        </p:txBody>
      </p:sp>
      <p:sp>
        <p:nvSpPr>
          <p:cNvPr id="39" name="Rectangle 38">
            <a:extLst>
              <a:ext uri="{FF2B5EF4-FFF2-40B4-BE49-F238E27FC236}">
                <a16:creationId xmlns:a16="http://schemas.microsoft.com/office/drawing/2014/main" id="{05F70194-5F2F-8643-BC27-B1F72CB7D6D7}"/>
              </a:ext>
            </a:extLst>
          </p:cNvPr>
          <p:cNvSpPr/>
          <p:nvPr/>
        </p:nvSpPr>
        <p:spPr>
          <a:xfrm>
            <a:off x="5096695" y="3487110"/>
            <a:ext cx="1605459" cy="400110"/>
          </a:xfrm>
          <a:prstGeom prst="rect">
            <a:avLst/>
          </a:prstGeom>
        </p:spPr>
        <p:txBody>
          <a:bodyPr wrap="square">
            <a:spAutoFit/>
          </a:bodyPr>
          <a:lstStyle/>
          <a:p>
            <a:pPr algn="ctr"/>
            <a:r>
              <a:rPr lang="en-US" sz="2000" b="1" dirty="0">
                <a:solidFill>
                  <a:srgbClr val="002060"/>
                </a:solidFill>
                <a:latin typeface="Segoe UI" panose="020B0502040204020203" pitchFamily="34" charset="0"/>
                <a:ea typeface="Segoe UI" panose="020B0502040204020203" pitchFamily="34" charset="0"/>
                <a:cs typeface="Segoe UI" panose="020B0502040204020203" pitchFamily="34" charset="0"/>
              </a:rPr>
              <a:t>Visceral Fat</a:t>
            </a:r>
          </a:p>
        </p:txBody>
      </p:sp>
      <p:sp>
        <p:nvSpPr>
          <p:cNvPr id="41" name="Rectangle 40">
            <a:extLst>
              <a:ext uri="{FF2B5EF4-FFF2-40B4-BE49-F238E27FC236}">
                <a16:creationId xmlns:a16="http://schemas.microsoft.com/office/drawing/2014/main" id="{6927B08C-B337-AC49-9DCE-990870C6026D}"/>
              </a:ext>
            </a:extLst>
          </p:cNvPr>
          <p:cNvSpPr/>
          <p:nvPr/>
        </p:nvSpPr>
        <p:spPr>
          <a:xfrm>
            <a:off x="7162003" y="3487110"/>
            <a:ext cx="1463744" cy="400110"/>
          </a:xfrm>
          <a:prstGeom prst="rect">
            <a:avLst/>
          </a:prstGeom>
        </p:spPr>
        <p:txBody>
          <a:bodyPr wrap="square">
            <a:spAutoFit/>
          </a:bodyPr>
          <a:lstStyle/>
          <a:p>
            <a:pPr algn="ctr"/>
            <a:r>
              <a:rPr lang="en-US" sz="2000" b="1" dirty="0">
                <a:solidFill>
                  <a:schemeClr val="bg1"/>
                </a:solidFill>
                <a:latin typeface="Segoe UI" panose="020B0502040204020203" pitchFamily="34" charset="0"/>
                <a:ea typeface="Segoe UI" panose="020B0502040204020203" pitchFamily="34" charset="0"/>
                <a:cs typeface="Segoe UI" panose="020B0502040204020203" pitchFamily="34" charset="0"/>
              </a:rPr>
              <a:t>ECW Ratio</a:t>
            </a:r>
          </a:p>
        </p:txBody>
      </p:sp>
      <p:sp>
        <p:nvSpPr>
          <p:cNvPr id="43" name="Rectangle 42"/>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Points of Focus</a:t>
            </a:r>
          </a:p>
        </p:txBody>
      </p:sp>
      <p:sp>
        <p:nvSpPr>
          <p:cNvPr id="45" name="TextBox 44"/>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4</a:t>
            </a:r>
          </a:p>
          <a:p>
            <a:pPr algn="l"/>
            <a:r>
              <a:rPr sz="900" b="0" i="0">
                <a:solidFill>
                  <a:srgbClr val="5E6470"/>
                </a:solidFill>
                <a:latin typeface="Calibri"/>
              </a:rPr>
              <a:t>Diabetes &amp; Body Composition</a:t>
            </a:r>
          </a:p>
        </p:txBody>
      </p:sp>
      <p:pic>
        <p:nvPicPr>
          <p:cNvPr id="46" name="Picture 45" descr="logo_red.png"/>
          <p:cNvPicPr>
            <a:picLocks noChangeAspect="1"/>
          </p:cNvPicPr>
          <p:nvPr/>
        </p:nvPicPr>
        <p:blipFill>
          <a:blip r:embed="rId2"/>
          <a:stretch>
            <a:fillRect/>
          </a:stretch>
        </p:blipFill>
        <p:spPr>
          <a:xfrm>
            <a:off x="10436918" y="420624"/>
            <a:ext cx="1297577" cy="365760"/>
          </a:xfrm>
          <a:prstGeom prst="rect">
            <a:avLst/>
          </a:prstGeom>
        </p:spPr>
      </p:pic>
      <p:sp>
        <p:nvSpPr>
          <p:cNvPr id="47" name="TextBox 4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48" name="TextBox 4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55</a:t>
            </a:r>
          </a:p>
        </p:txBody>
      </p:sp>
    </p:spTree>
    <p:extLst>
      <p:ext uri="{BB962C8B-B14F-4D97-AF65-F5344CB8AC3E}">
        <p14:creationId xmlns:p14="http://schemas.microsoft.com/office/powerpoint/2010/main" val="29087702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1422364" y="1097280"/>
            <a:ext cx="9347200" cy="5257800"/>
          </a:xfrm>
          <a:prstGeom prst="rect">
            <a:avLst/>
          </a:prstGeom>
          <a:blipFill>
            <a:blip r:embed="rId2" cstate="print"/>
            <a:stretch>
              <a:fillRect/>
            </a:stretch>
          </a:blipFill>
        </p:spPr>
        <p:txBody>
          <a:bodyPr wrap="square" lIns="0" tIns="0" rIns="0" bIns="0" rtlCol="0">
            <a:spAutoFit/>
          </a:bodyPr>
          <a:lstStyle/>
          <a:p>
            <a:endParaRPr/>
          </a:p>
        </p:txBody>
      </p:sp>
      <p:sp>
        <p:nvSpPr>
          <p:cNvPr id="4" name="object 4"/>
          <p:cNvSpPr txBox="1"/>
          <p:nvPr/>
        </p:nvSpPr>
        <p:spPr>
          <a:xfrm>
            <a:off x="6773901" y="3713176"/>
            <a:ext cx="1060075" cy="120529"/>
          </a:xfrm>
          <a:prstGeom prst="rect">
            <a:avLst/>
          </a:prstGeom>
        </p:spPr>
        <p:txBody>
          <a:bodyPr vert="horz" wrap="square" lIns="0" tIns="0" rIns="0" bIns="0" rtlCol="0">
            <a:spAutoFit/>
          </a:bodyPr>
          <a:lstStyle/>
          <a:p>
            <a:pPr marL="0" marR="0">
              <a:lnSpc>
                <a:spcPts val="718"/>
              </a:lnSpc>
              <a:spcBef>
                <a:spcPts val="0"/>
              </a:spcBef>
              <a:spcAft>
                <a:spcPts val="0"/>
              </a:spcAft>
            </a:pPr>
            <a:r>
              <a:rPr sz="613" i="1" dirty="0">
                <a:solidFill>
                  <a:srgbClr val="000000"/>
                </a:solidFill>
                <a:latin typeface="Cambria"/>
                <a:cs typeface="Cambria"/>
              </a:rPr>
              <a:t>J Clin Endocrinol Metab, 2011</a:t>
            </a:r>
          </a:p>
        </p:txBody>
      </p:sp>
      <p:sp>
        <p:nvSpPr>
          <p:cNvPr id="5" name="object 5"/>
          <p:cNvSpPr txBox="1"/>
          <p:nvPr/>
        </p:nvSpPr>
        <p:spPr>
          <a:xfrm>
            <a:off x="5191754" y="3796199"/>
            <a:ext cx="1143278" cy="377039"/>
          </a:xfrm>
          <a:prstGeom prst="rect">
            <a:avLst/>
          </a:prstGeom>
        </p:spPr>
        <p:txBody>
          <a:bodyPr vert="horz" wrap="square" lIns="0" tIns="0" rIns="0" bIns="0" rtlCol="0">
            <a:spAutoFit/>
          </a:bodyPr>
          <a:lstStyle/>
          <a:p>
            <a:pPr marL="0" marR="0">
              <a:lnSpc>
                <a:spcPts val="898"/>
              </a:lnSpc>
              <a:spcBef>
                <a:spcPts val="0"/>
              </a:spcBef>
              <a:spcAft>
                <a:spcPts val="0"/>
              </a:spcAft>
            </a:pPr>
            <a:r>
              <a:rPr sz="766" dirty="0">
                <a:solidFill>
                  <a:srgbClr val="000000"/>
                </a:solidFill>
                <a:latin typeface="CQGIPG+Cambria"/>
                <a:cs typeface="CQGIPG+Cambria"/>
              </a:rPr>
              <a:t>Everyꢀ10%ꢀincreaseꢀinꢀ</a:t>
            </a:r>
          </a:p>
          <a:p>
            <a:pPr marL="0" marR="0">
              <a:lnSpc>
                <a:spcPts val="898"/>
              </a:lnSpc>
              <a:spcBef>
                <a:spcPts val="20"/>
              </a:spcBef>
              <a:spcAft>
                <a:spcPts val="0"/>
              </a:spcAft>
            </a:pPr>
            <a:r>
              <a:rPr sz="766" dirty="0">
                <a:solidFill>
                  <a:srgbClr val="000000"/>
                </a:solidFill>
                <a:latin typeface="CQGIPG+Cambria"/>
                <a:cs typeface="CQGIPG+Cambria"/>
              </a:rPr>
              <a:t>muscleꢀmassꢀresultsꢀinꢀaꢀ</a:t>
            </a:r>
          </a:p>
          <a:p>
            <a:pPr marL="0" marR="0">
              <a:lnSpc>
                <a:spcPts val="898"/>
              </a:lnSpc>
              <a:spcBef>
                <a:spcPts val="20"/>
              </a:spcBef>
              <a:spcAft>
                <a:spcPts val="0"/>
              </a:spcAft>
            </a:pPr>
            <a:r>
              <a:rPr sz="766" dirty="0">
                <a:solidFill>
                  <a:srgbClr val="000000"/>
                </a:solidFill>
                <a:latin typeface="CQGIPG+Cambria"/>
                <a:cs typeface="CQGIPG+Cambria"/>
              </a:rPr>
              <a:t>decreaseꢀinꢀinsulinꢀ</a:t>
            </a:r>
          </a:p>
        </p:txBody>
      </p:sp>
      <p:sp>
        <p:nvSpPr>
          <p:cNvPr id="6" name="object 6"/>
          <p:cNvSpPr txBox="1"/>
          <p:nvPr/>
        </p:nvSpPr>
        <p:spPr>
          <a:xfrm>
            <a:off x="5191754" y="4146719"/>
            <a:ext cx="921683" cy="143359"/>
          </a:xfrm>
          <a:prstGeom prst="rect">
            <a:avLst/>
          </a:prstGeom>
        </p:spPr>
        <p:txBody>
          <a:bodyPr vert="horz" wrap="square" lIns="0" tIns="0" rIns="0" bIns="0" rtlCol="0">
            <a:spAutoFit/>
          </a:bodyPr>
          <a:lstStyle/>
          <a:p>
            <a:pPr marL="0" marR="0">
              <a:lnSpc>
                <a:spcPts val="898"/>
              </a:lnSpc>
              <a:spcBef>
                <a:spcPts val="0"/>
              </a:spcBef>
              <a:spcAft>
                <a:spcPts val="0"/>
              </a:spcAft>
            </a:pPr>
            <a:r>
              <a:rPr sz="766" dirty="0">
                <a:solidFill>
                  <a:srgbClr val="000000"/>
                </a:solidFill>
                <a:latin typeface="CQGIPG+Cambria"/>
                <a:cs typeface="CQGIPG+Cambria"/>
              </a:rPr>
              <a:t>resistanceꢀbyꢀ11%.ꢀ</a:t>
            </a:r>
          </a:p>
        </p:txBody>
      </p:sp>
      <p:sp>
        <p:nvSpPr>
          <p:cNvPr id="7" name="object 7"/>
          <p:cNvSpPr txBox="1"/>
          <p:nvPr/>
        </p:nvSpPr>
        <p:spPr>
          <a:xfrm>
            <a:off x="5492904" y="4729893"/>
            <a:ext cx="641984" cy="334279"/>
          </a:xfrm>
          <a:prstGeom prst="rect">
            <a:avLst/>
          </a:prstGeom>
        </p:spPr>
        <p:txBody>
          <a:bodyPr vert="horz" wrap="square" lIns="0" tIns="0" rIns="0" bIns="0" rtlCol="0">
            <a:spAutoFit/>
          </a:bodyPr>
          <a:lstStyle/>
          <a:p>
            <a:pPr marL="0" marR="0" algn="ctr">
              <a:lnSpc>
                <a:spcPts val="1365"/>
              </a:lnSpc>
              <a:spcBef>
                <a:spcPts val="0"/>
              </a:spcBef>
              <a:spcAft>
                <a:spcPts val="0"/>
              </a:spcAft>
            </a:pPr>
            <a:r>
              <a:rPr sz="1150" dirty="0">
                <a:solidFill>
                  <a:srgbClr val="FFFFFF"/>
                </a:solidFill>
                <a:cs typeface="CQGIPG+Cambria"/>
              </a:rPr>
              <a:t>Healthy</a:t>
            </a:r>
          </a:p>
          <a:p>
            <a:pPr marL="38596" marR="0" algn="ctr">
              <a:lnSpc>
                <a:spcPts val="1258"/>
              </a:lnSpc>
              <a:spcBef>
                <a:spcPts val="0"/>
              </a:spcBef>
              <a:spcAft>
                <a:spcPts val="0"/>
              </a:spcAft>
            </a:pPr>
            <a:r>
              <a:rPr sz="1150" dirty="0">
                <a:solidFill>
                  <a:srgbClr val="FFFFFF"/>
                </a:solidFill>
                <a:cs typeface="CQGIPG+Cambria"/>
              </a:rPr>
              <a:t>people</a:t>
            </a:r>
          </a:p>
        </p:txBody>
      </p:sp>
      <p:sp>
        <p:nvSpPr>
          <p:cNvPr id="8" name="object 8"/>
          <p:cNvSpPr txBox="1"/>
          <p:nvPr/>
        </p:nvSpPr>
        <p:spPr>
          <a:xfrm>
            <a:off x="6592818" y="4729893"/>
            <a:ext cx="814738" cy="353943"/>
          </a:xfrm>
          <a:prstGeom prst="rect">
            <a:avLst/>
          </a:prstGeom>
        </p:spPr>
        <p:txBody>
          <a:bodyPr vert="horz" wrap="square" lIns="0" tIns="0" rIns="0" bIns="0" rtlCol="0">
            <a:spAutoFit/>
          </a:bodyPr>
          <a:lstStyle/>
          <a:p>
            <a:pPr marL="111596" marR="0" algn="ctr">
              <a:lnSpc>
                <a:spcPts val="1365"/>
              </a:lnSpc>
              <a:spcBef>
                <a:spcPts val="0"/>
              </a:spcBef>
              <a:spcAft>
                <a:spcPts val="0"/>
              </a:spcAft>
            </a:pPr>
            <a:r>
              <a:rPr sz="1150" spc="10" dirty="0">
                <a:solidFill>
                  <a:srgbClr val="FFFFFF"/>
                </a:solidFill>
                <a:cs typeface="CQGIPG+Cambria"/>
              </a:rPr>
              <a:t>Low</a:t>
            </a:r>
            <a:endParaRPr lang="en-IN" sz="1150" spc="10" dirty="0">
              <a:solidFill>
                <a:srgbClr val="FFFFFF"/>
              </a:solidFill>
              <a:cs typeface="CQGIPG+Cambria"/>
            </a:endParaRPr>
          </a:p>
          <a:p>
            <a:pPr marL="111596" marR="0" algn="ctr">
              <a:lnSpc>
                <a:spcPts val="1365"/>
              </a:lnSpc>
              <a:spcBef>
                <a:spcPts val="0"/>
              </a:spcBef>
              <a:spcAft>
                <a:spcPts val="0"/>
              </a:spcAft>
            </a:pPr>
            <a:r>
              <a:rPr sz="1150" dirty="0">
                <a:solidFill>
                  <a:srgbClr val="FFFFFF"/>
                </a:solidFill>
                <a:cs typeface="CQGIPG+Cambria"/>
              </a:rPr>
              <a:t>Muscle</a:t>
            </a:r>
          </a:p>
        </p:txBody>
      </p:sp>
      <p:sp>
        <p:nvSpPr>
          <p:cNvPr id="9" name="object 9"/>
          <p:cNvSpPr txBox="1"/>
          <p:nvPr/>
        </p:nvSpPr>
        <p:spPr>
          <a:xfrm>
            <a:off x="7860164" y="4741137"/>
            <a:ext cx="811991" cy="314616"/>
          </a:xfrm>
          <a:prstGeom prst="rect">
            <a:avLst/>
          </a:prstGeom>
        </p:spPr>
        <p:txBody>
          <a:bodyPr vert="horz" wrap="square" lIns="0" tIns="0" rIns="0" bIns="0" rtlCol="0">
            <a:spAutoFit/>
          </a:bodyPr>
          <a:lstStyle/>
          <a:p>
            <a:pPr marL="182521" marR="0">
              <a:lnSpc>
                <a:spcPts val="1275"/>
              </a:lnSpc>
              <a:spcBef>
                <a:spcPts val="0"/>
              </a:spcBef>
              <a:spcAft>
                <a:spcPts val="0"/>
              </a:spcAft>
            </a:pPr>
            <a:r>
              <a:rPr sz="1073" dirty="0">
                <a:solidFill>
                  <a:srgbClr val="FFFFFF"/>
                </a:solidFill>
                <a:cs typeface="CQGIPG+Cambria"/>
              </a:rPr>
              <a:t>Insulin</a:t>
            </a:r>
          </a:p>
          <a:p>
            <a:pPr marL="0" marR="0">
              <a:lnSpc>
                <a:spcPts val="1175"/>
              </a:lnSpc>
              <a:spcBef>
                <a:spcPts val="0"/>
              </a:spcBef>
              <a:spcAft>
                <a:spcPts val="0"/>
              </a:spcAft>
            </a:pPr>
            <a:r>
              <a:rPr sz="1073" dirty="0">
                <a:solidFill>
                  <a:srgbClr val="FFFFFF"/>
                </a:solidFill>
                <a:cs typeface="CQGIPG+Cambria"/>
              </a:rPr>
              <a:t>Resistance↑</a:t>
            </a:r>
          </a:p>
        </p:txBody>
      </p:sp>
      <p:sp>
        <p:nvSpPr>
          <p:cNvPr id="10" name="object 10"/>
          <p:cNvSpPr txBox="1"/>
          <p:nvPr/>
        </p:nvSpPr>
        <p:spPr>
          <a:xfrm>
            <a:off x="9124761" y="4814484"/>
            <a:ext cx="667204" cy="176971"/>
          </a:xfrm>
          <a:prstGeom prst="rect">
            <a:avLst/>
          </a:prstGeom>
        </p:spPr>
        <p:txBody>
          <a:bodyPr vert="horz" wrap="square" lIns="0" tIns="0" rIns="0" bIns="0" rtlCol="0">
            <a:spAutoFit/>
          </a:bodyPr>
          <a:lstStyle/>
          <a:p>
            <a:pPr marL="0" marR="0">
              <a:lnSpc>
                <a:spcPts val="1365"/>
              </a:lnSpc>
              <a:spcBef>
                <a:spcPts val="0"/>
              </a:spcBef>
              <a:spcAft>
                <a:spcPts val="0"/>
              </a:spcAft>
            </a:pPr>
            <a:r>
              <a:rPr sz="1150" dirty="0">
                <a:solidFill>
                  <a:srgbClr val="FFFFFF"/>
                </a:solidFill>
                <a:cs typeface="CQGIPG+Cambria"/>
              </a:rPr>
              <a:t>Diabetes</a:t>
            </a:r>
          </a:p>
        </p:txBody>
      </p:sp>
      <p:sp>
        <p:nvSpPr>
          <p:cNvPr id="11" name="object 11"/>
          <p:cNvSpPr txBox="1"/>
          <p:nvPr/>
        </p:nvSpPr>
        <p:spPr>
          <a:xfrm>
            <a:off x="5594360" y="5392366"/>
            <a:ext cx="641984" cy="334279"/>
          </a:xfrm>
          <a:prstGeom prst="rect">
            <a:avLst/>
          </a:prstGeom>
        </p:spPr>
        <p:txBody>
          <a:bodyPr vert="horz" wrap="square" lIns="0" tIns="0" rIns="0" bIns="0" rtlCol="0">
            <a:spAutoFit/>
          </a:bodyPr>
          <a:lstStyle/>
          <a:p>
            <a:pPr marL="0" marR="0">
              <a:lnSpc>
                <a:spcPts val="1365"/>
              </a:lnSpc>
              <a:spcBef>
                <a:spcPts val="0"/>
              </a:spcBef>
              <a:spcAft>
                <a:spcPts val="0"/>
              </a:spcAft>
            </a:pPr>
            <a:r>
              <a:rPr sz="1150" dirty="0">
                <a:solidFill>
                  <a:srgbClr val="FFFFFF"/>
                </a:solidFill>
                <a:cs typeface="CQGIPG+Cambria"/>
              </a:rPr>
              <a:t>Healthy</a:t>
            </a:r>
          </a:p>
          <a:p>
            <a:pPr marL="38596" marR="0">
              <a:lnSpc>
                <a:spcPts val="1258"/>
              </a:lnSpc>
              <a:spcBef>
                <a:spcPts val="0"/>
              </a:spcBef>
              <a:spcAft>
                <a:spcPts val="0"/>
              </a:spcAft>
            </a:pPr>
            <a:r>
              <a:rPr sz="1150" dirty="0">
                <a:solidFill>
                  <a:srgbClr val="FFFFFF"/>
                </a:solidFill>
                <a:cs typeface="CQGIPG+Cambria"/>
              </a:rPr>
              <a:t>people</a:t>
            </a:r>
          </a:p>
        </p:txBody>
      </p:sp>
      <p:sp>
        <p:nvSpPr>
          <p:cNvPr id="12" name="object 12"/>
          <p:cNvSpPr txBox="1"/>
          <p:nvPr/>
        </p:nvSpPr>
        <p:spPr>
          <a:xfrm>
            <a:off x="6809428" y="5392366"/>
            <a:ext cx="560470" cy="334279"/>
          </a:xfrm>
          <a:prstGeom prst="rect">
            <a:avLst/>
          </a:prstGeom>
        </p:spPr>
        <p:txBody>
          <a:bodyPr vert="horz" wrap="square" lIns="0" tIns="0" rIns="0" bIns="0" rtlCol="0">
            <a:spAutoFit/>
          </a:bodyPr>
          <a:lstStyle/>
          <a:p>
            <a:pPr marL="95909" marR="0">
              <a:lnSpc>
                <a:spcPts val="1365"/>
              </a:lnSpc>
              <a:spcBef>
                <a:spcPts val="0"/>
              </a:spcBef>
              <a:spcAft>
                <a:spcPts val="0"/>
              </a:spcAft>
            </a:pPr>
            <a:r>
              <a:rPr sz="1150" dirty="0">
                <a:solidFill>
                  <a:srgbClr val="FFFFFF"/>
                </a:solidFill>
                <a:cs typeface="CQGIPG+Cambria"/>
              </a:rPr>
              <a:t>High</a:t>
            </a:r>
          </a:p>
          <a:p>
            <a:pPr marL="0" marR="0">
              <a:lnSpc>
                <a:spcPts val="1258"/>
              </a:lnSpc>
              <a:spcBef>
                <a:spcPts val="0"/>
              </a:spcBef>
              <a:spcAft>
                <a:spcPts val="0"/>
              </a:spcAft>
            </a:pPr>
            <a:r>
              <a:rPr sz="1150" dirty="0">
                <a:solidFill>
                  <a:srgbClr val="FFFFFF"/>
                </a:solidFill>
                <a:cs typeface="CQGIPG+Cambria"/>
              </a:rPr>
              <a:t>Muscle</a:t>
            </a:r>
          </a:p>
        </p:txBody>
      </p:sp>
      <p:sp>
        <p:nvSpPr>
          <p:cNvPr id="13" name="object 13"/>
          <p:cNvSpPr txBox="1"/>
          <p:nvPr/>
        </p:nvSpPr>
        <p:spPr>
          <a:xfrm>
            <a:off x="7878096" y="5403611"/>
            <a:ext cx="811991" cy="314616"/>
          </a:xfrm>
          <a:prstGeom prst="rect">
            <a:avLst/>
          </a:prstGeom>
        </p:spPr>
        <p:txBody>
          <a:bodyPr vert="horz" wrap="square" lIns="0" tIns="0" rIns="0" bIns="0" rtlCol="0">
            <a:spAutoFit/>
          </a:bodyPr>
          <a:lstStyle/>
          <a:p>
            <a:pPr marL="182521" marR="0">
              <a:lnSpc>
                <a:spcPts val="1275"/>
              </a:lnSpc>
              <a:spcBef>
                <a:spcPts val="0"/>
              </a:spcBef>
              <a:spcAft>
                <a:spcPts val="0"/>
              </a:spcAft>
            </a:pPr>
            <a:r>
              <a:rPr sz="1073" dirty="0">
                <a:solidFill>
                  <a:srgbClr val="FFFFFF"/>
                </a:solidFill>
                <a:cs typeface="CQGIPG+Cambria"/>
              </a:rPr>
              <a:t>Insulin</a:t>
            </a:r>
          </a:p>
          <a:p>
            <a:pPr marL="0" marR="0">
              <a:lnSpc>
                <a:spcPts val="1175"/>
              </a:lnSpc>
              <a:spcBef>
                <a:spcPts val="0"/>
              </a:spcBef>
              <a:spcAft>
                <a:spcPts val="0"/>
              </a:spcAft>
            </a:pPr>
            <a:r>
              <a:rPr sz="1073" dirty="0">
                <a:solidFill>
                  <a:srgbClr val="FFFFFF"/>
                </a:solidFill>
                <a:cs typeface="CQGIPG+Cambria"/>
              </a:rPr>
              <a:t>Resistance↓</a:t>
            </a:r>
          </a:p>
        </p:txBody>
      </p:sp>
      <p:sp>
        <p:nvSpPr>
          <p:cNvPr id="14" name="object 14"/>
          <p:cNvSpPr txBox="1"/>
          <p:nvPr/>
        </p:nvSpPr>
        <p:spPr>
          <a:xfrm>
            <a:off x="9142694" y="5397038"/>
            <a:ext cx="667204" cy="334279"/>
          </a:xfrm>
          <a:prstGeom prst="rect">
            <a:avLst/>
          </a:prstGeom>
        </p:spPr>
        <p:txBody>
          <a:bodyPr vert="horz" wrap="square" lIns="0" tIns="0" rIns="0" bIns="0" rtlCol="0">
            <a:spAutoFit/>
          </a:bodyPr>
          <a:lstStyle/>
          <a:p>
            <a:pPr marL="38318" marR="0">
              <a:lnSpc>
                <a:spcPts val="1365"/>
              </a:lnSpc>
              <a:spcBef>
                <a:spcPts val="0"/>
              </a:spcBef>
              <a:spcAft>
                <a:spcPts val="0"/>
              </a:spcAft>
            </a:pPr>
            <a:r>
              <a:rPr sz="1150" dirty="0">
                <a:solidFill>
                  <a:srgbClr val="FFFFFF"/>
                </a:solidFill>
                <a:cs typeface="CQGIPG+Cambria"/>
              </a:rPr>
              <a:t>Prevent</a:t>
            </a:r>
          </a:p>
          <a:p>
            <a:pPr marL="0" marR="0">
              <a:lnSpc>
                <a:spcPts val="1258"/>
              </a:lnSpc>
              <a:spcBef>
                <a:spcPts val="0"/>
              </a:spcBef>
              <a:spcAft>
                <a:spcPts val="0"/>
              </a:spcAft>
            </a:pPr>
            <a:r>
              <a:rPr sz="1150" dirty="0">
                <a:solidFill>
                  <a:srgbClr val="FFFFFF"/>
                </a:solidFill>
                <a:cs typeface="CQGIPG+Cambria"/>
              </a:rPr>
              <a:t>Diabetes</a:t>
            </a:r>
          </a:p>
        </p:txBody>
      </p:sp>
      <p:sp>
        <p:nvSpPr>
          <p:cNvPr id="15" name="Rectangle 14"/>
          <p:cNvSpPr/>
          <p:nvPr/>
        </p:nvSpPr>
        <p:spPr>
          <a:xfrm>
            <a:off x="457200" y="320040"/>
            <a:ext cx="37033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0040"/>
            <a:ext cx="3703320" cy="566928"/>
          </a:xfrm>
          <a:prstGeom prst="rect">
            <a:avLst/>
          </a:prstGeom>
          <a:noFill/>
        </p:spPr>
        <p:txBody>
          <a:bodyPr wrap="square" lIns="0" rIns="0" tIns="0" bIns="0" anchor="ctr">
            <a:spAutoFit/>
          </a:bodyPr>
          <a:lstStyle/>
          <a:p>
            <a:pPr algn="ctr"/>
            <a:r>
              <a:rPr sz="2200" b="1" i="0">
                <a:solidFill>
                  <a:srgbClr val="FFFFFF"/>
                </a:solidFill>
                <a:latin typeface="Calibri"/>
              </a:rPr>
              <a:t>About Diabetes &amp; Muscle</a:t>
            </a:r>
          </a:p>
        </p:txBody>
      </p:sp>
      <p:sp>
        <p:nvSpPr>
          <p:cNvPr id="17" name="TextBox 16"/>
          <p:cNvSpPr txBox="1"/>
          <p:nvPr/>
        </p:nvSpPr>
        <p:spPr>
          <a:xfrm>
            <a:off x="4389120" y="320040"/>
            <a:ext cx="5516575" cy="566928"/>
          </a:xfrm>
          <a:prstGeom prst="rect">
            <a:avLst/>
          </a:prstGeom>
          <a:noFill/>
        </p:spPr>
        <p:txBody>
          <a:bodyPr wrap="square" lIns="0" rIns="0" tIns="0" bIns="0" anchor="ctr">
            <a:spAutoFit/>
          </a:bodyPr>
          <a:lstStyle/>
          <a:p>
            <a:pPr algn="l"/>
            <a:r>
              <a:rPr sz="900" b="1" i="0">
                <a:solidFill>
                  <a:srgbClr val="B50937"/>
                </a:solidFill>
                <a:latin typeface="Calibri"/>
              </a:rPr>
              <a:t>SESSION 4</a:t>
            </a:r>
          </a:p>
          <a:p>
            <a:pPr algn="l"/>
            <a:r>
              <a:rPr sz="900" b="0" i="0">
                <a:solidFill>
                  <a:srgbClr val="5E6470"/>
                </a:solidFill>
                <a:latin typeface="Calibri"/>
              </a:rPr>
              <a:t>Diabetes &amp; Body Composition</a:t>
            </a:r>
          </a:p>
        </p:txBody>
      </p:sp>
      <p:pic>
        <p:nvPicPr>
          <p:cNvPr id="18" name="Picture 17" descr="logo_red.png"/>
          <p:cNvPicPr>
            <a:picLocks noChangeAspect="1"/>
          </p:cNvPicPr>
          <p:nvPr/>
        </p:nvPicPr>
        <p:blipFill>
          <a:blip r:embed="rId3"/>
          <a:stretch>
            <a:fillRect/>
          </a:stretch>
        </p:blipFill>
        <p:spPr>
          <a:xfrm>
            <a:off x="10436918" y="420624"/>
            <a:ext cx="1297577" cy="365760"/>
          </a:xfrm>
          <a:prstGeom prst="rect">
            <a:avLst/>
          </a:prstGeom>
        </p:spPr>
      </p:pic>
      <p:sp>
        <p:nvSpPr>
          <p:cNvPr id="19" name="TextBox 18"/>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0" name="TextBox 19"/>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56</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84047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840479" cy="566928"/>
          </a:xfrm>
          <a:prstGeom prst="rect">
            <a:avLst/>
          </a:prstGeom>
          <a:noFill/>
        </p:spPr>
        <p:txBody>
          <a:bodyPr wrap="square" lIns="0" rIns="0" tIns="0" bIns="0" anchor="ctr">
            <a:spAutoFit/>
          </a:bodyPr>
          <a:lstStyle/>
          <a:p>
            <a:pPr algn="ctr"/>
            <a:r>
              <a:rPr sz="2200" b="1" i="0">
                <a:solidFill>
                  <a:srgbClr val="FFFFFF"/>
                </a:solidFill>
                <a:latin typeface="Calibri"/>
              </a:rPr>
              <a:t>Muscle Mass and Diabetes</a:t>
            </a:r>
          </a:p>
        </p:txBody>
      </p:sp>
      <p:sp>
        <p:nvSpPr>
          <p:cNvPr id="4" name="TextBox 3"/>
          <p:cNvSpPr txBox="1"/>
          <p:nvPr/>
        </p:nvSpPr>
        <p:spPr>
          <a:xfrm>
            <a:off x="4526279" y="320040"/>
            <a:ext cx="5379415" cy="566928"/>
          </a:xfrm>
          <a:prstGeom prst="rect">
            <a:avLst/>
          </a:prstGeom>
          <a:noFill/>
        </p:spPr>
        <p:txBody>
          <a:bodyPr wrap="square" lIns="0" rIns="0" tIns="0" bIns="0" anchor="ctr">
            <a:spAutoFit/>
          </a:bodyPr>
          <a:lstStyle/>
          <a:p>
            <a:pPr algn="l"/>
            <a:r>
              <a:rPr sz="900" b="1" i="0">
                <a:solidFill>
                  <a:srgbClr val="B50937"/>
                </a:solidFill>
                <a:latin typeface="Calibri"/>
              </a:rPr>
              <a:t>SESSION 4</a:t>
            </a:r>
          </a:p>
          <a:p>
            <a:pPr algn="l"/>
            <a:r>
              <a:rPr sz="900" b="0" i="0">
                <a:solidFill>
                  <a:srgbClr val="5E6470"/>
                </a:solidFill>
                <a:latin typeface="Calibri"/>
              </a:rPr>
              <a:t>Diabetes &amp; Body Composition</a:t>
            </a:r>
          </a:p>
        </p:txBody>
      </p:sp>
      <p:pic>
        <p:nvPicPr>
          <p:cNvPr id="5" name="Picture 4" descr="logo_red.png"/>
          <p:cNvPicPr>
            <a:picLocks noChangeAspect="1"/>
          </p:cNvPicPr>
          <p:nvPr/>
        </p:nvPicPr>
        <p:blipFill>
          <a:blip r:embed="rId9"/>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57</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10"/>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Why thigh muscle matters</a:t>
            </a:r>
          </a:p>
          <a:p>
            <a:pPr>
              <a:spcAft>
                <a:spcPts val="600"/>
              </a:spcAft>
            </a:pPr>
            <a:r>
              <a:rPr sz="1300">
                <a:solidFill>
                  <a:srgbClr val="181D27"/>
                </a:solidFill>
                <a:latin typeface="Calibri"/>
              </a:rPr>
              <a:t>Muscle stores blood glucose. Thigh muscle is a large share of total skeletal muscle, so more thigh muscle can store more glucose.</a:t>
            </a:r>
          </a:p>
          <a:p>
            <a:pPr>
              <a:spcBef>
                <a:spcPts val="400"/>
              </a:spcBef>
              <a:spcAft>
                <a:spcPts val="200"/>
              </a:spcAft>
            </a:pPr>
            <a:r>
              <a:rPr sz="1300" b="1">
                <a:solidFill>
                  <a:srgbClr val="B50937"/>
                </a:solidFill>
                <a:latin typeface="Calibri"/>
              </a:rPr>
              <a:t>The cycle</a:t>
            </a:r>
          </a:p>
          <a:p>
            <a:pPr>
              <a:spcAft>
                <a:spcPts val="600"/>
              </a:spcAft>
            </a:pPr>
            <a:r>
              <a:rPr sz="1300">
                <a:solidFill>
                  <a:srgbClr val="181D27"/>
                </a:solidFill>
                <a:latin typeface="Calibri"/>
              </a:rPr>
              <a:t>Low leg muscle → muscle weakness → less physical activity → more muscle loss → higher insulin resistance.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55.png"/>
          <p:cNvPicPr>
            <a:picLocks noChangeAspect="1"/>
          </p:cNvPicPr>
          <p:nvPr/>
        </p:nvPicPr>
        <p:blipFill>
          <a:blip r:embed="rId11"/>
          <a:stretch>
            <a:fillRect/>
          </a:stretch>
        </p:blipFill>
        <p:spPr>
          <a:xfrm>
            <a:off x="5760720" y="1498171"/>
            <a:ext cx="5790895" cy="3404456"/>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12"/>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Leg muscle helps clear blood glucose: track it closely in diabetic patients.</a:t>
            </a:r>
          </a:p>
        </p:txBody>
      </p:sp>
    </p:spTree>
    <p:extLst>
      <p:ext uri="{BB962C8B-B14F-4D97-AF65-F5344CB8AC3E}">
        <p14:creationId xmlns:p14="http://schemas.microsoft.com/office/powerpoint/2010/main" val="37221515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aphicFrame>
        <p:nvGraphicFramePr>
          <p:cNvPr id="8" name="표 7"/>
          <p:cNvGraphicFramePr>
            <a:graphicFrameLocks noGrp="1"/>
          </p:cNvGraphicFramePr>
          <p:nvPr/>
        </p:nvGraphicFramePr>
        <p:xfrm>
          <a:off x="2017633" y="1097280"/>
          <a:ext cx="7856555" cy="1491480"/>
        </p:xfrm>
        <a:graphic>
          <a:graphicData uri="http://schemas.openxmlformats.org/drawingml/2006/table">
            <a:tbl>
              <a:tblPr firstRow="1" bandRow="1">
                <a:tableStyleId>{5940675A-B579-460E-94D1-54222C63F5DA}</a:tableStyleId>
              </a:tblPr>
              <a:tblGrid>
                <a:gridCol w="1056976">
                  <a:extLst>
                    <a:ext uri="{9D8B030D-6E8A-4147-A177-3AD203B41FA5}">
                      <a16:colId xmlns:a16="http://schemas.microsoft.com/office/drawing/2014/main" val="20000"/>
                    </a:ext>
                  </a:extLst>
                </a:gridCol>
                <a:gridCol w="1108713">
                  <a:extLst>
                    <a:ext uri="{9D8B030D-6E8A-4147-A177-3AD203B41FA5}">
                      <a16:colId xmlns:a16="http://schemas.microsoft.com/office/drawing/2014/main" val="20001"/>
                    </a:ext>
                  </a:extLst>
                </a:gridCol>
                <a:gridCol w="1557084">
                  <a:extLst>
                    <a:ext uri="{9D8B030D-6E8A-4147-A177-3AD203B41FA5}">
                      <a16:colId xmlns:a16="http://schemas.microsoft.com/office/drawing/2014/main" val="20002"/>
                    </a:ext>
                  </a:extLst>
                </a:gridCol>
                <a:gridCol w="1991802">
                  <a:extLst>
                    <a:ext uri="{9D8B030D-6E8A-4147-A177-3AD203B41FA5}">
                      <a16:colId xmlns:a16="http://schemas.microsoft.com/office/drawing/2014/main" val="20003"/>
                    </a:ext>
                  </a:extLst>
                </a:gridCol>
                <a:gridCol w="2141978">
                  <a:extLst>
                    <a:ext uri="{9D8B030D-6E8A-4147-A177-3AD203B41FA5}">
                      <a16:colId xmlns:a16="http://schemas.microsoft.com/office/drawing/2014/main" val="20004"/>
                    </a:ext>
                  </a:extLst>
                </a:gridCol>
              </a:tblGrid>
              <a:tr h="438670">
                <a:tc gridSpan="2">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151" b="1" kern="1200" dirty="0">
                          <a:solidFill>
                            <a:schemeClr val="tx1"/>
                          </a:solidFill>
                          <a:latin typeface="서울남산체 L" panose="02020603020101020101" pitchFamily="18" charset="-127"/>
                          <a:ea typeface="서울남산체 L" panose="02020603020101020101" pitchFamily="18" charset="-127"/>
                          <a:cs typeface="+mn-cs"/>
                        </a:rPr>
                        <a:t>Body Composition</a:t>
                      </a:r>
                    </a:p>
                  </a:txBody>
                  <a:tcPr anchor="ctr" anchorCtr="1">
                    <a:solidFill>
                      <a:schemeClr val="accent1">
                        <a:lumMod val="20000"/>
                        <a:lumOff val="80000"/>
                      </a:schemeClr>
                    </a:solidFill>
                  </a:tcPr>
                </a:tc>
                <a:tc hMerge="1">
                  <a:txBody>
                    <a:bodyPr/>
                    <a:lstStyle/>
                    <a:p>
                      <a:pPr algn="ctr" latinLnBrk="1"/>
                      <a:endParaRPr lang="ko-KR" altLang="en-US" b="1"/>
                    </a:p>
                  </a:txBody>
                  <a:tcPr anchor="ctr" anchorCtr="1">
                    <a:solidFill>
                      <a:schemeClr val="accent1">
                        <a:lumMod val="20000"/>
                        <a:lumOff val="80000"/>
                      </a:schemeClr>
                    </a:solidFill>
                  </a:tcPr>
                </a:tc>
                <a:tc>
                  <a:txBody>
                    <a:bodyPr/>
                    <a:lstStyle/>
                    <a:p>
                      <a:pPr algn="ctr" latinLnBrk="1"/>
                      <a:r>
                        <a:rPr lang="en-US" altLang="ko-KR" sz="1151" b="1" dirty="0">
                          <a:latin typeface="서울남산체 L" panose="02020603020101020101" pitchFamily="18" charset="-127"/>
                          <a:ea typeface="서울남산체 L" panose="02020603020101020101" pitchFamily="18" charset="-127"/>
                        </a:rPr>
                        <a:t>Symptoms</a:t>
                      </a:r>
                      <a:endParaRPr lang="ko-KR" altLang="en-US" sz="1151" b="1" dirty="0">
                        <a:latin typeface="서울남산체 L" panose="02020603020101020101" pitchFamily="18" charset="-127"/>
                        <a:ea typeface="서울남산체 L" panose="02020603020101020101" pitchFamily="18" charset="-127"/>
                      </a:endParaRPr>
                    </a:p>
                  </a:txBody>
                  <a:tcPr anchor="ctr" anchorCtr="1">
                    <a:solidFill>
                      <a:schemeClr val="accent1">
                        <a:lumMod val="20000"/>
                        <a:lumOff val="80000"/>
                      </a:schemeClr>
                    </a:solidFill>
                  </a:tcPr>
                </a:tc>
                <a:tc>
                  <a:txBody>
                    <a:bodyPr/>
                    <a:lstStyle/>
                    <a:p>
                      <a:pPr algn="ctr" latinLnBrk="1"/>
                      <a:r>
                        <a:rPr lang="en-US" altLang="ko-KR" sz="1151" b="1" dirty="0">
                          <a:latin typeface="서울남산체 L" panose="02020603020101020101" pitchFamily="18" charset="-127"/>
                          <a:ea typeface="서울남산체 L" panose="02020603020101020101" pitchFamily="18" charset="-127"/>
                        </a:rPr>
                        <a:t>Parameter provided</a:t>
                      </a:r>
                    </a:p>
                    <a:p>
                      <a:pPr algn="ctr" latinLnBrk="1"/>
                      <a:r>
                        <a:rPr lang="en-US" altLang="ko-KR" sz="1151" b="1" dirty="0">
                          <a:latin typeface="서울남산체 L" panose="02020603020101020101" pitchFamily="18" charset="-127"/>
                          <a:ea typeface="서울남산체 L" panose="02020603020101020101" pitchFamily="18" charset="-127"/>
                        </a:rPr>
                        <a:t>by </a:t>
                      </a:r>
                      <a:r>
                        <a:rPr lang="en-US" altLang="ko-KR" sz="1151" b="1" dirty="0" err="1">
                          <a:latin typeface="서울남산체 L" panose="02020603020101020101" pitchFamily="18" charset="-127"/>
                          <a:ea typeface="서울남산체 L" panose="02020603020101020101" pitchFamily="18" charset="-127"/>
                        </a:rPr>
                        <a:t>InBody</a:t>
                      </a:r>
                      <a:endParaRPr lang="ko-KR" altLang="en-US" sz="1151" b="1" dirty="0">
                        <a:latin typeface="서울남산체 L" panose="02020603020101020101" pitchFamily="18" charset="-127"/>
                        <a:ea typeface="서울남산체 L" panose="02020603020101020101" pitchFamily="18" charset="-127"/>
                      </a:endParaRPr>
                    </a:p>
                  </a:txBody>
                  <a:tcPr anchor="ctr" anchorCtr="1">
                    <a:solidFill>
                      <a:schemeClr val="accent1">
                        <a:lumMod val="20000"/>
                        <a:lumOff val="80000"/>
                      </a:schemeClr>
                    </a:solidFill>
                  </a:tcPr>
                </a:tc>
                <a:tc>
                  <a:txBody>
                    <a:bodyPr/>
                    <a:lstStyle/>
                    <a:p>
                      <a:pPr algn="ctr" latinLnBrk="1"/>
                      <a:r>
                        <a:rPr lang="en-US" altLang="ko-KR" sz="1151" b="1" dirty="0">
                          <a:latin typeface="서울남산체 L" panose="02020603020101020101" pitchFamily="18" charset="-127"/>
                          <a:ea typeface="서울남산체 L" panose="02020603020101020101" pitchFamily="18" charset="-127"/>
                        </a:rPr>
                        <a:t>Application</a:t>
                      </a:r>
                      <a:endParaRPr lang="ko-KR" altLang="en-US" sz="1151" b="1" dirty="0">
                        <a:latin typeface="서울남산체 L" panose="02020603020101020101" pitchFamily="18" charset="-127"/>
                        <a:ea typeface="서울남산체 L" panose="02020603020101020101" pitchFamily="18" charset="-127"/>
                      </a:endParaRPr>
                    </a:p>
                  </a:txBody>
                  <a:tcPr anchor="ctr" anchorCtr="1">
                    <a:solidFill>
                      <a:schemeClr val="accent1">
                        <a:lumMod val="20000"/>
                        <a:lumOff val="80000"/>
                      </a:schemeClr>
                    </a:solidFill>
                  </a:tcPr>
                </a:tc>
                <a:extLst>
                  <a:ext uri="{0D108BD9-81ED-4DB2-BD59-A6C34878D82A}">
                    <a16:rowId xmlns:a16="http://schemas.microsoft.com/office/drawing/2014/main" val="10000"/>
                  </a:ext>
                </a:extLst>
              </a:tr>
              <a:tr h="438670">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151" b="1" i="0" dirty="0">
                          <a:latin typeface="서울남산체 L" panose="02020603020101020101" pitchFamily="18" charset="-127"/>
                          <a:ea typeface="서울남산체 L" panose="02020603020101020101" pitchFamily="18" charset="-127"/>
                          <a:cs typeface="Arial" charset="0"/>
                        </a:rPr>
                        <a:t>Screening</a:t>
                      </a:r>
                    </a:p>
                  </a:txBody>
                  <a:tcPr anchor="ctr" anchorCtr="1"/>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51" b="1" dirty="0">
                          <a:solidFill>
                            <a:schemeClr val="tx2"/>
                          </a:solidFill>
                          <a:latin typeface="서울남산체 L" panose="02020603020101020101" pitchFamily="18" charset="-127"/>
                          <a:ea typeface="서울남산체 L" panose="02020603020101020101" pitchFamily="18" charset="-127"/>
                        </a:rPr>
                        <a:t>Risk of Diabetes</a:t>
                      </a:r>
                      <a:endParaRPr lang="ko-KR" altLang="en-US" sz="1151" b="1" dirty="0">
                        <a:solidFill>
                          <a:schemeClr val="tx2"/>
                        </a:solidFill>
                        <a:latin typeface="서울남산체 L" panose="02020603020101020101" pitchFamily="18" charset="-127"/>
                        <a:ea typeface="서울남산체 L" panose="02020603020101020101" pitchFamily="18" charset="-127"/>
                      </a:endParaRP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151" b="1" dirty="0">
                          <a:latin typeface="서울남산체 L" panose="02020603020101020101" pitchFamily="18" charset="-127"/>
                          <a:ea typeface="서울남산체 L" panose="02020603020101020101" pitchFamily="18" charset="-127"/>
                        </a:rPr>
                        <a:t>Low Muscle</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kumimoji="0" lang="en-US" altLang="ko-KR" sz="1151" b="1" dirty="0">
                          <a:solidFill>
                            <a:srgbClr val="B50937"/>
                          </a:solidFill>
                          <a:latin typeface="서울남산체 L" panose="02020603020101020101" pitchFamily="18" charset="-127"/>
                          <a:ea typeface="서울남산체 L" panose="02020603020101020101" pitchFamily="18" charset="-127"/>
                          <a:cs typeface="Arial" charset="0"/>
                        </a:rPr>
                        <a:t>SMM</a:t>
                      </a:r>
                    </a:p>
                    <a:p>
                      <a:pPr marL="0" marR="0" lvl="0" indent="0" algn="ctr" defTabSz="685783" rtl="0" eaLnBrk="1" fontAlgn="auto" latinLnBrk="1" hangingPunct="1">
                        <a:lnSpc>
                          <a:spcPct val="100000"/>
                        </a:lnSpc>
                        <a:spcBef>
                          <a:spcPts val="0"/>
                        </a:spcBef>
                        <a:spcAft>
                          <a:spcPts val="0"/>
                        </a:spcAft>
                        <a:buClrTx/>
                        <a:buSzTx/>
                        <a:buFontTx/>
                        <a:buNone/>
                        <a:tabLst/>
                        <a:defRPr/>
                      </a:pPr>
                      <a:r>
                        <a:rPr kumimoji="0" lang="en-US" altLang="ko-KR" sz="1151" b="1" dirty="0">
                          <a:solidFill>
                            <a:srgbClr val="B50937"/>
                          </a:solidFill>
                          <a:latin typeface="서울남산체 L" panose="02020603020101020101" pitchFamily="18" charset="-127"/>
                          <a:ea typeface="서울남산체 L" panose="02020603020101020101" pitchFamily="18" charset="-127"/>
                          <a:cs typeface="Arial" charset="0"/>
                        </a:rPr>
                        <a:t>(Skeletal</a:t>
                      </a:r>
                      <a:r>
                        <a:rPr kumimoji="0" lang="en-US" altLang="ko-KR" sz="1151" b="1" baseline="0" dirty="0">
                          <a:solidFill>
                            <a:srgbClr val="B50937"/>
                          </a:solidFill>
                          <a:latin typeface="서울남산체 L" panose="02020603020101020101" pitchFamily="18" charset="-127"/>
                          <a:ea typeface="서울남산체 L" panose="02020603020101020101" pitchFamily="18" charset="-127"/>
                          <a:cs typeface="Arial" charset="0"/>
                        </a:rPr>
                        <a:t> Muscle Mass)</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151" b="1" dirty="0">
                          <a:latin typeface="서울남산체 L" panose="02020603020101020101" pitchFamily="18" charset="-127"/>
                          <a:ea typeface="서울남산체 L" panose="02020603020101020101" pitchFamily="18" charset="-127"/>
                        </a:rPr>
                        <a:t>Insulin</a:t>
                      </a:r>
                      <a:r>
                        <a:rPr lang="en-US" altLang="ko-KR" sz="1151" b="1" baseline="0" dirty="0">
                          <a:latin typeface="서울남산체 L" panose="02020603020101020101" pitchFamily="18" charset="-127"/>
                          <a:ea typeface="서울남산체 L" panose="02020603020101020101" pitchFamily="18" charset="-127"/>
                        </a:rPr>
                        <a:t> resistance(sensitivity) related to low muscle mass</a:t>
                      </a:r>
                      <a:endParaRPr lang="ko-KR" altLang="en-US" sz="1151" b="1" dirty="0">
                        <a:latin typeface="서울남산체 L" panose="02020603020101020101" pitchFamily="18" charset="-127"/>
                        <a:ea typeface="서울남산체 L" panose="02020603020101020101" pitchFamily="18" charset="-127"/>
                      </a:endParaRPr>
                    </a:p>
                  </a:txBody>
                  <a:tcPr anchor="ctr" anchorCtr="1"/>
                </a:tc>
                <a:extLst>
                  <a:ext uri="{0D108BD9-81ED-4DB2-BD59-A6C34878D82A}">
                    <a16:rowId xmlns:a16="http://schemas.microsoft.com/office/drawing/2014/main" val="10001"/>
                  </a:ext>
                </a:extLst>
              </a:tr>
              <a:tr h="438670">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151" b="1" i="0" kern="1200" dirty="0">
                          <a:solidFill>
                            <a:schemeClr val="tx1"/>
                          </a:solidFill>
                          <a:latin typeface="서울남산체 L" panose="02020603020101020101" pitchFamily="18" charset="-127"/>
                          <a:ea typeface="서울남산체 L" panose="02020603020101020101" pitchFamily="18" charset="-127"/>
                          <a:cs typeface="Arial" charset="0"/>
                        </a:rPr>
                        <a:t>Monitoring</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151" b="1" dirty="0">
                          <a:solidFill>
                            <a:schemeClr val="tx2"/>
                          </a:solidFill>
                          <a:latin typeface="서울남산체 L" panose="02020603020101020101" pitchFamily="18" charset="-127"/>
                          <a:ea typeface="서울남산체 L" panose="02020603020101020101" pitchFamily="18" charset="-127"/>
                        </a:rPr>
                        <a:t>Muscle Wasting Disease</a:t>
                      </a:r>
                      <a:endParaRPr lang="ko-KR" altLang="en-US" sz="1151" b="1" i="1" dirty="0">
                        <a:solidFill>
                          <a:schemeClr val="tx2"/>
                        </a:solidFill>
                        <a:latin typeface="서울남산체 L" panose="02020603020101020101" pitchFamily="18" charset="-127"/>
                        <a:ea typeface="서울남산체 L" panose="02020603020101020101" pitchFamily="18" charset="-127"/>
                      </a:endParaRPr>
                    </a:p>
                  </a:txBody>
                  <a:tcPr anchor="ctr" anchorCtr="1"/>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kumimoji="0" lang="en-US" altLang="ko-KR" sz="1151" b="1" dirty="0">
                          <a:latin typeface="서울남산체 L" panose="02020603020101020101" pitchFamily="18" charset="-127"/>
                          <a:ea typeface="서울남산체 L" panose="02020603020101020101" pitchFamily="18" charset="-127"/>
                          <a:cs typeface="Arial" charset="0"/>
                        </a:rPr>
                        <a:t>Muscle Decrease</a:t>
                      </a:r>
                    </a:p>
                  </a:txBody>
                  <a:tcPr anchor="ctr" anchorCtr="1"/>
                </a:tc>
                <a:tc>
                  <a:txBody>
                    <a:bodyPr/>
                    <a:lstStyle/>
                    <a:p>
                      <a:pPr algn="ctr"/>
                      <a:r>
                        <a:rPr lang="en-US" altLang="ko-KR" sz="1151" b="1" dirty="0">
                          <a:solidFill>
                            <a:srgbClr val="B50937"/>
                          </a:solidFill>
                          <a:latin typeface="서울남산체 L" panose="02020603020101020101" pitchFamily="18" charset="-127"/>
                          <a:ea typeface="서울남산체 L" panose="02020603020101020101" pitchFamily="18" charset="-127"/>
                          <a:cs typeface="Arial" charset="0"/>
                        </a:rPr>
                        <a:t>SMI</a:t>
                      </a:r>
                    </a:p>
                    <a:p>
                      <a:pPr algn="ctr"/>
                      <a:r>
                        <a:rPr kumimoji="0" lang="en-US" altLang="ko-KR" sz="1151" b="1" dirty="0">
                          <a:solidFill>
                            <a:srgbClr val="B50937"/>
                          </a:solidFill>
                          <a:latin typeface="서울남산체 L" panose="02020603020101020101" pitchFamily="18" charset="-127"/>
                          <a:ea typeface="서울남산체 L" panose="02020603020101020101" pitchFamily="18" charset="-127"/>
                          <a:cs typeface="Arial" charset="0"/>
                        </a:rPr>
                        <a:t>(Skeletal Muscle</a:t>
                      </a:r>
                      <a:r>
                        <a:rPr kumimoji="0" lang="en-US" altLang="ko-KR" sz="1151" b="1" baseline="0" dirty="0">
                          <a:solidFill>
                            <a:srgbClr val="B50937"/>
                          </a:solidFill>
                          <a:latin typeface="서울남산체 L" panose="02020603020101020101" pitchFamily="18" charset="-127"/>
                          <a:ea typeface="서울남산체 L" panose="02020603020101020101" pitchFamily="18" charset="-127"/>
                          <a:cs typeface="Arial" charset="0"/>
                        </a:rPr>
                        <a:t> </a:t>
                      </a:r>
                      <a:r>
                        <a:rPr kumimoji="0" lang="en-US" altLang="ko-KR" sz="1151" b="1" dirty="0">
                          <a:solidFill>
                            <a:srgbClr val="B50937"/>
                          </a:solidFill>
                          <a:latin typeface="서울남산체 L" panose="02020603020101020101" pitchFamily="18" charset="-127"/>
                          <a:ea typeface="서울남산체 L" panose="02020603020101020101" pitchFamily="18" charset="-127"/>
                          <a:cs typeface="Arial" charset="0"/>
                        </a:rPr>
                        <a:t>Index)</a:t>
                      </a:r>
                    </a:p>
                  </a:txBody>
                  <a:tcPr anchor="ctr" anchorCtr="1"/>
                </a:tc>
                <a:tc>
                  <a:txBody>
                    <a:bodyPr/>
                    <a:lstStyle/>
                    <a:p>
                      <a:pPr algn="ctr" latinLnBrk="1"/>
                      <a:r>
                        <a:rPr lang="en-US" altLang="ko-KR" sz="1151" b="1" dirty="0">
                          <a:latin typeface="서울남산체 L" panose="02020603020101020101" pitchFamily="18" charset="-127"/>
                          <a:ea typeface="서울남산체 L" panose="02020603020101020101" pitchFamily="18" charset="-127"/>
                          <a:cs typeface="Arial" charset="0"/>
                        </a:rPr>
                        <a:t>Sarcopenia</a:t>
                      </a:r>
                      <a:r>
                        <a:rPr lang="en-US" altLang="ko-KR" sz="1151" b="1" baseline="0" dirty="0">
                          <a:latin typeface="서울남산체 L" panose="02020603020101020101" pitchFamily="18" charset="-127"/>
                          <a:ea typeface="서울남산체 L" panose="02020603020101020101" pitchFamily="18" charset="-127"/>
                          <a:cs typeface="Arial" charset="0"/>
                        </a:rPr>
                        <a:t> Evaluation</a:t>
                      </a:r>
                      <a:endParaRPr lang="ko-KR" altLang="en-US" sz="1151" dirty="0">
                        <a:latin typeface="서울남산체 L" panose="02020603020101020101" pitchFamily="18" charset="-127"/>
                        <a:ea typeface="서울남산체 L" panose="02020603020101020101" pitchFamily="18" charset="-127"/>
                      </a:endParaRPr>
                    </a:p>
                  </a:txBody>
                  <a:tcPr anchor="ctr" anchorCtr="1"/>
                </a:tc>
                <a:extLst>
                  <a:ext uri="{0D108BD9-81ED-4DB2-BD59-A6C34878D82A}">
                    <a16:rowId xmlns:a16="http://schemas.microsoft.com/office/drawing/2014/main" val="10002"/>
                  </a:ext>
                </a:extLst>
              </a:tr>
            </a:tbl>
          </a:graphicData>
        </a:graphic>
      </p:graphicFrame>
      <p:pic>
        <p:nvPicPr>
          <p:cNvPr id="9" name="Picture 2"/>
          <p:cNvPicPr>
            <a:picLocks noChangeAspect="1" noChangeArrowheads="1"/>
          </p:cNvPicPr>
          <p:nvPr/>
        </p:nvPicPr>
        <p:blipFill>
          <a:blip r:embed="rId3" cstate="print"/>
          <a:srcRect/>
          <a:stretch>
            <a:fillRect/>
          </a:stretch>
        </p:blipFill>
        <p:spPr bwMode="auto">
          <a:xfrm flipH="1">
            <a:off x="2378167" y="3687874"/>
            <a:ext cx="1243614" cy="2167815"/>
          </a:xfrm>
          <a:prstGeom prst="rect">
            <a:avLst/>
          </a:prstGeom>
          <a:noFill/>
          <a:ln w="9525">
            <a:noFill/>
            <a:miter lim="800000"/>
            <a:headEnd/>
            <a:tailEnd/>
          </a:ln>
        </p:spPr>
      </p:pic>
      <p:grpSp>
        <p:nvGrpSpPr>
          <p:cNvPr id="12" name="그룹 11"/>
          <p:cNvGrpSpPr/>
          <p:nvPr/>
        </p:nvGrpSpPr>
        <p:grpSpPr>
          <a:xfrm>
            <a:off x="2126502" y="2885475"/>
            <a:ext cx="1624905" cy="729222"/>
            <a:chOff x="658933" y="2833630"/>
            <a:chExt cx="1693541" cy="760023"/>
          </a:xfrm>
        </p:grpSpPr>
        <p:pic>
          <p:nvPicPr>
            <p:cNvPr id="10" name="그림 15" descr="logo_red[1].PNG"/>
            <p:cNvPicPr>
              <a:picLocks noChangeAspect="1"/>
            </p:cNvPicPr>
            <p:nvPr/>
          </p:nvPicPr>
          <p:blipFill>
            <a:blip r:embed="rId4" cstate="print"/>
            <a:srcRect/>
            <a:stretch>
              <a:fillRect/>
            </a:stretch>
          </p:blipFill>
          <p:spPr bwMode="auto">
            <a:xfrm>
              <a:off x="776245" y="2833630"/>
              <a:ext cx="1441128" cy="457771"/>
            </a:xfrm>
            <a:prstGeom prst="rect">
              <a:avLst/>
            </a:prstGeom>
            <a:noFill/>
            <a:ln w="9525">
              <a:noFill/>
              <a:miter lim="800000"/>
              <a:headEnd/>
              <a:tailEnd/>
            </a:ln>
          </p:spPr>
        </p:pic>
        <p:sp>
          <p:nvSpPr>
            <p:cNvPr id="11" name="직사각형 10"/>
            <p:cNvSpPr/>
            <p:nvPr/>
          </p:nvSpPr>
          <p:spPr>
            <a:xfrm>
              <a:off x="658933" y="3224321"/>
              <a:ext cx="1693541" cy="369332"/>
            </a:xfrm>
            <a:prstGeom prst="rect">
              <a:avLst/>
            </a:prstGeom>
          </p:spPr>
          <p:txBody>
            <a:bodyPr wrap="none">
              <a:spAutoFit/>
            </a:bodyPr>
            <a:lstStyle/>
            <a:p>
              <a:r>
                <a:rPr lang="en-US" altLang="ko-KR" b="1" dirty="0">
                  <a:solidFill>
                    <a:srgbClr val="B50937"/>
                  </a:solidFill>
                  <a:latin typeface="서울남산체 L" panose="02020603020101020101" pitchFamily="18" charset="-127"/>
                  <a:ea typeface="서울남산체 L" panose="02020603020101020101" pitchFamily="18" charset="-127"/>
                </a:rPr>
                <a:t>Measurement</a:t>
              </a:r>
              <a:endParaRPr lang="ko-KR" altLang="en-US" b="1" dirty="0">
                <a:solidFill>
                  <a:srgbClr val="B50937"/>
                </a:solidFill>
                <a:latin typeface="서울남산체 L" panose="02020603020101020101" pitchFamily="18" charset="-127"/>
                <a:ea typeface="서울남산체 L" panose="02020603020101020101" pitchFamily="18" charset="-127"/>
              </a:endParaRPr>
            </a:p>
          </p:txBody>
        </p:sp>
      </p:grpSp>
      <p:sp>
        <p:nvSpPr>
          <p:cNvPr id="15" name="오른쪽 화살표 14"/>
          <p:cNvSpPr/>
          <p:nvPr/>
        </p:nvSpPr>
        <p:spPr>
          <a:xfrm>
            <a:off x="3756336" y="4090833"/>
            <a:ext cx="549659" cy="634222"/>
          </a:xfrm>
          <a:prstGeom prst="rightArrow">
            <a:avLst/>
          </a:prstGeom>
          <a:solidFill>
            <a:srgbClr val="B50937"/>
          </a:solidFill>
          <a:ln>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4" name="그림 13"/>
          <p:cNvPicPr>
            <a:picLocks noChangeAspect="1"/>
          </p:cNvPicPr>
          <p:nvPr/>
        </p:nvPicPr>
        <p:blipFill>
          <a:blip r:embed="rId5"/>
          <a:stretch>
            <a:fillRect/>
          </a:stretch>
        </p:blipFill>
        <p:spPr>
          <a:xfrm>
            <a:off x="4664971" y="2858084"/>
            <a:ext cx="5209216" cy="397794"/>
          </a:xfrm>
          <a:prstGeom prst="rect">
            <a:avLst/>
          </a:prstGeom>
        </p:spPr>
      </p:pic>
      <p:grpSp>
        <p:nvGrpSpPr>
          <p:cNvPr id="19" name="그룹 18"/>
          <p:cNvGrpSpPr/>
          <p:nvPr/>
        </p:nvGrpSpPr>
        <p:grpSpPr>
          <a:xfrm>
            <a:off x="4664971" y="3841862"/>
            <a:ext cx="5209216" cy="2513217"/>
            <a:chOff x="3236955" y="3675602"/>
            <a:chExt cx="5429250" cy="2619375"/>
          </a:xfrm>
        </p:grpSpPr>
        <p:pic>
          <p:nvPicPr>
            <p:cNvPr id="13" name="그림 12"/>
            <p:cNvPicPr>
              <a:picLocks noChangeAspect="1"/>
            </p:cNvPicPr>
            <p:nvPr/>
          </p:nvPicPr>
          <p:blipFill>
            <a:blip r:embed="rId6"/>
            <a:stretch>
              <a:fillRect/>
            </a:stretch>
          </p:blipFill>
          <p:spPr>
            <a:xfrm>
              <a:off x="3236955" y="3675602"/>
              <a:ext cx="5429250" cy="2619375"/>
            </a:xfrm>
            <a:prstGeom prst="rect">
              <a:avLst/>
            </a:prstGeom>
          </p:spPr>
        </p:pic>
        <p:sp>
          <p:nvSpPr>
            <p:cNvPr id="16" name="object 12"/>
            <p:cNvSpPr/>
            <p:nvPr/>
          </p:nvSpPr>
          <p:spPr>
            <a:xfrm>
              <a:off x="3334007" y="4119497"/>
              <a:ext cx="4543053" cy="827076"/>
            </a:xfrm>
            <a:custGeom>
              <a:avLst/>
              <a:gdLst/>
              <a:ahLst/>
              <a:cxnLst/>
              <a:rect l="l" t="t" r="r" b="b"/>
              <a:pathLst>
                <a:path w="1786254" h="1929129">
                  <a:moveTo>
                    <a:pt x="0" y="1928876"/>
                  </a:moveTo>
                  <a:lnTo>
                    <a:pt x="1786001" y="1928876"/>
                  </a:lnTo>
                  <a:lnTo>
                    <a:pt x="1786001" y="0"/>
                  </a:lnTo>
                  <a:lnTo>
                    <a:pt x="0" y="0"/>
                  </a:lnTo>
                  <a:lnTo>
                    <a:pt x="0" y="1928876"/>
                  </a:lnTo>
                  <a:close/>
                </a:path>
              </a:pathLst>
            </a:custGeom>
            <a:ln w="25400">
              <a:solidFill>
                <a:srgbClr val="B50937"/>
              </a:solidFill>
            </a:ln>
          </p:spPr>
          <p:txBody>
            <a:bodyPr wrap="square" lIns="0" tIns="0" rIns="0" bIns="0" rtlCol="0"/>
            <a:lstStyle/>
            <a:p>
              <a:endParaRPr/>
            </a:p>
          </p:txBody>
        </p:sp>
        <p:sp>
          <p:nvSpPr>
            <p:cNvPr id="17" name="object 12"/>
            <p:cNvSpPr/>
            <p:nvPr/>
          </p:nvSpPr>
          <p:spPr>
            <a:xfrm>
              <a:off x="3334006" y="5385838"/>
              <a:ext cx="4543053" cy="827076"/>
            </a:xfrm>
            <a:custGeom>
              <a:avLst/>
              <a:gdLst/>
              <a:ahLst/>
              <a:cxnLst/>
              <a:rect l="l" t="t" r="r" b="b"/>
              <a:pathLst>
                <a:path w="1786254" h="1929129">
                  <a:moveTo>
                    <a:pt x="0" y="1928876"/>
                  </a:moveTo>
                  <a:lnTo>
                    <a:pt x="1786001" y="1928876"/>
                  </a:lnTo>
                  <a:lnTo>
                    <a:pt x="1786001" y="0"/>
                  </a:lnTo>
                  <a:lnTo>
                    <a:pt x="0" y="0"/>
                  </a:lnTo>
                  <a:lnTo>
                    <a:pt x="0" y="1928876"/>
                  </a:lnTo>
                  <a:close/>
                </a:path>
              </a:pathLst>
            </a:custGeom>
            <a:ln w="25400">
              <a:solidFill>
                <a:srgbClr val="B50937"/>
              </a:solidFill>
            </a:ln>
          </p:spPr>
          <p:txBody>
            <a:bodyPr wrap="square" lIns="0" tIns="0" rIns="0" bIns="0" rtlCol="0"/>
            <a:lstStyle/>
            <a:p>
              <a:endParaRPr/>
            </a:p>
          </p:txBody>
        </p:sp>
      </p:grpSp>
      <p:sp>
        <p:nvSpPr>
          <p:cNvPr id="20" name="TextBox 19"/>
          <p:cNvSpPr txBox="1"/>
          <p:nvPr/>
        </p:nvSpPr>
        <p:spPr>
          <a:xfrm>
            <a:off x="4601384" y="3423670"/>
            <a:ext cx="5572677" cy="383894"/>
          </a:xfrm>
          <a:prstGeom prst="rect">
            <a:avLst/>
          </a:prstGeom>
          <a:noFill/>
        </p:spPr>
        <p:txBody>
          <a:bodyPr wrap="square" rtlCol="0">
            <a:spAutoFit/>
          </a:bodyPr>
          <a:lstStyle/>
          <a:p>
            <a:r>
              <a:rPr lang="en-US" altLang="ko-KR" sz="1918" dirty="0">
                <a:solidFill>
                  <a:srgbClr val="B50937"/>
                </a:solidFill>
              </a:rPr>
              <a:t>SMI = Appendicular Lean(RA + LA + RL + LL) / Height</a:t>
            </a:r>
            <a:r>
              <a:rPr lang="en-US" altLang="ko-KR" sz="1918" baseline="30000" dirty="0">
                <a:solidFill>
                  <a:srgbClr val="B50937"/>
                </a:solidFill>
              </a:rPr>
              <a:t>2</a:t>
            </a:r>
            <a:endParaRPr lang="ko-KR" altLang="en-US" sz="1918" baseline="30000" dirty="0">
              <a:solidFill>
                <a:srgbClr val="B50937"/>
              </a:solidFill>
            </a:endParaRPr>
          </a:p>
        </p:txBody>
      </p:sp>
      <p:sp>
        <p:nvSpPr>
          <p:cNvPr id="21" name="Rectangle 20"/>
          <p:cNvSpPr/>
          <p:nvPr/>
        </p:nvSpPr>
        <p:spPr>
          <a:xfrm>
            <a:off x="457200" y="320040"/>
            <a:ext cx="384047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20040"/>
            <a:ext cx="3840479" cy="566928"/>
          </a:xfrm>
          <a:prstGeom prst="rect">
            <a:avLst/>
          </a:prstGeom>
          <a:noFill/>
        </p:spPr>
        <p:txBody>
          <a:bodyPr wrap="square" lIns="0" rIns="0" tIns="0" bIns="0" anchor="ctr">
            <a:spAutoFit/>
          </a:bodyPr>
          <a:lstStyle/>
          <a:p>
            <a:pPr algn="ctr"/>
            <a:r>
              <a:rPr sz="2200" b="1" i="0">
                <a:solidFill>
                  <a:srgbClr val="FFFFFF"/>
                </a:solidFill>
                <a:latin typeface="Calibri"/>
              </a:rPr>
              <a:t>Muscle Mass and Diabetes</a:t>
            </a:r>
          </a:p>
        </p:txBody>
      </p:sp>
      <p:sp>
        <p:nvSpPr>
          <p:cNvPr id="23" name="TextBox 22"/>
          <p:cNvSpPr txBox="1"/>
          <p:nvPr/>
        </p:nvSpPr>
        <p:spPr>
          <a:xfrm>
            <a:off x="4526279" y="320040"/>
            <a:ext cx="5379415" cy="566928"/>
          </a:xfrm>
          <a:prstGeom prst="rect">
            <a:avLst/>
          </a:prstGeom>
          <a:noFill/>
        </p:spPr>
        <p:txBody>
          <a:bodyPr wrap="square" lIns="0" rIns="0" tIns="0" bIns="0" anchor="ctr">
            <a:spAutoFit/>
          </a:bodyPr>
          <a:lstStyle/>
          <a:p>
            <a:pPr algn="l"/>
            <a:r>
              <a:rPr sz="900" b="1" i="0">
                <a:solidFill>
                  <a:srgbClr val="B50937"/>
                </a:solidFill>
                <a:latin typeface="Calibri"/>
              </a:rPr>
              <a:t>SESSION 4</a:t>
            </a:r>
          </a:p>
          <a:p>
            <a:pPr algn="l"/>
            <a:r>
              <a:rPr sz="900" b="0" i="0">
                <a:solidFill>
                  <a:srgbClr val="5E6470"/>
                </a:solidFill>
                <a:latin typeface="Calibri"/>
              </a:rPr>
              <a:t>Diabetes &amp; Body Composition</a:t>
            </a:r>
          </a:p>
        </p:txBody>
      </p:sp>
      <p:pic>
        <p:nvPicPr>
          <p:cNvPr id="24" name="Picture 23" descr="logo_red.png"/>
          <p:cNvPicPr>
            <a:picLocks noChangeAspect="1"/>
          </p:cNvPicPr>
          <p:nvPr/>
        </p:nvPicPr>
        <p:blipFill>
          <a:blip r:embed="rId7"/>
          <a:stretch>
            <a:fillRect/>
          </a:stretch>
        </p:blipFill>
        <p:spPr>
          <a:xfrm>
            <a:off x="10436918" y="420624"/>
            <a:ext cx="1297577" cy="365760"/>
          </a:xfrm>
          <a:prstGeom prst="rect">
            <a:avLst/>
          </a:prstGeom>
        </p:spPr>
      </p:pic>
      <p:sp>
        <p:nvSpPr>
          <p:cNvPr id="25" name="TextBox 24"/>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6" name="TextBox 25"/>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58</a:t>
            </a:r>
          </a:p>
        </p:txBody>
      </p:sp>
    </p:spTree>
    <p:extLst>
      <p:ext uri="{BB962C8B-B14F-4D97-AF65-F5344CB8AC3E}">
        <p14:creationId xmlns:p14="http://schemas.microsoft.com/office/powerpoint/2010/main" val="23264962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84047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840479" cy="566928"/>
          </a:xfrm>
          <a:prstGeom prst="rect">
            <a:avLst/>
          </a:prstGeom>
          <a:noFill/>
        </p:spPr>
        <p:txBody>
          <a:bodyPr wrap="square" lIns="0" rIns="0" tIns="0" bIns="0" anchor="ctr">
            <a:spAutoFit/>
          </a:bodyPr>
          <a:lstStyle/>
          <a:p>
            <a:pPr algn="ctr"/>
            <a:r>
              <a:rPr sz="2200" b="1" i="0">
                <a:solidFill>
                  <a:srgbClr val="FFFFFF"/>
                </a:solidFill>
                <a:latin typeface="Calibri"/>
              </a:rPr>
              <a:t>Muscle Mass and Diabetes</a:t>
            </a:r>
          </a:p>
        </p:txBody>
      </p:sp>
      <p:sp>
        <p:nvSpPr>
          <p:cNvPr id="4" name="TextBox 3"/>
          <p:cNvSpPr txBox="1"/>
          <p:nvPr/>
        </p:nvSpPr>
        <p:spPr>
          <a:xfrm>
            <a:off x="4526279" y="320040"/>
            <a:ext cx="5379415" cy="566928"/>
          </a:xfrm>
          <a:prstGeom prst="rect">
            <a:avLst/>
          </a:prstGeom>
          <a:noFill/>
        </p:spPr>
        <p:txBody>
          <a:bodyPr wrap="square" lIns="0" rIns="0" tIns="0" bIns="0" anchor="ctr">
            <a:spAutoFit/>
          </a:bodyPr>
          <a:lstStyle/>
          <a:p>
            <a:pPr algn="l"/>
            <a:r>
              <a:rPr sz="900" b="1" i="0">
                <a:solidFill>
                  <a:srgbClr val="B50937"/>
                </a:solidFill>
                <a:latin typeface="Calibri"/>
              </a:rPr>
              <a:t>SESSION 4</a:t>
            </a:r>
          </a:p>
          <a:p>
            <a:pPr algn="l"/>
            <a:r>
              <a:rPr sz="900" b="0" i="0">
                <a:solidFill>
                  <a:srgbClr val="5E6470"/>
                </a:solidFill>
                <a:latin typeface="Calibri"/>
              </a:rPr>
              <a:t>Diabetes &amp; Body Composition</a:t>
            </a:r>
          </a:p>
        </p:txBody>
      </p:sp>
      <p:pic>
        <p:nvPicPr>
          <p:cNvPr id="5" name="Picture 4" descr="logo_red.png"/>
          <p:cNvPicPr>
            <a:picLocks noChangeAspect="1"/>
          </p:cNvPicPr>
          <p:nvPr/>
        </p:nvPicPr>
        <p:blipFill>
          <a:blip r:embed="rId5"/>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59</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6"/>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Cut-off for sarcopenia (Asians)</a:t>
            </a:r>
          </a:p>
          <a:p>
            <a:pPr>
              <a:spcAft>
                <a:spcPts val="600"/>
              </a:spcAft>
            </a:pPr>
            <a:r>
              <a:rPr sz="1300">
                <a:solidFill>
                  <a:srgbClr val="181D27"/>
                </a:solidFill>
                <a:latin typeface="Calibri"/>
              </a:rPr>
              <a:t>SMI (Skeletal Muscle Index) = appendicular skeletal muscle mass ÷ height²</a:t>
            </a:r>
          </a:p>
          <a:p>
            <a:pPr marL="228600" indent="-228600">
              <a:spcAft>
                <a:spcPts val="600"/>
              </a:spcAft>
              <a:buChar char="•"/>
            </a:pPr>
            <a:r>
              <a:rPr sz="1300">
                <a:solidFill>
                  <a:srgbClr val="181D27"/>
                </a:solidFill>
                <a:latin typeface="Calibri"/>
              </a:rPr>
              <a:t>Men: 7.0 kg/m²</a:t>
            </a:r>
          </a:p>
          <a:p>
            <a:pPr marL="228600" indent="-228600">
              <a:spcAft>
                <a:spcPts val="600"/>
              </a:spcAft>
              <a:buChar char="•"/>
            </a:pPr>
            <a:r>
              <a:rPr sz="1300">
                <a:solidFill>
                  <a:srgbClr val="181D27"/>
                </a:solidFill>
                <a:latin typeface="Calibri"/>
              </a:rPr>
              <a:t>Women: 5.7 kg/m²</a:t>
            </a:r>
          </a:p>
          <a:p>
            <a:pPr>
              <a:spcAft>
                <a:spcPts val="600"/>
              </a:spcAft>
            </a:pPr>
            <a:r>
              <a:rPr sz="1300">
                <a:solidFill>
                  <a:srgbClr val="181D27"/>
                </a:solidFill>
                <a:latin typeface="Calibri"/>
              </a:rPr>
              <a:t>Source: J Am Med Dir Assoc. 2014;15(2):95–101 (Asian Working Group for Sarcopenia)</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57.png"/>
          <p:cNvPicPr>
            <a:picLocks noChangeAspect="1"/>
          </p:cNvPicPr>
          <p:nvPr/>
        </p:nvPicPr>
        <p:blipFill>
          <a:blip r:embed="rId7"/>
          <a:stretch>
            <a:fillRect/>
          </a:stretch>
        </p:blipFill>
        <p:spPr>
          <a:xfrm>
            <a:off x="5760720" y="1543896"/>
            <a:ext cx="5790895" cy="3313007"/>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8"/>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Below these SMI cut-offs, BIA indicates sarcopenia in Asian patients.</a:t>
            </a:r>
          </a:p>
        </p:txBody>
      </p:sp>
    </p:spTree>
    <p:extLst>
      <p:ext uri="{BB962C8B-B14F-4D97-AF65-F5344CB8AC3E}">
        <p14:creationId xmlns:p14="http://schemas.microsoft.com/office/powerpoint/2010/main" val="12011923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373132" y="4429579"/>
            <a:ext cx="11437024" cy="2052304"/>
          </a:xfrm>
          <a:custGeom>
            <a:avLst/>
            <a:gdLst/>
            <a:ahLst/>
            <a:cxnLst/>
            <a:rect l="l" t="t" r="r" b="b"/>
            <a:pathLst>
              <a:path w="18817070" h="3376610">
                <a:moveTo>
                  <a:pt x="0" y="0"/>
                </a:moveTo>
                <a:lnTo>
                  <a:pt x="18817070" y="0"/>
                </a:lnTo>
                <a:lnTo>
                  <a:pt x="18817070" y="3376610"/>
                </a:lnTo>
                <a:lnTo>
                  <a:pt x="0" y="3376610"/>
                </a:lnTo>
                <a:lnTo>
                  <a:pt x="0" y="0"/>
                </a:lnTo>
                <a:close/>
              </a:path>
            </a:pathLst>
          </a:custGeom>
          <a:blipFill>
            <a:blip r:embed="rId2">
              <a:alphaModFix amt="9999"/>
              <a:extLst>
                <a:ext uri="{96DAC541-7B7A-43D3-8B79-37D633B846F1}">
                  <asvg:svgBlip xmlns:asvg="http://schemas.microsoft.com/office/drawing/2016/SVG/main" r:embed="rId3"/>
                </a:ext>
              </a:extLst>
            </a:blip>
            <a:stretch>
              <a:fillRect l="-14951" r="-15027" b="-360943"/>
            </a:stretch>
          </a:blipFill>
        </p:spPr>
        <p:txBody>
          <a:bodyPr/>
          <a:p/>
        </p:txBody>
      </p:sp>
      <p:sp>
        <p:nvSpPr>
          <p:cNvPr id="4" name="AutoShape 4"/>
          <p:cNvSpPr/>
          <p:nvPr/>
        </p:nvSpPr>
        <p:spPr>
          <a:xfrm flipV="1">
            <a:off x="2008237" y="1097280"/>
            <a:ext cx="8175497" cy="0"/>
          </a:xfrm>
          <a:prstGeom prst="line">
            <a:avLst/>
          </a:prstGeom>
          <a:ln w="209550" cap="flat">
            <a:solidFill>
              <a:srgbClr val="DDE0E5"/>
            </a:solidFill>
            <a:prstDash val="solid"/>
            <a:headEnd type="none" w="sm" len="sm"/>
            <a:tailEnd type="none" w="sm" len="sm"/>
          </a:ln>
        </p:spPr>
        <p:txBody>
          <a:bodyPr/>
          <a:p/>
        </p:txBody>
      </p:sp>
      <p:pic>
        <p:nvPicPr>
          <p:cNvPr id="31" name="그림 30" descr="화면 캡처"/>
          <p:cNvPicPr>
            <a:picLocks noChangeAspect="1"/>
          </p:cNvPicPr>
          <p:nvPr/>
        </p:nvPicPr>
        <p:blipFill rotWithShape="1">
          <a:blip r:embed="rId4">
            <a:extLst>
              <a:ext uri="{28A0092B-C50C-407E-A947-70E740481C1C}">
                <a14:useLocalDpi xmlns:a14="http://schemas.microsoft.com/office/drawing/2010/main" val="0"/>
              </a:ext>
            </a:extLst>
          </a:blip>
          <a:srcRect l="45589"/>
          <a:stretch/>
        </p:blipFill>
        <p:spPr>
          <a:xfrm>
            <a:off x="1094031" y="1329967"/>
            <a:ext cx="4595151" cy="4718352"/>
          </a:xfrm>
          <a:prstGeom prst="rect">
            <a:avLst/>
          </a:prstGeom>
        </p:spPr>
      </p:pic>
      <p:cxnSp>
        <p:nvCxnSpPr>
          <p:cNvPr id="32" name="직선 연결선 31"/>
          <p:cNvCxnSpPr/>
          <p:nvPr/>
        </p:nvCxnSpPr>
        <p:spPr>
          <a:xfrm>
            <a:off x="6197654" y="2353775"/>
            <a:ext cx="0" cy="1750166"/>
          </a:xfrm>
          <a:prstGeom prst="line">
            <a:avLst/>
          </a:prstGeom>
          <a:ln>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pic>
        <p:nvPicPr>
          <p:cNvPr id="33" name="그림 32" descr="화면 캡처"/>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67813" y="2006979"/>
            <a:ext cx="4346466" cy="2361863"/>
          </a:xfrm>
          <a:prstGeom prst="rect">
            <a:avLst/>
          </a:prstGeom>
        </p:spPr>
      </p:pic>
      <p:cxnSp>
        <p:nvCxnSpPr>
          <p:cNvPr id="34" name="직선 화살표 연결선 33"/>
          <p:cNvCxnSpPr/>
          <p:nvPr/>
        </p:nvCxnSpPr>
        <p:spPr>
          <a:xfrm rot="5400000">
            <a:off x="8912990" y="4500612"/>
            <a:ext cx="267628" cy="0"/>
          </a:xfrm>
          <a:prstGeom prst="straightConnector1">
            <a:avLst/>
          </a:prstGeom>
          <a:ln>
            <a:solidFill>
              <a:srgbClr val="B50937"/>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9488607" y="2940187"/>
            <a:ext cx="358003" cy="271189"/>
          </a:xfrm>
          <a:prstGeom prst="rect">
            <a:avLst/>
          </a:prstGeom>
          <a:solidFill>
            <a:schemeClr val="bg1"/>
          </a:solidFill>
        </p:spPr>
        <p:txBody>
          <a:bodyPr wrap="square" rtlCol="0">
            <a:spAutoFit/>
          </a:bodyPr>
          <a:lstStyle/>
          <a:p>
            <a:r>
              <a:rPr lang="en-US" altLang="ko-KR" sz="1215" dirty="0">
                <a:solidFill>
                  <a:srgbClr val="B50937"/>
                </a:solidFill>
                <a:latin typeface="Poppins" panose="020B0604020202020204" charset="0"/>
                <a:cs typeface="Poppins" panose="020B0604020202020204" charset="0"/>
              </a:rPr>
              <a:t>+</a:t>
            </a:r>
            <a:endParaRPr lang="ko-KR" altLang="en-US" sz="1215" dirty="0">
              <a:solidFill>
                <a:srgbClr val="B50937"/>
              </a:solidFill>
              <a:latin typeface="Poppins" panose="020B0604020202020204" charset="0"/>
              <a:cs typeface="Poppins" panose="020B0604020202020204" charset="0"/>
            </a:endParaRPr>
          </a:p>
        </p:txBody>
      </p:sp>
      <p:sp>
        <p:nvSpPr>
          <p:cNvPr id="36" name="TextBox 35"/>
          <p:cNvSpPr txBox="1"/>
          <p:nvPr/>
        </p:nvSpPr>
        <p:spPr>
          <a:xfrm>
            <a:off x="7801817" y="2923698"/>
            <a:ext cx="358003" cy="271189"/>
          </a:xfrm>
          <a:prstGeom prst="rect">
            <a:avLst/>
          </a:prstGeom>
          <a:solidFill>
            <a:schemeClr val="bg1"/>
          </a:solidFill>
        </p:spPr>
        <p:txBody>
          <a:bodyPr wrap="square" rtlCol="0">
            <a:spAutoFit/>
          </a:bodyPr>
          <a:lstStyle/>
          <a:p>
            <a:r>
              <a:rPr lang="en-US" altLang="ko-KR" sz="1215" dirty="0">
                <a:solidFill>
                  <a:srgbClr val="B50937"/>
                </a:solidFill>
                <a:latin typeface="Poppins" panose="020B0604020202020204" charset="0"/>
                <a:cs typeface="Poppins" panose="020B0604020202020204" charset="0"/>
              </a:rPr>
              <a:t>+</a:t>
            </a:r>
            <a:endParaRPr lang="ko-KR" altLang="en-US" sz="1215" dirty="0">
              <a:solidFill>
                <a:srgbClr val="B50937"/>
              </a:solidFill>
              <a:latin typeface="Poppins" panose="020B0604020202020204" charset="0"/>
              <a:cs typeface="Poppins" panose="020B0604020202020204" charset="0"/>
            </a:endParaRPr>
          </a:p>
        </p:txBody>
      </p:sp>
      <p:pic>
        <p:nvPicPr>
          <p:cNvPr id="37" name="그림 36" descr="화면 캡처"/>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83618" y="4675321"/>
            <a:ext cx="1677917" cy="845736"/>
          </a:xfrm>
          <a:prstGeom prst="rect">
            <a:avLst/>
          </a:prstGeom>
        </p:spPr>
      </p:pic>
      <p:sp>
        <p:nvSpPr>
          <p:cNvPr id="39" name="직사각형 28">
            <a:extLst>
              <a:ext uri="{FF2B5EF4-FFF2-40B4-BE49-F238E27FC236}">
                <a16:creationId xmlns:a16="http://schemas.microsoft.com/office/drawing/2014/main" id="{9120A91B-7EEF-18D6-16AC-7DFF0E052A5B}"/>
              </a:ext>
            </a:extLst>
          </p:cNvPr>
          <p:cNvSpPr/>
          <p:nvPr/>
        </p:nvSpPr>
        <p:spPr>
          <a:xfrm>
            <a:off x="6924333" y="2205497"/>
            <a:ext cx="940279" cy="276204"/>
          </a:xfrm>
          <a:prstGeom prst="roundRect">
            <a:avLst>
              <a:gd name="adj" fmla="val 50000"/>
            </a:avLst>
          </a:prstGeom>
          <a:solidFill>
            <a:srgbClr val="B50937"/>
          </a:solidFill>
        </p:spPr>
        <p:txBody>
          <a:bodyPr wrap="square">
            <a:spAutoFit/>
          </a:bodyPr>
          <a:lstStyle/>
          <a:p>
            <a:pPr algn="ctr"/>
            <a:r>
              <a:rPr lang="en-US" altLang="ko-KR" sz="729" dirty="0">
                <a:solidFill>
                  <a:schemeClr val="bg1"/>
                </a:solidFill>
                <a:latin typeface="Poppins Bold" panose="020B0604020202020204" charset="0"/>
                <a:cs typeface="Poppins Bold" panose="020B0604020202020204" charset="0"/>
              </a:rPr>
              <a:t>InBody Test</a:t>
            </a:r>
          </a:p>
        </p:txBody>
      </p:sp>
      <p:sp>
        <p:nvSpPr>
          <p:cNvPr id="40" name="직사각형 28">
            <a:extLst>
              <a:ext uri="{FF2B5EF4-FFF2-40B4-BE49-F238E27FC236}">
                <a16:creationId xmlns:a16="http://schemas.microsoft.com/office/drawing/2014/main" id="{C9ECAD9B-060B-DF91-5B9A-96A50715C8AE}"/>
              </a:ext>
            </a:extLst>
          </p:cNvPr>
          <p:cNvSpPr/>
          <p:nvPr/>
        </p:nvSpPr>
        <p:spPr>
          <a:xfrm>
            <a:off x="8440113" y="2205497"/>
            <a:ext cx="1013841" cy="276204"/>
          </a:xfrm>
          <a:prstGeom prst="roundRect">
            <a:avLst>
              <a:gd name="adj" fmla="val 50000"/>
            </a:avLst>
          </a:prstGeom>
          <a:solidFill>
            <a:srgbClr val="B50937"/>
          </a:solidFill>
        </p:spPr>
        <p:txBody>
          <a:bodyPr wrap="square">
            <a:spAutoFit/>
          </a:bodyPr>
          <a:lstStyle/>
          <a:p>
            <a:pPr algn="ctr"/>
            <a:r>
              <a:rPr lang="en-US" altLang="ko-KR" sz="729" dirty="0">
                <a:solidFill>
                  <a:schemeClr val="bg1"/>
                </a:solidFill>
                <a:latin typeface="Poppins Bold" panose="020B0604020202020204" charset="0"/>
                <a:cs typeface="Poppins Bold" panose="020B0604020202020204" charset="0"/>
              </a:rPr>
              <a:t>Handgrip Test</a:t>
            </a:r>
          </a:p>
        </p:txBody>
      </p:sp>
      <p:sp>
        <p:nvSpPr>
          <p:cNvPr id="41" name="직사각형 28">
            <a:extLst>
              <a:ext uri="{FF2B5EF4-FFF2-40B4-BE49-F238E27FC236}">
                <a16:creationId xmlns:a16="http://schemas.microsoft.com/office/drawing/2014/main" id="{3C13CAB2-5958-6DAA-95A6-097A0FFD7282}"/>
              </a:ext>
            </a:extLst>
          </p:cNvPr>
          <p:cNvSpPr/>
          <p:nvPr/>
        </p:nvSpPr>
        <p:spPr>
          <a:xfrm>
            <a:off x="10120208" y="2207955"/>
            <a:ext cx="1013841" cy="276204"/>
          </a:xfrm>
          <a:prstGeom prst="roundRect">
            <a:avLst>
              <a:gd name="adj" fmla="val 50000"/>
            </a:avLst>
          </a:prstGeom>
          <a:solidFill>
            <a:srgbClr val="B50937"/>
          </a:solidFill>
        </p:spPr>
        <p:txBody>
          <a:bodyPr wrap="square">
            <a:spAutoFit/>
          </a:bodyPr>
          <a:lstStyle/>
          <a:p>
            <a:pPr algn="ctr"/>
            <a:r>
              <a:rPr lang="en-US" altLang="ko-KR" sz="729" dirty="0">
                <a:solidFill>
                  <a:schemeClr val="bg1"/>
                </a:solidFill>
                <a:latin typeface="Poppins Bold" panose="020B0604020202020204" charset="0"/>
                <a:cs typeface="Poppins Bold" panose="020B0604020202020204" charset="0"/>
              </a:rPr>
              <a:t>Sit &amp; Up Test</a:t>
            </a:r>
          </a:p>
        </p:txBody>
      </p:sp>
      <p:sp>
        <p:nvSpPr>
          <p:cNvPr id="42" name="직사각형 28">
            <a:extLst>
              <a:ext uri="{FF2B5EF4-FFF2-40B4-BE49-F238E27FC236}">
                <a16:creationId xmlns:a16="http://schemas.microsoft.com/office/drawing/2014/main" id="{19261337-AF69-4567-8973-56532A262EAF}"/>
              </a:ext>
            </a:extLst>
          </p:cNvPr>
          <p:cNvSpPr/>
          <p:nvPr/>
        </p:nvSpPr>
        <p:spPr>
          <a:xfrm>
            <a:off x="8319077" y="3991874"/>
            <a:ext cx="526281" cy="289836"/>
          </a:xfrm>
          <a:prstGeom prst="roundRect">
            <a:avLst>
              <a:gd name="adj" fmla="val 0"/>
            </a:avLst>
          </a:prstGeom>
          <a:solidFill>
            <a:schemeClr val="bg1"/>
          </a:solidFill>
        </p:spPr>
        <p:txBody>
          <a:bodyPr wrap="square">
            <a:spAutoFit/>
          </a:bodyPr>
          <a:lstStyle/>
          <a:p>
            <a:pPr algn="ctr"/>
            <a:r>
              <a:rPr lang="en-US" altLang="ko-KR" sz="668" b="1" dirty="0">
                <a:solidFill>
                  <a:srgbClr val="B50937"/>
                </a:solidFill>
                <a:latin typeface="Poppins" panose="020B0604020202020204" charset="0"/>
                <a:cs typeface="Poppins" panose="020B0604020202020204" charset="0"/>
              </a:rPr>
              <a:t>Men</a:t>
            </a:r>
          </a:p>
          <a:p>
            <a:pPr algn="ctr"/>
            <a:r>
              <a:rPr lang="en-US" altLang="ko-KR" sz="668" b="1" dirty="0">
                <a:solidFill>
                  <a:srgbClr val="B50937"/>
                </a:solidFill>
                <a:latin typeface="Poppins" panose="020B0604020202020204" charset="0"/>
                <a:cs typeface="Poppins" panose="020B0604020202020204" charset="0"/>
              </a:rPr>
              <a:t>Women</a:t>
            </a:r>
          </a:p>
        </p:txBody>
      </p:sp>
      <p:sp>
        <p:nvSpPr>
          <p:cNvPr id="43" name="직사각형 28">
            <a:extLst>
              <a:ext uri="{FF2B5EF4-FFF2-40B4-BE49-F238E27FC236}">
                <a16:creationId xmlns:a16="http://schemas.microsoft.com/office/drawing/2014/main" id="{E632E0EC-EC0E-5A68-2113-9231AF533A25}"/>
              </a:ext>
            </a:extLst>
          </p:cNvPr>
          <p:cNvSpPr/>
          <p:nvPr/>
        </p:nvSpPr>
        <p:spPr>
          <a:xfrm>
            <a:off x="6683995" y="3999275"/>
            <a:ext cx="530329" cy="289836"/>
          </a:xfrm>
          <a:prstGeom prst="roundRect">
            <a:avLst>
              <a:gd name="adj" fmla="val 0"/>
            </a:avLst>
          </a:prstGeom>
          <a:solidFill>
            <a:schemeClr val="bg1"/>
          </a:solidFill>
        </p:spPr>
        <p:txBody>
          <a:bodyPr wrap="square">
            <a:spAutoFit/>
          </a:bodyPr>
          <a:lstStyle/>
          <a:p>
            <a:pPr algn="ctr"/>
            <a:r>
              <a:rPr lang="en-US" altLang="ko-KR" sz="668" b="1" dirty="0">
                <a:solidFill>
                  <a:srgbClr val="B50937"/>
                </a:solidFill>
                <a:latin typeface="Poppins" panose="020B0604020202020204" charset="0"/>
                <a:cs typeface="Poppins" panose="020B0604020202020204" charset="0"/>
              </a:rPr>
              <a:t>Men</a:t>
            </a:r>
          </a:p>
          <a:p>
            <a:pPr algn="ctr"/>
            <a:r>
              <a:rPr lang="en-US" altLang="ko-KR" sz="668" b="1" dirty="0">
                <a:solidFill>
                  <a:srgbClr val="B50937"/>
                </a:solidFill>
                <a:latin typeface="Poppins" panose="020B0604020202020204" charset="0"/>
                <a:cs typeface="Poppins" panose="020B0604020202020204" charset="0"/>
              </a:rPr>
              <a:t>Women</a:t>
            </a:r>
          </a:p>
        </p:txBody>
      </p:sp>
      <p:sp>
        <p:nvSpPr>
          <p:cNvPr id="44" name="직사각형 28">
            <a:extLst>
              <a:ext uri="{FF2B5EF4-FFF2-40B4-BE49-F238E27FC236}">
                <a16:creationId xmlns:a16="http://schemas.microsoft.com/office/drawing/2014/main" id="{5477EF57-3DC7-1968-CA1F-9394A20ED2EC}"/>
              </a:ext>
            </a:extLst>
          </p:cNvPr>
          <p:cNvSpPr/>
          <p:nvPr/>
        </p:nvSpPr>
        <p:spPr>
          <a:xfrm>
            <a:off x="9891879" y="3999275"/>
            <a:ext cx="530329" cy="289836"/>
          </a:xfrm>
          <a:prstGeom prst="roundRect">
            <a:avLst>
              <a:gd name="adj" fmla="val 0"/>
            </a:avLst>
          </a:prstGeom>
          <a:solidFill>
            <a:schemeClr val="bg1"/>
          </a:solidFill>
        </p:spPr>
        <p:txBody>
          <a:bodyPr wrap="square">
            <a:spAutoFit/>
          </a:bodyPr>
          <a:lstStyle/>
          <a:p>
            <a:pPr algn="ctr"/>
            <a:r>
              <a:rPr lang="en-US" altLang="ko-KR" sz="668" b="1" dirty="0">
                <a:solidFill>
                  <a:srgbClr val="B50937"/>
                </a:solidFill>
                <a:latin typeface="Poppins" panose="020B0604020202020204" charset="0"/>
                <a:cs typeface="Poppins" panose="020B0604020202020204" charset="0"/>
              </a:rPr>
              <a:t>Men</a:t>
            </a:r>
          </a:p>
          <a:p>
            <a:pPr algn="ctr"/>
            <a:r>
              <a:rPr lang="en-US" altLang="ko-KR" sz="668" b="1" dirty="0">
                <a:solidFill>
                  <a:srgbClr val="B50937"/>
                </a:solidFill>
                <a:latin typeface="Poppins" panose="020B0604020202020204" charset="0"/>
                <a:cs typeface="Poppins" panose="020B0604020202020204" charset="0"/>
              </a:rPr>
              <a:t>Women</a:t>
            </a:r>
          </a:p>
        </p:txBody>
      </p:sp>
      <p:sp>
        <p:nvSpPr>
          <p:cNvPr id="45" name="직사각형 28">
            <a:extLst>
              <a:ext uri="{FF2B5EF4-FFF2-40B4-BE49-F238E27FC236}">
                <a16:creationId xmlns:a16="http://schemas.microsoft.com/office/drawing/2014/main" id="{C00225C1-3174-840A-DE75-2D37C73A9C60}"/>
              </a:ext>
            </a:extLst>
          </p:cNvPr>
          <p:cNvSpPr/>
          <p:nvPr/>
        </p:nvSpPr>
        <p:spPr>
          <a:xfrm>
            <a:off x="7300940" y="4680790"/>
            <a:ext cx="1677917" cy="233892"/>
          </a:xfrm>
          <a:prstGeom prst="roundRect">
            <a:avLst>
              <a:gd name="adj" fmla="val 0"/>
            </a:avLst>
          </a:prstGeom>
          <a:solidFill>
            <a:srgbClr val="B50937"/>
          </a:solidFill>
        </p:spPr>
        <p:txBody>
          <a:bodyPr wrap="square">
            <a:spAutoFit/>
          </a:bodyPr>
          <a:lstStyle/>
          <a:p>
            <a:pPr algn="ctr"/>
            <a:r>
              <a:rPr lang="en-US" altLang="ko-KR" sz="972" dirty="0">
                <a:solidFill>
                  <a:schemeClr val="bg1"/>
                </a:solidFill>
                <a:latin typeface="Poppins Bold" panose="020B0604020202020204" charset="0"/>
                <a:cs typeface="Poppins Bold" panose="020B0604020202020204" charset="0"/>
              </a:rPr>
              <a:t>Sarcopenia</a:t>
            </a:r>
          </a:p>
        </p:txBody>
      </p:sp>
      <p:sp>
        <p:nvSpPr>
          <p:cNvPr id="46" name="직사각형 28">
            <a:extLst>
              <a:ext uri="{FF2B5EF4-FFF2-40B4-BE49-F238E27FC236}">
                <a16:creationId xmlns:a16="http://schemas.microsoft.com/office/drawing/2014/main" id="{B58E41CC-9771-4A21-4F1B-F9A85F02D6DC}"/>
              </a:ext>
            </a:extLst>
          </p:cNvPr>
          <p:cNvSpPr/>
          <p:nvPr/>
        </p:nvSpPr>
        <p:spPr>
          <a:xfrm>
            <a:off x="7303539" y="4976775"/>
            <a:ext cx="1677917" cy="683027"/>
          </a:xfrm>
          <a:prstGeom prst="roundRect">
            <a:avLst>
              <a:gd name="adj" fmla="val 0"/>
            </a:avLst>
          </a:prstGeom>
          <a:solidFill>
            <a:schemeClr val="bg1">
              <a:lumMod val="50000"/>
            </a:schemeClr>
          </a:solidFill>
        </p:spPr>
        <p:txBody>
          <a:bodyPr wrap="square" anchor="ctr">
            <a:spAutoFit/>
          </a:bodyPr>
          <a:lstStyle/>
          <a:p>
            <a:pPr algn="ctr"/>
            <a:r>
              <a:rPr lang="en-US" altLang="ko-KR" sz="972" dirty="0">
                <a:solidFill>
                  <a:schemeClr val="bg1"/>
                </a:solidFill>
                <a:latin typeface="Poppins Bold" panose="020B0604020202020204" charset="0"/>
                <a:cs typeface="Poppins Bold" panose="020B0604020202020204" charset="0"/>
              </a:rPr>
              <a:t>Low SMI + Low Strength</a:t>
            </a:r>
          </a:p>
          <a:p>
            <a:pPr algn="ctr"/>
            <a:r>
              <a:rPr lang="en-US" altLang="ko-KR" sz="972" dirty="0">
                <a:solidFill>
                  <a:schemeClr val="bg1"/>
                </a:solidFill>
                <a:latin typeface="Poppins Bold" panose="020B0604020202020204" charset="0"/>
                <a:cs typeface="Poppins Bold" panose="020B0604020202020204" charset="0"/>
              </a:rPr>
              <a:t>OR</a:t>
            </a:r>
          </a:p>
          <a:p>
            <a:pPr algn="ctr"/>
            <a:r>
              <a:rPr lang="en-US" altLang="ko-KR" sz="972" dirty="0">
                <a:solidFill>
                  <a:schemeClr val="bg1"/>
                </a:solidFill>
                <a:latin typeface="Poppins Bold" panose="020B0604020202020204" charset="0"/>
                <a:cs typeface="Poppins Bold" panose="020B0604020202020204" charset="0"/>
              </a:rPr>
              <a:t>Low Physical Performance</a:t>
            </a:r>
          </a:p>
          <a:p>
            <a:pPr algn="ctr"/>
            <a:r>
              <a:rPr lang="en-US" altLang="ko-KR" sz="972" dirty="0">
                <a:solidFill>
                  <a:schemeClr val="bg1"/>
                </a:solidFill>
                <a:latin typeface="Poppins Bold" panose="020B0604020202020204" charset="0"/>
                <a:cs typeface="Poppins Bold" panose="020B0604020202020204" charset="0"/>
              </a:rPr>
              <a:t> +Low SMI</a:t>
            </a:r>
          </a:p>
        </p:txBody>
      </p:sp>
      <p:sp>
        <p:nvSpPr>
          <p:cNvPr id="47" name="직사각형 28">
            <a:extLst>
              <a:ext uri="{FF2B5EF4-FFF2-40B4-BE49-F238E27FC236}">
                <a16:creationId xmlns:a16="http://schemas.microsoft.com/office/drawing/2014/main" id="{3AF198B7-3773-584B-04DF-F8536DD0332C}"/>
              </a:ext>
            </a:extLst>
          </p:cNvPr>
          <p:cNvSpPr/>
          <p:nvPr/>
        </p:nvSpPr>
        <p:spPr>
          <a:xfrm>
            <a:off x="9157862" y="4680924"/>
            <a:ext cx="1846939" cy="233892"/>
          </a:xfrm>
          <a:prstGeom prst="roundRect">
            <a:avLst>
              <a:gd name="adj" fmla="val 0"/>
            </a:avLst>
          </a:prstGeom>
          <a:solidFill>
            <a:srgbClr val="B50937"/>
          </a:solidFill>
        </p:spPr>
        <p:txBody>
          <a:bodyPr wrap="square">
            <a:spAutoFit/>
          </a:bodyPr>
          <a:lstStyle/>
          <a:p>
            <a:pPr algn="ctr"/>
            <a:r>
              <a:rPr lang="en-US" altLang="ko-KR" sz="972" dirty="0">
                <a:solidFill>
                  <a:schemeClr val="bg1"/>
                </a:solidFill>
                <a:latin typeface="Poppins Bold" panose="020B0604020202020204" charset="0"/>
                <a:cs typeface="Poppins Bold" panose="020B0604020202020204" charset="0"/>
              </a:rPr>
              <a:t>Severe Sarcopenia</a:t>
            </a:r>
          </a:p>
        </p:txBody>
      </p:sp>
      <p:sp>
        <p:nvSpPr>
          <p:cNvPr id="48" name="TextBox 47"/>
          <p:cNvSpPr txBox="1"/>
          <p:nvPr/>
        </p:nvSpPr>
        <p:spPr>
          <a:xfrm>
            <a:off x="9157860" y="4910797"/>
            <a:ext cx="1846939" cy="470005"/>
          </a:xfrm>
          <a:prstGeom prst="rect">
            <a:avLst/>
          </a:prstGeom>
          <a:solidFill>
            <a:srgbClr val="7F7F7F"/>
          </a:solidFill>
        </p:spPr>
        <p:txBody>
          <a:bodyPr wrap="square" rtlCol="0">
            <a:spAutoFit/>
          </a:bodyPr>
          <a:lstStyle/>
          <a:p>
            <a:pPr algn="ctr">
              <a:lnSpc>
                <a:spcPts val="972"/>
              </a:lnSpc>
            </a:pPr>
            <a:r>
              <a:rPr lang="en-US" altLang="ko-KR" sz="972" dirty="0">
                <a:solidFill>
                  <a:schemeClr val="bg1"/>
                </a:solidFill>
                <a:latin typeface="Poppins Bold" panose="020B0604020202020204" charset="0"/>
                <a:cs typeface="Poppins Bold" panose="020B0604020202020204" charset="0"/>
              </a:rPr>
              <a:t>Low SMI + </a:t>
            </a:r>
          </a:p>
          <a:p>
            <a:pPr algn="ctr">
              <a:lnSpc>
                <a:spcPts val="972"/>
              </a:lnSpc>
            </a:pPr>
            <a:r>
              <a:rPr lang="en-US" altLang="ko-KR" sz="972" dirty="0">
                <a:solidFill>
                  <a:schemeClr val="bg1"/>
                </a:solidFill>
                <a:latin typeface="Poppins Bold" panose="020B0604020202020204" charset="0"/>
                <a:cs typeface="Poppins Bold" panose="020B0604020202020204" charset="0"/>
              </a:rPr>
              <a:t>Low Strength +</a:t>
            </a:r>
            <a:r>
              <a:rPr lang="en-US" altLang="ko-KR" sz="972" dirty="0">
                <a:solidFill>
                  <a:schemeClr val="bg1"/>
                </a:solidFill>
                <a:highlight>
                  <a:srgbClr val="F0F1F2"/>
                </a:highlight>
                <a:latin typeface="Poppins Bold" panose="020B0604020202020204" charset="0"/>
                <a:cs typeface="Poppins Bold" panose="020B0604020202020204" charset="0"/>
              </a:rPr>
              <a:t> </a:t>
            </a:r>
          </a:p>
          <a:p>
            <a:pPr algn="ctr">
              <a:lnSpc>
                <a:spcPts val="972"/>
              </a:lnSpc>
            </a:pPr>
            <a:r>
              <a:rPr lang="en-US" altLang="ko-KR" sz="972" dirty="0">
                <a:solidFill>
                  <a:schemeClr val="bg1"/>
                </a:solidFill>
                <a:latin typeface="Poppins Bold" panose="020B0604020202020204" charset="0"/>
                <a:cs typeface="Poppins Bold" panose="020B0604020202020204" charset="0"/>
              </a:rPr>
              <a:t>Low Physical Performance</a:t>
            </a:r>
          </a:p>
        </p:txBody>
      </p:sp>
      <p:sp>
        <p:nvSpPr>
          <p:cNvPr id="49" name="Rectangle 48"/>
          <p:cNvSpPr/>
          <p:nvPr/>
        </p:nvSpPr>
        <p:spPr>
          <a:xfrm>
            <a:off x="457200" y="320040"/>
            <a:ext cx="480059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320040"/>
            <a:ext cx="4800599" cy="566928"/>
          </a:xfrm>
          <a:prstGeom prst="rect">
            <a:avLst/>
          </a:prstGeom>
          <a:noFill/>
        </p:spPr>
        <p:txBody>
          <a:bodyPr wrap="square" lIns="0" rIns="0" tIns="0" bIns="0" anchor="ctr">
            <a:spAutoFit/>
          </a:bodyPr>
          <a:lstStyle/>
          <a:p>
            <a:pPr algn="ctr"/>
            <a:r>
              <a:rPr sz="2200" b="1" i="0">
                <a:solidFill>
                  <a:srgbClr val="FFFFFF"/>
                </a:solidFill>
                <a:latin typeface="Calibri"/>
              </a:rPr>
              <a:t>Diagnostic Criteria and Staging</a:t>
            </a:r>
          </a:p>
        </p:txBody>
      </p:sp>
      <p:sp>
        <p:nvSpPr>
          <p:cNvPr id="51" name="TextBox 50"/>
          <p:cNvSpPr txBox="1"/>
          <p:nvPr/>
        </p:nvSpPr>
        <p:spPr>
          <a:xfrm>
            <a:off x="5486399" y="320040"/>
            <a:ext cx="4419295" cy="566928"/>
          </a:xfrm>
          <a:prstGeom prst="rect">
            <a:avLst/>
          </a:prstGeom>
          <a:noFill/>
        </p:spPr>
        <p:txBody>
          <a:bodyPr wrap="square" lIns="0" rIns="0" tIns="0" bIns="0" anchor="ctr">
            <a:spAutoFit/>
          </a:bodyPr>
          <a:lstStyle/>
          <a:p>
            <a:pPr algn="l"/>
            <a:r>
              <a:rPr sz="900" b="1" i="0">
                <a:solidFill>
                  <a:srgbClr val="B50937"/>
                </a:solidFill>
                <a:latin typeface="Calibri"/>
              </a:rPr>
              <a:t>SESSION 4</a:t>
            </a:r>
          </a:p>
          <a:p>
            <a:pPr algn="l"/>
            <a:r>
              <a:rPr sz="900" b="0" i="0">
                <a:solidFill>
                  <a:srgbClr val="5E6470"/>
                </a:solidFill>
                <a:latin typeface="Calibri"/>
              </a:rPr>
              <a:t>Diabetes &amp; Body Composition</a:t>
            </a:r>
          </a:p>
        </p:txBody>
      </p:sp>
      <p:pic>
        <p:nvPicPr>
          <p:cNvPr id="52" name="Picture 51" descr="logo_red.png"/>
          <p:cNvPicPr>
            <a:picLocks noChangeAspect="1"/>
          </p:cNvPicPr>
          <p:nvPr/>
        </p:nvPicPr>
        <p:blipFill>
          <a:blip r:embed="rId7"/>
          <a:stretch>
            <a:fillRect/>
          </a:stretch>
        </p:blipFill>
        <p:spPr>
          <a:xfrm>
            <a:off x="10436918" y="420624"/>
            <a:ext cx="1297577" cy="365760"/>
          </a:xfrm>
          <a:prstGeom prst="rect">
            <a:avLst/>
          </a:prstGeom>
        </p:spPr>
      </p:pic>
      <p:sp>
        <p:nvSpPr>
          <p:cNvPr id="53" name="TextBox 52"/>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54" name="TextBox 53"/>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60</a:t>
            </a:r>
          </a:p>
        </p:txBody>
      </p:sp>
    </p:spTree>
    <p:extLst>
      <p:ext uri="{BB962C8B-B14F-4D97-AF65-F5344CB8AC3E}">
        <p14:creationId xmlns:p14="http://schemas.microsoft.com/office/powerpoint/2010/main" val="28950969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17" name="그림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78137" y="1097280"/>
            <a:ext cx="3699821" cy="5240667"/>
          </a:xfrm>
          <a:prstGeom prst="rect">
            <a:avLst/>
          </a:prstGeom>
          <a:ln>
            <a:noFill/>
          </a:ln>
          <a:effectLst>
            <a:outerShdw blurRad="292100" dist="139700" dir="2700000" algn="tl" rotWithShape="0">
              <a:srgbClr val="333333">
                <a:alpha val="65000"/>
              </a:srgbClr>
            </a:outerShdw>
          </a:effectLst>
        </p:spPr>
      </p:pic>
      <p:pic>
        <p:nvPicPr>
          <p:cNvPr id="20" name="그림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08328" y="1114412"/>
            <a:ext cx="3705228" cy="5240667"/>
          </a:xfrm>
          <a:prstGeom prst="rect">
            <a:avLst/>
          </a:prstGeom>
          <a:ln>
            <a:noFill/>
          </a:ln>
          <a:effectLst>
            <a:outerShdw blurRad="292100" dist="139700" dir="2700000" algn="tl" rotWithShape="0">
              <a:srgbClr val="333333">
                <a:alpha val="65000"/>
              </a:srgbClr>
            </a:outerShdw>
          </a:effectLst>
        </p:spPr>
      </p:pic>
      <p:sp>
        <p:nvSpPr>
          <p:cNvPr id="21" name="직사각형 20"/>
          <p:cNvSpPr/>
          <p:nvPr/>
        </p:nvSpPr>
        <p:spPr>
          <a:xfrm>
            <a:off x="8216652" y="3954201"/>
            <a:ext cx="297175" cy="8136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p:cNvSpPr/>
          <p:nvPr/>
        </p:nvSpPr>
        <p:spPr>
          <a:xfrm>
            <a:off x="4310077" y="3981416"/>
            <a:ext cx="297175" cy="8020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p:cNvSpPr/>
          <p:nvPr/>
        </p:nvSpPr>
        <p:spPr>
          <a:xfrm>
            <a:off x="2907865" y="5039039"/>
            <a:ext cx="1699388" cy="1558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p:cNvSpPr/>
          <p:nvPr/>
        </p:nvSpPr>
        <p:spPr>
          <a:xfrm>
            <a:off x="6797128" y="5004417"/>
            <a:ext cx="1699388" cy="1558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p:cNvSpPr/>
          <p:nvPr/>
        </p:nvSpPr>
        <p:spPr>
          <a:xfrm>
            <a:off x="2454887" y="2921295"/>
            <a:ext cx="2152367" cy="161571"/>
          </a:xfrm>
          <a:prstGeom prst="rect">
            <a:avLst/>
          </a:prstGeom>
          <a:noFill/>
          <a:ln w="28575">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직사각형 25"/>
          <p:cNvSpPr/>
          <p:nvPr/>
        </p:nvSpPr>
        <p:spPr>
          <a:xfrm>
            <a:off x="6361462" y="2874760"/>
            <a:ext cx="2152367" cy="161571"/>
          </a:xfrm>
          <a:prstGeom prst="rect">
            <a:avLst/>
          </a:prstGeom>
          <a:noFill/>
          <a:ln w="28575">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p:cNvSpPr/>
          <p:nvPr/>
        </p:nvSpPr>
        <p:spPr>
          <a:xfrm>
            <a:off x="6315299" y="3717614"/>
            <a:ext cx="2198531" cy="1079069"/>
          </a:xfrm>
          <a:prstGeom prst="rect">
            <a:avLst/>
          </a:prstGeom>
          <a:noFill/>
          <a:ln w="28575">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p:cNvSpPr/>
          <p:nvPr/>
        </p:nvSpPr>
        <p:spPr>
          <a:xfrm>
            <a:off x="2454887" y="3757444"/>
            <a:ext cx="2152367" cy="1079069"/>
          </a:xfrm>
          <a:prstGeom prst="rect">
            <a:avLst/>
          </a:prstGeom>
          <a:noFill/>
          <a:ln w="28575">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0" name="직선 연결선 29"/>
          <p:cNvCxnSpPr/>
          <p:nvPr/>
        </p:nvCxnSpPr>
        <p:spPr>
          <a:xfrm>
            <a:off x="7092862" y="4006136"/>
            <a:ext cx="346225" cy="698221"/>
          </a:xfrm>
          <a:prstGeom prst="line">
            <a:avLst/>
          </a:prstGeom>
          <a:ln w="19050">
            <a:solidFill>
              <a:srgbClr val="B50937"/>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145176" y="4026332"/>
            <a:ext cx="336848" cy="741499"/>
          </a:xfrm>
          <a:prstGeom prst="line">
            <a:avLst/>
          </a:prstGeom>
          <a:ln w="19050">
            <a:solidFill>
              <a:srgbClr val="B50937"/>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457200" y="320040"/>
            <a:ext cx="384047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20040"/>
            <a:ext cx="3840479" cy="566928"/>
          </a:xfrm>
          <a:prstGeom prst="rect">
            <a:avLst/>
          </a:prstGeom>
          <a:noFill/>
        </p:spPr>
        <p:txBody>
          <a:bodyPr wrap="square" lIns="0" rIns="0" tIns="0" bIns="0" anchor="ctr">
            <a:spAutoFit/>
          </a:bodyPr>
          <a:lstStyle/>
          <a:p>
            <a:pPr algn="ctr"/>
            <a:r>
              <a:rPr sz="2200" b="1" i="0">
                <a:solidFill>
                  <a:srgbClr val="FFFFFF"/>
                </a:solidFill>
                <a:latin typeface="Calibri"/>
              </a:rPr>
              <a:t>Muscle Mass and Diabetes</a:t>
            </a:r>
          </a:p>
        </p:txBody>
      </p:sp>
      <p:sp>
        <p:nvSpPr>
          <p:cNvPr id="34" name="TextBox 33"/>
          <p:cNvSpPr txBox="1"/>
          <p:nvPr/>
        </p:nvSpPr>
        <p:spPr>
          <a:xfrm>
            <a:off x="4526279" y="320040"/>
            <a:ext cx="5379415" cy="566928"/>
          </a:xfrm>
          <a:prstGeom prst="rect">
            <a:avLst/>
          </a:prstGeom>
          <a:noFill/>
        </p:spPr>
        <p:txBody>
          <a:bodyPr wrap="square" lIns="0" rIns="0" tIns="0" bIns="0" anchor="ctr">
            <a:spAutoFit/>
          </a:bodyPr>
          <a:lstStyle/>
          <a:p>
            <a:pPr algn="l"/>
            <a:r>
              <a:rPr sz="900" b="1" i="0">
                <a:solidFill>
                  <a:srgbClr val="B50937"/>
                </a:solidFill>
                <a:latin typeface="Calibri"/>
              </a:rPr>
              <a:t>SESSION 4</a:t>
            </a:r>
          </a:p>
          <a:p>
            <a:pPr algn="l"/>
            <a:r>
              <a:rPr sz="900" b="0" i="0">
                <a:solidFill>
                  <a:srgbClr val="5E6470"/>
                </a:solidFill>
                <a:latin typeface="Calibri"/>
              </a:rPr>
              <a:t>Diabetes &amp; Body Composition</a:t>
            </a:r>
          </a:p>
        </p:txBody>
      </p:sp>
      <p:pic>
        <p:nvPicPr>
          <p:cNvPr id="35" name="Picture 34" descr="logo_red.png"/>
          <p:cNvPicPr>
            <a:picLocks noChangeAspect="1"/>
          </p:cNvPicPr>
          <p:nvPr/>
        </p:nvPicPr>
        <p:blipFill>
          <a:blip r:embed="rId5"/>
          <a:stretch>
            <a:fillRect/>
          </a:stretch>
        </p:blipFill>
        <p:spPr>
          <a:xfrm>
            <a:off x="10436918" y="420624"/>
            <a:ext cx="1297577" cy="365760"/>
          </a:xfrm>
          <a:prstGeom prst="rect">
            <a:avLst/>
          </a:prstGeom>
        </p:spPr>
      </p:pic>
      <p:sp>
        <p:nvSpPr>
          <p:cNvPr id="36" name="TextBox 3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37" name="TextBox 3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61</a:t>
            </a:r>
          </a:p>
        </p:txBody>
      </p:sp>
    </p:spTree>
    <p:extLst>
      <p:ext uri="{BB962C8B-B14F-4D97-AF65-F5344CB8AC3E}">
        <p14:creationId xmlns:p14="http://schemas.microsoft.com/office/powerpoint/2010/main" val="38904124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365760"/>
          </a:xfrm>
          <a:prstGeom prst="rect">
            <a:avLst/>
          </a:prstGeom>
          <a:noFill/>
        </p:spPr>
        <p:txBody>
          <a:bodyPr wrap="square" lIns="0" rIns="0" tIns="0" bIns="0" anchor="ctr">
            <a:spAutoFit/>
          </a:bodyPr>
          <a:lstStyle/>
          <a:p>
            <a:pPr algn="l"/>
            <a:r>
              <a:rPr sz="1100" b="1" i="0" spc="200">
                <a:solidFill>
                  <a:srgbClr val="B50937"/>
                </a:solidFill>
                <a:latin typeface="Calibri"/>
              </a:rPr>
              <a:t>SESSION 4  ·  DIABETES &amp; BODY COMPOSITION</a:t>
            </a:r>
          </a:p>
        </p:txBody>
      </p:sp>
      <p:sp>
        <p:nvSpPr>
          <p:cNvPr id="4" name="TextBox 3"/>
          <p:cNvSpPr txBox="1"/>
          <p:nvPr/>
        </p:nvSpPr>
        <p:spPr>
          <a:xfrm>
            <a:off x="914400" y="2788920"/>
            <a:ext cx="10332720" cy="1097280"/>
          </a:xfrm>
          <a:prstGeom prst="rect">
            <a:avLst/>
          </a:prstGeom>
          <a:noFill/>
        </p:spPr>
        <p:txBody>
          <a:bodyPr wrap="square" lIns="0" rIns="0" tIns="0" bIns="0" anchor="t">
            <a:spAutoFit/>
          </a:bodyPr>
          <a:lstStyle/>
          <a:p>
            <a:pPr algn="l"/>
            <a:r>
              <a:rPr sz="4000" b="1" i="0">
                <a:solidFill>
                  <a:srgbClr val="181D27"/>
                </a:solidFill>
                <a:latin typeface="Cambria"/>
              </a:rPr>
              <a:t>Visceral Fat and Diabetes</a:t>
            </a:r>
          </a:p>
        </p:txBody>
      </p:sp>
      <p:sp>
        <p:nvSpPr>
          <p:cNvPr id="5" name="Rectangle 4"/>
          <p:cNvSpPr/>
          <p:nvPr/>
        </p:nvSpPr>
        <p:spPr>
          <a:xfrm>
            <a:off x="914400" y="3977639"/>
            <a:ext cx="1097280" cy="73152"/>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red.png"/>
          <p:cNvPicPr>
            <a:picLocks noChangeAspect="1"/>
          </p:cNvPicPr>
          <p:nvPr/>
        </p:nvPicPr>
        <p:blipFill>
          <a:blip r:embed="rId2"/>
          <a:stretch>
            <a:fillRect/>
          </a:stretch>
        </p:blipFill>
        <p:spPr>
          <a:xfrm>
            <a:off x="10436918" y="420624"/>
            <a:ext cx="1297577" cy="36576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62</a:t>
            </a:r>
          </a:p>
        </p:txBody>
      </p:sp>
    </p:spTree>
    <p:extLst>
      <p:ext uri="{BB962C8B-B14F-4D97-AF65-F5344CB8AC3E}">
        <p14:creationId xmlns:p14="http://schemas.microsoft.com/office/powerpoint/2010/main" val="442691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8" name="Rectangle 7"/>
          <p:cNvSpPr/>
          <p:nvPr/>
        </p:nvSpPr>
        <p:spPr>
          <a:xfrm>
            <a:off x="457200" y="320040"/>
            <a:ext cx="397763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20040"/>
            <a:ext cx="3977639" cy="566928"/>
          </a:xfrm>
          <a:prstGeom prst="rect">
            <a:avLst/>
          </a:prstGeom>
          <a:noFill/>
        </p:spPr>
        <p:txBody>
          <a:bodyPr wrap="square" lIns="0" rIns="0" tIns="0" bIns="0" anchor="ctr">
            <a:spAutoFit/>
          </a:bodyPr>
          <a:lstStyle/>
          <a:p>
            <a:pPr algn="ctr"/>
            <a:r>
              <a:rPr sz="2200" b="1" i="0">
                <a:solidFill>
                  <a:srgbClr val="FFFFFF"/>
                </a:solidFill>
                <a:latin typeface="Calibri"/>
              </a:rPr>
              <a:t>Visceral Fat and Diabetes</a:t>
            </a:r>
          </a:p>
        </p:txBody>
      </p:sp>
      <p:sp>
        <p:nvSpPr>
          <p:cNvPr id="10" name="TextBox 9"/>
          <p:cNvSpPr txBox="1"/>
          <p:nvPr/>
        </p:nvSpPr>
        <p:spPr>
          <a:xfrm>
            <a:off x="4663440" y="320040"/>
            <a:ext cx="5242255" cy="566928"/>
          </a:xfrm>
          <a:prstGeom prst="rect">
            <a:avLst/>
          </a:prstGeom>
          <a:noFill/>
        </p:spPr>
        <p:txBody>
          <a:bodyPr wrap="square" lIns="0" rIns="0" tIns="0" bIns="0" anchor="ctr">
            <a:spAutoFit/>
          </a:bodyPr>
          <a:lstStyle/>
          <a:p>
            <a:pPr algn="l"/>
            <a:r>
              <a:rPr sz="900" b="1" i="0">
                <a:solidFill>
                  <a:srgbClr val="B50937"/>
                </a:solidFill>
                <a:latin typeface="Calibri"/>
              </a:rPr>
              <a:t>SESSION 4</a:t>
            </a:r>
          </a:p>
          <a:p>
            <a:pPr algn="l"/>
            <a:r>
              <a:rPr sz="900" b="0" i="0">
                <a:solidFill>
                  <a:srgbClr val="5E6470"/>
                </a:solidFill>
                <a:latin typeface="Calibri"/>
              </a:rPr>
              <a:t>Diabetes &amp; Body Composition</a:t>
            </a:r>
          </a:p>
        </p:txBody>
      </p:sp>
      <p:pic>
        <p:nvPicPr>
          <p:cNvPr id="11" name="Picture 10" descr="logo_red.png"/>
          <p:cNvPicPr>
            <a:picLocks noChangeAspect="1"/>
          </p:cNvPicPr>
          <p:nvPr/>
        </p:nvPicPr>
        <p:blipFill>
          <a:blip r:embed="rId4"/>
          <a:stretch>
            <a:fillRect/>
          </a:stretch>
        </p:blipFill>
        <p:spPr>
          <a:xfrm>
            <a:off x="10436918" y="420624"/>
            <a:ext cx="1297577" cy="365760"/>
          </a:xfrm>
          <a:prstGeom prst="rect">
            <a:avLst/>
          </a:prstGeom>
        </p:spPr>
      </p:pic>
      <p:sp>
        <p:nvSpPr>
          <p:cNvPr id="12" name="TextBox 11"/>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3" name="TextBox 12"/>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63</a:t>
            </a:r>
          </a:p>
        </p:txBody>
      </p:sp>
      <p:sp>
        <p:nvSpPr>
          <p:cNvPr id="14" name="Rectangle 13"/>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c_concept.png"/>
          <p:cNvPicPr>
            <a:picLocks noChangeAspect="1"/>
          </p:cNvPicPr>
          <p:nvPr/>
        </p:nvPicPr>
        <p:blipFill>
          <a:blip r:embed="rId5"/>
          <a:stretch>
            <a:fillRect/>
          </a:stretch>
        </p:blipFill>
        <p:spPr>
          <a:xfrm>
            <a:off x="603504" y="1216152"/>
            <a:ext cx="146304" cy="146304"/>
          </a:xfrm>
          <a:prstGeom prst="rect">
            <a:avLst/>
          </a:prstGeom>
        </p:spPr>
      </p:pic>
      <p:sp>
        <p:nvSpPr>
          <p:cNvPr id="17" name="TextBox 16"/>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8" name="Rectangle 17"/>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In this study, participants who developed type 2 diabetes had significantly higher visceral fat area at baseline.</a:t>
            </a:r>
          </a:p>
          <a:p>
            <a:pPr>
              <a:spcAft>
                <a:spcPts val="600"/>
              </a:spcAft>
            </a:pPr>
            <a:r>
              <a:rPr sz="1300">
                <a:solidFill>
                  <a:srgbClr val="181D27"/>
                </a:solidFill>
                <a:latin typeface="Calibri"/>
              </a:rPr>
              <a:t>Higher baseline VFA was significantly associated with a rising incidence of type 2 diabetes. Risk began to increase at VFA ≥ 80 cm² in men and ≥ 60 cm² in women.</a:t>
            </a:r>
          </a:p>
        </p:txBody>
      </p:sp>
      <p:sp>
        <p:nvSpPr>
          <p:cNvPr id="20" name="Rectangle 19"/>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kc_61.png"/>
          <p:cNvPicPr>
            <a:picLocks noChangeAspect="1"/>
          </p:cNvPicPr>
          <p:nvPr/>
        </p:nvPicPr>
        <p:blipFill>
          <a:blip r:embed="rId6"/>
          <a:stretch>
            <a:fillRect/>
          </a:stretch>
        </p:blipFill>
        <p:spPr>
          <a:xfrm>
            <a:off x="6012575" y="1280160"/>
            <a:ext cx="5287185" cy="3840479"/>
          </a:xfrm>
          <a:prstGeom prst="rect">
            <a:avLst/>
          </a:prstGeom>
        </p:spPr>
      </p:pic>
      <p:sp>
        <p:nvSpPr>
          <p:cNvPr id="22" name="Rectangle 21"/>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bulb.png"/>
          <p:cNvPicPr>
            <a:picLocks noChangeAspect="1"/>
          </p:cNvPicPr>
          <p:nvPr/>
        </p:nvPicPr>
        <p:blipFill>
          <a:blip r:embed="rId7"/>
          <a:stretch>
            <a:fillRect/>
          </a:stretch>
        </p:blipFill>
        <p:spPr>
          <a:xfrm>
            <a:off x="822960" y="5788152"/>
            <a:ext cx="274320" cy="274320"/>
          </a:xfrm>
          <a:prstGeom prst="rect">
            <a:avLst/>
          </a:prstGeom>
        </p:spPr>
      </p:pic>
      <p:sp>
        <p:nvSpPr>
          <p:cNvPr id="25" name="TextBox 24"/>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High visceral fat area is linked to a higher risk of developing type 2 diabetes.</a:t>
            </a:r>
          </a:p>
        </p:txBody>
      </p:sp>
    </p:spTree>
    <p:extLst>
      <p:ext uri="{BB962C8B-B14F-4D97-AF65-F5344CB8AC3E}">
        <p14:creationId xmlns:p14="http://schemas.microsoft.com/office/powerpoint/2010/main" val="2285551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365760"/>
          </a:xfrm>
          <a:prstGeom prst="rect">
            <a:avLst/>
          </a:prstGeom>
          <a:noFill/>
        </p:spPr>
        <p:txBody>
          <a:bodyPr wrap="square" lIns="0" rIns="0" tIns="0" bIns="0" anchor="ctr">
            <a:spAutoFit/>
          </a:bodyPr>
          <a:lstStyle/>
          <a:p>
            <a:pPr algn="l"/>
            <a:r>
              <a:rPr sz="1100" b="1" i="0" spc="200">
                <a:solidFill>
                  <a:srgbClr val="B50937"/>
                </a:solidFill>
                <a:latin typeface="Calibri"/>
              </a:rPr>
              <a:t>SESSION 4  ·  DIABETES &amp; BODY COMPOSITION</a:t>
            </a:r>
          </a:p>
        </p:txBody>
      </p:sp>
      <p:sp>
        <p:nvSpPr>
          <p:cNvPr id="4" name="TextBox 3"/>
          <p:cNvSpPr txBox="1"/>
          <p:nvPr/>
        </p:nvSpPr>
        <p:spPr>
          <a:xfrm>
            <a:off x="914400" y="2788920"/>
            <a:ext cx="10332720" cy="1097280"/>
          </a:xfrm>
          <a:prstGeom prst="rect">
            <a:avLst/>
          </a:prstGeom>
          <a:noFill/>
        </p:spPr>
        <p:txBody>
          <a:bodyPr wrap="square" lIns="0" rIns="0" tIns="0" bIns="0" anchor="t">
            <a:spAutoFit/>
          </a:bodyPr>
          <a:lstStyle/>
          <a:p>
            <a:pPr algn="l"/>
            <a:r>
              <a:rPr sz="4000" b="1" i="0">
                <a:solidFill>
                  <a:srgbClr val="181D27"/>
                </a:solidFill>
                <a:latin typeface="Cambria"/>
              </a:rPr>
              <a:t>ECW Ratio</a:t>
            </a:r>
          </a:p>
        </p:txBody>
      </p:sp>
      <p:sp>
        <p:nvSpPr>
          <p:cNvPr id="5" name="Rectangle 4"/>
          <p:cNvSpPr/>
          <p:nvPr/>
        </p:nvSpPr>
        <p:spPr>
          <a:xfrm>
            <a:off x="914400" y="3977639"/>
            <a:ext cx="1097280" cy="73152"/>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red.png"/>
          <p:cNvPicPr>
            <a:picLocks noChangeAspect="1"/>
          </p:cNvPicPr>
          <p:nvPr/>
        </p:nvPicPr>
        <p:blipFill>
          <a:blip r:embed="rId2"/>
          <a:stretch>
            <a:fillRect/>
          </a:stretch>
        </p:blipFill>
        <p:spPr>
          <a:xfrm>
            <a:off x="10436918" y="420624"/>
            <a:ext cx="1297577" cy="36576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64</a:t>
            </a:r>
          </a:p>
        </p:txBody>
      </p:sp>
    </p:spTree>
    <p:extLst>
      <p:ext uri="{BB962C8B-B14F-4D97-AF65-F5344CB8AC3E}">
        <p14:creationId xmlns:p14="http://schemas.microsoft.com/office/powerpoint/2010/main" val="16283453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Water Retention</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4</a:t>
            </a:r>
          </a:p>
          <a:p>
            <a:pPr algn="l"/>
            <a:r>
              <a:rPr sz="900" b="0" i="0">
                <a:solidFill>
                  <a:srgbClr val="5E6470"/>
                </a:solidFill>
                <a:latin typeface="Calibri"/>
              </a:rPr>
              <a:t>Diabetes &amp; Body Composition</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65</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200">
                <a:solidFill>
                  <a:srgbClr val="181D27"/>
                </a:solidFill>
                <a:latin typeface="Calibri"/>
              </a:rPr>
              <a:t>InBody screens water accumulation in the whole body and in each segment: arms, legs and trunk.</a:t>
            </a:r>
          </a:p>
          <a:p>
            <a:pPr>
              <a:spcAft>
                <a:spcPts val="600"/>
              </a:spcAft>
            </a:pPr>
            <a:r>
              <a:rPr sz="1200">
                <a:solidFill>
                  <a:srgbClr val="181D27"/>
                </a:solidFill>
                <a:latin typeface="Calibri"/>
              </a:rPr>
              <a:t>Diabetes damages blood vessels and makes them leaky, so fluid leaks out, causing fluid retention or edema.</a:t>
            </a:r>
          </a:p>
          <a:p>
            <a:pPr>
              <a:spcAft>
                <a:spcPts val="600"/>
              </a:spcAft>
            </a:pPr>
            <a:r>
              <a:rPr sz="1200">
                <a:solidFill>
                  <a:srgbClr val="181D27"/>
                </a:solidFill>
                <a:latin typeface="Calibri"/>
              </a:rPr>
              <a:t>Body water is 50–70% of the body: ICW (inside muscle) and ECW (blood and interstitial fluid). Healthy ICW:ECW is 62:38.</a:t>
            </a:r>
          </a:p>
          <a:p>
            <a:pPr>
              <a:spcAft>
                <a:spcPts val="600"/>
              </a:spcAft>
            </a:pPr>
            <a:r>
              <a:rPr sz="1200">
                <a:solidFill>
                  <a:srgbClr val="181D27"/>
                </a:solidFill>
                <a:latin typeface="Calibri"/>
              </a:rPr>
              <a:t>Chronic swelling and poor blood flow can lead to ulcers or infections of the legs, feet or ankles.</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63.png"/>
          <p:cNvPicPr>
            <a:picLocks noChangeAspect="1"/>
          </p:cNvPicPr>
          <p:nvPr/>
        </p:nvPicPr>
        <p:blipFill>
          <a:blip r:embed="rId5"/>
          <a:stretch>
            <a:fillRect/>
          </a:stretch>
        </p:blipFill>
        <p:spPr>
          <a:xfrm>
            <a:off x="6436341" y="1280160"/>
            <a:ext cx="4439652"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Monitor the ECW ratio of the legs in diabetic patients.</a:t>
            </a:r>
          </a:p>
        </p:txBody>
      </p:sp>
    </p:spTree>
    <p:extLst>
      <p:ext uri="{BB962C8B-B14F-4D97-AF65-F5344CB8AC3E}">
        <p14:creationId xmlns:p14="http://schemas.microsoft.com/office/powerpoint/2010/main" val="21268468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aphicFrame>
        <p:nvGraphicFramePr>
          <p:cNvPr id="8" name="표 3">
            <a:extLst>
              <a:ext uri="{FF2B5EF4-FFF2-40B4-BE49-F238E27FC236}">
                <a16:creationId xmlns:a16="http://schemas.microsoft.com/office/drawing/2014/main" id="{E79C0E38-4E34-4EB8-A287-5673C90E1EA9}"/>
              </a:ext>
            </a:extLst>
          </p:cNvPr>
          <p:cNvGraphicFramePr>
            <a:graphicFrameLocks noGrp="1"/>
          </p:cNvGraphicFramePr>
          <p:nvPr/>
        </p:nvGraphicFramePr>
        <p:xfrm>
          <a:off x="1126161" y="1097280"/>
          <a:ext cx="9939373" cy="4478193"/>
        </p:xfrm>
        <a:graphic>
          <a:graphicData uri="http://schemas.openxmlformats.org/drawingml/2006/table">
            <a:tbl>
              <a:tblPr firstRow="1" bandRow="1">
                <a:tableStyleId>{5940675A-B579-460E-94D1-54222C63F5DA}</a:tableStyleId>
              </a:tblPr>
              <a:tblGrid>
                <a:gridCol w="1359023">
                  <a:extLst>
                    <a:ext uri="{9D8B030D-6E8A-4147-A177-3AD203B41FA5}">
                      <a16:colId xmlns:a16="http://schemas.microsoft.com/office/drawing/2014/main" val="20000"/>
                    </a:ext>
                  </a:extLst>
                </a:gridCol>
                <a:gridCol w="1330750">
                  <a:extLst>
                    <a:ext uri="{9D8B030D-6E8A-4147-A177-3AD203B41FA5}">
                      <a16:colId xmlns:a16="http://schemas.microsoft.com/office/drawing/2014/main" val="20001"/>
                    </a:ext>
                  </a:extLst>
                </a:gridCol>
                <a:gridCol w="1368603">
                  <a:extLst>
                    <a:ext uri="{9D8B030D-6E8A-4147-A177-3AD203B41FA5}">
                      <a16:colId xmlns:a16="http://schemas.microsoft.com/office/drawing/2014/main" val="20002"/>
                    </a:ext>
                  </a:extLst>
                </a:gridCol>
                <a:gridCol w="1516353">
                  <a:extLst>
                    <a:ext uri="{9D8B030D-6E8A-4147-A177-3AD203B41FA5}">
                      <a16:colId xmlns:a16="http://schemas.microsoft.com/office/drawing/2014/main" val="20003"/>
                    </a:ext>
                  </a:extLst>
                </a:gridCol>
                <a:gridCol w="2103039">
                  <a:extLst>
                    <a:ext uri="{9D8B030D-6E8A-4147-A177-3AD203B41FA5}">
                      <a16:colId xmlns:a16="http://schemas.microsoft.com/office/drawing/2014/main" val="20004"/>
                    </a:ext>
                  </a:extLst>
                </a:gridCol>
                <a:gridCol w="2261605">
                  <a:extLst>
                    <a:ext uri="{9D8B030D-6E8A-4147-A177-3AD203B41FA5}">
                      <a16:colId xmlns:a16="http://schemas.microsoft.com/office/drawing/2014/main" val="20005"/>
                    </a:ext>
                  </a:extLst>
                </a:gridCol>
              </a:tblGrid>
              <a:tr h="587939">
                <a:tc gridSpan="2">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kern="1200" dirty="0">
                          <a:solidFill>
                            <a:schemeClr val="tx1"/>
                          </a:solidFill>
                          <a:latin typeface="Arial" panose="020B0604020202020204" pitchFamily="34" charset="0"/>
                          <a:ea typeface="서울남산체 L" panose="02020603020101020101" pitchFamily="18" charset="-127"/>
                          <a:cs typeface="Arial" panose="020B0604020202020204" pitchFamily="34" charset="0"/>
                        </a:rPr>
                        <a:t>Body Composition</a:t>
                      </a:r>
                    </a:p>
                  </a:txBody>
                  <a:tcPr anchor="ctr" anchorCtr="1">
                    <a:solidFill>
                      <a:schemeClr val="bg1">
                        <a:lumMod val="85000"/>
                      </a:schemeClr>
                    </a:solidFill>
                  </a:tcPr>
                </a:tc>
                <a:tc hMerge="1">
                  <a:txBody>
                    <a:bodyPr/>
                    <a:lstStyle/>
                    <a:p>
                      <a:pPr algn="ctr" latinLnBrk="1"/>
                      <a:endParaRPr lang="ko-KR" altLang="en-US" b="1"/>
                    </a:p>
                  </a:txBody>
                  <a:tcPr anchor="ctr" anchorCtr="1">
                    <a:solidFill>
                      <a:schemeClr val="accent1">
                        <a:lumMod val="20000"/>
                        <a:lumOff val="80000"/>
                      </a:schemeClr>
                    </a:solidFill>
                  </a:tcPr>
                </a:tc>
                <a:tc>
                  <a:txBody>
                    <a:bodyPr/>
                    <a:lstStyle/>
                    <a:p>
                      <a:pPr algn="ctr" latinLnBrk="1"/>
                      <a:r>
                        <a:rPr lang="en-US" altLang="ko-KR" sz="1200" b="1" dirty="0">
                          <a:latin typeface="Arial" panose="020B0604020202020204" pitchFamily="34" charset="0"/>
                          <a:ea typeface="서울남산체 L" panose="02020603020101020101" pitchFamily="18" charset="-127"/>
                          <a:cs typeface="Arial" panose="020B0604020202020204" pitchFamily="34" charset="0"/>
                        </a:rPr>
                        <a:t>Subjects</a:t>
                      </a:r>
                      <a:endParaRPr lang="ko-KR" altLang="en-US" sz="1200" b="1"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solidFill>
                      <a:schemeClr val="bg1">
                        <a:lumMod val="85000"/>
                      </a:schemeClr>
                    </a:solidFill>
                  </a:tcPr>
                </a:tc>
                <a:tc>
                  <a:txBody>
                    <a:bodyPr/>
                    <a:lstStyle/>
                    <a:p>
                      <a:pPr algn="ctr" latinLnBrk="1"/>
                      <a:r>
                        <a:rPr lang="en-US" altLang="ko-KR" sz="1200" b="1" dirty="0">
                          <a:latin typeface="Arial" panose="020B0604020202020204" pitchFamily="34" charset="0"/>
                          <a:ea typeface="서울남산체 L" panose="02020603020101020101" pitchFamily="18" charset="-127"/>
                          <a:cs typeface="Arial" panose="020B0604020202020204" pitchFamily="34" charset="0"/>
                        </a:rPr>
                        <a:t>Symptoms</a:t>
                      </a:r>
                      <a:endParaRPr lang="ko-KR" altLang="en-US" sz="1200" b="1"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solidFill>
                      <a:schemeClr val="bg1">
                        <a:lumMod val="85000"/>
                      </a:schemeClr>
                    </a:solidFill>
                  </a:tcPr>
                </a:tc>
                <a:tc>
                  <a:txBody>
                    <a:bodyPr/>
                    <a:lstStyle/>
                    <a:p>
                      <a:pPr algn="ctr" latinLnBrk="1"/>
                      <a:r>
                        <a:rPr lang="en-US" altLang="ko-KR" sz="1200" b="1" dirty="0">
                          <a:latin typeface="Arial" panose="020B0604020202020204" pitchFamily="34" charset="0"/>
                          <a:ea typeface="서울남산체 L" panose="02020603020101020101" pitchFamily="18" charset="-127"/>
                          <a:cs typeface="Arial" panose="020B0604020202020204" pitchFamily="34" charset="0"/>
                        </a:rPr>
                        <a:t>Parameter provided</a:t>
                      </a:r>
                    </a:p>
                    <a:p>
                      <a:pPr algn="ctr" latinLnBrk="1"/>
                      <a:r>
                        <a:rPr lang="en-US" altLang="ko-KR" sz="1200" b="1" dirty="0">
                          <a:latin typeface="Arial" panose="020B0604020202020204" pitchFamily="34" charset="0"/>
                          <a:ea typeface="서울남산체 L" panose="02020603020101020101" pitchFamily="18" charset="-127"/>
                          <a:cs typeface="Arial" panose="020B0604020202020204" pitchFamily="34" charset="0"/>
                        </a:rPr>
                        <a:t>by </a:t>
                      </a:r>
                      <a:r>
                        <a:rPr lang="en-US" altLang="ko-KR" sz="1200" b="1" dirty="0" err="1">
                          <a:latin typeface="Arial" panose="020B0604020202020204" pitchFamily="34" charset="0"/>
                          <a:ea typeface="서울남산체 L" panose="02020603020101020101" pitchFamily="18" charset="-127"/>
                          <a:cs typeface="Arial" panose="020B0604020202020204" pitchFamily="34" charset="0"/>
                        </a:rPr>
                        <a:t>InBody</a:t>
                      </a:r>
                      <a:endParaRPr lang="ko-KR" altLang="en-US" sz="1200" b="1"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solidFill>
                      <a:schemeClr val="bg1">
                        <a:lumMod val="85000"/>
                      </a:schemeClr>
                    </a:solidFill>
                  </a:tcPr>
                </a:tc>
                <a:tc>
                  <a:txBody>
                    <a:bodyPr/>
                    <a:lstStyle/>
                    <a:p>
                      <a:pPr algn="ctr" latinLnBrk="1"/>
                      <a:r>
                        <a:rPr lang="en-US" altLang="ko-KR" sz="1200" b="1" dirty="0">
                          <a:latin typeface="Arial" panose="020B0604020202020204" pitchFamily="34" charset="0"/>
                          <a:ea typeface="서울남산체 L" panose="02020603020101020101" pitchFamily="18" charset="-127"/>
                          <a:cs typeface="Arial" panose="020B0604020202020204" pitchFamily="34" charset="0"/>
                        </a:rPr>
                        <a:t>Application</a:t>
                      </a:r>
                      <a:endParaRPr lang="ko-KR" altLang="en-US" sz="1200" b="1"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solidFill>
                      <a:schemeClr val="bg1">
                        <a:lumMod val="85000"/>
                      </a:schemeClr>
                    </a:solidFill>
                  </a:tcPr>
                </a:tc>
                <a:extLst>
                  <a:ext uri="{0D108BD9-81ED-4DB2-BD59-A6C34878D82A}">
                    <a16:rowId xmlns:a16="http://schemas.microsoft.com/office/drawing/2014/main" val="10000"/>
                  </a:ext>
                </a:extLst>
              </a:tr>
              <a:tr h="929500">
                <a:tc rowSpan="2">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i="0" dirty="0">
                          <a:latin typeface="Arial" panose="020B0604020202020204" pitchFamily="34" charset="0"/>
                          <a:ea typeface="서울남산체 L" panose="02020603020101020101" pitchFamily="18" charset="-127"/>
                          <a:cs typeface="Arial" panose="020B0604020202020204" pitchFamily="34" charset="0"/>
                        </a:rPr>
                        <a:t>Screening</a:t>
                      </a:r>
                    </a:p>
                  </a:txBody>
                  <a:tcPr anchor="ctr" anchorCtr="1"/>
                </a:tc>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rPr>
                        <a:t>Risk of Diabetes</a:t>
                      </a:r>
                      <a:endParaRPr lang="ko-KR" altLang="en-US"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rowSpan="2">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Pre-diabetes</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Low Muscle</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kumimoji="0" lang="en-US" altLang="ko-KR" sz="1200" b="0" dirty="0">
                          <a:solidFill>
                            <a:srgbClr val="B50937"/>
                          </a:solidFill>
                          <a:latin typeface="Arial" panose="020B0604020202020204" pitchFamily="34" charset="0"/>
                          <a:ea typeface="서울남산체 L" panose="02020603020101020101" pitchFamily="18" charset="-127"/>
                          <a:cs typeface="Arial" panose="020B0604020202020204" pitchFamily="34" charset="0"/>
                        </a:rPr>
                        <a:t>SMM</a:t>
                      </a:r>
                    </a:p>
                    <a:p>
                      <a:pPr marL="0" marR="0" lvl="0" indent="0" algn="ctr" defTabSz="685783" rtl="0" eaLnBrk="1" fontAlgn="auto" latinLnBrk="1" hangingPunct="1">
                        <a:lnSpc>
                          <a:spcPct val="100000"/>
                        </a:lnSpc>
                        <a:spcBef>
                          <a:spcPts val="0"/>
                        </a:spcBef>
                        <a:spcAft>
                          <a:spcPts val="0"/>
                        </a:spcAft>
                        <a:buClrTx/>
                        <a:buSzTx/>
                        <a:buFontTx/>
                        <a:buNone/>
                        <a:tabLst/>
                        <a:defRPr/>
                      </a:pPr>
                      <a:r>
                        <a:rPr kumimoji="0" lang="en-US" altLang="ko-KR" sz="1200" b="0" dirty="0">
                          <a:solidFill>
                            <a:srgbClr val="B50937"/>
                          </a:solidFill>
                          <a:latin typeface="Arial" panose="020B0604020202020204" pitchFamily="34" charset="0"/>
                          <a:ea typeface="서울남산체 L" panose="02020603020101020101" pitchFamily="18" charset="-127"/>
                          <a:cs typeface="Arial" panose="020B0604020202020204" pitchFamily="34" charset="0"/>
                        </a:rPr>
                        <a:t>(Skeletal</a:t>
                      </a:r>
                      <a:r>
                        <a:rPr kumimoji="0" lang="en-US" altLang="ko-KR" sz="1200" b="0" baseline="0" dirty="0">
                          <a:solidFill>
                            <a:srgbClr val="B50937"/>
                          </a:solidFill>
                          <a:latin typeface="Arial" panose="020B0604020202020204" pitchFamily="34" charset="0"/>
                          <a:ea typeface="서울남산체 L" panose="02020603020101020101" pitchFamily="18" charset="-127"/>
                          <a:cs typeface="Arial" panose="020B0604020202020204" pitchFamily="34" charset="0"/>
                        </a:rPr>
                        <a:t> Muscle Mass)</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Insulin</a:t>
                      </a:r>
                      <a:r>
                        <a:rPr lang="en-US" altLang="ko-KR" sz="1200" b="0" baseline="0" dirty="0">
                          <a:latin typeface="Arial" panose="020B0604020202020204" pitchFamily="34" charset="0"/>
                          <a:ea typeface="서울남산체 L" panose="02020603020101020101" pitchFamily="18" charset="-127"/>
                          <a:cs typeface="Arial" panose="020B0604020202020204" pitchFamily="34" charset="0"/>
                        </a:rPr>
                        <a:t> resistance(sensitivity) related to low muscle mass</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extLst>
                  <a:ext uri="{0D108BD9-81ED-4DB2-BD59-A6C34878D82A}">
                    <a16:rowId xmlns:a16="http://schemas.microsoft.com/office/drawing/2014/main" val="10001"/>
                  </a:ext>
                </a:extLst>
              </a:tr>
              <a:tr h="823115">
                <a:tc vMerge="1">
                  <a:txBody>
                    <a:bodyPr/>
                    <a:lstStyle/>
                    <a:p>
                      <a:pPr latinLnBrk="1"/>
                      <a:endParaRPr lang="ko-KR" altLang="en-US"/>
                    </a:p>
                  </a:txBody>
                  <a:tcPr/>
                </a:tc>
                <a:tc vMerge="1">
                  <a:txBody>
                    <a:bodyPr/>
                    <a:lstStyle/>
                    <a:p>
                      <a:endParaRPr lang="ko-KR" altLang="en-US" dirty="0"/>
                    </a:p>
                  </a:txBody>
                  <a:tcPr anchor="ctr" anchorCtr="1"/>
                </a:tc>
                <a:tc vMerge="1">
                  <a:txBody>
                    <a:bodyPr/>
                    <a:lstStyle/>
                    <a:p>
                      <a:pPr marL="0" marR="0" lvl="0" indent="0" algn="l" defTabSz="685783" rtl="0" eaLnBrk="1" fontAlgn="auto" latinLnBrk="1" hangingPunct="1">
                        <a:lnSpc>
                          <a:spcPct val="100000"/>
                        </a:lnSpc>
                        <a:spcBef>
                          <a:spcPts val="0"/>
                        </a:spcBef>
                        <a:spcAft>
                          <a:spcPts val="0"/>
                        </a:spcAft>
                        <a:buClrTx/>
                        <a:buSzTx/>
                        <a:buFontTx/>
                        <a:buNone/>
                        <a:tabLst/>
                        <a:defRPr/>
                      </a:pP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lvl="0" indent="0" algn="l"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High Body Fat</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lvl="0" indent="0" algn="l" defTabSz="685783" rtl="0" eaLnBrk="1" fontAlgn="auto" latinLnBrk="1" hangingPunct="1">
                        <a:lnSpc>
                          <a:spcPct val="100000"/>
                        </a:lnSpc>
                        <a:spcBef>
                          <a:spcPts val="0"/>
                        </a:spcBef>
                        <a:spcAft>
                          <a:spcPts val="0"/>
                        </a:spcAft>
                        <a:buClrTx/>
                        <a:buSzTx/>
                        <a:buFontTx/>
                        <a:buNone/>
                        <a:tabLst/>
                        <a:defRPr/>
                      </a:pPr>
                      <a:r>
                        <a:rPr kumimoji="0" lang="en-US" altLang="ko-KR" sz="1200" b="0" baseline="0" dirty="0">
                          <a:solidFill>
                            <a:srgbClr val="B50937"/>
                          </a:solidFill>
                          <a:latin typeface="Arial" panose="020B0604020202020204" pitchFamily="34" charset="0"/>
                          <a:ea typeface="서울남산체 L" panose="02020603020101020101" pitchFamily="18" charset="-127"/>
                          <a:cs typeface="Arial" panose="020B0604020202020204" pitchFamily="34" charset="0"/>
                        </a:rPr>
                        <a:t>PBF</a:t>
                      </a:r>
                      <a:r>
                        <a:rPr kumimoji="0" lang="en-US" altLang="ko-KR" sz="1200" b="0" dirty="0">
                          <a:solidFill>
                            <a:srgbClr val="B50937"/>
                          </a:solidFill>
                          <a:latin typeface="Arial" panose="020B0604020202020204" pitchFamily="34" charset="0"/>
                          <a:ea typeface="서울남산체 L" panose="02020603020101020101" pitchFamily="18" charset="-127"/>
                          <a:cs typeface="Arial" panose="020B0604020202020204" pitchFamily="34" charset="0"/>
                        </a:rPr>
                        <a:t>(Percent Body Fat), VFA(Visceral</a:t>
                      </a:r>
                      <a:r>
                        <a:rPr kumimoji="0" lang="en-US" altLang="ko-KR" sz="1200" b="0" baseline="0" dirty="0">
                          <a:solidFill>
                            <a:srgbClr val="B50937"/>
                          </a:solidFill>
                          <a:latin typeface="Arial" panose="020B0604020202020204" pitchFamily="34" charset="0"/>
                          <a:ea typeface="서울남산체 L" panose="02020603020101020101" pitchFamily="18" charset="-127"/>
                          <a:cs typeface="Arial" panose="020B0604020202020204" pitchFamily="34" charset="0"/>
                        </a:rPr>
                        <a:t> Fat Area)</a:t>
                      </a:r>
                      <a:endParaRPr kumimoji="0" lang="en-US" altLang="ko-KR" sz="1200" b="0" dirty="0">
                        <a:solidFill>
                          <a:srgbClr val="B50937"/>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lvl="0" indent="0" algn="l" defTabSz="685783" rtl="0" eaLnBrk="1" fontAlgn="auto" latinLnBrk="1" hangingPunct="1">
                        <a:lnSpc>
                          <a:spcPct val="100000"/>
                        </a:lnSpc>
                        <a:spcBef>
                          <a:spcPts val="0"/>
                        </a:spcBef>
                        <a:spcAft>
                          <a:spcPts val="0"/>
                        </a:spcAft>
                        <a:buClrTx/>
                        <a:buSzTx/>
                        <a:buFontTx/>
                        <a:buNone/>
                        <a:tabLst/>
                        <a:defRPr/>
                      </a:pPr>
                      <a:r>
                        <a:rPr lang="en-US" altLang="ko-KR" sz="1200" b="0" kern="1200" dirty="0">
                          <a:solidFill>
                            <a:schemeClr val="tx1"/>
                          </a:solidFill>
                          <a:latin typeface="Arial" panose="020B0604020202020204" pitchFamily="34" charset="0"/>
                          <a:ea typeface="서울남산체 L" panose="02020603020101020101" pitchFamily="18" charset="-127"/>
                          <a:cs typeface="Arial" panose="020B0604020202020204" pitchFamily="34" charset="0"/>
                        </a:rPr>
                        <a:t>Obesity Evaluation</a:t>
                      </a:r>
                      <a:endParaRPr lang="ko-KR" altLang="en-US" sz="1200" b="0" kern="1200" dirty="0">
                        <a:solidFill>
                          <a:schemeClr val="tx1"/>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extLst>
                  <a:ext uri="{0D108BD9-81ED-4DB2-BD59-A6C34878D82A}">
                    <a16:rowId xmlns:a16="http://schemas.microsoft.com/office/drawing/2014/main" val="10002"/>
                  </a:ext>
                </a:extLst>
              </a:tr>
              <a:tr h="587939">
                <a:tc rowSpan="2">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i="0" kern="1200" dirty="0">
                          <a:solidFill>
                            <a:schemeClr val="tx1"/>
                          </a:solidFill>
                          <a:latin typeface="Arial" panose="020B0604020202020204" pitchFamily="34" charset="0"/>
                          <a:ea typeface="서울남산체 L" panose="02020603020101020101" pitchFamily="18" charset="-127"/>
                          <a:cs typeface="Arial" panose="020B0604020202020204" pitchFamily="34" charset="0"/>
                        </a:rPr>
                        <a:t>Monitoring</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rPr>
                        <a:t>Muscle Wasting Disease</a:t>
                      </a:r>
                      <a:endParaRPr lang="ko-KR" altLang="en-US" sz="1200" b="0" i="1" dirty="0">
                        <a:solidFill>
                          <a:schemeClr val="tx2"/>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rowSpan="2">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kumimoji="0" lang="en-US" altLang="ko-KR" sz="1200" b="0" dirty="0">
                          <a:latin typeface="Arial" panose="020B0604020202020204" pitchFamily="34" charset="0"/>
                          <a:ea typeface="서울남산체 L" panose="02020603020101020101" pitchFamily="18" charset="-127"/>
                          <a:cs typeface="Arial" panose="020B0604020202020204" pitchFamily="34" charset="0"/>
                        </a:rPr>
                        <a:t>DM</a:t>
                      </a:r>
                      <a:r>
                        <a:rPr kumimoji="0" lang="en-US" altLang="ko-KR" sz="1200" b="0" baseline="0" dirty="0">
                          <a:latin typeface="Arial" panose="020B0604020202020204" pitchFamily="34" charset="0"/>
                          <a:ea typeface="서울남산체 L" panose="02020603020101020101" pitchFamily="18" charset="-127"/>
                          <a:cs typeface="Arial" panose="020B0604020202020204" pitchFamily="34" charset="0"/>
                        </a:rPr>
                        <a:t> patients</a:t>
                      </a:r>
                      <a:endParaRPr kumimoji="0" lang="en-US" altLang="ko-KR"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kumimoji="0" lang="en-US" altLang="ko-KR" sz="1200" b="0" dirty="0">
                          <a:latin typeface="Arial" panose="020B0604020202020204" pitchFamily="34" charset="0"/>
                          <a:ea typeface="서울남산체 L" panose="02020603020101020101" pitchFamily="18" charset="-127"/>
                          <a:cs typeface="Arial" panose="020B0604020202020204" pitchFamily="34" charset="0"/>
                        </a:rPr>
                        <a:t>Muscle Decrease</a:t>
                      </a:r>
                    </a:p>
                  </a:txBody>
                  <a:tcPr anchor="ctr" anchorCtr="1"/>
                </a:tc>
                <a:tc>
                  <a:txBody>
                    <a:bodyPr/>
                    <a:lstStyle/>
                    <a:p>
                      <a:pPr algn="ctr"/>
                      <a:r>
                        <a:rPr lang="en-US" altLang="ko-KR" sz="1200" b="0" dirty="0">
                          <a:solidFill>
                            <a:srgbClr val="B50937"/>
                          </a:solidFill>
                          <a:latin typeface="Arial" panose="020B0604020202020204" pitchFamily="34" charset="0"/>
                          <a:ea typeface="서울남산체 L" panose="02020603020101020101" pitchFamily="18" charset="-127"/>
                          <a:cs typeface="Arial" panose="020B0604020202020204" pitchFamily="34" charset="0"/>
                        </a:rPr>
                        <a:t>SMI</a:t>
                      </a:r>
                    </a:p>
                    <a:p>
                      <a:pPr algn="ctr"/>
                      <a:r>
                        <a:rPr kumimoji="0" lang="en-US" altLang="ko-KR" sz="1200" b="0" dirty="0">
                          <a:solidFill>
                            <a:srgbClr val="B50937"/>
                          </a:solidFill>
                          <a:latin typeface="Arial" panose="020B0604020202020204" pitchFamily="34" charset="0"/>
                          <a:ea typeface="서울남산체 L" panose="02020603020101020101" pitchFamily="18" charset="-127"/>
                          <a:cs typeface="Arial" panose="020B0604020202020204" pitchFamily="34" charset="0"/>
                        </a:rPr>
                        <a:t>(Skeletal Muscle</a:t>
                      </a:r>
                      <a:r>
                        <a:rPr kumimoji="0" lang="en-US" altLang="ko-KR" sz="1200" b="0" baseline="0" dirty="0">
                          <a:solidFill>
                            <a:srgbClr val="B50937"/>
                          </a:solidFill>
                          <a:latin typeface="Arial" panose="020B0604020202020204" pitchFamily="34" charset="0"/>
                          <a:ea typeface="서울남산체 L" panose="02020603020101020101" pitchFamily="18" charset="-127"/>
                          <a:cs typeface="Arial" panose="020B0604020202020204" pitchFamily="34" charset="0"/>
                        </a:rPr>
                        <a:t> </a:t>
                      </a:r>
                      <a:r>
                        <a:rPr kumimoji="0" lang="en-US" altLang="ko-KR" sz="1200" b="0" dirty="0">
                          <a:solidFill>
                            <a:srgbClr val="B50937"/>
                          </a:solidFill>
                          <a:latin typeface="Arial" panose="020B0604020202020204" pitchFamily="34" charset="0"/>
                          <a:ea typeface="서울남산체 L" panose="02020603020101020101" pitchFamily="18" charset="-127"/>
                          <a:cs typeface="Arial" panose="020B0604020202020204" pitchFamily="34" charset="0"/>
                        </a:rPr>
                        <a:t>Index)</a:t>
                      </a:r>
                    </a:p>
                  </a:txBody>
                  <a:tcPr anchor="ctr" anchorCtr="1"/>
                </a:tc>
                <a:tc>
                  <a:txBody>
                    <a:bodyPr/>
                    <a:lstStyle/>
                    <a:p>
                      <a:pPr algn="ctr" latinLnBrk="1"/>
                      <a:r>
                        <a:rPr lang="en-US" altLang="ko-KR" sz="1200" b="0" dirty="0">
                          <a:latin typeface="Arial" panose="020B0604020202020204" pitchFamily="34" charset="0"/>
                          <a:ea typeface="서울남산체 L" panose="02020603020101020101" pitchFamily="18" charset="-127"/>
                          <a:cs typeface="Arial" panose="020B0604020202020204" pitchFamily="34" charset="0"/>
                        </a:rPr>
                        <a:t>Sarcopenia</a:t>
                      </a:r>
                      <a:r>
                        <a:rPr lang="en-US" altLang="ko-KR" sz="1200" b="0" baseline="0" dirty="0">
                          <a:latin typeface="Arial" panose="020B0604020202020204" pitchFamily="34" charset="0"/>
                          <a:ea typeface="서울남산체 L" panose="02020603020101020101" pitchFamily="18" charset="-127"/>
                          <a:cs typeface="Arial" panose="020B0604020202020204" pitchFamily="34" charset="0"/>
                        </a:rPr>
                        <a:t> Evaluation</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extLst>
                  <a:ext uri="{0D108BD9-81ED-4DB2-BD59-A6C34878D82A}">
                    <a16:rowId xmlns:a16="http://schemas.microsoft.com/office/drawing/2014/main" val="10003"/>
                  </a:ext>
                </a:extLst>
              </a:tr>
              <a:tr h="732615">
                <a:tc vMerge="1">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endParaRPr lang="en-US" altLang="ko-KR" sz="1350" b="1" i="0" kern="1200" dirty="0">
                        <a:solidFill>
                          <a:schemeClr val="tx1"/>
                        </a:solidFill>
                        <a:latin typeface="서울남산체 L" panose="02020603020101020101" pitchFamily="18" charset="-127"/>
                        <a:ea typeface="서울남산체 L" panose="02020603020101020101" pitchFamily="18" charset="-127"/>
                        <a:cs typeface="Arial" charset="0"/>
                      </a:endParaRPr>
                    </a:p>
                  </a:txBody>
                  <a:tcPr anchor="ctr" anchorCtr="1"/>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rPr>
                        <a:t>Risk of Complications</a:t>
                      </a:r>
                      <a:endParaRPr lang="ko-KR" altLang="en-US"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vMerge="1">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Lower limb Edema</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kumimoji="0" lang="en-US" altLang="ko-KR" sz="1200" b="0" dirty="0">
                          <a:solidFill>
                            <a:srgbClr val="B50937"/>
                          </a:solidFill>
                          <a:latin typeface="Arial" panose="020B0604020202020204" pitchFamily="34" charset="0"/>
                          <a:ea typeface="서울남산체 L" panose="02020603020101020101" pitchFamily="18" charset="-127"/>
                          <a:cs typeface="Arial" panose="020B0604020202020204" pitchFamily="34" charset="0"/>
                        </a:rPr>
                        <a:t>Segmental ECW ratio</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latin typeface="Arial" panose="020B0604020202020204" pitchFamily="34" charset="0"/>
                          <a:ea typeface="서울남산체 L" panose="02020603020101020101" pitchFamily="18" charset="-127"/>
                          <a:cs typeface="Arial" panose="020B0604020202020204" pitchFamily="34" charset="0"/>
                        </a:rPr>
                        <a:t>Prevention of progress</a:t>
                      </a:r>
                      <a:r>
                        <a:rPr lang="en-US" altLang="ko-KR" sz="1200" b="0" baseline="0" dirty="0">
                          <a:latin typeface="Arial" panose="020B0604020202020204" pitchFamily="34" charset="0"/>
                          <a:ea typeface="서울남산체 L" panose="02020603020101020101" pitchFamily="18" charset="-127"/>
                          <a:cs typeface="Arial" panose="020B0604020202020204" pitchFamily="34" charset="0"/>
                        </a:rPr>
                        <a:t> to dialysis due to diabetes complications</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extLst>
                  <a:ext uri="{0D108BD9-81ED-4DB2-BD59-A6C34878D82A}">
                    <a16:rowId xmlns:a16="http://schemas.microsoft.com/office/drawing/2014/main" val="10004"/>
                  </a:ext>
                </a:extLst>
              </a:tr>
              <a:tr h="817085">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i="0" dirty="0">
                          <a:latin typeface="Arial" panose="020B0604020202020204" pitchFamily="34" charset="0"/>
                          <a:ea typeface="서울남산체 L" panose="02020603020101020101" pitchFamily="18" charset="-127"/>
                          <a:cs typeface="Arial" panose="020B0604020202020204" pitchFamily="34" charset="0"/>
                        </a:rPr>
                        <a:t>Motivating</a:t>
                      </a:r>
                    </a:p>
                  </a:txBody>
                  <a:tcPr anchor="ctr" anchorCtr="1"/>
                </a:tc>
                <a:tc>
                  <a:txBody>
                    <a:bodyPr/>
                    <a:lstStyle/>
                    <a:p>
                      <a:pPr marL="0" marR="0" lvl="0" indent="0" algn="ctr" defTabSz="685783" rtl="0" eaLnBrk="1" fontAlgn="auto" latinLnBrk="1" hangingPunct="1">
                        <a:lnSpc>
                          <a:spcPct val="100000"/>
                        </a:lnSpc>
                        <a:spcBef>
                          <a:spcPts val="0"/>
                        </a:spcBef>
                        <a:spcAft>
                          <a:spcPts val="0"/>
                        </a:spcAft>
                        <a:buClrTx/>
                        <a:buSzTx/>
                        <a:buFontTx/>
                        <a:buNone/>
                        <a:tabLst/>
                        <a:defRPr/>
                      </a:pPr>
                      <a:r>
                        <a:rPr lang="en-US" altLang="ko-KR"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rPr>
                        <a:t>Motivation for patients to</a:t>
                      </a:r>
                      <a:r>
                        <a:rPr lang="en-US" altLang="ko-KR" sz="1200" b="0" baseline="0" dirty="0">
                          <a:solidFill>
                            <a:schemeClr val="tx2"/>
                          </a:solidFill>
                          <a:latin typeface="Arial" panose="020B0604020202020204" pitchFamily="34" charset="0"/>
                          <a:ea typeface="서울남산체 L" panose="02020603020101020101" pitchFamily="18" charset="-127"/>
                          <a:cs typeface="Arial" panose="020B0604020202020204" pitchFamily="34" charset="0"/>
                        </a:rPr>
                        <a:t> </a:t>
                      </a:r>
                      <a:endParaRPr lang="ko-KR" altLang="en-US" sz="1200" b="0" dirty="0">
                        <a:solidFill>
                          <a:schemeClr val="tx2"/>
                        </a:solidFill>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a:txBody>
                    <a:bodyPr/>
                    <a:lstStyle/>
                    <a:p>
                      <a:pPr algn="ctr" latinLnBrk="1"/>
                      <a:r>
                        <a:rPr lang="en-US" altLang="ko-KR" sz="1200" b="0" dirty="0">
                          <a:latin typeface="Arial" panose="020B0604020202020204" pitchFamily="34" charset="0"/>
                          <a:ea typeface="서울남산체 L" panose="02020603020101020101" pitchFamily="18" charset="-127"/>
                          <a:cs typeface="Arial" panose="020B0604020202020204" pitchFamily="34" charset="0"/>
                        </a:rPr>
                        <a:t>DM patients</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gridSpan="3">
                  <a:txBody>
                    <a:bodyPr/>
                    <a:lstStyle/>
                    <a:p>
                      <a:pPr algn="ctr" latinLnBrk="1"/>
                      <a:r>
                        <a:rPr lang="en-US" altLang="ko-KR" sz="1200" b="0" dirty="0">
                          <a:latin typeface="Arial" panose="020B0604020202020204" pitchFamily="34" charset="0"/>
                          <a:ea typeface="서울남산체 L" panose="02020603020101020101" pitchFamily="18" charset="-127"/>
                          <a:cs typeface="Arial" panose="020B0604020202020204" pitchFamily="34" charset="0"/>
                        </a:rPr>
                        <a:t>To</a:t>
                      </a:r>
                      <a:r>
                        <a:rPr lang="en-US" altLang="ko-KR" sz="1200" b="0" baseline="0" dirty="0">
                          <a:latin typeface="Arial" panose="020B0604020202020204" pitchFamily="34" charset="0"/>
                          <a:ea typeface="서울남산체 L" panose="02020603020101020101" pitchFamily="18" charset="-127"/>
                          <a:cs typeface="Arial" panose="020B0604020202020204" pitchFamily="34" charset="0"/>
                        </a:rPr>
                        <a:t> motivate patients / people from understanding their risks for diabetes and complications that can occur with diabetes.</a:t>
                      </a:r>
                      <a:endParaRPr lang="ko-KR" altLang="en-US" sz="1200" b="0" dirty="0">
                        <a:latin typeface="Arial" panose="020B0604020202020204" pitchFamily="34" charset="0"/>
                        <a:ea typeface="서울남산체 L" panose="02020603020101020101" pitchFamily="18" charset="-127"/>
                        <a:cs typeface="Arial" panose="020B0604020202020204" pitchFamily="34" charset="0"/>
                      </a:endParaRPr>
                    </a:p>
                  </a:txBody>
                  <a:tcPr anchor="ctr" anchorCtr="1"/>
                </a:tc>
                <a:tc hMerge="1">
                  <a:txBody>
                    <a:bodyPr/>
                    <a:lstStyle/>
                    <a:p>
                      <a:pPr algn="ctr"/>
                      <a:endParaRPr kumimoji="0" lang="en-US" altLang="ko-KR" sz="1500" b="1" dirty="0">
                        <a:solidFill>
                          <a:srgbClr val="B50937"/>
                        </a:solidFill>
                        <a:latin typeface="서울남산체 L" panose="02020603020101020101" pitchFamily="18" charset="-127"/>
                        <a:ea typeface="서울남산체 L" panose="02020603020101020101" pitchFamily="18" charset="-127"/>
                        <a:cs typeface="Arial" charset="0"/>
                      </a:endParaRPr>
                    </a:p>
                  </a:txBody>
                  <a:tcPr anchor="ctr" anchorCtr="1"/>
                </a:tc>
                <a:tc hMerge="1">
                  <a:txBody>
                    <a:bodyPr/>
                    <a:lstStyle/>
                    <a:p>
                      <a:pPr algn="ctr" latinLnBrk="1"/>
                      <a:endParaRPr lang="ko-KR" altLang="en-US" sz="1350" b="1" kern="1200" dirty="0">
                        <a:solidFill>
                          <a:schemeClr val="tx2"/>
                        </a:solidFill>
                        <a:latin typeface="서울남산체 L" panose="02020603020101020101" pitchFamily="18" charset="-127"/>
                        <a:ea typeface="서울남산체 L" panose="02020603020101020101" pitchFamily="18" charset="-127"/>
                        <a:cs typeface="+mn-cs"/>
                      </a:endParaRPr>
                    </a:p>
                  </a:txBody>
                  <a:tcPr anchor="ctr" anchorCtr="1"/>
                </a:tc>
                <a:extLst>
                  <a:ext uri="{0D108BD9-81ED-4DB2-BD59-A6C34878D82A}">
                    <a16:rowId xmlns:a16="http://schemas.microsoft.com/office/drawing/2014/main" val="10005"/>
                  </a:ext>
                </a:extLst>
              </a:tr>
            </a:tbl>
          </a:graphicData>
        </a:graphic>
      </p:graphicFrame>
      <p:sp>
        <p:nvSpPr>
          <p:cNvPr id="9" name="Rectangle 8"/>
          <p:cNvSpPr/>
          <p:nvPr/>
        </p:nvSpPr>
        <p:spPr>
          <a:xfrm>
            <a:off x="457200" y="320040"/>
            <a:ext cx="411480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20040"/>
            <a:ext cx="4114800" cy="566928"/>
          </a:xfrm>
          <a:prstGeom prst="rect">
            <a:avLst/>
          </a:prstGeom>
          <a:noFill/>
        </p:spPr>
        <p:txBody>
          <a:bodyPr wrap="square" lIns="0" rIns="0" tIns="0" bIns="0" anchor="ctr">
            <a:spAutoFit/>
          </a:bodyPr>
          <a:lstStyle/>
          <a:p>
            <a:pPr algn="ctr"/>
            <a:r>
              <a:rPr sz="2200" b="1" i="0">
                <a:solidFill>
                  <a:srgbClr val="FFFFFF"/>
                </a:solidFill>
                <a:latin typeface="Calibri"/>
              </a:rPr>
              <a:t>Diabetes: How InBody Helps</a:t>
            </a:r>
          </a:p>
        </p:txBody>
      </p:sp>
      <p:sp>
        <p:nvSpPr>
          <p:cNvPr id="11" name="TextBox 10"/>
          <p:cNvSpPr txBox="1"/>
          <p:nvPr/>
        </p:nvSpPr>
        <p:spPr>
          <a:xfrm>
            <a:off x="4800600" y="320040"/>
            <a:ext cx="5105095" cy="566928"/>
          </a:xfrm>
          <a:prstGeom prst="rect">
            <a:avLst/>
          </a:prstGeom>
          <a:noFill/>
        </p:spPr>
        <p:txBody>
          <a:bodyPr wrap="square" lIns="0" rIns="0" tIns="0" bIns="0" anchor="ctr">
            <a:spAutoFit/>
          </a:bodyPr>
          <a:lstStyle/>
          <a:p>
            <a:pPr algn="l"/>
            <a:r>
              <a:rPr sz="900" b="1" i="0">
                <a:solidFill>
                  <a:srgbClr val="B50937"/>
                </a:solidFill>
                <a:latin typeface="Calibri"/>
              </a:rPr>
              <a:t>SESSION 4</a:t>
            </a:r>
          </a:p>
          <a:p>
            <a:pPr algn="l"/>
            <a:r>
              <a:rPr sz="900" b="0" i="0">
                <a:solidFill>
                  <a:srgbClr val="5E6470"/>
                </a:solidFill>
                <a:latin typeface="Calibri"/>
              </a:rPr>
              <a:t>Diabetes &amp; Body Composition</a:t>
            </a:r>
          </a:p>
        </p:txBody>
      </p:sp>
      <p:pic>
        <p:nvPicPr>
          <p:cNvPr id="12" name="Picture 11" descr="logo_red.png"/>
          <p:cNvPicPr>
            <a:picLocks noChangeAspect="1"/>
          </p:cNvPicPr>
          <p:nvPr/>
        </p:nvPicPr>
        <p:blipFill>
          <a:blip r:embed="rId3"/>
          <a:stretch>
            <a:fillRect/>
          </a:stretch>
        </p:blipFill>
        <p:spPr>
          <a:xfrm>
            <a:off x="10436918" y="420624"/>
            <a:ext cx="1297577" cy="365760"/>
          </a:xfrm>
          <a:prstGeom prst="rect">
            <a:avLst/>
          </a:prstGeom>
        </p:spPr>
      </p:pic>
      <p:sp>
        <p:nvSpPr>
          <p:cNvPr id="13" name="TextBox 12"/>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4" name="TextBox 13"/>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66</a:t>
            </a:r>
          </a:p>
        </p:txBody>
      </p:sp>
    </p:spTree>
    <p:extLst>
      <p:ext uri="{BB962C8B-B14F-4D97-AF65-F5344CB8AC3E}">
        <p14:creationId xmlns:p14="http://schemas.microsoft.com/office/powerpoint/2010/main" val="7606092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bg>
      <p:bgPr>
        <a:solidFill>
          <a:srgbClr val="181D27"/>
        </a:solidFill>
        <a:effectLst/>
      </p:bgPr>
    </p:bg>
    <p:spTree>
      <p:nvGrpSpPr>
        <p:cNvPr id="1" name=""/>
        <p:cNvGrpSpPr/>
        <p:nvPr/>
      </p:nvGrpSpPr>
      <p:grpSpPr>
        <a:xfrm>
          <a:off x="0" y="0"/>
          <a:ext cx="0" cy="0"/>
          <a:chOff x="0" y="0"/>
          <a:chExt cx="0" cy="0"/>
        </a:xfrm>
      </p:grpSpPr>
      <p:sp>
        <p:nvSpPr>
          <p:cNvPr id="2" name="Rounded Rectangle 1"/>
          <p:cNvSpPr/>
          <p:nvPr/>
        </p:nvSpPr>
        <p:spPr>
          <a:xfrm>
            <a:off x="822960" y="2148840"/>
            <a:ext cx="1371600" cy="1371600"/>
          </a:xfrm>
          <a:prstGeom prst="roundRect">
            <a:avLst>
              <a:gd name="adj" fmla="val 12000"/>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1371600" cy="1371600"/>
          </a:xfrm>
          <a:prstGeom prst="rect">
            <a:avLst/>
          </a:prstGeom>
          <a:noFill/>
        </p:spPr>
        <p:txBody>
          <a:bodyPr wrap="square" lIns="0" rIns="0" tIns="0" bIns="0" anchor="ctr">
            <a:spAutoFit/>
          </a:bodyPr>
          <a:lstStyle/>
          <a:p>
            <a:pPr algn="ctr"/>
            <a:r>
              <a:rPr sz="4400" b="1" i="0">
                <a:solidFill>
                  <a:srgbClr val="FFFFFF"/>
                </a:solidFill>
                <a:latin typeface="Cambria"/>
              </a:rPr>
              <a:t>05</a:t>
            </a:r>
          </a:p>
        </p:txBody>
      </p:sp>
      <p:sp>
        <p:nvSpPr>
          <p:cNvPr id="4" name="TextBox 3"/>
          <p:cNvSpPr txBox="1"/>
          <p:nvPr/>
        </p:nvSpPr>
        <p:spPr>
          <a:xfrm>
            <a:off x="2560320" y="2148840"/>
            <a:ext cx="8686800" cy="365760"/>
          </a:xfrm>
          <a:prstGeom prst="rect">
            <a:avLst/>
          </a:prstGeom>
          <a:noFill/>
        </p:spPr>
        <p:txBody>
          <a:bodyPr wrap="square" lIns="0" rIns="0" tIns="0" bIns="0" anchor="ctr">
            <a:spAutoFit/>
          </a:bodyPr>
          <a:lstStyle/>
          <a:p>
            <a:pPr algn="l"/>
            <a:r>
              <a:rPr sz="1200" b="1" i="0">
                <a:solidFill>
                  <a:srgbClr val="F5C6D1"/>
                </a:solidFill>
                <a:latin typeface="Calibri"/>
              </a:rPr>
              <a:t>SESSION 5  ·  12:50 – 1:30 PM</a:t>
            </a:r>
          </a:p>
        </p:txBody>
      </p:sp>
      <p:sp>
        <p:nvSpPr>
          <p:cNvPr id="5" name="TextBox 4"/>
          <p:cNvSpPr txBox="1"/>
          <p:nvPr/>
        </p:nvSpPr>
        <p:spPr>
          <a:xfrm>
            <a:off x="2560320" y="2560320"/>
            <a:ext cx="8961120" cy="1463040"/>
          </a:xfrm>
          <a:prstGeom prst="rect">
            <a:avLst/>
          </a:prstGeom>
          <a:noFill/>
        </p:spPr>
        <p:txBody>
          <a:bodyPr wrap="square" lIns="0" rIns="0" tIns="0" bIns="0" anchor="t">
            <a:spAutoFit/>
          </a:bodyPr>
          <a:lstStyle/>
          <a:p>
            <a:pPr algn="l"/>
            <a:r>
              <a:rPr sz="3600" b="1" i="0">
                <a:solidFill>
                  <a:srgbClr val="FFFFFF"/>
                </a:solidFill>
                <a:latin typeface="Cambria"/>
              </a:rPr>
              <a:t>GLP-1 Therapy &amp; Body Composition</a:t>
            </a:r>
          </a:p>
        </p:txBody>
      </p:sp>
      <p:pic>
        <p:nvPicPr>
          <p:cNvPr id="6" name="Picture 5" descr="logo_white.png"/>
          <p:cNvPicPr>
            <a:picLocks noChangeAspect="1"/>
          </p:cNvPicPr>
          <p:nvPr/>
        </p:nvPicPr>
        <p:blipFill>
          <a:blip r:embed="rId3"/>
          <a:stretch>
            <a:fillRect/>
          </a:stretch>
        </p:blipFill>
        <p:spPr>
          <a:xfrm>
            <a:off x="10021083" y="457200"/>
            <a:ext cx="1621971" cy="45720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9AA0AA"/>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F5C6D1"/>
                </a:solidFill>
                <a:latin typeface="Calibri"/>
              </a:rPr>
              <a:t>67</a:t>
            </a:r>
          </a:p>
        </p:txBody>
      </p:sp>
    </p:spTree>
    <p:extLst>
      <p:ext uri="{BB962C8B-B14F-4D97-AF65-F5344CB8AC3E}">
        <p14:creationId xmlns:p14="http://schemas.microsoft.com/office/powerpoint/2010/main" val="30395015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 name="Imagen 11">
            <a:extLst>
              <a:ext uri="{FF2B5EF4-FFF2-40B4-BE49-F238E27FC236}">
                <a16:creationId xmlns:a16="http://schemas.microsoft.com/office/drawing/2014/main" id="{99EA8881-CFC4-4D72-98BF-FAA2241EB4A6}"/>
              </a:ext>
            </a:extLst>
          </p:cNvPr>
          <p:cNvPicPr>
            <a:picLocks noChangeAspect="1"/>
          </p:cNvPicPr>
          <p:nvPr/>
        </p:nvPicPr>
        <p:blipFill>
          <a:blip r:embed="rId2"/>
          <a:stretch>
            <a:fillRect/>
          </a:stretch>
        </p:blipFill>
        <p:spPr>
          <a:xfrm>
            <a:off x="457200" y="1097280"/>
            <a:ext cx="7705096" cy="4357881"/>
          </a:xfrm>
          <a:prstGeom prst="rect">
            <a:avLst/>
          </a:prstGeom>
        </p:spPr>
      </p:pic>
      <p:pic>
        <p:nvPicPr>
          <p:cNvPr id="3" name="Imagen 14">
            <a:extLst>
              <a:ext uri="{FF2B5EF4-FFF2-40B4-BE49-F238E27FC236}">
                <a16:creationId xmlns:a16="http://schemas.microsoft.com/office/drawing/2014/main" id="{5790195D-7188-4121-BCF7-994517E13A55}"/>
              </a:ext>
            </a:extLst>
          </p:cNvPr>
          <p:cNvPicPr>
            <a:picLocks noChangeAspect="1"/>
          </p:cNvPicPr>
          <p:nvPr/>
        </p:nvPicPr>
        <p:blipFill>
          <a:blip r:embed="rId3"/>
          <a:stretch>
            <a:fillRect/>
          </a:stretch>
        </p:blipFill>
        <p:spPr>
          <a:xfrm>
            <a:off x="7647281" y="1367666"/>
            <a:ext cx="4087495" cy="4087495"/>
          </a:xfrm>
          <a:prstGeom prst="rect">
            <a:avLst/>
          </a:prstGeom>
        </p:spPr>
      </p:pic>
      <p:sp>
        <p:nvSpPr>
          <p:cNvPr id="4" name="Rectangle 3"/>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GLP-1 Treatment</a:t>
            </a:r>
          </a:p>
        </p:txBody>
      </p:sp>
      <p:sp>
        <p:nvSpPr>
          <p:cNvPr id="6" name="TextBox 5"/>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5</a:t>
            </a:r>
          </a:p>
          <a:p>
            <a:pPr algn="l"/>
            <a:r>
              <a:rPr sz="900" b="0" i="0">
                <a:solidFill>
                  <a:srgbClr val="5E6470"/>
                </a:solidFill>
                <a:latin typeface="Calibri"/>
              </a:rPr>
              <a:t>GLP-1 Therapy &amp; Body Composition</a:t>
            </a:r>
          </a:p>
        </p:txBody>
      </p:sp>
      <p:pic>
        <p:nvPicPr>
          <p:cNvPr id="7" name="Picture 6" descr="logo_red.png"/>
          <p:cNvPicPr>
            <a:picLocks noChangeAspect="1"/>
          </p:cNvPicPr>
          <p:nvPr/>
        </p:nvPicPr>
        <p:blipFill>
          <a:blip r:embed="rId4"/>
          <a:stretch>
            <a:fillRect/>
          </a:stretch>
        </p:blipFill>
        <p:spPr>
          <a:xfrm>
            <a:off x="10436918" y="420624"/>
            <a:ext cx="1297577" cy="365760"/>
          </a:xfrm>
          <a:prstGeom prst="rect">
            <a:avLst/>
          </a:prstGeom>
        </p:spPr>
      </p:pic>
      <p:sp>
        <p:nvSpPr>
          <p:cNvPr id="8" name="TextBox 7"/>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9" name="TextBox 8"/>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68</a:t>
            </a:r>
          </a:p>
        </p:txBody>
      </p:sp>
    </p:spTree>
    <p:extLst>
      <p:ext uri="{BB962C8B-B14F-4D97-AF65-F5344CB8AC3E}">
        <p14:creationId xmlns:p14="http://schemas.microsoft.com/office/powerpoint/2010/main" val="3715150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52627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4526279" cy="566928"/>
          </a:xfrm>
          <a:prstGeom prst="rect">
            <a:avLst/>
          </a:prstGeom>
          <a:noFill/>
        </p:spPr>
        <p:txBody>
          <a:bodyPr wrap="square" lIns="0" rIns="0" tIns="0" bIns="0" anchor="ctr">
            <a:spAutoFit/>
          </a:bodyPr>
          <a:lstStyle/>
          <a:p>
            <a:pPr algn="ctr"/>
            <a:r>
              <a:rPr sz="2200" b="1" i="0">
                <a:solidFill>
                  <a:srgbClr val="FFFFFF"/>
                </a:solidFill>
                <a:latin typeface="Calibri"/>
              </a:rPr>
              <a:t>Monitoring GLP-1 RA Treatment</a:t>
            </a:r>
          </a:p>
        </p:txBody>
      </p:sp>
      <p:sp>
        <p:nvSpPr>
          <p:cNvPr id="4" name="TextBox 3"/>
          <p:cNvSpPr txBox="1"/>
          <p:nvPr/>
        </p:nvSpPr>
        <p:spPr>
          <a:xfrm>
            <a:off x="5212079" y="320040"/>
            <a:ext cx="4693615" cy="566928"/>
          </a:xfrm>
          <a:prstGeom prst="rect">
            <a:avLst/>
          </a:prstGeom>
          <a:noFill/>
        </p:spPr>
        <p:txBody>
          <a:bodyPr wrap="square" lIns="0" rIns="0" tIns="0" bIns="0" anchor="ctr">
            <a:spAutoFit/>
          </a:bodyPr>
          <a:lstStyle/>
          <a:p>
            <a:pPr algn="l"/>
            <a:r>
              <a:rPr sz="900" b="1" i="0">
                <a:solidFill>
                  <a:srgbClr val="B50937"/>
                </a:solidFill>
                <a:latin typeface="Calibri"/>
              </a:rPr>
              <a:t>SESSION 5</a:t>
            </a:r>
          </a:p>
          <a:p>
            <a:pPr algn="l"/>
            <a:r>
              <a:rPr sz="900" b="0" i="0">
                <a:solidFill>
                  <a:srgbClr val="5E6470"/>
                </a:solidFill>
                <a:latin typeface="Calibri"/>
              </a:rPr>
              <a:t>GLP-1 Therapy &amp; Body Composition</a:t>
            </a:r>
          </a:p>
        </p:txBody>
      </p:sp>
      <p:pic>
        <p:nvPicPr>
          <p:cNvPr id="5" name="Picture 4" descr="logo_red.png"/>
          <p:cNvPicPr>
            <a:picLocks noChangeAspect="1"/>
          </p:cNvPicPr>
          <p:nvPr/>
        </p:nvPicPr>
        <p:blipFill>
          <a:blip r:embed="rId6"/>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69</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7"/>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Ideal obesity treatment strategy</a:t>
            </a:r>
          </a:p>
          <a:p>
            <a:pPr marL="228600" indent="-228600">
              <a:spcAft>
                <a:spcPts val="600"/>
              </a:spcAft>
              <a:buChar char="•"/>
            </a:pPr>
            <a:r>
              <a:rPr sz="1300">
                <a:solidFill>
                  <a:srgbClr val="181D27"/>
                </a:solidFill>
                <a:latin typeface="Calibri"/>
              </a:rPr>
              <a:t>Reduce adiposity</a:t>
            </a:r>
          </a:p>
          <a:p>
            <a:pPr marL="228600" indent="-228600">
              <a:spcAft>
                <a:spcPts val="600"/>
              </a:spcAft>
              <a:buChar char="•"/>
            </a:pPr>
            <a:r>
              <a:rPr sz="1300">
                <a:solidFill>
                  <a:srgbClr val="181D27"/>
                </a:solidFill>
                <a:latin typeface="Calibri"/>
              </a:rPr>
              <a:t>Reduce obesity-related complications</a:t>
            </a:r>
          </a:p>
          <a:p>
            <a:pPr marL="228600" indent="-228600">
              <a:spcAft>
                <a:spcPts val="600"/>
              </a:spcAft>
              <a:buChar char="•"/>
            </a:pPr>
            <a:r>
              <a:rPr sz="1300">
                <a:solidFill>
                  <a:srgbClr val="181D27"/>
                </a:solidFill>
                <a:latin typeface="Calibri"/>
              </a:rPr>
              <a:t>Preserve muscle mass, with nutrition therapy and physical activity</a:t>
            </a:r>
          </a:p>
          <a:p>
            <a:pPr>
              <a:spcAft>
                <a:spcPts val="600"/>
              </a:spcAft>
            </a:pPr>
            <a:r>
              <a:rPr sz="1300">
                <a:solidFill>
                  <a:srgbClr val="181D27"/>
                </a:solidFill>
                <a:latin typeface="Calibri"/>
              </a:rPr>
              <a:t>The review compares body-composition methods (DXA, CT, MRI, BIA and others) by availability, accuracy and cost.</a:t>
            </a:r>
          </a:p>
          <a:p>
            <a:pPr>
              <a:spcAft>
                <a:spcPts val="600"/>
              </a:spcAft>
            </a:pPr>
            <a:r>
              <a:rPr sz="1300">
                <a:solidFill>
                  <a:srgbClr val="181D27"/>
                </a:solidFill>
                <a:latin typeface="Calibri"/>
              </a:rPr>
              <a:t>Mechanick JI et al., Obesity Reviews, 2024</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67.png"/>
          <p:cNvPicPr>
            <a:picLocks noChangeAspect="1"/>
          </p:cNvPicPr>
          <p:nvPr/>
        </p:nvPicPr>
        <p:blipFill>
          <a:blip r:embed="rId8"/>
          <a:stretch>
            <a:fillRect/>
          </a:stretch>
        </p:blipFill>
        <p:spPr>
          <a:xfrm>
            <a:off x="5760720" y="1854099"/>
            <a:ext cx="5790895" cy="2692600"/>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9"/>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GLP-1 treatment should cut fat while preserving muscle, so body composition must be monitored.</a:t>
            </a:r>
          </a:p>
        </p:txBody>
      </p:sp>
    </p:spTree>
    <p:extLst>
      <p:ext uri="{BB962C8B-B14F-4D97-AF65-F5344CB8AC3E}">
        <p14:creationId xmlns:p14="http://schemas.microsoft.com/office/powerpoint/2010/main" val="7379387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617219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6172199" cy="566928"/>
          </a:xfrm>
          <a:prstGeom prst="rect">
            <a:avLst/>
          </a:prstGeom>
          <a:noFill/>
        </p:spPr>
        <p:txBody>
          <a:bodyPr wrap="square" lIns="0" rIns="0" tIns="0" bIns="0" anchor="ctr">
            <a:spAutoFit/>
          </a:bodyPr>
          <a:lstStyle/>
          <a:p>
            <a:pPr algn="ctr"/>
            <a:r>
              <a:rPr sz="1900" b="1" i="0">
                <a:solidFill>
                  <a:srgbClr val="FFFFFF"/>
                </a:solidFill>
                <a:latin typeface="Calibri"/>
              </a:rPr>
              <a:t>Effect of Semaglutide on Body Composition</a:t>
            </a:r>
          </a:p>
        </p:txBody>
      </p:sp>
      <p:sp>
        <p:nvSpPr>
          <p:cNvPr id="4" name="TextBox 3"/>
          <p:cNvSpPr txBox="1"/>
          <p:nvPr/>
        </p:nvSpPr>
        <p:spPr>
          <a:xfrm>
            <a:off x="6857999" y="320040"/>
            <a:ext cx="3047695" cy="566928"/>
          </a:xfrm>
          <a:prstGeom prst="rect">
            <a:avLst/>
          </a:prstGeom>
          <a:noFill/>
        </p:spPr>
        <p:txBody>
          <a:bodyPr wrap="square" lIns="0" rIns="0" tIns="0" bIns="0" anchor="ctr">
            <a:spAutoFit/>
          </a:bodyPr>
          <a:lstStyle/>
          <a:p>
            <a:pPr algn="l"/>
            <a:r>
              <a:rPr sz="900" b="1" i="0">
                <a:solidFill>
                  <a:srgbClr val="B50937"/>
                </a:solidFill>
                <a:latin typeface="Calibri"/>
              </a:rPr>
              <a:t>SESSION 5</a:t>
            </a:r>
          </a:p>
          <a:p>
            <a:pPr algn="l"/>
            <a:r>
              <a:rPr sz="900" b="0" i="0">
                <a:solidFill>
                  <a:srgbClr val="5E6470"/>
                </a:solidFill>
                <a:latin typeface="Calibri"/>
              </a:rPr>
              <a:t>GLP-1 Therapy  ·  Muscle &amp; Fat Mass</a:t>
            </a:r>
          </a:p>
        </p:txBody>
      </p:sp>
      <p:pic>
        <p:nvPicPr>
          <p:cNvPr id="5" name="Picture 4" descr="logo_red.png"/>
          <p:cNvPicPr>
            <a:picLocks noChangeAspect="1"/>
          </p:cNvPicPr>
          <p:nvPr/>
        </p:nvPicPr>
        <p:blipFill>
          <a:blip r:embed="rId7"/>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70</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8"/>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Key findings</a:t>
            </a:r>
          </a:p>
          <a:p>
            <a:pPr marL="228600" indent="-228600">
              <a:spcAft>
                <a:spcPts val="600"/>
              </a:spcAft>
              <a:buChar char="•"/>
            </a:pPr>
            <a:r>
              <a:rPr sz="1300">
                <a:solidFill>
                  <a:srgbClr val="181D27"/>
                </a:solidFill>
                <a:latin typeface="Calibri"/>
              </a:rPr>
              <a:t>Weight loss of about 9.5% over 24 weeks</a:t>
            </a:r>
          </a:p>
          <a:p>
            <a:pPr marL="228600" indent="-228600">
              <a:spcAft>
                <a:spcPts val="600"/>
              </a:spcAft>
              <a:buChar char="•"/>
            </a:pPr>
            <a:r>
              <a:rPr sz="1300">
                <a:solidFill>
                  <a:srgbClr val="181D27"/>
                </a:solidFill>
                <a:latin typeface="Calibri"/>
              </a:rPr>
              <a:t>Fat reduction, including visceral fat</a:t>
            </a:r>
          </a:p>
          <a:p>
            <a:pPr marL="228600" indent="-228600">
              <a:spcAft>
                <a:spcPts val="600"/>
              </a:spcAft>
              <a:buChar char="•"/>
            </a:pPr>
            <a:r>
              <a:rPr sz="1300">
                <a:solidFill>
                  <a:srgbClr val="181D27"/>
                </a:solidFill>
                <a:latin typeface="Calibri"/>
              </a:rPr>
              <a:t>Phase angle stayed stable</a:t>
            </a:r>
          </a:p>
          <a:p>
            <a:pPr marL="228600" indent="-228600">
              <a:spcAft>
                <a:spcPts val="600"/>
              </a:spcAft>
              <a:buChar char="•"/>
            </a:pPr>
            <a:r>
              <a:rPr sz="1300">
                <a:solidFill>
                  <a:srgbClr val="181D27"/>
                </a:solidFill>
                <a:latin typeface="Calibri"/>
              </a:rPr>
              <a:t>Improved metabolic parameters</a:t>
            </a:r>
          </a:p>
          <a:p>
            <a:pPr marL="228600" indent="-228600">
              <a:spcAft>
                <a:spcPts val="600"/>
              </a:spcAft>
              <a:buChar char="•"/>
            </a:pPr>
            <a:r>
              <a:rPr sz="1300">
                <a:solidFill>
                  <a:srgbClr val="181D27"/>
                </a:solidFill>
                <a:latin typeface="Calibri"/>
              </a:rPr>
              <a:t>Similar results for oral and injected semaglutide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68.png"/>
          <p:cNvPicPr>
            <a:picLocks noChangeAspect="1"/>
          </p:cNvPicPr>
          <p:nvPr/>
        </p:nvPicPr>
        <p:blipFill>
          <a:blip r:embed="rId9"/>
          <a:stretch>
            <a:fillRect/>
          </a:stretch>
        </p:blipFill>
        <p:spPr>
          <a:xfrm>
            <a:off x="5760720" y="2056858"/>
            <a:ext cx="5790895" cy="2287083"/>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10"/>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Semaglutide reduced fat and improved metabolic parameters while preserving lean body mass.</a:t>
            </a:r>
          </a:p>
        </p:txBody>
      </p:sp>
    </p:spTree>
    <p:extLst>
      <p:ext uri="{BB962C8B-B14F-4D97-AF65-F5344CB8AC3E}">
        <p14:creationId xmlns:p14="http://schemas.microsoft.com/office/powerpoint/2010/main" val="35070179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713231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132319" cy="566928"/>
          </a:xfrm>
          <a:prstGeom prst="rect">
            <a:avLst/>
          </a:prstGeom>
          <a:noFill/>
        </p:spPr>
        <p:txBody>
          <a:bodyPr wrap="square" lIns="0" rIns="0" tIns="0" bIns="0" anchor="ctr">
            <a:spAutoFit/>
          </a:bodyPr>
          <a:lstStyle/>
          <a:p>
            <a:pPr algn="ctr"/>
            <a:r>
              <a:rPr sz="1900" b="1" i="0">
                <a:solidFill>
                  <a:srgbClr val="FFFFFF"/>
                </a:solidFill>
                <a:latin typeface="Calibri"/>
              </a:rPr>
              <a:t>Efficient Fat Reduction with Muscle Preservation</a:t>
            </a:r>
          </a:p>
        </p:txBody>
      </p:sp>
      <p:sp>
        <p:nvSpPr>
          <p:cNvPr id="4" name="TextBox 3"/>
          <p:cNvSpPr txBox="1"/>
          <p:nvPr/>
        </p:nvSpPr>
        <p:spPr>
          <a:xfrm>
            <a:off x="7818119" y="320040"/>
            <a:ext cx="2087575" cy="566928"/>
          </a:xfrm>
          <a:prstGeom prst="rect">
            <a:avLst/>
          </a:prstGeom>
          <a:noFill/>
        </p:spPr>
        <p:txBody>
          <a:bodyPr wrap="square" lIns="0" rIns="0" tIns="0" bIns="0" anchor="ctr">
            <a:spAutoFit/>
          </a:bodyPr>
          <a:lstStyle/>
          <a:p>
            <a:pPr algn="l"/>
            <a:r>
              <a:rPr sz="900" b="1" i="0">
                <a:solidFill>
                  <a:srgbClr val="B50937"/>
                </a:solidFill>
                <a:latin typeface="Calibri"/>
              </a:rPr>
              <a:t>SESSION 5</a:t>
            </a:r>
          </a:p>
          <a:p>
            <a:pPr algn="l"/>
            <a:r>
              <a:rPr sz="900" b="0" i="0">
                <a:solidFill>
                  <a:srgbClr val="5E6470"/>
                </a:solidFill>
                <a:latin typeface="Calibri"/>
              </a:rPr>
              <a:t>GLP-1 Therapy  ·  Muscle &amp; Fat Mass</a:t>
            </a:r>
          </a:p>
        </p:txBody>
      </p:sp>
      <p:pic>
        <p:nvPicPr>
          <p:cNvPr id="5" name="Picture 4" descr="logo_red.png"/>
          <p:cNvPicPr>
            <a:picLocks noChangeAspect="1"/>
          </p:cNvPicPr>
          <p:nvPr/>
        </p:nvPicPr>
        <p:blipFill>
          <a:blip r:embed="rId7"/>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71</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8"/>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Semaglutide effectively reduced body fat while preserving skeletal muscle mass and strength in a real-world setting.</a:t>
            </a:r>
          </a:p>
          <a:p>
            <a:pPr marL="228600" indent="-228600">
              <a:spcAft>
                <a:spcPts val="600"/>
              </a:spcAft>
              <a:buChar char="•"/>
            </a:pPr>
            <a:r>
              <a:rPr sz="1300">
                <a:solidFill>
                  <a:srgbClr val="181D27"/>
                </a:solidFill>
                <a:latin typeface="Calibri"/>
              </a:rPr>
              <a:t>Device used: InBody S10</a:t>
            </a:r>
          </a:p>
          <a:p>
            <a:pPr marL="228600" indent="-228600">
              <a:spcAft>
                <a:spcPts val="600"/>
              </a:spcAft>
              <a:buChar char="•"/>
            </a:pPr>
            <a:r>
              <a:rPr sz="1300">
                <a:solidFill>
                  <a:srgbClr val="181D27"/>
                </a:solidFill>
                <a:latin typeface="Calibri"/>
              </a:rPr>
              <a:t>Skeletal Muscle Index (SMI) was an important index to evaluate muscle content.</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69.png"/>
          <p:cNvPicPr>
            <a:picLocks noChangeAspect="1"/>
          </p:cNvPicPr>
          <p:nvPr/>
        </p:nvPicPr>
        <p:blipFill>
          <a:blip r:embed="rId9"/>
          <a:stretch>
            <a:fillRect/>
          </a:stretch>
        </p:blipFill>
        <p:spPr>
          <a:xfrm>
            <a:off x="5760720" y="1990767"/>
            <a:ext cx="5790895" cy="2419264"/>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10"/>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Efficient fat reduction with muscle preservation, measured with InBody.</a:t>
            </a:r>
          </a:p>
        </p:txBody>
      </p:sp>
    </p:spTree>
    <p:extLst>
      <p:ext uri="{BB962C8B-B14F-4D97-AF65-F5344CB8AC3E}">
        <p14:creationId xmlns:p14="http://schemas.microsoft.com/office/powerpoint/2010/main" val="40762497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80059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4800599" cy="566928"/>
          </a:xfrm>
          <a:prstGeom prst="rect">
            <a:avLst/>
          </a:prstGeom>
          <a:noFill/>
        </p:spPr>
        <p:txBody>
          <a:bodyPr wrap="square" lIns="0" rIns="0" tIns="0" bIns="0" anchor="ctr">
            <a:spAutoFit/>
          </a:bodyPr>
          <a:lstStyle/>
          <a:p>
            <a:pPr algn="ctr"/>
            <a:r>
              <a:rPr sz="2200" b="1" i="0">
                <a:solidFill>
                  <a:srgbClr val="FFFFFF"/>
                </a:solidFill>
                <a:latin typeface="Calibri"/>
              </a:rPr>
              <a:t>Valuable Biomarker with Obesity</a:t>
            </a:r>
          </a:p>
        </p:txBody>
      </p:sp>
      <p:sp>
        <p:nvSpPr>
          <p:cNvPr id="4" name="TextBox 3"/>
          <p:cNvSpPr txBox="1"/>
          <p:nvPr/>
        </p:nvSpPr>
        <p:spPr>
          <a:xfrm>
            <a:off x="5486399" y="320040"/>
            <a:ext cx="4419295" cy="566928"/>
          </a:xfrm>
          <a:prstGeom prst="rect">
            <a:avLst/>
          </a:prstGeom>
          <a:noFill/>
        </p:spPr>
        <p:txBody>
          <a:bodyPr wrap="square" lIns="0" rIns="0" tIns="0" bIns="0" anchor="ctr">
            <a:spAutoFit/>
          </a:bodyPr>
          <a:lstStyle/>
          <a:p>
            <a:pPr algn="l"/>
            <a:r>
              <a:rPr sz="900" b="1" i="0">
                <a:solidFill>
                  <a:srgbClr val="B50937"/>
                </a:solidFill>
                <a:latin typeface="Calibri"/>
              </a:rPr>
              <a:t>SESSION 5</a:t>
            </a:r>
          </a:p>
          <a:p>
            <a:pPr algn="l"/>
            <a:r>
              <a:rPr sz="900" b="0" i="0">
                <a:solidFill>
                  <a:srgbClr val="5E6470"/>
                </a:solidFill>
                <a:latin typeface="Calibri"/>
              </a:rPr>
              <a:t>GLP-1 Therapy  ·  Phase Angle</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72</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Phase angle and metabolic health</a:t>
            </a:r>
          </a:p>
          <a:p>
            <a:pPr marL="228600" indent="-228600">
              <a:spcAft>
                <a:spcPts val="600"/>
              </a:spcAft>
              <a:buChar char="•"/>
            </a:pPr>
            <a:r>
              <a:rPr sz="1300">
                <a:solidFill>
                  <a:srgbClr val="181D27"/>
                </a:solidFill>
                <a:latin typeface="Calibri"/>
              </a:rPr>
              <a:t>Lower PhA is linked to insulin resistance, impaired glucose metabolism and dyslipidemia.</a:t>
            </a:r>
          </a:p>
          <a:p>
            <a:pPr marL="228600" indent="-228600">
              <a:spcAft>
                <a:spcPts val="600"/>
              </a:spcAft>
              <a:buChar char="•"/>
            </a:pPr>
            <a:r>
              <a:rPr sz="1300">
                <a:solidFill>
                  <a:srgbClr val="181D27"/>
                </a:solidFill>
                <a:latin typeface="Calibri"/>
              </a:rPr>
              <a:t>Higher inflammatory markers (CRP, IL-6, TNF-α) go with lower PhA.</a:t>
            </a:r>
          </a:p>
          <a:p>
            <a:pPr marL="228600" indent="-228600">
              <a:spcAft>
                <a:spcPts val="600"/>
              </a:spcAft>
              <a:buChar char="•"/>
            </a:pPr>
            <a:r>
              <a:rPr sz="1300">
                <a:solidFill>
                  <a:srgbClr val="181D27"/>
                </a:solidFill>
                <a:latin typeface="Calibri"/>
              </a:rPr>
              <a:t>PhA drops more in people with metabolic diseases.</a:t>
            </a:r>
          </a:p>
          <a:p>
            <a:pPr>
              <a:spcAft>
                <a:spcPts val="600"/>
              </a:spcAft>
            </a:pPr>
            <a:r>
              <a:rPr sz="1300">
                <a:solidFill>
                  <a:srgbClr val="181D27"/>
                </a:solidFill>
                <a:latin typeface="Calibri"/>
              </a:rPr>
              <a:t>PhA may help monitor nutrition and muscle preservation during diet, exercise, medication or bariatric surgery.</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70.png"/>
          <p:cNvPicPr>
            <a:picLocks noChangeAspect="1"/>
          </p:cNvPicPr>
          <p:nvPr/>
        </p:nvPicPr>
        <p:blipFill>
          <a:blip r:embed="rId6"/>
          <a:stretch>
            <a:fillRect/>
          </a:stretch>
        </p:blipFill>
        <p:spPr>
          <a:xfrm>
            <a:off x="5760720" y="1914821"/>
            <a:ext cx="5790895" cy="2571157"/>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Phase angle could be a valuable biomarker for assessing health in people with obesity.</a:t>
            </a:r>
          </a:p>
        </p:txBody>
      </p:sp>
    </p:spTree>
    <p:extLst>
      <p:ext uri="{BB962C8B-B14F-4D97-AF65-F5344CB8AC3E}">
        <p14:creationId xmlns:p14="http://schemas.microsoft.com/office/powerpoint/2010/main" val="31643395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aphicFrame>
        <p:nvGraphicFramePr>
          <p:cNvPr id="40" name="내용 개체 틀 4"/>
          <p:cNvGraphicFramePr>
            <a:graphicFrameLocks/>
          </p:cNvGraphicFramePr>
          <p:nvPr>
            <p:extLst/>
          </p:nvPr>
        </p:nvGraphicFramePr>
        <p:xfrm>
          <a:off x="1293807" y="1886644"/>
          <a:ext cx="9604081" cy="3679072"/>
        </p:xfrm>
        <a:graphic>
          <a:graphicData uri="http://schemas.openxmlformats.org/drawingml/2006/table">
            <a:tbl>
              <a:tblPr firstRow="1" bandRow="1">
                <a:tableStyleId>{5C22544A-7EE6-4342-B048-85BDC9FD1C3A}</a:tableStyleId>
              </a:tblPr>
              <a:tblGrid>
                <a:gridCol w="3103473">
                  <a:extLst>
                    <a:ext uri="{9D8B030D-6E8A-4147-A177-3AD203B41FA5}">
                      <a16:colId xmlns:a16="http://schemas.microsoft.com/office/drawing/2014/main" val="2608900680"/>
                    </a:ext>
                  </a:extLst>
                </a:gridCol>
                <a:gridCol w="3261600">
                  <a:extLst>
                    <a:ext uri="{9D8B030D-6E8A-4147-A177-3AD203B41FA5}">
                      <a16:colId xmlns:a16="http://schemas.microsoft.com/office/drawing/2014/main" val="20001"/>
                    </a:ext>
                  </a:extLst>
                </a:gridCol>
                <a:gridCol w="3239008">
                  <a:extLst>
                    <a:ext uri="{9D8B030D-6E8A-4147-A177-3AD203B41FA5}">
                      <a16:colId xmlns:a16="http://schemas.microsoft.com/office/drawing/2014/main" val="522427154"/>
                    </a:ext>
                  </a:extLst>
                </a:gridCol>
              </a:tblGrid>
              <a:tr h="508915">
                <a:tc>
                  <a:txBody>
                    <a:bodyPr/>
                    <a:lstStyle/>
                    <a:p>
                      <a:pPr algn="ctr" fontAlgn="ctr"/>
                      <a:r>
                        <a:rPr lang="en-US" altLang="ko-KR" sz="1600" b="1" i="0" u="none" strike="noStrike" dirty="0">
                          <a:solidFill>
                            <a:schemeClr val="bg1"/>
                          </a:solidFill>
                          <a:effectLst/>
                          <a:latin typeface="Lato"/>
                          <a:ea typeface="+mn-ea"/>
                        </a:rPr>
                        <a:t>Common Trends</a:t>
                      </a:r>
                      <a:endParaRPr lang="ko-KR" altLang="en-US" sz="1600" b="1" i="0" u="none" strike="noStrike" dirty="0">
                        <a:solidFill>
                          <a:schemeClr val="bg1"/>
                        </a:solidFill>
                        <a:effectLst/>
                        <a:latin typeface="Lato"/>
                        <a:ea typeface="+mn-ea"/>
                      </a:endParaRPr>
                    </a:p>
                  </a:txBody>
                  <a:tcPr marL="8583" marR="8583" marT="8583"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67767F"/>
                    </a:solidFill>
                  </a:tcPr>
                </a:tc>
                <a:tc>
                  <a:txBody>
                    <a:bodyPr/>
                    <a:lstStyle/>
                    <a:p>
                      <a:pPr algn="ctr" fontAlgn="ctr"/>
                      <a:r>
                        <a:rPr lang="en-US" altLang="ko-KR" sz="1600" b="1" i="0" u="none" strike="noStrike" dirty="0">
                          <a:solidFill>
                            <a:schemeClr val="bg1"/>
                          </a:solidFill>
                          <a:effectLst/>
                          <a:latin typeface="Lato"/>
                          <a:ea typeface="+mn-ea"/>
                        </a:rPr>
                        <a:t>Effects</a:t>
                      </a:r>
                      <a:endParaRPr lang="ko-KR" altLang="en-US" sz="1600" b="1" i="0" u="none" strike="noStrike" dirty="0">
                        <a:solidFill>
                          <a:schemeClr val="bg1"/>
                        </a:solidFill>
                        <a:effectLst/>
                        <a:latin typeface="Lato"/>
                        <a:ea typeface="+mn-ea"/>
                      </a:endParaRPr>
                    </a:p>
                  </a:txBody>
                  <a:tcPr marL="8583" marR="8583" marT="8583"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67767F"/>
                    </a:solidFill>
                  </a:tcPr>
                </a:tc>
                <a:tc>
                  <a:txBody>
                    <a:bodyPr/>
                    <a:lstStyle/>
                    <a:p>
                      <a:pPr algn="ctr" fontAlgn="ctr"/>
                      <a:r>
                        <a:rPr lang="en-US" altLang="ko-KR" sz="1600" b="1" i="0" u="none" strike="noStrike" dirty="0">
                          <a:solidFill>
                            <a:schemeClr val="bg1"/>
                          </a:solidFill>
                          <a:effectLst/>
                          <a:latin typeface="Lato"/>
                          <a:ea typeface="+mn-ea"/>
                        </a:rPr>
                        <a:t>Side Effects</a:t>
                      </a:r>
                      <a:endParaRPr lang="ko-KR" altLang="en-US" sz="1600" b="1" i="0" u="none" strike="noStrike" dirty="0">
                        <a:solidFill>
                          <a:schemeClr val="bg1"/>
                        </a:solidFill>
                        <a:effectLst/>
                        <a:latin typeface="Lato"/>
                        <a:ea typeface="+mn-ea"/>
                      </a:endParaRPr>
                    </a:p>
                  </a:txBody>
                  <a:tcPr marL="8583" marR="8583" marT="8583"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67767F"/>
                    </a:solidFill>
                  </a:tcPr>
                </a:tc>
                <a:extLst>
                  <a:ext uri="{0D108BD9-81ED-4DB2-BD59-A6C34878D82A}">
                    <a16:rowId xmlns:a16="http://schemas.microsoft.com/office/drawing/2014/main" val="2226800861"/>
                  </a:ext>
                </a:extLst>
              </a:tr>
              <a:tr h="3170157">
                <a:tc>
                  <a:txBody>
                    <a:bodyPr/>
                    <a:lstStyle/>
                    <a:p>
                      <a:pPr marL="171450" indent="-171450" algn="l" fontAlgn="ctr">
                        <a:lnSpc>
                          <a:spcPct val="150000"/>
                        </a:lnSpc>
                        <a:buFont typeface="Arial" panose="020B0604020202020204" pitchFamily="34" charset="0"/>
                        <a:buChar char="•"/>
                      </a:pPr>
                      <a:endParaRPr lang="en-US" altLang="ko-KR" sz="1200" b="0" i="0" u="none" strike="noStrike" kern="0" spc="-30" dirty="0">
                        <a:ln>
                          <a:solidFill>
                            <a:srgbClr val="B50937">
                              <a:alpha val="0"/>
                            </a:srgbClr>
                          </a:solidFill>
                        </a:ln>
                        <a:solidFill>
                          <a:schemeClr val="tx1">
                            <a:lumMod val="75000"/>
                            <a:lumOff val="25000"/>
                          </a:schemeClr>
                        </a:solidFill>
                        <a:effectLst/>
                        <a:latin typeface="Lato"/>
                        <a:ea typeface="+mn-ea"/>
                      </a:endParaRPr>
                    </a:p>
                    <a:p>
                      <a:pPr marL="171450" indent="-171450" algn="l" fontAlgn="ctr">
                        <a:lnSpc>
                          <a:spcPct val="150000"/>
                        </a:lnSpc>
                        <a:buFont typeface="Wingdings" panose="05000000000000000000" pitchFamily="2" charset="2"/>
                        <a:buChar char="Ø"/>
                      </a:pPr>
                      <a:r>
                        <a:rPr lang="en-US" altLang="ko-KR" sz="1200" b="0" i="0" u="none" strike="noStrike" kern="0" spc="-30" dirty="0">
                          <a:ln>
                            <a:solidFill>
                              <a:srgbClr val="B50937">
                                <a:alpha val="0"/>
                              </a:srgbClr>
                            </a:solidFill>
                          </a:ln>
                          <a:solidFill>
                            <a:schemeClr val="tx1">
                              <a:lumMod val="75000"/>
                              <a:lumOff val="25000"/>
                            </a:schemeClr>
                          </a:solidFill>
                          <a:effectLst/>
                          <a:latin typeface="Lato"/>
                          <a:ea typeface="+mn-ea"/>
                        </a:rPr>
                        <a:t> Fat-focused</a:t>
                      </a:r>
                      <a:r>
                        <a:rPr lang="en-US" altLang="ko-KR" sz="1200" b="0" i="0" u="none" strike="noStrike" kern="0" spc="-30" baseline="0" dirty="0">
                          <a:ln>
                            <a:solidFill>
                              <a:srgbClr val="B50937">
                                <a:alpha val="0"/>
                              </a:srgbClr>
                            </a:solidFill>
                          </a:ln>
                          <a:solidFill>
                            <a:schemeClr val="tx1">
                              <a:lumMod val="75000"/>
                              <a:lumOff val="25000"/>
                            </a:schemeClr>
                          </a:solidFill>
                          <a:effectLst/>
                          <a:latin typeface="Lato"/>
                          <a:ea typeface="+mn-ea"/>
                        </a:rPr>
                        <a:t> weight loss</a:t>
                      </a:r>
                    </a:p>
                    <a:p>
                      <a:pPr marL="171450" indent="-171450" algn="l" fontAlgn="ctr">
                        <a:lnSpc>
                          <a:spcPct val="150000"/>
                        </a:lnSpc>
                        <a:buFont typeface="Wingdings" panose="05000000000000000000" pitchFamily="2" charset="2"/>
                        <a:buChar char="Ø"/>
                      </a:pPr>
                      <a:r>
                        <a:rPr lang="en-US" altLang="ko-KR" sz="1200" dirty="0">
                          <a:solidFill>
                            <a:schemeClr val="tx1">
                              <a:lumMod val="75000"/>
                              <a:lumOff val="25000"/>
                            </a:schemeClr>
                          </a:solidFill>
                          <a:latin typeface="Lato"/>
                        </a:rPr>
                        <a:t> Lower muscle mass reduction </a:t>
                      </a:r>
                    </a:p>
                    <a:p>
                      <a:pPr marL="171450" indent="-171450" algn="l" fontAlgn="ctr">
                        <a:lnSpc>
                          <a:spcPct val="150000"/>
                        </a:lnSpc>
                        <a:buFont typeface="Wingdings" panose="05000000000000000000" pitchFamily="2" charset="2"/>
                        <a:buChar char="Ø"/>
                      </a:pPr>
                      <a:r>
                        <a:rPr lang="en-US" altLang="ko-KR" sz="1200" dirty="0">
                          <a:solidFill>
                            <a:schemeClr val="tx1">
                              <a:lumMod val="75000"/>
                              <a:lumOff val="25000"/>
                            </a:schemeClr>
                          </a:solidFill>
                          <a:latin typeface="Lato"/>
                        </a:rPr>
                        <a:t> Higher body fat loss percentage</a:t>
                      </a:r>
                      <a:br>
                        <a:rPr lang="en-US" altLang="ko-KR" sz="1200" dirty="0">
                          <a:solidFill>
                            <a:schemeClr val="tx1">
                              <a:lumMod val="75000"/>
                              <a:lumOff val="25000"/>
                            </a:schemeClr>
                          </a:solidFill>
                          <a:latin typeface="Lato"/>
                        </a:rPr>
                      </a:br>
                      <a:endParaRPr lang="en-US" altLang="ko-KR" sz="1200" dirty="0">
                        <a:solidFill>
                          <a:schemeClr val="tx1">
                            <a:lumMod val="75000"/>
                            <a:lumOff val="25000"/>
                          </a:schemeClr>
                        </a:solidFill>
                        <a:latin typeface="Lato"/>
                      </a:endParaRPr>
                    </a:p>
                    <a:p>
                      <a:pPr marL="0" indent="0" algn="ctr" fontAlgn="ctr">
                        <a:lnSpc>
                          <a:spcPct val="150000"/>
                        </a:lnSpc>
                        <a:buFont typeface="Arial" panose="020B0604020202020204" pitchFamily="34" charset="0"/>
                        <a:buNone/>
                      </a:pPr>
                      <a:r>
                        <a:rPr lang="en-US" altLang="ko-KR" sz="1200" b="1" i="0" u="none" strike="noStrike" dirty="0">
                          <a:solidFill>
                            <a:schemeClr val="tx1">
                              <a:lumMod val="75000"/>
                              <a:lumOff val="25000"/>
                            </a:schemeClr>
                          </a:solidFill>
                          <a:effectLst/>
                          <a:latin typeface="Lato"/>
                          <a:ea typeface="+mn-ea"/>
                        </a:rPr>
                        <a:t>[Summary]</a:t>
                      </a:r>
                    </a:p>
                    <a:p>
                      <a:pPr marL="0" indent="0" algn="ctr" fontAlgn="ctr">
                        <a:lnSpc>
                          <a:spcPct val="150000"/>
                        </a:lnSpc>
                        <a:buFont typeface="Arial" panose="020B0604020202020204" pitchFamily="34" charset="0"/>
                        <a:buNone/>
                      </a:pPr>
                      <a:r>
                        <a:rPr lang="en-US" altLang="ko-KR" sz="1200" b="0" i="0" u="none" strike="noStrike" dirty="0">
                          <a:solidFill>
                            <a:schemeClr val="tx1">
                              <a:lumMod val="75000"/>
                              <a:lumOff val="25000"/>
                            </a:schemeClr>
                          </a:solidFill>
                          <a:effectLst/>
                          <a:latin typeface="Lato"/>
                          <a:ea typeface="+mn-ea"/>
                        </a:rPr>
                        <a:t>Most </a:t>
                      </a:r>
                      <a:r>
                        <a:rPr lang="en-US" altLang="ko-KR" sz="1200" b="0" i="0" u="none" strike="noStrike" dirty="0">
                          <a:solidFill>
                            <a:schemeClr val="tx1"/>
                          </a:solidFill>
                          <a:effectLst/>
                          <a:latin typeface="Lato"/>
                          <a:ea typeface="+mn-ea"/>
                        </a:rPr>
                        <a:t>diet</a:t>
                      </a:r>
                      <a:r>
                        <a:rPr lang="en-US" altLang="ko-KR" sz="1200" b="0" i="0" u="none" strike="noStrike" baseline="0" dirty="0">
                          <a:solidFill>
                            <a:schemeClr val="tx1"/>
                          </a:solidFill>
                          <a:effectLst/>
                          <a:latin typeface="Lato"/>
                          <a:ea typeface="+mn-ea"/>
                        </a:rPr>
                        <a:t> medication cause both muscle and fat loss, but </a:t>
                      </a:r>
                      <a:r>
                        <a:rPr lang="en-US" altLang="ko-KR" sz="1200" b="1" i="0" u="none" strike="noStrike" baseline="0" dirty="0" err="1">
                          <a:solidFill>
                            <a:srgbClr val="B50937"/>
                          </a:solidFill>
                          <a:effectLst/>
                          <a:latin typeface="Lato"/>
                          <a:ea typeface="+mn-ea"/>
                        </a:rPr>
                        <a:t>Wegovy</a:t>
                      </a:r>
                      <a:r>
                        <a:rPr lang="en-US" altLang="ko-KR" sz="1200" b="1" i="0" u="none" strike="noStrike" baseline="0" dirty="0">
                          <a:solidFill>
                            <a:srgbClr val="B50937"/>
                          </a:solidFill>
                          <a:effectLst/>
                          <a:latin typeface="Lato"/>
                          <a:ea typeface="+mn-ea"/>
                        </a:rPr>
                        <a:t> stands out for preserving muscle while primarily reduction fat</a:t>
                      </a:r>
                      <a:endParaRPr lang="en-US" altLang="ko-KR" sz="1200" b="1" i="0" u="none" strike="noStrike" dirty="0">
                        <a:solidFill>
                          <a:srgbClr val="B50937"/>
                        </a:solidFill>
                        <a:effectLst/>
                        <a:latin typeface="Lato"/>
                        <a:ea typeface="+mn-ea"/>
                      </a:endParaRPr>
                    </a:p>
                    <a:p>
                      <a:pPr marL="0" indent="0" algn="l" fontAlgn="ctr">
                        <a:lnSpc>
                          <a:spcPct val="200000"/>
                        </a:lnSpc>
                        <a:buFont typeface="Arial" panose="020B0604020202020204" pitchFamily="34" charset="0"/>
                        <a:buNone/>
                      </a:pPr>
                      <a:endParaRPr lang="ko-KR" altLang="en-US" sz="1200" b="0" i="0" u="none" strike="noStrike" dirty="0">
                        <a:solidFill>
                          <a:schemeClr val="tx1">
                            <a:lumMod val="75000"/>
                            <a:lumOff val="25000"/>
                          </a:schemeClr>
                        </a:solidFill>
                        <a:effectLst/>
                        <a:latin typeface="Lato"/>
                        <a:ea typeface="+mn-ea"/>
                      </a:endParaRPr>
                    </a:p>
                  </a:txBody>
                  <a:tcPr marL="8583" marR="8583" marT="8583"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171450" marR="0" lvl="0" indent="-171450" algn="l" defTabSz="914400" rtl="0" eaLnBrk="1" fontAlgn="ctr" latinLnBrk="0" hangingPunct="1">
                        <a:lnSpc>
                          <a:spcPct val="150000"/>
                        </a:lnSpc>
                        <a:spcBef>
                          <a:spcPts val="0"/>
                        </a:spcBef>
                        <a:spcAft>
                          <a:spcPts val="0"/>
                        </a:spcAft>
                        <a:buClrTx/>
                        <a:buSzTx/>
                        <a:buFont typeface="Arial" panose="020B0604020202020204" pitchFamily="34" charset="0"/>
                        <a:buChar char="•"/>
                        <a:tabLst/>
                        <a:defRPr/>
                      </a:pPr>
                      <a:r>
                        <a:rPr lang="en-US" altLang="ko-KR" sz="1200" b="1" dirty="0">
                          <a:solidFill>
                            <a:srgbClr val="3C3C3A"/>
                          </a:solidFill>
                          <a:latin typeface="Lato"/>
                        </a:rPr>
                        <a:t>Muscle Protection:</a:t>
                      </a:r>
                      <a:r>
                        <a:rPr lang="en-US" altLang="ko-KR" sz="1200" dirty="0">
                          <a:solidFill>
                            <a:srgbClr val="3C3C3A"/>
                          </a:solidFill>
                          <a:latin typeface="Lato"/>
                        </a:rPr>
                        <a:t> Weight loss mainly from fat.</a:t>
                      </a:r>
                    </a:p>
                    <a:p>
                      <a:pPr marL="171450" marR="0" lvl="0" indent="-171450" algn="l" defTabSz="914400" rtl="0" eaLnBrk="1" fontAlgn="ctr" latinLnBrk="0" hangingPunct="1">
                        <a:lnSpc>
                          <a:spcPct val="150000"/>
                        </a:lnSpc>
                        <a:spcBef>
                          <a:spcPts val="0"/>
                        </a:spcBef>
                        <a:spcAft>
                          <a:spcPts val="0"/>
                        </a:spcAft>
                        <a:buClrTx/>
                        <a:buSzTx/>
                        <a:buFont typeface="Arial" panose="020B0604020202020204" pitchFamily="34" charset="0"/>
                        <a:buChar char="•"/>
                        <a:tabLst/>
                        <a:defRPr/>
                      </a:pPr>
                      <a:r>
                        <a:rPr lang="en-US" altLang="ko-KR" sz="1200" b="1" dirty="0">
                          <a:solidFill>
                            <a:srgbClr val="3C3C3A"/>
                          </a:solidFill>
                          <a:latin typeface="Lato"/>
                        </a:rPr>
                        <a:t>Slow and Steady Loss:</a:t>
                      </a:r>
                      <a:r>
                        <a:rPr lang="en-US" altLang="ko-KR" sz="1200" dirty="0">
                          <a:solidFill>
                            <a:srgbClr val="3C3C3A"/>
                          </a:solidFill>
                          <a:latin typeface="Lato"/>
                        </a:rPr>
                        <a:t> 1–2 kg per month, maintaining stability.</a:t>
                      </a:r>
                    </a:p>
                    <a:p>
                      <a:pPr marL="171450" marR="0" lvl="0" indent="-171450" algn="l" defTabSz="914400" rtl="0" eaLnBrk="1" fontAlgn="ctr" latinLnBrk="0" hangingPunct="1">
                        <a:lnSpc>
                          <a:spcPct val="150000"/>
                        </a:lnSpc>
                        <a:spcBef>
                          <a:spcPts val="0"/>
                        </a:spcBef>
                        <a:spcAft>
                          <a:spcPts val="0"/>
                        </a:spcAft>
                        <a:buClrTx/>
                        <a:buSzTx/>
                        <a:buFont typeface="Arial" panose="020B0604020202020204" pitchFamily="34" charset="0"/>
                        <a:buChar char="•"/>
                        <a:tabLst/>
                        <a:defRPr/>
                      </a:pPr>
                      <a:r>
                        <a:rPr lang="en-US" altLang="ko-KR" sz="1200" dirty="0">
                          <a:solidFill>
                            <a:srgbClr val="3C3C3A"/>
                          </a:solidFill>
                          <a:latin typeface="Lato"/>
                        </a:rPr>
                        <a:t>Fewer side effects compared to other diet medication</a:t>
                      </a:r>
                      <a:r>
                        <a:rPr lang="en-US" altLang="ko-KR" sz="1200" baseline="0" dirty="0">
                          <a:solidFill>
                            <a:srgbClr val="3C3C3A"/>
                          </a:solidFill>
                          <a:latin typeface="Lato"/>
                        </a:rPr>
                        <a:t>.</a:t>
                      </a:r>
                      <a:endParaRPr lang="en-US" altLang="ko-KR" sz="1200" kern="0" spc="-30" dirty="0">
                        <a:ln>
                          <a:solidFill>
                            <a:srgbClr val="B50937">
                              <a:alpha val="0"/>
                            </a:srgbClr>
                          </a:solidFill>
                        </a:ln>
                        <a:solidFill>
                          <a:srgbClr val="3C3C3A"/>
                        </a:solidFill>
                        <a:latin typeface="Lato"/>
                        <a:ea typeface="+mn-ea"/>
                      </a:endParaRPr>
                    </a:p>
                  </a:txBody>
                  <a:tcPr marL="8583" marR="8583" marT="8583"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171450" marR="0" lvl="0" indent="-171450" algn="l" defTabSz="914400" rtl="0" eaLnBrk="1" fontAlgn="ctr" latinLnBrk="0" hangingPunct="1">
                        <a:lnSpc>
                          <a:spcPct val="150000"/>
                        </a:lnSpc>
                        <a:spcBef>
                          <a:spcPts val="0"/>
                        </a:spcBef>
                        <a:spcAft>
                          <a:spcPts val="0"/>
                        </a:spcAft>
                        <a:buClrTx/>
                        <a:buSzTx/>
                        <a:buFont typeface="Arial" panose="020B0604020202020204" pitchFamily="34" charset="0"/>
                        <a:buChar char="•"/>
                        <a:tabLst/>
                        <a:defRPr/>
                      </a:pPr>
                      <a:r>
                        <a:rPr lang="en-US" altLang="ko-KR" sz="1200" b="1" dirty="0">
                          <a:solidFill>
                            <a:srgbClr val="3C3C3A"/>
                          </a:solidFill>
                          <a:latin typeface="Lato" panose="020B0604020202020204"/>
                        </a:rPr>
                        <a:t>Reported issues: </a:t>
                      </a:r>
                      <a:r>
                        <a:rPr lang="en-US" altLang="ko-KR" sz="1200" dirty="0">
                          <a:solidFill>
                            <a:srgbClr val="3C3C3A"/>
                          </a:solidFill>
                          <a:latin typeface="Lato" panose="020B0604020202020204"/>
                        </a:rPr>
                        <a:t>Nausea, reduced focus, fatigue.</a:t>
                      </a:r>
                    </a:p>
                    <a:p>
                      <a:pPr marL="171450" marR="0" lvl="0" indent="-171450" algn="l" defTabSz="914400" rtl="0" eaLnBrk="1" fontAlgn="ctr" latinLnBrk="0" hangingPunct="1">
                        <a:lnSpc>
                          <a:spcPct val="150000"/>
                        </a:lnSpc>
                        <a:spcBef>
                          <a:spcPts val="0"/>
                        </a:spcBef>
                        <a:spcAft>
                          <a:spcPts val="0"/>
                        </a:spcAft>
                        <a:buClrTx/>
                        <a:buSzTx/>
                        <a:buFont typeface="Arial" panose="020B0604020202020204" pitchFamily="34" charset="0"/>
                        <a:buChar char="•"/>
                        <a:tabLst/>
                        <a:defRPr/>
                      </a:pPr>
                      <a:r>
                        <a:rPr lang="en-US" altLang="ko-KR" sz="1200" b="1" dirty="0">
                          <a:solidFill>
                            <a:srgbClr val="3C3C3A"/>
                          </a:solidFill>
                          <a:latin typeface="Lato" panose="020B0604020202020204"/>
                        </a:rPr>
                        <a:t>Positive Feedback:</a:t>
                      </a:r>
                      <a:r>
                        <a:rPr lang="en-US" altLang="ko-KR" sz="1200" dirty="0">
                          <a:solidFill>
                            <a:srgbClr val="3C3C3A"/>
                          </a:solidFill>
                          <a:latin typeface="Lato" panose="020B0604020202020204"/>
                        </a:rPr>
                        <a:t> Many patients appreciate reduced appetite and smaller meal portions.</a:t>
                      </a:r>
                    </a:p>
                    <a:p>
                      <a:pPr marL="0" marR="0" lvl="0" indent="0" algn="l" defTabSz="914400" rtl="0" eaLnBrk="1" fontAlgn="ctr" latinLnBrk="0" hangingPunct="1">
                        <a:lnSpc>
                          <a:spcPct val="150000"/>
                        </a:lnSpc>
                        <a:spcBef>
                          <a:spcPts val="0"/>
                        </a:spcBef>
                        <a:spcAft>
                          <a:spcPts val="0"/>
                        </a:spcAft>
                        <a:buClrTx/>
                        <a:buSzTx/>
                        <a:buFont typeface="Arial" panose="020B0604020202020204" pitchFamily="34" charset="0"/>
                        <a:buNone/>
                        <a:tabLst/>
                        <a:defRPr/>
                      </a:pPr>
                      <a:endParaRPr lang="en-US" altLang="ko-KR" sz="1200" dirty="0">
                        <a:solidFill>
                          <a:srgbClr val="3C3C3A"/>
                        </a:solidFill>
                        <a:latin typeface="Lato" panose="020B0604020202020204"/>
                      </a:endParaRPr>
                    </a:p>
                    <a:p>
                      <a:pPr marL="171450" marR="0" lvl="0" indent="-171450" algn="l" defTabSz="914400" rtl="0" eaLnBrk="1" fontAlgn="ctr" latinLnBrk="0" hangingPunct="1">
                        <a:lnSpc>
                          <a:spcPct val="150000"/>
                        </a:lnSpc>
                        <a:spcBef>
                          <a:spcPts val="0"/>
                        </a:spcBef>
                        <a:spcAft>
                          <a:spcPts val="0"/>
                        </a:spcAft>
                        <a:buClrTx/>
                        <a:buSzTx/>
                        <a:buFont typeface="Arial" panose="020B0604020202020204" pitchFamily="34" charset="0"/>
                        <a:buChar char="•"/>
                        <a:tabLst/>
                        <a:defRPr/>
                      </a:pPr>
                      <a:r>
                        <a:rPr lang="en-US" altLang="ko-KR" sz="1200" dirty="0">
                          <a:solidFill>
                            <a:srgbClr val="3C3C3A"/>
                          </a:solidFill>
                          <a:latin typeface="Lato" panose="020B0604020202020204"/>
                        </a:rPr>
                        <a:t>Other: After</a:t>
                      </a:r>
                      <a:r>
                        <a:rPr lang="en-US" altLang="ko-KR" sz="1200" baseline="0" dirty="0">
                          <a:solidFill>
                            <a:srgbClr val="3C3C3A"/>
                          </a:solidFill>
                          <a:latin typeface="Lato" panose="020B0604020202020204"/>
                        </a:rPr>
                        <a:t> </a:t>
                      </a:r>
                      <a:r>
                        <a:rPr lang="en-US" altLang="ko-KR" sz="1200" baseline="0" dirty="0" err="1">
                          <a:solidFill>
                            <a:srgbClr val="3C3C3A"/>
                          </a:solidFill>
                          <a:latin typeface="Lato" panose="020B0604020202020204"/>
                        </a:rPr>
                        <a:t>Wegovy</a:t>
                      </a:r>
                      <a:r>
                        <a:rPr lang="en-US" altLang="ko-KR" sz="1200" baseline="0" dirty="0">
                          <a:solidFill>
                            <a:srgbClr val="3C3C3A"/>
                          </a:solidFill>
                          <a:latin typeface="Lato" panose="020B0604020202020204"/>
                        </a:rPr>
                        <a:t> was launched in Korea in October 2024, one patient at this hospital discontinued its use due to skin rash.</a:t>
                      </a:r>
                      <a:endParaRPr lang="en-US" altLang="ko-KR" sz="1200" b="0" i="0" u="none" strike="noStrike" dirty="0">
                        <a:solidFill>
                          <a:srgbClr val="3C3C3A"/>
                        </a:solidFill>
                        <a:effectLst/>
                        <a:latin typeface="Lato"/>
                        <a:ea typeface="+mn-ea"/>
                      </a:endParaRPr>
                    </a:p>
                  </a:txBody>
                  <a:tcPr marL="8583" marR="8583" marT="8583"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42589"/>
                  </a:ext>
                </a:extLst>
              </a:tr>
            </a:tbl>
          </a:graphicData>
        </a:graphic>
      </p:graphicFrame>
      <p:sp>
        <p:nvSpPr>
          <p:cNvPr id="41" name="Rectangle 40"/>
          <p:cNvSpPr/>
          <p:nvPr/>
        </p:nvSpPr>
        <p:spPr>
          <a:xfrm>
            <a:off x="457200" y="320040"/>
            <a:ext cx="31546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20040"/>
            <a:ext cx="3154680" cy="566928"/>
          </a:xfrm>
          <a:prstGeom prst="rect">
            <a:avLst/>
          </a:prstGeom>
          <a:noFill/>
        </p:spPr>
        <p:txBody>
          <a:bodyPr wrap="square" lIns="0" rIns="0" tIns="0" bIns="0" anchor="ctr">
            <a:spAutoFit/>
          </a:bodyPr>
          <a:lstStyle/>
          <a:p>
            <a:pPr algn="ctr"/>
            <a:r>
              <a:rPr sz="2200" b="1" i="0">
                <a:solidFill>
                  <a:srgbClr val="FFFFFF"/>
                </a:solidFill>
                <a:latin typeface="Calibri"/>
              </a:rPr>
              <a:t>Wegovy Patient Data</a:t>
            </a:r>
          </a:p>
        </p:txBody>
      </p:sp>
      <p:sp>
        <p:nvSpPr>
          <p:cNvPr id="43" name="TextBox 42"/>
          <p:cNvSpPr txBox="1"/>
          <p:nvPr/>
        </p:nvSpPr>
        <p:spPr>
          <a:xfrm>
            <a:off x="3840480" y="320040"/>
            <a:ext cx="6065215" cy="566928"/>
          </a:xfrm>
          <a:prstGeom prst="rect">
            <a:avLst/>
          </a:prstGeom>
          <a:noFill/>
        </p:spPr>
        <p:txBody>
          <a:bodyPr wrap="square" lIns="0" rIns="0" tIns="0" bIns="0" anchor="ctr">
            <a:spAutoFit/>
          </a:bodyPr>
          <a:lstStyle/>
          <a:p>
            <a:pPr algn="l"/>
            <a:r>
              <a:rPr sz="900" b="1" i="0">
                <a:solidFill>
                  <a:srgbClr val="B50937"/>
                </a:solidFill>
                <a:latin typeface="Calibri"/>
              </a:rPr>
              <a:t>SESSION 5</a:t>
            </a:r>
          </a:p>
          <a:p>
            <a:pPr algn="l"/>
            <a:r>
              <a:rPr sz="900" b="0" i="0">
                <a:solidFill>
                  <a:srgbClr val="5E6470"/>
                </a:solidFill>
                <a:latin typeface="Calibri"/>
              </a:rPr>
              <a:t>GLP-1 Therapy  ·  Direct Feedback</a:t>
            </a:r>
          </a:p>
        </p:txBody>
      </p:sp>
      <p:pic>
        <p:nvPicPr>
          <p:cNvPr id="44" name="Picture 43" descr="logo_red.png"/>
          <p:cNvPicPr>
            <a:picLocks noChangeAspect="1"/>
          </p:cNvPicPr>
          <p:nvPr/>
        </p:nvPicPr>
        <p:blipFill>
          <a:blip r:embed="rId3"/>
          <a:stretch>
            <a:fillRect/>
          </a:stretch>
        </p:blipFill>
        <p:spPr>
          <a:xfrm>
            <a:off x="10436918" y="420624"/>
            <a:ext cx="1297577" cy="365760"/>
          </a:xfrm>
          <a:prstGeom prst="rect">
            <a:avLst/>
          </a:prstGeom>
        </p:spPr>
      </p:pic>
      <p:sp>
        <p:nvSpPr>
          <p:cNvPr id="45" name="TextBox 44"/>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46" name="TextBox 45"/>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73</a:t>
            </a:r>
          </a:p>
        </p:txBody>
      </p:sp>
    </p:spTree>
    <p:extLst>
      <p:ext uri="{BB962C8B-B14F-4D97-AF65-F5344CB8AC3E}">
        <p14:creationId xmlns:p14="http://schemas.microsoft.com/office/powerpoint/2010/main" val="30684525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9" name="사각형: 둥근 위쪽 모서리 110">
            <a:extLst>
              <a:ext uri="{FF2B5EF4-FFF2-40B4-BE49-F238E27FC236}">
                <a16:creationId xmlns:a16="http://schemas.microsoft.com/office/drawing/2014/main" id="{3C47DBCF-564B-C424-4E4D-F2A26F250C3C}"/>
              </a:ext>
            </a:extLst>
          </p:cNvPr>
          <p:cNvSpPr/>
          <p:nvPr/>
        </p:nvSpPr>
        <p:spPr>
          <a:xfrm>
            <a:off x="665047" y="2253257"/>
            <a:ext cx="5207883" cy="3338196"/>
          </a:xfrm>
          <a:prstGeom prst="round2SameRect">
            <a:avLst>
              <a:gd name="adj1" fmla="val 0"/>
              <a:gd name="adj2" fmla="val 5282"/>
            </a:avLst>
          </a:prstGeom>
          <a:solidFill>
            <a:srgbClr val="F4F4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B50937">
                    <a:alpha val="0"/>
                  </a:srgbClr>
                </a:solidFill>
              </a:ln>
              <a:latin typeface="에스코어 드림 5 Medium" panose="020B0503030302020204" pitchFamily="34" charset="-127"/>
              <a:ea typeface="에스코어 드림 5 Medium" panose="020B0503030302020204" pitchFamily="34" charset="-127"/>
            </a:endParaRPr>
          </a:p>
        </p:txBody>
      </p:sp>
      <p:sp>
        <p:nvSpPr>
          <p:cNvPr id="11" name="TextBox 10">
            <a:extLst>
              <a:ext uri="{FF2B5EF4-FFF2-40B4-BE49-F238E27FC236}">
                <a16:creationId xmlns:a16="http://schemas.microsoft.com/office/drawing/2014/main" id="{7514497B-8BDE-3FE7-628A-C9AA8C104561}"/>
              </a:ext>
            </a:extLst>
          </p:cNvPr>
          <p:cNvSpPr txBox="1"/>
          <p:nvPr/>
        </p:nvSpPr>
        <p:spPr>
          <a:xfrm>
            <a:off x="1499992" y="1935025"/>
            <a:ext cx="3547145" cy="280044"/>
          </a:xfrm>
          <a:prstGeom prst="rect">
            <a:avLst/>
          </a:prstGeom>
          <a:noFill/>
        </p:spPr>
        <p:txBody>
          <a:bodyPr wrap="square" rtlCol="0" anchor="ctr" anchorCtr="0">
            <a:noAutofit/>
          </a:bodyPr>
          <a:lstStyle/>
          <a:p>
            <a:pPr marR="0" lvl="0" indent="0" algn="ctr" fontAlgn="auto">
              <a:lnSpc>
                <a:spcPct val="100000"/>
              </a:lnSpc>
              <a:spcBef>
                <a:spcPts val="0"/>
              </a:spcBef>
              <a:spcAft>
                <a:spcPts val="0"/>
              </a:spcAft>
              <a:buClrTx/>
              <a:buSzTx/>
              <a:buFontTx/>
              <a:buNone/>
              <a:tabLst/>
              <a:defRPr/>
            </a:pPr>
            <a:r>
              <a:rPr lang="en-US" altLang="ko-KR" sz="1400" b="1" dirty="0">
                <a:ln>
                  <a:solidFill>
                    <a:srgbClr val="B50937">
                      <a:alpha val="0"/>
                    </a:srgbClr>
                  </a:solidFill>
                </a:ln>
                <a:solidFill>
                  <a:srgbClr val="656E7D"/>
                </a:solidFill>
                <a:latin typeface="에스코어 드림 6 Bold" panose="020B0703030302020204" pitchFamily="34" charset="-127"/>
                <a:ea typeface="에스코어 드림 6 Bold" panose="020B0703030302020204" pitchFamily="34" charset="-127"/>
                <a:cs typeface="Lato Black" panose="020F0502020204030203" pitchFamily="34" charset="0"/>
              </a:rPr>
              <a:t>Doctor’s Perspective</a:t>
            </a:r>
            <a:endParaRPr lang="ko-KR" altLang="en-US" sz="1400" b="1" dirty="0">
              <a:ln>
                <a:solidFill>
                  <a:srgbClr val="B50937">
                    <a:alpha val="0"/>
                  </a:srgbClr>
                </a:solidFill>
              </a:ln>
              <a:solidFill>
                <a:srgbClr val="656E7D"/>
              </a:solidFill>
              <a:latin typeface="에스코어 드림 6 Bold" panose="020B0703030302020204" pitchFamily="34" charset="-127"/>
              <a:ea typeface="에스코어 드림 6 Bold" panose="020B0703030302020204" pitchFamily="34" charset="-127"/>
              <a:cs typeface="Lato Black" panose="020F0502020204030203" pitchFamily="34" charset="0"/>
            </a:endParaRPr>
          </a:p>
        </p:txBody>
      </p:sp>
      <p:sp>
        <p:nvSpPr>
          <p:cNvPr id="12" name="자유형: 도형 99">
            <a:extLst>
              <a:ext uri="{FF2B5EF4-FFF2-40B4-BE49-F238E27FC236}">
                <a16:creationId xmlns:a16="http://schemas.microsoft.com/office/drawing/2014/main" id="{D8888880-4BF0-400E-4F28-D0141D3743DB}"/>
              </a:ext>
            </a:extLst>
          </p:cNvPr>
          <p:cNvSpPr/>
          <p:nvPr/>
        </p:nvSpPr>
        <p:spPr>
          <a:xfrm>
            <a:off x="665047" y="1860906"/>
            <a:ext cx="5207883" cy="221068"/>
          </a:xfrm>
          <a:custGeom>
            <a:avLst/>
            <a:gdLst>
              <a:gd name="connsiteX0" fmla="*/ 209296 w 4602646"/>
              <a:gd name="connsiteY0" fmla="*/ 0 h 206301"/>
              <a:gd name="connsiteX1" fmla="*/ 1276096 w 4602646"/>
              <a:gd name="connsiteY1" fmla="*/ 0 h 206301"/>
              <a:gd name="connsiteX2" fmla="*/ 1802007 w 4602646"/>
              <a:gd name="connsiteY2" fmla="*/ 0 h 206301"/>
              <a:gd name="connsiteX3" fmla="*/ 2800639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7" fmla="*/ 3078103 w 4602646"/>
              <a:gd name="connsiteY7" fmla="*/ 206301 h 206301"/>
              <a:gd name="connsiteX8" fmla="*/ 2591343 w 4602646"/>
              <a:gd name="connsiteY8" fmla="*/ 206301 h 206301"/>
              <a:gd name="connsiteX9" fmla="*/ 2011303 w 4602646"/>
              <a:gd name="connsiteY9" fmla="*/ 206301 h 206301"/>
              <a:gd name="connsiteX10" fmla="*/ 1066800 w 4602646"/>
              <a:gd name="connsiteY10" fmla="*/ 206301 h 206301"/>
              <a:gd name="connsiteX11" fmla="*/ 0 w 4602646"/>
              <a:gd name="connsiteY11" fmla="*/ 206301 h 206301"/>
              <a:gd name="connsiteX12" fmla="*/ 209296 w 4602646"/>
              <a:gd name="connsiteY12" fmla="*/ 0 h 206301"/>
              <a:gd name="connsiteX0" fmla="*/ 0 w 4602646"/>
              <a:gd name="connsiteY0" fmla="*/ 206301 h 297741"/>
              <a:gd name="connsiteX1" fmla="*/ 209296 w 4602646"/>
              <a:gd name="connsiteY1" fmla="*/ 0 h 297741"/>
              <a:gd name="connsiteX2" fmla="*/ 1276096 w 4602646"/>
              <a:gd name="connsiteY2" fmla="*/ 0 h 297741"/>
              <a:gd name="connsiteX3" fmla="*/ 1802007 w 4602646"/>
              <a:gd name="connsiteY3" fmla="*/ 0 h 297741"/>
              <a:gd name="connsiteX4" fmla="*/ 2800639 w 4602646"/>
              <a:gd name="connsiteY4" fmla="*/ 0 h 297741"/>
              <a:gd name="connsiteX5" fmla="*/ 2868807 w 4602646"/>
              <a:gd name="connsiteY5" fmla="*/ 0 h 297741"/>
              <a:gd name="connsiteX6" fmla="*/ 4393350 w 4602646"/>
              <a:gd name="connsiteY6" fmla="*/ 0 h 297741"/>
              <a:gd name="connsiteX7" fmla="*/ 4602646 w 4602646"/>
              <a:gd name="connsiteY7" fmla="*/ 206301 h 297741"/>
              <a:gd name="connsiteX8" fmla="*/ 3078103 w 4602646"/>
              <a:gd name="connsiteY8" fmla="*/ 206301 h 297741"/>
              <a:gd name="connsiteX9" fmla="*/ 2591343 w 4602646"/>
              <a:gd name="connsiteY9" fmla="*/ 206301 h 297741"/>
              <a:gd name="connsiteX10" fmla="*/ 2011303 w 4602646"/>
              <a:gd name="connsiteY10" fmla="*/ 206301 h 297741"/>
              <a:gd name="connsiteX11" fmla="*/ 1066800 w 4602646"/>
              <a:gd name="connsiteY11" fmla="*/ 206301 h 297741"/>
              <a:gd name="connsiteX12" fmla="*/ 91440 w 4602646"/>
              <a:gd name="connsiteY12" fmla="*/ 297741 h 29774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10" fmla="*/ 2011303 w 4602646"/>
              <a:gd name="connsiteY10" fmla="*/ 206301 h 206301"/>
              <a:gd name="connsiteX11" fmla="*/ 1066800 w 4602646"/>
              <a:gd name="connsiteY11"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10" fmla="*/ 2011303 w 4602646"/>
              <a:gd name="connsiteY10"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0" fmla="*/ 0 w 4602646"/>
              <a:gd name="connsiteY0" fmla="*/ 234876 h 234876"/>
              <a:gd name="connsiteX1" fmla="*/ 209296 w 4602646"/>
              <a:gd name="connsiteY1" fmla="*/ 28575 h 234876"/>
              <a:gd name="connsiteX2" fmla="*/ 1276096 w 4602646"/>
              <a:gd name="connsiteY2" fmla="*/ 28575 h 234876"/>
              <a:gd name="connsiteX3" fmla="*/ 1802007 w 4602646"/>
              <a:gd name="connsiteY3" fmla="*/ 28575 h 234876"/>
              <a:gd name="connsiteX4" fmla="*/ 2868807 w 4602646"/>
              <a:gd name="connsiteY4" fmla="*/ 28575 h 234876"/>
              <a:gd name="connsiteX5" fmla="*/ 2916723 w 4602646"/>
              <a:gd name="connsiteY5" fmla="*/ 0 h 234876"/>
              <a:gd name="connsiteX6" fmla="*/ 4393350 w 4602646"/>
              <a:gd name="connsiteY6" fmla="*/ 28575 h 234876"/>
              <a:gd name="connsiteX7" fmla="*/ 4602646 w 4602646"/>
              <a:gd name="connsiteY7" fmla="*/ 234876 h 234876"/>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0" fmla="*/ 0 w 4602646"/>
              <a:gd name="connsiteY0" fmla="*/ 206301 h 206301"/>
              <a:gd name="connsiteX1" fmla="*/ 209296 w 4602646"/>
              <a:gd name="connsiteY1" fmla="*/ 0 h 206301"/>
              <a:gd name="connsiteX2" fmla="*/ 1276096 w 4602646"/>
              <a:gd name="connsiteY2" fmla="*/ 0 h 206301"/>
              <a:gd name="connsiteX3" fmla="*/ 2868807 w 4602646"/>
              <a:gd name="connsiteY3" fmla="*/ 0 h 206301"/>
              <a:gd name="connsiteX4" fmla="*/ 4393350 w 4602646"/>
              <a:gd name="connsiteY4" fmla="*/ 0 h 206301"/>
              <a:gd name="connsiteX5" fmla="*/ 4602646 w 4602646"/>
              <a:gd name="connsiteY5" fmla="*/ 206301 h 206301"/>
              <a:gd name="connsiteX0" fmla="*/ 0 w 4602646"/>
              <a:gd name="connsiteY0" fmla="*/ 206301 h 206301"/>
              <a:gd name="connsiteX1" fmla="*/ 209296 w 4602646"/>
              <a:gd name="connsiteY1" fmla="*/ 0 h 206301"/>
              <a:gd name="connsiteX2" fmla="*/ 1276096 w 4602646"/>
              <a:gd name="connsiteY2" fmla="*/ 0 h 206301"/>
              <a:gd name="connsiteX3" fmla="*/ 4393350 w 4602646"/>
              <a:gd name="connsiteY3" fmla="*/ 0 h 206301"/>
              <a:gd name="connsiteX4" fmla="*/ 4602646 w 4602646"/>
              <a:gd name="connsiteY4" fmla="*/ 206301 h 206301"/>
              <a:gd name="connsiteX0" fmla="*/ 0 w 4602646"/>
              <a:gd name="connsiteY0" fmla="*/ 206301 h 206301"/>
              <a:gd name="connsiteX1" fmla="*/ 209296 w 4602646"/>
              <a:gd name="connsiteY1" fmla="*/ 0 h 206301"/>
              <a:gd name="connsiteX2" fmla="*/ 4393350 w 4602646"/>
              <a:gd name="connsiteY2" fmla="*/ 0 h 206301"/>
              <a:gd name="connsiteX3" fmla="*/ 4602646 w 4602646"/>
              <a:gd name="connsiteY3" fmla="*/ 206301 h 206301"/>
            </a:gdLst>
            <a:ahLst/>
            <a:cxnLst>
              <a:cxn ang="0">
                <a:pos x="connsiteX0" y="connsiteY0"/>
              </a:cxn>
              <a:cxn ang="0">
                <a:pos x="connsiteX1" y="connsiteY1"/>
              </a:cxn>
              <a:cxn ang="0">
                <a:pos x="connsiteX2" y="connsiteY2"/>
              </a:cxn>
              <a:cxn ang="0">
                <a:pos x="connsiteX3" y="connsiteY3"/>
              </a:cxn>
            </a:cxnLst>
            <a:rect l="l" t="t" r="r" b="b"/>
            <a:pathLst>
              <a:path w="4602646" h="206301">
                <a:moveTo>
                  <a:pt x="0" y="206301"/>
                </a:moveTo>
                <a:cubicBezTo>
                  <a:pt x="0" y="92364"/>
                  <a:pt x="93705" y="0"/>
                  <a:pt x="209296" y="0"/>
                </a:cubicBezTo>
                <a:lnTo>
                  <a:pt x="4393350" y="0"/>
                </a:lnTo>
                <a:cubicBezTo>
                  <a:pt x="4508941" y="0"/>
                  <a:pt x="4602646" y="92364"/>
                  <a:pt x="4602646" y="206301"/>
                </a:cubicBezTo>
              </a:path>
            </a:pathLst>
          </a:custGeom>
          <a:noFill/>
          <a:ln w="28575">
            <a:solidFill>
              <a:srgbClr val="656E7D"/>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chorCtr="0">
            <a:noAutofit/>
          </a:bodyPr>
          <a:lstStyle/>
          <a:p>
            <a:pPr algn="ctr"/>
            <a:endParaRPr lang="ko-KR" altLang="en-US" sz="4000" dirty="0">
              <a:ln>
                <a:solidFill>
                  <a:srgbClr val="B50937">
                    <a:alpha val="0"/>
                  </a:srgbClr>
                </a:solidFill>
              </a:ln>
              <a:latin typeface="에스코어 드림 5 Medium" panose="020B0503030302020204" pitchFamily="34" charset="-127"/>
              <a:ea typeface="에스코어 드림 5 Medium" panose="020B0503030302020204" pitchFamily="34" charset="-127"/>
              <a:cs typeface="맑은 고딕" panose="02000503000000020004" pitchFamily="2" charset="-127"/>
            </a:endParaRPr>
          </a:p>
        </p:txBody>
      </p:sp>
      <p:cxnSp>
        <p:nvCxnSpPr>
          <p:cNvPr id="13" name="직선 연결선 82">
            <a:extLst>
              <a:ext uri="{FF2B5EF4-FFF2-40B4-BE49-F238E27FC236}">
                <a16:creationId xmlns:a16="http://schemas.microsoft.com/office/drawing/2014/main" id="{0BFB65B4-613E-78C4-A574-49BF5A5B632A}"/>
              </a:ext>
            </a:extLst>
          </p:cNvPr>
          <p:cNvCxnSpPr>
            <a:cxnSpLocks/>
          </p:cNvCxnSpPr>
          <p:nvPr/>
        </p:nvCxnSpPr>
        <p:spPr>
          <a:xfrm>
            <a:off x="664380" y="2255209"/>
            <a:ext cx="5209217" cy="0"/>
          </a:xfrm>
          <a:prstGeom prst="line">
            <a:avLst/>
          </a:prstGeom>
          <a:ln w="6350">
            <a:solidFill>
              <a:schemeClr val="bg1">
                <a:lumMod val="75000"/>
                <a:alpha val="90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746634" y="2441832"/>
            <a:ext cx="5126630" cy="2677656"/>
          </a:xfrm>
          <a:prstGeom prst="rect">
            <a:avLst/>
          </a:prstGeom>
          <a:noFill/>
        </p:spPr>
        <p:txBody>
          <a:bodyPr wrap="square" rtlCol="0">
            <a:spAutoFit/>
          </a:bodyPr>
          <a:lstStyle/>
          <a:p>
            <a:pPr marL="285750" indent="-285750">
              <a:lnSpc>
                <a:spcPct val="200000"/>
              </a:lnSpc>
              <a:buFont typeface="Wingdings" panose="05000000000000000000" pitchFamily="2" charset="2"/>
              <a:buChar char="l"/>
            </a:pPr>
            <a:r>
              <a:rPr lang="en-US" altLang="ko-KR" sz="1400" dirty="0">
                <a:latin typeface="Lato" panose="020B0604020202020204"/>
              </a:rPr>
              <a:t>Patients with </a:t>
            </a:r>
            <a:r>
              <a:rPr lang="en-US" altLang="ko-KR" sz="1400" b="1" dirty="0">
                <a:latin typeface="Lato" panose="020B0604020202020204"/>
              </a:rPr>
              <a:t>low BMI </a:t>
            </a:r>
            <a:r>
              <a:rPr lang="en-US" altLang="ko-KR" sz="1400" dirty="0">
                <a:latin typeface="Lato" panose="020B0604020202020204"/>
              </a:rPr>
              <a:t>frequently </a:t>
            </a:r>
            <a:r>
              <a:rPr lang="en-US" altLang="ko-KR" sz="1400" b="1" dirty="0">
                <a:latin typeface="Lato" panose="020B0604020202020204"/>
              </a:rPr>
              <a:t>struggle with muscle deficiency</a:t>
            </a:r>
            <a:r>
              <a:rPr lang="en-US" altLang="ko-KR" sz="1400" dirty="0">
                <a:latin typeface="Lato" panose="020B0604020202020204"/>
              </a:rPr>
              <a:t>, and </a:t>
            </a:r>
            <a:r>
              <a:rPr lang="en-US" altLang="ko-KR" sz="1400" b="1" dirty="0" err="1">
                <a:solidFill>
                  <a:srgbClr val="B50937"/>
                </a:solidFill>
                <a:latin typeface="Lato" panose="020B0604020202020204"/>
              </a:rPr>
              <a:t>Wegovy</a:t>
            </a:r>
            <a:r>
              <a:rPr lang="en-US" altLang="ko-KR" sz="1400" b="1" dirty="0">
                <a:solidFill>
                  <a:srgbClr val="B50937"/>
                </a:solidFill>
                <a:latin typeface="Lato" panose="020B0604020202020204"/>
              </a:rPr>
              <a:t> could be a solution</a:t>
            </a:r>
            <a:r>
              <a:rPr lang="en-US" altLang="ko-KR" sz="1400" dirty="0">
                <a:latin typeface="Lato" panose="020B0604020202020204"/>
              </a:rPr>
              <a:t>.</a:t>
            </a:r>
          </a:p>
          <a:p>
            <a:pPr marL="285750" indent="-285750">
              <a:lnSpc>
                <a:spcPct val="200000"/>
              </a:lnSpc>
              <a:buFont typeface="Wingdings" panose="05000000000000000000" pitchFamily="2" charset="2"/>
              <a:buChar char="l"/>
            </a:pPr>
            <a:r>
              <a:rPr lang="en-US" altLang="ko-KR" sz="1400" b="1" dirty="0">
                <a:latin typeface="Lato" panose="020B0604020202020204"/>
              </a:rPr>
              <a:t>Muscle loss during dieting can lead to additional issues</a:t>
            </a:r>
            <a:r>
              <a:rPr lang="en-US" altLang="ko-KR" sz="1400" dirty="0">
                <a:latin typeface="Lato" panose="020B0604020202020204"/>
              </a:rPr>
              <a:t>, such as mental health challenges.</a:t>
            </a:r>
          </a:p>
          <a:p>
            <a:pPr marL="285750" indent="-285750">
              <a:lnSpc>
                <a:spcPct val="200000"/>
              </a:lnSpc>
              <a:buFont typeface="Wingdings" panose="05000000000000000000" pitchFamily="2" charset="2"/>
              <a:buChar char="l"/>
            </a:pPr>
            <a:r>
              <a:rPr lang="en-US" altLang="ko-KR" sz="1400" dirty="0">
                <a:latin typeface="Lato" panose="020B0604020202020204"/>
              </a:rPr>
              <a:t>Patients with diabetes-related edema experienced </a:t>
            </a:r>
            <a:r>
              <a:rPr lang="en-US" altLang="ko-KR" sz="1400" b="1" dirty="0">
                <a:solidFill>
                  <a:srgbClr val="B50937"/>
                </a:solidFill>
                <a:latin typeface="Lato" panose="020B0604020202020204"/>
              </a:rPr>
              <a:t>swelling reduction with GLP-1 treatment.</a:t>
            </a:r>
          </a:p>
        </p:txBody>
      </p:sp>
      <p:sp>
        <p:nvSpPr>
          <p:cNvPr id="16" name="사각형: 둥근 위쪽 모서리 110">
            <a:extLst>
              <a:ext uri="{FF2B5EF4-FFF2-40B4-BE49-F238E27FC236}">
                <a16:creationId xmlns:a16="http://schemas.microsoft.com/office/drawing/2014/main" id="{3C47DBCF-564B-C424-4E4D-F2A26F250C3C}"/>
              </a:ext>
            </a:extLst>
          </p:cNvPr>
          <p:cNvSpPr/>
          <p:nvPr/>
        </p:nvSpPr>
        <p:spPr>
          <a:xfrm>
            <a:off x="6318765" y="2253257"/>
            <a:ext cx="5207883" cy="3338196"/>
          </a:xfrm>
          <a:prstGeom prst="round2SameRect">
            <a:avLst>
              <a:gd name="adj1" fmla="val 0"/>
              <a:gd name="adj2" fmla="val 5282"/>
            </a:avLst>
          </a:prstGeom>
          <a:solidFill>
            <a:srgbClr val="F4F4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B50937">
                    <a:alpha val="0"/>
                  </a:srgbClr>
                </a:solidFill>
              </a:ln>
              <a:latin typeface="에스코어 드림 5 Medium" panose="020B0503030302020204" pitchFamily="34" charset="-127"/>
              <a:ea typeface="에스코어 드림 5 Medium" panose="020B0503030302020204" pitchFamily="34" charset="-127"/>
            </a:endParaRPr>
          </a:p>
        </p:txBody>
      </p:sp>
      <p:sp>
        <p:nvSpPr>
          <p:cNvPr id="17" name="TextBox 16">
            <a:extLst>
              <a:ext uri="{FF2B5EF4-FFF2-40B4-BE49-F238E27FC236}">
                <a16:creationId xmlns:a16="http://schemas.microsoft.com/office/drawing/2014/main" id="{7514497B-8BDE-3FE7-628A-C9AA8C104561}"/>
              </a:ext>
            </a:extLst>
          </p:cNvPr>
          <p:cNvSpPr txBox="1"/>
          <p:nvPr/>
        </p:nvSpPr>
        <p:spPr>
          <a:xfrm>
            <a:off x="7153710" y="1935025"/>
            <a:ext cx="3547145" cy="280044"/>
          </a:xfrm>
          <a:prstGeom prst="rect">
            <a:avLst/>
          </a:prstGeom>
          <a:noFill/>
        </p:spPr>
        <p:txBody>
          <a:bodyPr wrap="square" rtlCol="0" anchor="ctr" anchorCtr="0">
            <a:noAutofit/>
          </a:bodyPr>
          <a:lstStyle/>
          <a:p>
            <a:pPr marR="0" lvl="0" indent="0" algn="ctr" fontAlgn="auto">
              <a:lnSpc>
                <a:spcPct val="100000"/>
              </a:lnSpc>
              <a:spcBef>
                <a:spcPts val="0"/>
              </a:spcBef>
              <a:spcAft>
                <a:spcPts val="0"/>
              </a:spcAft>
              <a:buClrTx/>
              <a:buSzTx/>
              <a:buFontTx/>
              <a:buNone/>
              <a:tabLst/>
              <a:defRPr/>
            </a:pPr>
            <a:r>
              <a:rPr lang="en-US" altLang="ko-KR" sz="1400" b="1" dirty="0">
                <a:ln>
                  <a:solidFill>
                    <a:srgbClr val="B50937">
                      <a:alpha val="0"/>
                    </a:srgbClr>
                  </a:solidFill>
                </a:ln>
                <a:solidFill>
                  <a:srgbClr val="656E7D"/>
                </a:solidFill>
                <a:latin typeface="에스코어 드림 6 Bold" panose="020B0703030302020204" pitchFamily="34" charset="-127"/>
                <a:ea typeface="에스코어 드림 6 Bold" panose="020B0703030302020204" pitchFamily="34" charset="-127"/>
                <a:cs typeface="Lato Black" panose="020F0502020204030203" pitchFamily="34" charset="0"/>
              </a:rPr>
              <a:t>Other Notes</a:t>
            </a:r>
            <a:endParaRPr lang="ko-KR" altLang="en-US" sz="1400" b="1" dirty="0">
              <a:ln>
                <a:solidFill>
                  <a:srgbClr val="B50937">
                    <a:alpha val="0"/>
                  </a:srgbClr>
                </a:solidFill>
              </a:ln>
              <a:solidFill>
                <a:srgbClr val="656E7D"/>
              </a:solidFill>
              <a:latin typeface="에스코어 드림 6 Bold" panose="020B0703030302020204" pitchFamily="34" charset="-127"/>
              <a:ea typeface="에스코어 드림 6 Bold" panose="020B0703030302020204" pitchFamily="34" charset="-127"/>
              <a:cs typeface="Lato Black" panose="020F0502020204030203" pitchFamily="34" charset="0"/>
            </a:endParaRPr>
          </a:p>
        </p:txBody>
      </p:sp>
      <p:sp>
        <p:nvSpPr>
          <p:cNvPr id="18" name="자유형: 도형 99">
            <a:extLst>
              <a:ext uri="{FF2B5EF4-FFF2-40B4-BE49-F238E27FC236}">
                <a16:creationId xmlns:a16="http://schemas.microsoft.com/office/drawing/2014/main" id="{D8888880-4BF0-400E-4F28-D0141D3743DB}"/>
              </a:ext>
            </a:extLst>
          </p:cNvPr>
          <p:cNvSpPr/>
          <p:nvPr/>
        </p:nvSpPr>
        <p:spPr>
          <a:xfrm>
            <a:off x="6318765" y="1860906"/>
            <a:ext cx="5207883" cy="221068"/>
          </a:xfrm>
          <a:custGeom>
            <a:avLst/>
            <a:gdLst>
              <a:gd name="connsiteX0" fmla="*/ 209296 w 4602646"/>
              <a:gd name="connsiteY0" fmla="*/ 0 h 206301"/>
              <a:gd name="connsiteX1" fmla="*/ 1276096 w 4602646"/>
              <a:gd name="connsiteY1" fmla="*/ 0 h 206301"/>
              <a:gd name="connsiteX2" fmla="*/ 1802007 w 4602646"/>
              <a:gd name="connsiteY2" fmla="*/ 0 h 206301"/>
              <a:gd name="connsiteX3" fmla="*/ 2800639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7" fmla="*/ 3078103 w 4602646"/>
              <a:gd name="connsiteY7" fmla="*/ 206301 h 206301"/>
              <a:gd name="connsiteX8" fmla="*/ 2591343 w 4602646"/>
              <a:gd name="connsiteY8" fmla="*/ 206301 h 206301"/>
              <a:gd name="connsiteX9" fmla="*/ 2011303 w 4602646"/>
              <a:gd name="connsiteY9" fmla="*/ 206301 h 206301"/>
              <a:gd name="connsiteX10" fmla="*/ 1066800 w 4602646"/>
              <a:gd name="connsiteY10" fmla="*/ 206301 h 206301"/>
              <a:gd name="connsiteX11" fmla="*/ 0 w 4602646"/>
              <a:gd name="connsiteY11" fmla="*/ 206301 h 206301"/>
              <a:gd name="connsiteX12" fmla="*/ 209296 w 4602646"/>
              <a:gd name="connsiteY12" fmla="*/ 0 h 206301"/>
              <a:gd name="connsiteX0" fmla="*/ 0 w 4602646"/>
              <a:gd name="connsiteY0" fmla="*/ 206301 h 297741"/>
              <a:gd name="connsiteX1" fmla="*/ 209296 w 4602646"/>
              <a:gd name="connsiteY1" fmla="*/ 0 h 297741"/>
              <a:gd name="connsiteX2" fmla="*/ 1276096 w 4602646"/>
              <a:gd name="connsiteY2" fmla="*/ 0 h 297741"/>
              <a:gd name="connsiteX3" fmla="*/ 1802007 w 4602646"/>
              <a:gd name="connsiteY3" fmla="*/ 0 h 297741"/>
              <a:gd name="connsiteX4" fmla="*/ 2800639 w 4602646"/>
              <a:gd name="connsiteY4" fmla="*/ 0 h 297741"/>
              <a:gd name="connsiteX5" fmla="*/ 2868807 w 4602646"/>
              <a:gd name="connsiteY5" fmla="*/ 0 h 297741"/>
              <a:gd name="connsiteX6" fmla="*/ 4393350 w 4602646"/>
              <a:gd name="connsiteY6" fmla="*/ 0 h 297741"/>
              <a:gd name="connsiteX7" fmla="*/ 4602646 w 4602646"/>
              <a:gd name="connsiteY7" fmla="*/ 206301 h 297741"/>
              <a:gd name="connsiteX8" fmla="*/ 3078103 w 4602646"/>
              <a:gd name="connsiteY8" fmla="*/ 206301 h 297741"/>
              <a:gd name="connsiteX9" fmla="*/ 2591343 w 4602646"/>
              <a:gd name="connsiteY9" fmla="*/ 206301 h 297741"/>
              <a:gd name="connsiteX10" fmla="*/ 2011303 w 4602646"/>
              <a:gd name="connsiteY10" fmla="*/ 206301 h 297741"/>
              <a:gd name="connsiteX11" fmla="*/ 1066800 w 4602646"/>
              <a:gd name="connsiteY11" fmla="*/ 206301 h 297741"/>
              <a:gd name="connsiteX12" fmla="*/ 91440 w 4602646"/>
              <a:gd name="connsiteY12" fmla="*/ 297741 h 29774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10" fmla="*/ 2011303 w 4602646"/>
              <a:gd name="connsiteY10" fmla="*/ 206301 h 206301"/>
              <a:gd name="connsiteX11" fmla="*/ 1066800 w 4602646"/>
              <a:gd name="connsiteY11"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10" fmla="*/ 2011303 w 4602646"/>
              <a:gd name="connsiteY10"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0" fmla="*/ 0 w 4602646"/>
              <a:gd name="connsiteY0" fmla="*/ 234876 h 234876"/>
              <a:gd name="connsiteX1" fmla="*/ 209296 w 4602646"/>
              <a:gd name="connsiteY1" fmla="*/ 28575 h 234876"/>
              <a:gd name="connsiteX2" fmla="*/ 1276096 w 4602646"/>
              <a:gd name="connsiteY2" fmla="*/ 28575 h 234876"/>
              <a:gd name="connsiteX3" fmla="*/ 1802007 w 4602646"/>
              <a:gd name="connsiteY3" fmla="*/ 28575 h 234876"/>
              <a:gd name="connsiteX4" fmla="*/ 2868807 w 4602646"/>
              <a:gd name="connsiteY4" fmla="*/ 28575 h 234876"/>
              <a:gd name="connsiteX5" fmla="*/ 2916723 w 4602646"/>
              <a:gd name="connsiteY5" fmla="*/ 0 h 234876"/>
              <a:gd name="connsiteX6" fmla="*/ 4393350 w 4602646"/>
              <a:gd name="connsiteY6" fmla="*/ 28575 h 234876"/>
              <a:gd name="connsiteX7" fmla="*/ 4602646 w 4602646"/>
              <a:gd name="connsiteY7" fmla="*/ 234876 h 234876"/>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0" fmla="*/ 0 w 4602646"/>
              <a:gd name="connsiteY0" fmla="*/ 206301 h 206301"/>
              <a:gd name="connsiteX1" fmla="*/ 209296 w 4602646"/>
              <a:gd name="connsiteY1" fmla="*/ 0 h 206301"/>
              <a:gd name="connsiteX2" fmla="*/ 1276096 w 4602646"/>
              <a:gd name="connsiteY2" fmla="*/ 0 h 206301"/>
              <a:gd name="connsiteX3" fmla="*/ 2868807 w 4602646"/>
              <a:gd name="connsiteY3" fmla="*/ 0 h 206301"/>
              <a:gd name="connsiteX4" fmla="*/ 4393350 w 4602646"/>
              <a:gd name="connsiteY4" fmla="*/ 0 h 206301"/>
              <a:gd name="connsiteX5" fmla="*/ 4602646 w 4602646"/>
              <a:gd name="connsiteY5" fmla="*/ 206301 h 206301"/>
              <a:gd name="connsiteX0" fmla="*/ 0 w 4602646"/>
              <a:gd name="connsiteY0" fmla="*/ 206301 h 206301"/>
              <a:gd name="connsiteX1" fmla="*/ 209296 w 4602646"/>
              <a:gd name="connsiteY1" fmla="*/ 0 h 206301"/>
              <a:gd name="connsiteX2" fmla="*/ 1276096 w 4602646"/>
              <a:gd name="connsiteY2" fmla="*/ 0 h 206301"/>
              <a:gd name="connsiteX3" fmla="*/ 4393350 w 4602646"/>
              <a:gd name="connsiteY3" fmla="*/ 0 h 206301"/>
              <a:gd name="connsiteX4" fmla="*/ 4602646 w 4602646"/>
              <a:gd name="connsiteY4" fmla="*/ 206301 h 206301"/>
              <a:gd name="connsiteX0" fmla="*/ 0 w 4602646"/>
              <a:gd name="connsiteY0" fmla="*/ 206301 h 206301"/>
              <a:gd name="connsiteX1" fmla="*/ 209296 w 4602646"/>
              <a:gd name="connsiteY1" fmla="*/ 0 h 206301"/>
              <a:gd name="connsiteX2" fmla="*/ 4393350 w 4602646"/>
              <a:gd name="connsiteY2" fmla="*/ 0 h 206301"/>
              <a:gd name="connsiteX3" fmla="*/ 4602646 w 4602646"/>
              <a:gd name="connsiteY3" fmla="*/ 206301 h 206301"/>
            </a:gdLst>
            <a:ahLst/>
            <a:cxnLst>
              <a:cxn ang="0">
                <a:pos x="connsiteX0" y="connsiteY0"/>
              </a:cxn>
              <a:cxn ang="0">
                <a:pos x="connsiteX1" y="connsiteY1"/>
              </a:cxn>
              <a:cxn ang="0">
                <a:pos x="connsiteX2" y="connsiteY2"/>
              </a:cxn>
              <a:cxn ang="0">
                <a:pos x="connsiteX3" y="connsiteY3"/>
              </a:cxn>
            </a:cxnLst>
            <a:rect l="l" t="t" r="r" b="b"/>
            <a:pathLst>
              <a:path w="4602646" h="206301">
                <a:moveTo>
                  <a:pt x="0" y="206301"/>
                </a:moveTo>
                <a:cubicBezTo>
                  <a:pt x="0" y="92364"/>
                  <a:pt x="93705" y="0"/>
                  <a:pt x="209296" y="0"/>
                </a:cubicBezTo>
                <a:lnTo>
                  <a:pt x="4393350" y="0"/>
                </a:lnTo>
                <a:cubicBezTo>
                  <a:pt x="4508941" y="0"/>
                  <a:pt x="4602646" y="92364"/>
                  <a:pt x="4602646" y="206301"/>
                </a:cubicBezTo>
              </a:path>
            </a:pathLst>
          </a:custGeom>
          <a:noFill/>
          <a:ln w="28575">
            <a:solidFill>
              <a:srgbClr val="656E7D"/>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chorCtr="0">
            <a:noAutofit/>
          </a:bodyPr>
          <a:lstStyle/>
          <a:p>
            <a:pPr algn="ctr"/>
            <a:endParaRPr lang="ko-KR" altLang="en-US" sz="4000" dirty="0">
              <a:ln>
                <a:solidFill>
                  <a:srgbClr val="B50937">
                    <a:alpha val="0"/>
                  </a:srgbClr>
                </a:solidFill>
              </a:ln>
              <a:latin typeface="에스코어 드림 5 Medium" panose="020B0503030302020204" pitchFamily="34" charset="-127"/>
              <a:ea typeface="에스코어 드림 5 Medium" panose="020B0503030302020204" pitchFamily="34" charset="-127"/>
              <a:cs typeface="맑은 고딕" panose="02000503000000020004" pitchFamily="2" charset="-127"/>
            </a:endParaRPr>
          </a:p>
        </p:txBody>
      </p:sp>
      <p:cxnSp>
        <p:nvCxnSpPr>
          <p:cNvPr id="19" name="직선 연결선 82">
            <a:extLst>
              <a:ext uri="{FF2B5EF4-FFF2-40B4-BE49-F238E27FC236}">
                <a16:creationId xmlns:a16="http://schemas.microsoft.com/office/drawing/2014/main" id="{0BFB65B4-613E-78C4-A574-49BF5A5B632A}"/>
              </a:ext>
            </a:extLst>
          </p:cNvPr>
          <p:cNvCxnSpPr>
            <a:cxnSpLocks/>
          </p:cNvCxnSpPr>
          <p:nvPr/>
        </p:nvCxnSpPr>
        <p:spPr>
          <a:xfrm>
            <a:off x="6318098" y="2255209"/>
            <a:ext cx="5209217" cy="0"/>
          </a:xfrm>
          <a:prstGeom prst="line">
            <a:avLst/>
          </a:prstGeom>
          <a:ln w="6350">
            <a:solidFill>
              <a:schemeClr val="bg1">
                <a:lumMod val="75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490088" y="2441832"/>
            <a:ext cx="4865236" cy="2677656"/>
          </a:xfrm>
          <a:prstGeom prst="rect">
            <a:avLst/>
          </a:prstGeom>
          <a:noFill/>
        </p:spPr>
        <p:txBody>
          <a:bodyPr wrap="square" rtlCol="0">
            <a:spAutoFit/>
          </a:bodyPr>
          <a:lstStyle/>
          <a:p>
            <a:pPr>
              <a:lnSpc>
                <a:spcPct val="200000"/>
              </a:lnSpc>
            </a:pPr>
            <a:r>
              <a:rPr lang="ko-KR" altLang="en-US" sz="1400" dirty="0">
                <a:latin typeface="Lato" panose="020B0604020202020204"/>
              </a:rPr>
              <a:t>→ </a:t>
            </a:r>
            <a:r>
              <a:rPr lang="en-US" altLang="ko-KR" sz="1400" b="1" dirty="0">
                <a:latin typeface="Lato" panose="020B0604020202020204"/>
              </a:rPr>
              <a:t>Some </a:t>
            </a:r>
            <a:r>
              <a:rPr lang="en-US" altLang="ko-KR" sz="1400" b="1" dirty="0" err="1">
                <a:latin typeface="Lato" panose="020B0604020202020204"/>
              </a:rPr>
              <a:t>Saxenda</a:t>
            </a:r>
            <a:r>
              <a:rPr lang="en-US" altLang="ko-KR" sz="1400" b="1" dirty="0">
                <a:latin typeface="Lato" panose="020B0604020202020204"/>
              </a:rPr>
              <a:t> users </a:t>
            </a:r>
            <a:r>
              <a:rPr lang="en-US" altLang="ko-KR" sz="1400" dirty="0">
                <a:latin typeface="Lato" panose="020B0604020202020204"/>
              </a:rPr>
              <a:t>are reluctant to switch to </a:t>
            </a:r>
            <a:r>
              <a:rPr lang="en-US" altLang="ko-KR" sz="1400" dirty="0" err="1">
                <a:latin typeface="Lato" panose="020B0604020202020204"/>
              </a:rPr>
              <a:t>Wegovy</a:t>
            </a:r>
            <a:r>
              <a:rPr lang="en-US" altLang="ko-KR" sz="1400" dirty="0">
                <a:latin typeface="Lato" panose="020B0604020202020204"/>
              </a:rPr>
              <a:t>.</a:t>
            </a:r>
            <a:br>
              <a:rPr lang="en-US" altLang="ko-KR" sz="1400" dirty="0">
                <a:latin typeface="Lato" panose="020B0604020202020204"/>
              </a:rPr>
            </a:br>
            <a:endParaRPr lang="en-US" altLang="ko-KR" sz="1400" dirty="0">
              <a:latin typeface="Lato" panose="020B0604020202020204"/>
            </a:endParaRPr>
          </a:p>
          <a:p>
            <a:pPr>
              <a:lnSpc>
                <a:spcPct val="200000"/>
              </a:lnSpc>
            </a:pPr>
            <a:r>
              <a:rPr lang="ko-KR" altLang="en-US" sz="1400" dirty="0">
                <a:latin typeface="Lato" panose="020B0604020202020204"/>
              </a:rPr>
              <a:t>→ </a:t>
            </a:r>
            <a:r>
              <a:rPr lang="en-US" altLang="ko-KR" sz="1400" dirty="0">
                <a:latin typeface="Lato" panose="020B0604020202020204"/>
              </a:rPr>
              <a:t>Patients with low phase angle and skin rash discontinued </a:t>
            </a:r>
            <a:r>
              <a:rPr lang="en-US" altLang="ko-KR" sz="1400" dirty="0" err="1">
                <a:latin typeface="Lato" panose="020B0604020202020204"/>
              </a:rPr>
              <a:t>Wegovy</a:t>
            </a:r>
            <a:r>
              <a:rPr lang="en-US" altLang="ko-KR" sz="1400" dirty="0">
                <a:latin typeface="Lato" panose="020B0604020202020204"/>
              </a:rPr>
              <a:t>. </a:t>
            </a:r>
            <a:r>
              <a:rPr lang="en-US" altLang="ko-KR" sz="1400" b="1" dirty="0">
                <a:latin typeface="Lato" panose="020B0604020202020204"/>
              </a:rPr>
              <a:t>Further research and continuous monitoring of the correlation between </a:t>
            </a:r>
            <a:r>
              <a:rPr lang="en-US" altLang="ko-KR" sz="1400" b="1" dirty="0" err="1">
                <a:latin typeface="Lato" panose="020B0604020202020204"/>
              </a:rPr>
              <a:t>Wegovy</a:t>
            </a:r>
            <a:r>
              <a:rPr lang="en-US" altLang="ko-KR" sz="1400" b="1" dirty="0">
                <a:latin typeface="Lato" panose="020B0604020202020204"/>
              </a:rPr>
              <a:t> and phase angle are needed.</a:t>
            </a:r>
          </a:p>
        </p:txBody>
      </p:sp>
      <p:sp>
        <p:nvSpPr>
          <p:cNvPr id="20" name="Rectangle 19"/>
          <p:cNvSpPr/>
          <p:nvPr/>
        </p:nvSpPr>
        <p:spPr>
          <a:xfrm>
            <a:off x="457200" y="320040"/>
            <a:ext cx="521207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20040"/>
            <a:ext cx="5212079" cy="566928"/>
          </a:xfrm>
          <a:prstGeom prst="rect">
            <a:avLst/>
          </a:prstGeom>
          <a:noFill/>
        </p:spPr>
        <p:txBody>
          <a:bodyPr wrap="square" lIns="0" rIns="0" tIns="0" bIns="0" anchor="ctr">
            <a:spAutoFit/>
          </a:bodyPr>
          <a:lstStyle/>
          <a:p>
            <a:pPr algn="ctr"/>
            <a:r>
              <a:rPr sz="2200" b="1" i="0">
                <a:solidFill>
                  <a:srgbClr val="FFFFFF"/>
                </a:solidFill>
                <a:latin typeface="Calibri"/>
              </a:rPr>
              <a:t>Opinion from Practicing Physicians</a:t>
            </a:r>
          </a:p>
        </p:txBody>
      </p:sp>
      <p:sp>
        <p:nvSpPr>
          <p:cNvPr id="22" name="TextBox 21"/>
          <p:cNvSpPr txBox="1"/>
          <p:nvPr/>
        </p:nvSpPr>
        <p:spPr>
          <a:xfrm>
            <a:off x="5897879" y="320040"/>
            <a:ext cx="4007815" cy="566928"/>
          </a:xfrm>
          <a:prstGeom prst="rect">
            <a:avLst/>
          </a:prstGeom>
          <a:noFill/>
        </p:spPr>
        <p:txBody>
          <a:bodyPr wrap="square" lIns="0" rIns="0" tIns="0" bIns="0" anchor="ctr">
            <a:spAutoFit/>
          </a:bodyPr>
          <a:lstStyle/>
          <a:p>
            <a:pPr algn="l"/>
            <a:r>
              <a:rPr sz="900" b="1" i="0">
                <a:solidFill>
                  <a:srgbClr val="B50937"/>
                </a:solidFill>
                <a:latin typeface="Calibri"/>
              </a:rPr>
              <a:t>SESSION 5</a:t>
            </a:r>
          </a:p>
          <a:p>
            <a:pPr algn="l"/>
            <a:r>
              <a:rPr sz="900" b="0" i="0">
                <a:solidFill>
                  <a:srgbClr val="5E6470"/>
                </a:solidFill>
                <a:latin typeface="Calibri"/>
              </a:rPr>
              <a:t>GLP-1 Therapy  ·  Direct Feedback</a:t>
            </a:r>
          </a:p>
        </p:txBody>
      </p:sp>
      <p:pic>
        <p:nvPicPr>
          <p:cNvPr id="23" name="Picture 22" descr="logo_red.png"/>
          <p:cNvPicPr>
            <a:picLocks noChangeAspect="1"/>
          </p:cNvPicPr>
          <p:nvPr/>
        </p:nvPicPr>
        <p:blipFill>
          <a:blip r:embed="rId3"/>
          <a:stretch>
            <a:fillRect/>
          </a:stretch>
        </p:blipFill>
        <p:spPr>
          <a:xfrm>
            <a:off x="10436918" y="420624"/>
            <a:ext cx="1297577" cy="365760"/>
          </a:xfrm>
          <a:prstGeom prst="rect">
            <a:avLst/>
          </a:prstGeom>
        </p:spPr>
      </p:pic>
      <p:sp>
        <p:nvSpPr>
          <p:cNvPr id="24" name="TextBox 23"/>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5" name="TextBox 24"/>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74</a:t>
            </a:r>
          </a:p>
        </p:txBody>
      </p:sp>
    </p:spTree>
    <p:extLst>
      <p:ext uri="{BB962C8B-B14F-4D97-AF65-F5344CB8AC3E}">
        <p14:creationId xmlns:p14="http://schemas.microsoft.com/office/powerpoint/2010/main" val="17353717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aphicFrame>
        <p:nvGraphicFramePr>
          <p:cNvPr id="7" name="내용 개체 틀 4"/>
          <p:cNvGraphicFramePr>
            <a:graphicFrameLocks/>
          </p:cNvGraphicFramePr>
          <p:nvPr>
            <p:extLst/>
          </p:nvPr>
        </p:nvGraphicFramePr>
        <p:xfrm>
          <a:off x="1430955" y="1885982"/>
          <a:ext cx="9329784" cy="3680396"/>
        </p:xfrm>
        <a:graphic>
          <a:graphicData uri="http://schemas.openxmlformats.org/drawingml/2006/table">
            <a:tbl>
              <a:tblPr firstRow="1" bandRow="1">
                <a:tableStyleId>{5C22544A-7EE6-4342-B048-85BDC9FD1C3A}</a:tableStyleId>
              </a:tblPr>
              <a:tblGrid>
                <a:gridCol w="2619268">
                  <a:extLst>
                    <a:ext uri="{9D8B030D-6E8A-4147-A177-3AD203B41FA5}">
                      <a16:colId xmlns:a16="http://schemas.microsoft.com/office/drawing/2014/main" val="637266212"/>
                    </a:ext>
                  </a:extLst>
                </a:gridCol>
                <a:gridCol w="6710516">
                  <a:extLst>
                    <a:ext uri="{9D8B030D-6E8A-4147-A177-3AD203B41FA5}">
                      <a16:colId xmlns:a16="http://schemas.microsoft.com/office/drawing/2014/main" val="2608900680"/>
                    </a:ext>
                  </a:extLst>
                </a:gridCol>
              </a:tblGrid>
              <a:tr h="2155863">
                <a:tc>
                  <a:txBody>
                    <a:bodyPr/>
                    <a:lstStyle/>
                    <a:p>
                      <a:pPr algn="ctr" fontAlgn="ctr">
                        <a:lnSpc>
                          <a:spcPct val="200000"/>
                        </a:lnSpc>
                      </a:pPr>
                      <a:r>
                        <a:rPr lang="ko-KR" altLang="en-US" sz="1400" b="1" i="0" u="none" strike="noStrike" dirty="0">
                          <a:solidFill>
                            <a:schemeClr val="tx1"/>
                          </a:solidFill>
                          <a:effectLst/>
                          <a:latin typeface="Lato" panose="020B0604020202020204" charset="0"/>
                          <a:ea typeface="+mn-ea"/>
                        </a:rPr>
                        <a:t>▲</a:t>
                      </a:r>
                      <a:r>
                        <a:rPr lang="en-US" altLang="ko-KR" sz="1400" b="1" i="0" u="none" strike="noStrike" dirty="0">
                          <a:solidFill>
                            <a:schemeClr val="tx1"/>
                          </a:solidFill>
                          <a:effectLst/>
                          <a:latin typeface="Lato" panose="020B0604020202020204" charset="0"/>
                          <a:ea typeface="+mn-ea"/>
                        </a:rPr>
                        <a:t>Advantages</a:t>
                      </a:r>
                      <a:endParaRPr lang="ko-KR" altLang="en-US" sz="1400" b="1" i="0" u="none" strike="noStrike" dirty="0">
                        <a:solidFill>
                          <a:schemeClr val="tx1"/>
                        </a:solidFill>
                        <a:effectLst/>
                        <a:latin typeface="Lato" panose="020B0604020202020204" charset="0"/>
                        <a:ea typeface="+mn-ea"/>
                      </a:endParaRPr>
                    </a:p>
                  </a:txBody>
                  <a:tcPr marL="8583" marR="8583" marT="8583"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4F4F6"/>
                    </a:solidFill>
                  </a:tcPr>
                </a:tc>
                <a:tc>
                  <a:txBody>
                    <a:bodyPr/>
                    <a:lstStyle/>
                    <a:p>
                      <a:pPr marL="171450" indent="-171450" algn="ctr" fontAlgn="ctr">
                        <a:lnSpc>
                          <a:spcPct val="200000"/>
                        </a:lnSpc>
                        <a:buFont typeface="Wingdings" panose="05000000000000000000" pitchFamily="2" charset="2"/>
                        <a:buChar char="Ø"/>
                      </a:pPr>
                      <a:r>
                        <a:rPr lang="en-US" altLang="ko-KR" sz="1200" b="1" dirty="0">
                          <a:solidFill>
                            <a:srgbClr val="B50937"/>
                          </a:solidFill>
                          <a:latin typeface="Lato" panose="020B0604020202020204" charset="0"/>
                        </a:rPr>
                        <a:t>Effective</a:t>
                      </a:r>
                      <a:r>
                        <a:rPr lang="en-US" altLang="ko-KR" sz="1200" b="0" dirty="0">
                          <a:solidFill>
                            <a:srgbClr val="3C3C3A"/>
                          </a:solidFill>
                          <a:latin typeface="Lato" panose="020B0604020202020204" charset="0"/>
                        </a:rPr>
                        <a:t> even for patients </a:t>
                      </a:r>
                      <a:r>
                        <a:rPr lang="en-US" altLang="ko-KR" sz="1200" b="1" dirty="0">
                          <a:solidFill>
                            <a:schemeClr val="tx1"/>
                          </a:solidFill>
                          <a:latin typeface="Lato" panose="020B0604020202020204" charset="0"/>
                        </a:rPr>
                        <a:t>who have failed with other weight loss medications</a:t>
                      </a:r>
                      <a:r>
                        <a:rPr lang="en-US" altLang="ko-KR" sz="1200" b="0" dirty="0">
                          <a:solidFill>
                            <a:schemeClr val="tx1"/>
                          </a:solidFill>
                          <a:latin typeface="Lato" panose="020B0604020202020204" charset="0"/>
                        </a:rPr>
                        <a:t>.</a:t>
                      </a:r>
                    </a:p>
                    <a:p>
                      <a:pPr marL="171450" indent="-171450" algn="ctr" fontAlgn="ctr">
                        <a:lnSpc>
                          <a:spcPct val="200000"/>
                        </a:lnSpc>
                        <a:buFont typeface="Wingdings" panose="05000000000000000000" pitchFamily="2" charset="2"/>
                        <a:buChar char="Ø"/>
                      </a:pPr>
                      <a:r>
                        <a:rPr lang="en-US" altLang="ko-KR" sz="1200" b="1" dirty="0">
                          <a:solidFill>
                            <a:srgbClr val="B50937"/>
                          </a:solidFill>
                          <a:latin typeface="Lato" panose="020B0604020202020204" charset="0"/>
                        </a:rPr>
                        <a:t>Preserves muscle mass </a:t>
                      </a:r>
                      <a:r>
                        <a:rPr lang="en-US" altLang="ko-KR" sz="1200" b="0" dirty="0">
                          <a:solidFill>
                            <a:srgbClr val="3C3C3A"/>
                          </a:solidFill>
                          <a:latin typeface="Lato" panose="020B0604020202020204" charset="0"/>
                        </a:rPr>
                        <a:t>while steadily reducing fat compared to other medication.</a:t>
                      </a:r>
                    </a:p>
                    <a:p>
                      <a:pPr marL="171450" indent="-171450" algn="ctr" fontAlgn="ctr">
                        <a:lnSpc>
                          <a:spcPct val="200000"/>
                        </a:lnSpc>
                        <a:buFont typeface="Wingdings" panose="05000000000000000000" pitchFamily="2" charset="2"/>
                        <a:buChar char="Ø"/>
                      </a:pPr>
                      <a:r>
                        <a:rPr lang="en-US" altLang="ko-KR" sz="1200" b="1" dirty="0">
                          <a:solidFill>
                            <a:srgbClr val="B50937"/>
                          </a:solidFill>
                          <a:latin typeface="Lato" panose="020B0604020202020204" charset="0"/>
                        </a:rPr>
                        <a:t>Minimal impact </a:t>
                      </a:r>
                      <a:r>
                        <a:rPr lang="en-US" altLang="ko-KR" sz="1200" b="0" dirty="0">
                          <a:solidFill>
                            <a:srgbClr val="3C3C3A"/>
                          </a:solidFill>
                          <a:latin typeface="Lato" panose="020B0604020202020204" charset="0"/>
                        </a:rPr>
                        <a:t>on patients' quality of life.</a:t>
                      </a:r>
                    </a:p>
                    <a:p>
                      <a:pPr marL="171450" indent="-171450" algn="ctr" fontAlgn="ctr">
                        <a:lnSpc>
                          <a:spcPct val="200000"/>
                        </a:lnSpc>
                        <a:buFont typeface="Wingdings" panose="05000000000000000000" pitchFamily="2" charset="2"/>
                        <a:buChar char="Ø"/>
                      </a:pPr>
                      <a:r>
                        <a:rPr lang="en-US" altLang="ko-KR" sz="1200" b="1" dirty="0">
                          <a:solidFill>
                            <a:srgbClr val="B50937"/>
                          </a:solidFill>
                          <a:latin typeface="Lato" panose="020B0604020202020204" charset="0"/>
                        </a:rPr>
                        <a:t>Consistent weight loss </a:t>
                      </a:r>
                      <a:r>
                        <a:rPr lang="en-US" altLang="ko-KR" sz="1200" b="0" dirty="0">
                          <a:solidFill>
                            <a:srgbClr val="3C3C3A"/>
                          </a:solidFill>
                          <a:latin typeface="Lato" panose="020B0604020202020204" charset="0"/>
                        </a:rPr>
                        <a:t>without plateaus.</a:t>
                      </a:r>
                      <a:endParaRPr lang="en-US" altLang="ko-KR" sz="1200" b="0" i="0" u="none" strike="noStrike" dirty="0">
                        <a:solidFill>
                          <a:srgbClr val="3C3C3A"/>
                        </a:solidFill>
                        <a:effectLst/>
                        <a:latin typeface="Lato" panose="020B0604020202020204" charset="0"/>
                        <a:ea typeface="+mn-ea"/>
                      </a:endParaRPr>
                    </a:p>
                  </a:txBody>
                  <a:tcPr marL="8583" marR="8583" marT="8583"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77971871"/>
                  </a:ext>
                </a:extLst>
              </a:tr>
              <a:tr h="1524533">
                <a:tc>
                  <a:txBody>
                    <a:bodyPr/>
                    <a:lstStyle/>
                    <a:p>
                      <a:pPr algn="ctr" fontAlgn="ctr">
                        <a:lnSpc>
                          <a:spcPct val="200000"/>
                        </a:lnSpc>
                      </a:pPr>
                      <a:r>
                        <a:rPr lang="ko-KR" altLang="en-US" sz="1400" b="1" i="0" u="none" strike="noStrike" dirty="0">
                          <a:solidFill>
                            <a:schemeClr val="tx1"/>
                          </a:solidFill>
                          <a:effectLst/>
                          <a:latin typeface="Lato" panose="020B0604020202020204" charset="0"/>
                          <a:ea typeface="+mn-ea"/>
                        </a:rPr>
                        <a:t>▽</a:t>
                      </a:r>
                      <a:r>
                        <a:rPr lang="en-US" altLang="ko-KR" sz="1400" b="1" i="0" u="none" strike="noStrike" dirty="0">
                          <a:solidFill>
                            <a:schemeClr val="tx1"/>
                          </a:solidFill>
                          <a:effectLst/>
                          <a:latin typeface="Lato" panose="020B0604020202020204" charset="0"/>
                          <a:ea typeface="+mn-ea"/>
                        </a:rPr>
                        <a:t>Disadvantages</a:t>
                      </a:r>
                      <a:endParaRPr lang="ko-KR" altLang="en-US" sz="1400" b="1" i="0" u="none" strike="noStrike" dirty="0">
                        <a:solidFill>
                          <a:schemeClr val="tx1"/>
                        </a:solidFill>
                        <a:effectLst/>
                        <a:latin typeface="Lato" panose="020B0604020202020204" charset="0"/>
                        <a:ea typeface="+mn-ea"/>
                      </a:endParaRPr>
                    </a:p>
                  </a:txBody>
                  <a:tcPr marL="8583" marR="8583" marT="8583"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4F4F6"/>
                    </a:solidFill>
                  </a:tcPr>
                </a:tc>
                <a:tc>
                  <a:txBody>
                    <a:bodyPr/>
                    <a:lstStyle/>
                    <a:p>
                      <a:pPr marL="171450" indent="-171450" algn="ctr" fontAlgn="ctr">
                        <a:lnSpc>
                          <a:spcPct val="200000"/>
                        </a:lnSpc>
                        <a:buFont typeface="Wingdings" panose="05000000000000000000" pitchFamily="2" charset="2"/>
                        <a:buChar char="Ø"/>
                      </a:pPr>
                      <a:r>
                        <a:rPr lang="en-US" altLang="ko-KR" sz="1200" dirty="0">
                          <a:solidFill>
                            <a:srgbClr val="3C3C3A"/>
                          </a:solidFill>
                          <a:latin typeface="Lato" panose="020B0604020202020204" charset="0"/>
                        </a:rPr>
                        <a:t>Patients </a:t>
                      </a:r>
                      <a:r>
                        <a:rPr lang="en-US" altLang="ko-KR" sz="1200" b="1" dirty="0">
                          <a:solidFill>
                            <a:srgbClr val="B50937"/>
                          </a:solidFill>
                          <a:latin typeface="Lato" panose="020B0604020202020204" charset="0"/>
                        </a:rPr>
                        <a:t>may feel dissatisfied </a:t>
                      </a:r>
                      <a:r>
                        <a:rPr lang="en-US" altLang="ko-KR" sz="1200" dirty="0">
                          <a:solidFill>
                            <a:srgbClr val="3C3C3A"/>
                          </a:solidFill>
                          <a:latin typeface="Lato" panose="020B0604020202020204" charset="0"/>
                        </a:rPr>
                        <a:t>due to smaller weight loss relative to the cost.</a:t>
                      </a:r>
                    </a:p>
                    <a:p>
                      <a:pPr marL="171450" indent="-171450" algn="ctr" fontAlgn="ctr">
                        <a:lnSpc>
                          <a:spcPct val="200000"/>
                        </a:lnSpc>
                        <a:buFont typeface="Wingdings" panose="05000000000000000000" pitchFamily="2" charset="2"/>
                        <a:buChar char="Ø"/>
                      </a:pPr>
                      <a:r>
                        <a:rPr lang="en-US" altLang="ko-KR" sz="1200" dirty="0">
                          <a:solidFill>
                            <a:srgbClr val="3C3C3A"/>
                          </a:solidFill>
                          <a:latin typeface="Lato" panose="020B0604020202020204" charset="0"/>
                        </a:rPr>
                        <a:t>Potential for side effects, though no major cases have been reported yet.</a:t>
                      </a:r>
                      <a:endParaRPr lang="en-US" altLang="ko-KR" sz="1200" b="0" i="0" u="none" strike="noStrike" baseline="0" dirty="0">
                        <a:solidFill>
                          <a:srgbClr val="3C3C3A"/>
                        </a:solidFill>
                        <a:effectLst/>
                        <a:latin typeface="Lato" panose="020B0604020202020204" charset="0"/>
                        <a:ea typeface="+mn-ea"/>
                      </a:endParaRPr>
                    </a:p>
                  </a:txBody>
                  <a:tcPr marL="8583" marR="8583" marT="8583"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29185881"/>
                  </a:ext>
                </a:extLst>
              </a:tr>
            </a:tbl>
          </a:graphicData>
        </a:graphic>
      </p:graphicFrame>
      <p:sp>
        <p:nvSpPr>
          <p:cNvPr id="8" name="Rectangle 7"/>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Doctor’s Feedback</a:t>
            </a:r>
          </a:p>
        </p:txBody>
      </p:sp>
      <p:sp>
        <p:nvSpPr>
          <p:cNvPr id="10" name="TextBox 9"/>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5</a:t>
            </a:r>
          </a:p>
          <a:p>
            <a:pPr algn="l"/>
            <a:r>
              <a:rPr sz="900" b="0" i="0">
                <a:solidFill>
                  <a:srgbClr val="5E6470"/>
                </a:solidFill>
                <a:latin typeface="Calibri"/>
              </a:rPr>
              <a:t>GLP-1 Therapy  ·  Summary</a:t>
            </a:r>
          </a:p>
        </p:txBody>
      </p:sp>
      <p:pic>
        <p:nvPicPr>
          <p:cNvPr id="11" name="Picture 10" descr="logo_red.png"/>
          <p:cNvPicPr>
            <a:picLocks noChangeAspect="1"/>
          </p:cNvPicPr>
          <p:nvPr/>
        </p:nvPicPr>
        <p:blipFill>
          <a:blip r:embed="rId3"/>
          <a:stretch>
            <a:fillRect/>
          </a:stretch>
        </p:blipFill>
        <p:spPr>
          <a:xfrm>
            <a:off x="10436918" y="420624"/>
            <a:ext cx="1297577" cy="365760"/>
          </a:xfrm>
          <a:prstGeom prst="rect">
            <a:avLst/>
          </a:prstGeom>
        </p:spPr>
      </p:pic>
      <p:sp>
        <p:nvSpPr>
          <p:cNvPr id="12" name="TextBox 11"/>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3" name="TextBox 12"/>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75</a:t>
            </a:r>
          </a:p>
        </p:txBody>
      </p:sp>
    </p:spTree>
    <p:extLst>
      <p:ext uri="{BB962C8B-B14F-4D97-AF65-F5344CB8AC3E}">
        <p14:creationId xmlns:p14="http://schemas.microsoft.com/office/powerpoint/2010/main" val="24449053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3" name="직사각형 32">
            <a:extLst>
              <a:ext uri="{FF2B5EF4-FFF2-40B4-BE49-F238E27FC236}">
                <a16:creationId xmlns:a16="http://schemas.microsoft.com/office/drawing/2014/main" id="{D90FDB00-5D2A-E61A-CA42-01FFDB177212}"/>
              </a:ext>
            </a:extLst>
          </p:cNvPr>
          <p:cNvSpPr/>
          <p:nvPr/>
        </p:nvSpPr>
        <p:spPr>
          <a:xfrm>
            <a:off x="770821" y="1107440"/>
            <a:ext cx="3044809" cy="4303520"/>
          </a:xfrm>
          <a:prstGeom prst="rect">
            <a:avLst/>
          </a:prstGeom>
          <a:solidFill>
            <a:srgbClr val="F4F4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B50937">
                    <a:alpha val="0"/>
                  </a:srgbClr>
                </a:solidFill>
              </a:ln>
              <a:latin typeface="에스코어 드림 4 Regular" panose="020B0503030302020204" pitchFamily="34" charset="-127"/>
              <a:ea typeface="에스코어 드림 4 Regular" panose="020B0503030302020204" pitchFamily="34" charset="-127"/>
            </a:endParaRPr>
          </a:p>
        </p:txBody>
      </p:sp>
      <p:sp>
        <p:nvSpPr>
          <p:cNvPr id="35" name="TextBox 34">
            <a:extLst>
              <a:ext uri="{FF2B5EF4-FFF2-40B4-BE49-F238E27FC236}">
                <a16:creationId xmlns:a16="http://schemas.microsoft.com/office/drawing/2014/main" id="{E2084274-60F1-EEC2-26E1-4298A45D1AC6}"/>
              </a:ext>
            </a:extLst>
          </p:cNvPr>
          <p:cNvSpPr txBox="1"/>
          <p:nvPr/>
        </p:nvSpPr>
        <p:spPr>
          <a:xfrm>
            <a:off x="920508" y="3491772"/>
            <a:ext cx="2745436" cy="1113821"/>
          </a:xfrm>
          <a:prstGeom prst="rect">
            <a:avLst/>
          </a:prstGeom>
          <a:noFill/>
        </p:spPr>
        <p:txBody>
          <a:bodyPr wrap="square" rIns="0" rtlCol="0">
            <a:noAutofit/>
          </a:bodyPr>
          <a:lstStyle/>
          <a:p>
            <a:pPr marL="285750" indent="-285750">
              <a:lnSpc>
                <a:spcPct val="150000"/>
              </a:lnSpc>
              <a:buFont typeface="Wingdings" panose="05000000000000000000" pitchFamily="2" charset="2"/>
              <a:buChar char="ü"/>
            </a:pPr>
            <a:r>
              <a:rPr lang="en-US" altLang="ko-KR" sz="1100" b="1" dirty="0">
                <a:solidFill>
                  <a:srgbClr val="B50937"/>
                </a:solidFill>
                <a:latin typeface="Lato"/>
              </a:rPr>
              <a:t>Ensures patient retention</a:t>
            </a:r>
            <a:r>
              <a:rPr lang="en-US" altLang="ko-KR" sz="1100" dirty="0">
                <a:solidFill>
                  <a:srgbClr val="B50937"/>
                </a:solidFill>
                <a:latin typeface="Lato"/>
              </a:rPr>
              <a:t> </a:t>
            </a:r>
            <a:r>
              <a:rPr lang="en-US" altLang="ko-KR" sz="1100" dirty="0">
                <a:latin typeface="Lato"/>
              </a:rPr>
              <a:t>with reliable data </a:t>
            </a:r>
            <a:r>
              <a:rPr lang="en-US" altLang="ko-KR" sz="1100" b="1" dirty="0">
                <a:latin typeface="Lato"/>
              </a:rPr>
              <a:t>for long-term GLP-1 monitoring.</a:t>
            </a:r>
          </a:p>
        </p:txBody>
      </p:sp>
      <p:sp>
        <p:nvSpPr>
          <p:cNvPr id="37" name="TextBox 36">
            <a:extLst>
              <a:ext uri="{FF2B5EF4-FFF2-40B4-BE49-F238E27FC236}">
                <a16:creationId xmlns:a16="http://schemas.microsoft.com/office/drawing/2014/main" id="{B1BAB0C0-EDF1-7FAA-4475-E4FE45CFE68A}"/>
              </a:ext>
            </a:extLst>
          </p:cNvPr>
          <p:cNvSpPr txBox="1"/>
          <p:nvPr/>
        </p:nvSpPr>
        <p:spPr>
          <a:xfrm>
            <a:off x="679940" y="4648239"/>
            <a:ext cx="3226567" cy="756094"/>
          </a:xfrm>
          <a:prstGeom prst="rect">
            <a:avLst/>
          </a:prstGeom>
          <a:solidFill>
            <a:srgbClr val="9097A7"/>
          </a:solidFill>
        </p:spPr>
        <p:txBody>
          <a:bodyPr wrap="square" lIns="180000" tIns="0" bIns="0" rtlCol="0" anchor="ctr" anchorCtr="0">
            <a:noAutofit/>
          </a:bodyPr>
          <a:lstStyle/>
          <a:p>
            <a:pPr algn="ctr">
              <a:spcBef>
                <a:spcPts val="500"/>
              </a:spcBef>
            </a:pPr>
            <a:r>
              <a:rPr lang="en-US" altLang="en-US" sz="1200" b="1" dirty="0">
                <a:ln>
                  <a:solidFill>
                    <a:srgbClr val="B50937">
                      <a:alpha val="0"/>
                    </a:srgbClr>
                  </a:solidFill>
                </a:ln>
                <a:solidFill>
                  <a:schemeClr val="bg1"/>
                </a:solidFill>
                <a:latin typeface="Lato" panose="020B0604020202020204" charset="0"/>
                <a:ea typeface="에스코어 드림 6 Bold" panose="020B0703030302020204" pitchFamily="34" charset="-127"/>
              </a:rPr>
              <a:t>Supports Patients </a:t>
            </a:r>
          </a:p>
          <a:p>
            <a:pPr algn="ctr">
              <a:spcBef>
                <a:spcPts val="500"/>
              </a:spcBef>
            </a:pPr>
            <a:r>
              <a:rPr lang="en-US" altLang="en-US" sz="1200" b="1" dirty="0">
                <a:ln>
                  <a:solidFill>
                    <a:srgbClr val="B50937">
                      <a:alpha val="0"/>
                    </a:srgbClr>
                  </a:solidFill>
                </a:ln>
                <a:solidFill>
                  <a:schemeClr val="bg1"/>
                </a:solidFill>
                <a:latin typeface="Lato" panose="020B0604020202020204" charset="0"/>
                <a:ea typeface="에스코어 드림 6 Bold" panose="020B0703030302020204" pitchFamily="34" charset="-127"/>
              </a:rPr>
              <a:t> in Maintaining treatment</a:t>
            </a:r>
            <a:endParaRPr lang="ko-KR" altLang="en-US" sz="1200" spc="-70" dirty="0">
              <a:ln>
                <a:solidFill>
                  <a:srgbClr val="B50937">
                    <a:alpha val="0"/>
                  </a:srgbClr>
                </a:solidFill>
              </a:ln>
              <a:solidFill>
                <a:schemeClr val="bg1"/>
              </a:solidFill>
              <a:latin typeface="Lato" panose="020B0604020202020204" charset="0"/>
              <a:ea typeface="에스코어 드림 6 Bold" panose="020B0703030302020204" pitchFamily="34" charset="-127"/>
            </a:endParaRPr>
          </a:p>
        </p:txBody>
      </p:sp>
      <p:cxnSp>
        <p:nvCxnSpPr>
          <p:cNvPr id="38" name="직선 연결선 37">
            <a:extLst>
              <a:ext uri="{FF2B5EF4-FFF2-40B4-BE49-F238E27FC236}">
                <a16:creationId xmlns:a16="http://schemas.microsoft.com/office/drawing/2014/main" id="{04A334E3-520F-8562-7EAA-E22F29EC01D4}"/>
              </a:ext>
            </a:extLst>
          </p:cNvPr>
          <p:cNvCxnSpPr>
            <a:cxnSpLocks/>
          </p:cNvCxnSpPr>
          <p:nvPr/>
        </p:nvCxnSpPr>
        <p:spPr>
          <a:xfrm>
            <a:off x="885902" y="3333334"/>
            <a:ext cx="2814647"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sp>
        <p:nvSpPr>
          <p:cNvPr id="40" name="직각 삼각형 39">
            <a:extLst>
              <a:ext uri="{FF2B5EF4-FFF2-40B4-BE49-F238E27FC236}">
                <a16:creationId xmlns:a16="http://schemas.microsoft.com/office/drawing/2014/main" id="{5FBBED07-7E25-D5CF-BA29-73D4AB7D1BDC}"/>
              </a:ext>
            </a:extLst>
          </p:cNvPr>
          <p:cNvSpPr/>
          <p:nvPr/>
        </p:nvSpPr>
        <p:spPr>
          <a:xfrm>
            <a:off x="3812196" y="4566038"/>
            <a:ext cx="94316" cy="87594"/>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B50937">
                    <a:alpha val="0"/>
                  </a:srgbClr>
                </a:solidFill>
              </a:ln>
              <a:latin typeface="에스코어 드림 4 Regular" panose="020B0503030302020204" pitchFamily="34" charset="-127"/>
              <a:ea typeface="에스코어 드림 4 Regular" panose="020B0503030302020204" pitchFamily="34" charset="-127"/>
            </a:endParaRPr>
          </a:p>
        </p:txBody>
      </p:sp>
      <p:sp>
        <p:nvSpPr>
          <p:cNvPr id="41" name="직각 삼각형 40">
            <a:extLst>
              <a:ext uri="{FF2B5EF4-FFF2-40B4-BE49-F238E27FC236}">
                <a16:creationId xmlns:a16="http://schemas.microsoft.com/office/drawing/2014/main" id="{70B13FD3-1893-9138-A603-1C7FC23C7371}"/>
              </a:ext>
            </a:extLst>
          </p:cNvPr>
          <p:cNvSpPr/>
          <p:nvPr/>
        </p:nvSpPr>
        <p:spPr>
          <a:xfrm flipH="1">
            <a:off x="679942" y="4566038"/>
            <a:ext cx="94316" cy="87594"/>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B50937">
                    <a:alpha val="0"/>
                  </a:srgbClr>
                </a:solidFill>
              </a:ln>
              <a:latin typeface="에스코어 드림 4 Regular" panose="020B0503030302020204" pitchFamily="34" charset="-127"/>
              <a:ea typeface="에스코어 드림 4 Regular" panose="020B0503030302020204" pitchFamily="34" charset="-127"/>
            </a:endParaRPr>
          </a:p>
        </p:txBody>
      </p:sp>
      <p:pic>
        <p:nvPicPr>
          <p:cNvPr id="46" name="그림 45"/>
          <p:cNvPicPr>
            <a:picLocks noChangeAspect="1"/>
          </p:cNvPicPr>
          <p:nvPr/>
        </p:nvPicPr>
        <p:blipFill rotWithShape="1">
          <a:blip r:embed="rId3" cstate="print">
            <a:extLst>
              <a:ext uri="{28A0092B-C50C-407E-A947-70E740481C1C}">
                <a14:useLocalDpi xmlns:a14="http://schemas.microsoft.com/office/drawing/2010/main" val="0"/>
              </a:ext>
            </a:extLst>
          </a:blip>
          <a:srcRect l="2363" t="78567" r="63432" b="3625"/>
          <a:stretch/>
        </p:blipFill>
        <p:spPr>
          <a:xfrm>
            <a:off x="1101469" y="1401414"/>
            <a:ext cx="2383514" cy="1747912"/>
          </a:xfrm>
          <a:prstGeom prst="rect">
            <a:avLst/>
          </a:prstGeom>
          <a:effectLst>
            <a:outerShdw blurRad="63500" sx="102000" sy="102000" algn="ctr" rotWithShape="0">
              <a:prstClr val="black">
                <a:alpha val="40000"/>
              </a:prstClr>
            </a:outerShdw>
          </a:effectLst>
        </p:spPr>
      </p:pic>
      <p:sp>
        <p:nvSpPr>
          <p:cNvPr id="42" name="TextBox 41">
            <a:extLst>
              <a:ext uri="{FF2B5EF4-FFF2-40B4-BE49-F238E27FC236}">
                <a16:creationId xmlns:a16="http://schemas.microsoft.com/office/drawing/2014/main" id="{B9831EEA-9D65-F80A-4CEE-DE7587740E9F}"/>
              </a:ext>
            </a:extLst>
          </p:cNvPr>
          <p:cNvSpPr txBox="1"/>
          <p:nvPr/>
        </p:nvSpPr>
        <p:spPr>
          <a:xfrm>
            <a:off x="583903" y="1196336"/>
            <a:ext cx="456250" cy="239498"/>
          </a:xfrm>
          <a:prstGeom prst="rect">
            <a:avLst/>
          </a:prstGeom>
          <a:solidFill>
            <a:srgbClr val="B50937"/>
          </a:solidFill>
          <a:effectLst>
            <a:outerShdw blurRad="127000" dist="38100" dir="2700000" algn="tl" rotWithShape="0">
              <a:prstClr val="black">
                <a:alpha val="30000"/>
              </a:prstClr>
            </a:outerShdw>
          </a:effectLst>
        </p:spPr>
        <p:txBody>
          <a:bodyPr wrap="square" lIns="0" tIns="0" rIns="0" bIns="0" rtlCol="0" anchor="ctr" anchorCtr="0">
            <a:noAutofit/>
          </a:bodyPr>
          <a:lstStyle/>
          <a:p>
            <a:pPr algn="ctr">
              <a:spcBef>
                <a:spcPts val="0"/>
              </a:spcBef>
            </a:pPr>
            <a:r>
              <a:rPr kumimoji="1" lang="en-US" altLang="ko-KR" sz="1100" b="1" dirty="0">
                <a:ln>
                  <a:solidFill>
                    <a:srgbClr val="B50937">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1</a:t>
            </a:r>
            <a:r>
              <a:rPr kumimoji="1" lang="en-US" altLang="ko-KR" sz="1100" b="1" baseline="30000" dirty="0">
                <a:ln>
                  <a:solidFill>
                    <a:srgbClr val="B50937">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st</a:t>
            </a:r>
            <a:r>
              <a:rPr kumimoji="1" lang="en-US" altLang="ko-KR" sz="1100" b="1" dirty="0">
                <a:ln>
                  <a:solidFill>
                    <a:srgbClr val="B50937">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 </a:t>
            </a:r>
          </a:p>
        </p:txBody>
      </p:sp>
      <p:sp>
        <p:nvSpPr>
          <p:cNvPr id="47" name="직사각형 46">
            <a:extLst>
              <a:ext uri="{FF2B5EF4-FFF2-40B4-BE49-F238E27FC236}">
                <a16:creationId xmlns:a16="http://schemas.microsoft.com/office/drawing/2014/main" id="{D90FDB00-5D2A-E61A-CA42-01FFDB177212}"/>
              </a:ext>
            </a:extLst>
          </p:cNvPr>
          <p:cNvSpPr/>
          <p:nvPr/>
        </p:nvSpPr>
        <p:spPr>
          <a:xfrm>
            <a:off x="4641781" y="1097280"/>
            <a:ext cx="3044809" cy="4303520"/>
          </a:xfrm>
          <a:prstGeom prst="rect">
            <a:avLst/>
          </a:prstGeom>
          <a:solidFill>
            <a:srgbClr val="F4F4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B50937">
                    <a:alpha val="0"/>
                  </a:srgbClr>
                </a:solidFill>
              </a:ln>
              <a:latin typeface="에스코어 드림 4 Regular" panose="020B0503030302020204" pitchFamily="34" charset="-127"/>
              <a:ea typeface="에스코어 드림 4 Regular" panose="020B0503030302020204" pitchFamily="34" charset="-127"/>
            </a:endParaRPr>
          </a:p>
        </p:txBody>
      </p:sp>
      <p:sp>
        <p:nvSpPr>
          <p:cNvPr id="48" name="TextBox 47">
            <a:extLst>
              <a:ext uri="{FF2B5EF4-FFF2-40B4-BE49-F238E27FC236}">
                <a16:creationId xmlns:a16="http://schemas.microsoft.com/office/drawing/2014/main" id="{E2084274-60F1-EEC2-26E1-4298A45D1AC6}"/>
              </a:ext>
            </a:extLst>
          </p:cNvPr>
          <p:cNvSpPr txBox="1"/>
          <p:nvPr/>
        </p:nvSpPr>
        <p:spPr>
          <a:xfrm>
            <a:off x="4791468" y="3481612"/>
            <a:ext cx="2745436" cy="1113821"/>
          </a:xfrm>
          <a:prstGeom prst="rect">
            <a:avLst/>
          </a:prstGeom>
          <a:noFill/>
        </p:spPr>
        <p:txBody>
          <a:bodyPr wrap="square" rIns="0" rtlCol="0">
            <a:noAutofit/>
          </a:bodyPr>
          <a:lstStyle/>
          <a:p>
            <a:pPr marL="285750" indent="-285750">
              <a:lnSpc>
                <a:spcPct val="150000"/>
              </a:lnSpc>
              <a:buFont typeface="Wingdings" panose="05000000000000000000" pitchFamily="2" charset="2"/>
              <a:buChar char="ü"/>
            </a:pPr>
            <a:r>
              <a:rPr lang="en-US" altLang="ko-KR" sz="1100" b="1" dirty="0">
                <a:solidFill>
                  <a:srgbClr val="B50937"/>
                </a:solidFill>
                <a:latin typeface="Lato"/>
              </a:rPr>
              <a:t>Supports physicians</a:t>
            </a:r>
            <a:r>
              <a:rPr lang="en-US" altLang="ko-KR" sz="1100" dirty="0">
                <a:solidFill>
                  <a:srgbClr val="B50937"/>
                </a:solidFill>
                <a:latin typeface="Lato"/>
              </a:rPr>
              <a:t> </a:t>
            </a:r>
            <a:r>
              <a:rPr lang="en-US" altLang="ko-KR" sz="1100" dirty="0">
                <a:latin typeface="Lato"/>
              </a:rPr>
              <a:t>with consultation tools and data-driven prescription decisions.</a:t>
            </a:r>
          </a:p>
        </p:txBody>
      </p:sp>
      <p:cxnSp>
        <p:nvCxnSpPr>
          <p:cNvPr id="49" name="직선 연결선 48">
            <a:extLst>
              <a:ext uri="{FF2B5EF4-FFF2-40B4-BE49-F238E27FC236}">
                <a16:creationId xmlns:a16="http://schemas.microsoft.com/office/drawing/2014/main" id="{04A334E3-520F-8562-7EAA-E22F29EC01D4}"/>
              </a:ext>
            </a:extLst>
          </p:cNvPr>
          <p:cNvCxnSpPr>
            <a:cxnSpLocks/>
          </p:cNvCxnSpPr>
          <p:nvPr/>
        </p:nvCxnSpPr>
        <p:spPr>
          <a:xfrm>
            <a:off x="4756862" y="3323174"/>
            <a:ext cx="2814647"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sp>
        <p:nvSpPr>
          <p:cNvPr id="50" name="직각 삼각형 49">
            <a:extLst>
              <a:ext uri="{FF2B5EF4-FFF2-40B4-BE49-F238E27FC236}">
                <a16:creationId xmlns:a16="http://schemas.microsoft.com/office/drawing/2014/main" id="{5FBBED07-7E25-D5CF-BA29-73D4AB7D1BDC}"/>
              </a:ext>
            </a:extLst>
          </p:cNvPr>
          <p:cNvSpPr/>
          <p:nvPr/>
        </p:nvSpPr>
        <p:spPr>
          <a:xfrm>
            <a:off x="7683156" y="4555878"/>
            <a:ext cx="94316" cy="87594"/>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B50937">
                    <a:alpha val="0"/>
                  </a:srgbClr>
                </a:solidFill>
              </a:ln>
              <a:latin typeface="에스코어 드림 4 Regular" panose="020B0503030302020204" pitchFamily="34" charset="-127"/>
              <a:ea typeface="에스코어 드림 4 Regular" panose="020B0503030302020204" pitchFamily="34" charset="-127"/>
            </a:endParaRPr>
          </a:p>
        </p:txBody>
      </p:sp>
      <p:sp>
        <p:nvSpPr>
          <p:cNvPr id="44" name="TextBox 43">
            <a:extLst>
              <a:ext uri="{FF2B5EF4-FFF2-40B4-BE49-F238E27FC236}">
                <a16:creationId xmlns:a16="http://schemas.microsoft.com/office/drawing/2014/main" id="{B9831EEA-9D65-F80A-4CEE-DE7587740E9F}"/>
              </a:ext>
            </a:extLst>
          </p:cNvPr>
          <p:cNvSpPr txBox="1"/>
          <p:nvPr/>
        </p:nvSpPr>
        <p:spPr>
          <a:xfrm>
            <a:off x="4401203" y="1206495"/>
            <a:ext cx="456250" cy="239498"/>
          </a:xfrm>
          <a:prstGeom prst="rect">
            <a:avLst/>
          </a:prstGeom>
          <a:solidFill>
            <a:srgbClr val="B50937"/>
          </a:solidFill>
          <a:effectLst>
            <a:outerShdw blurRad="127000" dist="38100" dir="2700000" algn="tl" rotWithShape="0">
              <a:prstClr val="black">
                <a:alpha val="30000"/>
              </a:prstClr>
            </a:outerShdw>
          </a:effectLst>
        </p:spPr>
        <p:txBody>
          <a:bodyPr wrap="square" lIns="0" tIns="0" rIns="0" bIns="0" rtlCol="0" anchor="ctr" anchorCtr="0">
            <a:noAutofit/>
          </a:bodyPr>
          <a:lstStyle/>
          <a:p>
            <a:pPr algn="ctr">
              <a:spcBef>
                <a:spcPts val="0"/>
              </a:spcBef>
            </a:pPr>
            <a:r>
              <a:rPr kumimoji="1" lang="en-US" altLang="ko-KR" sz="1100" b="1" dirty="0">
                <a:ln>
                  <a:solidFill>
                    <a:srgbClr val="B50937">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2</a:t>
            </a:r>
            <a:r>
              <a:rPr kumimoji="1" lang="en-US" altLang="ko-KR" sz="1100" b="1" baseline="30000" dirty="0">
                <a:ln>
                  <a:solidFill>
                    <a:srgbClr val="B50937">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nd</a:t>
            </a:r>
            <a:r>
              <a:rPr kumimoji="1" lang="en-US" altLang="ko-KR" sz="1100" b="1" dirty="0">
                <a:ln>
                  <a:solidFill>
                    <a:srgbClr val="B50937">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 </a:t>
            </a:r>
          </a:p>
        </p:txBody>
      </p:sp>
      <p:sp>
        <p:nvSpPr>
          <p:cNvPr id="52" name="TextBox 51">
            <a:extLst>
              <a:ext uri="{FF2B5EF4-FFF2-40B4-BE49-F238E27FC236}">
                <a16:creationId xmlns:a16="http://schemas.microsoft.com/office/drawing/2014/main" id="{B1BAB0C0-EDF1-7FAA-4475-E4FE45CFE68A}"/>
              </a:ext>
            </a:extLst>
          </p:cNvPr>
          <p:cNvSpPr txBox="1"/>
          <p:nvPr/>
        </p:nvSpPr>
        <p:spPr>
          <a:xfrm>
            <a:off x="4550900" y="4648239"/>
            <a:ext cx="3226567" cy="756094"/>
          </a:xfrm>
          <a:prstGeom prst="rect">
            <a:avLst/>
          </a:prstGeom>
          <a:solidFill>
            <a:srgbClr val="9097A7"/>
          </a:solidFill>
        </p:spPr>
        <p:txBody>
          <a:bodyPr wrap="square" lIns="180000" tIns="0" bIns="0" rtlCol="0" anchor="ctr" anchorCtr="0">
            <a:noAutofit/>
          </a:bodyPr>
          <a:lstStyle/>
          <a:p>
            <a:pPr algn="ctr">
              <a:spcBef>
                <a:spcPts val="500"/>
              </a:spcBef>
            </a:pPr>
            <a:r>
              <a:rPr lang="en-US" altLang="en-US" sz="1200" b="1" dirty="0">
                <a:ln>
                  <a:solidFill>
                    <a:srgbClr val="B50937">
                      <a:alpha val="0"/>
                    </a:srgbClr>
                  </a:solidFill>
                </a:ln>
                <a:solidFill>
                  <a:schemeClr val="bg1"/>
                </a:solidFill>
                <a:latin typeface="Lato" panose="020B0604020202020204" charset="0"/>
                <a:ea typeface="에스코어 드림 6 Bold" panose="020B0703030302020204" pitchFamily="34" charset="-127"/>
              </a:rPr>
              <a:t>Provides Comprehensive Consultation </a:t>
            </a:r>
          </a:p>
          <a:p>
            <a:pPr algn="ctr">
              <a:spcBef>
                <a:spcPts val="500"/>
              </a:spcBef>
            </a:pPr>
            <a:r>
              <a:rPr lang="en-US" altLang="en-US" sz="1200" b="1" dirty="0">
                <a:ln>
                  <a:solidFill>
                    <a:srgbClr val="B50937">
                      <a:alpha val="0"/>
                    </a:srgbClr>
                  </a:solidFill>
                </a:ln>
                <a:solidFill>
                  <a:schemeClr val="bg1"/>
                </a:solidFill>
                <a:latin typeface="Lato" panose="020B0604020202020204" charset="0"/>
                <a:ea typeface="에스코어 드림 6 Bold" panose="020B0703030302020204" pitchFamily="34" charset="-127"/>
              </a:rPr>
              <a:t>Data for Physicians</a:t>
            </a:r>
            <a:endParaRPr lang="ko-KR" altLang="en-US" sz="1200" spc="-70" dirty="0">
              <a:ln>
                <a:solidFill>
                  <a:srgbClr val="B50937">
                    <a:alpha val="0"/>
                  </a:srgbClr>
                </a:solidFill>
              </a:ln>
              <a:solidFill>
                <a:schemeClr val="bg1"/>
              </a:solidFill>
              <a:latin typeface="Lato" panose="020B0604020202020204" charset="0"/>
              <a:ea typeface="에스코어 드림 6 Bold" panose="020B0703030302020204" pitchFamily="34" charset="-127"/>
            </a:endParaRPr>
          </a:p>
        </p:txBody>
      </p:sp>
      <p:sp>
        <p:nvSpPr>
          <p:cNvPr id="54" name="직각 삼각형 53">
            <a:extLst>
              <a:ext uri="{FF2B5EF4-FFF2-40B4-BE49-F238E27FC236}">
                <a16:creationId xmlns:a16="http://schemas.microsoft.com/office/drawing/2014/main" id="{70B13FD3-1893-9138-A603-1C7FC23C7371}"/>
              </a:ext>
            </a:extLst>
          </p:cNvPr>
          <p:cNvSpPr/>
          <p:nvPr/>
        </p:nvSpPr>
        <p:spPr>
          <a:xfrm flipH="1">
            <a:off x="4550902" y="4566038"/>
            <a:ext cx="94316" cy="87594"/>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B50937">
                    <a:alpha val="0"/>
                  </a:srgbClr>
                </a:solidFill>
              </a:ln>
              <a:latin typeface="에스코어 드림 4 Regular" panose="020B0503030302020204" pitchFamily="34" charset="-127"/>
              <a:ea typeface="에스코어 드림 4 Regular" panose="020B0503030302020204" pitchFamily="34" charset="-127"/>
            </a:endParaRPr>
          </a:p>
        </p:txBody>
      </p:sp>
      <p:sp>
        <p:nvSpPr>
          <p:cNvPr id="55" name="직사각형 54">
            <a:extLst>
              <a:ext uri="{FF2B5EF4-FFF2-40B4-BE49-F238E27FC236}">
                <a16:creationId xmlns:a16="http://schemas.microsoft.com/office/drawing/2014/main" id="{D90FDB00-5D2A-E61A-CA42-01FFDB177212}"/>
              </a:ext>
            </a:extLst>
          </p:cNvPr>
          <p:cNvSpPr/>
          <p:nvPr/>
        </p:nvSpPr>
        <p:spPr>
          <a:xfrm>
            <a:off x="8472101" y="1117600"/>
            <a:ext cx="3044809" cy="4303520"/>
          </a:xfrm>
          <a:prstGeom prst="rect">
            <a:avLst/>
          </a:prstGeom>
          <a:solidFill>
            <a:srgbClr val="F4F4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B50937">
                    <a:alpha val="0"/>
                  </a:srgbClr>
                </a:solidFill>
              </a:ln>
              <a:latin typeface="에스코어 드림 4 Regular" panose="020B0503030302020204" pitchFamily="34" charset="-127"/>
              <a:ea typeface="에스코어 드림 4 Regular" panose="020B0503030302020204" pitchFamily="34" charset="-127"/>
            </a:endParaRPr>
          </a:p>
        </p:txBody>
      </p:sp>
      <p:sp>
        <p:nvSpPr>
          <p:cNvPr id="56" name="TextBox 55">
            <a:extLst>
              <a:ext uri="{FF2B5EF4-FFF2-40B4-BE49-F238E27FC236}">
                <a16:creationId xmlns:a16="http://schemas.microsoft.com/office/drawing/2014/main" id="{E2084274-60F1-EEC2-26E1-4298A45D1AC6}"/>
              </a:ext>
            </a:extLst>
          </p:cNvPr>
          <p:cNvSpPr txBox="1"/>
          <p:nvPr/>
        </p:nvSpPr>
        <p:spPr>
          <a:xfrm>
            <a:off x="8621788" y="3501932"/>
            <a:ext cx="2745436" cy="1113821"/>
          </a:xfrm>
          <a:prstGeom prst="rect">
            <a:avLst/>
          </a:prstGeom>
          <a:noFill/>
        </p:spPr>
        <p:txBody>
          <a:bodyPr wrap="square" rIns="0" rtlCol="0">
            <a:noAutofit/>
          </a:bodyPr>
          <a:lstStyle/>
          <a:p>
            <a:pPr marL="285750" indent="-285750">
              <a:lnSpc>
                <a:spcPct val="150000"/>
              </a:lnSpc>
              <a:buFont typeface="Wingdings" panose="05000000000000000000" pitchFamily="2" charset="2"/>
              <a:buChar char="ü"/>
            </a:pPr>
            <a:r>
              <a:rPr lang="en-US" altLang="ko-KR" sz="1100" b="1" dirty="0">
                <a:solidFill>
                  <a:srgbClr val="B50937"/>
                </a:solidFill>
                <a:latin typeface="Lato"/>
              </a:rPr>
              <a:t>Enables personalized care</a:t>
            </a:r>
            <a:r>
              <a:rPr lang="en-US" altLang="ko-KR" sz="1100" dirty="0">
                <a:solidFill>
                  <a:srgbClr val="B50937"/>
                </a:solidFill>
                <a:latin typeface="Lato"/>
              </a:rPr>
              <a:t> </a:t>
            </a:r>
            <a:r>
              <a:rPr lang="en-US" altLang="ko-KR" sz="1100" dirty="0">
                <a:latin typeface="Lato"/>
              </a:rPr>
              <a:t>through phase angle monitoring.</a:t>
            </a:r>
          </a:p>
        </p:txBody>
      </p:sp>
      <p:cxnSp>
        <p:nvCxnSpPr>
          <p:cNvPr id="57" name="직선 연결선 56">
            <a:extLst>
              <a:ext uri="{FF2B5EF4-FFF2-40B4-BE49-F238E27FC236}">
                <a16:creationId xmlns:a16="http://schemas.microsoft.com/office/drawing/2014/main" id="{04A334E3-520F-8562-7EAA-E22F29EC01D4}"/>
              </a:ext>
            </a:extLst>
          </p:cNvPr>
          <p:cNvCxnSpPr>
            <a:cxnSpLocks/>
          </p:cNvCxnSpPr>
          <p:nvPr/>
        </p:nvCxnSpPr>
        <p:spPr>
          <a:xfrm>
            <a:off x="8587182" y="3343494"/>
            <a:ext cx="2814647"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sp>
        <p:nvSpPr>
          <p:cNvPr id="58" name="직각 삼각형 57">
            <a:extLst>
              <a:ext uri="{FF2B5EF4-FFF2-40B4-BE49-F238E27FC236}">
                <a16:creationId xmlns:a16="http://schemas.microsoft.com/office/drawing/2014/main" id="{5FBBED07-7E25-D5CF-BA29-73D4AB7D1BDC}"/>
              </a:ext>
            </a:extLst>
          </p:cNvPr>
          <p:cNvSpPr/>
          <p:nvPr/>
        </p:nvSpPr>
        <p:spPr>
          <a:xfrm>
            <a:off x="11513476" y="4576198"/>
            <a:ext cx="94316" cy="87594"/>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B50937">
                    <a:alpha val="0"/>
                  </a:srgbClr>
                </a:solidFill>
              </a:ln>
              <a:latin typeface="에스코어 드림 4 Regular" panose="020B0503030302020204" pitchFamily="34" charset="-127"/>
              <a:ea typeface="에스코어 드림 4 Regular" panose="020B0503030302020204" pitchFamily="34" charset="-127"/>
            </a:endParaRPr>
          </a:p>
        </p:txBody>
      </p:sp>
      <p:sp>
        <p:nvSpPr>
          <p:cNvPr id="60" name="TextBox 59">
            <a:extLst>
              <a:ext uri="{FF2B5EF4-FFF2-40B4-BE49-F238E27FC236}">
                <a16:creationId xmlns:a16="http://schemas.microsoft.com/office/drawing/2014/main" id="{B1BAB0C0-EDF1-7FAA-4475-E4FE45CFE68A}"/>
              </a:ext>
            </a:extLst>
          </p:cNvPr>
          <p:cNvSpPr txBox="1"/>
          <p:nvPr/>
        </p:nvSpPr>
        <p:spPr>
          <a:xfrm>
            <a:off x="8381220" y="4668559"/>
            <a:ext cx="3226567" cy="756094"/>
          </a:xfrm>
          <a:prstGeom prst="rect">
            <a:avLst/>
          </a:prstGeom>
          <a:solidFill>
            <a:srgbClr val="9097A7"/>
          </a:solidFill>
        </p:spPr>
        <p:txBody>
          <a:bodyPr wrap="square" lIns="180000" tIns="0" bIns="0" rtlCol="0" anchor="ctr" anchorCtr="0">
            <a:noAutofit/>
          </a:bodyPr>
          <a:lstStyle/>
          <a:p>
            <a:pPr algn="ctr">
              <a:spcBef>
                <a:spcPts val="500"/>
              </a:spcBef>
            </a:pPr>
            <a:r>
              <a:rPr lang="en-US" altLang="en-US" sz="1200" b="1" dirty="0">
                <a:ln>
                  <a:solidFill>
                    <a:srgbClr val="B50937">
                      <a:alpha val="0"/>
                    </a:srgbClr>
                  </a:solidFill>
                </a:ln>
                <a:solidFill>
                  <a:schemeClr val="bg1"/>
                </a:solidFill>
                <a:latin typeface="Lato" panose="020B0604020202020204" charset="0"/>
                <a:ea typeface="에스코어 드림 6 Bold" panose="020B0703030302020204" pitchFamily="34" charset="-127"/>
              </a:rPr>
              <a:t>Assesses Patient Condition </a:t>
            </a:r>
          </a:p>
          <a:p>
            <a:pPr algn="ctr">
              <a:spcBef>
                <a:spcPts val="500"/>
              </a:spcBef>
            </a:pPr>
            <a:r>
              <a:rPr lang="en-US" altLang="en-US" sz="1200" b="1" dirty="0">
                <a:ln>
                  <a:solidFill>
                    <a:srgbClr val="B50937">
                      <a:alpha val="0"/>
                    </a:srgbClr>
                  </a:solidFill>
                </a:ln>
                <a:solidFill>
                  <a:schemeClr val="bg1"/>
                </a:solidFill>
                <a:latin typeface="Lato" panose="020B0604020202020204" charset="0"/>
                <a:ea typeface="에스코어 드림 6 Bold" panose="020B0703030302020204" pitchFamily="34" charset="-127"/>
              </a:rPr>
              <a:t>through Cellular Health</a:t>
            </a:r>
            <a:endParaRPr lang="ko-KR" altLang="en-US" sz="1200" spc="-70" dirty="0">
              <a:ln>
                <a:solidFill>
                  <a:srgbClr val="B50937">
                    <a:alpha val="0"/>
                  </a:srgbClr>
                </a:solidFill>
              </a:ln>
              <a:solidFill>
                <a:schemeClr val="bg1"/>
              </a:solidFill>
              <a:latin typeface="Lato" panose="020B0604020202020204" charset="0"/>
              <a:ea typeface="에스코어 드림 6 Bold" panose="020B0703030302020204" pitchFamily="34" charset="-127"/>
            </a:endParaRPr>
          </a:p>
        </p:txBody>
      </p:sp>
      <p:sp>
        <p:nvSpPr>
          <p:cNvPr id="61" name="직각 삼각형 60">
            <a:extLst>
              <a:ext uri="{FF2B5EF4-FFF2-40B4-BE49-F238E27FC236}">
                <a16:creationId xmlns:a16="http://schemas.microsoft.com/office/drawing/2014/main" id="{70B13FD3-1893-9138-A603-1C7FC23C7371}"/>
              </a:ext>
            </a:extLst>
          </p:cNvPr>
          <p:cNvSpPr/>
          <p:nvPr/>
        </p:nvSpPr>
        <p:spPr>
          <a:xfrm flipH="1">
            <a:off x="8381222" y="4586358"/>
            <a:ext cx="94316" cy="87594"/>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B50937">
                    <a:alpha val="0"/>
                  </a:srgbClr>
                </a:solidFill>
              </a:ln>
              <a:latin typeface="에스코어 드림 4 Regular" panose="020B0503030302020204" pitchFamily="34" charset="-127"/>
              <a:ea typeface="에스코어 드림 4 Regular" panose="020B0503030302020204" pitchFamily="34" charset="-127"/>
            </a:endParaRPr>
          </a:p>
        </p:txBody>
      </p:sp>
      <p:sp>
        <p:nvSpPr>
          <p:cNvPr id="45" name="TextBox 44">
            <a:extLst>
              <a:ext uri="{FF2B5EF4-FFF2-40B4-BE49-F238E27FC236}">
                <a16:creationId xmlns:a16="http://schemas.microsoft.com/office/drawing/2014/main" id="{B9831EEA-9D65-F80A-4CEE-DE7587740E9F}"/>
              </a:ext>
            </a:extLst>
          </p:cNvPr>
          <p:cNvSpPr txBox="1"/>
          <p:nvPr/>
        </p:nvSpPr>
        <p:spPr>
          <a:xfrm>
            <a:off x="8218559" y="1200368"/>
            <a:ext cx="456250" cy="239498"/>
          </a:xfrm>
          <a:prstGeom prst="rect">
            <a:avLst/>
          </a:prstGeom>
          <a:solidFill>
            <a:srgbClr val="B50937"/>
          </a:solidFill>
          <a:effectLst>
            <a:outerShdw blurRad="127000" dist="38100" dir="2700000" algn="tl" rotWithShape="0">
              <a:prstClr val="black">
                <a:alpha val="30000"/>
              </a:prstClr>
            </a:outerShdw>
          </a:effectLst>
        </p:spPr>
        <p:txBody>
          <a:bodyPr wrap="square" lIns="0" tIns="0" rIns="0" bIns="0" rtlCol="0" anchor="ctr" anchorCtr="0">
            <a:noAutofit/>
          </a:bodyPr>
          <a:lstStyle/>
          <a:p>
            <a:pPr algn="ctr">
              <a:spcBef>
                <a:spcPts val="0"/>
              </a:spcBef>
            </a:pPr>
            <a:r>
              <a:rPr kumimoji="1" lang="en-US" altLang="ko-KR" sz="1100" b="1" dirty="0">
                <a:ln>
                  <a:solidFill>
                    <a:srgbClr val="B50937">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3</a:t>
            </a:r>
            <a:r>
              <a:rPr kumimoji="1" lang="en-US" altLang="ko-KR" sz="1100" b="1" baseline="30000" dirty="0">
                <a:ln>
                  <a:solidFill>
                    <a:srgbClr val="B50937">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rd</a:t>
            </a:r>
            <a:r>
              <a:rPr kumimoji="1" lang="en-US" altLang="ko-KR" sz="1100" b="1" dirty="0">
                <a:ln>
                  <a:solidFill>
                    <a:srgbClr val="B50937">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 </a:t>
            </a:r>
          </a:p>
        </p:txBody>
      </p:sp>
      <p:pic>
        <p:nvPicPr>
          <p:cNvPr id="66" name="그림 65"/>
          <p:cNvPicPr>
            <a:picLocks noChangeAspect="1"/>
          </p:cNvPicPr>
          <p:nvPr/>
        </p:nvPicPr>
        <p:blipFill rotWithShape="1">
          <a:blip r:embed="rId4" cstate="print">
            <a:extLst>
              <a:ext uri="{28A0092B-C50C-407E-A947-70E740481C1C}">
                <a14:useLocalDpi xmlns:a14="http://schemas.microsoft.com/office/drawing/2010/main" val="0"/>
              </a:ext>
            </a:extLst>
          </a:blip>
          <a:srcRect l="1567" t="28026" r="36009" b="49106"/>
          <a:stretch/>
        </p:blipFill>
        <p:spPr>
          <a:xfrm>
            <a:off x="4729385" y="1573950"/>
            <a:ext cx="2869596" cy="1480659"/>
          </a:xfrm>
          <a:prstGeom prst="rect">
            <a:avLst/>
          </a:prstGeom>
          <a:effectLst>
            <a:outerShdw blurRad="63500" sx="102000" sy="102000" algn="ctr" rotWithShape="0">
              <a:prstClr val="black">
                <a:alpha val="40000"/>
              </a:prstClr>
            </a:outerShdw>
          </a:effectLst>
        </p:spPr>
      </p:pic>
      <p:pic>
        <p:nvPicPr>
          <p:cNvPr id="4" name="그림 3"/>
          <p:cNvPicPr>
            <a:picLocks noChangeAspect="1"/>
          </p:cNvPicPr>
          <p:nvPr/>
        </p:nvPicPr>
        <p:blipFill>
          <a:blip r:embed="rId5"/>
          <a:stretch>
            <a:fillRect/>
          </a:stretch>
        </p:blipFill>
        <p:spPr>
          <a:xfrm>
            <a:off x="8701496" y="1435051"/>
            <a:ext cx="1880142" cy="1829129"/>
          </a:xfrm>
          <a:prstGeom prst="rect">
            <a:avLst/>
          </a:prstGeom>
        </p:spPr>
      </p:pic>
      <p:pic>
        <p:nvPicPr>
          <p:cNvPr id="68" name="그림 67">
            <a:extLst>
              <a:ext uri="{FF2B5EF4-FFF2-40B4-BE49-F238E27FC236}">
                <a16:creationId xmlns:a16="http://schemas.microsoft.com/office/drawing/2014/main" id="{0D430E8C-0DB4-B7ED-9C24-1120C69C4A0F}"/>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63787" t="57801" r="4764" b="36524"/>
          <a:stretch/>
        </p:blipFill>
        <p:spPr>
          <a:xfrm>
            <a:off x="9906910" y="1726351"/>
            <a:ext cx="1494919" cy="379903"/>
          </a:xfrm>
          <a:prstGeom prst="rect">
            <a:avLst/>
          </a:prstGeom>
          <a:ln w="31750">
            <a:noFill/>
          </a:ln>
          <a:effectLst>
            <a:outerShdw blurRad="63500" sx="102000" sy="102000" algn="ctr" rotWithShape="0">
              <a:prstClr val="black">
                <a:alpha val="40000"/>
              </a:prstClr>
            </a:outerShdw>
          </a:effectLst>
        </p:spPr>
      </p:pic>
      <p:sp>
        <p:nvSpPr>
          <p:cNvPr id="69" name="Rectangle 68"/>
          <p:cNvSpPr/>
          <p:nvPr/>
        </p:nvSpPr>
        <p:spPr>
          <a:xfrm>
            <a:off x="457200" y="320040"/>
            <a:ext cx="57607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57200" y="320040"/>
            <a:ext cx="5760720" cy="566928"/>
          </a:xfrm>
          <a:prstGeom prst="rect">
            <a:avLst/>
          </a:prstGeom>
          <a:noFill/>
        </p:spPr>
        <p:txBody>
          <a:bodyPr wrap="square" lIns="0" rIns="0" tIns="0" bIns="0" anchor="ctr">
            <a:spAutoFit/>
          </a:bodyPr>
          <a:lstStyle/>
          <a:p>
            <a:pPr algn="ctr"/>
            <a:r>
              <a:rPr sz="1900" b="1" i="0">
                <a:solidFill>
                  <a:srgbClr val="FFFFFF"/>
                </a:solidFill>
                <a:latin typeface="Calibri"/>
              </a:rPr>
              <a:t>What are the Benefits of using InBody?</a:t>
            </a:r>
          </a:p>
        </p:txBody>
      </p:sp>
      <p:sp>
        <p:nvSpPr>
          <p:cNvPr id="71" name="TextBox 70"/>
          <p:cNvSpPr txBox="1"/>
          <p:nvPr/>
        </p:nvSpPr>
        <p:spPr>
          <a:xfrm>
            <a:off x="6446520" y="320040"/>
            <a:ext cx="3459175" cy="566928"/>
          </a:xfrm>
          <a:prstGeom prst="rect">
            <a:avLst/>
          </a:prstGeom>
          <a:noFill/>
        </p:spPr>
        <p:txBody>
          <a:bodyPr wrap="square" lIns="0" rIns="0" tIns="0" bIns="0" anchor="ctr">
            <a:spAutoFit/>
          </a:bodyPr>
          <a:lstStyle/>
          <a:p>
            <a:pPr algn="l"/>
            <a:r>
              <a:rPr sz="900" b="1" i="0">
                <a:solidFill>
                  <a:srgbClr val="B50937"/>
                </a:solidFill>
                <a:latin typeface="Calibri"/>
              </a:rPr>
              <a:t>SESSION 5</a:t>
            </a:r>
          </a:p>
          <a:p>
            <a:pPr algn="l"/>
            <a:r>
              <a:rPr sz="900" b="0" i="0">
                <a:solidFill>
                  <a:srgbClr val="5E6470"/>
                </a:solidFill>
                <a:latin typeface="Calibri"/>
              </a:rPr>
              <a:t>GLP-1 Therapy  ·  Benefits of InBody</a:t>
            </a:r>
          </a:p>
        </p:txBody>
      </p:sp>
      <p:pic>
        <p:nvPicPr>
          <p:cNvPr id="72" name="Picture 71" descr="logo_red.png"/>
          <p:cNvPicPr>
            <a:picLocks noChangeAspect="1"/>
          </p:cNvPicPr>
          <p:nvPr/>
        </p:nvPicPr>
        <p:blipFill>
          <a:blip r:embed="rId7"/>
          <a:stretch>
            <a:fillRect/>
          </a:stretch>
        </p:blipFill>
        <p:spPr>
          <a:xfrm>
            <a:off x="10436918" y="420624"/>
            <a:ext cx="1297577" cy="365760"/>
          </a:xfrm>
          <a:prstGeom prst="rect">
            <a:avLst/>
          </a:prstGeom>
        </p:spPr>
      </p:pic>
      <p:sp>
        <p:nvSpPr>
          <p:cNvPr id="73" name="TextBox 72"/>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4" name="TextBox 73"/>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76</a:t>
            </a:r>
          </a:p>
        </p:txBody>
      </p:sp>
    </p:spTree>
    <p:extLst>
      <p:ext uri="{BB962C8B-B14F-4D97-AF65-F5344CB8AC3E}">
        <p14:creationId xmlns:p14="http://schemas.microsoft.com/office/powerpoint/2010/main" val="25202411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bg>
      <p:bgPr>
        <a:solidFill>
          <a:srgbClr val="181D27"/>
        </a:solidFill>
        <a:effectLst/>
      </p:bgPr>
    </p:bg>
    <p:spTree>
      <p:nvGrpSpPr>
        <p:cNvPr id="1" name=""/>
        <p:cNvGrpSpPr/>
        <p:nvPr/>
      </p:nvGrpSpPr>
      <p:grpSpPr>
        <a:xfrm>
          <a:off x="0" y="0"/>
          <a:ext cx="0" cy="0"/>
          <a:chOff x="0" y="0"/>
          <a:chExt cx="0" cy="0"/>
        </a:xfrm>
      </p:grpSpPr>
      <p:sp>
        <p:nvSpPr>
          <p:cNvPr id="2" name="Rounded Rectangle 1"/>
          <p:cNvSpPr/>
          <p:nvPr/>
        </p:nvSpPr>
        <p:spPr>
          <a:xfrm>
            <a:off x="822960" y="2148840"/>
            <a:ext cx="1371600" cy="1371600"/>
          </a:xfrm>
          <a:prstGeom prst="roundRect">
            <a:avLst>
              <a:gd name="adj" fmla="val 12000"/>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1371600" cy="1371600"/>
          </a:xfrm>
          <a:prstGeom prst="rect">
            <a:avLst/>
          </a:prstGeom>
          <a:noFill/>
        </p:spPr>
        <p:txBody>
          <a:bodyPr wrap="square" lIns="0" rIns="0" tIns="0" bIns="0" anchor="ctr">
            <a:spAutoFit/>
          </a:bodyPr>
          <a:lstStyle/>
          <a:p>
            <a:pPr algn="ctr"/>
            <a:r>
              <a:rPr sz="4400" b="1" i="0">
                <a:solidFill>
                  <a:srgbClr val="FFFFFF"/>
                </a:solidFill>
                <a:latin typeface="Cambria"/>
              </a:rPr>
              <a:t>06</a:t>
            </a:r>
          </a:p>
        </p:txBody>
      </p:sp>
      <p:sp>
        <p:nvSpPr>
          <p:cNvPr id="4" name="TextBox 3"/>
          <p:cNvSpPr txBox="1"/>
          <p:nvPr/>
        </p:nvSpPr>
        <p:spPr>
          <a:xfrm>
            <a:off x="2560320" y="2148840"/>
            <a:ext cx="8686800" cy="365760"/>
          </a:xfrm>
          <a:prstGeom prst="rect">
            <a:avLst/>
          </a:prstGeom>
          <a:noFill/>
        </p:spPr>
        <p:txBody>
          <a:bodyPr wrap="square" lIns="0" rIns="0" tIns="0" bIns="0" anchor="ctr">
            <a:spAutoFit/>
          </a:bodyPr>
          <a:lstStyle/>
          <a:p>
            <a:pPr algn="l"/>
            <a:r>
              <a:rPr sz="1200" b="1" i="0">
                <a:solidFill>
                  <a:srgbClr val="F5C6D1"/>
                </a:solidFill>
                <a:latin typeface="Calibri"/>
              </a:rPr>
              <a:t>SESSION 6  ·  2:15 – 2:55 PM</a:t>
            </a:r>
          </a:p>
        </p:txBody>
      </p:sp>
      <p:sp>
        <p:nvSpPr>
          <p:cNvPr id="5" name="TextBox 4"/>
          <p:cNvSpPr txBox="1"/>
          <p:nvPr/>
        </p:nvSpPr>
        <p:spPr>
          <a:xfrm>
            <a:off x="2560320" y="2560320"/>
            <a:ext cx="8961120" cy="1463040"/>
          </a:xfrm>
          <a:prstGeom prst="rect">
            <a:avLst/>
          </a:prstGeom>
          <a:noFill/>
        </p:spPr>
        <p:txBody>
          <a:bodyPr wrap="square" lIns="0" rIns="0" tIns="0" bIns="0" anchor="t">
            <a:spAutoFit/>
          </a:bodyPr>
          <a:lstStyle/>
          <a:p>
            <a:pPr algn="l"/>
            <a:r>
              <a:rPr sz="3600" b="1" i="0">
                <a:solidFill>
                  <a:srgbClr val="FFFFFF"/>
                </a:solidFill>
                <a:latin typeface="Cambria"/>
              </a:rPr>
              <a:t>Bariatric &amp; Obesity Management</a:t>
            </a:r>
          </a:p>
        </p:txBody>
      </p:sp>
      <p:pic>
        <p:nvPicPr>
          <p:cNvPr id="6" name="Picture 5" descr="logo_white.png"/>
          <p:cNvPicPr>
            <a:picLocks noChangeAspect="1"/>
          </p:cNvPicPr>
          <p:nvPr/>
        </p:nvPicPr>
        <p:blipFill>
          <a:blip r:embed="rId3"/>
          <a:stretch>
            <a:fillRect/>
          </a:stretch>
        </p:blipFill>
        <p:spPr>
          <a:xfrm>
            <a:off x="10021083" y="457200"/>
            <a:ext cx="1621971" cy="45720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9AA0AA"/>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F5C6D1"/>
                </a:solidFill>
                <a:latin typeface="Calibri"/>
              </a:rPr>
              <a:t>77</a:t>
            </a:r>
          </a:p>
        </p:txBody>
      </p:sp>
    </p:spTree>
    <p:extLst>
      <p:ext uri="{BB962C8B-B14F-4D97-AF65-F5344CB8AC3E}">
        <p14:creationId xmlns:p14="http://schemas.microsoft.com/office/powerpoint/2010/main" val="38564736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365760"/>
          </a:xfrm>
          <a:prstGeom prst="rect">
            <a:avLst/>
          </a:prstGeom>
          <a:noFill/>
        </p:spPr>
        <p:txBody>
          <a:bodyPr wrap="square" lIns="0" rIns="0" tIns="0" bIns="0" anchor="ctr">
            <a:spAutoFit/>
          </a:bodyPr>
          <a:lstStyle/>
          <a:p>
            <a:pPr algn="l"/>
            <a:r>
              <a:rPr sz="1100" b="1" i="0" spc="200">
                <a:solidFill>
                  <a:srgbClr val="B50937"/>
                </a:solidFill>
                <a:latin typeface="Calibri"/>
              </a:rPr>
              <a:t>SESSION 6  ·  BARIATRIC &amp; OBESITY MANAGEMENT</a:t>
            </a:r>
          </a:p>
        </p:txBody>
      </p:sp>
      <p:sp>
        <p:nvSpPr>
          <p:cNvPr id="4" name="TextBox 3"/>
          <p:cNvSpPr txBox="1"/>
          <p:nvPr/>
        </p:nvSpPr>
        <p:spPr>
          <a:xfrm>
            <a:off x="914400" y="2788920"/>
            <a:ext cx="10332720" cy="1097280"/>
          </a:xfrm>
          <a:prstGeom prst="rect">
            <a:avLst/>
          </a:prstGeom>
          <a:noFill/>
        </p:spPr>
        <p:txBody>
          <a:bodyPr wrap="square" lIns="0" rIns="0" tIns="0" bIns="0" anchor="t">
            <a:spAutoFit/>
          </a:bodyPr>
          <a:lstStyle/>
          <a:p>
            <a:pPr algn="l"/>
            <a:r>
              <a:rPr sz="4000" b="1" i="0">
                <a:solidFill>
                  <a:srgbClr val="181D27"/>
                </a:solidFill>
                <a:latin typeface="Cambria"/>
              </a:rPr>
              <a:t>What is Bariatric Surgery?</a:t>
            </a:r>
          </a:p>
        </p:txBody>
      </p:sp>
      <p:sp>
        <p:nvSpPr>
          <p:cNvPr id="5" name="Rectangle 4"/>
          <p:cNvSpPr/>
          <p:nvPr/>
        </p:nvSpPr>
        <p:spPr>
          <a:xfrm>
            <a:off x="914400" y="3977639"/>
            <a:ext cx="1097280" cy="73152"/>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red.png"/>
          <p:cNvPicPr>
            <a:picLocks noChangeAspect="1"/>
          </p:cNvPicPr>
          <p:nvPr/>
        </p:nvPicPr>
        <p:blipFill>
          <a:blip r:embed="rId2"/>
          <a:stretch>
            <a:fillRect/>
          </a:stretch>
        </p:blipFill>
        <p:spPr>
          <a:xfrm>
            <a:off x="10436918" y="420624"/>
            <a:ext cx="1297577" cy="36576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78</a:t>
            </a:r>
          </a:p>
        </p:txBody>
      </p:sp>
    </p:spTree>
    <p:extLst>
      <p:ext uri="{BB962C8B-B14F-4D97-AF65-F5344CB8AC3E}">
        <p14:creationId xmlns:p14="http://schemas.microsoft.com/office/powerpoint/2010/main" val="31657082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33" name="Rectangle"/>
          <p:cNvSpPr/>
          <p:nvPr/>
        </p:nvSpPr>
        <p:spPr>
          <a:xfrm>
            <a:off x="472711" y="1097280"/>
            <a:ext cx="11271716" cy="563065"/>
          </a:xfrm>
          <a:prstGeom prst="rect">
            <a:avLst/>
          </a:prstGeom>
          <a:solidFill>
            <a:srgbClr val="B50937"/>
          </a:solidFill>
          <a:ln w="12700">
            <a:miter lim="400000"/>
          </a:ln>
        </p:spPr>
        <p:txBody>
          <a:bodyPr lIns="45719" rIns="45719" anchor="ctr"/>
          <a:lstStyle/>
          <a:p>
            <a:endParaRPr/>
          </a:p>
        </p:txBody>
      </p:sp>
      <p:pic>
        <p:nvPicPr>
          <p:cNvPr id="136" name="Image" descr="Image"/>
          <p:cNvPicPr>
            <a:picLocks noChangeAspect="1"/>
          </p:cNvPicPr>
          <p:nvPr/>
        </p:nvPicPr>
        <p:blipFill>
          <a:blip r:embed="rId3"/>
          <a:stretch>
            <a:fillRect/>
          </a:stretch>
        </p:blipFill>
        <p:spPr>
          <a:xfrm>
            <a:off x="457200" y="5359173"/>
            <a:ext cx="1531746" cy="195068"/>
          </a:xfrm>
          <a:prstGeom prst="rect">
            <a:avLst/>
          </a:prstGeom>
          <a:ln w="12700">
            <a:miter lim="400000"/>
          </a:ln>
        </p:spPr>
      </p:pic>
      <p:sp>
        <p:nvSpPr>
          <p:cNvPr id="139" name="Bariatric = Baros: heaviness/Large/ Pressure/"/>
          <p:cNvSpPr txBox="1"/>
          <p:nvPr/>
        </p:nvSpPr>
        <p:spPr>
          <a:xfrm>
            <a:off x="2471873" y="1120898"/>
            <a:ext cx="7273391" cy="5158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554" b="1">
                <a:solidFill>
                  <a:srgbClr val="FFFFFF"/>
                </a:solidFill>
                <a:latin typeface="Graphik"/>
                <a:ea typeface="Graphik"/>
                <a:cs typeface="Graphik"/>
                <a:sym typeface="Graphik"/>
              </a:defRPr>
            </a:lvl1pPr>
          </a:lstStyle>
          <a:p>
            <a:r>
              <a:t>Bariatric = Baros: heaviness/Large/ Pressure/</a:t>
            </a:r>
          </a:p>
        </p:txBody>
      </p:sp>
      <p:sp>
        <p:nvSpPr>
          <p:cNvPr id="140" name="It is the field of medicine encompassing the study of Obesity, Its causes, Prevention &amp; treatment"/>
          <p:cNvSpPr txBox="1"/>
          <p:nvPr/>
        </p:nvSpPr>
        <p:spPr>
          <a:xfrm>
            <a:off x="1525104" y="1965342"/>
            <a:ext cx="9065355" cy="9005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365">
                <a:solidFill>
                  <a:schemeClr val="accent3">
                    <a:lumOff val="-12941"/>
                  </a:schemeClr>
                </a:solidFill>
                <a:latin typeface="Graphik"/>
                <a:ea typeface="Graphik"/>
                <a:cs typeface="Graphik"/>
                <a:sym typeface="Graphik"/>
              </a:defRPr>
            </a:lvl1pPr>
          </a:lstStyle>
          <a:p>
            <a:r>
              <a:rPr dirty="0"/>
              <a:t>It is the field of medicine encompassing the study of Obesity, Its causes, Prevention &amp; treatment</a:t>
            </a:r>
          </a:p>
        </p:txBody>
      </p:sp>
      <p:sp>
        <p:nvSpPr>
          <p:cNvPr id="141" name="Bariatric Surgery:…"/>
          <p:cNvSpPr txBox="1"/>
          <p:nvPr/>
        </p:nvSpPr>
        <p:spPr>
          <a:xfrm>
            <a:off x="1818868" y="2994354"/>
            <a:ext cx="8477827" cy="22712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365" b="1">
                <a:solidFill>
                  <a:srgbClr val="535353"/>
                </a:solidFill>
                <a:latin typeface="Graphik"/>
                <a:ea typeface="Graphik"/>
                <a:cs typeface="Graphik"/>
                <a:sym typeface="Graphik"/>
              </a:defRPr>
            </a:pPr>
            <a:r>
              <a:rPr dirty="0"/>
              <a:t>Bariatric Surgery:</a:t>
            </a:r>
          </a:p>
          <a:p>
            <a:pPr algn="ctr">
              <a:defRPr sz="2365">
                <a:solidFill>
                  <a:schemeClr val="accent3">
                    <a:lumOff val="-12941"/>
                  </a:schemeClr>
                </a:solidFill>
                <a:latin typeface="Graphik"/>
                <a:ea typeface="Graphik"/>
                <a:cs typeface="Graphik"/>
                <a:sym typeface="Graphik"/>
              </a:defRPr>
            </a:pPr>
            <a:r>
              <a:rPr dirty="0"/>
              <a:t>A therapeutic Intervention to understand and treated the causes and sequel of morbid obesity</a:t>
            </a:r>
            <a:endParaRPr lang="en-US" dirty="0"/>
          </a:p>
          <a:p>
            <a:pPr algn="ctr">
              <a:defRPr sz="2365">
                <a:solidFill>
                  <a:schemeClr val="accent3">
                    <a:lumOff val="-12941"/>
                  </a:schemeClr>
                </a:solidFill>
                <a:latin typeface="Graphik"/>
                <a:ea typeface="Graphik"/>
                <a:cs typeface="Graphik"/>
                <a:sym typeface="Graphik"/>
              </a:defRPr>
            </a:pPr>
            <a:r>
              <a:rPr lang="en-US" b="1" dirty="0"/>
              <a:t>Bariatric surgery involves reducing the size or capacity of the stomach by a series of surgical procedure for weight loss purposes.</a:t>
            </a:r>
          </a:p>
          <a:p>
            <a:pPr algn="ctr">
              <a:defRPr sz="2365">
                <a:solidFill>
                  <a:schemeClr val="accent3">
                    <a:lumOff val="-12941"/>
                  </a:schemeClr>
                </a:solidFill>
                <a:latin typeface="Graphik"/>
                <a:ea typeface="Graphik"/>
                <a:cs typeface="Graphik"/>
                <a:sym typeface="Graphik"/>
              </a:defRPr>
            </a:pPr>
            <a:endParaRPr dirty="0"/>
          </a:p>
        </p:txBody>
      </p:sp>
      <p:sp>
        <p:nvSpPr>
          <p:cNvPr id="142" name="Rectangle 141"/>
          <p:cNvSpPr/>
          <p:nvPr/>
        </p:nvSpPr>
        <p:spPr>
          <a:xfrm>
            <a:off x="457200" y="320040"/>
            <a:ext cx="411480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57200" y="320040"/>
            <a:ext cx="4114800" cy="566928"/>
          </a:xfrm>
          <a:prstGeom prst="rect">
            <a:avLst/>
          </a:prstGeom>
          <a:noFill/>
        </p:spPr>
        <p:txBody>
          <a:bodyPr wrap="square" lIns="0" rIns="0" tIns="0" bIns="0" anchor="ctr">
            <a:spAutoFit/>
          </a:bodyPr>
          <a:lstStyle/>
          <a:p>
            <a:pPr algn="ctr"/>
            <a:r>
              <a:rPr sz="2200" b="1" i="0">
                <a:solidFill>
                  <a:srgbClr val="FFFFFF"/>
                </a:solidFill>
                <a:latin typeface="Calibri"/>
              </a:rPr>
              <a:t>Introduction to Bariatrics</a:t>
            </a:r>
          </a:p>
        </p:txBody>
      </p:sp>
      <p:sp>
        <p:nvSpPr>
          <p:cNvPr id="144" name="TextBox 143"/>
          <p:cNvSpPr txBox="1"/>
          <p:nvPr/>
        </p:nvSpPr>
        <p:spPr>
          <a:xfrm>
            <a:off x="4800600" y="320040"/>
            <a:ext cx="510509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145" name="Picture 144" descr="logo_red.png"/>
          <p:cNvPicPr>
            <a:picLocks noChangeAspect="1"/>
          </p:cNvPicPr>
          <p:nvPr/>
        </p:nvPicPr>
        <p:blipFill>
          <a:blip r:embed="rId4"/>
          <a:stretch>
            <a:fillRect/>
          </a:stretch>
        </p:blipFill>
        <p:spPr>
          <a:xfrm>
            <a:off x="10436918" y="420624"/>
            <a:ext cx="1297577" cy="365760"/>
          </a:xfrm>
          <a:prstGeom prst="rect">
            <a:avLst/>
          </a:prstGeom>
        </p:spPr>
      </p:pic>
      <p:sp>
        <p:nvSpPr>
          <p:cNvPr id="146" name="TextBox 14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47" name="TextBox 14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79</a:t>
            </a:r>
          </a:p>
        </p:txBody>
      </p:sp>
    </p:spTree>
    <p:extLst>
      <p:ext uri="{BB962C8B-B14F-4D97-AF65-F5344CB8AC3E}">
        <p14:creationId xmlns:p14="http://schemas.microsoft.com/office/powerpoint/2010/main" val="2264256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pSp>
        <p:nvGrpSpPr>
          <p:cNvPr id="154" name="Group"/>
          <p:cNvGrpSpPr/>
          <p:nvPr/>
        </p:nvGrpSpPr>
        <p:grpSpPr>
          <a:xfrm>
            <a:off x="2491262" y="3422034"/>
            <a:ext cx="7209170" cy="2395073"/>
            <a:chOff x="0" y="0"/>
            <a:chExt cx="7209168" cy="2395071"/>
          </a:xfrm>
        </p:grpSpPr>
        <p:sp>
          <p:nvSpPr>
            <p:cNvPr id="148" name="Defined as a person’s weight in kilograms divided by the square of his height in meters (kg/m2)."/>
            <p:cNvSpPr txBox="1"/>
            <p:nvPr/>
          </p:nvSpPr>
          <p:spPr>
            <a:xfrm>
              <a:off x="3871959" y="48839"/>
              <a:ext cx="3307279" cy="77546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400">
                  <a:latin typeface="Graphik"/>
                  <a:ea typeface="Graphik"/>
                  <a:cs typeface="Graphik"/>
                  <a:sym typeface="Graphik"/>
                </a:defRPr>
              </a:lvl1pPr>
            </a:lstStyle>
            <a:p>
              <a:r>
                <a:t>Defined as a person’s weight in kilograms divided by the square of his height in meters (kg/m2).</a:t>
              </a:r>
            </a:p>
          </p:txBody>
        </p:sp>
        <p:grpSp>
          <p:nvGrpSpPr>
            <p:cNvPr id="151" name="Group"/>
            <p:cNvGrpSpPr/>
            <p:nvPr/>
          </p:nvGrpSpPr>
          <p:grpSpPr>
            <a:xfrm>
              <a:off x="0" y="-1"/>
              <a:ext cx="3307278" cy="2395073"/>
              <a:chOff x="0" y="0"/>
              <a:chExt cx="3307277" cy="2395071"/>
            </a:xfrm>
          </p:grpSpPr>
          <p:sp>
            <p:nvSpPr>
              <p:cNvPr id="149" name="Rectangle"/>
              <p:cNvSpPr/>
              <p:nvPr/>
            </p:nvSpPr>
            <p:spPr>
              <a:xfrm>
                <a:off x="-1" y="50971"/>
                <a:ext cx="3307279" cy="2344101"/>
              </a:xfrm>
              <a:prstGeom prst="rect">
                <a:avLst/>
              </a:prstGeom>
              <a:solidFill>
                <a:srgbClr val="FFFFFF"/>
              </a:solidFill>
              <a:ln w="12700" cap="flat">
                <a:noFill/>
                <a:miter lim="400000"/>
              </a:ln>
              <a:effectLst>
                <a:outerShdw blurRad="292100" dist="139700" dir="2700000" rotWithShape="0">
                  <a:srgbClr val="000000">
                    <a:alpha val="5031"/>
                  </a:srgbClr>
                </a:outerShdw>
              </a:effectLst>
            </p:spPr>
            <p:txBody>
              <a:bodyPr wrap="square" lIns="45719" tIns="45719" rIns="45719" bIns="45719" numCol="1" anchor="ctr">
                <a:noAutofit/>
              </a:bodyPr>
              <a:lstStyle/>
              <a:p>
                <a:endParaRPr/>
              </a:p>
            </p:txBody>
          </p:sp>
          <p:sp>
            <p:nvSpPr>
              <p:cNvPr id="150" name="Rectangle"/>
              <p:cNvSpPr/>
              <p:nvPr/>
            </p:nvSpPr>
            <p:spPr>
              <a:xfrm>
                <a:off x="-1" y="-1"/>
                <a:ext cx="3307279" cy="28343"/>
              </a:xfrm>
              <a:prstGeom prst="rect">
                <a:avLst/>
              </a:prstGeom>
              <a:solidFill>
                <a:srgbClr val="B50937"/>
              </a:solidFill>
              <a:ln w="12700" cap="flat">
                <a:noFill/>
                <a:miter lim="400000"/>
              </a:ln>
              <a:effectLst/>
            </p:spPr>
            <p:txBody>
              <a:bodyPr wrap="square" lIns="45719" tIns="45719" rIns="45719" bIns="45719" numCol="1" anchor="ctr">
                <a:noAutofit/>
              </a:bodyPr>
              <a:lstStyle/>
              <a:p>
                <a:endParaRPr/>
              </a:p>
            </p:txBody>
          </p:sp>
        </p:grpSp>
        <p:sp>
          <p:nvSpPr>
            <p:cNvPr id="152" name="Body Mass Index…"/>
            <p:cNvSpPr txBox="1"/>
            <p:nvPr/>
          </p:nvSpPr>
          <p:spPr>
            <a:xfrm>
              <a:off x="105913" y="119705"/>
              <a:ext cx="3095452" cy="200723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ctr">
                <a:defRPr sz="2400" b="1">
                  <a:solidFill>
                    <a:srgbClr val="B50937"/>
                  </a:solidFill>
                  <a:latin typeface="Graphik"/>
                  <a:ea typeface="Graphik"/>
                  <a:cs typeface="Graphik"/>
                  <a:sym typeface="Graphik"/>
                </a:defRPr>
              </a:pPr>
              <a:r>
                <a:t>Body Mass Index</a:t>
              </a:r>
            </a:p>
            <a:p>
              <a:pPr algn="ctr">
                <a:defRPr sz="1500">
                  <a:latin typeface="Graphik"/>
                  <a:ea typeface="Graphik"/>
                  <a:cs typeface="Graphik"/>
                  <a:sym typeface="Graphik"/>
                </a:defRPr>
              </a:pPr>
              <a:r>
                <a:t>(BMI)</a:t>
              </a:r>
            </a:p>
            <a:p>
              <a:pPr algn="ctr">
                <a:defRPr sz="1500">
                  <a:latin typeface="Graphik"/>
                  <a:ea typeface="Graphik"/>
                  <a:cs typeface="Graphik"/>
                  <a:sym typeface="Graphik"/>
                </a:defRPr>
              </a:pPr>
              <a:endParaRPr/>
            </a:p>
            <a:p>
              <a:pPr algn="ctr">
                <a:defRPr sz="1500">
                  <a:latin typeface="Graphik"/>
                  <a:ea typeface="Graphik"/>
                  <a:cs typeface="Graphik"/>
                  <a:sym typeface="Graphik"/>
                </a:defRPr>
              </a:pPr>
              <a:r>
                <a:t>is a simple index of weight-for-height that is commonly used to</a:t>
              </a:r>
            </a:p>
            <a:p>
              <a:pPr algn="ctr">
                <a:defRPr sz="1500">
                  <a:latin typeface="Graphik"/>
                  <a:ea typeface="Graphik"/>
                  <a:cs typeface="Graphik"/>
                  <a:sym typeface="Graphik"/>
                </a:defRPr>
              </a:pPr>
              <a:r>
                <a:t>classify overweight and obesity in adults.</a:t>
              </a:r>
            </a:p>
          </p:txBody>
        </p:sp>
        <p:pic>
          <p:nvPicPr>
            <p:cNvPr id="153" name="pasted-movie.png" descr="pasted-movie.png"/>
            <p:cNvPicPr>
              <a:picLocks noChangeAspect="1"/>
            </p:cNvPicPr>
            <p:nvPr/>
          </p:nvPicPr>
          <p:blipFill>
            <a:blip r:embed="rId4"/>
            <a:srcRect l="4503" t="37439" r="7734" b="32124"/>
            <a:stretch>
              <a:fillRect/>
            </a:stretch>
          </p:blipFill>
          <p:spPr>
            <a:xfrm>
              <a:off x="3902062" y="1572578"/>
              <a:ext cx="3307107" cy="645128"/>
            </a:xfrm>
            <a:prstGeom prst="rect">
              <a:avLst/>
            </a:prstGeom>
            <a:ln w="12700" cap="flat">
              <a:noFill/>
              <a:miter lim="400000"/>
            </a:ln>
            <a:effectLst/>
          </p:spPr>
        </p:pic>
      </p:grpSp>
      <p:pic>
        <p:nvPicPr>
          <p:cNvPr id="155" name="Website_Banner_Mobile_578X364_01-1-removebg-preview (1).png" descr="Website_Banner_Mobile_578X364_01-1-removebg-preview (1).png"/>
          <p:cNvPicPr>
            <a:picLocks noChangeAspect="1"/>
          </p:cNvPicPr>
          <p:nvPr/>
        </p:nvPicPr>
        <p:blipFill>
          <a:blip r:embed="rId5"/>
          <a:stretch>
            <a:fillRect/>
          </a:stretch>
        </p:blipFill>
        <p:spPr>
          <a:xfrm>
            <a:off x="2505902" y="1635252"/>
            <a:ext cx="3322905" cy="1783980"/>
          </a:xfrm>
          <a:prstGeom prst="rect">
            <a:avLst/>
          </a:prstGeom>
          <a:ln w="12700">
            <a:miter lim="400000"/>
          </a:ln>
        </p:spPr>
      </p:pic>
      <p:sp>
        <p:nvSpPr>
          <p:cNvPr id="156" name="Rectangle 155"/>
          <p:cNvSpPr/>
          <p:nvPr/>
        </p:nvSpPr>
        <p:spPr>
          <a:xfrm>
            <a:off x="457200" y="320040"/>
            <a:ext cx="342900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457200" y="320040"/>
            <a:ext cx="3429000" cy="566928"/>
          </a:xfrm>
          <a:prstGeom prst="rect">
            <a:avLst/>
          </a:prstGeom>
          <a:noFill/>
        </p:spPr>
        <p:txBody>
          <a:bodyPr wrap="square" lIns="0" rIns="0" tIns="0" bIns="0" anchor="ctr">
            <a:spAutoFit/>
          </a:bodyPr>
          <a:lstStyle/>
          <a:p>
            <a:pPr algn="ctr"/>
            <a:r>
              <a:rPr sz="2200" b="1" i="0">
                <a:solidFill>
                  <a:srgbClr val="FFFFFF"/>
                </a:solidFill>
                <a:latin typeface="Calibri"/>
              </a:rPr>
              <a:t>Body Mass Index (BMI)</a:t>
            </a:r>
          </a:p>
        </p:txBody>
      </p:sp>
      <p:sp>
        <p:nvSpPr>
          <p:cNvPr id="158" name="TextBox 157"/>
          <p:cNvSpPr txBox="1"/>
          <p:nvPr/>
        </p:nvSpPr>
        <p:spPr>
          <a:xfrm>
            <a:off x="4114800" y="320040"/>
            <a:ext cx="579089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159" name="Picture 158" descr="logo_red.png"/>
          <p:cNvPicPr>
            <a:picLocks noChangeAspect="1"/>
          </p:cNvPicPr>
          <p:nvPr/>
        </p:nvPicPr>
        <p:blipFill>
          <a:blip r:embed="rId6"/>
          <a:stretch>
            <a:fillRect/>
          </a:stretch>
        </p:blipFill>
        <p:spPr>
          <a:xfrm>
            <a:off x="10436918" y="420624"/>
            <a:ext cx="1297577" cy="365760"/>
          </a:xfrm>
          <a:prstGeom prst="rect">
            <a:avLst/>
          </a:prstGeom>
        </p:spPr>
      </p:pic>
      <p:sp>
        <p:nvSpPr>
          <p:cNvPr id="160" name="TextBox 159"/>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61" name="TextBox 160"/>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80</a:t>
            </a:r>
          </a:p>
        </p:txBody>
      </p:sp>
    </p:spTree>
    <p:extLst>
      <p:ext uri="{BB962C8B-B14F-4D97-AF65-F5344CB8AC3E}">
        <p14:creationId xmlns:p14="http://schemas.microsoft.com/office/powerpoint/2010/main" val="37947467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57" name="Rectangle"/>
          <p:cNvSpPr/>
          <p:nvPr/>
        </p:nvSpPr>
        <p:spPr>
          <a:xfrm>
            <a:off x="713059" y="1097280"/>
            <a:ext cx="10775070" cy="855211"/>
          </a:xfrm>
          <a:prstGeom prst="rect">
            <a:avLst/>
          </a:prstGeom>
          <a:solidFill>
            <a:srgbClr val="B50937"/>
          </a:solidFill>
          <a:ln w="12700">
            <a:miter lim="400000"/>
          </a:ln>
        </p:spPr>
        <p:txBody>
          <a:bodyPr lIns="45719" rIns="45719" anchor="ctr"/>
          <a:lstStyle/>
          <a:p>
            <a:endParaRPr/>
          </a:p>
        </p:txBody>
      </p:sp>
      <p:sp>
        <p:nvSpPr>
          <p:cNvPr id="158" name="TextBox 4"/>
          <p:cNvSpPr txBox="1"/>
          <p:nvPr/>
        </p:nvSpPr>
        <p:spPr>
          <a:xfrm>
            <a:off x="2453406" y="1128844"/>
            <a:ext cx="7024337" cy="7920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170">
                <a:solidFill>
                  <a:srgbClr val="FFFFFF"/>
                </a:solidFill>
                <a:latin typeface="Graphik"/>
                <a:ea typeface="Graphik"/>
                <a:cs typeface="Graphik"/>
                <a:sym typeface="Graphik"/>
              </a:defRPr>
            </a:lvl1pPr>
          </a:lstStyle>
          <a:p>
            <a:r>
              <a:rPr sz="1200"/>
              <a:t>Bariatric surgery can help such cases of extreme obesity,  when immediate weight loss is required</a:t>
            </a:r>
          </a:p>
        </p:txBody>
      </p:sp>
      <p:sp>
        <p:nvSpPr>
          <p:cNvPr id="159" name="모서리가 둥근 직사각형 6"/>
          <p:cNvSpPr/>
          <p:nvPr/>
        </p:nvSpPr>
        <p:spPr>
          <a:xfrm>
            <a:off x="1916716" y="2782395"/>
            <a:ext cx="3721502" cy="3394149"/>
          </a:xfrm>
          <a:prstGeom prst="roundRect">
            <a:avLst>
              <a:gd name="adj" fmla="val 16667"/>
            </a:avLst>
          </a:prstGeom>
          <a:ln w="12700">
            <a:solidFill>
              <a:srgbClr val="B50937"/>
            </a:solidFill>
            <a:prstDash val="lgDash"/>
            <a:miter/>
          </a:ln>
        </p:spPr>
        <p:txBody>
          <a:bodyPr lIns="45719" rIns="45719" anchor="ctr"/>
          <a:lstStyle/>
          <a:p>
            <a:pPr algn="ctr">
              <a:defRPr>
                <a:solidFill>
                  <a:srgbClr val="FFFFFF"/>
                </a:solidFill>
              </a:defRPr>
            </a:pPr>
            <a:endParaRPr/>
          </a:p>
        </p:txBody>
      </p:sp>
      <p:sp>
        <p:nvSpPr>
          <p:cNvPr id="160" name="모서리가 둥근 직사각형 15"/>
          <p:cNvSpPr/>
          <p:nvPr/>
        </p:nvSpPr>
        <p:spPr>
          <a:xfrm>
            <a:off x="6284313" y="2782395"/>
            <a:ext cx="3721502" cy="3394149"/>
          </a:xfrm>
          <a:prstGeom prst="roundRect">
            <a:avLst>
              <a:gd name="adj" fmla="val 16667"/>
            </a:avLst>
          </a:prstGeom>
          <a:ln w="12700">
            <a:solidFill>
              <a:srgbClr val="B50937"/>
            </a:solidFill>
            <a:prstDash val="lgDash"/>
            <a:miter/>
          </a:ln>
        </p:spPr>
        <p:txBody>
          <a:bodyPr lIns="45719" rIns="45719" anchor="ctr"/>
          <a:lstStyle/>
          <a:p>
            <a:pPr algn="ctr">
              <a:defRPr>
                <a:solidFill>
                  <a:srgbClr val="FFFFFF"/>
                </a:solidFill>
              </a:defRPr>
            </a:pPr>
            <a:endParaRPr/>
          </a:p>
        </p:txBody>
      </p:sp>
      <p:sp>
        <p:nvSpPr>
          <p:cNvPr id="161" name="TextBox 7"/>
          <p:cNvSpPr txBox="1"/>
          <p:nvPr/>
        </p:nvSpPr>
        <p:spPr>
          <a:xfrm>
            <a:off x="2406025" y="2967808"/>
            <a:ext cx="2742886" cy="3076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808"/>
            </a:lvl1pPr>
          </a:lstStyle>
          <a:p>
            <a:r>
              <a:rPr sz="1200"/>
              <a:t>What is Bariatric Surgery?</a:t>
            </a:r>
          </a:p>
        </p:txBody>
      </p:sp>
      <p:sp>
        <p:nvSpPr>
          <p:cNvPr id="162" name="TextBox 16"/>
          <p:cNvSpPr txBox="1"/>
          <p:nvPr/>
        </p:nvSpPr>
        <p:spPr>
          <a:xfrm>
            <a:off x="2070055" y="3617841"/>
            <a:ext cx="2456330" cy="1686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8"/>
            </a:lvl1pPr>
          </a:lstStyle>
          <a:p>
            <a:r>
              <a:rPr dirty="0" sz="1200"/>
              <a:t>Bariatric surgery involves reducing the size or capacity of the stomach by a series of surgical procedure for weight loss purposes.</a:t>
            </a:r>
          </a:p>
        </p:txBody>
      </p:sp>
      <p:sp>
        <p:nvSpPr>
          <p:cNvPr id="163" name="TextBox 9"/>
          <p:cNvSpPr txBox="1"/>
          <p:nvPr/>
        </p:nvSpPr>
        <p:spPr>
          <a:xfrm>
            <a:off x="6773621" y="2967808"/>
            <a:ext cx="2742886" cy="5833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1808"/>
            </a:pPr>
            <a:r>
              <a:rPr sz="1200"/>
              <a:t>Who is eligible for </a:t>
            </a:r>
          </a:p>
          <a:p>
            <a:pPr algn="ctr">
              <a:defRPr sz="1808"/>
            </a:pPr>
            <a:r>
              <a:rPr sz="1200"/>
              <a:t>Bariatric Surgery?</a:t>
            </a:r>
          </a:p>
        </p:txBody>
      </p:sp>
      <p:sp>
        <p:nvSpPr>
          <p:cNvPr id="164" name="TextBox 10"/>
          <p:cNvSpPr txBox="1"/>
          <p:nvPr/>
        </p:nvSpPr>
        <p:spPr>
          <a:xfrm>
            <a:off x="6664557" y="3793444"/>
            <a:ext cx="3299908" cy="25616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latin typeface="Graphik"/>
                <a:ea typeface="Graphik"/>
                <a:cs typeface="Graphik"/>
                <a:sym typeface="Graphik"/>
              </a:defRPr>
            </a:lvl1pPr>
          </a:lstStyle>
          <a:p>
            <a:r>
              <a:rPr sz="1200"/>
              <a:t>Morbidly obese people are the ones who opt for bariatric surgery. People with obesity and high diabetes also often opt for bariatric surgery. Bariatric surgery can help them shed some weight so that they can at least get moving and start exercising again.</a:t>
            </a:r>
          </a:p>
        </p:txBody>
      </p:sp>
      <p:sp>
        <p:nvSpPr>
          <p:cNvPr id="165" name="Rectangle 164"/>
          <p:cNvSpPr/>
          <p:nvPr/>
        </p:nvSpPr>
        <p:spPr>
          <a:xfrm>
            <a:off x="457200" y="320040"/>
            <a:ext cx="411480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457200" y="320040"/>
            <a:ext cx="4114800" cy="566928"/>
          </a:xfrm>
          <a:prstGeom prst="rect">
            <a:avLst/>
          </a:prstGeom>
          <a:noFill/>
        </p:spPr>
        <p:txBody>
          <a:bodyPr wrap="square" lIns="0" rIns="0" tIns="0" bIns="0" anchor="ctr">
            <a:spAutoFit/>
          </a:bodyPr>
          <a:lstStyle/>
          <a:p>
            <a:pPr algn="ctr"/>
            <a:r>
              <a:rPr sz="2200" b="1" i="0">
                <a:solidFill>
                  <a:srgbClr val="FFFFFF"/>
                </a:solidFill>
                <a:latin typeface="Calibri"/>
              </a:rPr>
              <a:t>What is Bariatric Surgery?</a:t>
            </a:r>
          </a:p>
        </p:txBody>
      </p:sp>
      <p:sp>
        <p:nvSpPr>
          <p:cNvPr id="167" name="TextBox 166"/>
          <p:cNvSpPr txBox="1"/>
          <p:nvPr/>
        </p:nvSpPr>
        <p:spPr>
          <a:xfrm>
            <a:off x="4800600" y="320040"/>
            <a:ext cx="510509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168" name="Picture 167" descr="logo_red.png"/>
          <p:cNvPicPr>
            <a:picLocks noChangeAspect="1"/>
          </p:cNvPicPr>
          <p:nvPr/>
        </p:nvPicPr>
        <p:blipFill>
          <a:blip r:embed="rId3"/>
          <a:stretch>
            <a:fillRect/>
          </a:stretch>
        </p:blipFill>
        <p:spPr>
          <a:xfrm>
            <a:off x="10436918" y="420624"/>
            <a:ext cx="1297577" cy="365760"/>
          </a:xfrm>
          <a:prstGeom prst="rect">
            <a:avLst/>
          </a:prstGeom>
        </p:spPr>
      </p:pic>
      <p:sp>
        <p:nvSpPr>
          <p:cNvPr id="169" name="TextBox 168"/>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70" name="TextBox 169"/>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81</a:t>
            </a:r>
          </a:p>
        </p:txBody>
      </p:sp>
    </p:spTree>
    <p:extLst>
      <p:ext uri="{BB962C8B-B14F-4D97-AF65-F5344CB8AC3E}">
        <p14:creationId xmlns:p14="http://schemas.microsoft.com/office/powerpoint/2010/main" val="12383567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57607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5760720" cy="566928"/>
          </a:xfrm>
          <a:prstGeom prst="rect">
            <a:avLst/>
          </a:prstGeom>
          <a:noFill/>
        </p:spPr>
        <p:txBody>
          <a:bodyPr wrap="square" lIns="0" rIns="0" tIns="0" bIns="0" anchor="ctr">
            <a:spAutoFit/>
          </a:bodyPr>
          <a:lstStyle/>
          <a:p>
            <a:pPr algn="ctr"/>
            <a:r>
              <a:rPr sz="1900" b="1" i="0">
                <a:solidFill>
                  <a:srgbClr val="FFFFFF"/>
                </a:solidFill>
                <a:latin typeface="Calibri"/>
              </a:rPr>
              <a:t>Who is Eligible for Bariatric Surgery?</a:t>
            </a:r>
          </a:p>
        </p:txBody>
      </p:sp>
      <p:sp>
        <p:nvSpPr>
          <p:cNvPr id="4" name="TextBox 3"/>
          <p:cNvSpPr txBox="1"/>
          <p:nvPr/>
        </p:nvSpPr>
        <p:spPr>
          <a:xfrm>
            <a:off x="6446520" y="320040"/>
            <a:ext cx="345917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82</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Patients eligible (ASMBS)</a:t>
            </a:r>
          </a:p>
          <a:p>
            <a:pPr marL="228600" indent="-228600">
              <a:spcAft>
                <a:spcPts val="600"/>
              </a:spcAft>
              <a:buChar char="•"/>
            </a:pPr>
            <a:r>
              <a:rPr sz="1300">
                <a:solidFill>
                  <a:srgbClr val="181D27"/>
                </a:solidFill>
                <a:latin typeface="Calibri"/>
              </a:rPr>
              <a:t>BMI ≥ 40, or more than 100 pounds overweight</a:t>
            </a:r>
          </a:p>
          <a:p>
            <a:pPr marL="228600" indent="-228600">
              <a:spcAft>
                <a:spcPts val="600"/>
              </a:spcAft>
              <a:buChar char="•"/>
            </a:pPr>
            <a:r>
              <a:rPr sz="1300">
                <a:solidFill>
                  <a:srgbClr val="181D27"/>
                </a:solidFill>
                <a:latin typeface="Calibri"/>
              </a:rPr>
              <a:t>BMI ≥ 35 with at least one obesity-related co-morbidity, such as T2DM or hypertension</a:t>
            </a:r>
          </a:p>
          <a:p>
            <a:pPr marL="228600" indent="-228600">
              <a:spcAft>
                <a:spcPts val="600"/>
              </a:spcAft>
              <a:buChar char="•"/>
            </a:pPr>
            <a:r>
              <a:rPr sz="1300">
                <a:solidFill>
                  <a:srgbClr val="181D27"/>
                </a:solidFill>
                <a:latin typeface="Calibri"/>
              </a:rPr>
              <a:t>Unable to sustain healthy weight loss with prior efforts</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80.png"/>
          <p:cNvPicPr>
            <a:picLocks noChangeAspect="1"/>
          </p:cNvPicPr>
          <p:nvPr/>
        </p:nvPicPr>
        <p:blipFill>
          <a:blip r:embed="rId5"/>
          <a:stretch>
            <a:fillRect/>
          </a:stretch>
        </p:blipFill>
        <p:spPr>
          <a:xfrm>
            <a:off x="5922649" y="1280160"/>
            <a:ext cx="5467036"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Weight-loss effort must continue after surgery, so patients need to understand the process and be willing.</a:t>
            </a:r>
          </a:p>
        </p:txBody>
      </p:sp>
    </p:spTree>
    <p:extLst>
      <p:ext uri="{BB962C8B-B14F-4D97-AF65-F5344CB8AC3E}">
        <p14:creationId xmlns:p14="http://schemas.microsoft.com/office/powerpoint/2010/main" val="36602704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11480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4114800" cy="566928"/>
          </a:xfrm>
          <a:prstGeom prst="rect">
            <a:avLst/>
          </a:prstGeom>
          <a:noFill/>
        </p:spPr>
        <p:txBody>
          <a:bodyPr wrap="square" lIns="0" rIns="0" tIns="0" bIns="0" anchor="ctr">
            <a:spAutoFit/>
          </a:bodyPr>
          <a:lstStyle/>
          <a:p>
            <a:pPr algn="ctr"/>
            <a:r>
              <a:rPr sz="2200" b="1" i="0">
                <a:solidFill>
                  <a:srgbClr val="FFFFFF"/>
                </a:solidFill>
                <a:latin typeface="Calibri"/>
              </a:rPr>
              <a:t>Types of Bariatric Surgery</a:t>
            </a:r>
          </a:p>
        </p:txBody>
      </p:sp>
      <p:sp>
        <p:nvSpPr>
          <p:cNvPr id="4" name="TextBox 3"/>
          <p:cNvSpPr txBox="1"/>
          <p:nvPr/>
        </p:nvSpPr>
        <p:spPr>
          <a:xfrm>
            <a:off x="4800600" y="320040"/>
            <a:ext cx="510509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83</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4 most common bariatric surgeries</a:t>
            </a:r>
          </a:p>
          <a:p>
            <a:pPr marL="228600" indent="-228600">
              <a:spcAft>
                <a:spcPts val="600"/>
              </a:spcAft>
              <a:buChar char="•"/>
            </a:pPr>
            <a:r>
              <a:rPr sz="1300">
                <a:solidFill>
                  <a:srgbClr val="181D27"/>
                </a:solidFill>
                <a:latin typeface="Calibri"/>
              </a:rPr>
              <a:t>Adjustable Gastric Band (LAP-BAND)</a:t>
            </a:r>
          </a:p>
          <a:p>
            <a:pPr marL="228600" indent="-228600">
              <a:spcAft>
                <a:spcPts val="600"/>
              </a:spcAft>
              <a:buChar char="•"/>
            </a:pPr>
            <a:r>
              <a:rPr sz="1300">
                <a:solidFill>
                  <a:srgbClr val="181D27"/>
                </a:solidFill>
                <a:latin typeface="Calibri"/>
              </a:rPr>
              <a:t>Gastric Sleeve Plication</a:t>
            </a:r>
          </a:p>
          <a:p>
            <a:pPr marL="228600" indent="-228600">
              <a:spcAft>
                <a:spcPts val="600"/>
              </a:spcAft>
              <a:buChar char="•"/>
            </a:pPr>
            <a:r>
              <a:rPr sz="1300">
                <a:solidFill>
                  <a:srgbClr val="181D27"/>
                </a:solidFill>
                <a:latin typeface="Calibri"/>
              </a:rPr>
              <a:t>Roux-en-Y Gastric Bypass</a:t>
            </a:r>
          </a:p>
          <a:p>
            <a:pPr marL="228600" indent="-228600">
              <a:spcAft>
                <a:spcPts val="600"/>
              </a:spcAft>
              <a:buChar char="•"/>
            </a:pPr>
            <a:r>
              <a:rPr sz="1300">
                <a:solidFill>
                  <a:srgbClr val="181D27"/>
                </a:solidFill>
                <a:latin typeface="Calibri"/>
              </a:rPr>
              <a:t>Vertical Sleeve Gastrectomy (Gastric Sleeve)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81.png"/>
          <p:cNvPicPr>
            <a:picLocks noChangeAspect="1"/>
          </p:cNvPicPr>
          <p:nvPr/>
        </p:nvPicPr>
        <p:blipFill>
          <a:blip r:embed="rId5"/>
          <a:stretch>
            <a:fillRect/>
          </a:stretch>
        </p:blipFill>
        <p:spPr>
          <a:xfrm>
            <a:off x="6733989" y="1280160"/>
            <a:ext cx="3844355"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Each surgery reduces the size or capacity of the stomach in a different way.</a:t>
            </a:r>
          </a:p>
        </p:txBody>
      </p:sp>
    </p:spTree>
    <p:extLst>
      <p:ext uri="{BB962C8B-B14F-4D97-AF65-F5344CB8AC3E}">
        <p14:creationId xmlns:p14="http://schemas.microsoft.com/office/powerpoint/2010/main" val="9254770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pSp>
        <p:nvGrpSpPr>
          <p:cNvPr id="192" name="그룹 1"/>
          <p:cNvGrpSpPr/>
          <p:nvPr/>
        </p:nvGrpSpPr>
        <p:grpSpPr>
          <a:xfrm>
            <a:off x="1693401" y="2199083"/>
            <a:ext cx="8784978" cy="3054193"/>
            <a:chOff x="0" y="0"/>
            <a:chExt cx="8784975" cy="3054192"/>
          </a:xfrm>
        </p:grpSpPr>
        <p:sp>
          <p:nvSpPr>
            <p:cNvPr id="180" name="갈매기형 수장 2"/>
            <p:cNvSpPr/>
            <p:nvPr/>
          </p:nvSpPr>
          <p:spPr>
            <a:xfrm>
              <a:off x="2664296" y="1051069"/>
              <a:ext cx="360041" cy="562506"/>
            </a:xfrm>
            <a:prstGeom prst="chevron">
              <a:avLst>
                <a:gd name="adj" fmla="val 50000"/>
              </a:avLst>
            </a:prstGeom>
            <a:solidFill>
              <a:srgbClr val="B50937">
                <a:alpha val="50195"/>
              </a:srgbClr>
            </a:solidFill>
            <a:ln w="12700" cap="flat">
              <a:noFill/>
              <a:miter lim="400000"/>
            </a:ln>
            <a:effectLst/>
          </p:spPr>
          <p:txBody>
            <a:bodyPr wrap="square" lIns="45719" tIns="45719" rIns="45719" bIns="45719" numCol="1" anchor="ctr">
              <a:noAutofit/>
            </a:bodyPr>
            <a:lstStyle/>
            <a:p>
              <a:pPr algn="ctr">
                <a:defRPr>
                  <a:latin typeface="조선일보명조"/>
                  <a:ea typeface="조선일보명조"/>
                  <a:cs typeface="조선일보명조"/>
                  <a:sym typeface="조선일보명조"/>
                </a:defRPr>
              </a:pPr>
              <a:endParaRPr/>
            </a:p>
          </p:txBody>
        </p:sp>
        <p:sp>
          <p:nvSpPr>
            <p:cNvPr id="181" name="갈매기형 수장 3"/>
            <p:cNvSpPr/>
            <p:nvPr/>
          </p:nvSpPr>
          <p:spPr>
            <a:xfrm>
              <a:off x="5760640" y="1051069"/>
              <a:ext cx="360041" cy="562506"/>
            </a:xfrm>
            <a:prstGeom prst="chevron">
              <a:avLst>
                <a:gd name="adj" fmla="val 50000"/>
              </a:avLst>
            </a:prstGeom>
            <a:solidFill>
              <a:srgbClr val="B50937">
                <a:alpha val="50195"/>
              </a:srgbClr>
            </a:solidFill>
            <a:ln w="12700" cap="flat">
              <a:noFill/>
              <a:miter lim="400000"/>
            </a:ln>
            <a:effectLst/>
          </p:spPr>
          <p:txBody>
            <a:bodyPr wrap="square" lIns="45719" tIns="45719" rIns="45719" bIns="45719" numCol="1" anchor="ctr">
              <a:noAutofit/>
            </a:bodyPr>
            <a:lstStyle/>
            <a:p>
              <a:pPr algn="ctr">
                <a:defRPr>
                  <a:latin typeface="조선일보명조"/>
                  <a:ea typeface="조선일보명조"/>
                  <a:cs typeface="조선일보명조"/>
                  <a:sym typeface="조선일보명조"/>
                </a:defRPr>
              </a:pPr>
              <a:endParaRPr/>
            </a:p>
          </p:txBody>
        </p:sp>
        <p:sp>
          <p:nvSpPr>
            <p:cNvPr id="182" name="모서리가 둥근 직사각형 4"/>
            <p:cNvSpPr/>
            <p:nvPr/>
          </p:nvSpPr>
          <p:spPr>
            <a:xfrm>
              <a:off x="0" y="1"/>
              <a:ext cx="2513909" cy="3054192"/>
            </a:xfrm>
            <a:prstGeom prst="roundRect">
              <a:avLst>
                <a:gd name="adj" fmla="val 4104"/>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latin typeface="조선일보명조"/>
                  <a:ea typeface="조선일보명조"/>
                  <a:cs typeface="조선일보명조"/>
                  <a:sym typeface="조선일보명조"/>
                </a:defRPr>
              </a:pPr>
              <a:endParaRPr/>
            </a:p>
          </p:txBody>
        </p:sp>
        <p:sp>
          <p:nvSpPr>
            <p:cNvPr id="183" name="TextBox 5"/>
            <p:cNvSpPr txBox="1"/>
            <p:nvPr/>
          </p:nvSpPr>
          <p:spPr>
            <a:xfrm>
              <a:off x="78542" y="955212"/>
              <a:ext cx="2422464" cy="20853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marL="285743" indent="-285743">
                <a:spcBef>
                  <a:spcPts val="100"/>
                </a:spcBef>
                <a:buSzPct val="100000"/>
                <a:buFont typeface="Arial"/>
                <a:buChar char="•"/>
                <a:defRPr b="1" spc="-100">
                  <a:ln w="9525" cap="flat">
                    <a:solidFill>
                      <a:srgbClr val="B50937">
                        <a:alpha val="0"/>
                      </a:srgbClr>
                    </a:solidFill>
                    <a:prstDash val="solid"/>
                    <a:round/>
                  </a:ln>
                  <a:solidFill>
                    <a:srgbClr val="595959"/>
                  </a:solidFill>
                  <a:latin typeface="조선일보명조"/>
                  <a:ea typeface="조선일보명조"/>
                  <a:cs typeface="조선일보명조"/>
                  <a:sym typeface="조선일보명조"/>
                </a:defRPr>
              </a:pPr>
              <a:r>
                <a:t>High protein liquid diet</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B50937">
                        <a:alpha val="0"/>
                      </a:srgbClr>
                    </a:solidFill>
                    <a:prstDash val="solid"/>
                    <a:round/>
                  </a:ln>
                  <a:solidFill>
                    <a:srgbClr val="595959"/>
                  </a:solidFill>
                  <a:latin typeface="조선일보명조"/>
                  <a:ea typeface="조선일보명조"/>
                  <a:cs typeface="조선일보명조"/>
                  <a:sym typeface="조선일보명조"/>
                </a:defRPr>
              </a:pPr>
              <a:r>
                <a:t>Physical Exercise</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B50937">
                        <a:alpha val="0"/>
                      </a:srgbClr>
                    </a:solidFill>
                    <a:prstDash val="solid"/>
                    <a:round/>
                  </a:ln>
                  <a:solidFill>
                    <a:srgbClr val="595959"/>
                  </a:solidFill>
                  <a:latin typeface="조선일보명조"/>
                  <a:ea typeface="조선일보명조"/>
                  <a:cs typeface="조선일보명조"/>
                  <a:sym typeface="조선일보명조"/>
                </a:defRPr>
              </a:pPr>
              <a:r>
                <a:t>Mental consultant</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B50937">
                        <a:alpha val="0"/>
                      </a:srgbClr>
                    </a:solidFill>
                    <a:prstDash val="solid"/>
                    <a:round/>
                  </a:ln>
                  <a:solidFill>
                    <a:srgbClr val="595959"/>
                  </a:solidFill>
                  <a:latin typeface="조선일보명조"/>
                  <a:ea typeface="조선일보명조"/>
                  <a:cs typeface="조선일보명조"/>
                  <a:sym typeface="조선일보명조"/>
                </a:defRPr>
              </a:pPr>
              <a:r>
                <a:t>Taking a daily multivitamin &amp; mineral</a:t>
              </a:r>
            </a:p>
          </p:txBody>
        </p:sp>
        <p:sp>
          <p:nvSpPr>
            <p:cNvPr id="184" name="모서리가 둥근 직사각형 6"/>
            <p:cNvSpPr/>
            <p:nvPr/>
          </p:nvSpPr>
          <p:spPr>
            <a:xfrm>
              <a:off x="142714" y="160012"/>
              <a:ext cx="2312148" cy="766020"/>
            </a:xfrm>
            <a:prstGeom prst="roundRect">
              <a:avLst>
                <a:gd name="adj" fmla="val 50000"/>
              </a:avLst>
            </a:prstGeom>
            <a:solidFill>
              <a:srgbClr val="B50937"/>
            </a:solidFill>
            <a:ln w="12700" cap="flat">
              <a:noFill/>
              <a:miter lim="400000"/>
            </a:ln>
            <a:effectLst/>
          </p:spPr>
          <p:txBody>
            <a:bodyPr wrap="square" lIns="45719" tIns="45719" rIns="45719" bIns="45719" numCol="1" anchor="ctr">
              <a:noAutofit/>
            </a:bodyPr>
            <a:lstStyle/>
            <a:p>
              <a:pPr algn="ctr" defTabSz="1067747">
                <a:defRPr sz="2300">
                  <a:solidFill>
                    <a:srgbClr val="B50937"/>
                  </a:solidFill>
                  <a:latin typeface="조선일보명조"/>
                  <a:ea typeface="조선일보명조"/>
                  <a:cs typeface="조선일보명조"/>
                  <a:sym typeface="조선일보명조"/>
                </a:defRPr>
              </a:pPr>
              <a:endParaRPr/>
            </a:p>
          </p:txBody>
        </p:sp>
        <p:sp>
          <p:nvSpPr>
            <p:cNvPr id="185" name="TextBox 7"/>
            <p:cNvSpPr txBox="1"/>
            <p:nvPr/>
          </p:nvSpPr>
          <p:spPr>
            <a:xfrm>
              <a:off x="291288" y="305657"/>
              <a:ext cx="2014997" cy="3962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000" spc="-31">
                  <a:ln w="9525" cap="flat">
                    <a:solidFill>
                      <a:schemeClr val="accent5">
                        <a:alpha val="0"/>
                      </a:schemeClr>
                    </a:solidFill>
                    <a:prstDash val="solid"/>
                    <a:round/>
                  </a:ln>
                  <a:gradFill flip="none" rotWithShape="1">
                    <a:gsLst>
                      <a:gs pos="0">
                        <a:srgbClr val="FFFFFF"/>
                      </a:gs>
                      <a:gs pos="50000">
                        <a:srgbClr val="FFFFFF"/>
                      </a:gs>
                    </a:gsLst>
                    <a:lin ang="5400000" scaled="0"/>
                  </a:gradFill>
                  <a:latin typeface="조선일보명조"/>
                  <a:ea typeface="조선일보명조"/>
                  <a:cs typeface="조선일보명조"/>
                  <a:sym typeface="조선일보명조"/>
                </a:defRPr>
              </a:lvl1pPr>
            </a:lstStyle>
            <a:p>
              <a:r>
                <a:t>Before Surgery</a:t>
              </a:r>
            </a:p>
          </p:txBody>
        </p:sp>
        <p:sp>
          <p:nvSpPr>
            <p:cNvPr id="186" name="모서리가 둥근 직사각형 8"/>
            <p:cNvSpPr/>
            <p:nvPr/>
          </p:nvSpPr>
          <p:spPr>
            <a:xfrm>
              <a:off x="3138191" y="0"/>
              <a:ext cx="2513908" cy="3054191"/>
            </a:xfrm>
            <a:prstGeom prst="roundRect">
              <a:avLst>
                <a:gd name="adj" fmla="val 4104"/>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latin typeface="조선일보명조"/>
                  <a:ea typeface="조선일보명조"/>
                  <a:cs typeface="조선일보명조"/>
                  <a:sym typeface="조선일보명조"/>
                </a:defRPr>
              </a:pPr>
              <a:endParaRPr/>
            </a:p>
          </p:txBody>
        </p:sp>
        <p:sp>
          <p:nvSpPr>
            <p:cNvPr id="187" name="모서리가 둥근 직사각형 9"/>
            <p:cNvSpPr/>
            <p:nvPr/>
          </p:nvSpPr>
          <p:spPr>
            <a:xfrm>
              <a:off x="3239072" y="160011"/>
              <a:ext cx="2312147" cy="766019"/>
            </a:xfrm>
            <a:prstGeom prst="roundRect">
              <a:avLst>
                <a:gd name="adj" fmla="val 50000"/>
              </a:avLst>
            </a:prstGeom>
            <a:solidFill>
              <a:srgbClr val="B50937"/>
            </a:solidFill>
            <a:ln w="12700" cap="flat">
              <a:noFill/>
              <a:miter lim="400000"/>
            </a:ln>
            <a:effectLst/>
          </p:spPr>
          <p:txBody>
            <a:bodyPr wrap="square" lIns="45719" tIns="45719" rIns="45719" bIns="45719" numCol="1" anchor="ctr">
              <a:noAutofit/>
            </a:bodyPr>
            <a:lstStyle/>
            <a:p>
              <a:pPr algn="ctr" defTabSz="1067747">
                <a:defRPr sz="2300">
                  <a:solidFill>
                    <a:srgbClr val="B50937"/>
                  </a:solidFill>
                  <a:latin typeface="조선일보명조"/>
                  <a:ea typeface="조선일보명조"/>
                  <a:cs typeface="조선일보명조"/>
                  <a:sym typeface="조선일보명조"/>
                </a:defRPr>
              </a:pPr>
              <a:endParaRPr/>
            </a:p>
          </p:txBody>
        </p:sp>
        <p:sp>
          <p:nvSpPr>
            <p:cNvPr id="188" name="TextBox 10"/>
            <p:cNvSpPr txBox="1"/>
            <p:nvPr/>
          </p:nvSpPr>
          <p:spPr>
            <a:xfrm>
              <a:off x="3282327" y="285483"/>
              <a:ext cx="2225641" cy="3962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000" spc="-31">
                  <a:ln w="9525" cap="flat">
                    <a:solidFill>
                      <a:schemeClr val="accent5">
                        <a:alpha val="0"/>
                      </a:schemeClr>
                    </a:solidFill>
                    <a:prstDash val="solid"/>
                    <a:round/>
                  </a:ln>
                  <a:gradFill flip="none" rotWithShape="1">
                    <a:gsLst>
                      <a:gs pos="0">
                        <a:srgbClr val="FFFFFF"/>
                      </a:gs>
                      <a:gs pos="50000">
                        <a:srgbClr val="FFFFFF"/>
                      </a:gs>
                    </a:gsLst>
                    <a:lin ang="5400000" scaled="0"/>
                  </a:gradFill>
                  <a:latin typeface="조선일보명조"/>
                  <a:ea typeface="조선일보명조"/>
                  <a:cs typeface="조선일보명조"/>
                  <a:sym typeface="조선일보명조"/>
                </a:defRPr>
              </a:lvl1pPr>
            </a:lstStyle>
            <a:p>
              <a:r>
                <a:t>Surgery</a:t>
              </a:r>
            </a:p>
          </p:txBody>
        </p:sp>
        <p:sp>
          <p:nvSpPr>
            <p:cNvPr id="189" name="모서리가 둥근 직사각형 11"/>
            <p:cNvSpPr/>
            <p:nvPr/>
          </p:nvSpPr>
          <p:spPr>
            <a:xfrm>
              <a:off x="6271067" y="0"/>
              <a:ext cx="2513909" cy="3054191"/>
            </a:xfrm>
            <a:prstGeom prst="roundRect">
              <a:avLst>
                <a:gd name="adj" fmla="val 4104"/>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latin typeface="조선일보명조"/>
                  <a:ea typeface="조선일보명조"/>
                  <a:cs typeface="조선일보명조"/>
                  <a:sym typeface="조선일보명조"/>
                </a:defRPr>
              </a:pPr>
              <a:endParaRPr/>
            </a:p>
          </p:txBody>
        </p:sp>
        <p:sp>
          <p:nvSpPr>
            <p:cNvPr id="190" name="모서리가 둥근 직사각형 12"/>
            <p:cNvSpPr/>
            <p:nvPr/>
          </p:nvSpPr>
          <p:spPr>
            <a:xfrm>
              <a:off x="6371949" y="160011"/>
              <a:ext cx="2312147" cy="766020"/>
            </a:xfrm>
            <a:prstGeom prst="roundRect">
              <a:avLst>
                <a:gd name="adj" fmla="val 50000"/>
              </a:avLst>
            </a:prstGeom>
            <a:solidFill>
              <a:srgbClr val="B50937"/>
            </a:solidFill>
            <a:ln w="12700" cap="flat">
              <a:noFill/>
              <a:miter lim="400000"/>
            </a:ln>
            <a:effectLst/>
          </p:spPr>
          <p:txBody>
            <a:bodyPr wrap="square" lIns="45719" tIns="45719" rIns="45719" bIns="45719" numCol="1" anchor="ctr">
              <a:noAutofit/>
            </a:bodyPr>
            <a:lstStyle/>
            <a:p>
              <a:pPr algn="ctr" defTabSz="1067747">
                <a:defRPr sz="2300">
                  <a:solidFill>
                    <a:srgbClr val="B50937"/>
                  </a:solidFill>
                  <a:latin typeface="조선일보명조"/>
                  <a:ea typeface="조선일보명조"/>
                  <a:cs typeface="조선일보명조"/>
                  <a:sym typeface="조선일보명조"/>
                </a:defRPr>
              </a:pPr>
              <a:endParaRPr/>
            </a:p>
          </p:txBody>
        </p:sp>
        <p:sp>
          <p:nvSpPr>
            <p:cNvPr id="191" name="TextBox 13"/>
            <p:cNvSpPr txBox="1"/>
            <p:nvPr/>
          </p:nvSpPr>
          <p:spPr>
            <a:xfrm>
              <a:off x="6520524" y="305655"/>
              <a:ext cx="2014996" cy="3962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000" spc="-31">
                  <a:ln w="9525" cap="flat">
                    <a:solidFill>
                      <a:schemeClr val="accent5">
                        <a:alpha val="0"/>
                      </a:schemeClr>
                    </a:solidFill>
                    <a:prstDash val="solid"/>
                    <a:round/>
                  </a:ln>
                  <a:gradFill flip="none" rotWithShape="1">
                    <a:gsLst>
                      <a:gs pos="0">
                        <a:srgbClr val="FFFFFF"/>
                      </a:gs>
                      <a:gs pos="50000">
                        <a:srgbClr val="FFFFFF"/>
                      </a:gs>
                    </a:gsLst>
                    <a:lin ang="5400000" scaled="0"/>
                  </a:gradFill>
                  <a:latin typeface="조선일보명조"/>
                  <a:ea typeface="조선일보명조"/>
                  <a:cs typeface="조선일보명조"/>
                  <a:sym typeface="조선일보명조"/>
                </a:defRPr>
              </a:lvl1pPr>
            </a:lstStyle>
            <a:p>
              <a:r>
                <a:t>After Surgery</a:t>
              </a:r>
            </a:p>
          </p:txBody>
        </p:sp>
      </p:grpSp>
      <p:sp>
        <p:nvSpPr>
          <p:cNvPr id="193" name="TextBox 14"/>
          <p:cNvSpPr txBox="1"/>
          <p:nvPr/>
        </p:nvSpPr>
        <p:spPr>
          <a:xfrm>
            <a:off x="4874459" y="3431295"/>
            <a:ext cx="2422464" cy="1513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285743" indent="-285743">
              <a:spcBef>
                <a:spcPts val="100"/>
              </a:spcBef>
              <a:buSzPct val="100000"/>
              <a:buFont typeface="Arial"/>
              <a:buChar char="•"/>
              <a:defRPr b="1" spc="-100">
                <a:ln w="9525" cap="flat">
                  <a:solidFill>
                    <a:srgbClr val="B50937">
                      <a:alpha val="0"/>
                    </a:srgbClr>
                  </a:solidFill>
                  <a:prstDash val="solid"/>
                  <a:round/>
                </a:ln>
                <a:solidFill>
                  <a:srgbClr val="595959"/>
                </a:solidFill>
                <a:latin typeface="조선일보명조"/>
                <a:ea typeface="조선일보명조"/>
                <a:cs typeface="조선일보명조"/>
                <a:sym typeface="조선일보명조"/>
              </a:defRPr>
            </a:pPr>
            <a:r>
              <a:t>Adjustable gastric banding</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B50937">
                      <a:alpha val="0"/>
                    </a:srgbClr>
                  </a:solidFill>
                  <a:prstDash val="solid"/>
                  <a:round/>
                </a:ln>
                <a:solidFill>
                  <a:srgbClr val="595959"/>
                </a:solidFill>
                <a:latin typeface="조선일보명조"/>
                <a:ea typeface="조선일보명조"/>
                <a:cs typeface="조선일보명조"/>
                <a:sym typeface="조선일보명조"/>
              </a:defRPr>
            </a:pPr>
            <a:r>
              <a:t>Sleeve gastrectomy</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B50937">
                      <a:alpha val="0"/>
                    </a:srgbClr>
                  </a:solidFill>
                  <a:prstDash val="solid"/>
                  <a:round/>
                </a:ln>
                <a:solidFill>
                  <a:srgbClr val="595959"/>
                </a:solidFill>
                <a:latin typeface="조선일보명조"/>
                <a:ea typeface="조선일보명조"/>
                <a:cs typeface="조선일보명조"/>
                <a:sym typeface="조선일보명조"/>
              </a:defRPr>
            </a:pPr>
            <a:r>
              <a:t>Roux-en-Y gastric bypass</a:t>
            </a:r>
          </a:p>
        </p:txBody>
      </p:sp>
      <p:sp>
        <p:nvSpPr>
          <p:cNvPr id="194" name="TextBox 15"/>
          <p:cNvSpPr txBox="1"/>
          <p:nvPr/>
        </p:nvSpPr>
        <p:spPr>
          <a:xfrm>
            <a:off x="8075829" y="3419396"/>
            <a:ext cx="2422464" cy="1793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285743" indent="-285743">
              <a:spcBef>
                <a:spcPts val="100"/>
              </a:spcBef>
              <a:buSzPct val="100000"/>
              <a:buFont typeface="Arial"/>
              <a:buChar char="•"/>
              <a:defRPr b="1" spc="-100">
                <a:ln w="9525" cap="flat">
                  <a:solidFill>
                    <a:srgbClr val="B50937">
                      <a:alpha val="0"/>
                    </a:srgbClr>
                  </a:solidFill>
                  <a:prstDash val="solid"/>
                  <a:round/>
                </a:ln>
                <a:solidFill>
                  <a:srgbClr val="595959"/>
                </a:solidFill>
                <a:latin typeface="조선일보명조"/>
                <a:ea typeface="조선일보명조"/>
                <a:cs typeface="조선일보명조"/>
                <a:sym typeface="조선일보명조"/>
              </a:defRPr>
            </a:pPr>
            <a:r>
              <a:t>Following dietary program</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B50937">
                      <a:alpha val="0"/>
                    </a:srgbClr>
                  </a:solidFill>
                  <a:prstDash val="solid"/>
                  <a:round/>
                </a:ln>
                <a:solidFill>
                  <a:srgbClr val="595959"/>
                </a:solidFill>
                <a:latin typeface="조선일보명조"/>
                <a:ea typeface="조선일보명조"/>
                <a:cs typeface="조선일보명조"/>
                <a:sym typeface="조선일보명조"/>
              </a:defRPr>
            </a:pPr>
            <a:r>
              <a:t>Monitoring Balance of Protein, mineral, Carbs</a:t>
            </a:r>
            <a:endParaRPr>
              <a:solidFill>
                <a:srgbClr val="262626"/>
              </a:solidFill>
              <a:latin typeface="YDIYGo540"/>
              <a:ea typeface="YDIYGo540"/>
              <a:cs typeface="YDIYGo540"/>
              <a:sym typeface="YDIYGo540"/>
            </a:endParaRPr>
          </a:p>
          <a:p>
            <a:pPr marL="285743" indent="-285743">
              <a:spcBef>
                <a:spcPts val="100"/>
              </a:spcBef>
              <a:buSzPct val="100000"/>
              <a:buFont typeface="Arial"/>
              <a:buChar char="•"/>
              <a:defRPr b="1" spc="-100">
                <a:ln w="9525" cap="flat">
                  <a:solidFill>
                    <a:srgbClr val="B50937">
                      <a:alpha val="0"/>
                    </a:srgbClr>
                  </a:solidFill>
                  <a:prstDash val="solid"/>
                  <a:round/>
                </a:ln>
                <a:solidFill>
                  <a:srgbClr val="595959"/>
                </a:solidFill>
                <a:latin typeface="조선일보명조"/>
                <a:ea typeface="조선일보명조"/>
                <a:cs typeface="조선일보명조"/>
                <a:sym typeface="조선일보명조"/>
              </a:defRPr>
            </a:pPr>
            <a:r>
              <a:t>Physical Exercise</a:t>
            </a:r>
          </a:p>
        </p:txBody>
      </p:sp>
      <p:sp>
        <p:nvSpPr>
          <p:cNvPr id="195" name="Rectangle 194"/>
          <p:cNvSpPr/>
          <p:nvPr/>
        </p:nvSpPr>
        <p:spPr>
          <a:xfrm>
            <a:off x="457200" y="320040"/>
            <a:ext cx="43891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457200" y="320040"/>
            <a:ext cx="4389120" cy="566928"/>
          </a:xfrm>
          <a:prstGeom prst="rect">
            <a:avLst/>
          </a:prstGeom>
          <a:noFill/>
        </p:spPr>
        <p:txBody>
          <a:bodyPr wrap="square" lIns="0" rIns="0" tIns="0" bIns="0" anchor="ctr">
            <a:spAutoFit/>
          </a:bodyPr>
          <a:lstStyle/>
          <a:p>
            <a:pPr algn="ctr"/>
            <a:r>
              <a:rPr sz="2200" b="1" i="0">
                <a:solidFill>
                  <a:srgbClr val="FFFFFF"/>
                </a:solidFill>
                <a:latin typeface="Calibri"/>
              </a:rPr>
              <a:t>Process of Bariatric Surgery</a:t>
            </a:r>
          </a:p>
        </p:txBody>
      </p:sp>
      <p:sp>
        <p:nvSpPr>
          <p:cNvPr id="197" name="TextBox 196"/>
          <p:cNvSpPr txBox="1"/>
          <p:nvPr/>
        </p:nvSpPr>
        <p:spPr>
          <a:xfrm>
            <a:off x="5074920" y="320040"/>
            <a:ext cx="483077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198" name="Picture 197" descr="logo_red.png"/>
          <p:cNvPicPr>
            <a:picLocks noChangeAspect="1"/>
          </p:cNvPicPr>
          <p:nvPr/>
        </p:nvPicPr>
        <p:blipFill>
          <a:blip r:embed="rId2"/>
          <a:stretch>
            <a:fillRect/>
          </a:stretch>
        </p:blipFill>
        <p:spPr>
          <a:xfrm>
            <a:off x="10436918" y="420624"/>
            <a:ext cx="1297577" cy="365760"/>
          </a:xfrm>
          <a:prstGeom prst="rect">
            <a:avLst/>
          </a:prstGeom>
        </p:spPr>
      </p:pic>
      <p:sp>
        <p:nvSpPr>
          <p:cNvPr id="199" name="TextBox 198"/>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00" name="TextBox 199"/>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84</a:t>
            </a:r>
          </a:p>
        </p:txBody>
      </p:sp>
    </p:spTree>
    <p:extLst>
      <p:ext uri="{BB962C8B-B14F-4D97-AF65-F5344CB8AC3E}">
        <p14:creationId xmlns:p14="http://schemas.microsoft.com/office/powerpoint/2010/main" val="34764673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pSp>
        <p:nvGrpSpPr>
          <p:cNvPr id="202" name="직사각형 6"/>
          <p:cNvGrpSpPr/>
          <p:nvPr/>
        </p:nvGrpSpPr>
        <p:grpSpPr>
          <a:xfrm>
            <a:off x="5962260" y="1920302"/>
            <a:ext cx="4348598" cy="890913"/>
            <a:chOff x="0" y="0"/>
            <a:chExt cx="4779033" cy="979097"/>
          </a:xfrm>
        </p:grpSpPr>
        <p:sp>
          <p:nvSpPr>
            <p:cNvPr id="200" name="Rectangle"/>
            <p:cNvSpPr/>
            <p:nvPr/>
          </p:nvSpPr>
          <p:spPr>
            <a:xfrm>
              <a:off x="-1" y="0"/>
              <a:ext cx="4779035" cy="979098"/>
            </a:xfrm>
            <a:prstGeom prst="rect">
              <a:avLst/>
            </a:prstGeom>
            <a:solidFill>
              <a:srgbClr val="B50937"/>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01" name="Body Composition: Obesity analysis…"/>
            <p:cNvSpPr txBox="1"/>
            <p:nvPr/>
          </p:nvSpPr>
          <p:spPr>
            <a:xfrm>
              <a:off x="52069" y="30905"/>
              <a:ext cx="4674894"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a:p>
            <a:p>
              <a:pPr marL="285750" indent="-285750">
                <a:buSzPct val="100000"/>
                <a:buChar char="-"/>
                <a:defRPr>
                  <a:solidFill>
                    <a:srgbClr val="FFFFFF"/>
                  </a:solidFill>
                </a:defRPr>
              </a:pPr>
              <a:r>
                <a:t>Body Composition: Obesity analysis</a:t>
              </a:r>
            </a:p>
            <a:p>
              <a:pPr marL="285750" indent="-285750">
                <a:buSzPct val="100000"/>
                <a:buChar char="-"/>
                <a:defRPr>
                  <a:solidFill>
                    <a:srgbClr val="FFFFFF"/>
                  </a:solidFill>
                </a:defRPr>
              </a:pPr>
              <a:r>
                <a:t>Phase Angle: Prediction of surgical outcomes</a:t>
              </a:r>
            </a:p>
          </p:txBody>
        </p:sp>
      </p:grpSp>
      <p:pic>
        <p:nvPicPr>
          <p:cNvPr id="204" name="그림 2" descr="그림 2"/>
          <p:cNvPicPr>
            <a:picLocks noChangeAspect="1"/>
          </p:cNvPicPr>
          <p:nvPr/>
        </p:nvPicPr>
        <p:blipFill>
          <a:blip r:embed="rId2"/>
          <a:stretch>
            <a:fillRect/>
          </a:stretch>
        </p:blipFill>
        <p:spPr>
          <a:xfrm>
            <a:off x="1880836" y="1097280"/>
            <a:ext cx="3932489" cy="5257800"/>
          </a:xfrm>
          <a:prstGeom prst="rect">
            <a:avLst/>
          </a:prstGeom>
          <a:ln w="12700">
            <a:miter lim="400000"/>
          </a:ln>
        </p:spPr>
      </p:pic>
      <p:grpSp>
        <p:nvGrpSpPr>
          <p:cNvPr id="207" name="직사각형 3"/>
          <p:cNvGrpSpPr/>
          <p:nvPr/>
        </p:nvGrpSpPr>
        <p:grpSpPr>
          <a:xfrm>
            <a:off x="5962260" y="1720141"/>
            <a:ext cx="4348597" cy="368925"/>
            <a:chOff x="0" y="0"/>
            <a:chExt cx="4779031" cy="405442"/>
          </a:xfrm>
        </p:grpSpPr>
        <p:sp>
          <p:nvSpPr>
            <p:cNvPr id="205" name="Rectangle"/>
            <p:cNvSpPr/>
            <p:nvPr/>
          </p:nvSpPr>
          <p:spPr>
            <a:xfrm>
              <a:off x="0" y="-1"/>
              <a:ext cx="4779032" cy="405444"/>
            </a:xfrm>
            <a:prstGeom prst="rect">
              <a:avLst/>
            </a:prstGeom>
            <a:solidFill>
              <a:srgbClr val="B50937"/>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06" name="Pre-Surgery: Prediction of Surgery outcome"/>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Pre-Surgery: Prediction of Surgery outcome</a:t>
              </a:r>
            </a:p>
          </p:txBody>
        </p:sp>
      </p:grpSp>
      <p:sp>
        <p:nvSpPr>
          <p:cNvPr id="208" name="직사각형 11"/>
          <p:cNvSpPr/>
          <p:nvPr/>
        </p:nvSpPr>
        <p:spPr>
          <a:xfrm>
            <a:off x="2022040" y="2574708"/>
            <a:ext cx="2354632" cy="1217690"/>
          </a:xfrm>
          <a:prstGeom prst="rect">
            <a:avLst/>
          </a:prstGeom>
          <a:solidFill>
            <a:srgbClr val="B50937">
              <a:alpha val="40000"/>
            </a:srgbClr>
          </a:solidFill>
          <a:ln w="12700">
            <a:solidFill>
              <a:srgbClr val="FFFFFF"/>
            </a:solidFill>
            <a:miter/>
          </a:ln>
        </p:spPr>
        <p:txBody>
          <a:bodyPr lIns="45719" rIns="45719" anchor="ctr"/>
          <a:lstStyle/>
          <a:p>
            <a:pPr algn="ctr">
              <a:defRPr>
                <a:solidFill>
                  <a:srgbClr val="FFFFFF"/>
                </a:solidFill>
              </a:defRPr>
            </a:pPr>
            <a:endParaRPr/>
          </a:p>
        </p:txBody>
      </p:sp>
      <p:sp>
        <p:nvSpPr>
          <p:cNvPr id="209" name="직사각형 13"/>
          <p:cNvSpPr/>
          <p:nvPr/>
        </p:nvSpPr>
        <p:spPr>
          <a:xfrm>
            <a:off x="4429207" y="2339736"/>
            <a:ext cx="1203379" cy="920778"/>
          </a:xfrm>
          <a:prstGeom prst="rect">
            <a:avLst/>
          </a:prstGeom>
          <a:solidFill>
            <a:srgbClr val="B50937">
              <a:alpha val="40000"/>
            </a:srgbClr>
          </a:solidFill>
          <a:ln w="12700">
            <a:solidFill>
              <a:srgbClr val="FFFFFF"/>
            </a:solidFill>
            <a:miter/>
          </a:ln>
        </p:spPr>
        <p:txBody>
          <a:bodyPr lIns="45719" rIns="45719" anchor="ctr"/>
          <a:lstStyle/>
          <a:p>
            <a:pPr algn="ctr">
              <a:defRPr>
                <a:solidFill>
                  <a:srgbClr val="FFFFFF"/>
                </a:solidFill>
              </a:defRPr>
            </a:pPr>
            <a:endParaRPr/>
          </a:p>
        </p:txBody>
      </p:sp>
      <p:sp>
        <p:nvSpPr>
          <p:cNvPr id="210" name="직사각형 14"/>
          <p:cNvSpPr/>
          <p:nvPr/>
        </p:nvSpPr>
        <p:spPr>
          <a:xfrm>
            <a:off x="4444905" y="4629160"/>
            <a:ext cx="1203379" cy="89475"/>
          </a:xfrm>
          <a:prstGeom prst="rect">
            <a:avLst/>
          </a:prstGeom>
          <a:solidFill>
            <a:srgbClr val="B50937">
              <a:alpha val="40000"/>
            </a:srgbClr>
          </a:solidFill>
          <a:ln w="12700">
            <a:solidFill>
              <a:srgbClr val="FFFFFF"/>
            </a:solidFill>
            <a:miter/>
          </a:ln>
        </p:spPr>
        <p:txBody>
          <a:bodyPr lIns="45719" rIns="45719" anchor="ctr"/>
          <a:lstStyle/>
          <a:p>
            <a:pPr algn="ctr">
              <a:defRPr>
                <a:solidFill>
                  <a:srgbClr val="FFFFFF"/>
                </a:solidFill>
              </a:defRPr>
            </a:pPr>
            <a:endParaRPr/>
          </a:p>
        </p:txBody>
      </p:sp>
      <p:sp>
        <p:nvSpPr>
          <p:cNvPr id="211" name="직사각형 15"/>
          <p:cNvSpPr/>
          <p:nvPr/>
        </p:nvSpPr>
        <p:spPr>
          <a:xfrm>
            <a:off x="4429208" y="5308029"/>
            <a:ext cx="1226926" cy="274045"/>
          </a:xfrm>
          <a:prstGeom prst="rect">
            <a:avLst/>
          </a:prstGeom>
          <a:solidFill>
            <a:srgbClr val="B50937">
              <a:alpha val="40000"/>
            </a:srgbClr>
          </a:solidFill>
          <a:ln w="12700">
            <a:solidFill>
              <a:srgbClr val="FFFFFF"/>
            </a:solidFill>
            <a:miter/>
          </a:ln>
        </p:spPr>
        <p:txBody>
          <a:bodyPr lIns="45719" rIns="45719" anchor="ctr"/>
          <a:lstStyle/>
          <a:p>
            <a:pPr algn="ctr">
              <a:defRPr>
                <a:solidFill>
                  <a:srgbClr val="FFFFFF"/>
                </a:solidFill>
              </a:defRPr>
            </a:pPr>
            <a:endParaRPr/>
          </a:p>
        </p:txBody>
      </p:sp>
      <p:sp>
        <p:nvSpPr>
          <p:cNvPr id="212" name="Rectangle 211"/>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214" name="TextBox 213"/>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215" name="Picture 214" descr="logo_red.png"/>
          <p:cNvPicPr>
            <a:picLocks noChangeAspect="1"/>
          </p:cNvPicPr>
          <p:nvPr/>
        </p:nvPicPr>
        <p:blipFill>
          <a:blip r:embed="rId3"/>
          <a:stretch>
            <a:fillRect/>
          </a:stretch>
        </p:blipFill>
        <p:spPr>
          <a:xfrm>
            <a:off x="10436918" y="420624"/>
            <a:ext cx="1297577" cy="365760"/>
          </a:xfrm>
          <a:prstGeom prst="rect">
            <a:avLst/>
          </a:prstGeom>
        </p:spPr>
      </p:pic>
      <p:sp>
        <p:nvSpPr>
          <p:cNvPr id="216" name="TextBox 21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17" name="TextBox 21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85</a:t>
            </a:r>
          </a:p>
        </p:txBody>
      </p:sp>
    </p:spTree>
    <p:extLst>
      <p:ext uri="{BB962C8B-B14F-4D97-AF65-F5344CB8AC3E}">
        <p14:creationId xmlns:p14="http://schemas.microsoft.com/office/powerpoint/2010/main" val="29250181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pSp>
        <p:nvGrpSpPr>
          <p:cNvPr id="215" name="직사각형 6"/>
          <p:cNvGrpSpPr/>
          <p:nvPr/>
        </p:nvGrpSpPr>
        <p:grpSpPr>
          <a:xfrm>
            <a:off x="5324118" y="1994675"/>
            <a:ext cx="4311818" cy="883378"/>
            <a:chOff x="0" y="0"/>
            <a:chExt cx="4779033" cy="979097"/>
          </a:xfrm>
        </p:grpSpPr>
        <p:sp>
          <p:nvSpPr>
            <p:cNvPr id="213" name="Rectangle"/>
            <p:cNvSpPr/>
            <p:nvPr/>
          </p:nvSpPr>
          <p:spPr>
            <a:xfrm>
              <a:off x="-1" y="0"/>
              <a:ext cx="4779035" cy="979098"/>
            </a:xfrm>
            <a:prstGeom prst="rect">
              <a:avLst/>
            </a:prstGeom>
            <a:solidFill>
              <a:srgbClr val="B50937"/>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14" name="Body Composition: Obesity analysis…"/>
            <p:cNvSpPr txBox="1"/>
            <p:nvPr/>
          </p:nvSpPr>
          <p:spPr>
            <a:xfrm>
              <a:off x="52069" y="30905"/>
              <a:ext cx="4674894"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dirty="0"/>
            </a:p>
            <a:p>
              <a:pPr marL="285750" indent="-285750">
                <a:buSzPct val="100000"/>
                <a:buChar char="-"/>
                <a:defRPr>
                  <a:solidFill>
                    <a:srgbClr val="FFFFFF"/>
                  </a:solidFill>
                </a:defRPr>
              </a:pPr>
              <a:r>
                <a:rPr dirty="0"/>
                <a:t>Body Composition: Obesity analysis</a:t>
              </a:r>
            </a:p>
            <a:p>
              <a:pPr marL="285750" indent="-285750">
                <a:buSzPct val="100000"/>
                <a:buChar char="-"/>
                <a:defRPr>
                  <a:solidFill>
                    <a:srgbClr val="FFFFFF"/>
                  </a:solidFill>
                </a:defRPr>
              </a:pPr>
              <a:r>
                <a:rPr dirty="0"/>
                <a:t>Phase Angle: Prediction of surgical outcomes</a:t>
              </a:r>
            </a:p>
          </p:txBody>
        </p:sp>
      </p:grpSp>
      <p:pic>
        <p:nvPicPr>
          <p:cNvPr id="216" name="그림 2" descr="그림 2"/>
          <p:cNvPicPr>
            <a:picLocks noChangeAspect="1"/>
          </p:cNvPicPr>
          <p:nvPr/>
        </p:nvPicPr>
        <p:blipFill>
          <a:blip r:embed="rId2"/>
          <a:stretch>
            <a:fillRect/>
          </a:stretch>
        </p:blipFill>
        <p:spPr>
          <a:xfrm>
            <a:off x="1033915" y="1141750"/>
            <a:ext cx="3899228" cy="5213329"/>
          </a:xfrm>
          <a:prstGeom prst="rect">
            <a:avLst/>
          </a:prstGeom>
          <a:ln w="12700">
            <a:miter lim="400000"/>
          </a:ln>
        </p:spPr>
      </p:pic>
      <p:grpSp>
        <p:nvGrpSpPr>
          <p:cNvPr id="219" name="직사각형 3"/>
          <p:cNvGrpSpPr/>
          <p:nvPr/>
        </p:nvGrpSpPr>
        <p:grpSpPr>
          <a:xfrm>
            <a:off x="5324119" y="1796207"/>
            <a:ext cx="4311816" cy="365805"/>
            <a:chOff x="0" y="0"/>
            <a:chExt cx="4779031" cy="405442"/>
          </a:xfrm>
        </p:grpSpPr>
        <p:sp>
          <p:nvSpPr>
            <p:cNvPr id="217" name="Rectangle"/>
            <p:cNvSpPr/>
            <p:nvPr/>
          </p:nvSpPr>
          <p:spPr>
            <a:xfrm>
              <a:off x="0" y="-1"/>
              <a:ext cx="4779032" cy="405444"/>
            </a:xfrm>
            <a:prstGeom prst="rect">
              <a:avLst/>
            </a:prstGeom>
            <a:solidFill>
              <a:srgbClr val="B50937"/>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18" name="Pre-Surgery: Prediction of Surgery outcome"/>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Pre-Surgery: Prediction of Surgery outcome</a:t>
              </a:r>
            </a:p>
          </p:txBody>
        </p:sp>
      </p:grpSp>
      <p:grpSp>
        <p:nvGrpSpPr>
          <p:cNvPr id="222" name="직사각형 7"/>
          <p:cNvGrpSpPr/>
          <p:nvPr/>
        </p:nvGrpSpPr>
        <p:grpSpPr>
          <a:xfrm>
            <a:off x="5324118" y="3506453"/>
            <a:ext cx="4311818" cy="883378"/>
            <a:chOff x="0" y="0"/>
            <a:chExt cx="4779033" cy="979097"/>
          </a:xfrm>
        </p:grpSpPr>
        <p:sp>
          <p:nvSpPr>
            <p:cNvPr id="220" name="Rectangle"/>
            <p:cNvSpPr/>
            <p:nvPr/>
          </p:nvSpPr>
          <p:spPr>
            <a:xfrm>
              <a:off x="-1" y="0"/>
              <a:ext cx="4779035" cy="979098"/>
            </a:xfrm>
            <a:prstGeom prst="rect">
              <a:avLst/>
            </a:prstGeom>
            <a:solidFill>
              <a:srgbClr val="767171"/>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21" name="ECW Ratio(ECW/TBW): Malnutrition monitoring…"/>
            <p:cNvSpPr txBox="1"/>
            <p:nvPr/>
          </p:nvSpPr>
          <p:spPr>
            <a:xfrm>
              <a:off x="52069" y="43605"/>
              <a:ext cx="4674894" cy="8918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a:p>
            <a:p>
              <a:pPr marL="285750" indent="-285750">
                <a:buSzPct val="100000"/>
                <a:buChar char="-"/>
                <a:defRPr sz="1533">
                  <a:solidFill>
                    <a:srgbClr val="FFFFFF"/>
                  </a:solidFill>
                </a:defRPr>
              </a:pPr>
              <a:r>
                <a:t>ECW Ratio(ECW/TBW): Malnutrition monitoring</a:t>
              </a:r>
            </a:p>
            <a:p>
              <a:pPr marL="285750" indent="-285750">
                <a:buSzPct val="100000"/>
                <a:buChar char="-"/>
                <a:defRPr>
                  <a:solidFill>
                    <a:srgbClr val="FFFFFF"/>
                  </a:solidFill>
                </a:defRPr>
              </a:pPr>
              <a:r>
                <a:t>BMR: Monitoring weight recycling</a:t>
              </a:r>
            </a:p>
          </p:txBody>
        </p:sp>
      </p:grpSp>
      <p:grpSp>
        <p:nvGrpSpPr>
          <p:cNvPr id="225" name="직사각형 8"/>
          <p:cNvGrpSpPr/>
          <p:nvPr/>
        </p:nvGrpSpPr>
        <p:grpSpPr>
          <a:xfrm>
            <a:off x="5324119" y="3307985"/>
            <a:ext cx="4311816" cy="365805"/>
            <a:chOff x="0" y="0"/>
            <a:chExt cx="4779031" cy="405442"/>
          </a:xfrm>
        </p:grpSpPr>
        <p:sp>
          <p:nvSpPr>
            <p:cNvPr id="223" name="Rectangle"/>
            <p:cNvSpPr/>
            <p:nvPr/>
          </p:nvSpPr>
          <p:spPr>
            <a:xfrm>
              <a:off x="0" y="-1"/>
              <a:ext cx="4779032" cy="405444"/>
            </a:xfrm>
            <a:prstGeom prst="rect">
              <a:avLst/>
            </a:prstGeom>
            <a:solidFill>
              <a:srgbClr val="767171"/>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24" name="Post-Surgery: Post surgery management"/>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Post-Surgery: Post surgery management</a:t>
              </a:r>
            </a:p>
          </p:txBody>
        </p:sp>
      </p:grpSp>
      <p:sp>
        <p:nvSpPr>
          <p:cNvPr id="226" name="직사각형 11"/>
          <p:cNvSpPr/>
          <p:nvPr/>
        </p:nvSpPr>
        <p:spPr>
          <a:xfrm>
            <a:off x="1181792" y="4837377"/>
            <a:ext cx="2319066" cy="408778"/>
          </a:xfrm>
          <a:prstGeom prst="rect">
            <a:avLst/>
          </a:prstGeom>
          <a:solidFill>
            <a:srgbClr val="767171">
              <a:alpha val="56000"/>
            </a:srgbClr>
          </a:solidFill>
          <a:ln w="12700">
            <a:solidFill>
              <a:srgbClr val="FFFFFF"/>
            </a:solidFill>
            <a:miter/>
          </a:ln>
        </p:spPr>
        <p:txBody>
          <a:bodyPr lIns="45719" rIns="45719" anchor="ctr"/>
          <a:lstStyle/>
          <a:p>
            <a:pPr algn="ctr">
              <a:defRPr>
                <a:solidFill>
                  <a:srgbClr val="FFFFFF"/>
                </a:solidFill>
              </a:defRPr>
            </a:pPr>
            <a:endParaRPr/>
          </a:p>
        </p:txBody>
      </p:sp>
      <p:sp>
        <p:nvSpPr>
          <p:cNvPr id="227" name="직사각형 13"/>
          <p:cNvSpPr/>
          <p:nvPr/>
        </p:nvSpPr>
        <p:spPr>
          <a:xfrm>
            <a:off x="3149075" y="3881863"/>
            <a:ext cx="312109" cy="913619"/>
          </a:xfrm>
          <a:prstGeom prst="rect">
            <a:avLst/>
          </a:prstGeom>
          <a:solidFill>
            <a:srgbClr val="767171">
              <a:alpha val="56000"/>
            </a:srgbClr>
          </a:solidFill>
          <a:ln w="12700">
            <a:solidFill>
              <a:srgbClr val="FFFFFF"/>
            </a:solidFill>
            <a:miter/>
          </a:ln>
        </p:spPr>
        <p:txBody>
          <a:bodyPr lIns="45719" rIns="45719" anchor="ctr"/>
          <a:lstStyle/>
          <a:p>
            <a:pPr algn="ctr">
              <a:defRPr>
                <a:solidFill>
                  <a:srgbClr val="FFFFFF"/>
                </a:solidFill>
              </a:defRPr>
            </a:pPr>
            <a:endParaRPr/>
          </a:p>
        </p:txBody>
      </p:sp>
      <p:pic>
        <p:nvPicPr>
          <p:cNvPr id="4" name="Graphic 3" descr="Star">
            <a:extLst>
              <a:ext uri="{FF2B5EF4-FFF2-40B4-BE49-F238E27FC236}">
                <a16:creationId xmlns:a16="http://schemas.microsoft.com/office/drawing/2014/main" id="{6D324507-A2D2-3CC7-B15C-A2DB2A7E54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47753" y="1097280"/>
            <a:ext cx="1397852" cy="1397852"/>
          </a:xfrm>
          <a:prstGeom prst="rect">
            <a:avLst/>
          </a:prstGeom>
        </p:spPr>
      </p:pic>
      <p:sp>
        <p:nvSpPr>
          <p:cNvPr id="228" name="Rectangle 227"/>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230" name="TextBox 229"/>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231" name="Picture 230" descr="logo_red.png"/>
          <p:cNvPicPr>
            <a:picLocks noChangeAspect="1"/>
          </p:cNvPicPr>
          <p:nvPr/>
        </p:nvPicPr>
        <p:blipFill>
          <a:blip r:embed="rId5"/>
          <a:stretch>
            <a:fillRect/>
          </a:stretch>
        </p:blipFill>
        <p:spPr>
          <a:xfrm>
            <a:off x="10436918" y="420624"/>
            <a:ext cx="1297577" cy="365760"/>
          </a:xfrm>
          <a:prstGeom prst="rect">
            <a:avLst/>
          </a:prstGeom>
        </p:spPr>
      </p:pic>
      <p:sp>
        <p:nvSpPr>
          <p:cNvPr id="232" name="TextBox 231"/>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33" name="TextBox 232"/>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86</a:t>
            </a:r>
          </a:p>
        </p:txBody>
      </p:sp>
    </p:spTree>
    <p:extLst>
      <p:ext uri="{BB962C8B-B14F-4D97-AF65-F5344CB8AC3E}">
        <p14:creationId xmlns:p14="http://schemas.microsoft.com/office/powerpoint/2010/main" val="22931636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pSp>
        <p:nvGrpSpPr>
          <p:cNvPr id="232" name="직사각형 6"/>
          <p:cNvGrpSpPr/>
          <p:nvPr/>
        </p:nvGrpSpPr>
        <p:grpSpPr>
          <a:xfrm>
            <a:off x="5962260" y="1920302"/>
            <a:ext cx="4348598" cy="890913"/>
            <a:chOff x="0" y="0"/>
            <a:chExt cx="4779033" cy="979097"/>
          </a:xfrm>
        </p:grpSpPr>
        <p:sp>
          <p:nvSpPr>
            <p:cNvPr id="230" name="Rectangle"/>
            <p:cNvSpPr/>
            <p:nvPr/>
          </p:nvSpPr>
          <p:spPr>
            <a:xfrm>
              <a:off x="-1" y="0"/>
              <a:ext cx="4779035" cy="979098"/>
            </a:xfrm>
            <a:prstGeom prst="rect">
              <a:avLst/>
            </a:prstGeom>
            <a:solidFill>
              <a:srgbClr val="B50937"/>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31" name="Body Composition: Obesity analysis…"/>
            <p:cNvSpPr txBox="1"/>
            <p:nvPr/>
          </p:nvSpPr>
          <p:spPr>
            <a:xfrm>
              <a:off x="52069" y="30905"/>
              <a:ext cx="4674894"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dirty="0"/>
            </a:p>
            <a:p>
              <a:pPr marL="285750" indent="-285750">
                <a:buSzPct val="100000"/>
                <a:buChar char="-"/>
                <a:defRPr>
                  <a:solidFill>
                    <a:srgbClr val="FFFFFF"/>
                  </a:solidFill>
                </a:defRPr>
              </a:pPr>
              <a:r>
                <a:rPr dirty="0"/>
                <a:t>Body Composition: Obesity analysis</a:t>
              </a:r>
            </a:p>
            <a:p>
              <a:pPr marL="285750" indent="-285750">
                <a:buSzPct val="100000"/>
                <a:buChar char="-"/>
                <a:defRPr>
                  <a:solidFill>
                    <a:srgbClr val="FFFFFF"/>
                  </a:solidFill>
                </a:defRPr>
              </a:pPr>
              <a:r>
                <a:rPr dirty="0"/>
                <a:t>Phase Angle: Prediction of surgical outcomes</a:t>
              </a:r>
            </a:p>
          </p:txBody>
        </p:sp>
      </p:grpSp>
      <p:pic>
        <p:nvPicPr>
          <p:cNvPr id="233" name="그림 2" descr="그림 2"/>
          <p:cNvPicPr>
            <a:picLocks noChangeAspect="1"/>
          </p:cNvPicPr>
          <p:nvPr/>
        </p:nvPicPr>
        <p:blipFill>
          <a:blip r:embed="rId2"/>
          <a:stretch>
            <a:fillRect/>
          </a:stretch>
        </p:blipFill>
        <p:spPr>
          <a:xfrm>
            <a:off x="1880836" y="1097280"/>
            <a:ext cx="3932489" cy="5257800"/>
          </a:xfrm>
          <a:prstGeom prst="rect">
            <a:avLst/>
          </a:prstGeom>
          <a:ln w="12700">
            <a:miter lim="400000"/>
          </a:ln>
        </p:spPr>
      </p:pic>
      <p:grpSp>
        <p:nvGrpSpPr>
          <p:cNvPr id="236" name="직사각형 3"/>
          <p:cNvGrpSpPr/>
          <p:nvPr/>
        </p:nvGrpSpPr>
        <p:grpSpPr>
          <a:xfrm>
            <a:off x="5962260" y="1720141"/>
            <a:ext cx="4348597" cy="368925"/>
            <a:chOff x="0" y="0"/>
            <a:chExt cx="4779031" cy="405442"/>
          </a:xfrm>
        </p:grpSpPr>
        <p:sp>
          <p:nvSpPr>
            <p:cNvPr id="234" name="Rectangle"/>
            <p:cNvSpPr/>
            <p:nvPr/>
          </p:nvSpPr>
          <p:spPr>
            <a:xfrm>
              <a:off x="0" y="-1"/>
              <a:ext cx="4779032" cy="405444"/>
            </a:xfrm>
            <a:prstGeom prst="rect">
              <a:avLst/>
            </a:prstGeom>
            <a:solidFill>
              <a:srgbClr val="B50937"/>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35" name="Pre-Surgery: Prediction of Surgery outcome"/>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Pre-Surgery: Prediction of Surgery outcome</a:t>
              </a:r>
            </a:p>
          </p:txBody>
        </p:sp>
      </p:grpSp>
      <p:grpSp>
        <p:nvGrpSpPr>
          <p:cNvPr id="239" name="직사각형 7"/>
          <p:cNvGrpSpPr/>
          <p:nvPr/>
        </p:nvGrpSpPr>
        <p:grpSpPr>
          <a:xfrm>
            <a:off x="5962260" y="3444976"/>
            <a:ext cx="4348598" cy="890913"/>
            <a:chOff x="0" y="0"/>
            <a:chExt cx="4779033" cy="979097"/>
          </a:xfrm>
        </p:grpSpPr>
        <p:sp>
          <p:nvSpPr>
            <p:cNvPr id="237" name="Rectangle"/>
            <p:cNvSpPr/>
            <p:nvPr/>
          </p:nvSpPr>
          <p:spPr>
            <a:xfrm>
              <a:off x="-1" y="0"/>
              <a:ext cx="4779035" cy="979098"/>
            </a:xfrm>
            <a:prstGeom prst="rect">
              <a:avLst/>
            </a:prstGeom>
            <a:solidFill>
              <a:srgbClr val="767171"/>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38" name="ECW Ratio(ECW/TBW): Malnutrition monitoring…"/>
            <p:cNvSpPr txBox="1"/>
            <p:nvPr/>
          </p:nvSpPr>
          <p:spPr>
            <a:xfrm>
              <a:off x="52069" y="54903"/>
              <a:ext cx="4674894" cy="86929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a:p>
            <a:p>
              <a:pPr marL="285750" indent="-285750">
                <a:buSzPct val="100000"/>
                <a:buChar char="-"/>
                <a:defRPr sz="1546">
                  <a:solidFill>
                    <a:srgbClr val="FFFFFF"/>
                  </a:solidFill>
                </a:defRPr>
              </a:pPr>
              <a:r>
                <a:t>ECW Ratio(ECW/TBW): Malnutrition monitoring</a:t>
              </a:r>
            </a:p>
            <a:p>
              <a:pPr marL="285750" indent="-285750">
                <a:buSzPct val="100000"/>
                <a:buChar char="-"/>
                <a:defRPr sz="1546">
                  <a:solidFill>
                    <a:srgbClr val="FFFFFF"/>
                  </a:solidFill>
                </a:defRPr>
              </a:pPr>
              <a:r>
                <a:t>ECW Ratio(ECW/TBW): Monitoring recovery</a:t>
              </a:r>
            </a:p>
          </p:txBody>
        </p:sp>
      </p:grpSp>
      <p:grpSp>
        <p:nvGrpSpPr>
          <p:cNvPr id="242" name="직사각형 8"/>
          <p:cNvGrpSpPr/>
          <p:nvPr/>
        </p:nvGrpSpPr>
        <p:grpSpPr>
          <a:xfrm>
            <a:off x="5962260" y="3244815"/>
            <a:ext cx="4348597" cy="368925"/>
            <a:chOff x="0" y="0"/>
            <a:chExt cx="4779031" cy="405442"/>
          </a:xfrm>
        </p:grpSpPr>
        <p:sp>
          <p:nvSpPr>
            <p:cNvPr id="240" name="Rectangle"/>
            <p:cNvSpPr/>
            <p:nvPr/>
          </p:nvSpPr>
          <p:spPr>
            <a:xfrm>
              <a:off x="0" y="-1"/>
              <a:ext cx="4779032" cy="405444"/>
            </a:xfrm>
            <a:prstGeom prst="rect">
              <a:avLst/>
            </a:prstGeom>
            <a:solidFill>
              <a:srgbClr val="767171"/>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41" name="Post-Surgery: Post-surgery Management"/>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Post-Surgery: Post-surgery Management</a:t>
              </a:r>
            </a:p>
          </p:txBody>
        </p:sp>
      </p:grpSp>
      <p:grpSp>
        <p:nvGrpSpPr>
          <p:cNvPr id="245" name="직사각형 9"/>
          <p:cNvGrpSpPr/>
          <p:nvPr/>
        </p:nvGrpSpPr>
        <p:grpSpPr>
          <a:xfrm>
            <a:off x="5962260" y="4969650"/>
            <a:ext cx="4348598" cy="890913"/>
            <a:chOff x="0" y="0"/>
            <a:chExt cx="4779033" cy="979097"/>
          </a:xfrm>
        </p:grpSpPr>
        <p:sp>
          <p:nvSpPr>
            <p:cNvPr id="243" name="Rectangle"/>
            <p:cNvSpPr/>
            <p:nvPr/>
          </p:nvSpPr>
          <p:spPr>
            <a:xfrm>
              <a:off x="-1" y="0"/>
              <a:ext cx="4779035" cy="979098"/>
            </a:xfrm>
            <a:prstGeom prst="rect">
              <a:avLst/>
            </a:prstGeom>
            <a:solidFill>
              <a:srgbClr val="181D27"/>
            </a:solidFill>
            <a:ln w="12700" cap="flat">
              <a:solidFill>
                <a:srgbClr val="FFFFFF"/>
              </a:solidFill>
              <a:prstDash val="solid"/>
              <a:miter lim="800000"/>
            </a:ln>
            <a:effectLst/>
          </p:spPr>
          <p:txBody>
            <a:bodyPr wrap="square" lIns="45719" tIns="45719" rIns="45719" bIns="45719" numCol="1" anchor="ctr">
              <a:noAutofit/>
            </a:bodyPr>
            <a:lstStyle/>
            <a:p>
              <a:pPr>
                <a:defRPr>
                  <a:solidFill>
                    <a:srgbClr val="FFFFFF"/>
                  </a:solidFill>
                </a:defRPr>
              </a:pPr>
              <a:endParaRPr/>
            </a:p>
          </p:txBody>
        </p:sp>
        <p:sp>
          <p:nvSpPr>
            <p:cNvPr id="244" name="BMR: Monitoring weight recycling…"/>
            <p:cNvSpPr txBox="1"/>
            <p:nvPr/>
          </p:nvSpPr>
          <p:spPr>
            <a:xfrm>
              <a:off x="52069" y="30905"/>
              <a:ext cx="4674894"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marL="285750" indent="-285750">
                <a:buSzPct val="100000"/>
                <a:buChar char="-"/>
                <a:defRPr>
                  <a:solidFill>
                    <a:srgbClr val="FFFFFF"/>
                  </a:solidFill>
                </a:defRPr>
              </a:pPr>
              <a:endParaRPr dirty="0"/>
            </a:p>
            <a:p>
              <a:pPr marL="285750" indent="-285750">
                <a:buSzPct val="100000"/>
                <a:buChar char="-"/>
                <a:defRPr>
                  <a:solidFill>
                    <a:srgbClr val="FFFFFF"/>
                  </a:solidFill>
                </a:defRPr>
              </a:pPr>
              <a:r>
                <a:rPr dirty="0"/>
                <a:t>BMR: Monitoring weight recycling</a:t>
              </a:r>
            </a:p>
            <a:p>
              <a:pPr marL="285750" indent="-285750">
                <a:buSzPct val="100000"/>
                <a:buChar char="-"/>
                <a:defRPr sz="1546">
                  <a:solidFill>
                    <a:srgbClr val="FFFFFF"/>
                  </a:solidFill>
                </a:defRPr>
              </a:pPr>
              <a:r>
                <a:rPr dirty="0"/>
                <a:t>SMI: </a:t>
              </a:r>
              <a:r>
                <a:rPr sz="1637" dirty="0"/>
                <a:t>Monitoring Muscle Loss</a:t>
              </a:r>
            </a:p>
          </p:txBody>
        </p:sp>
      </p:grpSp>
      <p:grpSp>
        <p:nvGrpSpPr>
          <p:cNvPr id="248" name="직사각형 10"/>
          <p:cNvGrpSpPr/>
          <p:nvPr/>
        </p:nvGrpSpPr>
        <p:grpSpPr>
          <a:xfrm>
            <a:off x="5962260" y="4769489"/>
            <a:ext cx="4348597" cy="368925"/>
            <a:chOff x="0" y="0"/>
            <a:chExt cx="4779031" cy="405442"/>
          </a:xfrm>
        </p:grpSpPr>
        <p:sp>
          <p:nvSpPr>
            <p:cNvPr id="246" name="Rectangle"/>
            <p:cNvSpPr/>
            <p:nvPr/>
          </p:nvSpPr>
          <p:spPr>
            <a:xfrm>
              <a:off x="0" y="-1"/>
              <a:ext cx="4779032" cy="405444"/>
            </a:xfrm>
            <a:prstGeom prst="rect">
              <a:avLst/>
            </a:prstGeom>
            <a:solidFill>
              <a:srgbClr val="181D27"/>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47" name="Patient Monitoring: Keeping the patients fit"/>
            <p:cNvSpPr txBox="1"/>
            <p:nvPr/>
          </p:nvSpPr>
          <p:spPr>
            <a:xfrm>
              <a:off x="52070" y="36177"/>
              <a:ext cx="4674892"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Patient Monitoring: Keeping the patients fit</a:t>
              </a:r>
            </a:p>
          </p:txBody>
        </p:sp>
      </p:grpSp>
      <p:sp>
        <p:nvSpPr>
          <p:cNvPr id="249" name="직사각형 11"/>
          <p:cNvSpPr/>
          <p:nvPr/>
        </p:nvSpPr>
        <p:spPr>
          <a:xfrm>
            <a:off x="2025905" y="4215241"/>
            <a:ext cx="1988530" cy="863030"/>
          </a:xfrm>
          <a:prstGeom prst="rect">
            <a:avLst/>
          </a:prstGeom>
          <a:solidFill>
            <a:srgbClr val="181D27">
              <a:alpha val="44000"/>
            </a:srgbClr>
          </a:solidFill>
          <a:ln w="12700">
            <a:solidFill>
              <a:srgbClr val="FFFFFF"/>
            </a:solidFill>
            <a:miter/>
          </a:ln>
        </p:spPr>
        <p:txBody>
          <a:bodyPr lIns="45719" rIns="45719" anchor="ctr"/>
          <a:lstStyle/>
          <a:p>
            <a:pPr algn="ctr">
              <a:defRPr>
                <a:solidFill>
                  <a:srgbClr val="FFFFFF"/>
                </a:solidFill>
              </a:defRPr>
            </a:pPr>
            <a:endParaRPr/>
          </a:p>
        </p:txBody>
      </p:sp>
      <p:sp>
        <p:nvSpPr>
          <p:cNvPr id="250" name="직사각형 12"/>
          <p:cNvSpPr/>
          <p:nvPr/>
        </p:nvSpPr>
        <p:spPr>
          <a:xfrm>
            <a:off x="4442083" y="4528528"/>
            <a:ext cx="1214050" cy="111614"/>
          </a:xfrm>
          <a:prstGeom prst="rect">
            <a:avLst/>
          </a:prstGeom>
          <a:solidFill>
            <a:srgbClr val="181D27">
              <a:alpha val="44000"/>
            </a:srgbClr>
          </a:solidFill>
          <a:ln w="12700">
            <a:solidFill>
              <a:srgbClr val="FFFFFF"/>
            </a:solidFill>
            <a:miter/>
          </a:ln>
        </p:spPr>
        <p:txBody>
          <a:bodyPr lIns="45719" rIns="45719" anchor="ctr"/>
          <a:lstStyle/>
          <a:p>
            <a:pPr algn="ctr">
              <a:defRPr>
                <a:solidFill>
                  <a:srgbClr val="FFFFFF"/>
                </a:solidFill>
              </a:defRPr>
            </a:pPr>
            <a:endParaRPr/>
          </a:p>
        </p:txBody>
      </p:sp>
      <p:sp>
        <p:nvSpPr>
          <p:cNvPr id="251" name="Rectangle 250"/>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253" name="TextBox 252"/>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254" name="Picture 253" descr="logo_red.png"/>
          <p:cNvPicPr>
            <a:picLocks noChangeAspect="1"/>
          </p:cNvPicPr>
          <p:nvPr/>
        </p:nvPicPr>
        <p:blipFill>
          <a:blip r:embed="rId3"/>
          <a:stretch>
            <a:fillRect/>
          </a:stretch>
        </p:blipFill>
        <p:spPr>
          <a:xfrm>
            <a:off x="10436918" y="420624"/>
            <a:ext cx="1297577" cy="365760"/>
          </a:xfrm>
          <a:prstGeom prst="rect">
            <a:avLst/>
          </a:prstGeom>
        </p:spPr>
      </p:pic>
      <p:sp>
        <p:nvSpPr>
          <p:cNvPr id="255" name="TextBox 254"/>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56" name="TextBox 255"/>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87</a:t>
            </a:r>
          </a:p>
        </p:txBody>
      </p:sp>
    </p:spTree>
    <p:extLst>
      <p:ext uri="{BB962C8B-B14F-4D97-AF65-F5344CB8AC3E}">
        <p14:creationId xmlns:p14="http://schemas.microsoft.com/office/powerpoint/2010/main" val="19565648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365760"/>
          </a:xfrm>
          <a:prstGeom prst="rect">
            <a:avLst/>
          </a:prstGeom>
          <a:noFill/>
        </p:spPr>
        <p:txBody>
          <a:bodyPr wrap="square" lIns="0" rIns="0" tIns="0" bIns="0" anchor="ctr">
            <a:spAutoFit/>
          </a:bodyPr>
          <a:lstStyle/>
          <a:p>
            <a:pPr algn="l"/>
            <a:r>
              <a:rPr sz="1100" b="1" i="0" spc="200">
                <a:solidFill>
                  <a:srgbClr val="B50937"/>
                </a:solidFill>
                <a:latin typeface="Calibri"/>
              </a:rPr>
              <a:t>SESSION 6  ·  BARIATRIC &amp; OBESITY MANAGEMENT</a:t>
            </a:r>
          </a:p>
        </p:txBody>
      </p:sp>
      <p:sp>
        <p:nvSpPr>
          <p:cNvPr id="4" name="TextBox 3"/>
          <p:cNvSpPr txBox="1"/>
          <p:nvPr/>
        </p:nvSpPr>
        <p:spPr>
          <a:xfrm>
            <a:off x="914400" y="2788920"/>
            <a:ext cx="10332720" cy="1097280"/>
          </a:xfrm>
          <a:prstGeom prst="rect">
            <a:avLst/>
          </a:prstGeom>
          <a:noFill/>
        </p:spPr>
        <p:txBody>
          <a:bodyPr wrap="square" lIns="0" rIns="0" tIns="0" bIns="0" anchor="t">
            <a:spAutoFit/>
          </a:bodyPr>
          <a:lstStyle/>
          <a:p>
            <a:pPr algn="l"/>
            <a:r>
              <a:rPr sz="4000" b="1" i="0">
                <a:solidFill>
                  <a:srgbClr val="181D27"/>
                </a:solidFill>
                <a:latin typeface="Cambria"/>
              </a:rPr>
              <a:t>Pre-Surgery</a:t>
            </a:r>
          </a:p>
        </p:txBody>
      </p:sp>
      <p:sp>
        <p:nvSpPr>
          <p:cNvPr id="5" name="Rectangle 4"/>
          <p:cNvSpPr/>
          <p:nvPr/>
        </p:nvSpPr>
        <p:spPr>
          <a:xfrm>
            <a:off x="914400" y="3977639"/>
            <a:ext cx="1097280" cy="73152"/>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red.png"/>
          <p:cNvPicPr>
            <a:picLocks noChangeAspect="1"/>
          </p:cNvPicPr>
          <p:nvPr/>
        </p:nvPicPr>
        <p:blipFill>
          <a:blip r:embed="rId2"/>
          <a:stretch>
            <a:fillRect/>
          </a:stretch>
        </p:blipFill>
        <p:spPr>
          <a:xfrm>
            <a:off x="10436918" y="420624"/>
            <a:ext cx="1297577" cy="36576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88</a:t>
            </a:r>
          </a:p>
        </p:txBody>
      </p:sp>
    </p:spTree>
    <p:extLst>
      <p:ext uri="{BB962C8B-B14F-4D97-AF65-F5344CB8AC3E}">
        <p14:creationId xmlns:p14="http://schemas.microsoft.com/office/powerpoint/2010/main" val="328068834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55" name="TextBox 2"/>
          <p:cNvSpPr txBox="1"/>
          <p:nvPr/>
        </p:nvSpPr>
        <p:spPr>
          <a:xfrm>
            <a:off x="1864126" y="1097280"/>
            <a:ext cx="5812115" cy="3657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236" b="1"/>
            </a:lvl1pPr>
          </a:lstStyle>
          <a:p>
            <a:r>
              <a:t>① Pre-surgery: Prediction of surgery outcome</a:t>
            </a:r>
          </a:p>
        </p:txBody>
      </p:sp>
      <p:sp>
        <p:nvSpPr>
          <p:cNvPr id="256" name="오른쪽 화살표 3"/>
          <p:cNvSpPr/>
          <p:nvPr/>
        </p:nvSpPr>
        <p:spPr>
          <a:xfrm>
            <a:off x="3000660" y="2526563"/>
            <a:ext cx="5794413" cy="1242182"/>
          </a:xfrm>
          <a:prstGeom prst="rightArrow">
            <a:avLst>
              <a:gd name="adj1" fmla="val 50000"/>
              <a:gd name="adj2" fmla="val 50000"/>
            </a:avLst>
          </a:prstGeom>
          <a:solidFill>
            <a:srgbClr val="D9D9D9">
              <a:alpha val="50000"/>
            </a:srgbClr>
          </a:solidFill>
          <a:ln w="12700">
            <a:miter lim="400000"/>
          </a:ln>
        </p:spPr>
        <p:txBody>
          <a:bodyPr lIns="45719" rIns="45719" anchor="ctr"/>
          <a:lstStyle/>
          <a:p>
            <a:pPr algn="ctr">
              <a:defRPr>
                <a:solidFill>
                  <a:srgbClr val="FFFFFF"/>
                </a:solidFill>
              </a:defRPr>
            </a:pPr>
            <a:endParaRPr/>
          </a:p>
        </p:txBody>
      </p:sp>
      <p:sp>
        <p:nvSpPr>
          <p:cNvPr id="257" name="TextBox 4"/>
          <p:cNvSpPr txBox="1"/>
          <p:nvPr/>
        </p:nvSpPr>
        <p:spPr>
          <a:xfrm>
            <a:off x="2221403" y="1549517"/>
            <a:ext cx="7787031" cy="2801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491"/>
            </a:lvl1pPr>
          </a:lstStyle>
          <a:p>
            <a:r>
              <a:t>Most appropriate treatment can be selected by analyzing obesity types before surgery.</a:t>
            </a:r>
          </a:p>
        </p:txBody>
      </p:sp>
      <p:grpSp>
        <p:nvGrpSpPr>
          <p:cNvPr id="260" name="직사각형 5"/>
          <p:cNvGrpSpPr/>
          <p:nvPr/>
        </p:nvGrpSpPr>
        <p:grpSpPr>
          <a:xfrm>
            <a:off x="4711074" y="2700798"/>
            <a:ext cx="2428379" cy="473985"/>
            <a:chOff x="0" y="0"/>
            <a:chExt cx="2605866" cy="508628"/>
          </a:xfrm>
        </p:grpSpPr>
        <p:sp>
          <p:nvSpPr>
            <p:cNvPr id="258"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259" name="Obesity type analysis"/>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Obesity type analysis</a:t>
              </a:r>
            </a:p>
          </p:txBody>
        </p:sp>
      </p:grpSp>
      <p:pic>
        <p:nvPicPr>
          <p:cNvPr id="261" name="그림 7" descr="그림 7"/>
          <p:cNvPicPr>
            <a:picLocks/>
          </p:cNvPicPr>
          <p:nvPr/>
        </p:nvPicPr>
        <p:blipFill>
          <a:blip r:embed="rId2"/>
          <a:stretch>
            <a:fillRect/>
          </a:stretch>
        </p:blipFill>
        <p:spPr>
          <a:xfrm>
            <a:off x="1219310" y="2171657"/>
            <a:ext cx="2428379" cy="1951991"/>
          </a:xfrm>
          <a:prstGeom prst="rect">
            <a:avLst/>
          </a:prstGeom>
          <a:ln w="12700">
            <a:miter lim="400000"/>
          </a:ln>
        </p:spPr>
      </p:pic>
      <p:sp>
        <p:nvSpPr>
          <p:cNvPr id="262" name="직사각형 8"/>
          <p:cNvSpPr/>
          <p:nvPr/>
        </p:nvSpPr>
        <p:spPr>
          <a:xfrm>
            <a:off x="4384250" y="2610176"/>
            <a:ext cx="3027234" cy="1080414"/>
          </a:xfrm>
          <a:prstGeom prst="rect">
            <a:avLst/>
          </a:prstGeom>
          <a:ln w="19050">
            <a:solidFill>
              <a:srgbClr val="B50937"/>
            </a:solidFill>
            <a:miter/>
          </a:ln>
        </p:spPr>
        <p:txBody>
          <a:bodyPr lIns="45719" rIns="45719" anchor="ctr"/>
          <a:lstStyle/>
          <a:p>
            <a:pPr algn="ctr">
              <a:defRPr>
                <a:solidFill>
                  <a:srgbClr val="FFFFFF"/>
                </a:solidFill>
              </a:defRPr>
            </a:pPr>
            <a:endParaRPr/>
          </a:p>
        </p:txBody>
      </p:sp>
      <p:sp>
        <p:nvSpPr>
          <p:cNvPr id="263" name="TextBox 9"/>
          <p:cNvSpPr txBox="1"/>
          <p:nvPr/>
        </p:nvSpPr>
        <p:spPr>
          <a:xfrm>
            <a:off x="5161075" y="3792075"/>
            <a:ext cx="1538995" cy="310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b="1"/>
            </a:lvl1pPr>
          </a:lstStyle>
          <a:p>
            <a:r>
              <a:t>Pre-Surgery</a:t>
            </a:r>
          </a:p>
        </p:txBody>
      </p:sp>
      <p:grpSp>
        <p:nvGrpSpPr>
          <p:cNvPr id="266" name="폭발 1 10"/>
          <p:cNvGrpSpPr/>
          <p:nvPr/>
        </p:nvGrpSpPr>
        <p:grpSpPr>
          <a:xfrm>
            <a:off x="8762774" y="2234718"/>
            <a:ext cx="2209610" cy="1831330"/>
            <a:chOff x="0" y="0"/>
            <a:chExt cx="2371108" cy="1965179"/>
          </a:xfrm>
        </p:grpSpPr>
        <p:sp>
          <p:nvSpPr>
            <p:cNvPr id="264" name="Shape"/>
            <p:cNvSpPr/>
            <p:nvPr/>
          </p:nvSpPr>
          <p:spPr>
            <a:xfrm>
              <a:off x="0" y="0"/>
              <a:ext cx="2371109" cy="196518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14522" y="0"/>
                  </a:lnTo>
                  <a:lnTo>
                    <a:pt x="14155" y="5325"/>
                  </a:lnTo>
                  <a:lnTo>
                    <a:pt x="18380" y="4457"/>
                  </a:lnTo>
                  <a:lnTo>
                    <a:pt x="16702" y="7315"/>
                  </a:lnTo>
                  <a:lnTo>
                    <a:pt x="21097" y="8137"/>
                  </a:lnTo>
                  <a:lnTo>
                    <a:pt x="17607" y="10475"/>
                  </a:lnTo>
                  <a:lnTo>
                    <a:pt x="21600" y="13290"/>
                  </a:lnTo>
                  <a:lnTo>
                    <a:pt x="16837" y="12942"/>
                  </a:lnTo>
                  <a:lnTo>
                    <a:pt x="18145" y="18095"/>
                  </a:lnTo>
                  <a:lnTo>
                    <a:pt x="14020" y="14457"/>
                  </a:lnTo>
                  <a:lnTo>
                    <a:pt x="13247" y="19737"/>
                  </a:lnTo>
                  <a:lnTo>
                    <a:pt x="10532" y="14935"/>
                  </a:lnTo>
                  <a:lnTo>
                    <a:pt x="8485" y="21600"/>
                  </a:lnTo>
                  <a:lnTo>
                    <a:pt x="7715" y="15627"/>
                  </a:lnTo>
                  <a:lnTo>
                    <a:pt x="4762" y="17617"/>
                  </a:lnTo>
                  <a:lnTo>
                    <a:pt x="5667" y="13937"/>
                  </a:lnTo>
                  <a:lnTo>
                    <a:pt x="135" y="14587"/>
                  </a:lnTo>
                  <a:lnTo>
                    <a:pt x="3722" y="11775"/>
                  </a:lnTo>
                  <a:lnTo>
                    <a:pt x="0" y="8615"/>
                  </a:lnTo>
                  <a:lnTo>
                    <a:pt x="4627" y="7617"/>
                  </a:lnTo>
                  <a:lnTo>
                    <a:pt x="370" y="2295"/>
                  </a:lnTo>
                  <a:lnTo>
                    <a:pt x="7312" y="6320"/>
                  </a:lnTo>
                  <a:lnTo>
                    <a:pt x="8352" y="2295"/>
                  </a:lnTo>
                  <a:close/>
                </a:path>
              </a:pathLst>
            </a:custGeom>
            <a:solidFill>
              <a:srgbClr val="B50937"/>
            </a:solidFill>
            <a:ln w="53975" cap="flat">
              <a:solidFill>
                <a:srgbClr val="B50937"/>
              </a:solidFill>
              <a:prstDash val="solid"/>
              <a:miter lim="800000"/>
            </a:ln>
            <a:effectLst/>
          </p:spPr>
          <p:txBody>
            <a:bodyPr wrap="square" lIns="45719" tIns="45719" rIns="45719" bIns="45719" numCol="1" anchor="ctr">
              <a:noAutofit/>
            </a:bodyPr>
            <a:lstStyle/>
            <a:p>
              <a:pPr algn="ctr">
                <a:defRPr b="1">
                  <a:solidFill>
                    <a:srgbClr val="FFFFFF"/>
                  </a:solidFill>
                </a:defRPr>
              </a:pPr>
              <a:endParaRPr/>
            </a:p>
          </p:txBody>
        </p:sp>
        <p:sp>
          <p:nvSpPr>
            <p:cNvPr id="265" name="Minimize Risk of Surgery"/>
            <p:cNvSpPr txBox="1"/>
            <p:nvPr/>
          </p:nvSpPr>
          <p:spPr>
            <a:xfrm>
              <a:off x="580629" y="462852"/>
              <a:ext cx="1180101"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Minimize Risk of Surgery</a:t>
              </a:r>
            </a:p>
          </p:txBody>
        </p:sp>
      </p:grpSp>
      <p:grpSp>
        <p:nvGrpSpPr>
          <p:cNvPr id="269" name="직사각형 11"/>
          <p:cNvGrpSpPr/>
          <p:nvPr/>
        </p:nvGrpSpPr>
        <p:grpSpPr>
          <a:xfrm>
            <a:off x="4716383" y="3202714"/>
            <a:ext cx="2428379" cy="473985"/>
            <a:chOff x="0" y="0"/>
            <a:chExt cx="2605866" cy="508628"/>
          </a:xfrm>
        </p:grpSpPr>
        <p:sp>
          <p:nvSpPr>
            <p:cNvPr id="267"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268" name="Predict Success rate"/>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Predict Success rate</a:t>
              </a:r>
            </a:p>
          </p:txBody>
        </p:sp>
      </p:grpSp>
      <p:grpSp>
        <p:nvGrpSpPr>
          <p:cNvPr id="272" name="그룹 14"/>
          <p:cNvGrpSpPr/>
          <p:nvPr/>
        </p:nvGrpSpPr>
        <p:grpSpPr>
          <a:xfrm>
            <a:off x="2963455" y="4719767"/>
            <a:ext cx="6736151" cy="1635312"/>
            <a:chOff x="0" y="0"/>
            <a:chExt cx="7228489" cy="1754834"/>
          </a:xfrm>
        </p:grpSpPr>
        <p:sp>
          <p:nvSpPr>
            <p:cNvPr id="270" name="모서리가 둥근 직사각형 12"/>
            <p:cNvSpPr/>
            <p:nvPr/>
          </p:nvSpPr>
          <p:spPr>
            <a:xfrm>
              <a:off x="0" y="0"/>
              <a:ext cx="7228490" cy="1754835"/>
            </a:xfrm>
            <a:prstGeom prst="roundRect">
              <a:avLst>
                <a:gd name="adj" fmla="val 7903"/>
              </a:avLst>
            </a:prstGeom>
            <a:solidFill>
              <a:srgbClr val="D9D9D9"/>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b">
              <a:noAutofit/>
            </a:bodyPr>
            <a:lstStyle/>
            <a:p>
              <a:pPr>
                <a:defRPr sz="1304" b="1" i="1">
                  <a:solidFill>
                    <a:srgbClr val="333F50"/>
                  </a:solidFill>
                  <a:latin typeface="Arial"/>
                  <a:ea typeface="Arial"/>
                  <a:cs typeface="Arial"/>
                  <a:sym typeface="Arial"/>
                </a:defRPr>
              </a:pPr>
              <a:endParaRPr/>
            </a:p>
          </p:txBody>
        </p:sp>
        <p:sp>
          <p:nvSpPr>
            <p:cNvPr id="271" name="TextBox 13"/>
            <p:cNvSpPr txBox="1"/>
            <p:nvPr/>
          </p:nvSpPr>
          <p:spPr>
            <a:xfrm>
              <a:off x="217915" y="184918"/>
              <a:ext cx="6964855" cy="155778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defRPr sz="1304"/>
              </a:pPr>
              <a:r>
                <a:t>▷ Different types of obesity patients can have appropriate surgery based on their condition. </a:t>
              </a:r>
            </a:p>
            <a:p>
              <a:pPr>
                <a:defRPr sz="1304"/>
              </a:pPr>
              <a:r>
                <a:t>Body composition analysis</a:t>
              </a:r>
            </a:p>
            <a:p>
              <a:pPr>
                <a:defRPr sz="1304"/>
              </a:pPr>
              <a:endParaRPr/>
            </a:p>
            <a:p>
              <a:pPr>
                <a:defRPr sz="1304"/>
              </a:pPr>
              <a:r>
                <a:t>▷ Success rate of the surgery can be predicted by Phase angle parameter.</a:t>
              </a:r>
            </a:p>
            <a:p>
              <a:pPr>
                <a:defRPr sz="1304"/>
              </a:pPr>
              <a:endParaRPr/>
            </a:p>
            <a:p>
              <a:pPr>
                <a:defRPr sz="1304"/>
              </a:pPr>
              <a:r>
                <a:t>▷ Accurate analysis of patient will minimize the risk of surgery which can occur.</a:t>
              </a:r>
            </a:p>
          </p:txBody>
        </p:sp>
      </p:grpSp>
      <p:sp>
        <p:nvSpPr>
          <p:cNvPr id="274" name="TextBox 6"/>
          <p:cNvSpPr txBox="1"/>
          <p:nvPr/>
        </p:nvSpPr>
        <p:spPr>
          <a:xfrm>
            <a:off x="1791153" y="2197658"/>
            <a:ext cx="1284692" cy="249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25">
                <a:latin typeface="Graphik"/>
                <a:ea typeface="Graphik"/>
                <a:cs typeface="Graphik"/>
                <a:sym typeface="Graphik"/>
              </a:defRPr>
            </a:lvl1pPr>
          </a:lstStyle>
          <a:p>
            <a:r>
              <a:t>InBody Test</a:t>
            </a:r>
          </a:p>
        </p:txBody>
      </p:sp>
      <p:sp>
        <p:nvSpPr>
          <p:cNvPr id="275" name="Rectangle 274"/>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277" name="TextBox 276"/>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278" name="Picture 277" descr="logo_red.png"/>
          <p:cNvPicPr>
            <a:picLocks noChangeAspect="1"/>
          </p:cNvPicPr>
          <p:nvPr/>
        </p:nvPicPr>
        <p:blipFill>
          <a:blip r:embed="rId3"/>
          <a:stretch>
            <a:fillRect/>
          </a:stretch>
        </p:blipFill>
        <p:spPr>
          <a:xfrm>
            <a:off x="10436918" y="420624"/>
            <a:ext cx="1297577" cy="365760"/>
          </a:xfrm>
          <a:prstGeom prst="rect">
            <a:avLst/>
          </a:prstGeom>
        </p:spPr>
      </p:pic>
      <p:sp>
        <p:nvSpPr>
          <p:cNvPr id="279" name="TextBox 278"/>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80" name="TextBox 279"/>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89</a:t>
            </a:r>
          </a:p>
        </p:txBody>
      </p:sp>
    </p:spTree>
    <p:extLst>
      <p:ext uri="{BB962C8B-B14F-4D97-AF65-F5344CB8AC3E}">
        <p14:creationId xmlns:p14="http://schemas.microsoft.com/office/powerpoint/2010/main" val="17132527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84" name="그림 65" descr="그림 65"/>
          <p:cNvPicPr>
            <a:picLocks noChangeAspect="1"/>
          </p:cNvPicPr>
          <p:nvPr/>
        </p:nvPicPr>
        <p:blipFill>
          <a:blip r:embed="rId2"/>
          <a:stretch>
            <a:fillRect/>
          </a:stretch>
        </p:blipFill>
        <p:spPr>
          <a:xfrm>
            <a:off x="2122056" y="1406822"/>
            <a:ext cx="3697418" cy="4948257"/>
          </a:xfrm>
          <a:prstGeom prst="rect">
            <a:avLst/>
          </a:prstGeom>
          <a:ln w="12700">
            <a:miter lim="400000"/>
          </a:ln>
        </p:spPr>
      </p:pic>
      <p:grpSp>
        <p:nvGrpSpPr>
          <p:cNvPr id="319" name="다이어그램 69"/>
          <p:cNvGrpSpPr/>
          <p:nvPr/>
        </p:nvGrpSpPr>
        <p:grpSpPr>
          <a:xfrm>
            <a:off x="6003398" y="1904050"/>
            <a:ext cx="4247954" cy="2304762"/>
            <a:chOff x="0" y="0"/>
            <a:chExt cx="4699877" cy="2549955"/>
          </a:xfrm>
        </p:grpSpPr>
        <p:sp>
          <p:nvSpPr>
            <p:cNvPr id="285" name="Line"/>
            <p:cNvSpPr/>
            <p:nvPr/>
          </p:nvSpPr>
          <p:spPr>
            <a:xfrm>
              <a:off x="3497583" y="1535383"/>
              <a:ext cx="601147" cy="2860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4720"/>
                  </a:lnTo>
                  <a:lnTo>
                    <a:pt x="21600" y="14720"/>
                  </a:lnTo>
                  <a:lnTo>
                    <a:pt x="21600" y="21600"/>
                  </a:lnTo>
                </a:path>
              </a:pathLst>
            </a:custGeom>
            <a:noFill/>
            <a:ln w="12700" cap="flat">
              <a:solidFill>
                <a:srgbClr val="B50937"/>
              </a:solidFill>
              <a:prstDash val="solid"/>
              <a:miter lim="800000"/>
            </a:ln>
            <a:effectLst/>
          </p:spPr>
          <p:txBody>
            <a:bodyPr wrap="square" lIns="45719" tIns="45719" rIns="45719" bIns="45719" numCol="1" anchor="t">
              <a:noAutofit/>
            </a:bodyPr>
            <a:lstStyle/>
            <a:p>
              <a:endParaRPr/>
            </a:p>
          </p:txBody>
        </p:sp>
        <p:sp>
          <p:nvSpPr>
            <p:cNvPr id="286" name="Line"/>
            <p:cNvSpPr/>
            <p:nvPr/>
          </p:nvSpPr>
          <p:spPr>
            <a:xfrm>
              <a:off x="2896435" y="1535383"/>
              <a:ext cx="601148" cy="28609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14720"/>
                  </a:lnTo>
                  <a:lnTo>
                    <a:pt x="0" y="14720"/>
                  </a:lnTo>
                  <a:lnTo>
                    <a:pt x="0" y="21600"/>
                  </a:lnTo>
                </a:path>
              </a:pathLst>
            </a:custGeom>
            <a:noFill/>
            <a:ln w="12700" cap="flat">
              <a:solidFill>
                <a:srgbClr val="B50937"/>
              </a:solidFill>
              <a:prstDash val="solid"/>
              <a:miter lim="800000"/>
            </a:ln>
            <a:effectLst/>
          </p:spPr>
          <p:txBody>
            <a:bodyPr wrap="square" lIns="45719" tIns="45719" rIns="45719" bIns="45719" numCol="1" anchor="t">
              <a:noAutofit/>
            </a:bodyPr>
            <a:lstStyle/>
            <a:p>
              <a:endParaRPr/>
            </a:p>
          </p:txBody>
        </p:sp>
        <p:sp>
          <p:nvSpPr>
            <p:cNvPr id="287" name="Line"/>
            <p:cNvSpPr/>
            <p:nvPr/>
          </p:nvSpPr>
          <p:spPr>
            <a:xfrm>
              <a:off x="2295289" y="624646"/>
              <a:ext cx="1202295" cy="2860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4720"/>
                  </a:lnTo>
                  <a:lnTo>
                    <a:pt x="21600" y="14720"/>
                  </a:lnTo>
                  <a:lnTo>
                    <a:pt x="21600" y="21600"/>
                  </a:lnTo>
                </a:path>
              </a:pathLst>
            </a:custGeom>
            <a:noFill/>
            <a:ln w="12700" cap="flat">
              <a:solidFill>
                <a:srgbClr val="B50937"/>
              </a:solidFill>
              <a:prstDash val="solid"/>
              <a:miter lim="800000"/>
            </a:ln>
            <a:effectLst/>
          </p:spPr>
          <p:txBody>
            <a:bodyPr wrap="square" lIns="45719" tIns="45719" rIns="45719" bIns="45719" numCol="1" anchor="t">
              <a:noAutofit/>
            </a:bodyPr>
            <a:lstStyle/>
            <a:p>
              <a:endParaRPr/>
            </a:p>
          </p:txBody>
        </p:sp>
        <p:sp>
          <p:nvSpPr>
            <p:cNvPr id="288" name="Line"/>
            <p:cNvSpPr/>
            <p:nvPr/>
          </p:nvSpPr>
          <p:spPr>
            <a:xfrm>
              <a:off x="1092995" y="1535383"/>
              <a:ext cx="601147" cy="2860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4720"/>
                  </a:lnTo>
                  <a:lnTo>
                    <a:pt x="21600" y="14720"/>
                  </a:lnTo>
                  <a:lnTo>
                    <a:pt x="21600" y="21600"/>
                  </a:lnTo>
                </a:path>
              </a:pathLst>
            </a:custGeom>
            <a:noFill/>
            <a:ln w="12700" cap="flat">
              <a:solidFill>
                <a:srgbClr val="B50937"/>
              </a:solidFill>
              <a:prstDash val="solid"/>
              <a:miter lim="800000"/>
            </a:ln>
            <a:effectLst/>
          </p:spPr>
          <p:txBody>
            <a:bodyPr wrap="square" lIns="45719" tIns="45719" rIns="45719" bIns="45719" numCol="1" anchor="t">
              <a:noAutofit/>
            </a:bodyPr>
            <a:lstStyle/>
            <a:p>
              <a:endParaRPr/>
            </a:p>
          </p:txBody>
        </p:sp>
        <p:sp>
          <p:nvSpPr>
            <p:cNvPr id="289" name="Line"/>
            <p:cNvSpPr/>
            <p:nvPr/>
          </p:nvSpPr>
          <p:spPr>
            <a:xfrm>
              <a:off x="491848" y="1535383"/>
              <a:ext cx="601147" cy="28609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14720"/>
                  </a:lnTo>
                  <a:lnTo>
                    <a:pt x="0" y="14720"/>
                  </a:lnTo>
                  <a:lnTo>
                    <a:pt x="0" y="21600"/>
                  </a:lnTo>
                </a:path>
              </a:pathLst>
            </a:custGeom>
            <a:noFill/>
            <a:ln w="12700" cap="flat">
              <a:solidFill>
                <a:srgbClr val="B50937"/>
              </a:solidFill>
              <a:prstDash val="solid"/>
              <a:miter lim="800000"/>
            </a:ln>
            <a:effectLst/>
          </p:spPr>
          <p:txBody>
            <a:bodyPr wrap="square" lIns="45719" tIns="45719" rIns="45719" bIns="45719" numCol="1" anchor="t">
              <a:noAutofit/>
            </a:bodyPr>
            <a:lstStyle/>
            <a:p>
              <a:endParaRPr/>
            </a:p>
          </p:txBody>
        </p:sp>
        <p:sp>
          <p:nvSpPr>
            <p:cNvPr id="290" name="Line"/>
            <p:cNvSpPr/>
            <p:nvPr/>
          </p:nvSpPr>
          <p:spPr>
            <a:xfrm>
              <a:off x="1092995" y="624646"/>
              <a:ext cx="1202294" cy="28609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14720"/>
                  </a:lnTo>
                  <a:lnTo>
                    <a:pt x="0" y="14720"/>
                  </a:lnTo>
                  <a:lnTo>
                    <a:pt x="0" y="21600"/>
                  </a:lnTo>
                </a:path>
              </a:pathLst>
            </a:custGeom>
            <a:noFill/>
            <a:ln w="12700" cap="flat">
              <a:solidFill>
                <a:srgbClr val="B50937"/>
              </a:solidFill>
              <a:prstDash val="solid"/>
              <a:miter lim="800000"/>
            </a:ln>
            <a:effectLst/>
          </p:spPr>
          <p:txBody>
            <a:bodyPr wrap="square" lIns="45719" tIns="45719" rIns="45719" bIns="45719" numCol="1" anchor="t">
              <a:noAutofit/>
            </a:bodyPr>
            <a:lstStyle/>
            <a:p>
              <a:endParaRPr/>
            </a:p>
          </p:txBody>
        </p:sp>
        <p:sp>
          <p:nvSpPr>
            <p:cNvPr id="291" name="Rounded Rectangle"/>
            <p:cNvSpPr/>
            <p:nvPr/>
          </p:nvSpPr>
          <p:spPr>
            <a:xfrm>
              <a:off x="1803440" y="0"/>
              <a:ext cx="983696" cy="624646"/>
            </a:xfrm>
            <a:prstGeom prst="roundRect">
              <a:avLst>
                <a:gd name="adj" fmla="val 10000"/>
              </a:avLst>
            </a:prstGeom>
            <a:solidFill>
              <a:srgbClr val="FFFFFF"/>
            </a:solidFill>
            <a:ln w="12700" cap="flat">
              <a:solidFill>
                <a:srgbClr val="B50937"/>
              </a:solidFill>
              <a:prstDash val="solid"/>
              <a:miter lim="800000"/>
            </a:ln>
            <a:effectLst/>
          </p:spPr>
          <p:txBody>
            <a:bodyPr wrap="square" lIns="45719" tIns="45719" rIns="45719" bIns="45719" numCol="1" anchor="t">
              <a:noAutofit/>
            </a:bodyPr>
            <a:lstStyle/>
            <a:p>
              <a:endParaRPr/>
            </a:p>
          </p:txBody>
        </p:sp>
        <p:grpSp>
          <p:nvGrpSpPr>
            <p:cNvPr id="294" name="Group"/>
            <p:cNvGrpSpPr/>
            <p:nvPr/>
          </p:nvGrpSpPr>
          <p:grpSpPr>
            <a:xfrm>
              <a:off x="1912741" y="103835"/>
              <a:ext cx="983695" cy="624646"/>
              <a:chOff x="0" y="0"/>
              <a:chExt cx="983694" cy="624645"/>
            </a:xfrm>
          </p:grpSpPr>
          <p:sp>
            <p:nvSpPr>
              <p:cNvPr id="292" name="Rounded Rectangle"/>
              <p:cNvSpPr/>
              <p:nvPr/>
            </p:nvSpPr>
            <p:spPr>
              <a:xfrm>
                <a:off x="0" y="0"/>
                <a:ext cx="983695" cy="624646"/>
              </a:xfrm>
              <a:prstGeom prst="roundRect">
                <a:avLst>
                  <a:gd name="adj" fmla="val 10000"/>
                </a:avLst>
              </a:prstGeom>
              <a:solidFill>
                <a:srgbClr val="FBE9ED">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77850">
                  <a:lnSpc>
                    <a:spcPct val="90000"/>
                  </a:lnSpc>
                  <a:spcBef>
                    <a:spcPts val="632"/>
                  </a:spcBef>
                  <a:defRPr sz="1174"/>
                </a:pPr>
                <a:endParaRPr/>
              </a:p>
            </p:txBody>
          </p:sp>
          <p:sp>
            <p:nvSpPr>
              <p:cNvPr id="293" name="BMI…"/>
              <p:cNvSpPr txBox="1"/>
              <p:nvPr/>
            </p:nvSpPr>
            <p:spPr>
              <a:xfrm>
                <a:off x="18295" y="51479"/>
                <a:ext cx="947105" cy="5216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9530" tIns="49530" rIns="49530" bIns="49530" numCol="1" anchor="ctr">
                <a:spAutoFit/>
              </a:bodyPr>
              <a:lstStyle/>
              <a:p>
                <a:pPr algn="ctr" defTabSz="577850">
                  <a:lnSpc>
                    <a:spcPct val="90000"/>
                  </a:lnSpc>
                  <a:spcBef>
                    <a:spcPts val="451"/>
                  </a:spcBef>
                  <a:defRPr sz="1174"/>
                </a:pPr>
                <a:r>
                  <a:t>BMI </a:t>
                </a:r>
              </a:p>
              <a:p>
                <a:pPr algn="ctr" defTabSz="577850">
                  <a:lnSpc>
                    <a:spcPct val="90000"/>
                  </a:lnSpc>
                  <a:spcBef>
                    <a:spcPts val="451"/>
                  </a:spcBef>
                  <a:defRPr sz="1174"/>
                </a:pPr>
                <a:r>
                  <a:t>Over normal</a:t>
                </a:r>
              </a:p>
            </p:txBody>
          </p:sp>
        </p:grpSp>
        <p:sp>
          <p:nvSpPr>
            <p:cNvPr id="295" name="Rounded Rectangle"/>
            <p:cNvSpPr/>
            <p:nvPr/>
          </p:nvSpPr>
          <p:spPr>
            <a:xfrm>
              <a:off x="601146" y="910738"/>
              <a:ext cx="983696" cy="624646"/>
            </a:xfrm>
            <a:prstGeom prst="roundRect">
              <a:avLst>
                <a:gd name="adj" fmla="val 10000"/>
              </a:avLst>
            </a:prstGeom>
            <a:solidFill>
              <a:srgbClr val="FFFFFF"/>
            </a:solidFill>
            <a:ln w="12700" cap="flat">
              <a:solidFill>
                <a:srgbClr val="B50937"/>
              </a:solidFill>
              <a:prstDash val="solid"/>
              <a:miter lim="800000"/>
            </a:ln>
            <a:effectLst/>
          </p:spPr>
          <p:txBody>
            <a:bodyPr wrap="square" lIns="45719" tIns="45719" rIns="45719" bIns="45719" numCol="1" anchor="t">
              <a:noAutofit/>
            </a:bodyPr>
            <a:lstStyle/>
            <a:p>
              <a:endParaRPr/>
            </a:p>
          </p:txBody>
        </p:sp>
        <p:grpSp>
          <p:nvGrpSpPr>
            <p:cNvPr id="298" name="Group"/>
            <p:cNvGrpSpPr/>
            <p:nvPr/>
          </p:nvGrpSpPr>
          <p:grpSpPr>
            <a:xfrm>
              <a:off x="710446" y="1014573"/>
              <a:ext cx="983696" cy="624647"/>
              <a:chOff x="0" y="0"/>
              <a:chExt cx="983694" cy="624645"/>
            </a:xfrm>
          </p:grpSpPr>
          <p:sp>
            <p:nvSpPr>
              <p:cNvPr id="296" name="Rounded Rectangle"/>
              <p:cNvSpPr/>
              <p:nvPr/>
            </p:nvSpPr>
            <p:spPr>
              <a:xfrm>
                <a:off x="0" y="0"/>
                <a:ext cx="983695" cy="624646"/>
              </a:xfrm>
              <a:prstGeom prst="roundRect">
                <a:avLst>
                  <a:gd name="adj" fmla="val 10000"/>
                </a:avLst>
              </a:prstGeom>
              <a:solidFill>
                <a:srgbClr val="FBE9ED">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632"/>
                  </a:spcBef>
                  <a:defRPr sz="1084"/>
                </a:pPr>
                <a:endParaRPr/>
              </a:p>
            </p:txBody>
          </p:sp>
          <p:sp>
            <p:nvSpPr>
              <p:cNvPr id="297" name="SMM&gt;…"/>
              <p:cNvSpPr txBox="1"/>
              <p:nvPr/>
            </p:nvSpPr>
            <p:spPr>
              <a:xfrm>
                <a:off x="18295" y="68759"/>
                <a:ext cx="947105"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451"/>
                  </a:spcBef>
                  <a:defRPr sz="1084"/>
                </a:pPr>
                <a:r>
                  <a:t>SMM&gt;</a:t>
                </a:r>
              </a:p>
              <a:p>
                <a:pPr algn="ctr" defTabSz="533400">
                  <a:lnSpc>
                    <a:spcPct val="90000"/>
                  </a:lnSpc>
                  <a:spcBef>
                    <a:spcPts val="451"/>
                  </a:spcBef>
                  <a:defRPr sz="1084"/>
                </a:pPr>
                <a:r>
                  <a:t>Normal</a:t>
                </a:r>
              </a:p>
            </p:txBody>
          </p:sp>
        </p:grpSp>
        <p:sp>
          <p:nvSpPr>
            <p:cNvPr id="299" name="Rounded Rectangle"/>
            <p:cNvSpPr/>
            <p:nvPr/>
          </p:nvSpPr>
          <p:spPr>
            <a:xfrm>
              <a:off x="0" y="1821476"/>
              <a:ext cx="983695" cy="624647"/>
            </a:xfrm>
            <a:prstGeom prst="roundRect">
              <a:avLst>
                <a:gd name="adj" fmla="val 10000"/>
              </a:avLst>
            </a:prstGeom>
            <a:solidFill>
              <a:srgbClr val="FFFFFF"/>
            </a:solidFill>
            <a:ln w="12700" cap="flat">
              <a:solidFill>
                <a:srgbClr val="B50937"/>
              </a:solidFill>
              <a:prstDash val="solid"/>
              <a:miter lim="800000"/>
            </a:ln>
            <a:effectLst/>
          </p:spPr>
          <p:txBody>
            <a:bodyPr wrap="square" lIns="45719" tIns="45719" rIns="45719" bIns="45719" numCol="1" anchor="t">
              <a:noAutofit/>
            </a:bodyPr>
            <a:lstStyle/>
            <a:p>
              <a:endParaRPr/>
            </a:p>
          </p:txBody>
        </p:sp>
        <p:grpSp>
          <p:nvGrpSpPr>
            <p:cNvPr id="302" name="Group"/>
            <p:cNvGrpSpPr/>
            <p:nvPr/>
          </p:nvGrpSpPr>
          <p:grpSpPr>
            <a:xfrm>
              <a:off x="109300" y="1925310"/>
              <a:ext cx="983695" cy="624646"/>
              <a:chOff x="0" y="0"/>
              <a:chExt cx="983694" cy="624645"/>
            </a:xfrm>
          </p:grpSpPr>
          <p:sp>
            <p:nvSpPr>
              <p:cNvPr id="300" name="Rounded Rectangle"/>
              <p:cNvSpPr/>
              <p:nvPr/>
            </p:nvSpPr>
            <p:spPr>
              <a:xfrm>
                <a:off x="0" y="0"/>
                <a:ext cx="983695" cy="624646"/>
              </a:xfrm>
              <a:prstGeom prst="roundRect">
                <a:avLst>
                  <a:gd name="adj" fmla="val 10000"/>
                </a:avLst>
              </a:prstGeom>
              <a:solidFill>
                <a:srgbClr val="FBE9ED">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632"/>
                  </a:spcBef>
                  <a:defRPr sz="1084"/>
                </a:pPr>
                <a:endParaRPr/>
              </a:p>
            </p:txBody>
          </p:sp>
          <p:sp>
            <p:nvSpPr>
              <p:cNvPr id="301" name="ECW ratio&gt;…"/>
              <p:cNvSpPr txBox="1"/>
              <p:nvPr/>
            </p:nvSpPr>
            <p:spPr>
              <a:xfrm>
                <a:off x="18294" y="68759"/>
                <a:ext cx="947106"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451"/>
                  </a:spcBef>
                  <a:defRPr sz="1084"/>
                </a:pPr>
                <a:r>
                  <a:t>ECW ratio&gt;</a:t>
                </a:r>
              </a:p>
              <a:p>
                <a:pPr algn="ctr" defTabSz="533400">
                  <a:lnSpc>
                    <a:spcPct val="90000"/>
                  </a:lnSpc>
                  <a:spcBef>
                    <a:spcPts val="451"/>
                  </a:spcBef>
                  <a:defRPr sz="1084"/>
                </a:pPr>
                <a:r>
                  <a:t>Normal</a:t>
                </a:r>
              </a:p>
            </p:txBody>
          </p:sp>
        </p:grpSp>
        <p:sp>
          <p:nvSpPr>
            <p:cNvPr id="303" name="Rounded Rectangle"/>
            <p:cNvSpPr/>
            <p:nvPr/>
          </p:nvSpPr>
          <p:spPr>
            <a:xfrm>
              <a:off x="1202293" y="1821476"/>
              <a:ext cx="983696" cy="624647"/>
            </a:xfrm>
            <a:prstGeom prst="roundRect">
              <a:avLst>
                <a:gd name="adj" fmla="val 10000"/>
              </a:avLst>
            </a:prstGeom>
            <a:solidFill>
              <a:srgbClr val="FFFFFF"/>
            </a:solidFill>
            <a:ln w="12700" cap="flat">
              <a:solidFill>
                <a:srgbClr val="B50937"/>
              </a:solidFill>
              <a:prstDash val="solid"/>
              <a:miter lim="800000"/>
            </a:ln>
            <a:effectLst/>
          </p:spPr>
          <p:txBody>
            <a:bodyPr wrap="square" lIns="45719" tIns="45719" rIns="45719" bIns="45719" numCol="1" anchor="t">
              <a:noAutofit/>
            </a:bodyPr>
            <a:lstStyle/>
            <a:p>
              <a:endParaRPr/>
            </a:p>
          </p:txBody>
        </p:sp>
        <p:grpSp>
          <p:nvGrpSpPr>
            <p:cNvPr id="306" name="Group"/>
            <p:cNvGrpSpPr/>
            <p:nvPr/>
          </p:nvGrpSpPr>
          <p:grpSpPr>
            <a:xfrm>
              <a:off x="1311593" y="1925310"/>
              <a:ext cx="983696" cy="624646"/>
              <a:chOff x="0" y="0"/>
              <a:chExt cx="983694" cy="624645"/>
            </a:xfrm>
          </p:grpSpPr>
          <p:sp>
            <p:nvSpPr>
              <p:cNvPr id="304" name="Rounded Rectangle"/>
              <p:cNvSpPr/>
              <p:nvPr/>
            </p:nvSpPr>
            <p:spPr>
              <a:xfrm>
                <a:off x="0" y="0"/>
                <a:ext cx="983695" cy="624646"/>
              </a:xfrm>
              <a:prstGeom prst="roundRect">
                <a:avLst>
                  <a:gd name="adj" fmla="val 10000"/>
                </a:avLst>
              </a:prstGeom>
              <a:solidFill>
                <a:srgbClr val="FBE9ED">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632"/>
                  </a:spcBef>
                  <a:defRPr sz="1084"/>
                </a:pPr>
                <a:endParaRPr/>
              </a:p>
            </p:txBody>
          </p:sp>
          <p:sp>
            <p:nvSpPr>
              <p:cNvPr id="305" name="ECW ratio ≤…"/>
              <p:cNvSpPr txBox="1"/>
              <p:nvPr/>
            </p:nvSpPr>
            <p:spPr>
              <a:xfrm>
                <a:off x="18295" y="68759"/>
                <a:ext cx="947105"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451"/>
                  </a:spcBef>
                  <a:defRPr sz="1084"/>
                </a:pPr>
                <a:r>
                  <a:t>ECW ratio ≤</a:t>
                </a:r>
              </a:p>
              <a:p>
                <a:pPr algn="ctr" defTabSz="533400">
                  <a:lnSpc>
                    <a:spcPct val="90000"/>
                  </a:lnSpc>
                  <a:spcBef>
                    <a:spcPts val="451"/>
                  </a:spcBef>
                  <a:defRPr sz="1084"/>
                </a:pPr>
                <a:r>
                  <a:t>Normal</a:t>
                </a:r>
              </a:p>
            </p:txBody>
          </p:sp>
        </p:grpSp>
        <p:sp>
          <p:nvSpPr>
            <p:cNvPr id="307" name="Rounded Rectangle"/>
            <p:cNvSpPr/>
            <p:nvPr/>
          </p:nvSpPr>
          <p:spPr>
            <a:xfrm>
              <a:off x="3005734" y="910738"/>
              <a:ext cx="983696" cy="624646"/>
            </a:xfrm>
            <a:prstGeom prst="roundRect">
              <a:avLst>
                <a:gd name="adj" fmla="val 10000"/>
              </a:avLst>
            </a:prstGeom>
            <a:solidFill>
              <a:srgbClr val="FFFFFF"/>
            </a:solidFill>
            <a:ln w="12700" cap="flat">
              <a:solidFill>
                <a:srgbClr val="B50937"/>
              </a:solidFill>
              <a:prstDash val="solid"/>
              <a:miter lim="800000"/>
            </a:ln>
            <a:effectLst/>
          </p:spPr>
          <p:txBody>
            <a:bodyPr wrap="square" lIns="45719" tIns="45719" rIns="45719" bIns="45719" numCol="1" anchor="t">
              <a:noAutofit/>
            </a:bodyPr>
            <a:lstStyle/>
            <a:p>
              <a:endParaRPr/>
            </a:p>
          </p:txBody>
        </p:sp>
        <p:grpSp>
          <p:nvGrpSpPr>
            <p:cNvPr id="310" name="Group"/>
            <p:cNvGrpSpPr/>
            <p:nvPr/>
          </p:nvGrpSpPr>
          <p:grpSpPr>
            <a:xfrm>
              <a:off x="3115034" y="1014573"/>
              <a:ext cx="983696" cy="624647"/>
              <a:chOff x="0" y="0"/>
              <a:chExt cx="983694" cy="624645"/>
            </a:xfrm>
          </p:grpSpPr>
          <p:sp>
            <p:nvSpPr>
              <p:cNvPr id="308" name="Rounded Rectangle"/>
              <p:cNvSpPr/>
              <p:nvPr/>
            </p:nvSpPr>
            <p:spPr>
              <a:xfrm>
                <a:off x="0" y="0"/>
                <a:ext cx="983695" cy="624646"/>
              </a:xfrm>
              <a:prstGeom prst="roundRect">
                <a:avLst>
                  <a:gd name="adj" fmla="val 10000"/>
                </a:avLst>
              </a:prstGeom>
              <a:solidFill>
                <a:srgbClr val="FBE9ED">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632"/>
                  </a:spcBef>
                  <a:defRPr sz="1084"/>
                </a:pPr>
                <a:endParaRPr/>
              </a:p>
            </p:txBody>
          </p:sp>
          <p:sp>
            <p:nvSpPr>
              <p:cNvPr id="309" name="SMM≤…"/>
              <p:cNvSpPr txBox="1"/>
              <p:nvPr/>
            </p:nvSpPr>
            <p:spPr>
              <a:xfrm>
                <a:off x="18295" y="68759"/>
                <a:ext cx="947105"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451"/>
                  </a:spcBef>
                  <a:defRPr sz="1084" b="1"/>
                </a:pPr>
                <a:r>
                  <a:t>SMM≤</a:t>
                </a:r>
              </a:p>
              <a:p>
                <a:pPr algn="ctr" defTabSz="533400">
                  <a:lnSpc>
                    <a:spcPct val="90000"/>
                  </a:lnSpc>
                  <a:spcBef>
                    <a:spcPts val="451"/>
                  </a:spcBef>
                  <a:defRPr sz="1084"/>
                </a:pPr>
                <a:r>
                  <a:t>Normal</a:t>
                </a:r>
              </a:p>
            </p:txBody>
          </p:sp>
        </p:grpSp>
        <p:sp>
          <p:nvSpPr>
            <p:cNvPr id="311" name="Rounded Rectangle"/>
            <p:cNvSpPr/>
            <p:nvPr/>
          </p:nvSpPr>
          <p:spPr>
            <a:xfrm>
              <a:off x="2404587" y="1821476"/>
              <a:ext cx="983696" cy="624647"/>
            </a:xfrm>
            <a:prstGeom prst="roundRect">
              <a:avLst>
                <a:gd name="adj" fmla="val 10000"/>
              </a:avLst>
            </a:prstGeom>
            <a:solidFill>
              <a:srgbClr val="FFFFFF"/>
            </a:solidFill>
            <a:ln w="12700" cap="flat">
              <a:solidFill>
                <a:srgbClr val="B50937"/>
              </a:solidFill>
              <a:prstDash val="solid"/>
              <a:miter lim="800000"/>
            </a:ln>
            <a:effectLst/>
          </p:spPr>
          <p:txBody>
            <a:bodyPr wrap="square" lIns="45719" tIns="45719" rIns="45719" bIns="45719" numCol="1" anchor="t">
              <a:noAutofit/>
            </a:bodyPr>
            <a:lstStyle/>
            <a:p>
              <a:endParaRPr/>
            </a:p>
          </p:txBody>
        </p:sp>
        <p:grpSp>
          <p:nvGrpSpPr>
            <p:cNvPr id="314" name="Group"/>
            <p:cNvGrpSpPr/>
            <p:nvPr/>
          </p:nvGrpSpPr>
          <p:grpSpPr>
            <a:xfrm>
              <a:off x="2513888" y="1925310"/>
              <a:ext cx="983696" cy="624646"/>
              <a:chOff x="0" y="0"/>
              <a:chExt cx="983694" cy="624645"/>
            </a:xfrm>
          </p:grpSpPr>
          <p:sp>
            <p:nvSpPr>
              <p:cNvPr id="312" name="Rounded Rectangle"/>
              <p:cNvSpPr/>
              <p:nvPr/>
            </p:nvSpPr>
            <p:spPr>
              <a:xfrm>
                <a:off x="0" y="0"/>
                <a:ext cx="983695" cy="624646"/>
              </a:xfrm>
              <a:prstGeom prst="roundRect">
                <a:avLst>
                  <a:gd name="adj" fmla="val 10000"/>
                </a:avLst>
              </a:prstGeom>
              <a:solidFill>
                <a:srgbClr val="FBE9ED">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632"/>
                  </a:spcBef>
                  <a:defRPr sz="1084" baseline="21999"/>
                </a:pPr>
                <a:endParaRPr/>
              </a:p>
            </p:txBody>
          </p:sp>
          <p:sp>
            <p:nvSpPr>
              <p:cNvPr id="313" name="VFA &gt;…"/>
              <p:cNvSpPr txBox="1"/>
              <p:nvPr/>
            </p:nvSpPr>
            <p:spPr>
              <a:xfrm>
                <a:off x="18295" y="68759"/>
                <a:ext cx="947105"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451"/>
                  </a:spcBef>
                  <a:defRPr sz="1084"/>
                </a:pPr>
                <a:r>
                  <a:t>VFA &gt;</a:t>
                </a:r>
              </a:p>
              <a:p>
                <a:pPr algn="ctr" defTabSz="533400">
                  <a:lnSpc>
                    <a:spcPct val="90000"/>
                  </a:lnSpc>
                  <a:spcBef>
                    <a:spcPts val="451"/>
                  </a:spcBef>
                  <a:defRPr sz="1084"/>
                </a:pPr>
                <a:r>
                  <a:t>100cm</a:t>
                </a:r>
                <a:r>
                  <a:rPr baseline="21999"/>
                  <a:t>2</a:t>
                </a:r>
              </a:p>
            </p:txBody>
          </p:sp>
        </p:grpSp>
        <p:sp>
          <p:nvSpPr>
            <p:cNvPr id="315" name="Rounded Rectangle"/>
            <p:cNvSpPr/>
            <p:nvPr/>
          </p:nvSpPr>
          <p:spPr>
            <a:xfrm>
              <a:off x="3606881" y="1821476"/>
              <a:ext cx="983696" cy="624647"/>
            </a:xfrm>
            <a:prstGeom prst="roundRect">
              <a:avLst>
                <a:gd name="adj" fmla="val 10000"/>
              </a:avLst>
            </a:prstGeom>
            <a:solidFill>
              <a:srgbClr val="FFFFFF"/>
            </a:solidFill>
            <a:ln w="12700" cap="flat">
              <a:solidFill>
                <a:srgbClr val="B50937"/>
              </a:solidFill>
              <a:prstDash val="solid"/>
              <a:miter lim="800000"/>
            </a:ln>
            <a:effectLst/>
          </p:spPr>
          <p:txBody>
            <a:bodyPr wrap="square" lIns="45719" tIns="45719" rIns="45719" bIns="45719" numCol="1" anchor="t">
              <a:noAutofit/>
            </a:bodyPr>
            <a:lstStyle/>
            <a:p>
              <a:endParaRPr/>
            </a:p>
          </p:txBody>
        </p:sp>
        <p:grpSp>
          <p:nvGrpSpPr>
            <p:cNvPr id="318" name="Group"/>
            <p:cNvGrpSpPr/>
            <p:nvPr/>
          </p:nvGrpSpPr>
          <p:grpSpPr>
            <a:xfrm>
              <a:off x="3716182" y="1925310"/>
              <a:ext cx="983696" cy="624646"/>
              <a:chOff x="0" y="0"/>
              <a:chExt cx="983694" cy="624645"/>
            </a:xfrm>
          </p:grpSpPr>
          <p:sp>
            <p:nvSpPr>
              <p:cNvPr id="316" name="Rounded Rectangle"/>
              <p:cNvSpPr/>
              <p:nvPr/>
            </p:nvSpPr>
            <p:spPr>
              <a:xfrm>
                <a:off x="0" y="0"/>
                <a:ext cx="983695" cy="624646"/>
              </a:xfrm>
              <a:prstGeom prst="roundRect">
                <a:avLst>
                  <a:gd name="adj" fmla="val 10000"/>
                </a:avLst>
              </a:prstGeom>
              <a:solidFill>
                <a:srgbClr val="FBE9ED">
                  <a:alpha val="90000"/>
                </a:srgbClr>
              </a:solidFill>
              <a:ln w="12700" cap="flat">
                <a:solidFill>
                  <a:schemeClr val="accent2"/>
                </a:solidFill>
                <a:prstDash val="solid"/>
                <a:miter lim="800000"/>
              </a:ln>
              <a:effectLst/>
            </p:spPr>
            <p:txBody>
              <a:bodyPr wrap="square" lIns="45719" tIns="45719" rIns="45719" bIns="45719" numCol="1" anchor="ctr">
                <a:noAutofit/>
              </a:bodyPr>
              <a:lstStyle/>
              <a:p>
                <a:pPr algn="ctr" defTabSz="533400">
                  <a:lnSpc>
                    <a:spcPct val="90000"/>
                  </a:lnSpc>
                  <a:spcBef>
                    <a:spcPts val="632"/>
                  </a:spcBef>
                  <a:defRPr sz="1084"/>
                </a:pPr>
                <a:endParaRPr/>
              </a:p>
            </p:txBody>
          </p:sp>
          <p:sp>
            <p:nvSpPr>
              <p:cNvPr id="317" name="VFA ≤…"/>
              <p:cNvSpPr txBox="1"/>
              <p:nvPr/>
            </p:nvSpPr>
            <p:spPr>
              <a:xfrm>
                <a:off x="18295" y="68759"/>
                <a:ext cx="947105" cy="4871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defTabSz="533400">
                  <a:lnSpc>
                    <a:spcPct val="90000"/>
                  </a:lnSpc>
                  <a:spcBef>
                    <a:spcPts val="451"/>
                  </a:spcBef>
                  <a:defRPr sz="1084"/>
                </a:pPr>
                <a:r>
                  <a:t>VFA ≤</a:t>
                </a:r>
              </a:p>
              <a:p>
                <a:pPr algn="ctr" defTabSz="533400">
                  <a:lnSpc>
                    <a:spcPct val="90000"/>
                  </a:lnSpc>
                  <a:spcBef>
                    <a:spcPts val="451"/>
                  </a:spcBef>
                  <a:defRPr sz="1084"/>
                </a:pPr>
                <a:r>
                  <a:t>100cm</a:t>
                </a:r>
                <a:r>
                  <a:rPr baseline="21999"/>
                  <a:t>2</a:t>
                </a:r>
              </a:p>
            </p:txBody>
          </p:sp>
        </p:grpSp>
      </p:grpSp>
      <p:sp>
        <p:nvSpPr>
          <p:cNvPr id="320" name="아래쪽 화살표 70"/>
          <p:cNvSpPr/>
          <p:nvPr/>
        </p:nvSpPr>
        <p:spPr>
          <a:xfrm>
            <a:off x="6344552" y="4319758"/>
            <a:ext cx="330590" cy="543113"/>
          </a:xfrm>
          <a:custGeom>
            <a:avLst/>
            <a:gdLst/>
            <a:ahLst/>
            <a:cxnLst>
              <a:cxn ang="0">
                <a:pos x="wd2" y="hd2"/>
              </a:cxn>
              <a:cxn ang="5400000">
                <a:pos x="wd2" y="hd2"/>
              </a:cxn>
              <a:cxn ang="10800000">
                <a:pos x="wd2" y="hd2"/>
              </a:cxn>
              <a:cxn ang="16200000">
                <a:pos x="wd2" y="hd2"/>
              </a:cxn>
            </a:cxnLst>
            <a:rect l="0" t="0" r="r" b="b"/>
            <a:pathLst>
              <a:path w="21600" h="21600" extrusionOk="0">
                <a:moveTo>
                  <a:pt x="0" y="15026"/>
                </a:moveTo>
                <a:lnTo>
                  <a:pt x="5400" y="15026"/>
                </a:lnTo>
                <a:lnTo>
                  <a:pt x="5400" y="0"/>
                </a:lnTo>
                <a:lnTo>
                  <a:pt x="16200" y="0"/>
                </a:lnTo>
                <a:lnTo>
                  <a:pt x="16200" y="15026"/>
                </a:lnTo>
                <a:lnTo>
                  <a:pt x="21600" y="15026"/>
                </a:lnTo>
                <a:lnTo>
                  <a:pt x="10800" y="21600"/>
                </a:lnTo>
                <a:close/>
              </a:path>
            </a:pathLst>
          </a:custGeom>
          <a:solidFill>
            <a:srgbClr val="B50937"/>
          </a:solidFill>
          <a:ln w="12700">
            <a:solidFill>
              <a:srgbClr val="181D27"/>
            </a:solidFill>
            <a:miter/>
          </a:ln>
        </p:spPr>
        <p:txBody>
          <a:bodyPr lIns="45719" rIns="45719" anchor="ctr"/>
          <a:lstStyle/>
          <a:p>
            <a:pPr algn="ctr">
              <a:defRPr>
                <a:solidFill>
                  <a:srgbClr val="FFFFFF"/>
                </a:solidFill>
              </a:defRPr>
            </a:pPr>
            <a:endParaRPr/>
          </a:p>
        </p:txBody>
      </p:sp>
      <p:sp>
        <p:nvSpPr>
          <p:cNvPr id="321" name="아래쪽 화살표 71"/>
          <p:cNvSpPr/>
          <p:nvPr/>
        </p:nvSpPr>
        <p:spPr>
          <a:xfrm>
            <a:off x="7479969" y="4355179"/>
            <a:ext cx="330590" cy="543113"/>
          </a:xfrm>
          <a:custGeom>
            <a:avLst/>
            <a:gdLst/>
            <a:ahLst/>
            <a:cxnLst>
              <a:cxn ang="0">
                <a:pos x="wd2" y="hd2"/>
              </a:cxn>
              <a:cxn ang="5400000">
                <a:pos x="wd2" y="hd2"/>
              </a:cxn>
              <a:cxn ang="10800000">
                <a:pos x="wd2" y="hd2"/>
              </a:cxn>
              <a:cxn ang="16200000">
                <a:pos x="wd2" y="hd2"/>
              </a:cxn>
            </a:cxnLst>
            <a:rect l="0" t="0" r="r" b="b"/>
            <a:pathLst>
              <a:path w="21600" h="21600" extrusionOk="0">
                <a:moveTo>
                  <a:pt x="0" y="15026"/>
                </a:moveTo>
                <a:lnTo>
                  <a:pt x="5400" y="15026"/>
                </a:lnTo>
                <a:lnTo>
                  <a:pt x="5400" y="0"/>
                </a:lnTo>
                <a:lnTo>
                  <a:pt x="16200" y="0"/>
                </a:lnTo>
                <a:lnTo>
                  <a:pt x="16200" y="15026"/>
                </a:lnTo>
                <a:lnTo>
                  <a:pt x="21600" y="15026"/>
                </a:lnTo>
                <a:lnTo>
                  <a:pt x="10800" y="21600"/>
                </a:lnTo>
                <a:close/>
              </a:path>
            </a:pathLst>
          </a:custGeom>
          <a:solidFill>
            <a:srgbClr val="B50937"/>
          </a:solidFill>
          <a:ln w="12700">
            <a:solidFill>
              <a:srgbClr val="181D27"/>
            </a:solidFill>
            <a:miter/>
          </a:ln>
        </p:spPr>
        <p:txBody>
          <a:bodyPr lIns="45719" rIns="45719" anchor="ctr"/>
          <a:lstStyle/>
          <a:p>
            <a:pPr algn="ctr">
              <a:defRPr>
                <a:solidFill>
                  <a:srgbClr val="FFFFFF"/>
                </a:solidFill>
              </a:defRPr>
            </a:pPr>
            <a:endParaRPr/>
          </a:p>
        </p:txBody>
      </p:sp>
      <p:sp>
        <p:nvSpPr>
          <p:cNvPr id="322" name="아래쪽 화살표 72"/>
          <p:cNvSpPr/>
          <p:nvPr/>
        </p:nvSpPr>
        <p:spPr>
          <a:xfrm>
            <a:off x="8599645" y="4319758"/>
            <a:ext cx="330590" cy="543113"/>
          </a:xfrm>
          <a:custGeom>
            <a:avLst/>
            <a:gdLst/>
            <a:ahLst/>
            <a:cxnLst>
              <a:cxn ang="0">
                <a:pos x="wd2" y="hd2"/>
              </a:cxn>
              <a:cxn ang="5400000">
                <a:pos x="wd2" y="hd2"/>
              </a:cxn>
              <a:cxn ang="10800000">
                <a:pos x="wd2" y="hd2"/>
              </a:cxn>
              <a:cxn ang="16200000">
                <a:pos x="wd2" y="hd2"/>
              </a:cxn>
            </a:cxnLst>
            <a:rect l="0" t="0" r="r" b="b"/>
            <a:pathLst>
              <a:path w="21600" h="21600" extrusionOk="0">
                <a:moveTo>
                  <a:pt x="0" y="15026"/>
                </a:moveTo>
                <a:lnTo>
                  <a:pt x="5400" y="15026"/>
                </a:lnTo>
                <a:lnTo>
                  <a:pt x="5400" y="0"/>
                </a:lnTo>
                <a:lnTo>
                  <a:pt x="16200" y="0"/>
                </a:lnTo>
                <a:lnTo>
                  <a:pt x="16200" y="15026"/>
                </a:lnTo>
                <a:lnTo>
                  <a:pt x="21600" y="15026"/>
                </a:lnTo>
                <a:lnTo>
                  <a:pt x="10800" y="21600"/>
                </a:lnTo>
                <a:close/>
              </a:path>
            </a:pathLst>
          </a:custGeom>
          <a:solidFill>
            <a:srgbClr val="B50937"/>
          </a:solidFill>
          <a:ln w="12700">
            <a:solidFill>
              <a:srgbClr val="181D27"/>
            </a:solidFill>
            <a:miter/>
          </a:ln>
        </p:spPr>
        <p:txBody>
          <a:bodyPr lIns="45719" rIns="45719" anchor="ctr"/>
          <a:lstStyle/>
          <a:p>
            <a:pPr algn="ctr">
              <a:defRPr>
                <a:solidFill>
                  <a:srgbClr val="FFFFFF"/>
                </a:solidFill>
              </a:defRPr>
            </a:pPr>
            <a:endParaRPr/>
          </a:p>
        </p:txBody>
      </p:sp>
      <p:sp>
        <p:nvSpPr>
          <p:cNvPr id="323" name="아래쪽 화살표 73"/>
          <p:cNvSpPr/>
          <p:nvPr/>
        </p:nvSpPr>
        <p:spPr>
          <a:xfrm>
            <a:off x="9719319" y="4319758"/>
            <a:ext cx="330590" cy="543113"/>
          </a:xfrm>
          <a:custGeom>
            <a:avLst/>
            <a:gdLst/>
            <a:ahLst/>
            <a:cxnLst>
              <a:cxn ang="0">
                <a:pos x="wd2" y="hd2"/>
              </a:cxn>
              <a:cxn ang="5400000">
                <a:pos x="wd2" y="hd2"/>
              </a:cxn>
              <a:cxn ang="10800000">
                <a:pos x="wd2" y="hd2"/>
              </a:cxn>
              <a:cxn ang="16200000">
                <a:pos x="wd2" y="hd2"/>
              </a:cxn>
            </a:cxnLst>
            <a:rect l="0" t="0" r="r" b="b"/>
            <a:pathLst>
              <a:path w="21600" h="21600" extrusionOk="0">
                <a:moveTo>
                  <a:pt x="0" y="15026"/>
                </a:moveTo>
                <a:lnTo>
                  <a:pt x="5400" y="15026"/>
                </a:lnTo>
                <a:lnTo>
                  <a:pt x="5400" y="0"/>
                </a:lnTo>
                <a:lnTo>
                  <a:pt x="16200" y="0"/>
                </a:lnTo>
                <a:lnTo>
                  <a:pt x="16200" y="15026"/>
                </a:lnTo>
                <a:lnTo>
                  <a:pt x="21600" y="15026"/>
                </a:lnTo>
                <a:lnTo>
                  <a:pt x="10800" y="21600"/>
                </a:lnTo>
                <a:close/>
              </a:path>
            </a:pathLst>
          </a:custGeom>
          <a:solidFill>
            <a:srgbClr val="B50937"/>
          </a:solidFill>
          <a:ln w="12700">
            <a:solidFill>
              <a:srgbClr val="181D27"/>
            </a:solidFill>
            <a:miter/>
          </a:ln>
        </p:spPr>
        <p:txBody>
          <a:bodyPr lIns="45719" rIns="45719" anchor="ctr"/>
          <a:lstStyle/>
          <a:p>
            <a:pPr algn="ctr">
              <a:defRPr>
                <a:solidFill>
                  <a:srgbClr val="FFFFFF"/>
                </a:solidFill>
              </a:defRPr>
            </a:pPr>
            <a:endParaRPr/>
          </a:p>
        </p:txBody>
      </p:sp>
      <p:grpSp>
        <p:nvGrpSpPr>
          <p:cNvPr id="326" name="순서도: 대체 처리 74"/>
          <p:cNvGrpSpPr/>
          <p:nvPr/>
        </p:nvGrpSpPr>
        <p:grpSpPr>
          <a:xfrm>
            <a:off x="6031673" y="5081295"/>
            <a:ext cx="956350" cy="779249"/>
            <a:chOff x="0" y="0"/>
            <a:chExt cx="1058092" cy="862149"/>
          </a:xfrm>
        </p:grpSpPr>
        <p:sp>
          <p:nvSpPr>
            <p:cNvPr id="324" name="Shape"/>
            <p:cNvSpPr/>
            <p:nvPr/>
          </p:nvSpPr>
          <p:spPr>
            <a:xfrm>
              <a:off x="-1" y="0"/>
              <a:ext cx="1058094" cy="862150"/>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1313" y="0"/>
                    <a:pt x="2933" y="0"/>
                  </a:cubicBezTo>
                  <a:lnTo>
                    <a:pt x="18667" y="0"/>
                  </a:lnTo>
                  <a:cubicBezTo>
                    <a:pt x="20287" y="0"/>
                    <a:pt x="21600" y="1612"/>
                    <a:pt x="21600" y="3600"/>
                  </a:cubicBezTo>
                  <a:lnTo>
                    <a:pt x="21600" y="18000"/>
                  </a:lnTo>
                  <a:cubicBezTo>
                    <a:pt x="21600" y="19988"/>
                    <a:pt x="20287" y="21600"/>
                    <a:pt x="18667" y="21600"/>
                  </a:cubicBezTo>
                  <a:lnTo>
                    <a:pt x="2933" y="21600"/>
                  </a:lnTo>
                  <a:cubicBezTo>
                    <a:pt x="1313" y="21600"/>
                    <a:pt x="0" y="19988"/>
                    <a:pt x="0" y="18000"/>
                  </a:cubicBezTo>
                  <a:close/>
                </a:path>
              </a:pathLst>
            </a:custGeom>
            <a:solidFill>
              <a:schemeClr val="accent2"/>
            </a:solidFill>
            <a:ln w="12700" cap="flat">
              <a:solidFill>
                <a:srgbClr val="181D27"/>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325" name="Edematous…"/>
            <p:cNvSpPr txBox="1"/>
            <p:nvPr/>
          </p:nvSpPr>
          <p:spPr>
            <a:xfrm>
              <a:off x="123915" y="169280"/>
              <a:ext cx="810261" cy="52358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a:defRPr sz="1084">
                  <a:solidFill>
                    <a:srgbClr val="FFFFFF"/>
                  </a:solidFill>
                </a:defRPr>
              </a:pPr>
              <a:r>
                <a:t>Edematous</a:t>
              </a:r>
            </a:p>
            <a:p>
              <a:pPr algn="ctr">
                <a:defRPr>
                  <a:solidFill>
                    <a:srgbClr val="FFFFFF"/>
                  </a:solidFill>
                </a:defRPr>
              </a:pPr>
              <a:r>
                <a:t>Obese</a:t>
              </a:r>
            </a:p>
          </p:txBody>
        </p:sp>
      </p:grpSp>
      <p:grpSp>
        <p:nvGrpSpPr>
          <p:cNvPr id="329" name="순서도: 대체 처리 75"/>
          <p:cNvGrpSpPr/>
          <p:nvPr/>
        </p:nvGrpSpPr>
        <p:grpSpPr>
          <a:xfrm>
            <a:off x="7167090" y="5081295"/>
            <a:ext cx="956350" cy="779249"/>
            <a:chOff x="0" y="0"/>
            <a:chExt cx="1058092" cy="862149"/>
          </a:xfrm>
        </p:grpSpPr>
        <p:sp>
          <p:nvSpPr>
            <p:cNvPr id="327" name="Shape"/>
            <p:cNvSpPr/>
            <p:nvPr/>
          </p:nvSpPr>
          <p:spPr>
            <a:xfrm>
              <a:off x="-1" y="0"/>
              <a:ext cx="1058094" cy="862150"/>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1313" y="0"/>
                    <a:pt x="2933" y="0"/>
                  </a:cubicBezTo>
                  <a:lnTo>
                    <a:pt x="18667" y="0"/>
                  </a:lnTo>
                  <a:cubicBezTo>
                    <a:pt x="20287" y="0"/>
                    <a:pt x="21600" y="1612"/>
                    <a:pt x="21600" y="3600"/>
                  </a:cubicBezTo>
                  <a:lnTo>
                    <a:pt x="21600" y="18000"/>
                  </a:lnTo>
                  <a:cubicBezTo>
                    <a:pt x="21600" y="19988"/>
                    <a:pt x="20287" y="21600"/>
                    <a:pt x="18667" y="21600"/>
                  </a:cubicBezTo>
                  <a:lnTo>
                    <a:pt x="2933" y="21600"/>
                  </a:lnTo>
                  <a:cubicBezTo>
                    <a:pt x="1313" y="21600"/>
                    <a:pt x="0" y="19988"/>
                    <a:pt x="0" y="18000"/>
                  </a:cubicBezTo>
                  <a:close/>
                </a:path>
              </a:pathLst>
            </a:custGeom>
            <a:solidFill>
              <a:schemeClr val="accent2"/>
            </a:solidFill>
            <a:ln w="12700" cap="flat">
              <a:solidFill>
                <a:srgbClr val="181D27"/>
              </a:solidFill>
              <a:prstDash val="solid"/>
              <a:miter lim="800000"/>
            </a:ln>
            <a:effectLst/>
          </p:spPr>
          <p:txBody>
            <a:bodyPr wrap="square" lIns="45719" tIns="45719" rIns="45719" bIns="45719" numCol="1" anchor="ctr">
              <a:noAutofit/>
            </a:bodyPr>
            <a:lstStyle/>
            <a:p>
              <a:pPr algn="ctr">
                <a:defRPr sz="1446">
                  <a:solidFill>
                    <a:srgbClr val="FFFFFF"/>
                  </a:solidFill>
                </a:defRPr>
              </a:pPr>
              <a:endParaRPr/>
            </a:p>
          </p:txBody>
        </p:sp>
        <p:sp>
          <p:nvSpPr>
            <p:cNvPr id="328" name="Muscular"/>
            <p:cNvSpPr txBox="1"/>
            <p:nvPr/>
          </p:nvSpPr>
          <p:spPr>
            <a:xfrm>
              <a:off x="123915" y="153777"/>
              <a:ext cx="810261" cy="5545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446">
                  <a:solidFill>
                    <a:srgbClr val="FFFFFF"/>
                  </a:solidFill>
                </a:defRPr>
              </a:lvl1pPr>
            </a:lstStyle>
            <a:p>
              <a:r>
                <a:t>Muscular</a:t>
              </a:r>
            </a:p>
          </p:txBody>
        </p:sp>
      </p:grpSp>
      <p:grpSp>
        <p:nvGrpSpPr>
          <p:cNvPr id="332" name="순서도: 대체 처리 76"/>
          <p:cNvGrpSpPr/>
          <p:nvPr/>
        </p:nvGrpSpPr>
        <p:grpSpPr>
          <a:xfrm>
            <a:off x="8286779" y="5099005"/>
            <a:ext cx="956350" cy="779249"/>
            <a:chOff x="0" y="0"/>
            <a:chExt cx="1058092" cy="862149"/>
          </a:xfrm>
        </p:grpSpPr>
        <p:sp>
          <p:nvSpPr>
            <p:cNvPr id="330" name="Shape"/>
            <p:cNvSpPr/>
            <p:nvPr/>
          </p:nvSpPr>
          <p:spPr>
            <a:xfrm>
              <a:off x="-1" y="0"/>
              <a:ext cx="1058094" cy="862150"/>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1313" y="0"/>
                    <a:pt x="2933" y="0"/>
                  </a:cubicBezTo>
                  <a:lnTo>
                    <a:pt x="18667" y="0"/>
                  </a:lnTo>
                  <a:cubicBezTo>
                    <a:pt x="20287" y="0"/>
                    <a:pt x="21600" y="1612"/>
                    <a:pt x="21600" y="3600"/>
                  </a:cubicBezTo>
                  <a:lnTo>
                    <a:pt x="21600" y="18000"/>
                  </a:lnTo>
                  <a:cubicBezTo>
                    <a:pt x="21600" y="19988"/>
                    <a:pt x="20287" y="21600"/>
                    <a:pt x="18667" y="21600"/>
                  </a:cubicBezTo>
                  <a:lnTo>
                    <a:pt x="2933" y="21600"/>
                  </a:lnTo>
                  <a:cubicBezTo>
                    <a:pt x="1313" y="21600"/>
                    <a:pt x="0" y="19988"/>
                    <a:pt x="0" y="18000"/>
                  </a:cubicBezTo>
                  <a:close/>
                </a:path>
              </a:pathLst>
            </a:custGeom>
            <a:solidFill>
              <a:schemeClr val="accent2"/>
            </a:solidFill>
            <a:ln w="12700" cap="flat">
              <a:solidFill>
                <a:srgbClr val="181D27"/>
              </a:solidFill>
              <a:prstDash val="solid"/>
              <a:miter lim="800000"/>
            </a:ln>
            <a:effectLst/>
          </p:spPr>
          <p:txBody>
            <a:bodyPr wrap="square" lIns="45719" tIns="45719" rIns="45719" bIns="45719" numCol="1" anchor="ctr">
              <a:noAutofit/>
            </a:bodyPr>
            <a:lstStyle/>
            <a:p>
              <a:pPr algn="ctr">
                <a:defRPr sz="1355">
                  <a:solidFill>
                    <a:srgbClr val="FFFFFF"/>
                  </a:solidFill>
                </a:defRPr>
              </a:pPr>
              <a:endParaRPr/>
            </a:p>
          </p:txBody>
        </p:sp>
        <p:sp>
          <p:nvSpPr>
            <p:cNvPr id="331" name="Visceral Fat Obese"/>
            <p:cNvSpPr txBox="1"/>
            <p:nvPr/>
          </p:nvSpPr>
          <p:spPr>
            <a:xfrm>
              <a:off x="123915" y="63476"/>
              <a:ext cx="810261" cy="73519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355">
                  <a:solidFill>
                    <a:srgbClr val="FFFFFF"/>
                  </a:solidFill>
                </a:defRPr>
              </a:lvl1pPr>
            </a:lstStyle>
            <a:p>
              <a:r>
                <a:t>Visceral Fat Obese</a:t>
              </a:r>
            </a:p>
          </p:txBody>
        </p:sp>
      </p:grpSp>
      <p:grpSp>
        <p:nvGrpSpPr>
          <p:cNvPr id="335" name="순서도: 대체 처리 77"/>
          <p:cNvGrpSpPr/>
          <p:nvPr/>
        </p:nvGrpSpPr>
        <p:grpSpPr>
          <a:xfrm>
            <a:off x="9406440" y="5035359"/>
            <a:ext cx="956350" cy="871121"/>
            <a:chOff x="0" y="0"/>
            <a:chExt cx="1058092" cy="963796"/>
          </a:xfrm>
        </p:grpSpPr>
        <p:sp>
          <p:nvSpPr>
            <p:cNvPr id="333" name="Shape"/>
            <p:cNvSpPr/>
            <p:nvPr/>
          </p:nvSpPr>
          <p:spPr>
            <a:xfrm>
              <a:off x="0" y="50823"/>
              <a:ext cx="1058093" cy="862151"/>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1313" y="0"/>
                    <a:pt x="2933" y="0"/>
                  </a:cubicBezTo>
                  <a:lnTo>
                    <a:pt x="18667" y="0"/>
                  </a:lnTo>
                  <a:cubicBezTo>
                    <a:pt x="20287" y="0"/>
                    <a:pt x="21600" y="1612"/>
                    <a:pt x="21600" y="3600"/>
                  </a:cubicBezTo>
                  <a:lnTo>
                    <a:pt x="21600" y="18000"/>
                  </a:lnTo>
                  <a:cubicBezTo>
                    <a:pt x="21600" y="19988"/>
                    <a:pt x="20287" y="21600"/>
                    <a:pt x="18667" y="21600"/>
                  </a:cubicBezTo>
                  <a:lnTo>
                    <a:pt x="2933" y="21600"/>
                  </a:lnTo>
                  <a:cubicBezTo>
                    <a:pt x="1313" y="21600"/>
                    <a:pt x="0" y="19988"/>
                    <a:pt x="0" y="18000"/>
                  </a:cubicBezTo>
                  <a:close/>
                </a:path>
              </a:pathLst>
            </a:custGeom>
            <a:solidFill>
              <a:schemeClr val="accent2"/>
            </a:solidFill>
            <a:ln w="12700" cap="flat">
              <a:solidFill>
                <a:srgbClr val="181D27"/>
              </a:solidFill>
              <a:prstDash val="solid"/>
              <a:miter lim="800000"/>
            </a:ln>
            <a:effectLst/>
          </p:spPr>
          <p:txBody>
            <a:bodyPr wrap="square" lIns="45719" tIns="45719" rIns="45719" bIns="45719" numCol="1" anchor="ctr">
              <a:noAutofit/>
            </a:bodyPr>
            <a:lstStyle/>
            <a:p>
              <a:pPr algn="ctr">
                <a:defRPr sz="1355">
                  <a:solidFill>
                    <a:srgbClr val="FFFFFF"/>
                  </a:solidFill>
                </a:defRPr>
              </a:pPr>
              <a:endParaRPr/>
            </a:p>
          </p:txBody>
        </p:sp>
        <p:sp>
          <p:nvSpPr>
            <p:cNvPr id="334" name="Subcutaneous fat Obese"/>
            <p:cNvSpPr txBox="1"/>
            <p:nvPr/>
          </p:nvSpPr>
          <p:spPr>
            <a:xfrm>
              <a:off x="123915" y="0"/>
              <a:ext cx="810261" cy="96379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355">
                  <a:solidFill>
                    <a:srgbClr val="FFFFFF"/>
                  </a:solidFill>
                </a:defRPr>
              </a:lvl1pPr>
            </a:lstStyle>
            <a:p>
              <a:r>
                <a:t>Subcutaneous fat Obese</a:t>
              </a:r>
            </a:p>
          </p:txBody>
        </p:sp>
      </p:grpSp>
      <p:sp>
        <p:nvSpPr>
          <p:cNvPr id="336" name="TextBox 78"/>
          <p:cNvSpPr txBox="1"/>
          <p:nvPr/>
        </p:nvSpPr>
        <p:spPr>
          <a:xfrm>
            <a:off x="1828903" y="1097280"/>
            <a:ext cx="5637197" cy="3547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69" b="1"/>
            </a:lvl1pPr>
          </a:lstStyle>
          <a:p>
            <a:r>
              <a:t>① Pre-surgery: Prediction of surgery outcome</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1888FC0-32AF-C223-9D51-27CD8C7FA782}"/>
                  </a:ext>
                </a:extLst>
              </p14:cNvPr>
              <p14:cNvContentPartPr/>
              <p14:nvPr/>
            </p14:nvContentPartPr>
            <p14:xfrm>
              <a:off x="7959364" y="3050026"/>
              <a:ext cx="360" cy="360"/>
            </p14:xfrm>
          </p:contentPart>
        </mc:Choice>
        <mc:Fallback xmlns="">
          <p:pic>
            <p:nvPicPr>
              <p:cNvPr id="2" name="Ink 1">
                <a:extLst>
                  <a:ext uri="{FF2B5EF4-FFF2-40B4-BE49-F238E27FC236}">
                    <a16:creationId xmlns:a16="http://schemas.microsoft.com/office/drawing/2014/main" id="{81888FC0-32AF-C223-9D51-27CD8C7FA782}"/>
                  </a:ext>
                </a:extLst>
              </p:cNvPr>
              <p:cNvPicPr/>
              <p:nvPr/>
            </p:nvPicPr>
            <p:blipFill>
              <a:blip r:embed="rId4"/>
              <a:stretch>
                <a:fillRect/>
              </a:stretch>
            </p:blipFill>
            <p:spPr>
              <a:xfrm>
                <a:off x="7953244" y="3043906"/>
                <a:ext cx="12600" cy="12600"/>
              </a:xfrm>
              <a:prstGeom prst="rect">
                <a:avLst/>
              </a:prstGeom>
            </p:spPr>
          </p:pic>
        </mc:Fallback>
      </mc:AlternateContent>
      <p:sp>
        <p:nvSpPr>
          <p:cNvPr id="337" name="Rectangle 336"/>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339" name="TextBox 338"/>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340" name="Picture 339" descr="logo_red.png"/>
          <p:cNvPicPr>
            <a:picLocks noChangeAspect="1"/>
          </p:cNvPicPr>
          <p:nvPr/>
        </p:nvPicPr>
        <p:blipFill>
          <a:blip r:embed="rId5"/>
          <a:stretch>
            <a:fillRect/>
          </a:stretch>
        </p:blipFill>
        <p:spPr>
          <a:xfrm>
            <a:off x="10436918" y="420624"/>
            <a:ext cx="1297577" cy="365760"/>
          </a:xfrm>
          <a:prstGeom prst="rect">
            <a:avLst/>
          </a:prstGeom>
        </p:spPr>
      </p:pic>
      <p:sp>
        <p:nvSpPr>
          <p:cNvPr id="341" name="TextBox 340"/>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342" name="TextBox 341"/>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90</a:t>
            </a:r>
          </a:p>
        </p:txBody>
      </p:sp>
    </p:spTree>
    <p:extLst>
      <p:ext uri="{BB962C8B-B14F-4D97-AF65-F5344CB8AC3E}">
        <p14:creationId xmlns:p14="http://schemas.microsoft.com/office/powerpoint/2010/main" val="23031456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4" name="TextBox 3"/>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91</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Pre-surgery: prediction of surgery outcome</a:t>
            </a:r>
          </a:p>
          <a:p>
            <a:pPr>
              <a:spcAft>
                <a:spcPts val="600"/>
              </a:spcAft>
            </a:pPr>
            <a:r>
              <a:rPr sz="1300">
                <a:solidFill>
                  <a:srgbClr val="181D27"/>
                </a:solidFill>
                <a:latin typeface="Calibri"/>
              </a:rPr>
              <a:t>Phase angle reflects cell membrane integrity and physiological function.</a:t>
            </a:r>
          </a:p>
          <a:p>
            <a:pPr>
              <a:spcAft>
                <a:spcPts val="600"/>
              </a:spcAft>
            </a:pPr>
            <a:r>
              <a:rPr sz="1300">
                <a:solidFill>
                  <a:srgbClr val="181D27"/>
                </a:solidFill>
                <a:latin typeface="Calibri"/>
              </a:rPr>
              <a:t>It can be used as a predictor of weight loss after surgery.</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89.png"/>
          <p:cNvPicPr>
            <a:picLocks noChangeAspect="1"/>
          </p:cNvPicPr>
          <p:nvPr/>
        </p:nvPicPr>
        <p:blipFill>
          <a:blip r:embed="rId6"/>
          <a:stretch>
            <a:fillRect/>
          </a:stretch>
        </p:blipFill>
        <p:spPr>
          <a:xfrm>
            <a:off x="5760720" y="1473703"/>
            <a:ext cx="5790895" cy="3453393"/>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Phase angle can predict post-surgical outcomes before bariatric surgery.</a:t>
            </a:r>
          </a:p>
        </p:txBody>
      </p:sp>
    </p:spTree>
    <p:extLst>
      <p:ext uri="{BB962C8B-B14F-4D97-AF65-F5344CB8AC3E}">
        <p14:creationId xmlns:p14="http://schemas.microsoft.com/office/powerpoint/2010/main" val="378893739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4" name="TextBox 3"/>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5" name="Picture 4" descr="logo_red.png"/>
          <p:cNvPicPr>
            <a:picLocks noChangeAspect="1"/>
          </p:cNvPicPr>
          <p:nvPr/>
        </p:nvPicPr>
        <p:blipFill>
          <a:blip r:embed="rId5"/>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92</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6"/>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Pre-surgery: prediction of surgery outcome</a:t>
            </a:r>
          </a:p>
          <a:p>
            <a:pPr>
              <a:spcAft>
                <a:spcPts val="600"/>
              </a:spcAft>
            </a:pPr>
            <a:r>
              <a:rPr sz="1300">
                <a:solidFill>
                  <a:srgbClr val="181D27"/>
                </a:solidFill>
                <a:latin typeface="Calibri"/>
              </a:rPr>
              <a:t>Phase angle showed a close correlation with excess weight loss (EWL%) at 6 weeks, 6 months, 9 months and 12 months after surgery.</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90.png"/>
          <p:cNvPicPr>
            <a:picLocks noChangeAspect="1"/>
          </p:cNvPicPr>
          <p:nvPr/>
        </p:nvPicPr>
        <p:blipFill>
          <a:blip r:embed="rId7"/>
          <a:stretch>
            <a:fillRect/>
          </a:stretch>
        </p:blipFill>
        <p:spPr>
          <a:xfrm>
            <a:off x="5760720" y="1478420"/>
            <a:ext cx="5790895" cy="3443958"/>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8"/>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PhA can predict the weight-loss success rate before bariatric surgery.</a:t>
            </a:r>
          </a:p>
        </p:txBody>
      </p:sp>
    </p:spTree>
    <p:extLst>
      <p:ext uri="{BB962C8B-B14F-4D97-AF65-F5344CB8AC3E}">
        <p14:creationId xmlns:p14="http://schemas.microsoft.com/office/powerpoint/2010/main" val="28410749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381" name="그림 4" descr="그림 4"/>
          <p:cNvPicPr>
            <a:picLocks noChangeAspect="1"/>
          </p:cNvPicPr>
          <p:nvPr/>
        </p:nvPicPr>
        <p:blipFill>
          <a:blip r:embed="rId2"/>
          <a:stretch>
            <a:fillRect/>
          </a:stretch>
        </p:blipFill>
        <p:spPr>
          <a:xfrm>
            <a:off x="2107937" y="1920590"/>
            <a:ext cx="2338779" cy="316230"/>
          </a:xfrm>
          <a:prstGeom prst="rect">
            <a:avLst/>
          </a:prstGeom>
          <a:ln w="12700">
            <a:miter lim="400000"/>
          </a:ln>
        </p:spPr>
      </p:pic>
      <p:pic>
        <p:nvPicPr>
          <p:cNvPr id="382" name="그림 2" descr="그림 2"/>
          <p:cNvPicPr>
            <a:picLocks noChangeAspect="1"/>
          </p:cNvPicPr>
          <p:nvPr/>
        </p:nvPicPr>
        <p:blipFill>
          <a:blip r:embed="rId3"/>
          <a:stretch>
            <a:fillRect/>
          </a:stretch>
        </p:blipFill>
        <p:spPr>
          <a:xfrm>
            <a:off x="2077409" y="1097280"/>
            <a:ext cx="3741487" cy="497344"/>
          </a:xfrm>
          <a:prstGeom prst="rect">
            <a:avLst/>
          </a:prstGeom>
          <a:ln w="12700">
            <a:miter lim="400000"/>
          </a:ln>
        </p:spPr>
      </p:pic>
      <p:sp>
        <p:nvSpPr>
          <p:cNvPr id="383" name="모서리가 둥근 직사각형 1"/>
          <p:cNvSpPr/>
          <p:nvPr/>
        </p:nvSpPr>
        <p:spPr>
          <a:xfrm>
            <a:off x="2114001" y="2332244"/>
            <a:ext cx="3224632" cy="4022835"/>
          </a:xfrm>
          <a:prstGeom prst="roundRect">
            <a:avLst>
              <a:gd name="adj" fmla="val 7903"/>
            </a:avLst>
          </a:prstGeom>
          <a:solidFill>
            <a:srgbClr val="D9D9D9"/>
          </a:solidFill>
          <a:ln w="12700">
            <a:miter lim="400000"/>
          </a:ln>
          <a:effectLst>
            <a:outerShdw blurRad="50800" dist="38100" dir="5400000" rotWithShape="0">
              <a:srgbClr val="000000">
                <a:alpha val="40000"/>
              </a:srgbClr>
            </a:outerShdw>
          </a:effectLst>
        </p:spPr>
        <p:txBody>
          <a:bodyPr lIns="45719" rIns="45719" anchor="b"/>
          <a:lstStyle/>
          <a:p>
            <a:pPr algn="ctr">
              <a:defRPr b="1">
                <a:solidFill>
                  <a:srgbClr val="B50937"/>
                </a:solidFill>
                <a:latin typeface="Arial"/>
                <a:ea typeface="Arial"/>
                <a:cs typeface="Arial"/>
                <a:sym typeface="Arial"/>
              </a:defRPr>
            </a:pPr>
            <a:endParaRPr/>
          </a:p>
        </p:txBody>
      </p:sp>
      <p:pic>
        <p:nvPicPr>
          <p:cNvPr id="384" name="그림 3" descr="그림 3"/>
          <p:cNvPicPr>
            <a:picLocks noChangeAspect="1"/>
          </p:cNvPicPr>
          <p:nvPr/>
        </p:nvPicPr>
        <p:blipFill>
          <a:blip r:embed="rId4"/>
          <a:stretch>
            <a:fillRect/>
          </a:stretch>
        </p:blipFill>
        <p:spPr>
          <a:xfrm>
            <a:off x="2133883" y="1577544"/>
            <a:ext cx="3685016" cy="324969"/>
          </a:xfrm>
          <a:prstGeom prst="rect">
            <a:avLst/>
          </a:prstGeom>
          <a:ln w="12700">
            <a:miter lim="400000"/>
          </a:ln>
        </p:spPr>
      </p:pic>
      <p:pic>
        <p:nvPicPr>
          <p:cNvPr id="385" name="그림 5" descr="그림 5"/>
          <p:cNvPicPr>
            <a:picLocks noChangeAspect="1"/>
          </p:cNvPicPr>
          <p:nvPr/>
        </p:nvPicPr>
        <p:blipFill>
          <a:blip r:embed="rId5"/>
          <a:stretch>
            <a:fillRect/>
          </a:stretch>
        </p:blipFill>
        <p:spPr>
          <a:xfrm>
            <a:off x="2251221" y="2444358"/>
            <a:ext cx="2915384" cy="2015608"/>
          </a:xfrm>
          <a:prstGeom prst="rect">
            <a:avLst/>
          </a:prstGeom>
          <a:ln w="12700">
            <a:miter lim="400000"/>
          </a:ln>
        </p:spPr>
      </p:pic>
      <p:pic>
        <p:nvPicPr>
          <p:cNvPr id="386" name="그림 6" descr="그림 6"/>
          <p:cNvPicPr>
            <a:picLocks noChangeAspect="1"/>
          </p:cNvPicPr>
          <p:nvPr/>
        </p:nvPicPr>
        <p:blipFill>
          <a:blip r:embed="rId6"/>
          <a:stretch>
            <a:fillRect/>
          </a:stretch>
        </p:blipFill>
        <p:spPr>
          <a:xfrm>
            <a:off x="2251221" y="4434024"/>
            <a:ext cx="2915384" cy="1795527"/>
          </a:xfrm>
          <a:prstGeom prst="rect">
            <a:avLst/>
          </a:prstGeom>
          <a:ln w="12700">
            <a:miter lim="400000"/>
          </a:ln>
        </p:spPr>
      </p:pic>
      <p:pic>
        <p:nvPicPr>
          <p:cNvPr id="387" name="그림 7" descr="그림 7"/>
          <p:cNvPicPr>
            <a:picLocks noChangeAspect="1"/>
          </p:cNvPicPr>
          <p:nvPr/>
        </p:nvPicPr>
        <p:blipFill>
          <a:blip r:embed="rId7"/>
          <a:stretch>
            <a:fillRect/>
          </a:stretch>
        </p:blipFill>
        <p:spPr>
          <a:xfrm>
            <a:off x="6291336" y="1350795"/>
            <a:ext cx="3290439" cy="3430459"/>
          </a:xfrm>
          <a:prstGeom prst="rect">
            <a:avLst/>
          </a:prstGeom>
          <a:ln w="12700">
            <a:miter lim="400000"/>
          </a:ln>
        </p:spPr>
      </p:pic>
      <p:pic>
        <p:nvPicPr>
          <p:cNvPr id="388" name="그림 8" descr="그림 8"/>
          <p:cNvPicPr>
            <a:picLocks noChangeAspect="1"/>
          </p:cNvPicPr>
          <p:nvPr/>
        </p:nvPicPr>
        <p:blipFill>
          <a:blip r:embed="rId8"/>
          <a:stretch>
            <a:fillRect/>
          </a:stretch>
        </p:blipFill>
        <p:spPr>
          <a:xfrm>
            <a:off x="6291336" y="4944237"/>
            <a:ext cx="3402473" cy="491152"/>
          </a:xfrm>
          <a:prstGeom prst="rect">
            <a:avLst/>
          </a:prstGeom>
          <a:ln w="12700">
            <a:miter lim="400000"/>
          </a:ln>
        </p:spPr>
      </p:pic>
      <p:sp>
        <p:nvSpPr>
          <p:cNvPr id="389" name="직선 연결선 10"/>
          <p:cNvSpPr/>
          <p:nvPr/>
        </p:nvSpPr>
        <p:spPr>
          <a:xfrm>
            <a:off x="7066601" y="5111392"/>
            <a:ext cx="2606859" cy="1514"/>
          </a:xfrm>
          <a:prstGeom prst="line">
            <a:avLst/>
          </a:prstGeom>
          <a:ln w="12700">
            <a:solidFill>
              <a:srgbClr val="B50937"/>
            </a:solidFill>
            <a:miter/>
          </a:ln>
        </p:spPr>
        <p:txBody>
          <a:bodyPr lIns="45719" rIns="45719"/>
          <a:lstStyle/>
          <a:p>
            <a:endParaRPr/>
          </a:p>
        </p:txBody>
      </p:sp>
      <p:sp>
        <p:nvSpPr>
          <p:cNvPr id="390" name="직선 연결선 12"/>
          <p:cNvSpPr/>
          <p:nvPr/>
        </p:nvSpPr>
        <p:spPr>
          <a:xfrm>
            <a:off x="6291335" y="5283136"/>
            <a:ext cx="3361477" cy="1513"/>
          </a:xfrm>
          <a:prstGeom prst="line">
            <a:avLst/>
          </a:prstGeom>
          <a:ln w="12700">
            <a:solidFill>
              <a:srgbClr val="B50937"/>
            </a:solidFill>
            <a:miter/>
          </a:ln>
        </p:spPr>
        <p:txBody>
          <a:bodyPr lIns="45719" rIns="45719"/>
          <a:lstStyle/>
          <a:p>
            <a:endParaRPr/>
          </a:p>
        </p:txBody>
      </p:sp>
      <p:sp>
        <p:nvSpPr>
          <p:cNvPr id="391" name="직사각형 9"/>
          <p:cNvSpPr txBox="1"/>
          <p:nvPr/>
        </p:nvSpPr>
        <p:spPr>
          <a:xfrm>
            <a:off x="6068286" y="5769521"/>
            <a:ext cx="4045998" cy="4853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333" b="1">
                <a:solidFill>
                  <a:srgbClr val="B50937"/>
                </a:solidFill>
              </a:defRPr>
            </a:lvl1pPr>
          </a:lstStyle>
          <a:p>
            <a:r>
              <a:t>Phase angle can be a useful predictor of excess weight loss after surgery</a:t>
            </a:r>
          </a:p>
        </p:txBody>
      </p:sp>
      <p:sp>
        <p:nvSpPr>
          <p:cNvPr id="392" name="직선 연결선 13"/>
          <p:cNvSpPr/>
          <p:nvPr/>
        </p:nvSpPr>
        <p:spPr>
          <a:xfrm>
            <a:off x="6311833" y="5471296"/>
            <a:ext cx="2263852" cy="1514"/>
          </a:xfrm>
          <a:prstGeom prst="line">
            <a:avLst/>
          </a:prstGeom>
          <a:ln w="12700">
            <a:solidFill>
              <a:srgbClr val="B50937"/>
            </a:solidFill>
            <a:miter/>
          </a:ln>
        </p:spPr>
        <p:txBody>
          <a:bodyPr lIns="45719" rIns="45719"/>
          <a:lstStyle/>
          <a:p>
            <a:endParaRPr/>
          </a:p>
        </p:txBody>
      </p:sp>
      <p:sp>
        <p:nvSpPr>
          <p:cNvPr id="393" name="Rectangle 392"/>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TextBox 393"/>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395" name="TextBox 394"/>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396" name="Picture 395" descr="logo_red.png"/>
          <p:cNvPicPr>
            <a:picLocks noChangeAspect="1"/>
          </p:cNvPicPr>
          <p:nvPr/>
        </p:nvPicPr>
        <p:blipFill>
          <a:blip r:embed="rId9"/>
          <a:stretch>
            <a:fillRect/>
          </a:stretch>
        </p:blipFill>
        <p:spPr>
          <a:xfrm>
            <a:off x="10436918" y="420624"/>
            <a:ext cx="1297577" cy="365760"/>
          </a:xfrm>
          <a:prstGeom prst="rect">
            <a:avLst/>
          </a:prstGeom>
        </p:spPr>
      </p:pic>
      <p:sp>
        <p:nvSpPr>
          <p:cNvPr id="397" name="TextBox 39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398" name="TextBox 39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93</a:t>
            </a:r>
          </a:p>
        </p:txBody>
      </p:sp>
    </p:spTree>
    <p:extLst>
      <p:ext uri="{BB962C8B-B14F-4D97-AF65-F5344CB8AC3E}">
        <p14:creationId xmlns:p14="http://schemas.microsoft.com/office/powerpoint/2010/main" val="34703190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365760"/>
          </a:xfrm>
          <a:prstGeom prst="rect">
            <a:avLst/>
          </a:prstGeom>
          <a:noFill/>
        </p:spPr>
        <p:txBody>
          <a:bodyPr wrap="square" lIns="0" rIns="0" tIns="0" bIns="0" anchor="ctr">
            <a:spAutoFit/>
          </a:bodyPr>
          <a:lstStyle/>
          <a:p>
            <a:pPr algn="l"/>
            <a:r>
              <a:rPr sz="1100" b="1" i="0" spc="200">
                <a:solidFill>
                  <a:srgbClr val="B50937"/>
                </a:solidFill>
                <a:latin typeface="Calibri"/>
              </a:rPr>
              <a:t>SESSION 6  ·  BARIATRIC &amp; OBESITY MANAGEMENT</a:t>
            </a:r>
          </a:p>
        </p:txBody>
      </p:sp>
      <p:sp>
        <p:nvSpPr>
          <p:cNvPr id="4" name="TextBox 3"/>
          <p:cNvSpPr txBox="1"/>
          <p:nvPr/>
        </p:nvSpPr>
        <p:spPr>
          <a:xfrm>
            <a:off x="914400" y="2788920"/>
            <a:ext cx="10332720" cy="1097280"/>
          </a:xfrm>
          <a:prstGeom prst="rect">
            <a:avLst/>
          </a:prstGeom>
          <a:noFill/>
        </p:spPr>
        <p:txBody>
          <a:bodyPr wrap="square" lIns="0" rIns="0" tIns="0" bIns="0" anchor="t">
            <a:spAutoFit/>
          </a:bodyPr>
          <a:lstStyle/>
          <a:p>
            <a:pPr algn="l"/>
            <a:r>
              <a:rPr sz="4000" b="1" i="0">
                <a:solidFill>
                  <a:srgbClr val="181D27"/>
                </a:solidFill>
                <a:latin typeface="Cambria"/>
              </a:rPr>
              <a:t>Post-Surgery</a:t>
            </a:r>
          </a:p>
        </p:txBody>
      </p:sp>
      <p:sp>
        <p:nvSpPr>
          <p:cNvPr id="5" name="Rectangle 4"/>
          <p:cNvSpPr/>
          <p:nvPr/>
        </p:nvSpPr>
        <p:spPr>
          <a:xfrm>
            <a:off x="914400" y="3977639"/>
            <a:ext cx="1097280" cy="73152"/>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red.png"/>
          <p:cNvPicPr>
            <a:picLocks noChangeAspect="1"/>
          </p:cNvPicPr>
          <p:nvPr/>
        </p:nvPicPr>
        <p:blipFill>
          <a:blip r:embed="rId2"/>
          <a:stretch>
            <a:fillRect/>
          </a:stretch>
        </p:blipFill>
        <p:spPr>
          <a:xfrm>
            <a:off x="10436918" y="420624"/>
            <a:ext cx="1297577" cy="36576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94</a:t>
            </a:r>
          </a:p>
        </p:txBody>
      </p:sp>
    </p:spTree>
    <p:extLst>
      <p:ext uri="{BB962C8B-B14F-4D97-AF65-F5344CB8AC3E}">
        <p14:creationId xmlns:p14="http://schemas.microsoft.com/office/powerpoint/2010/main" val="157066116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97" name="TextBox 2"/>
          <p:cNvSpPr txBox="1"/>
          <p:nvPr/>
        </p:nvSpPr>
        <p:spPr>
          <a:xfrm>
            <a:off x="2160291" y="1097280"/>
            <a:ext cx="5737214" cy="3610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207" b="1"/>
            </a:lvl1pPr>
          </a:lstStyle>
          <a:p>
            <a:r>
              <a:rPr dirty="0"/>
              <a:t>② Post-surgery: Post-surgery Management</a:t>
            </a:r>
          </a:p>
        </p:txBody>
      </p:sp>
      <p:sp>
        <p:nvSpPr>
          <p:cNvPr id="398" name="TextBox 4"/>
          <p:cNvSpPr txBox="1"/>
          <p:nvPr/>
        </p:nvSpPr>
        <p:spPr>
          <a:xfrm>
            <a:off x="2512964" y="1543689"/>
            <a:ext cx="7686679" cy="2765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471"/>
            </a:lvl1pPr>
          </a:lstStyle>
          <a:p>
            <a:r>
              <a:t>Monitoring Individual to help in successful recovery</a:t>
            </a:r>
          </a:p>
        </p:txBody>
      </p:sp>
      <p:sp>
        <p:nvSpPr>
          <p:cNvPr id="399" name="오른쪽 화살표 15"/>
          <p:cNvSpPr/>
          <p:nvPr/>
        </p:nvSpPr>
        <p:spPr>
          <a:xfrm>
            <a:off x="3282179" y="2508143"/>
            <a:ext cx="5719740" cy="1226174"/>
          </a:xfrm>
          <a:prstGeom prst="rightArrow">
            <a:avLst>
              <a:gd name="adj1" fmla="val 50000"/>
              <a:gd name="adj2" fmla="val 50000"/>
            </a:avLst>
          </a:prstGeom>
          <a:solidFill>
            <a:srgbClr val="D9D9D9">
              <a:alpha val="50000"/>
            </a:srgbClr>
          </a:solidFill>
          <a:ln w="12700">
            <a:miter lim="400000"/>
          </a:ln>
        </p:spPr>
        <p:txBody>
          <a:bodyPr lIns="45719" rIns="45719" anchor="ctr"/>
          <a:lstStyle/>
          <a:p>
            <a:pPr algn="ctr">
              <a:defRPr>
                <a:solidFill>
                  <a:srgbClr val="FFFFFF"/>
                </a:solidFill>
              </a:defRPr>
            </a:pPr>
            <a:endParaRPr/>
          </a:p>
        </p:txBody>
      </p:sp>
      <p:grpSp>
        <p:nvGrpSpPr>
          <p:cNvPr id="402" name="직사각형 16"/>
          <p:cNvGrpSpPr/>
          <p:nvPr/>
        </p:nvGrpSpPr>
        <p:grpSpPr>
          <a:xfrm>
            <a:off x="5273953" y="2680133"/>
            <a:ext cx="2397085" cy="467877"/>
            <a:chOff x="0" y="0"/>
            <a:chExt cx="2605866" cy="508628"/>
          </a:xfrm>
        </p:grpSpPr>
        <p:sp>
          <p:nvSpPr>
            <p:cNvPr id="400"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401" name="Malnutrition Prevention"/>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Malnutrition Prevention</a:t>
              </a:r>
            </a:p>
          </p:txBody>
        </p:sp>
      </p:grpSp>
      <p:pic>
        <p:nvPicPr>
          <p:cNvPr id="403" name="그림 18" descr="그림 18"/>
          <p:cNvPicPr>
            <a:picLocks/>
          </p:cNvPicPr>
          <p:nvPr/>
        </p:nvPicPr>
        <p:blipFill>
          <a:blip r:embed="rId2"/>
          <a:stretch>
            <a:fillRect/>
          </a:stretch>
        </p:blipFill>
        <p:spPr>
          <a:xfrm>
            <a:off x="1568027" y="2026962"/>
            <a:ext cx="2634136" cy="2188533"/>
          </a:xfrm>
          <a:prstGeom prst="rect">
            <a:avLst/>
          </a:prstGeom>
          <a:ln w="12700">
            <a:miter lim="400000"/>
          </a:ln>
        </p:spPr>
      </p:pic>
      <p:sp>
        <p:nvSpPr>
          <p:cNvPr id="404" name="직사각형 19"/>
          <p:cNvSpPr/>
          <p:nvPr/>
        </p:nvSpPr>
        <p:spPr>
          <a:xfrm>
            <a:off x="4951341" y="2590680"/>
            <a:ext cx="2988222" cy="1066491"/>
          </a:xfrm>
          <a:prstGeom prst="rect">
            <a:avLst/>
          </a:prstGeom>
          <a:ln w="19050">
            <a:solidFill>
              <a:srgbClr val="B50937"/>
            </a:solidFill>
            <a:miter/>
          </a:ln>
        </p:spPr>
        <p:txBody>
          <a:bodyPr lIns="45719" rIns="45719" anchor="ctr"/>
          <a:lstStyle/>
          <a:p>
            <a:pPr algn="ctr">
              <a:defRPr>
                <a:solidFill>
                  <a:srgbClr val="FFFFFF"/>
                </a:solidFill>
              </a:defRPr>
            </a:pPr>
            <a:endParaRPr/>
          </a:p>
        </p:txBody>
      </p:sp>
      <p:sp>
        <p:nvSpPr>
          <p:cNvPr id="405" name="TextBox 20"/>
          <p:cNvSpPr txBox="1"/>
          <p:nvPr/>
        </p:nvSpPr>
        <p:spPr>
          <a:xfrm>
            <a:off x="5712915" y="3739706"/>
            <a:ext cx="1519162" cy="306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b="1"/>
            </a:lvl1pPr>
          </a:lstStyle>
          <a:p>
            <a:r>
              <a:t>Post-Surgery</a:t>
            </a:r>
          </a:p>
        </p:txBody>
      </p:sp>
      <p:grpSp>
        <p:nvGrpSpPr>
          <p:cNvPr id="408" name="폭발 1 21"/>
          <p:cNvGrpSpPr/>
          <p:nvPr/>
        </p:nvGrpSpPr>
        <p:grpSpPr>
          <a:xfrm>
            <a:off x="8442532" y="2348212"/>
            <a:ext cx="2181135" cy="1807729"/>
            <a:chOff x="0" y="0"/>
            <a:chExt cx="2371108" cy="1965179"/>
          </a:xfrm>
        </p:grpSpPr>
        <p:sp>
          <p:nvSpPr>
            <p:cNvPr id="406" name="Shape"/>
            <p:cNvSpPr/>
            <p:nvPr/>
          </p:nvSpPr>
          <p:spPr>
            <a:xfrm>
              <a:off x="0" y="0"/>
              <a:ext cx="2371109" cy="196518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14522" y="0"/>
                  </a:lnTo>
                  <a:lnTo>
                    <a:pt x="14155" y="5325"/>
                  </a:lnTo>
                  <a:lnTo>
                    <a:pt x="18380" y="4457"/>
                  </a:lnTo>
                  <a:lnTo>
                    <a:pt x="16702" y="7315"/>
                  </a:lnTo>
                  <a:lnTo>
                    <a:pt x="21097" y="8137"/>
                  </a:lnTo>
                  <a:lnTo>
                    <a:pt x="17607" y="10475"/>
                  </a:lnTo>
                  <a:lnTo>
                    <a:pt x="21600" y="13290"/>
                  </a:lnTo>
                  <a:lnTo>
                    <a:pt x="16837" y="12942"/>
                  </a:lnTo>
                  <a:lnTo>
                    <a:pt x="18145" y="18095"/>
                  </a:lnTo>
                  <a:lnTo>
                    <a:pt x="14020" y="14457"/>
                  </a:lnTo>
                  <a:lnTo>
                    <a:pt x="13247" y="19737"/>
                  </a:lnTo>
                  <a:lnTo>
                    <a:pt x="10532" y="14935"/>
                  </a:lnTo>
                  <a:lnTo>
                    <a:pt x="8485" y="21600"/>
                  </a:lnTo>
                  <a:lnTo>
                    <a:pt x="7715" y="15627"/>
                  </a:lnTo>
                  <a:lnTo>
                    <a:pt x="4762" y="17617"/>
                  </a:lnTo>
                  <a:lnTo>
                    <a:pt x="5667" y="13937"/>
                  </a:lnTo>
                  <a:lnTo>
                    <a:pt x="135" y="14587"/>
                  </a:lnTo>
                  <a:lnTo>
                    <a:pt x="3722" y="11775"/>
                  </a:lnTo>
                  <a:lnTo>
                    <a:pt x="0" y="8615"/>
                  </a:lnTo>
                  <a:lnTo>
                    <a:pt x="4627" y="7617"/>
                  </a:lnTo>
                  <a:lnTo>
                    <a:pt x="370" y="2295"/>
                  </a:lnTo>
                  <a:lnTo>
                    <a:pt x="7312" y="6320"/>
                  </a:lnTo>
                  <a:lnTo>
                    <a:pt x="8352" y="2295"/>
                  </a:lnTo>
                  <a:close/>
                </a:path>
              </a:pathLst>
            </a:custGeom>
            <a:solidFill>
              <a:srgbClr val="B50937"/>
            </a:solidFill>
            <a:ln w="53975" cap="flat">
              <a:solidFill>
                <a:srgbClr val="B50937"/>
              </a:solidFill>
              <a:prstDash val="solid"/>
              <a:miter lim="800000"/>
            </a:ln>
            <a:effectLst/>
          </p:spPr>
          <p:txBody>
            <a:bodyPr wrap="square" lIns="45719" tIns="45719" rIns="45719" bIns="45719" numCol="1" anchor="ctr">
              <a:noAutofit/>
            </a:bodyPr>
            <a:lstStyle/>
            <a:p>
              <a:pPr algn="ctr">
                <a:defRPr b="1">
                  <a:solidFill>
                    <a:srgbClr val="FFFFFF"/>
                  </a:solidFill>
                </a:defRPr>
              </a:pPr>
              <a:endParaRPr/>
            </a:p>
          </p:txBody>
        </p:sp>
        <p:sp>
          <p:nvSpPr>
            <p:cNvPr id="407" name="Successful…"/>
            <p:cNvSpPr txBox="1"/>
            <p:nvPr/>
          </p:nvSpPr>
          <p:spPr>
            <a:xfrm>
              <a:off x="580629" y="608902"/>
              <a:ext cx="1180101" cy="6251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a:defRPr b="1">
                  <a:solidFill>
                    <a:srgbClr val="FFFFFF"/>
                  </a:solidFill>
                </a:defRPr>
              </a:pPr>
              <a:r>
                <a:t>Successful</a:t>
              </a:r>
            </a:p>
            <a:p>
              <a:pPr algn="ctr">
                <a:defRPr b="1">
                  <a:solidFill>
                    <a:srgbClr val="FFFFFF"/>
                  </a:solidFill>
                </a:defRPr>
              </a:pPr>
              <a:r>
                <a:t>Recovery</a:t>
              </a:r>
            </a:p>
          </p:txBody>
        </p:sp>
      </p:grpSp>
      <p:grpSp>
        <p:nvGrpSpPr>
          <p:cNvPr id="411" name="직사각형 22"/>
          <p:cNvGrpSpPr/>
          <p:nvPr/>
        </p:nvGrpSpPr>
        <p:grpSpPr>
          <a:xfrm>
            <a:off x="5279193" y="3175581"/>
            <a:ext cx="2397084" cy="467877"/>
            <a:chOff x="0" y="0"/>
            <a:chExt cx="2605866" cy="508628"/>
          </a:xfrm>
        </p:grpSpPr>
        <p:sp>
          <p:nvSpPr>
            <p:cNvPr id="409"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410" name="Recovery Monitoring"/>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Recovery Monitoring</a:t>
              </a:r>
            </a:p>
          </p:txBody>
        </p:sp>
      </p:grpSp>
      <p:grpSp>
        <p:nvGrpSpPr>
          <p:cNvPr id="414" name="그룹 23"/>
          <p:cNvGrpSpPr/>
          <p:nvPr/>
        </p:nvGrpSpPr>
        <p:grpSpPr>
          <a:xfrm>
            <a:off x="3282179" y="4740841"/>
            <a:ext cx="6649343" cy="1614238"/>
            <a:chOff x="0" y="0"/>
            <a:chExt cx="7228489" cy="1754834"/>
          </a:xfrm>
        </p:grpSpPr>
        <p:sp>
          <p:nvSpPr>
            <p:cNvPr id="412" name="모서리가 둥근 직사각형 24"/>
            <p:cNvSpPr/>
            <p:nvPr/>
          </p:nvSpPr>
          <p:spPr>
            <a:xfrm>
              <a:off x="0" y="0"/>
              <a:ext cx="7228490" cy="1754835"/>
            </a:xfrm>
            <a:prstGeom prst="roundRect">
              <a:avLst>
                <a:gd name="adj" fmla="val 7903"/>
              </a:avLst>
            </a:prstGeom>
            <a:solidFill>
              <a:srgbClr val="D9D9D9"/>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b">
              <a:noAutofit/>
            </a:bodyPr>
            <a:lstStyle/>
            <a:p>
              <a:pPr>
                <a:defRPr sz="1287" b="1" i="1">
                  <a:solidFill>
                    <a:srgbClr val="333F50"/>
                  </a:solidFill>
                  <a:latin typeface="Arial"/>
                  <a:ea typeface="Arial"/>
                  <a:cs typeface="Arial"/>
                  <a:sym typeface="Arial"/>
                </a:defRPr>
              </a:pPr>
              <a:endParaRPr/>
            </a:p>
          </p:txBody>
        </p:sp>
        <p:sp>
          <p:nvSpPr>
            <p:cNvPr id="413" name="TextBox 25"/>
            <p:cNvSpPr txBox="1"/>
            <p:nvPr/>
          </p:nvSpPr>
          <p:spPr>
            <a:xfrm>
              <a:off x="131817" y="261479"/>
              <a:ext cx="6964855" cy="57061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defRPr sz="1287"/>
              </a:pPr>
              <a:r>
                <a:t>▷ Malnutrition is one of the post-surgical issues in bariatric surgery.</a:t>
              </a:r>
            </a:p>
            <a:p>
              <a:pPr>
                <a:defRPr sz="1287"/>
              </a:pPr>
              <a:r>
                <a:t>      -&gt; ECW ratio from InBody can monitor malnutrition in post-surgical patients</a:t>
              </a:r>
            </a:p>
          </p:txBody>
        </p:sp>
      </p:grpSp>
      <p:sp>
        <p:nvSpPr>
          <p:cNvPr id="415" name="TextBox 26"/>
          <p:cNvSpPr txBox="1"/>
          <p:nvPr/>
        </p:nvSpPr>
        <p:spPr>
          <a:xfrm>
            <a:off x="3403436" y="5649383"/>
            <a:ext cx="6528808" cy="5248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287"/>
            </a:pPr>
            <a:r>
              <a:t>▷ Monitoring post-surgical edema for tracking recovery.</a:t>
            </a:r>
          </a:p>
          <a:p>
            <a:pPr>
              <a:defRPr sz="1287"/>
            </a:pPr>
            <a:r>
              <a:t>      -&gt; InBody measures water volume that can track edema in whole body and in each segments.</a:t>
            </a:r>
          </a:p>
        </p:txBody>
      </p:sp>
      <p:sp>
        <p:nvSpPr>
          <p:cNvPr id="417" name="TextBox 6"/>
          <p:cNvSpPr txBox="1"/>
          <p:nvPr/>
        </p:nvSpPr>
        <p:spPr>
          <a:xfrm>
            <a:off x="2403967" y="2160927"/>
            <a:ext cx="1268136" cy="2463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011">
                <a:latin typeface="Graphik"/>
                <a:ea typeface="Graphik"/>
                <a:cs typeface="Graphik"/>
                <a:sym typeface="Graphik"/>
              </a:defRPr>
            </a:lvl1pPr>
          </a:lstStyle>
          <a:p>
            <a:r>
              <a:t>InBody Test</a:t>
            </a:r>
          </a:p>
        </p:txBody>
      </p:sp>
      <p:sp>
        <p:nvSpPr>
          <p:cNvPr id="418" name="Rectangle 417"/>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TextBox 418"/>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420" name="TextBox 419"/>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421" name="Picture 420" descr="logo_red.png"/>
          <p:cNvPicPr>
            <a:picLocks noChangeAspect="1"/>
          </p:cNvPicPr>
          <p:nvPr/>
        </p:nvPicPr>
        <p:blipFill>
          <a:blip r:embed="rId3"/>
          <a:stretch>
            <a:fillRect/>
          </a:stretch>
        </p:blipFill>
        <p:spPr>
          <a:xfrm>
            <a:off x="10436918" y="420624"/>
            <a:ext cx="1297577" cy="365760"/>
          </a:xfrm>
          <a:prstGeom prst="rect">
            <a:avLst/>
          </a:prstGeom>
        </p:spPr>
      </p:pic>
      <p:sp>
        <p:nvSpPr>
          <p:cNvPr id="422" name="TextBox 421"/>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423" name="TextBox 422"/>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95</a:t>
            </a:r>
          </a:p>
        </p:txBody>
      </p:sp>
    </p:spTree>
    <p:extLst>
      <p:ext uri="{BB962C8B-B14F-4D97-AF65-F5344CB8AC3E}">
        <p14:creationId xmlns:p14="http://schemas.microsoft.com/office/powerpoint/2010/main" val="3763708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34" name="TextBox 2"/>
          <p:cNvSpPr txBox="1"/>
          <p:nvPr/>
        </p:nvSpPr>
        <p:spPr>
          <a:xfrm>
            <a:off x="2015975" y="1097280"/>
            <a:ext cx="5699924" cy="3586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93" b="1"/>
            </a:lvl1pPr>
          </a:lstStyle>
          <a:p>
            <a:r>
              <a:t>② Post-surgery: Post-surgery Management</a:t>
            </a:r>
          </a:p>
        </p:txBody>
      </p:sp>
      <p:sp>
        <p:nvSpPr>
          <p:cNvPr id="435" name="TextBox 3"/>
          <p:cNvSpPr txBox="1"/>
          <p:nvPr/>
        </p:nvSpPr>
        <p:spPr>
          <a:xfrm>
            <a:off x="2366356" y="1540787"/>
            <a:ext cx="7636717" cy="2747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462"/>
            </a:lvl1pPr>
          </a:lstStyle>
          <a:p>
            <a:r>
              <a:t>Monitoring Individual to help in successful recovery</a:t>
            </a:r>
          </a:p>
        </p:txBody>
      </p:sp>
      <p:sp>
        <p:nvSpPr>
          <p:cNvPr id="436" name="TextBox 4"/>
          <p:cNvSpPr txBox="1"/>
          <p:nvPr/>
        </p:nvSpPr>
        <p:spPr>
          <a:xfrm>
            <a:off x="2430197" y="2032991"/>
            <a:ext cx="7550182" cy="1438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nSpc>
                <a:spcPct val="150000"/>
              </a:lnSpc>
              <a:defRPr sz="1279"/>
            </a:pPr>
            <a:r>
              <a:t>After surgery by using the ECW Ratio, we can see how well the patient is recovering from surgery. </a:t>
            </a:r>
          </a:p>
          <a:p>
            <a:pPr>
              <a:lnSpc>
                <a:spcPct val="150000"/>
              </a:lnSpc>
              <a:defRPr sz="1279"/>
            </a:pPr>
            <a:r>
              <a:t>If the ECW ratio comes down to the normal, which means the patient has recovered well and does not have edema any more, We can track the actual fat, muscle decrease from the surgery and keep on monitoring the body composition change of the patient.</a:t>
            </a:r>
          </a:p>
        </p:txBody>
      </p:sp>
      <p:pic>
        <p:nvPicPr>
          <p:cNvPr id="437" name="그림 5" descr="그림 5"/>
          <p:cNvPicPr>
            <a:picLocks noChangeAspect="1"/>
          </p:cNvPicPr>
          <p:nvPr/>
        </p:nvPicPr>
        <p:blipFill>
          <a:blip r:embed="rId2"/>
          <a:srcRect l="3767" t="71049" r="37095" b="21254"/>
          <a:stretch>
            <a:fillRect/>
          </a:stretch>
        </p:blipFill>
        <p:spPr>
          <a:xfrm>
            <a:off x="3718043" y="3331322"/>
            <a:ext cx="4640074" cy="855507"/>
          </a:xfrm>
          <a:prstGeom prst="rect">
            <a:avLst/>
          </a:prstGeom>
          <a:ln w="12700">
            <a:miter lim="400000"/>
          </a:ln>
          <a:effectLst>
            <a:outerShdw blurRad="50800" dist="38100" dir="2700000" rotWithShape="0">
              <a:srgbClr val="000000">
                <a:alpha val="40000"/>
              </a:srgbClr>
            </a:outerShdw>
          </a:effectLst>
        </p:spPr>
      </p:pic>
      <p:grpSp>
        <p:nvGrpSpPr>
          <p:cNvPr id="440" name="Picture 10"/>
          <p:cNvGrpSpPr/>
          <p:nvPr/>
        </p:nvGrpSpPr>
        <p:grpSpPr>
          <a:xfrm>
            <a:off x="6205290" y="4483321"/>
            <a:ext cx="3970428" cy="1871757"/>
            <a:chOff x="0" y="0"/>
            <a:chExt cx="4344484" cy="2048095"/>
          </a:xfrm>
        </p:grpSpPr>
        <p:sp>
          <p:nvSpPr>
            <p:cNvPr id="438" name="Rectangle"/>
            <p:cNvSpPr/>
            <p:nvPr/>
          </p:nvSpPr>
          <p:spPr>
            <a:xfrm>
              <a:off x="0" y="0"/>
              <a:ext cx="4344485" cy="2048096"/>
            </a:xfrm>
            <a:prstGeom prst="rect">
              <a:avLst/>
            </a:prstGeom>
            <a:solidFill>
              <a:srgbClr val="EDEDED"/>
            </a:solidFill>
            <a:ln w="12700" cap="flat">
              <a:noFill/>
              <a:miter lim="400000"/>
            </a:ln>
            <a:effectLst/>
          </p:spPr>
          <p:txBody>
            <a:bodyPr wrap="square" lIns="45719" tIns="45719" rIns="45719" bIns="45719" numCol="1" anchor="ctr">
              <a:noAutofit/>
            </a:bodyPr>
            <a:lstStyle/>
            <a:p>
              <a:endParaRPr/>
            </a:p>
          </p:txBody>
        </p:sp>
        <p:pic>
          <p:nvPicPr>
            <p:cNvPr id="439" name="image30.png" descr="image30.png"/>
            <p:cNvPicPr>
              <a:picLocks noChangeAspect="1"/>
            </p:cNvPicPr>
            <p:nvPr/>
          </p:nvPicPr>
          <p:blipFill>
            <a:blip r:embed="rId3"/>
            <a:srcRect l="48580" t="7992" b="3124"/>
            <a:stretch>
              <a:fillRect/>
            </a:stretch>
          </p:blipFill>
          <p:spPr>
            <a:xfrm>
              <a:off x="0" y="0"/>
              <a:ext cx="4344485" cy="2048096"/>
            </a:xfrm>
            <a:prstGeom prst="rect">
              <a:avLst/>
            </a:prstGeom>
            <a:ln w="88900" cap="sq">
              <a:solidFill>
                <a:srgbClr val="FFFFFF"/>
              </a:solidFill>
              <a:prstDash val="solid"/>
              <a:miter lim="800000"/>
            </a:ln>
            <a:effectLst>
              <a:outerShdw blurRad="50800" dist="18000" dir="5400000" rotWithShape="0">
                <a:srgbClr val="000000">
                  <a:alpha val="40000"/>
                </a:srgbClr>
              </a:outerShdw>
            </a:effectLst>
          </p:spPr>
        </p:pic>
      </p:grpSp>
      <p:pic>
        <p:nvPicPr>
          <p:cNvPr id="441" name="그림 7" descr="그림 7"/>
          <p:cNvPicPr>
            <a:picLocks noChangeAspect="1"/>
          </p:cNvPicPr>
          <p:nvPr/>
        </p:nvPicPr>
        <p:blipFill>
          <a:blip r:embed="rId4"/>
          <a:srcRect l="2473" t="54200" r="35147" b="25851"/>
          <a:stretch>
            <a:fillRect/>
          </a:stretch>
        </p:blipFill>
        <p:spPr>
          <a:xfrm>
            <a:off x="2111711" y="4381467"/>
            <a:ext cx="4720249" cy="1973612"/>
          </a:xfrm>
          <a:prstGeom prst="rect">
            <a:avLst/>
          </a:prstGeom>
          <a:ln w="12700">
            <a:miter lim="400000"/>
          </a:ln>
          <a:effectLst>
            <a:outerShdw blurRad="50800" dist="38100" dir="2700000" rotWithShape="0">
              <a:srgbClr val="000000">
                <a:alpha val="40000"/>
              </a:srgbClr>
            </a:outerShdw>
          </a:effectLst>
        </p:spPr>
      </p:pic>
      <p:sp>
        <p:nvSpPr>
          <p:cNvPr id="442" name="Rectangle 441"/>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TextBox 442"/>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444" name="TextBox 443"/>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445" name="Picture 444" descr="logo_red.png"/>
          <p:cNvPicPr>
            <a:picLocks noChangeAspect="1"/>
          </p:cNvPicPr>
          <p:nvPr/>
        </p:nvPicPr>
        <p:blipFill>
          <a:blip r:embed="rId5"/>
          <a:stretch>
            <a:fillRect/>
          </a:stretch>
        </p:blipFill>
        <p:spPr>
          <a:xfrm>
            <a:off x="10436918" y="420624"/>
            <a:ext cx="1297577" cy="365760"/>
          </a:xfrm>
          <a:prstGeom prst="rect">
            <a:avLst/>
          </a:prstGeom>
        </p:spPr>
      </p:pic>
      <p:sp>
        <p:nvSpPr>
          <p:cNvPr id="446" name="TextBox 44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447" name="TextBox 44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96</a:t>
            </a:r>
          </a:p>
        </p:txBody>
      </p:sp>
    </p:spTree>
    <p:extLst>
      <p:ext uri="{BB962C8B-B14F-4D97-AF65-F5344CB8AC3E}">
        <p14:creationId xmlns:p14="http://schemas.microsoft.com/office/powerpoint/2010/main" val="38247320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52" name="TextBox 2"/>
          <p:cNvSpPr txBox="1"/>
          <p:nvPr/>
        </p:nvSpPr>
        <p:spPr>
          <a:xfrm>
            <a:off x="2191804" y="1097280"/>
            <a:ext cx="5737214" cy="3610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207" b="1"/>
            </a:lvl1pPr>
          </a:lstStyle>
          <a:p>
            <a:r>
              <a:t>③ Patient Monitoring</a:t>
            </a:r>
          </a:p>
        </p:txBody>
      </p:sp>
      <p:sp>
        <p:nvSpPr>
          <p:cNvPr id="453" name="TextBox 4"/>
          <p:cNvSpPr txBox="1"/>
          <p:nvPr/>
        </p:nvSpPr>
        <p:spPr>
          <a:xfrm>
            <a:off x="2544477" y="1543689"/>
            <a:ext cx="7686679" cy="2765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471"/>
            </a:lvl1pPr>
          </a:lstStyle>
          <a:p>
            <a:r>
              <a:t>Monitoring Individual to help in successful weight loss</a:t>
            </a:r>
          </a:p>
        </p:txBody>
      </p:sp>
      <p:sp>
        <p:nvSpPr>
          <p:cNvPr id="454" name="오른쪽 화살표 15"/>
          <p:cNvSpPr/>
          <p:nvPr/>
        </p:nvSpPr>
        <p:spPr>
          <a:xfrm>
            <a:off x="3313693" y="2508143"/>
            <a:ext cx="5719740" cy="1226174"/>
          </a:xfrm>
          <a:prstGeom prst="rightArrow">
            <a:avLst>
              <a:gd name="adj1" fmla="val 50000"/>
              <a:gd name="adj2" fmla="val 50000"/>
            </a:avLst>
          </a:prstGeom>
          <a:solidFill>
            <a:srgbClr val="D9D9D9">
              <a:alpha val="50000"/>
            </a:srgbClr>
          </a:solidFill>
          <a:ln w="12700">
            <a:miter lim="400000"/>
          </a:ln>
        </p:spPr>
        <p:txBody>
          <a:bodyPr lIns="45719" rIns="45719" anchor="ctr"/>
          <a:lstStyle/>
          <a:p>
            <a:pPr algn="ctr">
              <a:defRPr>
                <a:solidFill>
                  <a:srgbClr val="FFFFFF"/>
                </a:solidFill>
              </a:defRPr>
            </a:pPr>
            <a:endParaRPr/>
          </a:p>
        </p:txBody>
      </p:sp>
      <p:grpSp>
        <p:nvGrpSpPr>
          <p:cNvPr id="457" name="직사각형 16"/>
          <p:cNvGrpSpPr/>
          <p:nvPr/>
        </p:nvGrpSpPr>
        <p:grpSpPr>
          <a:xfrm>
            <a:off x="5305466" y="2680133"/>
            <a:ext cx="2397085" cy="467877"/>
            <a:chOff x="0" y="0"/>
            <a:chExt cx="2605866" cy="508628"/>
          </a:xfrm>
        </p:grpSpPr>
        <p:sp>
          <p:nvSpPr>
            <p:cNvPr id="455"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456" name="Prevent Weight Recycling"/>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Prevent Weight Recycling</a:t>
              </a:r>
            </a:p>
          </p:txBody>
        </p:sp>
      </p:grpSp>
      <p:pic>
        <p:nvPicPr>
          <p:cNvPr id="458" name="그림 18" descr="그림 18"/>
          <p:cNvPicPr>
            <a:picLocks/>
          </p:cNvPicPr>
          <p:nvPr/>
        </p:nvPicPr>
        <p:blipFill>
          <a:blip r:embed="rId2"/>
          <a:stretch>
            <a:fillRect/>
          </a:stretch>
        </p:blipFill>
        <p:spPr>
          <a:xfrm>
            <a:off x="1536513" y="2026962"/>
            <a:ext cx="2697164" cy="2188533"/>
          </a:xfrm>
          <a:prstGeom prst="rect">
            <a:avLst/>
          </a:prstGeom>
          <a:ln w="12700">
            <a:miter lim="400000"/>
          </a:ln>
        </p:spPr>
      </p:pic>
      <p:sp>
        <p:nvSpPr>
          <p:cNvPr id="459" name="직사각형 19"/>
          <p:cNvSpPr/>
          <p:nvPr/>
        </p:nvSpPr>
        <p:spPr>
          <a:xfrm>
            <a:off x="4982854" y="2590680"/>
            <a:ext cx="2988222" cy="1066491"/>
          </a:xfrm>
          <a:prstGeom prst="rect">
            <a:avLst/>
          </a:prstGeom>
          <a:ln w="19050">
            <a:solidFill>
              <a:srgbClr val="B50937"/>
            </a:solidFill>
            <a:miter/>
          </a:ln>
        </p:spPr>
        <p:txBody>
          <a:bodyPr lIns="45719" rIns="45719" anchor="ctr"/>
          <a:lstStyle/>
          <a:p>
            <a:pPr algn="ctr">
              <a:defRPr>
                <a:solidFill>
                  <a:srgbClr val="FFFFFF"/>
                </a:solidFill>
              </a:defRPr>
            </a:pPr>
            <a:endParaRPr/>
          </a:p>
        </p:txBody>
      </p:sp>
      <p:sp>
        <p:nvSpPr>
          <p:cNvPr id="460" name="TextBox 20"/>
          <p:cNvSpPr txBox="1"/>
          <p:nvPr/>
        </p:nvSpPr>
        <p:spPr>
          <a:xfrm>
            <a:off x="5744429" y="3739706"/>
            <a:ext cx="1519162" cy="306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b="1"/>
            </a:lvl1pPr>
          </a:lstStyle>
          <a:p>
            <a:r>
              <a:t>Post-Surgery</a:t>
            </a:r>
          </a:p>
        </p:txBody>
      </p:sp>
      <p:grpSp>
        <p:nvGrpSpPr>
          <p:cNvPr id="463" name="폭발 1 21"/>
          <p:cNvGrpSpPr/>
          <p:nvPr/>
        </p:nvGrpSpPr>
        <p:grpSpPr>
          <a:xfrm>
            <a:off x="8474045" y="2348212"/>
            <a:ext cx="2181135" cy="1807729"/>
            <a:chOff x="0" y="0"/>
            <a:chExt cx="2371108" cy="1965179"/>
          </a:xfrm>
        </p:grpSpPr>
        <p:sp>
          <p:nvSpPr>
            <p:cNvPr id="461" name="Shape"/>
            <p:cNvSpPr/>
            <p:nvPr/>
          </p:nvSpPr>
          <p:spPr>
            <a:xfrm>
              <a:off x="0" y="0"/>
              <a:ext cx="2371109" cy="196518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14522" y="0"/>
                  </a:lnTo>
                  <a:lnTo>
                    <a:pt x="14155" y="5325"/>
                  </a:lnTo>
                  <a:lnTo>
                    <a:pt x="18380" y="4457"/>
                  </a:lnTo>
                  <a:lnTo>
                    <a:pt x="16702" y="7315"/>
                  </a:lnTo>
                  <a:lnTo>
                    <a:pt x="21097" y="8137"/>
                  </a:lnTo>
                  <a:lnTo>
                    <a:pt x="17607" y="10475"/>
                  </a:lnTo>
                  <a:lnTo>
                    <a:pt x="21600" y="13290"/>
                  </a:lnTo>
                  <a:lnTo>
                    <a:pt x="16837" y="12942"/>
                  </a:lnTo>
                  <a:lnTo>
                    <a:pt x="18145" y="18095"/>
                  </a:lnTo>
                  <a:lnTo>
                    <a:pt x="14020" y="14457"/>
                  </a:lnTo>
                  <a:lnTo>
                    <a:pt x="13247" y="19737"/>
                  </a:lnTo>
                  <a:lnTo>
                    <a:pt x="10532" y="14935"/>
                  </a:lnTo>
                  <a:lnTo>
                    <a:pt x="8485" y="21600"/>
                  </a:lnTo>
                  <a:lnTo>
                    <a:pt x="7715" y="15627"/>
                  </a:lnTo>
                  <a:lnTo>
                    <a:pt x="4762" y="17617"/>
                  </a:lnTo>
                  <a:lnTo>
                    <a:pt x="5667" y="13937"/>
                  </a:lnTo>
                  <a:lnTo>
                    <a:pt x="135" y="14587"/>
                  </a:lnTo>
                  <a:lnTo>
                    <a:pt x="3722" y="11775"/>
                  </a:lnTo>
                  <a:lnTo>
                    <a:pt x="0" y="8615"/>
                  </a:lnTo>
                  <a:lnTo>
                    <a:pt x="4627" y="7617"/>
                  </a:lnTo>
                  <a:lnTo>
                    <a:pt x="370" y="2295"/>
                  </a:lnTo>
                  <a:lnTo>
                    <a:pt x="7312" y="6320"/>
                  </a:lnTo>
                  <a:lnTo>
                    <a:pt x="8352" y="2295"/>
                  </a:lnTo>
                  <a:close/>
                </a:path>
              </a:pathLst>
            </a:custGeom>
            <a:solidFill>
              <a:srgbClr val="B50937"/>
            </a:solidFill>
            <a:ln w="53975" cap="flat">
              <a:solidFill>
                <a:srgbClr val="B50937"/>
              </a:solidFill>
              <a:prstDash val="solid"/>
              <a:miter lim="800000"/>
            </a:ln>
            <a:effectLst/>
          </p:spPr>
          <p:txBody>
            <a:bodyPr wrap="square" lIns="45719" tIns="45719" rIns="45719" bIns="45719" numCol="1" anchor="ctr">
              <a:noAutofit/>
            </a:bodyPr>
            <a:lstStyle/>
            <a:p>
              <a:pPr algn="ctr">
                <a:defRPr b="1">
                  <a:solidFill>
                    <a:srgbClr val="FFFFFF"/>
                  </a:solidFill>
                </a:defRPr>
              </a:pPr>
              <a:endParaRPr/>
            </a:p>
          </p:txBody>
        </p:sp>
        <p:sp>
          <p:nvSpPr>
            <p:cNvPr id="462" name="Successful…"/>
            <p:cNvSpPr txBox="1"/>
            <p:nvPr/>
          </p:nvSpPr>
          <p:spPr>
            <a:xfrm>
              <a:off x="580629" y="462852"/>
              <a:ext cx="1180101" cy="9172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p>
              <a:pPr algn="ctr">
                <a:defRPr b="1">
                  <a:solidFill>
                    <a:srgbClr val="FFFFFF"/>
                  </a:solidFill>
                </a:defRPr>
              </a:pPr>
              <a:r>
                <a:t>Successful</a:t>
              </a:r>
            </a:p>
            <a:p>
              <a:pPr algn="ctr">
                <a:defRPr b="1">
                  <a:solidFill>
                    <a:srgbClr val="FFFFFF"/>
                  </a:solidFill>
                </a:defRPr>
              </a:pPr>
              <a:r>
                <a:t>Weight Reduction</a:t>
              </a:r>
            </a:p>
          </p:txBody>
        </p:sp>
      </p:grpSp>
      <p:grpSp>
        <p:nvGrpSpPr>
          <p:cNvPr id="466" name="직사각형 22"/>
          <p:cNvGrpSpPr/>
          <p:nvPr/>
        </p:nvGrpSpPr>
        <p:grpSpPr>
          <a:xfrm>
            <a:off x="5310707" y="3175581"/>
            <a:ext cx="2397084" cy="467877"/>
            <a:chOff x="0" y="0"/>
            <a:chExt cx="2605866" cy="508628"/>
          </a:xfrm>
        </p:grpSpPr>
        <p:sp>
          <p:nvSpPr>
            <p:cNvPr id="464" name="Rectangle"/>
            <p:cNvSpPr/>
            <p:nvPr/>
          </p:nvSpPr>
          <p:spPr>
            <a:xfrm>
              <a:off x="-1" y="-1"/>
              <a:ext cx="2605868" cy="508630"/>
            </a:xfrm>
            <a:prstGeom prst="rect">
              <a:avLst/>
            </a:prstGeom>
            <a:solidFill>
              <a:srgbClr val="808080"/>
            </a:solidFill>
            <a:ln w="12700" cap="flat">
              <a:noFill/>
              <a:miter lim="400000"/>
            </a:ln>
            <a:effectLst/>
          </p:spPr>
          <p:txBody>
            <a:bodyPr wrap="square" lIns="45719" tIns="45719" rIns="45719" bIns="45719" numCol="1" anchor="ctr">
              <a:noAutofit/>
            </a:bodyPr>
            <a:lstStyle/>
            <a:p>
              <a:pPr algn="ctr">
                <a:defRPr b="1">
                  <a:solidFill>
                    <a:srgbClr val="FFFFFF"/>
                  </a:solidFill>
                </a:defRPr>
              </a:pPr>
              <a:endParaRPr/>
            </a:p>
          </p:txBody>
        </p:sp>
        <p:sp>
          <p:nvSpPr>
            <p:cNvPr id="465" name="Prevent Muscle Loss"/>
            <p:cNvSpPr txBox="1"/>
            <p:nvPr/>
          </p:nvSpPr>
          <p:spPr>
            <a:xfrm>
              <a:off x="45719" y="87770"/>
              <a:ext cx="2514428"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b="1">
                  <a:solidFill>
                    <a:srgbClr val="FFFFFF"/>
                  </a:solidFill>
                </a:defRPr>
              </a:lvl1pPr>
            </a:lstStyle>
            <a:p>
              <a:r>
                <a:t>Prevent Muscle Loss </a:t>
              </a:r>
            </a:p>
          </p:txBody>
        </p:sp>
      </p:grpSp>
      <p:grpSp>
        <p:nvGrpSpPr>
          <p:cNvPr id="469" name="그룹 23"/>
          <p:cNvGrpSpPr/>
          <p:nvPr/>
        </p:nvGrpSpPr>
        <p:grpSpPr>
          <a:xfrm>
            <a:off x="3313693" y="4740841"/>
            <a:ext cx="6649343" cy="1614238"/>
            <a:chOff x="0" y="0"/>
            <a:chExt cx="7228489" cy="1754834"/>
          </a:xfrm>
        </p:grpSpPr>
        <p:sp>
          <p:nvSpPr>
            <p:cNvPr id="467" name="모서리가 둥근 직사각형 24"/>
            <p:cNvSpPr/>
            <p:nvPr/>
          </p:nvSpPr>
          <p:spPr>
            <a:xfrm>
              <a:off x="0" y="0"/>
              <a:ext cx="7228490" cy="1754835"/>
            </a:xfrm>
            <a:prstGeom prst="roundRect">
              <a:avLst>
                <a:gd name="adj" fmla="val 7903"/>
              </a:avLst>
            </a:prstGeom>
            <a:solidFill>
              <a:srgbClr val="D9D9D9"/>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b">
              <a:noAutofit/>
            </a:bodyPr>
            <a:lstStyle/>
            <a:p>
              <a:pPr>
                <a:defRPr sz="1287" b="1" i="1">
                  <a:solidFill>
                    <a:srgbClr val="333F50"/>
                  </a:solidFill>
                  <a:latin typeface="Arial"/>
                  <a:ea typeface="Arial"/>
                  <a:cs typeface="Arial"/>
                  <a:sym typeface="Arial"/>
                </a:defRPr>
              </a:pPr>
              <a:endParaRPr/>
            </a:p>
          </p:txBody>
        </p:sp>
        <p:sp>
          <p:nvSpPr>
            <p:cNvPr id="468" name="TextBox 25"/>
            <p:cNvSpPr txBox="1"/>
            <p:nvPr/>
          </p:nvSpPr>
          <p:spPr>
            <a:xfrm>
              <a:off x="131817" y="261479"/>
              <a:ext cx="6964855" cy="57061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defRPr sz="1287"/>
              </a:pPr>
              <a:r>
                <a:t>▷ Majority of the patients tend to re-gain weight after surgery.</a:t>
              </a:r>
            </a:p>
            <a:p>
              <a:pPr>
                <a:defRPr sz="1287"/>
              </a:pPr>
              <a:r>
                <a:t>      -&gt; Preventing patients from weight recycling in very important</a:t>
              </a:r>
            </a:p>
          </p:txBody>
        </p:sp>
      </p:grpSp>
      <p:sp>
        <p:nvSpPr>
          <p:cNvPr id="470" name="TextBox 26"/>
          <p:cNvSpPr txBox="1"/>
          <p:nvPr/>
        </p:nvSpPr>
        <p:spPr>
          <a:xfrm>
            <a:off x="3434950" y="5649383"/>
            <a:ext cx="6528808" cy="5248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287"/>
            </a:pPr>
            <a:r>
              <a:t>▷ Patients tend to lose muscle after surgery.</a:t>
            </a:r>
          </a:p>
          <a:p>
            <a:pPr>
              <a:defRPr sz="1287"/>
            </a:pPr>
            <a:r>
              <a:t>      -&gt;Keeping certain amount of muscle helps maintain the weight loss</a:t>
            </a:r>
          </a:p>
        </p:txBody>
      </p:sp>
      <p:sp>
        <p:nvSpPr>
          <p:cNvPr id="472" name="TextBox 17"/>
          <p:cNvSpPr txBox="1"/>
          <p:nvPr/>
        </p:nvSpPr>
        <p:spPr>
          <a:xfrm>
            <a:off x="2251027" y="2138376"/>
            <a:ext cx="1268136" cy="2927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87">
                <a:latin typeface="Graphik"/>
                <a:ea typeface="Graphik"/>
                <a:cs typeface="Graphik"/>
                <a:sym typeface="Graphik"/>
              </a:defRPr>
            </a:lvl1pPr>
          </a:lstStyle>
          <a:p>
            <a:r>
              <a:t>InBody Test</a:t>
            </a:r>
          </a:p>
        </p:txBody>
      </p:sp>
      <p:sp>
        <p:nvSpPr>
          <p:cNvPr id="473" name="Rectangle 472"/>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TextBox 473"/>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475" name="TextBox 474"/>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476" name="Picture 475" descr="logo_red.png"/>
          <p:cNvPicPr>
            <a:picLocks noChangeAspect="1"/>
          </p:cNvPicPr>
          <p:nvPr/>
        </p:nvPicPr>
        <p:blipFill>
          <a:blip r:embed="rId3"/>
          <a:stretch>
            <a:fillRect/>
          </a:stretch>
        </p:blipFill>
        <p:spPr>
          <a:xfrm>
            <a:off x="10436918" y="420624"/>
            <a:ext cx="1297577" cy="365760"/>
          </a:xfrm>
          <a:prstGeom prst="rect">
            <a:avLst/>
          </a:prstGeom>
        </p:spPr>
      </p:pic>
      <p:sp>
        <p:nvSpPr>
          <p:cNvPr id="477" name="TextBox 47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478" name="TextBox 47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97</a:t>
            </a:r>
          </a:p>
        </p:txBody>
      </p:sp>
    </p:spTree>
    <p:extLst>
      <p:ext uri="{BB962C8B-B14F-4D97-AF65-F5344CB8AC3E}">
        <p14:creationId xmlns:p14="http://schemas.microsoft.com/office/powerpoint/2010/main" val="19419647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74" name="TextBox 1"/>
          <p:cNvSpPr txBox="1"/>
          <p:nvPr/>
        </p:nvSpPr>
        <p:spPr>
          <a:xfrm>
            <a:off x="2097302" y="1545281"/>
            <a:ext cx="7176437" cy="2971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b="1">
                <a:solidFill>
                  <a:srgbClr val="808080"/>
                </a:solidFill>
              </a:defRPr>
            </a:lvl1pPr>
          </a:lstStyle>
          <a:p>
            <a:r>
              <a:t>Continuous Follow-up Management affects Sustaining Weight Loss</a:t>
            </a:r>
          </a:p>
        </p:txBody>
      </p:sp>
      <p:sp>
        <p:nvSpPr>
          <p:cNvPr id="475" name="TextBox 2"/>
          <p:cNvSpPr txBox="1"/>
          <p:nvPr/>
        </p:nvSpPr>
        <p:spPr>
          <a:xfrm>
            <a:off x="2097302" y="1917135"/>
            <a:ext cx="7369127" cy="5388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50000"/>
              </a:lnSpc>
              <a:defRPr sz="1248"/>
            </a:lvl1pPr>
          </a:lstStyle>
          <a:p>
            <a:r>
              <a:t>One of the most common side effects after bariatric surgery is regaining of weight. Against patients’ wishes, weight can be increased despite of bariatric surgery and this may be related with various complications</a:t>
            </a:r>
          </a:p>
        </p:txBody>
      </p:sp>
      <p:pic>
        <p:nvPicPr>
          <p:cNvPr id="476" name="Picture 2" descr="Picture 2"/>
          <p:cNvPicPr>
            <a:picLocks noChangeAspect="1"/>
          </p:cNvPicPr>
          <p:nvPr/>
        </p:nvPicPr>
        <p:blipFill>
          <a:blip r:embed="rId2"/>
          <a:stretch>
            <a:fillRect/>
          </a:stretch>
        </p:blipFill>
        <p:spPr>
          <a:xfrm>
            <a:off x="2056521" y="2836795"/>
            <a:ext cx="2248053" cy="3052402"/>
          </a:xfrm>
          <a:prstGeom prst="rect">
            <a:avLst/>
          </a:prstGeom>
          <a:ln w="12700">
            <a:miter lim="400000"/>
          </a:ln>
        </p:spPr>
      </p:pic>
      <p:grpSp>
        <p:nvGrpSpPr>
          <p:cNvPr id="484" name="그룹 31"/>
          <p:cNvGrpSpPr/>
          <p:nvPr/>
        </p:nvGrpSpPr>
        <p:grpSpPr>
          <a:xfrm>
            <a:off x="4625726" y="2836795"/>
            <a:ext cx="2027388" cy="3006480"/>
            <a:chOff x="0" y="0"/>
            <a:chExt cx="2272893" cy="3370548"/>
          </a:xfrm>
        </p:grpSpPr>
        <p:pic>
          <p:nvPicPr>
            <p:cNvPr id="477" name="Picture 3" descr="Picture 3"/>
            <p:cNvPicPr>
              <a:picLocks noChangeAspect="1"/>
            </p:cNvPicPr>
            <p:nvPr/>
          </p:nvPicPr>
          <p:blipFill>
            <a:blip r:embed="rId3"/>
            <a:stretch>
              <a:fillRect/>
            </a:stretch>
          </p:blipFill>
          <p:spPr>
            <a:xfrm>
              <a:off x="1586" y="0"/>
              <a:ext cx="1885095" cy="575203"/>
            </a:xfrm>
            <a:prstGeom prst="rect">
              <a:avLst/>
            </a:prstGeom>
            <a:ln w="12700" cap="flat">
              <a:noFill/>
              <a:miter lim="400000"/>
            </a:ln>
            <a:effectLst/>
          </p:spPr>
        </p:pic>
        <p:pic>
          <p:nvPicPr>
            <p:cNvPr id="478" name="Picture 5" descr="Picture 5"/>
            <p:cNvPicPr>
              <a:picLocks noChangeAspect="1"/>
            </p:cNvPicPr>
            <p:nvPr/>
          </p:nvPicPr>
          <p:blipFill>
            <a:blip r:embed="rId4"/>
            <a:stretch>
              <a:fillRect/>
            </a:stretch>
          </p:blipFill>
          <p:spPr>
            <a:xfrm>
              <a:off x="0" y="510504"/>
              <a:ext cx="2272894" cy="2860045"/>
            </a:xfrm>
            <a:prstGeom prst="rect">
              <a:avLst/>
            </a:prstGeom>
            <a:ln w="12700" cap="flat">
              <a:noFill/>
              <a:miter lim="400000"/>
            </a:ln>
            <a:effectLst/>
          </p:spPr>
        </p:pic>
        <p:sp>
          <p:nvSpPr>
            <p:cNvPr id="479" name="직선 연결선 7"/>
            <p:cNvSpPr/>
            <p:nvPr/>
          </p:nvSpPr>
          <p:spPr>
            <a:xfrm>
              <a:off x="57910" y="929926"/>
              <a:ext cx="2188776" cy="1332"/>
            </a:xfrm>
            <a:prstGeom prst="line">
              <a:avLst/>
            </a:prstGeom>
            <a:noFill/>
            <a:ln w="15875" cap="flat">
              <a:solidFill>
                <a:srgbClr val="B50937"/>
              </a:solidFill>
              <a:prstDash val="solid"/>
              <a:miter lim="800000"/>
            </a:ln>
            <a:effectLst/>
          </p:spPr>
          <p:txBody>
            <a:bodyPr wrap="square" lIns="45719" tIns="45719" rIns="45719" bIns="45719" numCol="1" anchor="t">
              <a:noAutofit/>
            </a:bodyPr>
            <a:lstStyle/>
            <a:p>
              <a:endParaRPr/>
            </a:p>
          </p:txBody>
        </p:sp>
        <p:sp>
          <p:nvSpPr>
            <p:cNvPr id="480" name="직선 연결선 8"/>
            <p:cNvSpPr/>
            <p:nvPr/>
          </p:nvSpPr>
          <p:spPr>
            <a:xfrm>
              <a:off x="57910" y="1108346"/>
              <a:ext cx="2188776" cy="1332"/>
            </a:xfrm>
            <a:prstGeom prst="line">
              <a:avLst/>
            </a:prstGeom>
            <a:noFill/>
            <a:ln w="15875" cap="flat">
              <a:solidFill>
                <a:srgbClr val="B50937"/>
              </a:solidFill>
              <a:prstDash val="solid"/>
              <a:miter lim="800000"/>
            </a:ln>
            <a:effectLst/>
          </p:spPr>
          <p:txBody>
            <a:bodyPr wrap="square" lIns="45719" tIns="45719" rIns="45719" bIns="45719" numCol="1" anchor="t">
              <a:noAutofit/>
            </a:bodyPr>
            <a:lstStyle/>
            <a:p>
              <a:endParaRPr/>
            </a:p>
          </p:txBody>
        </p:sp>
        <p:sp>
          <p:nvSpPr>
            <p:cNvPr id="481" name="직선 연결선 9"/>
            <p:cNvSpPr/>
            <p:nvPr/>
          </p:nvSpPr>
          <p:spPr>
            <a:xfrm>
              <a:off x="57910" y="1228181"/>
              <a:ext cx="2188776" cy="1332"/>
            </a:xfrm>
            <a:prstGeom prst="line">
              <a:avLst/>
            </a:prstGeom>
            <a:noFill/>
            <a:ln w="15875" cap="flat">
              <a:solidFill>
                <a:srgbClr val="B50937"/>
              </a:solidFill>
              <a:prstDash val="solid"/>
              <a:miter lim="800000"/>
            </a:ln>
            <a:effectLst/>
          </p:spPr>
          <p:txBody>
            <a:bodyPr wrap="square" lIns="45719" tIns="45719" rIns="45719" bIns="45719" numCol="1" anchor="t">
              <a:noAutofit/>
            </a:bodyPr>
            <a:lstStyle/>
            <a:p>
              <a:endParaRPr/>
            </a:p>
          </p:txBody>
        </p:sp>
        <p:sp>
          <p:nvSpPr>
            <p:cNvPr id="482" name="직선 연결선 10"/>
            <p:cNvSpPr/>
            <p:nvPr/>
          </p:nvSpPr>
          <p:spPr>
            <a:xfrm>
              <a:off x="57910" y="1356004"/>
              <a:ext cx="2188776" cy="1332"/>
            </a:xfrm>
            <a:prstGeom prst="line">
              <a:avLst/>
            </a:prstGeom>
            <a:noFill/>
            <a:ln w="15875" cap="flat">
              <a:solidFill>
                <a:srgbClr val="B50937"/>
              </a:solidFill>
              <a:prstDash val="solid"/>
              <a:miter lim="800000"/>
            </a:ln>
            <a:effectLst/>
          </p:spPr>
          <p:txBody>
            <a:bodyPr wrap="square" lIns="45719" tIns="45719" rIns="45719" bIns="45719" numCol="1" anchor="t">
              <a:noAutofit/>
            </a:bodyPr>
            <a:lstStyle/>
            <a:p>
              <a:endParaRPr/>
            </a:p>
          </p:txBody>
        </p:sp>
        <p:sp>
          <p:nvSpPr>
            <p:cNvPr id="483" name="직선 연결선 11"/>
            <p:cNvSpPr/>
            <p:nvPr/>
          </p:nvSpPr>
          <p:spPr>
            <a:xfrm>
              <a:off x="57910" y="1527768"/>
              <a:ext cx="1360591" cy="1332"/>
            </a:xfrm>
            <a:prstGeom prst="line">
              <a:avLst/>
            </a:prstGeom>
            <a:noFill/>
            <a:ln w="15875" cap="flat">
              <a:solidFill>
                <a:srgbClr val="B50937"/>
              </a:solidFill>
              <a:prstDash val="solid"/>
              <a:miter lim="800000"/>
            </a:ln>
            <a:effectLst/>
          </p:spPr>
          <p:txBody>
            <a:bodyPr wrap="square" lIns="45719" tIns="45719" rIns="45719" bIns="45719" numCol="1" anchor="t">
              <a:noAutofit/>
            </a:bodyPr>
            <a:lstStyle/>
            <a:p>
              <a:endParaRPr/>
            </a:p>
          </p:txBody>
        </p:sp>
      </p:grpSp>
      <p:sp>
        <p:nvSpPr>
          <p:cNvPr id="485" name="TextBox 12"/>
          <p:cNvSpPr txBox="1"/>
          <p:nvPr/>
        </p:nvSpPr>
        <p:spPr>
          <a:xfrm>
            <a:off x="6496565" y="6163569"/>
            <a:ext cx="3932901" cy="1915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802" i="1">
                <a:latin typeface="Arial"/>
                <a:ea typeface="Arial"/>
                <a:cs typeface="Arial"/>
                <a:sym typeface="Arial"/>
              </a:defRPr>
            </a:lvl1pPr>
          </a:lstStyle>
          <a:p>
            <a:r>
              <a:t>Endocrine and Nutritional Management of the Post-Bariatric Surgery Patient (P.7)</a:t>
            </a:r>
          </a:p>
        </p:txBody>
      </p:sp>
      <p:sp>
        <p:nvSpPr>
          <p:cNvPr id="486" name="TextBox 13"/>
          <p:cNvSpPr txBox="1"/>
          <p:nvPr/>
        </p:nvSpPr>
        <p:spPr>
          <a:xfrm>
            <a:off x="5974557" y="4249857"/>
            <a:ext cx="3596885" cy="862192"/>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248" b="1">
                <a:solidFill>
                  <a:srgbClr val="B50937"/>
                </a:solidFill>
              </a:defRPr>
            </a:pPr>
            <a:r>
              <a:t>Weight regain </a:t>
            </a:r>
            <a:r>
              <a:rPr>
                <a:solidFill>
                  <a:srgbClr val="000000"/>
                </a:solidFill>
              </a:rPr>
              <a:t>is not uncommon in patients undergoing bariatric surgery and it can be expected that 20%-25% of the lost weight will be regained over a period of 10yr. </a:t>
            </a:r>
          </a:p>
        </p:txBody>
      </p:sp>
      <p:sp>
        <p:nvSpPr>
          <p:cNvPr id="487" name="TextBox 15"/>
          <p:cNvSpPr txBox="1"/>
          <p:nvPr/>
        </p:nvSpPr>
        <p:spPr>
          <a:xfrm>
            <a:off x="1762227" y="1097280"/>
            <a:ext cx="5563238" cy="3500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40" b="1"/>
            </a:lvl1pPr>
          </a:lstStyle>
          <a:p>
            <a:r>
              <a:t>③ Patient Monitoring</a:t>
            </a:r>
          </a:p>
        </p:txBody>
      </p:sp>
      <p:sp>
        <p:nvSpPr>
          <p:cNvPr id="488" name="Rectangle 487"/>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TextBox 488"/>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InBody in Bariatric Surgery</a:t>
            </a:r>
          </a:p>
        </p:txBody>
      </p:sp>
      <p:sp>
        <p:nvSpPr>
          <p:cNvPr id="490" name="TextBox 489"/>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491" name="Picture 490" descr="logo_red.png"/>
          <p:cNvPicPr>
            <a:picLocks noChangeAspect="1"/>
          </p:cNvPicPr>
          <p:nvPr/>
        </p:nvPicPr>
        <p:blipFill>
          <a:blip r:embed="rId5"/>
          <a:stretch>
            <a:fillRect/>
          </a:stretch>
        </p:blipFill>
        <p:spPr>
          <a:xfrm>
            <a:off x="10436918" y="420624"/>
            <a:ext cx="1297577" cy="365760"/>
          </a:xfrm>
          <a:prstGeom prst="rect">
            <a:avLst/>
          </a:prstGeom>
        </p:spPr>
      </p:pic>
      <p:sp>
        <p:nvSpPr>
          <p:cNvPr id="492" name="TextBox 491"/>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493" name="TextBox 492"/>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98</a:t>
            </a:r>
          </a:p>
        </p:txBody>
      </p:sp>
    </p:spTree>
    <p:extLst>
      <p:ext uri="{BB962C8B-B14F-4D97-AF65-F5344CB8AC3E}">
        <p14:creationId xmlns:p14="http://schemas.microsoft.com/office/powerpoint/2010/main" val="416641239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521207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5212079" cy="566928"/>
          </a:xfrm>
          <a:prstGeom prst="rect">
            <a:avLst/>
          </a:prstGeom>
          <a:noFill/>
        </p:spPr>
        <p:txBody>
          <a:bodyPr wrap="square" lIns="0" rIns="0" tIns="0" bIns="0" anchor="ctr">
            <a:spAutoFit/>
          </a:bodyPr>
          <a:lstStyle/>
          <a:p>
            <a:pPr algn="ctr"/>
            <a:r>
              <a:rPr sz="2200" b="1" i="0">
                <a:solidFill>
                  <a:srgbClr val="FFFFFF"/>
                </a:solidFill>
                <a:latin typeface="Calibri"/>
              </a:rPr>
              <a:t>Case Study: Gastric Banding (LAGB)</a:t>
            </a:r>
          </a:p>
        </p:txBody>
      </p:sp>
      <p:sp>
        <p:nvSpPr>
          <p:cNvPr id="4" name="TextBox 3"/>
          <p:cNvSpPr txBox="1"/>
          <p:nvPr/>
        </p:nvSpPr>
        <p:spPr>
          <a:xfrm>
            <a:off x="5897879" y="320040"/>
            <a:ext cx="4007815" cy="566928"/>
          </a:xfrm>
          <a:prstGeom prst="rect">
            <a:avLst/>
          </a:prstGeom>
          <a:noFill/>
        </p:spPr>
        <p:txBody>
          <a:bodyPr wrap="square" lIns="0" rIns="0" tIns="0" bIns="0" anchor="ctr">
            <a:spAutoFit/>
          </a:bodyPr>
          <a:lstStyle/>
          <a:p>
            <a:pPr algn="l"/>
            <a:r>
              <a:rPr sz="900" b="1" i="0">
                <a:solidFill>
                  <a:srgbClr val="B50937"/>
                </a:solidFill>
                <a:latin typeface="Calibri"/>
              </a:rPr>
              <a:t>SESSION 6</a:t>
            </a:r>
          </a:p>
          <a:p>
            <a:pPr algn="l"/>
            <a:r>
              <a:rPr sz="900" b="0" i="0">
                <a:solidFill>
                  <a:srgbClr val="5E6470"/>
                </a:solidFill>
                <a:latin typeface="Calibri"/>
              </a:rPr>
              <a:t>Bariatric &amp; Obesity Management</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99</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Case study: gastric banding (LAGB)</a:t>
            </a:r>
          </a:p>
          <a:p>
            <a:pPr marL="228600" indent="-228600">
              <a:spcAft>
                <a:spcPts val="600"/>
              </a:spcAft>
              <a:buChar char="•"/>
            </a:pPr>
            <a:r>
              <a:rPr sz="1300">
                <a:solidFill>
                  <a:srgbClr val="181D27"/>
                </a:solidFill>
                <a:latin typeface="Calibri"/>
              </a:rPr>
              <a:t>Before: 100.4 kg · PBF 42.3% · SMM 32.6 kg</a:t>
            </a:r>
          </a:p>
          <a:p>
            <a:pPr marL="228600" indent="-228600">
              <a:spcAft>
                <a:spcPts val="600"/>
              </a:spcAft>
              <a:buChar char="•"/>
            </a:pPr>
            <a:r>
              <a:rPr sz="1300">
                <a:solidFill>
                  <a:srgbClr val="181D27"/>
                </a:solidFill>
                <a:latin typeface="Calibri"/>
              </a:rPr>
              <a:t>After 4 months: 84.5 kg · PBF 30.8% · SMM 30.1 kg</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97.png"/>
          <p:cNvPicPr>
            <a:picLocks noChangeAspect="1"/>
          </p:cNvPicPr>
          <p:nvPr/>
        </p:nvPicPr>
        <p:blipFill>
          <a:blip r:embed="rId6"/>
          <a:stretch>
            <a:fillRect/>
          </a:stretch>
        </p:blipFill>
        <p:spPr>
          <a:xfrm>
            <a:off x="5760720" y="1617808"/>
            <a:ext cx="5790895" cy="3165183"/>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−15.9 kg in 4 months, mostly fat, but SMM also fell 2.5 kg, so track muscle after surgery.</a:t>
            </a:r>
          </a:p>
        </p:txBody>
      </p:sp>
    </p:spTree>
    <p:extLst>
      <p:ext uri="{BB962C8B-B14F-4D97-AF65-F5344CB8AC3E}">
        <p14:creationId xmlns:p14="http://schemas.microsoft.com/office/powerpoint/2010/main" val="7529294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bg>
      <p:bgPr>
        <a:solidFill>
          <a:srgbClr val="181D27"/>
        </a:solidFill>
        <a:effectLst/>
      </p:bgPr>
    </p:bg>
    <p:spTree>
      <p:nvGrpSpPr>
        <p:cNvPr id="1" name=""/>
        <p:cNvGrpSpPr/>
        <p:nvPr/>
      </p:nvGrpSpPr>
      <p:grpSpPr>
        <a:xfrm>
          <a:off x="0" y="0"/>
          <a:ext cx="0" cy="0"/>
          <a:chOff x="0" y="0"/>
          <a:chExt cx="0" cy="0"/>
        </a:xfrm>
      </p:grpSpPr>
      <p:sp>
        <p:nvSpPr>
          <p:cNvPr id="2" name="Rounded Rectangle 1"/>
          <p:cNvSpPr/>
          <p:nvPr/>
        </p:nvSpPr>
        <p:spPr>
          <a:xfrm>
            <a:off x="822960" y="2148840"/>
            <a:ext cx="1371600" cy="1371600"/>
          </a:xfrm>
          <a:prstGeom prst="roundRect">
            <a:avLst>
              <a:gd name="adj" fmla="val 12000"/>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1371600" cy="1371600"/>
          </a:xfrm>
          <a:prstGeom prst="rect">
            <a:avLst/>
          </a:prstGeom>
          <a:noFill/>
        </p:spPr>
        <p:txBody>
          <a:bodyPr wrap="square" lIns="0" rIns="0" tIns="0" bIns="0" anchor="ctr">
            <a:spAutoFit/>
          </a:bodyPr>
          <a:lstStyle/>
          <a:p>
            <a:pPr algn="ctr"/>
            <a:r>
              <a:rPr sz="4400" b="1" i="0">
                <a:solidFill>
                  <a:srgbClr val="FFFFFF"/>
                </a:solidFill>
                <a:latin typeface="Cambria"/>
              </a:rPr>
              <a:t>07</a:t>
            </a:r>
          </a:p>
        </p:txBody>
      </p:sp>
      <p:sp>
        <p:nvSpPr>
          <p:cNvPr id="4" name="TextBox 3"/>
          <p:cNvSpPr txBox="1"/>
          <p:nvPr/>
        </p:nvSpPr>
        <p:spPr>
          <a:xfrm>
            <a:off x="2560320" y="2148840"/>
            <a:ext cx="8686800" cy="365760"/>
          </a:xfrm>
          <a:prstGeom prst="rect">
            <a:avLst/>
          </a:prstGeom>
          <a:noFill/>
        </p:spPr>
        <p:txBody>
          <a:bodyPr wrap="square" lIns="0" rIns="0" tIns="0" bIns="0" anchor="ctr">
            <a:spAutoFit/>
          </a:bodyPr>
          <a:lstStyle/>
          <a:p>
            <a:pPr algn="l"/>
            <a:r>
              <a:rPr sz="1200" b="1" i="0">
                <a:solidFill>
                  <a:srgbClr val="F5C6D1"/>
                </a:solidFill>
                <a:latin typeface="Calibri"/>
              </a:rPr>
              <a:t>SESSION 7  ·  2:55 – 3:30 PM</a:t>
            </a:r>
          </a:p>
        </p:txBody>
      </p:sp>
      <p:sp>
        <p:nvSpPr>
          <p:cNvPr id="5" name="TextBox 4"/>
          <p:cNvSpPr txBox="1"/>
          <p:nvPr/>
        </p:nvSpPr>
        <p:spPr>
          <a:xfrm>
            <a:off x="2560320" y="2560320"/>
            <a:ext cx="8961120" cy="1463040"/>
          </a:xfrm>
          <a:prstGeom prst="rect">
            <a:avLst/>
          </a:prstGeom>
          <a:noFill/>
        </p:spPr>
        <p:txBody>
          <a:bodyPr wrap="square" lIns="0" rIns="0" tIns="0" bIns="0" anchor="t">
            <a:spAutoFit/>
          </a:bodyPr>
          <a:lstStyle/>
          <a:p>
            <a:pPr algn="l"/>
            <a:r>
              <a:rPr sz="3600" b="1" i="0">
                <a:solidFill>
                  <a:srgbClr val="FFFFFF"/>
                </a:solidFill>
                <a:latin typeface="Cambria"/>
              </a:rPr>
              <a:t>Dietetics &amp; BCA-Guided Nutrition Practice</a:t>
            </a:r>
          </a:p>
        </p:txBody>
      </p:sp>
      <p:pic>
        <p:nvPicPr>
          <p:cNvPr id="6" name="Picture 5" descr="logo_white.png"/>
          <p:cNvPicPr>
            <a:picLocks noChangeAspect="1"/>
          </p:cNvPicPr>
          <p:nvPr/>
        </p:nvPicPr>
        <p:blipFill>
          <a:blip r:embed="rId3"/>
          <a:stretch>
            <a:fillRect/>
          </a:stretch>
        </p:blipFill>
        <p:spPr>
          <a:xfrm>
            <a:off x="10021083" y="457200"/>
            <a:ext cx="1621971" cy="45720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9AA0AA"/>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F5C6D1"/>
                </a:solidFill>
                <a:latin typeface="Calibri"/>
              </a:rPr>
              <a:t>100</a:t>
            </a:r>
          </a:p>
        </p:txBody>
      </p:sp>
    </p:spTree>
    <p:extLst>
      <p:ext uri="{BB962C8B-B14F-4D97-AF65-F5344CB8AC3E}">
        <p14:creationId xmlns:p14="http://schemas.microsoft.com/office/powerpoint/2010/main" val="13955271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18" name="그림 17"/>
          <p:cNvPicPr>
            <a:picLocks noChangeAspect="1"/>
          </p:cNvPicPr>
          <p:nvPr/>
        </p:nvPicPr>
        <p:blipFill rotWithShape="1">
          <a:blip r:embed="rId3" cstate="print">
            <a:extLst>
              <a:ext uri="{28A0092B-C50C-407E-A947-70E740481C1C}">
                <a14:useLocalDpi xmlns:a14="http://schemas.microsoft.com/office/drawing/2010/main" val="0"/>
              </a:ext>
            </a:extLst>
          </a:blip>
          <a:srcRect l="3992" t="28422" r="36699" b="49181"/>
          <a:stretch/>
        </p:blipFill>
        <p:spPr>
          <a:xfrm>
            <a:off x="692650" y="1097280"/>
            <a:ext cx="2361670" cy="1260865"/>
          </a:xfrm>
          <a:prstGeom prst="rect">
            <a:avLst/>
          </a:prstGeom>
          <a:ln>
            <a:noFill/>
          </a:ln>
          <a:effectLst/>
        </p:spPr>
      </p:pic>
      <p:grpSp>
        <p:nvGrpSpPr>
          <p:cNvPr id="42" name="그룹 41"/>
          <p:cNvGrpSpPr/>
          <p:nvPr/>
        </p:nvGrpSpPr>
        <p:grpSpPr>
          <a:xfrm>
            <a:off x="4158159" y="3190414"/>
            <a:ext cx="3705360" cy="1588668"/>
            <a:chOff x="49824" y="2711269"/>
            <a:chExt cx="3989433" cy="1710464"/>
          </a:xfrm>
        </p:grpSpPr>
        <p:pic>
          <p:nvPicPr>
            <p:cNvPr id="17" name="Picture 4"/>
            <p:cNvPicPr>
              <a:picLocks noChangeAspect="1" noChangeArrowheads="1"/>
            </p:cNvPicPr>
            <p:nvPr/>
          </p:nvPicPr>
          <p:blipFill>
            <a:blip r:embed="rId4" cstate="print"/>
            <a:srcRect/>
            <a:stretch>
              <a:fillRect/>
            </a:stretch>
          </p:blipFill>
          <p:spPr bwMode="auto">
            <a:xfrm>
              <a:off x="121346" y="3071059"/>
              <a:ext cx="3917911" cy="1149069"/>
            </a:xfrm>
            <a:prstGeom prst="rect">
              <a:avLst/>
            </a:prstGeom>
            <a:noFill/>
            <a:ln w="9525">
              <a:noFill/>
              <a:miter lim="800000"/>
              <a:headEnd/>
              <a:tailEnd/>
            </a:ln>
          </p:spPr>
        </p:pic>
        <p:sp>
          <p:nvSpPr>
            <p:cNvPr id="23" name="TextBox 22"/>
            <p:cNvSpPr txBox="1"/>
            <p:nvPr/>
          </p:nvSpPr>
          <p:spPr>
            <a:xfrm>
              <a:off x="1762126" y="3098294"/>
              <a:ext cx="318175" cy="1323439"/>
            </a:xfrm>
            <a:prstGeom prst="rect">
              <a:avLst/>
            </a:prstGeom>
            <a:noFill/>
            <a:ln>
              <a:noFill/>
            </a:ln>
          </p:spPr>
          <p:txBody>
            <a:bodyPr wrap="square" rtlCol="0" anchor="b">
              <a:spAutoFit/>
            </a:bodyPr>
            <a:lstStyle/>
            <a:p>
              <a:pPr algn="ctr"/>
              <a:r>
                <a:rPr lang="en-US" altLang="ko-KR" sz="7430" dirty="0">
                  <a:solidFill>
                    <a:srgbClr val="B50937">
                      <a:alpha val="60000"/>
                    </a:srgbClr>
                  </a:solidFill>
                  <a:ea typeface="Adobe Heiti Std R" panose="020B0400000000000000" pitchFamily="34" charset="-128"/>
                  <a:cs typeface="Arial" panose="020B0604020202020204" pitchFamily="34" charset="0"/>
                </a:rPr>
                <a:t>I</a:t>
              </a:r>
              <a:endParaRPr lang="ko-KR" altLang="en-US" sz="7430" dirty="0">
                <a:solidFill>
                  <a:srgbClr val="B50937">
                    <a:alpha val="60000"/>
                  </a:srgbClr>
                </a:solidFill>
                <a:cs typeface="Arial" panose="020B0604020202020204" pitchFamily="34" charset="0"/>
              </a:endParaRPr>
            </a:p>
          </p:txBody>
        </p:sp>
        <p:sp>
          <p:nvSpPr>
            <p:cNvPr id="32" name="TextBox 31"/>
            <p:cNvSpPr txBox="1"/>
            <p:nvPr/>
          </p:nvSpPr>
          <p:spPr>
            <a:xfrm>
              <a:off x="49824" y="2711269"/>
              <a:ext cx="2771592" cy="338554"/>
            </a:xfrm>
            <a:prstGeom prst="rect">
              <a:avLst/>
            </a:prstGeom>
            <a:noFill/>
          </p:spPr>
          <p:txBody>
            <a:bodyPr wrap="square" rtlCol="0">
              <a:spAutoFit/>
            </a:bodyPr>
            <a:lstStyle/>
            <a:p>
              <a:r>
                <a:rPr lang="en-US" altLang="ko-KR" sz="1486" b="1">
                  <a:solidFill>
                    <a:srgbClr val="B50937"/>
                  </a:solidFill>
                </a:rPr>
                <a:t>I</a:t>
              </a:r>
              <a:r>
                <a:rPr lang="en-US" altLang="ko-KR" sz="1486">
                  <a:solidFill>
                    <a:srgbClr val="B50937"/>
                  </a:solidFill>
                </a:rPr>
                <a:t>deal </a:t>
              </a:r>
            </a:p>
          </p:txBody>
        </p:sp>
      </p:grpSp>
      <p:grpSp>
        <p:nvGrpSpPr>
          <p:cNvPr id="41" name="그룹 40"/>
          <p:cNvGrpSpPr/>
          <p:nvPr/>
        </p:nvGrpSpPr>
        <p:grpSpPr>
          <a:xfrm>
            <a:off x="7915324" y="3190414"/>
            <a:ext cx="3652745" cy="1588668"/>
            <a:chOff x="8079727" y="2711269"/>
            <a:chExt cx="3932784" cy="1710464"/>
          </a:xfrm>
        </p:grpSpPr>
        <p:pic>
          <p:nvPicPr>
            <p:cNvPr id="39" name="Picture 5"/>
            <p:cNvPicPr>
              <a:picLocks noChangeAspect="1" noChangeArrowheads="1"/>
            </p:cNvPicPr>
            <p:nvPr/>
          </p:nvPicPr>
          <p:blipFill rotWithShape="1">
            <a:blip r:embed="rId5" cstate="print"/>
            <a:srcRect r="1043"/>
            <a:stretch/>
          </p:blipFill>
          <p:spPr bwMode="auto">
            <a:xfrm>
              <a:off x="8096051" y="3042223"/>
              <a:ext cx="3916460" cy="1206740"/>
            </a:xfrm>
            <a:prstGeom prst="rect">
              <a:avLst/>
            </a:prstGeom>
            <a:noFill/>
            <a:ln w="9525">
              <a:noFill/>
              <a:miter lim="800000"/>
              <a:headEnd/>
              <a:tailEnd/>
            </a:ln>
          </p:spPr>
        </p:pic>
        <p:sp>
          <p:nvSpPr>
            <p:cNvPr id="31" name="TextBox 30"/>
            <p:cNvSpPr txBox="1"/>
            <p:nvPr/>
          </p:nvSpPr>
          <p:spPr>
            <a:xfrm>
              <a:off x="9703626" y="3098294"/>
              <a:ext cx="318175" cy="1323439"/>
            </a:xfrm>
            <a:prstGeom prst="rect">
              <a:avLst/>
            </a:prstGeom>
            <a:noFill/>
            <a:ln>
              <a:noFill/>
            </a:ln>
          </p:spPr>
          <p:txBody>
            <a:bodyPr wrap="square" rtlCol="0" anchor="b">
              <a:spAutoFit/>
            </a:bodyPr>
            <a:lstStyle/>
            <a:p>
              <a:pPr algn="ctr"/>
              <a:r>
                <a:rPr lang="en-US" altLang="ko-KR" sz="7430">
                  <a:solidFill>
                    <a:srgbClr val="B50937">
                      <a:alpha val="60000"/>
                    </a:srgbClr>
                  </a:solidFill>
                  <a:ea typeface="Adobe Heiti Std R" panose="020B0400000000000000" pitchFamily="34" charset="-128"/>
                  <a:cs typeface="Arial" panose="020B0604020202020204" pitchFamily="34" charset="0"/>
                </a:rPr>
                <a:t>D</a:t>
              </a:r>
              <a:endParaRPr lang="ko-KR" altLang="en-US" sz="7430" dirty="0">
                <a:solidFill>
                  <a:srgbClr val="B50937">
                    <a:alpha val="60000"/>
                  </a:srgbClr>
                </a:solidFill>
                <a:cs typeface="Arial" panose="020B0604020202020204" pitchFamily="34" charset="0"/>
              </a:endParaRPr>
            </a:p>
          </p:txBody>
        </p:sp>
        <p:sp>
          <p:nvSpPr>
            <p:cNvPr id="34" name="TextBox 33"/>
            <p:cNvSpPr txBox="1"/>
            <p:nvPr/>
          </p:nvSpPr>
          <p:spPr>
            <a:xfrm>
              <a:off x="8079727" y="2711269"/>
              <a:ext cx="2771592" cy="338554"/>
            </a:xfrm>
            <a:prstGeom prst="rect">
              <a:avLst/>
            </a:prstGeom>
            <a:noFill/>
          </p:spPr>
          <p:txBody>
            <a:bodyPr wrap="square" rtlCol="0">
              <a:spAutoFit/>
            </a:bodyPr>
            <a:lstStyle/>
            <a:p>
              <a:r>
                <a:rPr lang="en-US" altLang="ko-KR" sz="1486" b="1">
                  <a:solidFill>
                    <a:srgbClr val="B50937"/>
                  </a:solidFill>
                </a:rPr>
                <a:t>D</a:t>
              </a:r>
              <a:r>
                <a:rPr lang="en-US" altLang="ko-KR" sz="1486">
                  <a:solidFill>
                    <a:srgbClr val="B50937"/>
                  </a:solidFill>
                </a:rPr>
                <a:t>eveloped</a:t>
              </a:r>
            </a:p>
          </p:txBody>
        </p:sp>
      </p:grpSp>
      <p:sp>
        <p:nvSpPr>
          <p:cNvPr id="35" name="TextBox 34"/>
          <p:cNvSpPr txBox="1"/>
          <p:nvPr/>
        </p:nvSpPr>
        <p:spPr>
          <a:xfrm>
            <a:off x="4423990" y="4931901"/>
            <a:ext cx="3173697" cy="771824"/>
          </a:xfrm>
          <a:prstGeom prst="rect">
            <a:avLst/>
          </a:prstGeom>
          <a:noFill/>
        </p:spPr>
        <p:txBody>
          <a:bodyPr wrap="square" rtlCol="0" anchor="ctr">
            <a:spAutoFit/>
          </a:bodyPr>
          <a:lstStyle/>
          <a:p>
            <a:pPr marL="285750" indent="-285750">
              <a:lnSpc>
                <a:spcPct val="150000"/>
              </a:lnSpc>
              <a:buFont typeface="Arial" panose="020B0604020202020204" pitchFamily="34" charset="0"/>
              <a:buChar char="•"/>
            </a:pPr>
            <a:r>
              <a:rPr lang="en-US" altLang="ko-KR" sz="1486">
                <a:latin typeface="Arial" panose="020B0604020202020204" pitchFamily="34" charset="0"/>
                <a:cs typeface="Arial" panose="020B0604020202020204" pitchFamily="34" charset="0"/>
              </a:rPr>
              <a:t>Balanced Muscle &amp; Fat</a:t>
            </a:r>
            <a:endParaRPr lang="en-US" altLang="ko-KR" sz="1486"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ko-KR" sz="1486" dirty="0">
                <a:latin typeface="Arial" panose="020B0604020202020204" pitchFamily="34" charset="0"/>
                <a:cs typeface="Arial" panose="020B0604020202020204" pitchFamily="34" charset="0"/>
              </a:rPr>
              <a:t>Normal and Healthy</a:t>
            </a:r>
            <a:endParaRPr lang="ko-KR" altLang="en-US" sz="1486" dirty="0">
              <a:latin typeface="Arial" panose="020B0604020202020204" pitchFamily="34" charset="0"/>
              <a:cs typeface="Arial" panose="020B0604020202020204" pitchFamily="34" charset="0"/>
            </a:endParaRPr>
          </a:p>
        </p:txBody>
      </p:sp>
      <p:sp>
        <p:nvSpPr>
          <p:cNvPr id="36" name="TextBox 35"/>
          <p:cNvSpPr txBox="1"/>
          <p:nvPr/>
        </p:nvSpPr>
        <p:spPr>
          <a:xfrm>
            <a:off x="599003" y="4931901"/>
            <a:ext cx="3507352" cy="771824"/>
          </a:xfrm>
          <a:prstGeom prst="rect">
            <a:avLst/>
          </a:prstGeom>
          <a:noFill/>
        </p:spPr>
        <p:txBody>
          <a:bodyPr wrap="square" rtlCol="0" anchor="ctr">
            <a:spAutoFit/>
          </a:bodyPr>
          <a:lstStyle/>
          <a:p>
            <a:pPr marL="285750" indent="-285750">
              <a:lnSpc>
                <a:spcPct val="150000"/>
              </a:lnSpc>
              <a:buFont typeface="Arial" panose="020B0604020202020204" pitchFamily="34" charset="0"/>
              <a:buChar char="•"/>
            </a:pPr>
            <a:r>
              <a:rPr lang="en-US" altLang="ko-KR" sz="1486">
                <a:latin typeface="Arial" panose="020B0604020202020204" pitchFamily="34" charset="0"/>
                <a:cs typeface="Arial" panose="020B0604020202020204" pitchFamily="34" charset="0"/>
              </a:rPr>
              <a:t>Muscle &lt; Fat</a:t>
            </a:r>
            <a:endParaRPr lang="en-US" altLang="ko-KR" sz="1486"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ko-KR" sz="1486">
                <a:latin typeface="Arial" panose="020B0604020202020204" pitchFamily="34" charset="0"/>
                <a:cs typeface="Arial" panose="020B0604020202020204" pitchFamily="34" charset="0"/>
              </a:rPr>
              <a:t>Sarcopenia, Skinny </a:t>
            </a:r>
            <a:r>
              <a:rPr lang="en-US" altLang="ko-KR" sz="1486" dirty="0">
                <a:latin typeface="Arial" panose="020B0604020202020204" pitchFamily="34" charset="0"/>
                <a:cs typeface="Arial" panose="020B0604020202020204" pitchFamily="34" charset="0"/>
              </a:rPr>
              <a:t>obese body</a:t>
            </a:r>
            <a:endParaRPr lang="ko-KR" altLang="en-US" sz="1486" dirty="0">
              <a:latin typeface="Arial" panose="020B0604020202020204" pitchFamily="34" charset="0"/>
              <a:cs typeface="Arial" panose="020B0604020202020204" pitchFamily="34" charset="0"/>
            </a:endParaRPr>
          </a:p>
        </p:txBody>
      </p:sp>
      <p:sp>
        <p:nvSpPr>
          <p:cNvPr id="37" name="TextBox 36"/>
          <p:cNvSpPr txBox="1"/>
          <p:nvPr/>
        </p:nvSpPr>
        <p:spPr>
          <a:xfrm>
            <a:off x="7915324" y="4931901"/>
            <a:ext cx="4483069" cy="771824"/>
          </a:xfrm>
          <a:prstGeom prst="rect">
            <a:avLst/>
          </a:prstGeom>
          <a:noFill/>
        </p:spPr>
        <p:txBody>
          <a:bodyPr wrap="square" rtlCol="0" anchor="ctr">
            <a:spAutoFit/>
          </a:bodyPr>
          <a:lstStyle/>
          <a:p>
            <a:pPr marL="285750" indent="-285750">
              <a:lnSpc>
                <a:spcPct val="150000"/>
              </a:lnSpc>
              <a:buFont typeface="Arial" panose="020B0604020202020204" pitchFamily="34" charset="0"/>
              <a:buChar char="•"/>
            </a:pPr>
            <a:r>
              <a:rPr lang="en-US" altLang="ko-KR" sz="1486">
                <a:latin typeface="Arial" panose="020B0604020202020204" pitchFamily="34" charset="0"/>
                <a:cs typeface="Arial" panose="020B0604020202020204" pitchFamily="34" charset="0"/>
              </a:rPr>
              <a:t>Muscle &gt; Fat </a:t>
            </a:r>
            <a:endParaRPr lang="en-US" altLang="ko-KR" sz="1486"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ko-KR" sz="1486">
                <a:latin typeface="Arial" panose="020B0604020202020204" pitchFamily="34" charset="0"/>
                <a:cs typeface="Arial" panose="020B0604020202020204" pitchFamily="34" charset="0"/>
              </a:rPr>
              <a:t>Muscular, athletic people</a:t>
            </a:r>
            <a:endParaRPr lang="ko-KR" altLang="en-US" sz="1486" dirty="0">
              <a:latin typeface="Arial" panose="020B0604020202020204" pitchFamily="34" charset="0"/>
              <a:cs typeface="Arial" panose="020B0604020202020204" pitchFamily="34" charset="0"/>
            </a:endParaRPr>
          </a:p>
        </p:txBody>
      </p:sp>
      <p:grpSp>
        <p:nvGrpSpPr>
          <p:cNvPr id="12" name="그룹 11"/>
          <p:cNvGrpSpPr/>
          <p:nvPr/>
        </p:nvGrpSpPr>
        <p:grpSpPr>
          <a:xfrm>
            <a:off x="457200" y="3169212"/>
            <a:ext cx="3725508" cy="1588668"/>
            <a:chOff x="4031852" y="2711269"/>
            <a:chExt cx="4011125" cy="1710464"/>
          </a:xfrm>
        </p:grpSpPr>
        <p:pic>
          <p:nvPicPr>
            <p:cNvPr id="38" name="Picture 2"/>
            <p:cNvPicPr>
              <a:picLocks noChangeAspect="1" noChangeArrowheads="1"/>
            </p:cNvPicPr>
            <p:nvPr/>
          </p:nvPicPr>
          <p:blipFill rotWithShape="1">
            <a:blip r:embed="rId6" cstate="print"/>
            <a:srcRect r="1199"/>
            <a:stretch/>
          </p:blipFill>
          <p:spPr bwMode="auto">
            <a:xfrm>
              <a:off x="4092330" y="3071059"/>
              <a:ext cx="3950647" cy="1149069"/>
            </a:xfrm>
            <a:prstGeom prst="rect">
              <a:avLst/>
            </a:prstGeom>
            <a:noFill/>
            <a:ln w="9525">
              <a:noFill/>
              <a:miter lim="800000"/>
              <a:headEnd/>
              <a:tailEnd/>
            </a:ln>
          </p:spPr>
        </p:pic>
        <p:sp>
          <p:nvSpPr>
            <p:cNvPr id="29" name="TextBox 28"/>
            <p:cNvSpPr txBox="1"/>
            <p:nvPr/>
          </p:nvSpPr>
          <p:spPr>
            <a:xfrm>
              <a:off x="5653949" y="3098294"/>
              <a:ext cx="318175" cy="1323439"/>
            </a:xfrm>
            <a:prstGeom prst="rect">
              <a:avLst/>
            </a:prstGeom>
            <a:noFill/>
            <a:ln>
              <a:noFill/>
            </a:ln>
          </p:spPr>
          <p:txBody>
            <a:bodyPr wrap="square" rtlCol="0" anchor="b">
              <a:spAutoFit/>
            </a:bodyPr>
            <a:lstStyle/>
            <a:p>
              <a:pPr algn="ctr"/>
              <a:r>
                <a:rPr lang="en-US" altLang="ko-KR" sz="7430">
                  <a:solidFill>
                    <a:srgbClr val="B50937">
                      <a:alpha val="60000"/>
                    </a:srgbClr>
                  </a:solidFill>
                  <a:ea typeface="Adobe Heiti Std R" panose="020B0400000000000000" pitchFamily="34" charset="-128"/>
                  <a:cs typeface="Arial" panose="020B0604020202020204" pitchFamily="34" charset="0"/>
                </a:rPr>
                <a:t>C</a:t>
              </a:r>
              <a:endParaRPr lang="ko-KR" altLang="en-US" sz="7430" dirty="0">
                <a:solidFill>
                  <a:srgbClr val="B50937">
                    <a:alpha val="60000"/>
                  </a:srgbClr>
                </a:solidFill>
                <a:cs typeface="Arial" panose="020B0604020202020204" pitchFamily="34" charset="0"/>
              </a:endParaRPr>
            </a:p>
          </p:txBody>
        </p:sp>
        <p:sp>
          <p:nvSpPr>
            <p:cNvPr id="33" name="TextBox 32"/>
            <p:cNvSpPr txBox="1"/>
            <p:nvPr/>
          </p:nvSpPr>
          <p:spPr>
            <a:xfrm>
              <a:off x="4031852" y="2711269"/>
              <a:ext cx="2771592" cy="338554"/>
            </a:xfrm>
            <a:prstGeom prst="rect">
              <a:avLst/>
            </a:prstGeom>
            <a:noFill/>
          </p:spPr>
          <p:txBody>
            <a:bodyPr wrap="square" rtlCol="0">
              <a:spAutoFit/>
            </a:bodyPr>
            <a:lstStyle/>
            <a:p>
              <a:r>
                <a:rPr lang="en-US" altLang="ko-KR" sz="1486" b="1">
                  <a:solidFill>
                    <a:srgbClr val="B50937"/>
                  </a:solidFill>
                </a:rPr>
                <a:t>C</a:t>
              </a:r>
              <a:r>
                <a:rPr lang="en-US" altLang="ko-KR" sz="1486">
                  <a:solidFill>
                    <a:srgbClr val="B50937"/>
                  </a:solidFill>
                </a:rPr>
                <a:t>autious</a:t>
              </a:r>
            </a:p>
          </p:txBody>
        </p:sp>
      </p:grpSp>
      <p:sp>
        <p:nvSpPr>
          <p:cNvPr id="46" name="TextBox 45"/>
          <p:cNvSpPr txBox="1"/>
          <p:nvPr/>
        </p:nvSpPr>
        <p:spPr>
          <a:xfrm>
            <a:off x="4224588" y="1447794"/>
            <a:ext cx="4825435" cy="686066"/>
          </a:xfrm>
          <a:prstGeom prst="rect">
            <a:avLst/>
          </a:prstGeom>
        </p:spPr>
        <p:txBody>
          <a:bodyPr wrap="square" rtlCol="0">
            <a:spAutoFit/>
          </a:bodyPr>
          <a:lstStyle/>
          <a:p>
            <a:pPr marL="285750" indent="-285750">
              <a:buFont typeface="Arial" panose="020B0604020202020204" pitchFamily="34" charset="0"/>
              <a:buChar char="•"/>
            </a:pPr>
            <a:r>
              <a:rPr lang="en-US" altLang="ko-KR" sz="1300">
                <a:solidFill>
                  <a:schemeClr val="bg2">
                    <a:lumMod val="25000"/>
                  </a:schemeClr>
                </a:solidFill>
              </a:rPr>
              <a:t>Check body balance with </a:t>
            </a:r>
            <a:r>
              <a:rPr lang="en-US" altLang="ko-KR" sz="1300">
                <a:solidFill>
                  <a:srgbClr val="B50937"/>
                </a:solidFill>
              </a:rPr>
              <a:t>C D I</a:t>
            </a:r>
          </a:p>
          <a:p>
            <a:pPr marL="285750" indent="-285750">
              <a:buFont typeface="Arial" panose="020B0604020202020204" pitchFamily="34" charset="0"/>
              <a:buChar char="•"/>
            </a:pPr>
            <a:r>
              <a:rPr lang="en-US" altLang="ko-KR" sz="1300">
                <a:solidFill>
                  <a:srgbClr val="B50937"/>
                </a:solidFill>
              </a:rPr>
              <a:t>Muscle </a:t>
            </a:r>
            <a:r>
              <a:rPr lang="en-US" altLang="ko-KR" sz="1300">
                <a:solidFill>
                  <a:schemeClr val="bg2">
                    <a:lumMod val="25000"/>
                  </a:schemeClr>
                </a:solidFill>
              </a:rPr>
              <a:t>should be at least </a:t>
            </a:r>
            <a:r>
              <a:rPr lang="en-US" altLang="ko-KR" sz="1300">
                <a:solidFill>
                  <a:srgbClr val="B50937"/>
                </a:solidFill>
              </a:rPr>
              <a:t>90%</a:t>
            </a:r>
            <a:r>
              <a:rPr lang="en-US" altLang="ko-KR" sz="1300">
                <a:solidFill>
                  <a:schemeClr val="bg2">
                    <a:lumMod val="25000"/>
                  </a:schemeClr>
                </a:solidFill>
              </a:rPr>
              <a:t>, Fat should be within the normal range</a:t>
            </a:r>
          </a:p>
          <a:p>
            <a:pPr marL="285750" indent="-285750">
              <a:buFont typeface="Arial" panose="020B0604020202020204" pitchFamily="34" charset="0"/>
              <a:buChar char="•"/>
            </a:pPr>
            <a:r>
              <a:rPr lang="en-US" altLang="ko-KR" sz="1300">
                <a:solidFill>
                  <a:srgbClr val="B50937"/>
                </a:solidFill>
              </a:rPr>
              <a:t>Muscle </a:t>
            </a:r>
            <a:r>
              <a:rPr lang="en-US" altLang="ko-KR" sz="1300">
                <a:solidFill>
                  <a:srgbClr val="B50937"/>
                </a:solidFill>
                <a:sym typeface="Wingdings" panose="05000000000000000000" pitchFamily="2" charset="2"/>
              </a:rPr>
              <a:t> = Target weight , InBody Score  </a:t>
            </a:r>
            <a:endParaRPr lang="en-US" altLang="ko-KR" sz="1300">
              <a:solidFill>
                <a:srgbClr val="B50937"/>
              </a:solidFill>
            </a:endParaRPr>
          </a:p>
        </p:txBody>
      </p:sp>
      <p:sp>
        <p:nvSpPr>
          <p:cNvPr id="47" name="Rectangle 46"/>
          <p:cNvSpPr/>
          <p:nvPr/>
        </p:nvSpPr>
        <p:spPr>
          <a:xfrm>
            <a:off x="457200" y="320040"/>
            <a:ext cx="56235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20040"/>
            <a:ext cx="5623559" cy="566928"/>
          </a:xfrm>
          <a:prstGeom prst="rect">
            <a:avLst/>
          </a:prstGeom>
          <a:noFill/>
        </p:spPr>
        <p:txBody>
          <a:bodyPr wrap="square" lIns="0" rIns="0" tIns="0" bIns="0" anchor="ctr">
            <a:spAutoFit/>
          </a:bodyPr>
          <a:lstStyle/>
          <a:p>
            <a:pPr algn="ctr"/>
            <a:r>
              <a:rPr sz="1900" b="1" i="0">
                <a:solidFill>
                  <a:srgbClr val="FFFFFF"/>
                </a:solidFill>
                <a:latin typeface="Calibri"/>
              </a:rPr>
              <a:t>Check Body Type – Muscle-Fat Analysis</a:t>
            </a:r>
          </a:p>
        </p:txBody>
      </p:sp>
      <p:sp>
        <p:nvSpPr>
          <p:cNvPr id="49" name="TextBox 48"/>
          <p:cNvSpPr txBox="1"/>
          <p:nvPr/>
        </p:nvSpPr>
        <p:spPr>
          <a:xfrm>
            <a:off x="6309359" y="320040"/>
            <a:ext cx="3596335" cy="566928"/>
          </a:xfrm>
          <a:prstGeom prst="rect">
            <a:avLst/>
          </a:prstGeom>
          <a:noFill/>
        </p:spPr>
        <p:txBody>
          <a:bodyPr wrap="square" lIns="0" rIns="0" tIns="0" bIns="0" anchor="ctr">
            <a:spAutoFit/>
          </a:bodyPr>
          <a:lstStyle/>
          <a:p>
            <a:pPr algn="l"/>
            <a:r>
              <a:rPr sz="900" b="1" i="0">
                <a:solidFill>
                  <a:srgbClr val="B50937"/>
                </a:solidFill>
                <a:latin typeface="Calibri"/>
              </a:rPr>
              <a:t>SESSION 7</a:t>
            </a:r>
          </a:p>
          <a:p>
            <a:pPr algn="l"/>
            <a:r>
              <a:rPr sz="900" b="0" i="0">
                <a:solidFill>
                  <a:srgbClr val="5E6470"/>
                </a:solidFill>
                <a:latin typeface="Calibri"/>
              </a:rPr>
              <a:t>Dietetics &amp; BCA-Guided Nutrition Practice</a:t>
            </a:r>
          </a:p>
        </p:txBody>
      </p:sp>
      <p:pic>
        <p:nvPicPr>
          <p:cNvPr id="50" name="Picture 49" descr="logo_red.png"/>
          <p:cNvPicPr>
            <a:picLocks noChangeAspect="1"/>
          </p:cNvPicPr>
          <p:nvPr/>
        </p:nvPicPr>
        <p:blipFill>
          <a:blip r:embed="rId11"/>
          <a:stretch>
            <a:fillRect/>
          </a:stretch>
        </p:blipFill>
        <p:spPr>
          <a:xfrm>
            <a:off x="10436918" y="420624"/>
            <a:ext cx="1297577" cy="365760"/>
          </a:xfrm>
          <a:prstGeom prst="rect">
            <a:avLst/>
          </a:prstGeom>
        </p:spPr>
      </p:pic>
      <p:sp>
        <p:nvSpPr>
          <p:cNvPr id="51" name="TextBox 50"/>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52" name="TextBox 51"/>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101</a:t>
            </a:r>
          </a:p>
        </p:txBody>
      </p:sp>
    </p:spTree>
    <p:extLst>
      <p:ext uri="{BB962C8B-B14F-4D97-AF65-F5344CB8AC3E}">
        <p14:creationId xmlns:p14="http://schemas.microsoft.com/office/powerpoint/2010/main" val="2731730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8.33333E-7 -3.7037E-6 L -8.33333E-7 -0.26389 " pathEditMode="relative" rAng="0" ptsTypes="AA">
                                      <p:cBhvr>
                                        <p:cTn id="6" dur="2000" fill="hold"/>
                                        <p:tgtEl>
                                          <p:spTgt spid="18"/>
                                        </p:tgtEl>
                                        <p:attrNameLst>
                                          <p:attrName>ppt_x</p:attrName>
                                          <p:attrName>ppt_y</p:attrName>
                                        </p:attrNameLst>
                                      </p:cBhvr>
                                      <p:rCtr x="0" y="-13194"/>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500"/>
                                        <p:tgtEl>
                                          <p:spTgt spid="4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5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500"/>
                                        <p:tgtEl>
                                          <p:spTgt spid="3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46" grpId="0"/>
    </p:bldLst>
  </p:timing>
</p:sld>
</file>

<file path=ppt/slides/slide10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C-Shape Body Type</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7</a:t>
            </a:r>
          </a:p>
          <a:p>
            <a:pPr algn="l"/>
            <a:r>
              <a:rPr sz="900" b="0" i="0">
                <a:solidFill>
                  <a:srgbClr val="5E6470"/>
                </a:solidFill>
                <a:latin typeface="Calibri"/>
              </a:rPr>
              <a:t>Dietetics &amp; BCA-Guided Nutrition Practice</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102</a:t>
            </a:r>
          </a:p>
        </p:txBody>
      </p:sp>
      <p:sp>
        <p:nvSpPr>
          <p:cNvPr id="8" name="Rectangle 7"/>
          <p:cNvSpPr/>
          <p:nvPr/>
        </p:nvSpPr>
        <p:spPr>
          <a:xfrm>
            <a:off x="457200" y="114300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 y="128016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80160"/>
            <a:ext cx="457200" cy="457200"/>
          </a:xfrm>
          <a:prstGeom prst="rect">
            <a:avLst/>
          </a:prstGeom>
          <a:noFill/>
        </p:spPr>
        <p:txBody>
          <a:bodyPr wrap="square" lIns="0" rIns="0" tIns="0" bIns="0" anchor="ctr">
            <a:spAutoFit/>
          </a:bodyPr>
          <a:lstStyle/>
          <a:p>
            <a:pPr algn="ctr"/>
            <a:r>
              <a:rPr sz="1600" b="1" i="0">
                <a:solidFill>
                  <a:srgbClr val="FFFFFF"/>
                </a:solidFill>
                <a:latin typeface="Calibri"/>
              </a:rPr>
              <a:t>1</a:t>
            </a:r>
          </a:p>
        </p:txBody>
      </p:sp>
      <p:pic>
        <p:nvPicPr>
          <p:cNvPr id="11" name="Picture 10" descr="bt_C1.png"/>
          <p:cNvPicPr>
            <a:picLocks noChangeAspect="1"/>
          </p:cNvPicPr>
          <p:nvPr/>
        </p:nvPicPr>
        <p:blipFill>
          <a:blip r:embed="rId5"/>
          <a:stretch>
            <a:fillRect/>
          </a:stretch>
        </p:blipFill>
        <p:spPr>
          <a:xfrm>
            <a:off x="1234440" y="1280160"/>
            <a:ext cx="2613567" cy="1371600"/>
          </a:xfrm>
          <a:prstGeom prst="rect">
            <a:avLst/>
          </a:prstGeom>
        </p:spPr>
      </p:pic>
      <p:sp>
        <p:nvSpPr>
          <p:cNvPr id="12" name="TextBox 11"/>
          <p:cNvSpPr txBox="1"/>
          <p:nvPr/>
        </p:nvSpPr>
        <p:spPr>
          <a:xfrm>
            <a:off x="4168047" y="1325880"/>
            <a:ext cx="4015832" cy="1280160"/>
          </a:xfrm>
          <a:prstGeom prst="rect">
            <a:avLst/>
          </a:prstGeom>
          <a:noFill/>
        </p:spPr>
        <p:txBody>
          <a:bodyPr wrap="square" lIns="0" rIns="0" tIns="0" bIns="0" anchor="t">
            <a:spAutoFit/>
          </a:bodyPr>
          <a:lstStyle/>
          <a:p>
            <a:pPr algn="l"/>
            <a:r>
              <a:rPr sz="1400" b="1" i="0">
                <a:solidFill>
                  <a:srgbClr val="B50937"/>
                </a:solidFill>
                <a:latin typeface="Calibri"/>
              </a:rPr>
              <a:t>Standard weight and weak</a:t>
            </a:r>
          </a:p>
          <a:p>
            <a:pPr algn="l"/>
            <a:r>
              <a:rPr sz="1150" b="0" i="0">
                <a:solidFill>
                  <a:srgbClr val="181D27"/>
                </a:solidFill>
                <a:latin typeface="Calibri"/>
              </a:rPr>
              <a:t>Lack of exercise or protein intake, injury or illness can lead to edema, loss of muscle tissue, changes to the nervous system, secondary infections or growth inhibition.</a:t>
            </a:r>
          </a:p>
        </p:txBody>
      </p:sp>
      <p:sp>
        <p:nvSpPr>
          <p:cNvPr id="13" name="Rectangle 12"/>
          <p:cNvSpPr/>
          <p:nvPr/>
        </p:nvSpPr>
        <p:spPr>
          <a:xfrm>
            <a:off x="8366760" y="128016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1280160"/>
            <a:ext cx="2819095" cy="1371600"/>
          </a:xfrm>
          <a:prstGeom prst="rect">
            <a:avLst/>
          </a:prstGeom>
          <a:noFill/>
        </p:spPr>
        <p:txBody>
          <a:bodyPr wrap="square" lIns="0" rIns="0" tIns="0" bIns="0" anchor="ctr">
            <a:spAutoFit/>
          </a:bodyPr>
          <a:lstStyle/>
          <a:p>
            <a:pPr algn="l"/>
            <a:r>
              <a:rPr sz="1100" b="0" i="0">
                <a:solidFill>
                  <a:srgbClr val="181D27"/>
                </a:solidFill>
                <a:latin typeface="Calibri"/>
              </a:rPr>
              <a:t>Should follow a proper exercise and diet regime. Mostly seen in the female population; nutrition plays a major role.</a:t>
            </a:r>
          </a:p>
        </p:txBody>
      </p:sp>
      <p:sp>
        <p:nvSpPr>
          <p:cNvPr id="15" name="Rectangle 14"/>
          <p:cNvSpPr/>
          <p:nvPr/>
        </p:nvSpPr>
        <p:spPr>
          <a:xfrm>
            <a:off x="457200" y="288036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 y="301752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017520"/>
            <a:ext cx="457200" cy="457200"/>
          </a:xfrm>
          <a:prstGeom prst="rect">
            <a:avLst/>
          </a:prstGeom>
          <a:noFill/>
        </p:spPr>
        <p:txBody>
          <a:bodyPr wrap="square" lIns="0" rIns="0" tIns="0" bIns="0" anchor="ctr">
            <a:spAutoFit/>
          </a:bodyPr>
          <a:lstStyle/>
          <a:p>
            <a:pPr algn="ctr"/>
            <a:r>
              <a:rPr sz="1600" b="1" i="0">
                <a:solidFill>
                  <a:srgbClr val="FFFFFF"/>
                </a:solidFill>
                <a:latin typeface="Calibri"/>
              </a:rPr>
              <a:t>2</a:t>
            </a:r>
          </a:p>
        </p:txBody>
      </p:sp>
      <p:pic>
        <p:nvPicPr>
          <p:cNvPr id="18" name="Picture 17" descr="bt_C2.png"/>
          <p:cNvPicPr>
            <a:picLocks noChangeAspect="1"/>
          </p:cNvPicPr>
          <p:nvPr/>
        </p:nvPicPr>
        <p:blipFill>
          <a:blip r:embed="rId6"/>
          <a:stretch>
            <a:fillRect/>
          </a:stretch>
        </p:blipFill>
        <p:spPr>
          <a:xfrm>
            <a:off x="1234440" y="3017520"/>
            <a:ext cx="2915816" cy="1371600"/>
          </a:xfrm>
          <a:prstGeom prst="rect">
            <a:avLst/>
          </a:prstGeom>
        </p:spPr>
      </p:pic>
      <p:sp>
        <p:nvSpPr>
          <p:cNvPr id="19" name="TextBox 18"/>
          <p:cNvSpPr txBox="1"/>
          <p:nvPr/>
        </p:nvSpPr>
        <p:spPr>
          <a:xfrm>
            <a:off x="4470296" y="3063240"/>
            <a:ext cx="3713583" cy="1280160"/>
          </a:xfrm>
          <a:prstGeom prst="rect">
            <a:avLst/>
          </a:prstGeom>
          <a:noFill/>
        </p:spPr>
        <p:txBody>
          <a:bodyPr wrap="square" lIns="0" rIns="0" tIns="0" bIns="0" anchor="t">
            <a:spAutoFit/>
          </a:bodyPr>
          <a:lstStyle/>
          <a:p>
            <a:pPr algn="l"/>
            <a:r>
              <a:rPr sz="1400" b="1" i="0">
                <a:solidFill>
                  <a:srgbClr val="B50937"/>
                </a:solidFill>
                <a:latin typeface="Calibri"/>
              </a:rPr>
              <a:t>Standard weight and obese</a:t>
            </a:r>
          </a:p>
          <a:p>
            <a:pPr algn="l"/>
            <a:r>
              <a:rPr sz="1150" b="0" i="0">
                <a:solidFill>
                  <a:srgbClr val="181D27"/>
                </a:solidFill>
                <a:latin typeface="Calibri"/>
              </a:rPr>
              <a:t>Body fat mass is greater than skeletal muscle mass, with abdominal obesity at both standard and higher weights. Risk of adult diseases; proper management and treatment are required.</a:t>
            </a:r>
          </a:p>
        </p:txBody>
      </p:sp>
      <p:sp>
        <p:nvSpPr>
          <p:cNvPr id="20" name="Rectangle 19"/>
          <p:cNvSpPr/>
          <p:nvPr/>
        </p:nvSpPr>
        <p:spPr>
          <a:xfrm>
            <a:off x="8366760" y="301752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640" y="3017520"/>
            <a:ext cx="2819095" cy="1371600"/>
          </a:xfrm>
          <a:prstGeom prst="rect">
            <a:avLst/>
          </a:prstGeom>
          <a:noFill/>
        </p:spPr>
        <p:txBody>
          <a:bodyPr wrap="square" lIns="0" rIns="0" tIns="0" bIns="0" anchor="ctr">
            <a:spAutoFit/>
          </a:bodyPr>
          <a:lstStyle/>
          <a:p>
            <a:pPr algn="l"/>
            <a:r>
              <a:rPr sz="1100" b="0" i="0">
                <a:solidFill>
                  <a:srgbClr val="181D27"/>
                </a:solidFill>
                <a:latin typeface="Calibri"/>
              </a:rPr>
              <a:t>The most common type in India: normal weight, but obese because of excess body fat mass.</a:t>
            </a:r>
          </a:p>
        </p:txBody>
      </p:sp>
      <p:sp>
        <p:nvSpPr>
          <p:cNvPr id="22" name="Rectangle 21"/>
          <p:cNvSpPr/>
          <p:nvPr/>
        </p:nvSpPr>
        <p:spPr>
          <a:xfrm>
            <a:off x="457200" y="461772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75488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754880"/>
            <a:ext cx="457200" cy="457200"/>
          </a:xfrm>
          <a:prstGeom prst="rect">
            <a:avLst/>
          </a:prstGeom>
          <a:noFill/>
        </p:spPr>
        <p:txBody>
          <a:bodyPr wrap="square" lIns="0" rIns="0" tIns="0" bIns="0" anchor="ctr">
            <a:spAutoFit/>
          </a:bodyPr>
          <a:lstStyle/>
          <a:p>
            <a:pPr algn="ctr"/>
            <a:r>
              <a:rPr sz="1600" b="1" i="0">
                <a:solidFill>
                  <a:srgbClr val="FFFFFF"/>
                </a:solidFill>
                <a:latin typeface="Calibri"/>
              </a:rPr>
              <a:t>3</a:t>
            </a:r>
          </a:p>
        </p:txBody>
      </p:sp>
      <p:pic>
        <p:nvPicPr>
          <p:cNvPr id="25" name="Picture 24" descr="bt_C3.png"/>
          <p:cNvPicPr>
            <a:picLocks noChangeAspect="1"/>
          </p:cNvPicPr>
          <p:nvPr/>
        </p:nvPicPr>
        <p:blipFill>
          <a:blip r:embed="rId7"/>
          <a:stretch>
            <a:fillRect/>
          </a:stretch>
        </p:blipFill>
        <p:spPr>
          <a:xfrm>
            <a:off x="1234440" y="4754880"/>
            <a:ext cx="2704258" cy="1371600"/>
          </a:xfrm>
          <a:prstGeom prst="rect">
            <a:avLst/>
          </a:prstGeom>
        </p:spPr>
      </p:pic>
      <p:sp>
        <p:nvSpPr>
          <p:cNvPr id="26" name="TextBox 25"/>
          <p:cNvSpPr txBox="1"/>
          <p:nvPr/>
        </p:nvSpPr>
        <p:spPr>
          <a:xfrm>
            <a:off x="4258738" y="4800600"/>
            <a:ext cx="3925141" cy="1280160"/>
          </a:xfrm>
          <a:prstGeom prst="rect">
            <a:avLst/>
          </a:prstGeom>
          <a:noFill/>
        </p:spPr>
        <p:txBody>
          <a:bodyPr wrap="square" lIns="0" rIns="0" tIns="0" bIns="0" anchor="t">
            <a:spAutoFit/>
          </a:bodyPr>
          <a:lstStyle/>
          <a:p>
            <a:pPr algn="l"/>
            <a:r>
              <a:rPr sz="1400" b="1" i="0">
                <a:solidFill>
                  <a:srgbClr val="B50937"/>
                </a:solidFill>
                <a:latin typeface="Calibri"/>
              </a:rPr>
              <a:t>Overweight and weak</a:t>
            </a:r>
          </a:p>
          <a:p>
            <a:pPr algn="l"/>
            <a:r>
              <a:rPr sz="1150" b="0" i="0">
                <a:solidFill>
                  <a:srgbClr val="181D27"/>
                </a:solidFill>
                <a:latin typeface="Calibri"/>
              </a:rPr>
              <a:t>Skeletal muscle is low compared with the excess body fat, which raises health risks. Reducing body fat is essential.</a:t>
            </a:r>
          </a:p>
        </p:txBody>
      </p:sp>
      <p:sp>
        <p:nvSpPr>
          <p:cNvPr id="27" name="Rectangle 26"/>
          <p:cNvSpPr/>
          <p:nvPr/>
        </p:nvSpPr>
        <p:spPr>
          <a:xfrm>
            <a:off x="8366760" y="475488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49640" y="4754880"/>
            <a:ext cx="2819095" cy="1371600"/>
          </a:xfrm>
          <a:prstGeom prst="rect">
            <a:avLst/>
          </a:prstGeom>
          <a:noFill/>
        </p:spPr>
        <p:txBody>
          <a:bodyPr wrap="square" lIns="0" rIns="0" tIns="0" bIns="0" anchor="ctr">
            <a:spAutoFit/>
          </a:bodyPr>
          <a:lstStyle/>
          <a:p>
            <a:pPr algn="l"/>
            <a:r>
              <a:rPr sz="1100" b="0" i="0">
                <a:solidFill>
                  <a:srgbClr val="181D27"/>
                </a:solidFill>
                <a:latin typeface="Calibri"/>
              </a:rPr>
              <a:t>Usually linked to a sedentary lifestyle. Weight management is a constant challenge, so a proper diet is required.</a:t>
            </a:r>
          </a:p>
        </p:txBody>
      </p:sp>
    </p:spTree>
    <p:extLst>
      <p:ext uri="{BB962C8B-B14F-4D97-AF65-F5344CB8AC3E}">
        <p14:creationId xmlns:p14="http://schemas.microsoft.com/office/powerpoint/2010/main" val="354977165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4AFB4A-6574-4F72-922F-2791FDC3648E}"/>
              </a:ext>
            </a:extLst>
          </p:cNvPr>
          <p:cNvPicPr>
            <a:picLocks noChangeAspect="1"/>
          </p:cNvPicPr>
          <p:nvPr/>
        </p:nvPicPr>
        <p:blipFill>
          <a:blip r:embed="rId2"/>
          <a:stretch>
            <a:fillRect/>
          </a:stretch>
        </p:blipFill>
        <p:spPr>
          <a:xfrm>
            <a:off x="2102057" y="1169605"/>
            <a:ext cx="3618444" cy="5108801"/>
          </a:xfrm>
          <a:prstGeom prst="rect">
            <a:avLst/>
          </a:prstGeom>
        </p:spPr>
      </p:pic>
      <p:pic>
        <p:nvPicPr>
          <p:cNvPr id="3" name="Picture 2">
            <a:extLst>
              <a:ext uri="{FF2B5EF4-FFF2-40B4-BE49-F238E27FC236}">
                <a16:creationId xmlns:a16="http://schemas.microsoft.com/office/drawing/2014/main" id="{10564D3B-B63E-424B-920B-81A6ED7C3B1A}"/>
              </a:ext>
            </a:extLst>
          </p:cNvPr>
          <p:cNvPicPr>
            <a:picLocks noChangeAspect="1"/>
          </p:cNvPicPr>
          <p:nvPr/>
        </p:nvPicPr>
        <p:blipFill>
          <a:blip r:embed="rId3"/>
          <a:stretch>
            <a:fillRect/>
          </a:stretch>
        </p:blipFill>
        <p:spPr>
          <a:xfrm>
            <a:off x="6250847" y="1097280"/>
            <a:ext cx="3838791" cy="5257800"/>
          </a:xfrm>
          <a:prstGeom prst="rect">
            <a:avLst/>
          </a:prstGeom>
        </p:spPr>
      </p:pic>
      <p:sp>
        <p:nvSpPr>
          <p:cNvPr id="4" name="Rectangle 3"/>
          <p:cNvSpPr/>
          <p:nvPr/>
        </p:nvSpPr>
        <p:spPr>
          <a:xfrm>
            <a:off x="457200" y="320040"/>
            <a:ext cx="46634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4663440" cy="566928"/>
          </a:xfrm>
          <a:prstGeom prst="rect">
            <a:avLst/>
          </a:prstGeom>
          <a:noFill/>
        </p:spPr>
        <p:txBody>
          <a:bodyPr wrap="square" lIns="0" rIns="0" tIns="0" bIns="0" anchor="ctr">
            <a:spAutoFit/>
          </a:bodyPr>
          <a:lstStyle/>
          <a:p>
            <a:pPr algn="ctr"/>
            <a:r>
              <a:rPr sz="2200" b="1" i="0">
                <a:solidFill>
                  <a:srgbClr val="FFFFFF"/>
                </a:solidFill>
                <a:latin typeface="Calibri"/>
              </a:rPr>
              <a:t>C-Type: Diet &amp; Lifestyle Guide</a:t>
            </a:r>
          </a:p>
        </p:txBody>
      </p:sp>
      <p:sp>
        <p:nvSpPr>
          <p:cNvPr id="6" name="TextBox 5"/>
          <p:cNvSpPr txBox="1"/>
          <p:nvPr/>
        </p:nvSpPr>
        <p:spPr>
          <a:xfrm>
            <a:off x="5349240" y="320040"/>
            <a:ext cx="4556455" cy="566928"/>
          </a:xfrm>
          <a:prstGeom prst="rect">
            <a:avLst/>
          </a:prstGeom>
          <a:noFill/>
        </p:spPr>
        <p:txBody>
          <a:bodyPr wrap="square" lIns="0" rIns="0" tIns="0" bIns="0" anchor="ctr">
            <a:spAutoFit/>
          </a:bodyPr>
          <a:lstStyle/>
          <a:p>
            <a:pPr algn="l"/>
            <a:r>
              <a:rPr sz="900" b="1" i="0">
                <a:solidFill>
                  <a:srgbClr val="B50937"/>
                </a:solidFill>
                <a:latin typeface="Calibri"/>
              </a:rPr>
              <a:t>SESSION 7</a:t>
            </a:r>
          </a:p>
          <a:p>
            <a:pPr algn="l"/>
            <a:r>
              <a:rPr sz="900" b="0" i="0">
                <a:solidFill>
                  <a:srgbClr val="5E6470"/>
                </a:solidFill>
                <a:latin typeface="Calibri"/>
              </a:rPr>
              <a:t>Dietetics &amp; BCA-Guided Nutrition Practice</a:t>
            </a:r>
          </a:p>
        </p:txBody>
      </p:sp>
      <p:pic>
        <p:nvPicPr>
          <p:cNvPr id="7" name="Picture 6" descr="logo_red.png"/>
          <p:cNvPicPr>
            <a:picLocks noChangeAspect="1"/>
          </p:cNvPicPr>
          <p:nvPr/>
        </p:nvPicPr>
        <p:blipFill>
          <a:blip r:embed="rId4"/>
          <a:stretch>
            <a:fillRect/>
          </a:stretch>
        </p:blipFill>
        <p:spPr>
          <a:xfrm>
            <a:off x="10436918" y="420624"/>
            <a:ext cx="1297577" cy="365760"/>
          </a:xfrm>
          <a:prstGeom prst="rect">
            <a:avLst/>
          </a:prstGeom>
        </p:spPr>
      </p:pic>
      <p:sp>
        <p:nvSpPr>
          <p:cNvPr id="8" name="TextBox 7"/>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9" name="TextBox 8"/>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103</a:t>
            </a:r>
          </a:p>
        </p:txBody>
      </p:sp>
    </p:spTree>
    <p:extLst>
      <p:ext uri="{BB962C8B-B14F-4D97-AF65-F5344CB8AC3E}">
        <p14:creationId xmlns:p14="http://schemas.microsoft.com/office/powerpoint/2010/main" val="31449290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I-Shape Body Type</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7</a:t>
            </a:r>
          </a:p>
          <a:p>
            <a:pPr algn="l"/>
            <a:r>
              <a:rPr sz="900" b="0" i="0">
                <a:solidFill>
                  <a:srgbClr val="5E6470"/>
                </a:solidFill>
                <a:latin typeface="Calibri"/>
              </a:rPr>
              <a:t>Dietetics &amp; BCA-Guided Nutrition Practice</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104</a:t>
            </a:r>
          </a:p>
        </p:txBody>
      </p:sp>
      <p:sp>
        <p:nvSpPr>
          <p:cNvPr id="8" name="Rectangle 7"/>
          <p:cNvSpPr/>
          <p:nvPr/>
        </p:nvSpPr>
        <p:spPr>
          <a:xfrm>
            <a:off x="457200" y="114300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 y="128016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80160"/>
            <a:ext cx="457200" cy="457200"/>
          </a:xfrm>
          <a:prstGeom prst="rect">
            <a:avLst/>
          </a:prstGeom>
          <a:noFill/>
        </p:spPr>
        <p:txBody>
          <a:bodyPr wrap="square" lIns="0" rIns="0" tIns="0" bIns="0" anchor="ctr">
            <a:spAutoFit/>
          </a:bodyPr>
          <a:lstStyle/>
          <a:p>
            <a:pPr algn="ctr"/>
            <a:r>
              <a:rPr sz="1600" b="1" i="0">
                <a:solidFill>
                  <a:srgbClr val="FFFFFF"/>
                </a:solidFill>
                <a:latin typeface="Calibri"/>
              </a:rPr>
              <a:t>1</a:t>
            </a:r>
          </a:p>
        </p:txBody>
      </p:sp>
      <p:pic>
        <p:nvPicPr>
          <p:cNvPr id="11" name="Picture 10" descr="bt_I1.png"/>
          <p:cNvPicPr>
            <a:picLocks noChangeAspect="1"/>
          </p:cNvPicPr>
          <p:nvPr/>
        </p:nvPicPr>
        <p:blipFill>
          <a:blip r:embed="rId5"/>
          <a:stretch>
            <a:fillRect/>
          </a:stretch>
        </p:blipFill>
        <p:spPr>
          <a:xfrm>
            <a:off x="1234440" y="1280160"/>
            <a:ext cx="2730095" cy="1371600"/>
          </a:xfrm>
          <a:prstGeom prst="rect">
            <a:avLst/>
          </a:prstGeom>
        </p:spPr>
      </p:pic>
      <p:sp>
        <p:nvSpPr>
          <p:cNvPr id="12" name="TextBox 11"/>
          <p:cNvSpPr txBox="1"/>
          <p:nvPr/>
        </p:nvSpPr>
        <p:spPr>
          <a:xfrm>
            <a:off x="4284575" y="1325880"/>
            <a:ext cx="3899304" cy="1280160"/>
          </a:xfrm>
          <a:prstGeom prst="rect">
            <a:avLst/>
          </a:prstGeom>
          <a:noFill/>
        </p:spPr>
        <p:txBody>
          <a:bodyPr wrap="square" lIns="0" rIns="0" tIns="0" bIns="0" anchor="t">
            <a:spAutoFit/>
          </a:bodyPr>
          <a:lstStyle/>
          <a:p>
            <a:pPr algn="l"/>
            <a:r>
              <a:rPr sz="1400" b="1" i="0">
                <a:solidFill>
                  <a:srgbClr val="B50937"/>
                </a:solidFill>
                <a:latin typeface="Calibri"/>
              </a:rPr>
              <a:t>Underweight and weak</a:t>
            </a:r>
          </a:p>
          <a:p>
            <a:pPr algn="l"/>
            <a:r>
              <a:rPr sz="1150" b="0" i="0">
                <a:solidFill>
                  <a:srgbClr val="181D27"/>
                </a:solidFill>
                <a:latin typeface="Calibri"/>
              </a:rPr>
              <a:t>Serious underweight can cause edema and hair loss, and long-term malnutrition or poor nutrient absorption. Often due to appetite loss from illness, metabolic disorders or drug use.</a:t>
            </a:r>
          </a:p>
        </p:txBody>
      </p:sp>
      <p:sp>
        <p:nvSpPr>
          <p:cNvPr id="13" name="Rectangle 12"/>
          <p:cNvSpPr/>
          <p:nvPr/>
        </p:nvSpPr>
        <p:spPr>
          <a:xfrm>
            <a:off x="8366760" y="128016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1280160"/>
            <a:ext cx="2819095" cy="1371600"/>
          </a:xfrm>
          <a:prstGeom prst="rect">
            <a:avLst/>
          </a:prstGeom>
          <a:noFill/>
        </p:spPr>
        <p:txBody>
          <a:bodyPr wrap="square" lIns="0" rIns="0" tIns="0" bIns="0" anchor="ctr">
            <a:spAutoFit/>
          </a:bodyPr>
          <a:lstStyle/>
          <a:p>
            <a:pPr algn="l"/>
            <a:r>
              <a:rPr sz="1100" b="0" i="0">
                <a:solidFill>
                  <a:srgbClr val="181D27"/>
                </a:solidFill>
                <a:latin typeface="Calibri"/>
              </a:rPr>
              <a:t>Should follow a proper exercise and diet regime. Mostly seen in lower socioeconomic groups.</a:t>
            </a:r>
          </a:p>
        </p:txBody>
      </p:sp>
      <p:sp>
        <p:nvSpPr>
          <p:cNvPr id="15" name="Rectangle 14"/>
          <p:cNvSpPr/>
          <p:nvPr/>
        </p:nvSpPr>
        <p:spPr>
          <a:xfrm>
            <a:off x="457200" y="288036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 y="301752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017520"/>
            <a:ext cx="457200" cy="457200"/>
          </a:xfrm>
          <a:prstGeom prst="rect">
            <a:avLst/>
          </a:prstGeom>
          <a:noFill/>
        </p:spPr>
        <p:txBody>
          <a:bodyPr wrap="square" lIns="0" rIns="0" tIns="0" bIns="0" anchor="ctr">
            <a:spAutoFit/>
          </a:bodyPr>
          <a:lstStyle/>
          <a:p>
            <a:pPr algn="ctr"/>
            <a:r>
              <a:rPr sz="1600" b="1" i="0">
                <a:solidFill>
                  <a:srgbClr val="FFFFFF"/>
                </a:solidFill>
                <a:latin typeface="Calibri"/>
              </a:rPr>
              <a:t>2</a:t>
            </a:r>
          </a:p>
        </p:txBody>
      </p:sp>
      <p:pic>
        <p:nvPicPr>
          <p:cNvPr id="18" name="Picture 17" descr="bt_I2.png"/>
          <p:cNvPicPr>
            <a:picLocks noChangeAspect="1"/>
          </p:cNvPicPr>
          <p:nvPr/>
        </p:nvPicPr>
        <p:blipFill>
          <a:blip r:embed="rId6"/>
          <a:stretch>
            <a:fillRect/>
          </a:stretch>
        </p:blipFill>
        <p:spPr>
          <a:xfrm>
            <a:off x="1234440" y="3017520"/>
            <a:ext cx="2915816" cy="1371600"/>
          </a:xfrm>
          <a:prstGeom prst="rect">
            <a:avLst/>
          </a:prstGeom>
        </p:spPr>
      </p:pic>
      <p:sp>
        <p:nvSpPr>
          <p:cNvPr id="19" name="TextBox 18"/>
          <p:cNvSpPr txBox="1"/>
          <p:nvPr/>
        </p:nvSpPr>
        <p:spPr>
          <a:xfrm>
            <a:off x="4470296" y="3063240"/>
            <a:ext cx="3713583" cy="1280160"/>
          </a:xfrm>
          <a:prstGeom prst="rect">
            <a:avLst/>
          </a:prstGeom>
          <a:noFill/>
        </p:spPr>
        <p:txBody>
          <a:bodyPr wrap="square" lIns="0" rIns="0" tIns="0" bIns="0" anchor="t">
            <a:spAutoFit/>
          </a:bodyPr>
          <a:lstStyle/>
          <a:p>
            <a:pPr algn="l"/>
            <a:r>
              <a:rPr sz="1400" b="1" i="0">
                <a:solidFill>
                  <a:srgbClr val="B50937"/>
                </a:solidFill>
                <a:latin typeface="Calibri"/>
              </a:rPr>
              <a:t>Standard weight and healthy</a:t>
            </a:r>
          </a:p>
          <a:p>
            <a:pPr algn="l"/>
            <a:r>
              <a:rPr sz="1150" b="0" i="0">
                <a:solidFill>
                  <a:srgbClr val="181D27"/>
                </a:solidFill>
                <a:latin typeface="Calibri"/>
              </a:rPr>
              <a:t>The best body composition type. Keep it with consistent care, and monitor regularly, as abdominal fat can increase over time.</a:t>
            </a:r>
          </a:p>
        </p:txBody>
      </p:sp>
      <p:sp>
        <p:nvSpPr>
          <p:cNvPr id="20" name="Rectangle 19"/>
          <p:cNvSpPr/>
          <p:nvPr/>
        </p:nvSpPr>
        <p:spPr>
          <a:xfrm>
            <a:off x="8366760" y="301752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640" y="3017520"/>
            <a:ext cx="2819095" cy="1371600"/>
          </a:xfrm>
          <a:prstGeom prst="rect">
            <a:avLst/>
          </a:prstGeom>
          <a:noFill/>
        </p:spPr>
        <p:txBody>
          <a:bodyPr wrap="square" lIns="0" rIns="0" tIns="0" bIns="0" anchor="ctr">
            <a:spAutoFit/>
          </a:bodyPr>
          <a:lstStyle/>
          <a:p>
            <a:pPr algn="l"/>
            <a:r>
              <a:rPr sz="1100" b="0" i="0">
                <a:solidFill>
                  <a:srgbClr val="181D27"/>
                </a:solidFill>
                <a:latin typeface="Calibri"/>
              </a:rPr>
              <a:t>Exercise to control fat mass. A combination of diet and exercise works best.</a:t>
            </a:r>
          </a:p>
        </p:txBody>
      </p:sp>
      <p:sp>
        <p:nvSpPr>
          <p:cNvPr id="22" name="Rectangle 21"/>
          <p:cNvSpPr/>
          <p:nvPr/>
        </p:nvSpPr>
        <p:spPr>
          <a:xfrm>
            <a:off x="457200" y="461772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75488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754880"/>
            <a:ext cx="457200" cy="457200"/>
          </a:xfrm>
          <a:prstGeom prst="rect">
            <a:avLst/>
          </a:prstGeom>
          <a:noFill/>
        </p:spPr>
        <p:txBody>
          <a:bodyPr wrap="square" lIns="0" rIns="0" tIns="0" bIns="0" anchor="ctr">
            <a:spAutoFit/>
          </a:bodyPr>
          <a:lstStyle/>
          <a:p>
            <a:pPr algn="ctr"/>
            <a:r>
              <a:rPr sz="1600" b="1" i="0">
                <a:solidFill>
                  <a:srgbClr val="FFFFFF"/>
                </a:solidFill>
                <a:latin typeface="Calibri"/>
              </a:rPr>
              <a:t>3</a:t>
            </a:r>
          </a:p>
        </p:txBody>
      </p:sp>
      <p:pic>
        <p:nvPicPr>
          <p:cNvPr id="25" name="Picture 24" descr="bt_I3.png"/>
          <p:cNvPicPr>
            <a:picLocks noChangeAspect="1"/>
          </p:cNvPicPr>
          <p:nvPr/>
        </p:nvPicPr>
        <p:blipFill>
          <a:blip r:embed="rId7"/>
          <a:stretch>
            <a:fillRect/>
          </a:stretch>
        </p:blipFill>
        <p:spPr>
          <a:xfrm>
            <a:off x="1234440" y="4754880"/>
            <a:ext cx="2915816" cy="1371600"/>
          </a:xfrm>
          <a:prstGeom prst="rect">
            <a:avLst/>
          </a:prstGeom>
        </p:spPr>
      </p:pic>
      <p:sp>
        <p:nvSpPr>
          <p:cNvPr id="26" name="TextBox 25"/>
          <p:cNvSpPr txBox="1"/>
          <p:nvPr/>
        </p:nvSpPr>
        <p:spPr>
          <a:xfrm>
            <a:off x="4470296" y="4800600"/>
            <a:ext cx="3713583" cy="1280160"/>
          </a:xfrm>
          <a:prstGeom prst="rect">
            <a:avLst/>
          </a:prstGeom>
          <a:noFill/>
        </p:spPr>
        <p:txBody>
          <a:bodyPr wrap="square" lIns="0" rIns="0" tIns="0" bIns="0" anchor="t">
            <a:spAutoFit/>
          </a:bodyPr>
          <a:lstStyle/>
          <a:p>
            <a:pPr algn="l"/>
            <a:r>
              <a:rPr sz="1400" b="1" i="0">
                <a:solidFill>
                  <a:srgbClr val="B50937"/>
                </a:solidFill>
                <a:latin typeface="Calibri"/>
              </a:rPr>
              <a:t>Overweight and obese</a:t>
            </a:r>
          </a:p>
          <a:p>
            <a:pPr algn="l"/>
            <a:r>
              <a:rPr sz="1150" b="0" i="0">
                <a:solidFill>
                  <a:srgbClr val="181D27"/>
                </a:solidFill>
                <a:latin typeface="Calibri"/>
              </a:rPr>
              <a:t>Severely obese. Treatment to reduce body weight and body fat is required, which helps treat and prevent obesity-related illnesses.</a:t>
            </a:r>
          </a:p>
        </p:txBody>
      </p:sp>
      <p:sp>
        <p:nvSpPr>
          <p:cNvPr id="27" name="Rectangle 26"/>
          <p:cNvSpPr/>
          <p:nvPr/>
        </p:nvSpPr>
        <p:spPr>
          <a:xfrm>
            <a:off x="8366760" y="475488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49640" y="4754880"/>
            <a:ext cx="2819095" cy="1371600"/>
          </a:xfrm>
          <a:prstGeom prst="rect">
            <a:avLst/>
          </a:prstGeom>
          <a:noFill/>
        </p:spPr>
        <p:txBody>
          <a:bodyPr wrap="square" lIns="0" rIns="0" tIns="0" bIns="0" anchor="ctr">
            <a:spAutoFit/>
          </a:bodyPr>
          <a:lstStyle/>
          <a:p>
            <a:pPr algn="l"/>
            <a:r>
              <a:rPr sz="1100" b="0" i="0">
                <a:solidFill>
                  <a:srgbClr val="181D27"/>
                </a:solidFill>
                <a:latin typeface="Calibri"/>
              </a:rPr>
              <a:t>Needs proper exercise and diet to reduce fat mass and prevent lifestyle disorders.</a:t>
            </a:r>
          </a:p>
        </p:txBody>
      </p:sp>
    </p:spTree>
    <p:extLst>
      <p:ext uri="{BB962C8B-B14F-4D97-AF65-F5344CB8AC3E}">
        <p14:creationId xmlns:p14="http://schemas.microsoft.com/office/powerpoint/2010/main" val="185679226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FE29E8-9982-41AC-A949-34E2A0110562}"/>
              </a:ext>
            </a:extLst>
          </p:cNvPr>
          <p:cNvPicPr>
            <a:picLocks noChangeAspect="1"/>
          </p:cNvPicPr>
          <p:nvPr/>
        </p:nvPicPr>
        <p:blipFill>
          <a:blip r:embed="rId2"/>
          <a:stretch>
            <a:fillRect/>
          </a:stretch>
        </p:blipFill>
        <p:spPr>
          <a:xfrm>
            <a:off x="2186942" y="1097280"/>
            <a:ext cx="3672835" cy="5229719"/>
          </a:xfrm>
          <a:prstGeom prst="rect">
            <a:avLst/>
          </a:prstGeom>
        </p:spPr>
      </p:pic>
      <p:pic>
        <p:nvPicPr>
          <p:cNvPr id="3" name="Picture 2">
            <a:extLst>
              <a:ext uri="{FF2B5EF4-FFF2-40B4-BE49-F238E27FC236}">
                <a16:creationId xmlns:a16="http://schemas.microsoft.com/office/drawing/2014/main" id="{4C6AC91C-A58E-4E67-AC90-10AE38CD4D24}"/>
              </a:ext>
            </a:extLst>
          </p:cNvPr>
          <p:cNvPicPr>
            <a:picLocks noChangeAspect="1"/>
          </p:cNvPicPr>
          <p:nvPr/>
        </p:nvPicPr>
        <p:blipFill>
          <a:blip r:embed="rId3"/>
          <a:stretch>
            <a:fillRect/>
          </a:stretch>
        </p:blipFill>
        <p:spPr>
          <a:xfrm>
            <a:off x="6125430" y="1097280"/>
            <a:ext cx="3879322" cy="5257800"/>
          </a:xfrm>
          <a:prstGeom prst="rect">
            <a:avLst/>
          </a:prstGeom>
        </p:spPr>
      </p:pic>
      <p:sp>
        <p:nvSpPr>
          <p:cNvPr id="4" name="Rectangle 3"/>
          <p:cNvSpPr/>
          <p:nvPr/>
        </p:nvSpPr>
        <p:spPr>
          <a:xfrm>
            <a:off x="457200" y="320040"/>
            <a:ext cx="46634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4663440" cy="566928"/>
          </a:xfrm>
          <a:prstGeom prst="rect">
            <a:avLst/>
          </a:prstGeom>
          <a:noFill/>
        </p:spPr>
        <p:txBody>
          <a:bodyPr wrap="square" lIns="0" rIns="0" tIns="0" bIns="0" anchor="ctr">
            <a:spAutoFit/>
          </a:bodyPr>
          <a:lstStyle/>
          <a:p>
            <a:pPr algn="ctr"/>
            <a:r>
              <a:rPr sz="2200" b="1" i="0">
                <a:solidFill>
                  <a:srgbClr val="FFFFFF"/>
                </a:solidFill>
                <a:latin typeface="Calibri"/>
              </a:rPr>
              <a:t>I-Type: Diet &amp; Lifestyle Guide</a:t>
            </a:r>
          </a:p>
        </p:txBody>
      </p:sp>
      <p:sp>
        <p:nvSpPr>
          <p:cNvPr id="6" name="TextBox 5"/>
          <p:cNvSpPr txBox="1"/>
          <p:nvPr/>
        </p:nvSpPr>
        <p:spPr>
          <a:xfrm>
            <a:off x="5349240" y="320040"/>
            <a:ext cx="4556455" cy="566928"/>
          </a:xfrm>
          <a:prstGeom prst="rect">
            <a:avLst/>
          </a:prstGeom>
          <a:noFill/>
        </p:spPr>
        <p:txBody>
          <a:bodyPr wrap="square" lIns="0" rIns="0" tIns="0" bIns="0" anchor="ctr">
            <a:spAutoFit/>
          </a:bodyPr>
          <a:lstStyle/>
          <a:p>
            <a:pPr algn="l"/>
            <a:r>
              <a:rPr sz="900" b="1" i="0">
                <a:solidFill>
                  <a:srgbClr val="B50937"/>
                </a:solidFill>
                <a:latin typeface="Calibri"/>
              </a:rPr>
              <a:t>SESSION 7</a:t>
            </a:r>
          </a:p>
          <a:p>
            <a:pPr algn="l"/>
            <a:r>
              <a:rPr sz="900" b="0" i="0">
                <a:solidFill>
                  <a:srgbClr val="5E6470"/>
                </a:solidFill>
                <a:latin typeface="Calibri"/>
              </a:rPr>
              <a:t>Dietetics &amp; BCA-Guided Nutrition Practice</a:t>
            </a:r>
          </a:p>
        </p:txBody>
      </p:sp>
      <p:pic>
        <p:nvPicPr>
          <p:cNvPr id="7" name="Picture 6" descr="logo_red.png"/>
          <p:cNvPicPr>
            <a:picLocks noChangeAspect="1"/>
          </p:cNvPicPr>
          <p:nvPr/>
        </p:nvPicPr>
        <p:blipFill>
          <a:blip r:embed="rId4"/>
          <a:stretch>
            <a:fillRect/>
          </a:stretch>
        </p:blipFill>
        <p:spPr>
          <a:xfrm>
            <a:off x="10436918" y="420624"/>
            <a:ext cx="1297577" cy="365760"/>
          </a:xfrm>
          <a:prstGeom prst="rect">
            <a:avLst/>
          </a:prstGeom>
        </p:spPr>
      </p:pic>
      <p:sp>
        <p:nvSpPr>
          <p:cNvPr id="8" name="TextBox 7"/>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9" name="TextBox 8"/>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105</a:t>
            </a:r>
          </a:p>
        </p:txBody>
      </p:sp>
    </p:spTree>
    <p:extLst>
      <p:ext uri="{BB962C8B-B14F-4D97-AF65-F5344CB8AC3E}">
        <p14:creationId xmlns:p14="http://schemas.microsoft.com/office/powerpoint/2010/main" val="234586202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D-Shape Body Type</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7</a:t>
            </a:r>
          </a:p>
          <a:p>
            <a:pPr algn="l"/>
            <a:r>
              <a:rPr sz="900" b="0" i="0">
                <a:solidFill>
                  <a:srgbClr val="5E6470"/>
                </a:solidFill>
                <a:latin typeface="Calibri"/>
              </a:rPr>
              <a:t>Dietetics &amp; BCA-Guided Nutrition Practice</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106</a:t>
            </a:r>
          </a:p>
        </p:txBody>
      </p:sp>
      <p:sp>
        <p:nvSpPr>
          <p:cNvPr id="8" name="Rectangle 7"/>
          <p:cNvSpPr/>
          <p:nvPr/>
        </p:nvSpPr>
        <p:spPr>
          <a:xfrm>
            <a:off x="457200" y="114300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 y="128016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80160"/>
            <a:ext cx="457200" cy="457200"/>
          </a:xfrm>
          <a:prstGeom prst="rect">
            <a:avLst/>
          </a:prstGeom>
          <a:noFill/>
        </p:spPr>
        <p:txBody>
          <a:bodyPr wrap="square" lIns="0" rIns="0" tIns="0" bIns="0" anchor="ctr">
            <a:spAutoFit/>
          </a:bodyPr>
          <a:lstStyle/>
          <a:p>
            <a:pPr algn="ctr"/>
            <a:r>
              <a:rPr sz="1600" b="1" i="0">
                <a:solidFill>
                  <a:srgbClr val="FFFFFF"/>
                </a:solidFill>
                <a:latin typeface="Calibri"/>
              </a:rPr>
              <a:t>1</a:t>
            </a:r>
          </a:p>
        </p:txBody>
      </p:sp>
      <p:pic>
        <p:nvPicPr>
          <p:cNvPr id="11" name="Picture 10" descr="bt_D1.png"/>
          <p:cNvPicPr>
            <a:picLocks noChangeAspect="1"/>
          </p:cNvPicPr>
          <p:nvPr/>
        </p:nvPicPr>
        <p:blipFill>
          <a:blip r:embed="rId5"/>
          <a:stretch>
            <a:fillRect/>
          </a:stretch>
        </p:blipFill>
        <p:spPr>
          <a:xfrm>
            <a:off x="1234440" y="1280160"/>
            <a:ext cx="2654024" cy="1371600"/>
          </a:xfrm>
          <a:prstGeom prst="rect">
            <a:avLst/>
          </a:prstGeom>
        </p:spPr>
      </p:pic>
      <p:sp>
        <p:nvSpPr>
          <p:cNvPr id="12" name="TextBox 11"/>
          <p:cNvSpPr txBox="1"/>
          <p:nvPr/>
        </p:nvSpPr>
        <p:spPr>
          <a:xfrm>
            <a:off x="4208504" y="1325880"/>
            <a:ext cx="3975375" cy="1280160"/>
          </a:xfrm>
          <a:prstGeom prst="rect">
            <a:avLst/>
          </a:prstGeom>
          <a:noFill/>
        </p:spPr>
        <p:txBody>
          <a:bodyPr wrap="square" lIns="0" rIns="0" tIns="0" bIns="0" anchor="t">
            <a:spAutoFit/>
          </a:bodyPr>
          <a:lstStyle/>
          <a:p>
            <a:pPr algn="l"/>
            <a:r>
              <a:rPr sz="1400" b="1" i="0">
                <a:solidFill>
                  <a:srgbClr val="B50937"/>
                </a:solidFill>
                <a:latin typeface="Calibri"/>
              </a:rPr>
              <a:t>Underweight and strong</a:t>
            </a:r>
          </a:p>
          <a:p>
            <a:pPr algn="l"/>
            <a:r>
              <a:rPr sz="1150" b="0" i="0">
                <a:solidFill>
                  <a:srgbClr val="181D27"/>
                </a:solidFill>
                <a:latin typeface="Calibri"/>
              </a:rPr>
              <a:t>Low risk of adult diseases. While maintaining skeletal muscle, keep enough body fat for its essential functions, such as absorbing fat-soluble vitamins and building cell membranes.</a:t>
            </a:r>
          </a:p>
        </p:txBody>
      </p:sp>
      <p:sp>
        <p:nvSpPr>
          <p:cNvPr id="13" name="Rectangle 12"/>
          <p:cNvSpPr/>
          <p:nvPr/>
        </p:nvSpPr>
        <p:spPr>
          <a:xfrm>
            <a:off x="8366760" y="128016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1280160"/>
            <a:ext cx="2819095" cy="1371600"/>
          </a:xfrm>
          <a:prstGeom prst="rect">
            <a:avLst/>
          </a:prstGeom>
          <a:noFill/>
        </p:spPr>
        <p:txBody>
          <a:bodyPr wrap="square" lIns="0" rIns="0" tIns="0" bIns="0" anchor="ctr">
            <a:spAutoFit/>
          </a:bodyPr>
          <a:lstStyle/>
          <a:p>
            <a:pPr algn="l"/>
            <a:r>
              <a:rPr sz="1100" b="0" i="0">
                <a:solidFill>
                  <a:srgbClr val="181D27"/>
                </a:solidFill>
                <a:latin typeface="Calibri"/>
              </a:rPr>
              <a:t>Muscular because of their activity levels. They need proper nutrition guidance to maintain their condition.</a:t>
            </a:r>
          </a:p>
        </p:txBody>
      </p:sp>
      <p:sp>
        <p:nvSpPr>
          <p:cNvPr id="15" name="Rectangle 14"/>
          <p:cNvSpPr/>
          <p:nvPr/>
        </p:nvSpPr>
        <p:spPr>
          <a:xfrm>
            <a:off x="457200" y="288036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 y="301752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017520"/>
            <a:ext cx="457200" cy="457200"/>
          </a:xfrm>
          <a:prstGeom prst="rect">
            <a:avLst/>
          </a:prstGeom>
          <a:noFill/>
        </p:spPr>
        <p:txBody>
          <a:bodyPr wrap="square" lIns="0" rIns="0" tIns="0" bIns="0" anchor="ctr">
            <a:spAutoFit/>
          </a:bodyPr>
          <a:lstStyle/>
          <a:p>
            <a:pPr algn="ctr"/>
            <a:r>
              <a:rPr sz="1600" b="1" i="0">
                <a:solidFill>
                  <a:srgbClr val="FFFFFF"/>
                </a:solidFill>
                <a:latin typeface="Calibri"/>
              </a:rPr>
              <a:t>2</a:t>
            </a:r>
          </a:p>
        </p:txBody>
      </p:sp>
      <p:pic>
        <p:nvPicPr>
          <p:cNvPr id="18" name="Picture 17" descr="bt_D2.png"/>
          <p:cNvPicPr>
            <a:picLocks noChangeAspect="1"/>
          </p:cNvPicPr>
          <p:nvPr/>
        </p:nvPicPr>
        <p:blipFill>
          <a:blip r:embed="rId6"/>
          <a:stretch>
            <a:fillRect/>
          </a:stretch>
        </p:blipFill>
        <p:spPr>
          <a:xfrm>
            <a:off x="1234440" y="3017520"/>
            <a:ext cx="2915816" cy="1371600"/>
          </a:xfrm>
          <a:prstGeom prst="rect">
            <a:avLst/>
          </a:prstGeom>
        </p:spPr>
      </p:pic>
      <p:sp>
        <p:nvSpPr>
          <p:cNvPr id="19" name="TextBox 18"/>
          <p:cNvSpPr txBox="1"/>
          <p:nvPr/>
        </p:nvSpPr>
        <p:spPr>
          <a:xfrm>
            <a:off x="4470296" y="3063240"/>
            <a:ext cx="3713583" cy="1280160"/>
          </a:xfrm>
          <a:prstGeom prst="rect">
            <a:avLst/>
          </a:prstGeom>
          <a:noFill/>
        </p:spPr>
        <p:txBody>
          <a:bodyPr wrap="square" lIns="0" rIns="0" tIns="0" bIns="0" anchor="t">
            <a:spAutoFit/>
          </a:bodyPr>
          <a:lstStyle/>
          <a:p>
            <a:pPr algn="l"/>
            <a:r>
              <a:rPr sz="1400" b="1" i="0">
                <a:solidFill>
                  <a:srgbClr val="B50937"/>
                </a:solidFill>
                <a:latin typeface="Calibri"/>
              </a:rPr>
              <a:t>Standard weight and strong</a:t>
            </a:r>
          </a:p>
          <a:p>
            <a:pPr algn="l"/>
            <a:r>
              <a:rPr sz="1150" b="0" i="0">
                <a:solidFill>
                  <a:srgbClr val="181D27"/>
                </a:solidFill>
                <a:latin typeface="Calibri"/>
              </a:rPr>
              <a:t>Well-developed muscles and a strong body type, seen in many healthy people. Care is needed not to let body fat fall too far below the recommended level.</a:t>
            </a:r>
          </a:p>
        </p:txBody>
      </p:sp>
      <p:sp>
        <p:nvSpPr>
          <p:cNvPr id="20" name="Rectangle 19"/>
          <p:cNvSpPr/>
          <p:nvPr/>
        </p:nvSpPr>
        <p:spPr>
          <a:xfrm>
            <a:off x="8366760" y="301752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640" y="3017520"/>
            <a:ext cx="2819095" cy="1371600"/>
          </a:xfrm>
          <a:prstGeom prst="rect">
            <a:avLst/>
          </a:prstGeom>
          <a:noFill/>
        </p:spPr>
        <p:txBody>
          <a:bodyPr wrap="square" lIns="0" rIns="0" tIns="0" bIns="0" anchor="ctr">
            <a:spAutoFit/>
          </a:bodyPr>
          <a:lstStyle/>
          <a:p>
            <a:pPr algn="l"/>
            <a:r>
              <a:rPr sz="1100" b="0" i="0">
                <a:solidFill>
                  <a:srgbClr val="181D27"/>
                </a:solidFill>
                <a:latin typeface="Calibri"/>
              </a:rPr>
              <a:t>Muscular because of their activity levels. They need proper nutrition guidance to maintain their condition.</a:t>
            </a:r>
          </a:p>
        </p:txBody>
      </p:sp>
      <p:sp>
        <p:nvSpPr>
          <p:cNvPr id="22" name="Rectangle 21"/>
          <p:cNvSpPr/>
          <p:nvPr/>
        </p:nvSpPr>
        <p:spPr>
          <a:xfrm>
            <a:off x="457200" y="4617720"/>
            <a:ext cx="11277295" cy="1645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754880"/>
            <a:ext cx="457200" cy="457200"/>
          </a:xfrm>
          <a:prstGeom prst="ellipse">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754880"/>
            <a:ext cx="457200" cy="457200"/>
          </a:xfrm>
          <a:prstGeom prst="rect">
            <a:avLst/>
          </a:prstGeom>
          <a:noFill/>
        </p:spPr>
        <p:txBody>
          <a:bodyPr wrap="square" lIns="0" rIns="0" tIns="0" bIns="0" anchor="ctr">
            <a:spAutoFit/>
          </a:bodyPr>
          <a:lstStyle/>
          <a:p>
            <a:pPr algn="ctr"/>
            <a:r>
              <a:rPr sz="1600" b="1" i="0">
                <a:solidFill>
                  <a:srgbClr val="FFFFFF"/>
                </a:solidFill>
                <a:latin typeface="Calibri"/>
              </a:rPr>
              <a:t>3</a:t>
            </a:r>
          </a:p>
        </p:txBody>
      </p:sp>
      <p:pic>
        <p:nvPicPr>
          <p:cNvPr id="25" name="Picture 24" descr="bt_D3.png"/>
          <p:cNvPicPr>
            <a:picLocks noChangeAspect="1"/>
          </p:cNvPicPr>
          <p:nvPr/>
        </p:nvPicPr>
        <p:blipFill>
          <a:blip r:embed="rId7"/>
          <a:stretch>
            <a:fillRect/>
          </a:stretch>
        </p:blipFill>
        <p:spPr>
          <a:xfrm>
            <a:off x="1234440" y="4754880"/>
            <a:ext cx="3029151" cy="1371600"/>
          </a:xfrm>
          <a:prstGeom prst="rect">
            <a:avLst/>
          </a:prstGeom>
        </p:spPr>
      </p:pic>
      <p:sp>
        <p:nvSpPr>
          <p:cNvPr id="26" name="TextBox 25"/>
          <p:cNvSpPr txBox="1"/>
          <p:nvPr/>
        </p:nvSpPr>
        <p:spPr>
          <a:xfrm>
            <a:off x="4583631" y="4800600"/>
            <a:ext cx="3600248" cy="1280160"/>
          </a:xfrm>
          <a:prstGeom prst="rect">
            <a:avLst/>
          </a:prstGeom>
          <a:noFill/>
        </p:spPr>
        <p:txBody>
          <a:bodyPr wrap="square" lIns="0" rIns="0" tIns="0" bIns="0" anchor="t">
            <a:spAutoFit/>
          </a:bodyPr>
          <a:lstStyle/>
          <a:p>
            <a:pPr algn="l"/>
            <a:r>
              <a:rPr sz="1400" b="1" i="0">
                <a:solidFill>
                  <a:srgbClr val="B50937"/>
                </a:solidFill>
                <a:latin typeface="Calibri"/>
              </a:rPr>
              <a:t>Overweight and strong</a:t>
            </a:r>
          </a:p>
          <a:p>
            <a:pPr algn="l"/>
            <a:r>
              <a:rPr sz="1150" b="0" i="0">
                <a:solidFill>
                  <a:srgbClr val="181D27"/>
                </a:solidFill>
                <a:latin typeface="Calibri"/>
              </a:rPr>
              <a:t>Often seen in athletes. BMI shows them as overweight, but the extra weight is skeletal muscle, so no weight management is required.</a:t>
            </a:r>
          </a:p>
        </p:txBody>
      </p:sp>
      <p:sp>
        <p:nvSpPr>
          <p:cNvPr id="27" name="Rectangle 26"/>
          <p:cNvSpPr/>
          <p:nvPr/>
        </p:nvSpPr>
        <p:spPr>
          <a:xfrm>
            <a:off x="8366760" y="4754880"/>
            <a:ext cx="318485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49640" y="4754880"/>
            <a:ext cx="2819095" cy="1371600"/>
          </a:xfrm>
          <a:prstGeom prst="rect">
            <a:avLst/>
          </a:prstGeom>
          <a:noFill/>
        </p:spPr>
        <p:txBody>
          <a:bodyPr wrap="square" lIns="0" rIns="0" tIns="0" bIns="0" anchor="ctr">
            <a:spAutoFit/>
          </a:bodyPr>
          <a:lstStyle/>
          <a:p>
            <a:pPr algn="l"/>
            <a:r>
              <a:rPr sz="1100" b="0" i="0">
                <a:solidFill>
                  <a:srgbClr val="181D27"/>
                </a:solidFill>
                <a:latin typeface="Calibri"/>
              </a:rPr>
              <a:t>Muscular because of their activity levels. They need proper nutrition guidance to maintain their condition.</a:t>
            </a:r>
          </a:p>
        </p:txBody>
      </p:sp>
    </p:spTree>
    <p:extLst>
      <p:ext uri="{BB962C8B-B14F-4D97-AF65-F5344CB8AC3E}">
        <p14:creationId xmlns:p14="http://schemas.microsoft.com/office/powerpoint/2010/main" val="82375932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CC5C61-7AE2-4FC3-A12A-EF9BE42E8637}"/>
              </a:ext>
            </a:extLst>
          </p:cNvPr>
          <p:cNvPicPr>
            <a:picLocks noChangeAspect="1"/>
          </p:cNvPicPr>
          <p:nvPr/>
        </p:nvPicPr>
        <p:blipFill>
          <a:blip r:embed="rId2"/>
          <a:stretch>
            <a:fillRect/>
          </a:stretch>
        </p:blipFill>
        <p:spPr>
          <a:xfrm>
            <a:off x="2244092" y="1097280"/>
            <a:ext cx="3712684" cy="5190618"/>
          </a:xfrm>
          <a:prstGeom prst="rect">
            <a:avLst/>
          </a:prstGeom>
        </p:spPr>
      </p:pic>
      <p:pic>
        <p:nvPicPr>
          <p:cNvPr id="3" name="Picture 2">
            <a:extLst>
              <a:ext uri="{FF2B5EF4-FFF2-40B4-BE49-F238E27FC236}">
                <a16:creationId xmlns:a16="http://schemas.microsoft.com/office/drawing/2014/main" id="{23598C63-517E-45EF-B943-09C71BB91E0A}"/>
              </a:ext>
            </a:extLst>
          </p:cNvPr>
          <p:cNvPicPr>
            <a:picLocks noChangeAspect="1"/>
          </p:cNvPicPr>
          <p:nvPr/>
        </p:nvPicPr>
        <p:blipFill>
          <a:blip r:embed="rId3"/>
          <a:stretch>
            <a:fillRect/>
          </a:stretch>
        </p:blipFill>
        <p:spPr>
          <a:xfrm>
            <a:off x="6194117" y="1097280"/>
            <a:ext cx="3753484" cy="5257800"/>
          </a:xfrm>
          <a:prstGeom prst="rect">
            <a:avLst/>
          </a:prstGeom>
        </p:spPr>
      </p:pic>
      <p:sp>
        <p:nvSpPr>
          <p:cNvPr id="4" name="Rectangle 3"/>
          <p:cNvSpPr/>
          <p:nvPr/>
        </p:nvSpPr>
        <p:spPr>
          <a:xfrm>
            <a:off x="457200" y="320040"/>
            <a:ext cx="46634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4663440" cy="566928"/>
          </a:xfrm>
          <a:prstGeom prst="rect">
            <a:avLst/>
          </a:prstGeom>
          <a:noFill/>
        </p:spPr>
        <p:txBody>
          <a:bodyPr wrap="square" lIns="0" rIns="0" tIns="0" bIns="0" anchor="ctr">
            <a:spAutoFit/>
          </a:bodyPr>
          <a:lstStyle/>
          <a:p>
            <a:pPr algn="ctr"/>
            <a:r>
              <a:rPr sz="2200" b="1" i="0">
                <a:solidFill>
                  <a:srgbClr val="FFFFFF"/>
                </a:solidFill>
                <a:latin typeface="Calibri"/>
              </a:rPr>
              <a:t>D-Type: Diet &amp; Lifestyle Guide</a:t>
            </a:r>
          </a:p>
        </p:txBody>
      </p:sp>
      <p:sp>
        <p:nvSpPr>
          <p:cNvPr id="6" name="TextBox 5"/>
          <p:cNvSpPr txBox="1"/>
          <p:nvPr/>
        </p:nvSpPr>
        <p:spPr>
          <a:xfrm>
            <a:off x="5349240" y="320040"/>
            <a:ext cx="4556455" cy="566928"/>
          </a:xfrm>
          <a:prstGeom prst="rect">
            <a:avLst/>
          </a:prstGeom>
          <a:noFill/>
        </p:spPr>
        <p:txBody>
          <a:bodyPr wrap="square" lIns="0" rIns="0" tIns="0" bIns="0" anchor="ctr">
            <a:spAutoFit/>
          </a:bodyPr>
          <a:lstStyle/>
          <a:p>
            <a:pPr algn="l"/>
            <a:r>
              <a:rPr sz="900" b="1" i="0">
                <a:solidFill>
                  <a:srgbClr val="B50937"/>
                </a:solidFill>
                <a:latin typeface="Calibri"/>
              </a:rPr>
              <a:t>SESSION 7</a:t>
            </a:r>
          </a:p>
          <a:p>
            <a:pPr algn="l"/>
            <a:r>
              <a:rPr sz="900" b="0" i="0">
                <a:solidFill>
                  <a:srgbClr val="5E6470"/>
                </a:solidFill>
                <a:latin typeface="Calibri"/>
              </a:rPr>
              <a:t>Dietetics &amp; BCA-Guided Nutrition Practice</a:t>
            </a:r>
          </a:p>
        </p:txBody>
      </p:sp>
      <p:pic>
        <p:nvPicPr>
          <p:cNvPr id="7" name="Picture 6" descr="logo_red.png"/>
          <p:cNvPicPr>
            <a:picLocks noChangeAspect="1"/>
          </p:cNvPicPr>
          <p:nvPr/>
        </p:nvPicPr>
        <p:blipFill>
          <a:blip r:embed="rId4"/>
          <a:stretch>
            <a:fillRect/>
          </a:stretch>
        </p:blipFill>
        <p:spPr>
          <a:xfrm>
            <a:off x="10436918" y="420624"/>
            <a:ext cx="1297577" cy="365760"/>
          </a:xfrm>
          <a:prstGeom prst="rect">
            <a:avLst/>
          </a:prstGeom>
        </p:spPr>
      </p:pic>
      <p:sp>
        <p:nvSpPr>
          <p:cNvPr id="8" name="TextBox 7"/>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9" name="TextBox 8"/>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107</a:t>
            </a:r>
          </a:p>
        </p:txBody>
      </p:sp>
    </p:spTree>
    <p:extLst>
      <p:ext uri="{BB962C8B-B14F-4D97-AF65-F5344CB8AC3E}">
        <p14:creationId xmlns:p14="http://schemas.microsoft.com/office/powerpoint/2010/main" val="1452875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bg>
      <p:bgPr>
        <a:solidFill>
          <a:srgbClr val="181D27"/>
        </a:solidFill>
        <a:effectLst/>
      </p:bgPr>
    </p:bg>
    <p:spTree>
      <p:nvGrpSpPr>
        <p:cNvPr id="1" name=""/>
        <p:cNvGrpSpPr/>
        <p:nvPr/>
      </p:nvGrpSpPr>
      <p:grpSpPr>
        <a:xfrm>
          <a:off x="0" y="0"/>
          <a:ext cx="0" cy="0"/>
          <a:chOff x="0" y="0"/>
          <a:chExt cx="0" cy="0"/>
        </a:xfrm>
      </p:grpSpPr>
      <p:sp>
        <p:nvSpPr>
          <p:cNvPr id="2" name="Rounded Rectangle 1"/>
          <p:cNvSpPr/>
          <p:nvPr/>
        </p:nvSpPr>
        <p:spPr>
          <a:xfrm>
            <a:off x="822960" y="2148840"/>
            <a:ext cx="1371600" cy="1371600"/>
          </a:xfrm>
          <a:prstGeom prst="roundRect">
            <a:avLst>
              <a:gd name="adj" fmla="val 12000"/>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1371600" cy="1371600"/>
          </a:xfrm>
          <a:prstGeom prst="rect">
            <a:avLst/>
          </a:prstGeom>
          <a:noFill/>
        </p:spPr>
        <p:txBody>
          <a:bodyPr wrap="square" lIns="0" rIns="0" tIns="0" bIns="0" anchor="ctr">
            <a:spAutoFit/>
          </a:bodyPr>
          <a:lstStyle/>
          <a:p>
            <a:pPr algn="ctr"/>
            <a:r>
              <a:rPr sz="4400" b="1" i="0">
                <a:solidFill>
                  <a:srgbClr val="FFFFFF"/>
                </a:solidFill>
                <a:latin typeface="Cambria"/>
              </a:rPr>
              <a:t>08</a:t>
            </a:r>
          </a:p>
        </p:txBody>
      </p:sp>
      <p:sp>
        <p:nvSpPr>
          <p:cNvPr id="4" name="TextBox 3"/>
          <p:cNvSpPr txBox="1"/>
          <p:nvPr/>
        </p:nvSpPr>
        <p:spPr>
          <a:xfrm>
            <a:off x="2560320" y="2148840"/>
            <a:ext cx="8686800" cy="365760"/>
          </a:xfrm>
          <a:prstGeom prst="rect">
            <a:avLst/>
          </a:prstGeom>
          <a:noFill/>
        </p:spPr>
        <p:txBody>
          <a:bodyPr wrap="square" lIns="0" rIns="0" tIns="0" bIns="0" anchor="ctr">
            <a:spAutoFit/>
          </a:bodyPr>
          <a:lstStyle/>
          <a:p>
            <a:pPr algn="l"/>
            <a:r>
              <a:rPr sz="1200" b="1" i="0">
                <a:solidFill>
                  <a:srgbClr val="F5C6D1"/>
                </a:solidFill>
                <a:latin typeface="Calibri"/>
              </a:rPr>
              <a:t>SESSION 8  ·  3:40 – 4:05 PM</a:t>
            </a:r>
          </a:p>
        </p:txBody>
      </p:sp>
      <p:sp>
        <p:nvSpPr>
          <p:cNvPr id="5" name="TextBox 4"/>
          <p:cNvSpPr txBox="1"/>
          <p:nvPr/>
        </p:nvSpPr>
        <p:spPr>
          <a:xfrm>
            <a:off x="2560320" y="2560320"/>
            <a:ext cx="8961120" cy="1463040"/>
          </a:xfrm>
          <a:prstGeom prst="rect">
            <a:avLst/>
          </a:prstGeom>
          <a:noFill/>
        </p:spPr>
        <p:txBody>
          <a:bodyPr wrap="square" lIns="0" rIns="0" tIns="0" bIns="0" anchor="t">
            <a:spAutoFit/>
          </a:bodyPr>
          <a:lstStyle/>
          <a:p>
            <a:pPr algn="l"/>
            <a:r>
              <a:rPr sz="3600" b="1" i="0">
                <a:solidFill>
                  <a:srgbClr val="FFFFFF"/>
                </a:solidFill>
                <a:latin typeface="Cambria"/>
              </a:rPr>
              <a:t>Aesthetic &amp; Wellness Market</a:t>
            </a:r>
          </a:p>
        </p:txBody>
      </p:sp>
      <p:pic>
        <p:nvPicPr>
          <p:cNvPr id="6" name="Picture 5" descr="logo_white.png"/>
          <p:cNvPicPr>
            <a:picLocks noChangeAspect="1"/>
          </p:cNvPicPr>
          <p:nvPr/>
        </p:nvPicPr>
        <p:blipFill>
          <a:blip r:embed="rId3"/>
          <a:stretch>
            <a:fillRect/>
          </a:stretch>
        </p:blipFill>
        <p:spPr>
          <a:xfrm>
            <a:off x="10021083" y="457200"/>
            <a:ext cx="1621971" cy="45720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9AA0AA"/>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F5C6D1"/>
                </a:solidFill>
                <a:latin typeface="Calibri"/>
              </a:rPr>
              <a:t>108</a:t>
            </a:r>
          </a:p>
        </p:txBody>
      </p:sp>
    </p:spTree>
    <p:extLst>
      <p:ext uri="{BB962C8B-B14F-4D97-AF65-F5344CB8AC3E}">
        <p14:creationId xmlns:p14="http://schemas.microsoft.com/office/powerpoint/2010/main" val="22862589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01752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017520" cy="566928"/>
          </a:xfrm>
          <a:prstGeom prst="rect">
            <a:avLst/>
          </a:prstGeom>
          <a:noFill/>
        </p:spPr>
        <p:txBody>
          <a:bodyPr wrap="square" lIns="0" rIns="0" tIns="0" bIns="0" anchor="ctr">
            <a:spAutoFit/>
          </a:bodyPr>
          <a:lstStyle/>
          <a:p>
            <a:pPr algn="ctr"/>
            <a:r>
              <a:rPr sz="2200" b="1" i="0">
                <a:solidFill>
                  <a:srgbClr val="FFFFFF"/>
                </a:solidFill>
                <a:latin typeface="Calibri"/>
              </a:rPr>
              <a:t>Aesthetic Medicine</a:t>
            </a:r>
          </a:p>
        </p:txBody>
      </p:sp>
      <p:sp>
        <p:nvSpPr>
          <p:cNvPr id="4" name="TextBox 3"/>
          <p:cNvSpPr txBox="1"/>
          <p:nvPr/>
        </p:nvSpPr>
        <p:spPr>
          <a:xfrm>
            <a:off x="3703320" y="320040"/>
            <a:ext cx="6202375" cy="566928"/>
          </a:xfrm>
          <a:prstGeom prst="rect">
            <a:avLst/>
          </a:prstGeom>
          <a:noFill/>
        </p:spPr>
        <p:txBody>
          <a:bodyPr wrap="square" lIns="0" rIns="0" tIns="0" bIns="0" anchor="ctr">
            <a:spAutoFit/>
          </a:bodyPr>
          <a:lstStyle/>
          <a:p>
            <a:pPr algn="l"/>
            <a:r>
              <a:rPr sz="900" b="1" i="0">
                <a:solidFill>
                  <a:srgbClr val="B50937"/>
                </a:solidFill>
                <a:latin typeface="Calibri"/>
              </a:rPr>
              <a:t>SESSION 8</a:t>
            </a:r>
          </a:p>
          <a:p>
            <a:pPr algn="l"/>
            <a:r>
              <a:rPr sz="900" b="0" i="0">
                <a:solidFill>
                  <a:srgbClr val="5E6470"/>
                </a:solidFill>
                <a:latin typeface="Calibri"/>
              </a:rPr>
              <a:t>Aesthetic &amp; Wellness Market</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109</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Aesthetic medicine focuses on improving appearance while promoting overall health and wellness.</a:t>
            </a:r>
          </a:p>
          <a:p>
            <a:pPr>
              <a:spcBef>
                <a:spcPts val="400"/>
              </a:spcBef>
              <a:spcAft>
                <a:spcPts val="200"/>
              </a:spcAft>
            </a:pPr>
            <a:r>
              <a:rPr sz="1300" b="1">
                <a:solidFill>
                  <a:srgbClr val="B50937"/>
                </a:solidFill>
                <a:latin typeface="Calibri"/>
              </a:rPr>
              <a:t>Key goals</a:t>
            </a:r>
          </a:p>
          <a:p>
            <a:pPr marL="228600" indent="-228600">
              <a:spcAft>
                <a:spcPts val="600"/>
              </a:spcAft>
              <a:buChar char="•"/>
            </a:pPr>
            <a:r>
              <a:rPr sz="1300">
                <a:solidFill>
                  <a:srgbClr val="181D27"/>
                </a:solidFill>
                <a:latin typeface="Calibri"/>
              </a:rPr>
              <a:t>Enhancing body shape and contour</a:t>
            </a:r>
          </a:p>
          <a:p>
            <a:pPr marL="228600" indent="-228600">
              <a:spcAft>
                <a:spcPts val="600"/>
              </a:spcAft>
              <a:buChar char="•"/>
            </a:pPr>
            <a:r>
              <a:rPr sz="1300">
                <a:solidFill>
                  <a:srgbClr val="181D27"/>
                </a:solidFill>
                <a:latin typeface="Calibri"/>
              </a:rPr>
              <a:t>Improving skin tone and firmness</a:t>
            </a:r>
          </a:p>
          <a:p>
            <a:pPr marL="228600" indent="-228600">
              <a:spcAft>
                <a:spcPts val="600"/>
              </a:spcAft>
              <a:buChar char="•"/>
            </a:pPr>
            <a:r>
              <a:rPr sz="1300">
                <a:solidFill>
                  <a:srgbClr val="181D27"/>
                </a:solidFill>
                <a:latin typeface="Calibri"/>
              </a:rPr>
              <a:t>Supporting a natural, healthy appearance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107.png"/>
          <p:cNvPicPr>
            <a:picLocks noChangeAspect="1"/>
          </p:cNvPicPr>
          <p:nvPr/>
        </p:nvPicPr>
        <p:blipFill>
          <a:blip r:embed="rId5"/>
          <a:stretch>
            <a:fillRect/>
          </a:stretch>
        </p:blipFill>
        <p:spPr>
          <a:xfrm>
            <a:off x="6128463" y="1280160"/>
            <a:ext cx="5055408"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Visible results depend on muscle, fat and hydration underneath, not just weight.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F66CDF9-0622-49E3-974E-8F671A163B4A}"/>
              </a:ext>
            </a:extLst>
          </p:cNvPr>
          <p:cNvPicPr>
            <a:picLocks noChangeAspect="1"/>
          </p:cNvPicPr>
          <p:nvPr/>
        </p:nvPicPr>
        <p:blipFill>
          <a:blip r:embed="rId2"/>
          <a:stretch>
            <a:fillRect/>
          </a:stretch>
        </p:blipFill>
        <p:spPr>
          <a:xfrm>
            <a:off x="457200" y="1987091"/>
            <a:ext cx="11277295" cy="3478176"/>
          </a:xfrm>
          <a:prstGeom prst="rect">
            <a:avLst/>
          </a:prstGeom>
        </p:spPr>
      </p:pic>
      <p:sp>
        <p:nvSpPr>
          <p:cNvPr id="7" name="Rectangle 6"/>
          <p:cNvSpPr/>
          <p:nvPr/>
        </p:nvSpPr>
        <p:spPr>
          <a:xfrm>
            <a:off x="457200" y="320040"/>
            <a:ext cx="617219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20040"/>
            <a:ext cx="6172199" cy="566928"/>
          </a:xfrm>
          <a:prstGeom prst="rect">
            <a:avLst/>
          </a:prstGeom>
          <a:noFill/>
        </p:spPr>
        <p:txBody>
          <a:bodyPr wrap="square" lIns="0" rIns="0" tIns="0" bIns="0" anchor="ctr">
            <a:spAutoFit/>
          </a:bodyPr>
          <a:lstStyle/>
          <a:p>
            <a:pPr algn="ctr"/>
            <a:r>
              <a:rPr sz="1900" b="1" i="0">
                <a:solidFill>
                  <a:srgbClr val="FFFFFF"/>
                </a:solidFill>
                <a:latin typeface="Calibri"/>
              </a:rPr>
              <a:t>Core Applications in Aesthetic &amp; Wellness</a:t>
            </a:r>
          </a:p>
        </p:txBody>
      </p:sp>
      <p:sp>
        <p:nvSpPr>
          <p:cNvPr id="9" name="TextBox 8"/>
          <p:cNvSpPr txBox="1"/>
          <p:nvPr/>
        </p:nvSpPr>
        <p:spPr>
          <a:xfrm>
            <a:off x="6857999" y="320040"/>
            <a:ext cx="3047695" cy="566928"/>
          </a:xfrm>
          <a:prstGeom prst="rect">
            <a:avLst/>
          </a:prstGeom>
          <a:noFill/>
        </p:spPr>
        <p:txBody>
          <a:bodyPr wrap="square" lIns="0" rIns="0" tIns="0" bIns="0" anchor="ctr">
            <a:spAutoFit/>
          </a:bodyPr>
          <a:lstStyle/>
          <a:p>
            <a:pPr algn="l"/>
            <a:r>
              <a:rPr sz="900" b="1" i="0">
                <a:solidFill>
                  <a:srgbClr val="B50937"/>
                </a:solidFill>
                <a:latin typeface="Calibri"/>
              </a:rPr>
              <a:t>SESSION 8</a:t>
            </a:r>
          </a:p>
          <a:p>
            <a:pPr algn="l"/>
            <a:r>
              <a:rPr sz="900" b="0" i="0">
                <a:solidFill>
                  <a:srgbClr val="5E6470"/>
                </a:solidFill>
                <a:latin typeface="Calibri"/>
              </a:rPr>
              <a:t>Aesthetic &amp; Wellness Market</a:t>
            </a:r>
          </a:p>
        </p:txBody>
      </p:sp>
      <p:pic>
        <p:nvPicPr>
          <p:cNvPr id="10" name="Picture 9" descr="logo_red.png"/>
          <p:cNvPicPr>
            <a:picLocks noChangeAspect="1"/>
          </p:cNvPicPr>
          <p:nvPr/>
        </p:nvPicPr>
        <p:blipFill>
          <a:blip r:embed="rId3"/>
          <a:stretch>
            <a:fillRect/>
          </a:stretch>
        </p:blipFill>
        <p:spPr>
          <a:xfrm>
            <a:off x="10436918" y="420624"/>
            <a:ext cx="1297577" cy="365760"/>
          </a:xfrm>
          <a:prstGeom prst="rect">
            <a:avLst/>
          </a:prstGeom>
        </p:spPr>
      </p:pic>
      <p:sp>
        <p:nvSpPr>
          <p:cNvPr id="11" name="TextBox 10"/>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2" name="TextBox 11"/>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110</a:t>
            </a:r>
          </a:p>
        </p:txBody>
      </p:sp>
    </p:spTree>
    <p:extLst>
      <p:ext uri="{BB962C8B-B14F-4D97-AF65-F5344CB8AC3E}">
        <p14:creationId xmlns:p14="http://schemas.microsoft.com/office/powerpoint/2010/main" val="340567423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pSp>
        <p:nvGrpSpPr>
          <p:cNvPr id="3" name="Group 3"/>
          <p:cNvGrpSpPr/>
          <p:nvPr/>
        </p:nvGrpSpPr>
        <p:grpSpPr>
          <a:xfrm>
            <a:off x="457200" y="2435290"/>
            <a:ext cx="2616538" cy="261653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1D27"/>
            </a:solidFill>
          </p:spPr>
          <p:txBody>
            <a:bodyPr/>
            <a:p/>
          </p:txBody>
        </p:sp>
        <p:sp>
          <p:nvSpPr>
            <p:cNvPr id="5" name="TextBox 5"/>
            <p:cNvSpPr txBox="1"/>
            <p:nvPr/>
          </p:nvSpPr>
          <p:spPr>
            <a:xfrm>
              <a:off x="76200" y="28575"/>
              <a:ext cx="660400" cy="708025"/>
            </a:xfrm>
            <a:prstGeom prst="rect">
              <a:avLst/>
            </a:prstGeom>
          </p:spPr>
          <p:txBody>
            <a:bodyPr lIns="33867" tIns="33867" rIns="33867" bIns="33867" rtlCol="0" anchor="ctr"/>
            <a:lstStyle/>
            <a:p>
              <a:pPr algn="ctr">
                <a:lnSpc>
                  <a:spcPts val="2278"/>
                </a:lnSpc>
              </a:pPr>
              <a:r>
                <a:rPr lang="en-US" sz="1627" b="1" dirty="0">
                  <a:solidFill>
                    <a:srgbClr val="FDF8F8"/>
                  </a:solidFill>
                  <a:latin typeface="Montserrat"/>
                  <a:ea typeface="Montserrat"/>
                  <a:cs typeface="Montserrat"/>
                  <a:sym typeface="Montserrat"/>
                </a:rPr>
                <a:t>Muscle Mass</a:t>
              </a:r>
            </a:p>
          </p:txBody>
        </p:sp>
      </p:grpSp>
      <p:grpSp>
        <p:nvGrpSpPr>
          <p:cNvPr id="6" name="Group 6"/>
          <p:cNvGrpSpPr/>
          <p:nvPr/>
        </p:nvGrpSpPr>
        <p:grpSpPr>
          <a:xfrm>
            <a:off x="6231037" y="2400531"/>
            <a:ext cx="2616538" cy="261653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1D27"/>
            </a:solidFill>
          </p:spPr>
          <p:txBody>
            <a:bodyPr/>
            <a:p/>
          </p:txBody>
        </p:sp>
        <p:sp>
          <p:nvSpPr>
            <p:cNvPr id="8" name="TextBox 8"/>
            <p:cNvSpPr txBox="1"/>
            <p:nvPr/>
          </p:nvSpPr>
          <p:spPr>
            <a:xfrm>
              <a:off x="76200" y="28575"/>
              <a:ext cx="660400" cy="708025"/>
            </a:xfrm>
            <a:prstGeom prst="rect">
              <a:avLst/>
            </a:prstGeom>
          </p:spPr>
          <p:txBody>
            <a:bodyPr lIns="33867" tIns="33867" rIns="33867" bIns="33867" rtlCol="0" anchor="ctr"/>
            <a:lstStyle/>
            <a:p>
              <a:pPr algn="ctr">
                <a:lnSpc>
                  <a:spcPts val="2278"/>
                </a:lnSpc>
              </a:pPr>
              <a:r>
                <a:rPr lang="en-US" sz="1627" b="1" dirty="0">
                  <a:solidFill>
                    <a:srgbClr val="FDF8F8"/>
                  </a:solidFill>
                  <a:latin typeface="Montserrat"/>
                  <a:ea typeface="Montserrat"/>
                  <a:cs typeface="Montserrat"/>
                  <a:sym typeface="Montserrat"/>
                </a:rPr>
                <a:t>Fluid Balance</a:t>
              </a:r>
            </a:p>
          </p:txBody>
        </p:sp>
      </p:grpSp>
      <p:grpSp>
        <p:nvGrpSpPr>
          <p:cNvPr id="9" name="Group 9"/>
          <p:cNvGrpSpPr/>
          <p:nvPr/>
        </p:nvGrpSpPr>
        <p:grpSpPr>
          <a:xfrm>
            <a:off x="3344118" y="2400531"/>
            <a:ext cx="2616538" cy="261653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1D27"/>
            </a:solidFill>
          </p:spPr>
          <p:txBody>
            <a:bodyPr/>
            <a:p/>
          </p:txBody>
        </p:sp>
        <p:sp>
          <p:nvSpPr>
            <p:cNvPr id="11" name="TextBox 11"/>
            <p:cNvSpPr txBox="1"/>
            <p:nvPr/>
          </p:nvSpPr>
          <p:spPr>
            <a:xfrm>
              <a:off x="76200" y="28575"/>
              <a:ext cx="660400" cy="708025"/>
            </a:xfrm>
            <a:prstGeom prst="rect">
              <a:avLst/>
            </a:prstGeom>
          </p:spPr>
          <p:txBody>
            <a:bodyPr lIns="33867" tIns="33867" rIns="33867" bIns="33867" rtlCol="0" anchor="ctr"/>
            <a:lstStyle/>
            <a:p>
              <a:pPr algn="ctr">
                <a:lnSpc>
                  <a:spcPts val="2278"/>
                </a:lnSpc>
              </a:pPr>
              <a:r>
                <a:rPr lang="en-US" sz="1627" b="1" dirty="0">
                  <a:solidFill>
                    <a:srgbClr val="FDF8F8"/>
                  </a:solidFill>
                  <a:latin typeface="Montserrat"/>
                  <a:ea typeface="Montserrat"/>
                  <a:cs typeface="Montserrat"/>
                  <a:sym typeface="Montserrat"/>
                </a:rPr>
                <a:t>Fat Mass</a:t>
              </a:r>
            </a:p>
          </p:txBody>
        </p:sp>
      </p:grpSp>
      <p:grpSp>
        <p:nvGrpSpPr>
          <p:cNvPr id="12" name="Group 12"/>
          <p:cNvGrpSpPr/>
          <p:nvPr/>
        </p:nvGrpSpPr>
        <p:grpSpPr>
          <a:xfrm>
            <a:off x="9117956" y="2400531"/>
            <a:ext cx="2616538" cy="261653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1D27"/>
            </a:solidFill>
          </p:spPr>
          <p:txBody>
            <a:bodyPr/>
            <a:p/>
          </p:txBody>
        </p:sp>
        <p:sp>
          <p:nvSpPr>
            <p:cNvPr id="14" name="TextBox 14"/>
            <p:cNvSpPr txBox="1"/>
            <p:nvPr/>
          </p:nvSpPr>
          <p:spPr>
            <a:xfrm>
              <a:off x="76200" y="28575"/>
              <a:ext cx="660400" cy="708025"/>
            </a:xfrm>
            <a:prstGeom prst="rect">
              <a:avLst/>
            </a:prstGeom>
          </p:spPr>
          <p:txBody>
            <a:bodyPr lIns="33867" tIns="33867" rIns="33867" bIns="33867" rtlCol="0" anchor="ctr"/>
            <a:lstStyle/>
            <a:p>
              <a:pPr algn="ctr">
                <a:lnSpc>
                  <a:spcPts val="2278"/>
                </a:lnSpc>
              </a:pPr>
              <a:r>
                <a:rPr lang="en-US" sz="1627" b="1" dirty="0">
                  <a:solidFill>
                    <a:srgbClr val="FDF8F8"/>
                  </a:solidFill>
                  <a:latin typeface="Montserrat"/>
                  <a:ea typeface="Montserrat"/>
                  <a:cs typeface="Montserrat"/>
                  <a:sym typeface="Montserrat"/>
                </a:rPr>
                <a:t>Cellular Health</a:t>
              </a:r>
            </a:p>
          </p:txBody>
        </p:sp>
      </p:grpSp>
      <p:sp>
        <p:nvSpPr>
          <p:cNvPr id="15" name="Rectangle 14"/>
          <p:cNvSpPr/>
          <p:nvPr/>
        </p:nvSpPr>
        <p:spPr>
          <a:xfrm>
            <a:off x="457200" y="320040"/>
            <a:ext cx="521207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0040"/>
            <a:ext cx="5212079" cy="566928"/>
          </a:xfrm>
          <a:prstGeom prst="rect">
            <a:avLst/>
          </a:prstGeom>
          <a:noFill/>
        </p:spPr>
        <p:txBody>
          <a:bodyPr wrap="square" lIns="0" rIns="0" tIns="0" bIns="0" anchor="ctr">
            <a:spAutoFit/>
          </a:bodyPr>
          <a:lstStyle/>
          <a:p>
            <a:pPr algn="ctr"/>
            <a:r>
              <a:rPr sz="2200" b="1" i="0">
                <a:solidFill>
                  <a:srgbClr val="FFFFFF"/>
                </a:solidFill>
                <a:latin typeface="Calibri"/>
              </a:rPr>
              <a:t>Applications in Aesthetic Medicine</a:t>
            </a:r>
          </a:p>
        </p:txBody>
      </p:sp>
      <p:sp>
        <p:nvSpPr>
          <p:cNvPr id="17" name="TextBox 16"/>
          <p:cNvSpPr txBox="1"/>
          <p:nvPr/>
        </p:nvSpPr>
        <p:spPr>
          <a:xfrm>
            <a:off x="5897879" y="320040"/>
            <a:ext cx="4007815" cy="566928"/>
          </a:xfrm>
          <a:prstGeom prst="rect">
            <a:avLst/>
          </a:prstGeom>
          <a:noFill/>
        </p:spPr>
        <p:txBody>
          <a:bodyPr wrap="square" lIns="0" rIns="0" tIns="0" bIns="0" anchor="ctr">
            <a:spAutoFit/>
          </a:bodyPr>
          <a:lstStyle/>
          <a:p>
            <a:pPr algn="l"/>
            <a:r>
              <a:rPr sz="900" b="1" i="0">
                <a:solidFill>
                  <a:srgbClr val="B50937"/>
                </a:solidFill>
                <a:latin typeface="Calibri"/>
              </a:rPr>
              <a:t>SESSION 8</a:t>
            </a:r>
          </a:p>
          <a:p>
            <a:pPr algn="l"/>
            <a:r>
              <a:rPr sz="900" b="0" i="0">
                <a:solidFill>
                  <a:srgbClr val="5E6470"/>
                </a:solidFill>
                <a:latin typeface="Calibri"/>
              </a:rPr>
              <a:t>Aesthetic &amp; Wellness Market</a:t>
            </a:r>
          </a:p>
        </p:txBody>
      </p:sp>
      <p:pic>
        <p:nvPicPr>
          <p:cNvPr id="18" name="Picture 17" descr="logo_red.png"/>
          <p:cNvPicPr>
            <a:picLocks noChangeAspect="1"/>
          </p:cNvPicPr>
          <p:nvPr/>
        </p:nvPicPr>
        <p:blipFill>
          <a:blip r:embed="rId2"/>
          <a:stretch>
            <a:fillRect/>
          </a:stretch>
        </p:blipFill>
        <p:spPr>
          <a:xfrm>
            <a:off x="10436918" y="420624"/>
            <a:ext cx="1297577" cy="365760"/>
          </a:xfrm>
          <a:prstGeom prst="rect">
            <a:avLst/>
          </a:prstGeom>
        </p:spPr>
      </p:pic>
      <p:sp>
        <p:nvSpPr>
          <p:cNvPr id="19" name="TextBox 18"/>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0" name="TextBox 19"/>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111</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Muscle Mass</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8</a:t>
            </a:r>
          </a:p>
          <a:p>
            <a:pPr algn="l"/>
            <a:r>
              <a:rPr sz="900" b="0" i="0">
                <a:solidFill>
                  <a:srgbClr val="5E6470"/>
                </a:solidFill>
                <a:latin typeface="Calibri"/>
              </a:rPr>
              <a:t>Aesthetic &amp; Wellness Market</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112</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Skeletal muscle mass reflects the total muscle in the arms, legs and trunk.</a:t>
            </a:r>
          </a:p>
          <a:p>
            <a:pPr marL="228600" indent="-228600">
              <a:spcAft>
                <a:spcPts val="600"/>
              </a:spcAft>
              <a:buChar char="•"/>
            </a:pPr>
            <a:r>
              <a:rPr sz="1300">
                <a:solidFill>
                  <a:srgbClr val="181D27"/>
                </a:solidFill>
                <a:latin typeface="Calibri"/>
              </a:rPr>
              <a:t>Adequate muscle is crucial for a toned, firm look and good posture.</a:t>
            </a:r>
          </a:p>
          <a:p>
            <a:pPr marL="228600" indent="-228600">
              <a:spcAft>
                <a:spcPts val="600"/>
              </a:spcAft>
              <a:buChar char="•"/>
            </a:pPr>
            <a:r>
              <a:rPr sz="1300">
                <a:solidFill>
                  <a:srgbClr val="181D27"/>
                </a:solidFill>
                <a:latin typeface="Calibri"/>
              </a:rPr>
              <a:t>Low muscle can cause sagging or less defined contours, even at normal weight.</a:t>
            </a:r>
          </a:p>
          <a:p>
            <a:pPr marL="228600" indent="-228600">
              <a:spcAft>
                <a:spcPts val="600"/>
              </a:spcAft>
              <a:buChar char="•"/>
            </a:pPr>
            <a:r>
              <a:rPr sz="1300">
                <a:solidFill>
                  <a:srgbClr val="181D27"/>
                </a:solidFill>
                <a:latin typeface="Calibri"/>
              </a:rPr>
              <a:t>Segmental muscle shows which areas need focused work.</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110.png"/>
          <p:cNvPicPr>
            <a:picLocks noChangeAspect="1"/>
          </p:cNvPicPr>
          <p:nvPr/>
        </p:nvPicPr>
        <p:blipFill>
          <a:blip r:embed="rId5"/>
          <a:stretch>
            <a:fillRect/>
          </a:stretch>
        </p:blipFill>
        <p:spPr>
          <a:xfrm>
            <a:off x="5760720" y="2379302"/>
            <a:ext cx="5790895" cy="1642194"/>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Assessing SMM helps design muscle-toning programs and predict results after fat reduction.</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Fat Mass</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8</a:t>
            </a:r>
          </a:p>
          <a:p>
            <a:pPr algn="l"/>
            <a:r>
              <a:rPr sz="900" b="0" i="0">
                <a:solidFill>
                  <a:srgbClr val="5E6470"/>
                </a:solidFill>
                <a:latin typeface="Calibri"/>
              </a:rPr>
              <a:t>Aesthetic &amp; Wellness Market</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113</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Total and segmental fat mass strongly shape body contour.</a:t>
            </a:r>
          </a:p>
          <a:p>
            <a:pPr marL="228600" indent="-228600">
              <a:spcAft>
                <a:spcPts val="600"/>
              </a:spcAft>
              <a:buChar char="•"/>
            </a:pPr>
            <a:r>
              <a:rPr sz="1300">
                <a:solidFill>
                  <a:srgbClr val="181D27"/>
                </a:solidFill>
                <a:latin typeface="Calibri"/>
              </a:rPr>
              <a:t>High abdominal and flank fat creates a bloated or "apple-shaped" look.</a:t>
            </a:r>
          </a:p>
          <a:p>
            <a:pPr marL="228600" indent="-228600">
              <a:spcAft>
                <a:spcPts val="600"/>
              </a:spcAft>
              <a:buChar char="•"/>
            </a:pPr>
            <a:r>
              <a:rPr sz="1300">
                <a:solidFill>
                  <a:srgbClr val="181D27"/>
                </a:solidFill>
                <a:latin typeface="Calibri"/>
              </a:rPr>
              <a:t>Extra fat in the thighs or arms affects proportion and silhouette.</a:t>
            </a:r>
          </a:p>
          <a:p>
            <a:pPr marL="228600" indent="-228600">
              <a:spcAft>
                <a:spcPts val="600"/>
              </a:spcAft>
              <a:buChar char="•"/>
            </a:pPr>
            <a:r>
              <a:rPr sz="1300">
                <a:solidFill>
                  <a:srgbClr val="181D27"/>
                </a:solidFill>
                <a:latin typeface="Calibri"/>
              </a:rPr>
              <a:t>Segmental analysis measures change in the areas that matter most.</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111.png"/>
          <p:cNvPicPr>
            <a:picLocks noChangeAspect="1"/>
          </p:cNvPicPr>
          <p:nvPr/>
        </p:nvPicPr>
        <p:blipFill>
          <a:blip r:embed="rId6"/>
          <a:stretch>
            <a:fillRect/>
          </a:stretch>
        </p:blipFill>
        <p:spPr>
          <a:xfrm>
            <a:off x="5905553" y="1280160"/>
            <a:ext cx="5501228"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Tracking fat before and after treatment helps choose procedures and prove progress.</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292608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2926080" cy="566928"/>
          </a:xfrm>
          <a:prstGeom prst="rect">
            <a:avLst/>
          </a:prstGeom>
          <a:noFill/>
        </p:spPr>
        <p:txBody>
          <a:bodyPr wrap="square" lIns="0" rIns="0" tIns="0" bIns="0" anchor="ctr">
            <a:spAutoFit/>
          </a:bodyPr>
          <a:lstStyle/>
          <a:p>
            <a:pPr algn="ctr"/>
            <a:r>
              <a:rPr sz="2200" b="1" i="0">
                <a:solidFill>
                  <a:srgbClr val="FFFFFF"/>
                </a:solidFill>
                <a:latin typeface="Calibri"/>
              </a:rPr>
              <a:t>Visceral Fat Mass</a:t>
            </a:r>
          </a:p>
        </p:txBody>
      </p:sp>
      <p:sp>
        <p:nvSpPr>
          <p:cNvPr id="4" name="TextBox 3"/>
          <p:cNvSpPr txBox="1"/>
          <p:nvPr/>
        </p:nvSpPr>
        <p:spPr>
          <a:xfrm>
            <a:off x="3611880" y="320040"/>
            <a:ext cx="6293815" cy="566928"/>
          </a:xfrm>
          <a:prstGeom prst="rect">
            <a:avLst/>
          </a:prstGeom>
          <a:noFill/>
        </p:spPr>
        <p:txBody>
          <a:bodyPr wrap="square" lIns="0" rIns="0" tIns="0" bIns="0" anchor="ctr">
            <a:spAutoFit/>
          </a:bodyPr>
          <a:lstStyle/>
          <a:p>
            <a:pPr algn="l"/>
            <a:r>
              <a:rPr sz="900" b="1" i="0">
                <a:solidFill>
                  <a:srgbClr val="B50937"/>
                </a:solidFill>
                <a:latin typeface="Calibri"/>
              </a:rPr>
              <a:t>SESSION 8</a:t>
            </a:r>
          </a:p>
          <a:p>
            <a:pPr algn="l"/>
            <a:r>
              <a:rPr sz="900" b="0" i="0">
                <a:solidFill>
                  <a:srgbClr val="5E6470"/>
                </a:solidFill>
                <a:latin typeface="Calibri"/>
              </a:rPr>
              <a:t>Aesthetic &amp; Wellness Market</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114</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marL="228600" indent="-228600">
              <a:spcAft>
                <a:spcPts val="600"/>
              </a:spcAft>
              <a:buChar char="•"/>
            </a:pPr>
            <a:r>
              <a:rPr sz="1300">
                <a:solidFill>
                  <a:srgbClr val="181D27"/>
                </a:solidFill>
                <a:latin typeface="Calibri"/>
              </a:rPr>
              <a:t>Patients with high visceral fat may look bloated even if their BMI is normal.</a:t>
            </a:r>
          </a:p>
          <a:p>
            <a:pPr marL="228600" indent="-228600">
              <a:spcAft>
                <a:spcPts val="600"/>
              </a:spcAft>
              <a:buChar char="•"/>
            </a:pPr>
            <a:r>
              <a:rPr sz="1300">
                <a:solidFill>
                  <a:srgbClr val="181D27"/>
                </a:solidFill>
                <a:latin typeface="Calibri"/>
              </a:rPr>
              <a:t>VFA levels help clinicians recommend lifestyle changes, exercise and abdominal-contouring treatments.</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112.png"/>
          <p:cNvPicPr>
            <a:picLocks noChangeAspect="1"/>
          </p:cNvPicPr>
          <p:nvPr/>
        </p:nvPicPr>
        <p:blipFill>
          <a:blip r:embed="rId5"/>
          <a:stretch>
            <a:fillRect/>
          </a:stretch>
        </p:blipFill>
        <p:spPr>
          <a:xfrm>
            <a:off x="6182638" y="1280160"/>
            <a:ext cx="4947058"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Regular visceral fat monitoring shows how well procedures and treatment plans are working.</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9377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4937759" cy="566928"/>
          </a:xfrm>
          <a:prstGeom prst="rect">
            <a:avLst/>
          </a:prstGeom>
          <a:noFill/>
        </p:spPr>
        <p:txBody>
          <a:bodyPr wrap="square" lIns="0" rIns="0" tIns="0" bIns="0" anchor="ctr">
            <a:spAutoFit/>
          </a:bodyPr>
          <a:lstStyle/>
          <a:p>
            <a:pPr algn="ctr"/>
            <a:r>
              <a:rPr sz="2200" b="1" i="0">
                <a:solidFill>
                  <a:srgbClr val="FFFFFF"/>
                </a:solidFill>
                <a:latin typeface="Calibri"/>
              </a:rPr>
              <a:t>Body Water (ICW/ECW Ratio &amp; TBW)</a:t>
            </a:r>
          </a:p>
        </p:txBody>
      </p:sp>
      <p:sp>
        <p:nvSpPr>
          <p:cNvPr id="4" name="TextBox 3"/>
          <p:cNvSpPr txBox="1"/>
          <p:nvPr/>
        </p:nvSpPr>
        <p:spPr>
          <a:xfrm>
            <a:off x="5623559" y="320040"/>
            <a:ext cx="4282135" cy="566928"/>
          </a:xfrm>
          <a:prstGeom prst="rect">
            <a:avLst/>
          </a:prstGeom>
          <a:noFill/>
        </p:spPr>
        <p:txBody>
          <a:bodyPr wrap="square" lIns="0" rIns="0" tIns="0" bIns="0" anchor="ctr">
            <a:spAutoFit/>
          </a:bodyPr>
          <a:lstStyle/>
          <a:p>
            <a:pPr algn="l"/>
            <a:r>
              <a:rPr sz="900" b="1" i="0">
                <a:solidFill>
                  <a:srgbClr val="B50937"/>
                </a:solidFill>
                <a:latin typeface="Calibri"/>
              </a:rPr>
              <a:t>SESSION 8</a:t>
            </a:r>
          </a:p>
          <a:p>
            <a:pPr algn="l"/>
            <a:r>
              <a:rPr sz="900" b="0" i="0">
                <a:solidFill>
                  <a:srgbClr val="5E6470"/>
                </a:solidFill>
                <a:latin typeface="Calibri"/>
              </a:rPr>
              <a:t>Aesthetic &amp; Wellness Market</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115</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Body water distribution (ICW and ECW) is a critical factor in skin appearance and recovery.</a:t>
            </a:r>
          </a:p>
          <a:p>
            <a:pPr marL="228600" indent="-228600">
              <a:spcAft>
                <a:spcPts val="600"/>
              </a:spcAft>
              <a:buChar char="•"/>
            </a:pPr>
            <a:r>
              <a:rPr sz="1300">
                <a:solidFill>
                  <a:srgbClr val="181D27"/>
                </a:solidFill>
                <a:latin typeface="Calibri"/>
              </a:rPr>
              <a:t>High ECW may mean fluid retention or puffiness.</a:t>
            </a:r>
          </a:p>
          <a:p>
            <a:pPr marL="228600" indent="-228600">
              <a:spcAft>
                <a:spcPts val="600"/>
              </a:spcAft>
              <a:buChar char="•"/>
            </a:pPr>
            <a:r>
              <a:rPr sz="1300">
                <a:solidFill>
                  <a:srgbClr val="181D27"/>
                </a:solidFill>
                <a:latin typeface="Calibri"/>
              </a:rPr>
              <a:t>Low ICW can reduce skin elasticity and firmness.</a:t>
            </a:r>
          </a:p>
          <a:p>
            <a:pPr marL="228600" indent="-228600">
              <a:spcAft>
                <a:spcPts val="600"/>
              </a:spcAft>
              <a:buChar char="•"/>
            </a:pPr>
            <a:r>
              <a:rPr sz="1300">
                <a:solidFill>
                  <a:srgbClr val="181D27"/>
                </a:solidFill>
                <a:latin typeface="Calibri"/>
              </a:rPr>
              <a:t>Total body water (TBW) gives the overall hydration status.</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113.png"/>
          <p:cNvPicPr>
            <a:picLocks noChangeAspect="1"/>
          </p:cNvPicPr>
          <p:nvPr/>
        </p:nvPicPr>
        <p:blipFill>
          <a:blip r:embed="rId6"/>
          <a:stretch>
            <a:fillRect/>
          </a:stretch>
        </p:blipFill>
        <p:spPr>
          <a:xfrm>
            <a:off x="5760720" y="1900403"/>
            <a:ext cx="5790895" cy="2599993"/>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Balanced body water supports better skin and post-treatment recovery.</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3444231" y="1097280"/>
            <a:ext cx="5623903" cy="5230006"/>
          </a:xfrm>
          <a:custGeom>
            <a:avLst/>
            <a:gdLst/>
            <a:ahLst/>
            <a:cxnLst/>
            <a:rect l="l" t="t" r="r" b="b"/>
            <a:pathLst>
              <a:path w="9203729" h="8559102">
                <a:moveTo>
                  <a:pt x="0" y="0"/>
                </a:moveTo>
                <a:lnTo>
                  <a:pt x="9203728" y="0"/>
                </a:lnTo>
                <a:lnTo>
                  <a:pt x="9203728" y="8559102"/>
                </a:lnTo>
                <a:lnTo>
                  <a:pt x="0" y="8559102"/>
                </a:lnTo>
                <a:lnTo>
                  <a:pt x="0" y="0"/>
                </a:lnTo>
                <a:close/>
              </a:path>
            </a:pathLst>
          </a:custGeom>
          <a:blipFill>
            <a:blip r:embed="rId2"/>
            <a:stretch>
              <a:fillRect l="-2098" r="-2098"/>
            </a:stretch>
          </a:blipFill>
        </p:spPr>
        <p:txBody>
          <a:bodyPr/>
          <a:lstStyle/>
          <a:p>
            <a:endParaRPr lang="en-US" sz="1099" dirty="0"/>
          </a:p>
        </p:txBody>
      </p:sp>
      <p:sp>
        <p:nvSpPr>
          <p:cNvPr id="3" name="AutoShape 3"/>
          <p:cNvSpPr/>
          <p:nvPr/>
        </p:nvSpPr>
        <p:spPr>
          <a:xfrm flipH="1">
            <a:off x="2603459" y="2764571"/>
            <a:ext cx="948492" cy="0"/>
          </a:xfrm>
          <a:prstGeom prst="line">
            <a:avLst/>
          </a:prstGeom>
          <a:ln w="38100" cap="flat">
            <a:solidFill>
              <a:srgbClr val="000000"/>
            </a:solidFill>
            <a:prstDash val="solid"/>
            <a:headEnd type="none" w="sm" len="sm"/>
            <a:tailEnd type="triangle" w="lg" len="med"/>
          </a:ln>
        </p:spPr>
        <p:txBody>
          <a:bodyPr/>
          <a:p/>
        </p:txBody>
      </p:sp>
      <p:sp>
        <p:nvSpPr>
          <p:cNvPr id="4" name="TextBox 4"/>
          <p:cNvSpPr txBox="1"/>
          <p:nvPr/>
        </p:nvSpPr>
        <p:spPr>
          <a:xfrm>
            <a:off x="757699" y="2009228"/>
            <a:ext cx="1845758" cy="1136916"/>
          </a:xfrm>
          <a:prstGeom prst="rect">
            <a:avLst/>
          </a:prstGeom>
          <a:ln>
            <a:solidFill>
              <a:schemeClr val="tx1"/>
            </a:solidFill>
          </a:ln>
        </p:spPr>
        <p:txBody>
          <a:bodyPr wrap="square" lIns="0" tIns="0" rIns="0" bIns="0" rtlCol="0" anchor="t">
            <a:spAutoFit/>
          </a:bodyPr>
          <a:lstStyle/>
          <a:p>
            <a:pPr algn="just">
              <a:lnSpc>
                <a:spcPts val="1252"/>
              </a:lnSpc>
              <a:spcBef>
                <a:spcPct val="0"/>
              </a:spcBef>
            </a:pPr>
            <a:r>
              <a:rPr lang="en-US" sz="894" b="1" dirty="0">
                <a:solidFill>
                  <a:srgbClr val="B50937"/>
                </a:solidFill>
                <a:latin typeface="Montserrat Bold"/>
                <a:ea typeface="Montserrat Bold"/>
                <a:cs typeface="Montserrat Bold"/>
                <a:sym typeface="Montserrat Bold"/>
              </a:rPr>
              <a:t>Total muscle mass  - </a:t>
            </a:r>
          </a:p>
          <a:p>
            <a:pPr algn="just">
              <a:lnSpc>
                <a:spcPts val="1252"/>
              </a:lnSpc>
              <a:spcBef>
                <a:spcPct val="0"/>
              </a:spcBef>
            </a:pPr>
            <a:r>
              <a:rPr lang="en-US" sz="894" dirty="0">
                <a:solidFill>
                  <a:srgbClr val="000000"/>
                </a:solidFill>
                <a:latin typeface="Montserrat"/>
                <a:ea typeface="Montserrat"/>
                <a:cs typeface="Montserrat"/>
                <a:sym typeface="Montserrat"/>
              </a:rPr>
              <a:t>High muscle mass → better body tone, posture, and firmness</a:t>
            </a:r>
          </a:p>
          <a:p>
            <a:pPr algn="just">
              <a:lnSpc>
                <a:spcPts val="1252"/>
              </a:lnSpc>
              <a:spcBef>
                <a:spcPct val="0"/>
              </a:spcBef>
            </a:pPr>
            <a:r>
              <a:rPr lang="en-US" sz="894" dirty="0">
                <a:solidFill>
                  <a:srgbClr val="000000"/>
                </a:solidFill>
                <a:latin typeface="Montserrat"/>
                <a:ea typeface="Montserrat"/>
                <a:cs typeface="Montserrat"/>
                <a:sym typeface="Montserrat"/>
              </a:rPr>
              <a:t>Low muscle mass → sagging or flabby appearance even with normal weight</a:t>
            </a:r>
          </a:p>
          <a:p>
            <a:pPr algn="just">
              <a:lnSpc>
                <a:spcPts val="1252"/>
              </a:lnSpc>
              <a:spcBef>
                <a:spcPct val="0"/>
              </a:spcBef>
            </a:pPr>
            <a:endParaRPr lang="en-US" sz="894" dirty="0">
              <a:solidFill>
                <a:srgbClr val="000000"/>
              </a:solidFill>
              <a:latin typeface="Montserrat"/>
              <a:ea typeface="Montserrat"/>
              <a:cs typeface="Montserrat"/>
              <a:sym typeface="Montserrat"/>
            </a:endParaRPr>
          </a:p>
        </p:txBody>
      </p:sp>
      <p:sp>
        <p:nvSpPr>
          <p:cNvPr id="5" name="TextBox 5"/>
          <p:cNvSpPr txBox="1"/>
          <p:nvPr/>
        </p:nvSpPr>
        <p:spPr>
          <a:xfrm>
            <a:off x="640698" y="3285757"/>
            <a:ext cx="1845759" cy="807801"/>
          </a:xfrm>
          <a:prstGeom prst="rect">
            <a:avLst/>
          </a:prstGeom>
          <a:ln>
            <a:solidFill>
              <a:schemeClr val="tx1"/>
            </a:solidFill>
          </a:ln>
        </p:spPr>
        <p:txBody>
          <a:bodyPr lIns="0" tIns="0" rIns="0" bIns="0" rtlCol="0" anchor="t">
            <a:spAutoFit/>
          </a:bodyPr>
          <a:lstStyle/>
          <a:p>
            <a:pPr algn="just">
              <a:lnSpc>
                <a:spcPts val="1252"/>
              </a:lnSpc>
              <a:spcBef>
                <a:spcPct val="0"/>
              </a:spcBef>
            </a:pPr>
            <a:r>
              <a:rPr lang="en-US" sz="894" b="1" dirty="0">
                <a:solidFill>
                  <a:srgbClr val="B50937"/>
                </a:solidFill>
                <a:latin typeface="Montserrat Bold"/>
                <a:ea typeface="Montserrat Bold"/>
                <a:cs typeface="Montserrat Bold"/>
                <a:sym typeface="Montserrat Bold"/>
              </a:rPr>
              <a:t>Fat Mass / Percent Body Fat (PBF)</a:t>
            </a:r>
          </a:p>
          <a:p>
            <a:pPr algn="just">
              <a:lnSpc>
                <a:spcPts val="1252"/>
              </a:lnSpc>
              <a:spcBef>
                <a:spcPct val="0"/>
              </a:spcBef>
            </a:pPr>
            <a:r>
              <a:rPr lang="en-US" sz="894" dirty="0">
                <a:solidFill>
                  <a:srgbClr val="000000"/>
                </a:solidFill>
                <a:latin typeface="Montserrat"/>
                <a:ea typeface="Montserrat"/>
                <a:cs typeface="Montserrat"/>
                <a:sym typeface="Montserrat"/>
              </a:rPr>
              <a:t>Higher fat in abdomen/flanks may reduce contour definition. Track fat reduction over </a:t>
            </a:r>
            <a:r>
              <a:rPr lang="en-US" sz="894" dirty="0" err="1">
                <a:solidFill>
                  <a:srgbClr val="000000"/>
                </a:solidFill>
                <a:latin typeface="Montserrat"/>
                <a:ea typeface="Montserrat"/>
                <a:cs typeface="Montserrat"/>
                <a:sym typeface="Montserrat"/>
              </a:rPr>
              <a:t>treatments.</a:t>
            </a:r>
            <a:endParaRPr lang="en-US" sz="894" dirty="0">
              <a:solidFill>
                <a:srgbClr val="000000"/>
              </a:solidFill>
              <a:latin typeface="Montserrat"/>
              <a:ea typeface="Montserrat"/>
              <a:cs typeface="Montserrat"/>
              <a:sym typeface="Montserrat"/>
            </a:endParaRPr>
          </a:p>
        </p:txBody>
      </p:sp>
      <p:sp>
        <p:nvSpPr>
          <p:cNvPr id="6" name="AutoShape 6"/>
          <p:cNvSpPr/>
          <p:nvPr/>
        </p:nvSpPr>
        <p:spPr>
          <a:xfrm flipH="1">
            <a:off x="2603459" y="3700643"/>
            <a:ext cx="948492" cy="0"/>
          </a:xfrm>
          <a:prstGeom prst="line">
            <a:avLst/>
          </a:prstGeom>
          <a:ln w="38100" cap="flat">
            <a:solidFill>
              <a:srgbClr val="000000"/>
            </a:solidFill>
            <a:prstDash val="solid"/>
            <a:headEnd type="none" w="sm" len="sm"/>
            <a:tailEnd type="triangle" w="lg" len="med"/>
          </a:ln>
        </p:spPr>
        <p:txBody>
          <a:bodyPr/>
          <a:p/>
        </p:txBody>
      </p:sp>
      <p:sp>
        <p:nvSpPr>
          <p:cNvPr id="7" name="TextBox 7"/>
          <p:cNvSpPr txBox="1"/>
          <p:nvPr/>
        </p:nvSpPr>
        <p:spPr>
          <a:xfrm>
            <a:off x="640698" y="4466995"/>
            <a:ext cx="1845759" cy="807801"/>
          </a:xfrm>
          <a:prstGeom prst="rect">
            <a:avLst/>
          </a:prstGeom>
          <a:ln>
            <a:solidFill>
              <a:schemeClr val="tx1"/>
            </a:solidFill>
          </a:ln>
        </p:spPr>
        <p:txBody>
          <a:bodyPr lIns="0" tIns="0" rIns="0" bIns="0" rtlCol="0" anchor="t">
            <a:spAutoFit/>
          </a:bodyPr>
          <a:lstStyle/>
          <a:p>
            <a:pPr algn="just">
              <a:lnSpc>
                <a:spcPts val="1252"/>
              </a:lnSpc>
              <a:spcBef>
                <a:spcPct val="0"/>
              </a:spcBef>
            </a:pPr>
            <a:r>
              <a:rPr lang="en-US" sz="894" b="1" dirty="0">
                <a:solidFill>
                  <a:srgbClr val="B50937"/>
                </a:solidFill>
                <a:latin typeface="Montserrat Bold"/>
                <a:ea typeface="Montserrat Bold"/>
                <a:cs typeface="Montserrat Bold"/>
                <a:sym typeface="Montserrat Bold"/>
              </a:rPr>
              <a:t>Segmental Muscle analysis</a:t>
            </a:r>
          </a:p>
          <a:p>
            <a:pPr algn="just">
              <a:lnSpc>
                <a:spcPts val="1252"/>
              </a:lnSpc>
              <a:spcBef>
                <a:spcPct val="0"/>
              </a:spcBef>
            </a:pPr>
            <a:r>
              <a:rPr lang="en-US" sz="894" dirty="0">
                <a:solidFill>
                  <a:srgbClr val="000000"/>
                </a:solidFill>
                <a:latin typeface="Montserrat"/>
                <a:ea typeface="Montserrat"/>
                <a:cs typeface="Montserrat"/>
                <a:sym typeface="Montserrat"/>
              </a:rPr>
              <a:t>Segmental analysis helps identify asymmetry. Targeted fat reduction or muscle toning recommended where values are low/high.</a:t>
            </a:r>
          </a:p>
        </p:txBody>
      </p:sp>
      <p:sp>
        <p:nvSpPr>
          <p:cNvPr id="8" name="AutoShape 8"/>
          <p:cNvSpPr/>
          <p:nvPr/>
        </p:nvSpPr>
        <p:spPr>
          <a:xfrm flipH="1">
            <a:off x="2603459" y="4835079"/>
            <a:ext cx="948492" cy="0"/>
          </a:xfrm>
          <a:prstGeom prst="line">
            <a:avLst/>
          </a:prstGeom>
          <a:ln w="38100" cap="flat">
            <a:solidFill>
              <a:srgbClr val="000000"/>
            </a:solidFill>
            <a:prstDash val="solid"/>
            <a:headEnd type="none" w="sm" len="sm"/>
            <a:tailEnd type="triangle" w="lg" len="med"/>
          </a:ln>
        </p:spPr>
        <p:txBody>
          <a:bodyPr/>
          <a:p/>
        </p:txBody>
      </p:sp>
      <p:sp>
        <p:nvSpPr>
          <p:cNvPr id="9" name="TextBox 9"/>
          <p:cNvSpPr txBox="1"/>
          <p:nvPr/>
        </p:nvSpPr>
        <p:spPr>
          <a:xfrm>
            <a:off x="760609" y="5876393"/>
            <a:ext cx="1845759" cy="478686"/>
          </a:xfrm>
          <a:prstGeom prst="rect">
            <a:avLst/>
          </a:prstGeom>
          <a:ln>
            <a:solidFill>
              <a:schemeClr val="tx1"/>
            </a:solidFill>
          </a:ln>
        </p:spPr>
        <p:txBody>
          <a:bodyPr lIns="0" tIns="0" rIns="0" bIns="0" rtlCol="0" anchor="t">
            <a:spAutoFit/>
          </a:bodyPr>
          <a:lstStyle/>
          <a:p>
            <a:pPr algn="just">
              <a:lnSpc>
                <a:spcPts val="1252"/>
              </a:lnSpc>
            </a:pPr>
            <a:r>
              <a:rPr lang="en-US" sz="894" b="1" dirty="0">
                <a:solidFill>
                  <a:srgbClr val="B50937"/>
                </a:solidFill>
                <a:latin typeface="Montserrat Bold"/>
                <a:ea typeface="Montserrat Bold"/>
                <a:cs typeface="Montserrat Bold"/>
                <a:sym typeface="Montserrat Bold"/>
              </a:rPr>
              <a:t>ECW Ratio </a:t>
            </a:r>
          </a:p>
          <a:p>
            <a:pPr algn="just">
              <a:lnSpc>
                <a:spcPts val="1252"/>
              </a:lnSpc>
              <a:spcBef>
                <a:spcPct val="0"/>
              </a:spcBef>
            </a:pPr>
            <a:r>
              <a:rPr lang="en-US" sz="894" dirty="0">
                <a:solidFill>
                  <a:srgbClr val="000000"/>
                </a:solidFill>
                <a:latin typeface="Montserrat"/>
                <a:ea typeface="Montserrat"/>
                <a:cs typeface="Montserrat"/>
                <a:sym typeface="Montserrat"/>
              </a:rPr>
              <a:t>High ECW → puffiness; low ICW → poor skin elasticity</a:t>
            </a:r>
          </a:p>
        </p:txBody>
      </p:sp>
      <p:sp>
        <p:nvSpPr>
          <p:cNvPr id="10" name="AutoShape 10"/>
          <p:cNvSpPr/>
          <p:nvPr/>
        </p:nvSpPr>
        <p:spPr>
          <a:xfrm flipH="1">
            <a:off x="2603459" y="6103584"/>
            <a:ext cx="948492" cy="0"/>
          </a:xfrm>
          <a:prstGeom prst="line">
            <a:avLst/>
          </a:prstGeom>
          <a:ln w="38100" cap="flat">
            <a:solidFill>
              <a:srgbClr val="000000"/>
            </a:solidFill>
            <a:prstDash val="solid"/>
            <a:headEnd type="none" w="sm" len="sm"/>
            <a:tailEnd type="triangle" w="lg" len="med"/>
          </a:ln>
        </p:spPr>
        <p:txBody>
          <a:bodyPr/>
          <a:p/>
        </p:txBody>
      </p:sp>
      <p:sp>
        <p:nvSpPr>
          <p:cNvPr id="11" name="AutoShape 11"/>
          <p:cNvSpPr/>
          <p:nvPr/>
        </p:nvSpPr>
        <p:spPr>
          <a:xfrm flipV="1">
            <a:off x="6967136" y="4835079"/>
            <a:ext cx="2528039" cy="11640"/>
          </a:xfrm>
          <a:prstGeom prst="line">
            <a:avLst/>
          </a:prstGeom>
          <a:ln w="38100" cap="flat">
            <a:solidFill>
              <a:srgbClr val="000000"/>
            </a:solidFill>
            <a:prstDash val="solid"/>
            <a:headEnd type="none" w="sm" len="sm"/>
            <a:tailEnd type="triangle" w="lg" len="med"/>
          </a:ln>
        </p:spPr>
        <p:txBody>
          <a:bodyPr/>
          <a:p/>
        </p:txBody>
      </p:sp>
      <p:sp>
        <p:nvSpPr>
          <p:cNvPr id="12" name="TextBox 12"/>
          <p:cNvSpPr txBox="1"/>
          <p:nvPr/>
        </p:nvSpPr>
        <p:spPr>
          <a:xfrm>
            <a:off x="9495175" y="4309849"/>
            <a:ext cx="1962218" cy="1136916"/>
          </a:xfrm>
          <a:prstGeom prst="rect">
            <a:avLst/>
          </a:prstGeom>
          <a:ln>
            <a:solidFill>
              <a:schemeClr val="tx1"/>
            </a:solidFill>
          </a:ln>
        </p:spPr>
        <p:txBody>
          <a:bodyPr wrap="square" lIns="0" tIns="0" rIns="0" bIns="0" rtlCol="0" anchor="t">
            <a:spAutoFit/>
          </a:bodyPr>
          <a:lstStyle/>
          <a:p>
            <a:pPr algn="just">
              <a:lnSpc>
                <a:spcPts val="1252"/>
              </a:lnSpc>
            </a:pPr>
            <a:r>
              <a:rPr lang="en-US" sz="894" b="1" dirty="0">
                <a:solidFill>
                  <a:srgbClr val="B50937"/>
                </a:solidFill>
                <a:latin typeface="Montserrat Bold"/>
                <a:ea typeface="Montserrat Bold"/>
                <a:cs typeface="Montserrat Bold"/>
                <a:sym typeface="Montserrat Bold"/>
              </a:rPr>
              <a:t>Phase Angle</a:t>
            </a:r>
          </a:p>
          <a:p>
            <a:pPr algn="just">
              <a:lnSpc>
                <a:spcPts val="1252"/>
              </a:lnSpc>
            </a:pPr>
            <a:r>
              <a:rPr lang="en-US" sz="894" dirty="0">
                <a:solidFill>
                  <a:srgbClr val="000000"/>
                </a:solidFill>
                <a:latin typeface="Montserrat"/>
                <a:ea typeface="Montserrat"/>
                <a:cs typeface="Montserrat"/>
                <a:sym typeface="Montserrat"/>
              </a:rPr>
              <a:t>Higher phase angle indicates better skin firmness and cellular integrity; lower value suggests need for skin/muscle support.</a:t>
            </a:r>
          </a:p>
          <a:p>
            <a:pPr algn="just">
              <a:lnSpc>
                <a:spcPts val="1252"/>
              </a:lnSpc>
              <a:spcBef>
                <a:spcPct val="0"/>
              </a:spcBef>
            </a:pPr>
            <a:endParaRPr lang="en-US" sz="894" dirty="0">
              <a:solidFill>
                <a:srgbClr val="000000"/>
              </a:solidFill>
              <a:latin typeface="Montserrat"/>
              <a:ea typeface="Montserrat"/>
              <a:cs typeface="Montserrat"/>
              <a:sym typeface="Montserrat"/>
            </a:endParaRPr>
          </a:p>
          <a:p>
            <a:pPr algn="just">
              <a:lnSpc>
                <a:spcPts val="1252"/>
              </a:lnSpc>
              <a:spcBef>
                <a:spcPct val="0"/>
              </a:spcBef>
            </a:pPr>
            <a:endParaRPr lang="en-US" sz="894" dirty="0">
              <a:solidFill>
                <a:srgbClr val="000000"/>
              </a:solidFill>
              <a:latin typeface="Montserrat"/>
              <a:ea typeface="Montserrat"/>
              <a:cs typeface="Montserrat"/>
              <a:sym typeface="Montserrat"/>
            </a:endParaRPr>
          </a:p>
        </p:txBody>
      </p:sp>
      <p:sp>
        <p:nvSpPr>
          <p:cNvPr id="13" name="TextBox 13"/>
          <p:cNvSpPr txBox="1"/>
          <p:nvPr/>
        </p:nvSpPr>
        <p:spPr>
          <a:xfrm>
            <a:off x="9495176" y="1972744"/>
            <a:ext cx="2055820" cy="1630588"/>
          </a:xfrm>
          <a:prstGeom prst="rect">
            <a:avLst/>
          </a:prstGeom>
          <a:ln>
            <a:solidFill>
              <a:schemeClr val="tx1"/>
            </a:solidFill>
          </a:ln>
        </p:spPr>
        <p:txBody>
          <a:bodyPr wrap="square" lIns="0" tIns="0" rIns="0" bIns="0" rtlCol="0" anchor="t">
            <a:spAutoFit/>
          </a:bodyPr>
          <a:lstStyle/>
          <a:p>
            <a:pPr algn="just">
              <a:lnSpc>
                <a:spcPts val="1252"/>
              </a:lnSpc>
            </a:pPr>
            <a:r>
              <a:rPr lang="en-US" sz="894" b="1" dirty="0">
                <a:solidFill>
                  <a:srgbClr val="B50937"/>
                </a:solidFill>
                <a:latin typeface="Montserrat Bold"/>
                <a:ea typeface="Montserrat Bold"/>
                <a:cs typeface="Montserrat Bold"/>
                <a:sym typeface="Montserrat Bold"/>
              </a:rPr>
              <a:t>Visceral Fat Area</a:t>
            </a:r>
          </a:p>
          <a:p>
            <a:pPr algn="just">
              <a:lnSpc>
                <a:spcPts val="1252"/>
              </a:lnSpc>
            </a:pPr>
            <a:r>
              <a:rPr lang="en-US" sz="894" dirty="0">
                <a:solidFill>
                  <a:srgbClr val="000000"/>
                </a:solidFill>
                <a:latin typeface="Montserrat"/>
                <a:ea typeface="Montserrat"/>
                <a:cs typeface="Montserrat"/>
                <a:sym typeface="Montserrat"/>
              </a:rPr>
              <a:t>Fat around internal organs (not visible externally).</a:t>
            </a:r>
          </a:p>
          <a:p>
            <a:pPr algn="just">
              <a:lnSpc>
                <a:spcPts val="1252"/>
              </a:lnSpc>
            </a:pPr>
            <a:endParaRPr lang="en-US" sz="894" dirty="0">
              <a:solidFill>
                <a:srgbClr val="000000"/>
              </a:solidFill>
              <a:latin typeface="Montserrat"/>
              <a:ea typeface="Montserrat"/>
              <a:cs typeface="Montserrat"/>
              <a:sym typeface="Montserrat"/>
            </a:endParaRPr>
          </a:p>
          <a:p>
            <a:pPr algn="just">
              <a:lnSpc>
                <a:spcPts val="1252"/>
              </a:lnSpc>
            </a:pPr>
            <a:r>
              <a:rPr lang="en-US" sz="894" dirty="0">
                <a:solidFill>
                  <a:srgbClr val="000000"/>
                </a:solidFill>
                <a:latin typeface="Montserrat"/>
                <a:ea typeface="Montserrat"/>
                <a:cs typeface="Montserrat"/>
                <a:sym typeface="Montserrat"/>
              </a:rPr>
              <a:t>High VFAT → bloated abdomen, poor waist definition.</a:t>
            </a:r>
          </a:p>
          <a:p>
            <a:pPr algn="just">
              <a:lnSpc>
                <a:spcPts val="1252"/>
              </a:lnSpc>
            </a:pPr>
            <a:r>
              <a:rPr lang="en-US" sz="894" dirty="0">
                <a:solidFill>
                  <a:srgbClr val="000000"/>
                </a:solidFill>
                <a:latin typeface="Montserrat"/>
                <a:ea typeface="Montserrat"/>
                <a:cs typeface="Montserrat"/>
                <a:sym typeface="Montserrat"/>
              </a:rPr>
              <a:t>Influences overall silhouette, even if BMI is normal.</a:t>
            </a:r>
          </a:p>
          <a:p>
            <a:pPr algn="just">
              <a:lnSpc>
                <a:spcPts val="1252"/>
              </a:lnSpc>
              <a:spcBef>
                <a:spcPct val="0"/>
              </a:spcBef>
            </a:pPr>
            <a:endParaRPr lang="en-US" sz="894" dirty="0">
              <a:solidFill>
                <a:srgbClr val="000000"/>
              </a:solidFill>
              <a:latin typeface="Montserrat"/>
              <a:ea typeface="Montserrat"/>
              <a:cs typeface="Montserrat"/>
              <a:sym typeface="Montserrat"/>
            </a:endParaRPr>
          </a:p>
          <a:p>
            <a:pPr algn="just">
              <a:lnSpc>
                <a:spcPts val="1252"/>
              </a:lnSpc>
              <a:spcBef>
                <a:spcPct val="0"/>
              </a:spcBef>
            </a:pPr>
            <a:endParaRPr lang="en-US" sz="894" dirty="0">
              <a:solidFill>
                <a:srgbClr val="000000"/>
              </a:solidFill>
              <a:latin typeface="Montserrat"/>
              <a:ea typeface="Montserrat"/>
              <a:cs typeface="Montserrat"/>
              <a:sym typeface="Montserrat"/>
            </a:endParaRPr>
          </a:p>
        </p:txBody>
      </p:sp>
      <p:sp>
        <p:nvSpPr>
          <p:cNvPr id="14" name="AutoShape 14"/>
          <p:cNvSpPr/>
          <p:nvPr/>
        </p:nvSpPr>
        <p:spPr>
          <a:xfrm>
            <a:off x="8886014" y="2764571"/>
            <a:ext cx="609161" cy="0"/>
          </a:xfrm>
          <a:prstGeom prst="line">
            <a:avLst/>
          </a:prstGeom>
          <a:ln w="38100" cap="flat">
            <a:solidFill>
              <a:srgbClr val="000000"/>
            </a:solidFill>
            <a:prstDash val="solid"/>
            <a:headEnd type="none" w="sm" len="sm"/>
            <a:tailEnd type="triangle" w="lg" len="med"/>
          </a:ln>
        </p:spPr>
        <p:txBody>
          <a:bodyPr/>
          <a:p/>
        </p:txBody>
      </p:sp>
      <p:sp>
        <p:nvSpPr>
          <p:cNvPr id="15" name="Rectangle 14"/>
          <p:cNvSpPr/>
          <p:nvPr/>
        </p:nvSpPr>
        <p:spPr>
          <a:xfrm>
            <a:off x="457200" y="320040"/>
            <a:ext cx="480059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0040"/>
            <a:ext cx="4800599" cy="566928"/>
          </a:xfrm>
          <a:prstGeom prst="rect">
            <a:avLst/>
          </a:prstGeom>
          <a:noFill/>
        </p:spPr>
        <p:txBody>
          <a:bodyPr wrap="square" lIns="0" rIns="0" tIns="0" bIns="0" anchor="ctr">
            <a:spAutoFit/>
          </a:bodyPr>
          <a:lstStyle/>
          <a:p>
            <a:pPr algn="ctr"/>
            <a:r>
              <a:rPr sz="2200" b="1" i="0">
                <a:solidFill>
                  <a:srgbClr val="FFFFFF"/>
                </a:solidFill>
                <a:latin typeface="Calibri"/>
              </a:rPr>
              <a:t>The Result Sheet for Aesthetics</a:t>
            </a:r>
          </a:p>
        </p:txBody>
      </p:sp>
      <p:sp>
        <p:nvSpPr>
          <p:cNvPr id="17" name="TextBox 16"/>
          <p:cNvSpPr txBox="1"/>
          <p:nvPr/>
        </p:nvSpPr>
        <p:spPr>
          <a:xfrm>
            <a:off x="5486399" y="320040"/>
            <a:ext cx="4419295" cy="566928"/>
          </a:xfrm>
          <a:prstGeom prst="rect">
            <a:avLst/>
          </a:prstGeom>
          <a:noFill/>
        </p:spPr>
        <p:txBody>
          <a:bodyPr wrap="square" lIns="0" rIns="0" tIns="0" bIns="0" anchor="ctr">
            <a:spAutoFit/>
          </a:bodyPr>
          <a:lstStyle/>
          <a:p>
            <a:pPr algn="l"/>
            <a:r>
              <a:rPr sz="900" b="1" i="0">
                <a:solidFill>
                  <a:srgbClr val="B50937"/>
                </a:solidFill>
                <a:latin typeface="Calibri"/>
              </a:rPr>
              <a:t>SESSION 8</a:t>
            </a:r>
          </a:p>
          <a:p>
            <a:pPr algn="l"/>
            <a:r>
              <a:rPr sz="900" b="0" i="0">
                <a:solidFill>
                  <a:srgbClr val="5E6470"/>
                </a:solidFill>
                <a:latin typeface="Calibri"/>
              </a:rPr>
              <a:t>Aesthetic &amp; Wellness Market</a:t>
            </a:r>
          </a:p>
        </p:txBody>
      </p:sp>
      <p:pic>
        <p:nvPicPr>
          <p:cNvPr id="18" name="Picture 17" descr="logo_red.png"/>
          <p:cNvPicPr>
            <a:picLocks noChangeAspect="1"/>
          </p:cNvPicPr>
          <p:nvPr/>
        </p:nvPicPr>
        <p:blipFill>
          <a:blip r:embed="rId3"/>
          <a:stretch>
            <a:fillRect/>
          </a:stretch>
        </p:blipFill>
        <p:spPr>
          <a:xfrm>
            <a:off x="10436918" y="420624"/>
            <a:ext cx="1297577" cy="365760"/>
          </a:xfrm>
          <a:prstGeom prst="rect">
            <a:avLst/>
          </a:prstGeom>
        </p:spPr>
      </p:pic>
      <p:sp>
        <p:nvSpPr>
          <p:cNvPr id="19" name="TextBox 18"/>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20" name="TextBox 19"/>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116</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bg>
      <p:bgPr>
        <a:solidFill>
          <a:srgbClr val="181D27"/>
        </a:solidFill>
        <a:effectLst/>
      </p:bgPr>
    </p:bg>
    <p:spTree>
      <p:nvGrpSpPr>
        <p:cNvPr id="1" name=""/>
        <p:cNvGrpSpPr/>
        <p:nvPr/>
      </p:nvGrpSpPr>
      <p:grpSpPr>
        <a:xfrm>
          <a:off x="0" y="0"/>
          <a:ext cx="0" cy="0"/>
          <a:chOff x="0" y="0"/>
          <a:chExt cx="0" cy="0"/>
        </a:xfrm>
      </p:grpSpPr>
      <p:sp>
        <p:nvSpPr>
          <p:cNvPr id="2" name="Rounded Rectangle 1"/>
          <p:cNvSpPr/>
          <p:nvPr/>
        </p:nvSpPr>
        <p:spPr>
          <a:xfrm>
            <a:off x="822960" y="2148840"/>
            <a:ext cx="1371600" cy="1371600"/>
          </a:xfrm>
          <a:prstGeom prst="roundRect">
            <a:avLst>
              <a:gd name="adj" fmla="val 12000"/>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1371600" cy="1371600"/>
          </a:xfrm>
          <a:prstGeom prst="rect">
            <a:avLst/>
          </a:prstGeom>
          <a:noFill/>
        </p:spPr>
        <p:txBody>
          <a:bodyPr wrap="square" lIns="0" rIns="0" tIns="0" bIns="0" anchor="ctr">
            <a:spAutoFit/>
          </a:bodyPr>
          <a:lstStyle/>
          <a:p>
            <a:pPr algn="ctr"/>
            <a:r>
              <a:rPr sz="4400" b="1" i="0">
                <a:solidFill>
                  <a:srgbClr val="FFFFFF"/>
                </a:solidFill>
                <a:latin typeface="Cambria"/>
              </a:rPr>
              <a:t>09</a:t>
            </a:r>
          </a:p>
        </p:txBody>
      </p:sp>
      <p:sp>
        <p:nvSpPr>
          <p:cNvPr id="4" name="TextBox 3"/>
          <p:cNvSpPr txBox="1"/>
          <p:nvPr/>
        </p:nvSpPr>
        <p:spPr>
          <a:xfrm>
            <a:off x="2560320" y="2148840"/>
            <a:ext cx="8686800" cy="365760"/>
          </a:xfrm>
          <a:prstGeom prst="rect">
            <a:avLst/>
          </a:prstGeom>
          <a:noFill/>
        </p:spPr>
        <p:txBody>
          <a:bodyPr wrap="square" lIns="0" rIns="0" tIns="0" bIns="0" anchor="ctr">
            <a:spAutoFit/>
          </a:bodyPr>
          <a:lstStyle/>
          <a:p>
            <a:pPr algn="l"/>
            <a:r>
              <a:rPr sz="1200" b="1" i="0">
                <a:solidFill>
                  <a:srgbClr val="F5C6D1"/>
                </a:solidFill>
                <a:latin typeface="Calibri"/>
              </a:rPr>
              <a:t>SESSION 9  ·  4:05 – 4:25 PM</a:t>
            </a:r>
          </a:p>
        </p:txBody>
      </p:sp>
      <p:sp>
        <p:nvSpPr>
          <p:cNvPr id="5" name="TextBox 4"/>
          <p:cNvSpPr txBox="1"/>
          <p:nvPr/>
        </p:nvSpPr>
        <p:spPr>
          <a:xfrm>
            <a:off x="2560320" y="2560320"/>
            <a:ext cx="8961120" cy="1463040"/>
          </a:xfrm>
          <a:prstGeom prst="rect">
            <a:avLst/>
          </a:prstGeom>
          <a:noFill/>
        </p:spPr>
        <p:txBody>
          <a:bodyPr wrap="square" lIns="0" rIns="0" tIns="0" bIns="0" anchor="t">
            <a:spAutoFit/>
          </a:bodyPr>
          <a:lstStyle/>
          <a:p>
            <a:pPr algn="l"/>
            <a:r>
              <a:rPr sz="3600" b="1" i="0">
                <a:solidFill>
                  <a:srgbClr val="FFFFFF"/>
                </a:solidFill>
                <a:latin typeface="Cambria"/>
              </a:rPr>
              <a:t>Ayurveda &amp; Integrative Wellness</a:t>
            </a:r>
          </a:p>
        </p:txBody>
      </p:sp>
      <p:sp>
        <p:nvSpPr>
          <p:cNvPr id="6" name="TextBox 5"/>
          <p:cNvSpPr txBox="1"/>
          <p:nvPr/>
        </p:nvSpPr>
        <p:spPr>
          <a:xfrm>
            <a:off x="2560320" y="4206240"/>
            <a:ext cx="8686800" cy="548640"/>
          </a:xfrm>
          <a:prstGeom prst="rect">
            <a:avLst/>
          </a:prstGeom>
          <a:noFill/>
        </p:spPr>
        <p:txBody>
          <a:bodyPr wrap="square" lIns="0" rIns="0" tIns="0" bIns="0" anchor="t">
            <a:spAutoFit/>
          </a:bodyPr>
          <a:lstStyle/>
          <a:p>
            <a:pPr algn="l"/>
            <a:r>
              <a:rPr sz="1600" b="0" i="1">
                <a:solidFill>
                  <a:srgbClr val="C9CDD4"/>
                </a:solidFill>
                <a:latin typeface="Calibri"/>
              </a:rPr>
              <a:t>“Ayurveda tells the story, BCA gives the statistics.”</a:t>
            </a:r>
          </a:p>
        </p:txBody>
      </p:sp>
      <p:pic>
        <p:nvPicPr>
          <p:cNvPr id="7" name="Picture 6" descr="logo_white.png"/>
          <p:cNvPicPr>
            <a:picLocks noChangeAspect="1"/>
          </p:cNvPicPr>
          <p:nvPr/>
        </p:nvPicPr>
        <p:blipFill>
          <a:blip r:embed="rId2"/>
          <a:stretch>
            <a:fillRect/>
          </a:stretch>
        </p:blipFill>
        <p:spPr>
          <a:xfrm>
            <a:off x="10021083" y="457200"/>
            <a:ext cx="1621971" cy="457200"/>
          </a:xfrm>
          <a:prstGeom prst="rect">
            <a:avLst/>
          </a:prstGeom>
        </p:spPr>
      </p:pic>
      <p:sp>
        <p:nvSpPr>
          <p:cNvPr id="8" name="TextBox 7"/>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9AA0AA"/>
                </a:solidFill>
                <a:latin typeface="Calibri"/>
              </a:rPr>
              <a:t>InBody India  ·  Sales Training</a:t>
            </a:r>
          </a:p>
        </p:txBody>
      </p:sp>
      <p:sp>
        <p:nvSpPr>
          <p:cNvPr id="9" name="TextBox 8"/>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F5C6D1"/>
                </a:solidFill>
                <a:latin typeface="Calibri"/>
              </a:rPr>
              <a:t>117</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6634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4663440" cy="566928"/>
          </a:xfrm>
          <a:prstGeom prst="rect">
            <a:avLst/>
          </a:prstGeom>
          <a:noFill/>
        </p:spPr>
        <p:txBody>
          <a:bodyPr wrap="square" lIns="0" rIns="0" tIns="0" bIns="0" anchor="ctr">
            <a:spAutoFit/>
          </a:bodyPr>
          <a:lstStyle/>
          <a:p>
            <a:pPr algn="ctr"/>
            <a:r>
              <a:rPr sz="2200" b="1" i="0">
                <a:solidFill>
                  <a:srgbClr val="FFFFFF"/>
                </a:solidFill>
                <a:latin typeface="Calibri"/>
              </a:rPr>
              <a:t>Why Ayurveda and BCA Together?</a:t>
            </a:r>
          </a:p>
        </p:txBody>
      </p:sp>
      <p:sp>
        <p:nvSpPr>
          <p:cNvPr id="4" name="TextBox 3"/>
          <p:cNvSpPr txBox="1"/>
          <p:nvPr/>
        </p:nvSpPr>
        <p:spPr>
          <a:xfrm>
            <a:off x="5349240" y="320040"/>
            <a:ext cx="4556455" cy="566928"/>
          </a:xfrm>
          <a:prstGeom prst="rect">
            <a:avLst/>
          </a:prstGeom>
          <a:noFill/>
        </p:spPr>
        <p:txBody>
          <a:bodyPr wrap="square" lIns="0" rIns="0" tIns="0" bIns="0" anchor="ctr">
            <a:spAutoFit/>
          </a:bodyPr>
          <a:lstStyle/>
          <a:p>
            <a:pPr algn="l"/>
            <a:r>
              <a:rPr sz="900" b="1" i="0">
                <a:solidFill>
                  <a:srgbClr val="B50937"/>
                </a:solidFill>
                <a:latin typeface="Calibri"/>
              </a:rPr>
              <a:t>SESSION 9</a:t>
            </a:r>
          </a:p>
          <a:p>
            <a:pPr algn="l"/>
            <a:r>
              <a:rPr sz="900" b="0" i="0">
                <a:solidFill>
                  <a:srgbClr val="5E6470"/>
                </a:solidFill>
                <a:latin typeface="Calibri"/>
              </a:rPr>
              <a:t>Ayurveda &amp; Integrative Wellness</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118</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Ayurveda</a:t>
            </a:r>
          </a:p>
          <a:p>
            <a:pPr>
              <a:spcAft>
                <a:spcPts val="600"/>
              </a:spcAft>
            </a:pPr>
            <a:r>
              <a:rPr sz="1300">
                <a:solidFill>
                  <a:srgbClr val="181D27"/>
                </a:solidFill>
                <a:latin typeface="Calibri"/>
              </a:rPr>
              <a:t>A holistic framework: Prakriti (constitution), Vikruti (current imbalance), Doshas (Vata, Pitta, Kapha), Dhatus (tissues), Agni (digestion) and Ojas (vitality).</a:t>
            </a:r>
          </a:p>
          <a:p>
            <a:pPr>
              <a:spcBef>
                <a:spcPts val="400"/>
              </a:spcBef>
              <a:spcAft>
                <a:spcPts val="200"/>
              </a:spcAft>
            </a:pPr>
            <a:r>
              <a:rPr sz="1300" b="1">
                <a:solidFill>
                  <a:srgbClr val="B50937"/>
                </a:solidFill>
                <a:latin typeface="Calibri"/>
              </a:rPr>
              <a:t>BCA</a:t>
            </a:r>
          </a:p>
          <a:p>
            <a:pPr>
              <a:spcAft>
                <a:spcPts val="600"/>
              </a:spcAft>
            </a:pPr>
            <a:r>
              <a:rPr sz="1300">
                <a:solidFill>
                  <a:srgbClr val="181D27"/>
                </a:solidFill>
                <a:latin typeface="Calibri"/>
              </a:rPr>
              <a:t>Measurable insights: skeletal muscle, fat distribution, water balance, visceral fat, BMR and phase angle.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116.png"/>
          <p:cNvPicPr>
            <a:picLocks noChangeAspect="1"/>
          </p:cNvPicPr>
          <p:nvPr/>
        </p:nvPicPr>
        <p:blipFill>
          <a:blip r:embed="rId6"/>
          <a:stretch>
            <a:fillRect/>
          </a:stretch>
        </p:blipFill>
        <p:spPr>
          <a:xfrm>
            <a:off x="6615912" y="1280160"/>
            <a:ext cx="4080509"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Ayurveda tells the why and the tendency; BCA tells how much and where.</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42900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429000" cy="566928"/>
          </a:xfrm>
          <a:prstGeom prst="rect">
            <a:avLst/>
          </a:prstGeom>
          <a:noFill/>
        </p:spPr>
        <p:txBody>
          <a:bodyPr wrap="square" lIns="0" rIns="0" tIns="0" bIns="0" anchor="ctr">
            <a:spAutoFit/>
          </a:bodyPr>
          <a:lstStyle/>
          <a:p>
            <a:pPr algn="ctr"/>
            <a:r>
              <a:rPr sz="2200" b="1" i="0">
                <a:solidFill>
                  <a:srgbClr val="FFFFFF"/>
                </a:solidFill>
                <a:latin typeface="Calibri"/>
              </a:rPr>
              <a:t>Dosha Profiles on BCA</a:t>
            </a:r>
          </a:p>
        </p:txBody>
      </p:sp>
      <p:sp>
        <p:nvSpPr>
          <p:cNvPr id="4" name="TextBox 3"/>
          <p:cNvSpPr txBox="1"/>
          <p:nvPr/>
        </p:nvSpPr>
        <p:spPr>
          <a:xfrm>
            <a:off x="4114800" y="320040"/>
            <a:ext cx="5790895" cy="566928"/>
          </a:xfrm>
          <a:prstGeom prst="rect">
            <a:avLst/>
          </a:prstGeom>
          <a:noFill/>
        </p:spPr>
        <p:txBody>
          <a:bodyPr wrap="square" lIns="0" rIns="0" tIns="0" bIns="0" anchor="ctr">
            <a:spAutoFit/>
          </a:bodyPr>
          <a:lstStyle/>
          <a:p>
            <a:pPr algn="l"/>
            <a:r>
              <a:rPr sz="900" b="1" i="0">
                <a:solidFill>
                  <a:srgbClr val="B50937"/>
                </a:solidFill>
                <a:latin typeface="Calibri"/>
              </a:rPr>
              <a:t>SESSION 9</a:t>
            </a:r>
          </a:p>
          <a:p>
            <a:pPr algn="l"/>
            <a:r>
              <a:rPr sz="900" b="0" i="0">
                <a:solidFill>
                  <a:srgbClr val="5E6470"/>
                </a:solidFill>
                <a:latin typeface="Calibri"/>
              </a:rPr>
              <a:t>Ayurveda &amp; Integrative Wellness</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119</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Bef>
                <a:spcPts val="400"/>
              </a:spcBef>
              <a:spcAft>
                <a:spcPts val="200"/>
              </a:spcAft>
            </a:pPr>
            <a:r>
              <a:rPr sz="1300" b="1">
                <a:solidFill>
                  <a:srgbClr val="B50937"/>
                </a:solidFill>
                <a:latin typeface="Calibri"/>
              </a:rPr>
              <a:t>Vata-dominant</a:t>
            </a:r>
          </a:p>
          <a:p>
            <a:pPr>
              <a:spcAft>
                <a:spcPts val="600"/>
              </a:spcAft>
            </a:pPr>
            <a:r>
              <a:rPr sz="1300">
                <a:solidFill>
                  <a:srgbClr val="181D27"/>
                </a:solidFill>
                <a:latin typeface="Calibri"/>
              </a:rPr>
              <a:t>On BCA: lower muscle (SMM, SMI), lower fat, sometimes lower phase angle.</a:t>
            </a:r>
          </a:p>
          <a:p>
            <a:pPr>
              <a:spcBef>
                <a:spcPts val="400"/>
              </a:spcBef>
              <a:spcAft>
                <a:spcPts val="200"/>
              </a:spcAft>
            </a:pPr>
            <a:r>
              <a:rPr sz="1300" b="1">
                <a:solidFill>
                  <a:srgbClr val="B50937"/>
                </a:solidFill>
                <a:latin typeface="Calibri"/>
              </a:rPr>
              <a:t>Pitta-dominant</a:t>
            </a:r>
          </a:p>
          <a:p>
            <a:pPr>
              <a:spcAft>
                <a:spcPts val="600"/>
              </a:spcAft>
            </a:pPr>
            <a:r>
              <a:rPr sz="1300">
                <a:solidFill>
                  <a:srgbClr val="181D27"/>
                </a:solidFill>
                <a:latin typeface="Calibri"/>
              </a:rPr>
              <a:t>On BCA: balanced muscle-to-fat, normal/high BMR, stable water balance.</a:t>
            </a:r>
          </a:p>
          <a:p>
            <a:pPr>
              <a:spcBef>
                <a:spcPts val="400"/>
              </a:spcBef>
              <a:spcAft>
                <a:spcPts val="200"/>
              </a:spcAft>
            </a:pPr>
            <a:r>
              <a:rPr sz="1300" b="1">
                <a:solidFill>
                  <a:srgbClr val="B50937"/>
                </a:solidFill>
                <a:latin typeface="Calibri"/>
              </a:rPr>
              <a:t>Kapha-dominant</a:t>
            </a:r>
          </a:p>
          <a:p>
            <a:pPr>
              <a:spcAft>
                <a:spcPts val="600"/>
              </a:spcAft>
            </a:pPr>
            <a:r>
              <a:rPr sz="1300">
                <a:solidFill>
                  <a:srgbClr val="181D27"/>
                </a:solidFill>
                <a:latin typeface="Calibri"/>
              </a:rPr>
              <a:t>On BCA: higher fat %, higher visceral fat, possibly higher ECW/TBW.</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117.png"/>
          <p:cNvPicPr>
            <a:picLocks noChangeAspect="1"/>
          </p:cNvPicPr>
          <p:nvPr/>
        </p:nvPicPr>
        <p:blipFill>
          <a:blip r:embed="rId5"/>
          <a:stretch>
            <a:fillRect/>
          </a:stretch>
        </p:blipFill>
        <p:spPr>
          <a:xfrm>
            <a:off x="7434026" y="1280160"/>
            <a:ext cx="2444282"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Each dosha type shows a typical, measurable pattern on the result sheet.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reeform 5"/>
          <p:cNvSpPr/>
          <p:nvPr/>
        </p:nvSpPr>
        <p:spPr>
          <a:xfrm>
            <a:off x="9222792" y="3351426"/>
            <a:ext cx="1321145" cy="1207498"/>
          </a:xfrm>
          <a:custGeom>
            <a:avLst/>
            <a:gdLst/>
            <a:ahLst/>
            <a:cxnLst/>
            <a:rect l="l" t="t" r="r" b="b"/>
            <a:pathLst>
              <a:path w="1981717" h="1811247">
                <a:moveTo>
                  <a:pt x="0" y="0"/>
                </a:moveTo>
                <a:lnTo>
                  <a:pt x="1981717" y="0"/>
                </a:lnTo>
                <a:lnTo>
                  <a:pt x="1981717" y="1811247"/>
                </a:lnTo>
                <a:lnTo>
                  <a:pt x="0" y="1811247"/>
                </a:lnTo>
                <a:lnTo>
                  <a:pt x="0" y="0"/>
                </a:lnTo>
                <a:close/>
              </a:path>
            </a:pathLst>
          </a:custGeom>
          <a:blipFill>
            <a:blip r:embed="rId2"/>
            <a:stretch>
              <a:fillRect l="-234819" t="-397514" r="-254" b="-51715"/>
            </a:stretch>
          </a:blipFill>
        </p:spPr>
        <p:txBody>
          <a:bodyPr/>
          <a:p/>
        </p:txBody>
      </p:sp>
      <p:sp>
        <p:nvSpPr>
          <p:cNvPr id="6" name="Freeform 6"/>
          <p:cNvSpPr/>
          <p:nvPr/>
        </p:nvSpPr>
        <p:spPr>
          <a:xfrm>
            <a:off x="4859951" y="4587129"/>
            <a:ext cx="2924033" cy="1190989"/>
          </a:xfrm>
          <a:custGeom>
            <a:avLst/>
            <a:gdLst/>
            <a:ahLst/>
            <a:cxnLst/>
            <a:rect l="l" t="t" r="r" b="b"/>
            <a:pathLst>
              <a:path w="4386050" h="1786483">
                <a:moveTo>
                  <a:pt x="0" y="0"/>
                </a:moveTo>
                <a:lnTo>
                  <a:pt x="4386049" y="0"/>
                </a:lnTo>
                <a:lnTo>
                  <a:pt x="4386049" y="1786484"/>
                </a:lnTo>
                <a:lnTo>
                  <a:pt x="0" y="1786484"/>
                </a:lnTo>
                <a:lnTo>
                  <a:pt x="0" y="0"/>
                </a:lnTo>
                <a:close/>
              </a:path>
            </a:pathLst>
          </a:custGeom>
          <a:blipFill>
            <a:blip r:embed="rId2"/>
            <a:stretch>
              <a:fillRect t="-398787" r="-44660" b="-33286"/>
            </a:stretch>
          </a:blipFill>
        </p:spPr>
        <p:txBody>
          <a:bodyPr/>
          <a:p/>
        </p:txBody>
      </p:sp>
      <p:sp>
        <p:nvSpPr>
          <p:cNvPr id="7" name="Freeform 7"/>
          <p:cNvSpPr/>
          <p:nvPr/>
        </p:nvSpPr>
        <p:spPr>
          <a:xfrm>
            <a:off x="2383867" y="3257637"/>
            <a:ext cx="1500411" cy="1307828"/>
          </a:xfrm>
          <a:custGeom>
            <a:avLst/>
            <a:gdLst/>
            <a:ahLst/>
            <a:cxnLst/>
            <a:rect l="l" t="t" r="r" b="b"/>
            <a:pathLst>
              <a:path w="2250616" h="1961742">
                <a:moveTo>
                  <a:pt x="0" y="0"/>
                </a:moveTo>
                <a:lnTo>
                  <a:pt x="2250615" y="0"/>
                </a:lnTo>
                <a:lnTo>
                  <a:pt x="2250615" y="1961741"/>
                </a:lnTo>
                <a:lnTo>
                  <a:pt x="0" y="1961741"/>
                </a:lnTo>
                <a:lnTo>
                  <a:pt x="0" y="0"/>
                </a:lnTo>
                <a:close/>
              </a:path>
            </a:pathLst>
          </a:custGeom>
          <a:blipFill>
            <a:blip r:embed="rId2"/>
            <a:stretch>
              <a:fillRect l="-195040" t="-163235" b="-243859"/>
            </a:stretch>
          </a:blipFill>
        </p:spPr>
        <p:txBody>
          <a:bodyPr/>
          <a:p/>
        </p:txBody>
      </p:sp>
      <p:sp>
        <p:nvSpPr>
          <p:cNvPr id="8" name="Freeform 8"/>
          <p:cNvSpPr/>
          <p:nvPr/>
        </p:nvSpPr>
        <p:spPr>
          <a:xfrm>
            <a:off x="5406139" y="3235974"/>
            <a:ext cx="1628263" cy="1351157"/>
          </a:xfrm>
          <a:custGeom>
            <a:avLst/>
            <a:gdLst/>
            <a:ahLst/>
            <a:cxnLst/>
            <a:rect l="l" t="t" r="r" b="b"/>
            <a:pathLst>
              <a:path w="2442395" h="2026736">
                <a:moveTo>
                  <a:pt x="0" y="0"/>
                </a:moveTo>
                <a:lnTo>
                  <a:pt x="2442395" y="0"/>
                </a:lnTo>
                <a:lnTo>
                  <a:pt x="2442395" y="2026735"/>
                </a:lnTo>
                <a:lnTo>
                  <a:pt x="0" y="2026735"/>
                </a:lnTo>
                <a:lnTo>
                  <a:pt x="0" y="0"/>
                </a:lnTo>
                <a:close/>
              </a:path>
            </a:pathLst>
          </a:custGeom>
          <a:blipFill>
            <a:blip r:embed="rId2"/>
            <a:stretch>
              <a:fillRect t="-253913" r="-171873" b="-136920"/>
            </a:stretch>
          </a:blipFill>
        </p:spPr>
        <p:txBody>
          <a:bodyPr/>
          <a:p/>
        </p:txBody>
      </p:sp>
      <p:sp>
        <p:nvSpPr>
          <p:cNvPr id="9" name="TextBox 9"/>
          <p:cNvSpPr txBox="1"/>
          <p:nvPr/>
        </p:nvSpPr>
        <p:spPr>
          <a:xfrm>
            <a:off x="2201975" y="1097280"/>
            <a:ext cx="8036591" cy="1639167"/>
          </a:xfrm>
          <a:prstGeom prst="rect">
            <a:avLst/>
          </a:prstGeom>
        </p:spPr>
        <p:txBody>
          <a:bodyPr lIns="0" tIns="0" rIns="0" bIns="0" rtlCol="0" anchor="t">
            <a:spAutoFit/>
          </a:bodyPr>
          <a:lstStyle/>
          <a:p>
            <a:pPr algn="ctr">
              <a:lnSpc>
                <a:spcPts val="2502"/>
              </a:lnSpc>
            </a:pPr>
            <a:r>
              <a:rPr lang="en-US" sz="1787" b="1">
                <a:solidFill>
                  <a:srgbClr val="000000"/>
                </a:solidFill>
                <a:latin typeface="Lato Heavy"/>
                <a:ea typeface="Lato Heavy"/>
                <a:cs typeface="Lato Heavy"/>
                <a:sym typeface="Lato Heavy"/>
              </a:rPr>
              <a:t>Ayurveda says health issues come when Doshas go out of balance. </a:t>
            </a:r>
          </a:p>
          <a:p>
            <a:pPr algn="ctr">
              <a:lnSpc>
                <a:spcPts val="2502"/>
              </a:lnSpc>
            </a:pPr>
            <a:r>
              <a:rPr lang="en-US" sz="1787" b="1">
                <a:solidFill>
                  <a:srgbClr val="000000"/>
                </a:solidFill>
                <a:latin typeface="Lato Heavy"/>
                <a:ea typeface="Lato Heavy"/>
                <a:cs typeface="Lato Heavy"/>
                <a:sym typeface="Lato Heavy"/>
              </a:rPr>
              <a:t>BCA makes this visible:</a:t>
            </a:r>
          </a:p>
          <a:p>
            <a:pPr algn="ctr">
              <a:lnSpc>
                <a:spcPts val="2502"/>
              </a:lnSpc>
              <a:spcBef>
                <a:spcPct val="0"/>
              </a:spcBef>
            </a:pPr>
            <a:endParaRPr lang="en-US" sz="1787" b="1">
              <a:solidFill>
                <a:srgbClr val="000000"/>
              </a:solidFill>
              <a:latin typeface="Lato Heavy"/>
              <a:ea typeface="Lato Heavy"/>
              <a:cs typeface="Lato Heavy"/>
              <a:sym typeface="Lato Heavy"/>
            </a:endParaRPr>
          </a:p>
        </p:txBody>
      </p:sp>
      <p:sp>
        <p:nvSpPr>
          <p:cNvPr id="10" name="Freeform 10"/>
          <p:cNvSpPr/>
          <p:nvPr/>
        </p:nvSpPr>
        <p:spPr>
          <a:xfrm>
            <a:off x="1271967" y="4487690"/>
            <a:ext cx="3026115" cy="1290430"/>
          </a:xfrm>
          <a:custGeom>
            <a:avLst/>
            <a:gdLst/>
            <a:ahLst/>
            <a:cxnLst/>
            <a:rect l="l" t="t" r="r" b="b"/>
            <a:pathLst>
              <a:path w="4539173" h="1935645">
                <a:moveTo>
                  <a:pt x="0" y="0"/>
                </a:moveTo>
                <a:lnTo>
                  <a:pt x="4539173" y="0"/>
                </a:lnTo>
                <a:lnTo>
                  <a:pt x="4539173" y="1935645"/>
                </a:lnTo>
                <a:lnTo>
                  <a:pt x="0" y="1935645"/>
                </a:lnTo>
                <a:lnTo>
                  <a:pt x="0" y="0"/>
                </a:lnTo>
                <a:close/>
              </a:path>
            </a:pathLst>
          </a:custGeom>
          <a:blipFill>
            <a:blip r:embed="rId2"/>
            <a:stretch>
              <a:fillRect t="-175311" r="-51450" b="-256761"/>
            </a:stretch>
          </a:blipFill>
        </p:spPr>
        <p:txBody>
          <a:bodyPr/>
          <a:p/>
        </p:txBody>
      </p:sp>
      <p:sp>
        <p:nvSpPr>
          <p:cNvPr id="11" name="Freeform 11"/>
          <p:cNvSpPr/>
          <p:nvPr/>
        </p:nvSpPr>
        <p:spPr>
          <a:xfrm>
            <a:off x="8660251" y="4537410"/>
            <a:ext cx="2259477" cy="1190989"/>
          </a:xfrm>
          <a:custGeom>
            <a:avLst/>
            <a:gdLst/>
            <a:ahLst/>
            <a:cxnLst/>
            <a:rect l="l" t="t" r="r" b="b"/>
            <a:pathLst>
              <a:path w="3389216" h="1786483">
                <a:moveTo>
                  <a:pt x="0" y="0"/>
                </a:moveTo>
                <a:lnTo>
                  <a:pt x="3389216" y="0"/>
                </a:lnTo>
                <a:lnTo>
                  <a:pt x="3389216" y="1786483"/>
                </a:lnTo>
                <a:lnTo>
                  <a:pt x="0" y="1786483"/>
                </a:lnTo>
                <a:lnTo>
                  <a:pt x="0" y="0"/>
                </a:lnTo>
                <a:close/>
              </a:path>
            </a:pathLst>
          </a:custGeom>
          <a:blipFill>
            <a:blip r:embed="rId2"/>
            <a:stretch>
              <a:fillRect l="-68783" t="-290200" r="-19793" b="-145767"/>
            </a:stretch>
          </a:blipFill>
        </p:spPr>
        <p:txBody>
          <a:bodyPr/>
          <a:p/>
        </p:txBody>
      </p:sp>
      <p:sp>
        <p:nvSpPr>
          <p:cNvPr id="12" name="Rectangle 11"/>
          <p:cNvSpPr/>
          <p:nvPr/>
        </p:nvSpPr>
        <p:spPr>
          <a:xfrm>
            <a:off x="457200" y="320040"/>
            <a:ext cx="425195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0040"/>
            <a:ext cx="4251959" cy="566928"/>
          </a:xfrm>
          <a:prstGeom prst="rect">
            <a:avLst/>
          </a:prstGeom>
          <a:noFill/>
        </p:spPr>
        <p:txBody>
          <a:bodyPr wrap="square" lIns="0" rIns="0" tIns="0" bIns="0" anchor="ctr">
            <a:spAutoFit/>
          </a:bodyPr>
          <a:lstStyle/>
          <a:p>
            <a:pPr algn="ctr"/>
            <a:r>
              <a:rPr sz="2200" b="1" i="0">
                <a:solidFill>
                  <a:srgbClr val="FFFFFF"/>
                </a:solidFill>
                <a:latin typeface="Calibri"/>
              </a:rPr>
              <a:t>Vikruti (Imbalance) via BCA</a:t>
            </a:r>
          </a:p>
        </p:txBody>
      </p:sp>
      <p:sp>
        <p:nvSpPr>
          <p:cNvPr id="14" name="TextBox 13"/>
          <p:cNvSpPr txBox="1"/>
          <p:nvPr/>
        </p:nvSpPr>
        <p:spPr>
          <a:xfrm>
            <a:off x="4937759" y="320040"/>
            <a:ext cx="4967935" cy="566928"/>
          </a:xfrm>
          <a:prstGeom prst="rect">
            <a:avLst/>
          </a:prstGeom>
          <a:noFill/>
        </p:spPr>
        <p:txBody>
          <a:bodyPr wrap="square" lIns="0" rIns="0" tIns="0" bIns="0" anchor="ctr">
            <a:spAutoFit/>
          </a:bodyPr>
          <a:lstStyle/>
          <a:p>
            <a:pPr algn="l"/>
            <a:r>
              <a:rPr sz="900" b="1" i="0">
                <a:solidFill>
                  <a:srgbClr val="B50937"/>
                </a:solidFill>
                <a:latin typeface="Calibri"/>
              </a:rPr>
              <a:t>SESSION 9</a:t>
            </a:r>
          </a:p>
          <a:p>
            <a:pPr algn="l"/>
            <a:r>
              <a:rPr sz="900" b="0" i="0">
                <a:solidFill>
                  <a:srgbClr val="5E6470"/>
                </a:solidFill>
                <a:latin typeface="Calibri"/>
              </a:rPr>
              <a:t>Ayurveda &amp; Integrative Wellness</a:t>
            </a:r>
          </a:p>
        </p:txBody>
      </p:sp>
      <p:pic>
        <p:nvPicPr>
          <p:cNvPr id="15" name="Picture 14" descr="logo_red.png"/>
          <p:cNvPicPr>
            <a:picLocks noChangeAspect="1"/>
          </p:cNvPicPr>
          <p:nvPr/>
        </p:nvPicPr>
        <p:blipFill>
          <a:blip r:embed="rId3"/>
          <a:stretch>
            <a:fillRect/>
          </a:stretch>
        </p:blipFill>
        <p:spPr>
          <a:xfrm>
            <a:off x="10436918" y="420624"/>
            <a:ext cx="1297577" cy="365760"/>
          </a:xfrm>
          <a:prstGeom prst="rect">
            <a:avLst/>
          </a:prstGeom>
        </p:spPr>
      </p:pic>
      <p:sp>
        <p:nvSpPr>
          <p:cNvPr id="16" name="TextBox 1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17" name="TextBox 1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120</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53492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5349240" cy="566928"/>
          </a:xfrm>
          <a:prstGeom prst="rect">
            <a:avLst/>
          </a:prstGeom>
          <a:noFill/>
        </p:spPr>
        <p:txBody>
          <a:bodyPr wrap="square" lIns="0" rIns="0" tIns="0" bIns="0" anchor="ctr">
            <a:spAutoFit/>
          </a:bodyPr>
          <a:lstStyle/>
          <a:p>
            <a:pPr algn="ctr"/>
            <a:r>
              <a:rPr sz="1900" b="1" i="0">
                <a:solidFill>
                  <a:srgbClr val="FFFFFF"/>
                </a:solidFill>
                <a:latin typeface="Calibri"/>
              </a:rPr>
              <a:t>Dhatus (Tissues) and BCA Parameters</a:t>
            </a:r>
          </a:p>
        </p:txBody>
      </p:sp>
      <p:sp>
        <p:nvSpPr>
          <p:cNvPr id="4" name="TextBox 3"/>
          <p:cNvSpPr txBox="1"/>
          <p:nvPr/>
        </p:nvSpPr>
        <p:spPr>
          <a:xfrm>
            <a:off x="6035040" y="320040"/>
            <a:ext cx="3870655" cy="566928"/>
          </a:xfrm>
          <a:prstGeom prst="rect">
            <a:avLst/>
          </a:prstGeom>
          <a:noFill/>
        </p:spPr>
        <p:txBody>
          <a:bodyPr wrap="square" lIns="0" rIns="0" tIns="0" bIns="0" anchor="ctr">
            <a:spAutoFit/>
          </a:bodyPr>
          <a:lstStyle/>
          <a:p>
            <a:pPr algn="l"/>
            <a:r>
              <a:rPr sz="900" b="1" i="0">
                <a:solidFill>
                  <a:srgbClr val="B50937"/>
                </a:solidFill>
                <a:latin typeface="Calibri"/>
              </a:rPr>
              <a:t>SESSION 9</a:t>
            </a:r>
          </a:p>
          <a:p>
            <a:pPr algn="l"/>
            <a:r>
              <a:rPr sz="900" b="0" i="0">
                <a:solidFill>
                  <a:srgbClr val="5E6470"/>
                </a:solidFill>
                <a:latin typeface="Calibri"/>
              </a:rPr>
              <a:t>Ayurveda &amp; Integrative Wellness</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121</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Ayurveda describes 7 dhatus. BCA overlaps directly with several:</a:t>
            </a:r>
          </a:p>
          <a:p>
            <a:pPr marL="228600" indent="-228600">
              <a:spcAft>
                <a:spcPts val="600"/>
              </a:spcAft>
              <a:buChar char="•"/>
            </a:pPr>
            <a:r>
              <a:rPr sz="1300">
                <a:solidFill>
                  <a:srgbClr val="181D27"/>
                </a:solidFill>
                <a:latin typeface="Calibri"/>
              </a:rPr>
              <a:t>Mamsa (muscle) → SMM, SMI</a:t>
            </a:r>
          </a:p>
          <a:p>
            <a:pPr marL="228600" indent="-228600">
              <a:spcAft>
                <a:spcPts val="600"/>
              </a:spcAft>
              <a:buChar char="•"/>
            </a:pPr>
            <a:r>
              <a:rPr sz="1300">
                <a:solidFill>
                  <a:srgbClr val="181D27"/>
                </a:solidFill>
                <a:latin typeface="Calibri"/>
              </a:rPr>
              <a:t>Meda (fat) → body fat %, visceral fat, segmental fat</a:t>
            </a:r>
          </a:p>
          <a:p>
            <a:pPr marL="228600" indent="-228600">
              <a:spcAft>
                <a:spcPts val="600"/>
              </a:spcAft>
              <a:buChar char="•"/>
            </a:pPr>
            <a:r>
              <a:rPr sz="1300">
                <a:solidFill>
                  <a:srgbClr val="181D27"/>
                </a:solidFill>
                <a:latin typeface="Calibri"/>
              </a:rPr>
              <a:t>Asthi (bone) → indirectly, via lean mass and frame</a:t>
            </a:r>
          </a:p>
          <a:p>
            <a:pPr marL="228600" indent="-228600">
              <a:spcAft>
                <a:spcPts val="600"/>
              </a:spcAft>
              <a:buChar char="•"/>
            </a:pPr>
            <a:r>
              <a:rPr sz="1300">
                <a:solidFill>
                  <a:srgbClr val="181D27"/>
                </a:solidFill>
                <a:latin typeface="Calibri"/>
              </a:rPr>
              <a:t>Rasa (fluids) → TBW, ICW/ECW</a:t>
            </a:r>
          </a:p>
          <a:p>
            <a:pPr marL="228600" indent="-228600">
              <a:spcAft>
                <a:spcPts val="600"/>
              </a:spcAft>
              <a:buChar char="•"/>
            </a:pPr>
            <a:r>
              <a:rPr sz="1300">
                <a:solidFill>
                  <a:srgbClr val="181D27"/>
                </a:solidFill>
                <a:latin typeface="Calibri"/>
              </a:rPr>
              <a:t>Ojas (vitality) → phase angle</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119.png"/>
          <p:cNvPicPr>
            <a:picLocks noChangeAspect="1"/>
          </p:cNvPicPr>
          <p:nvPr/>
        </p:nvPicPr>
        <p:blipFill>
          <a:blip r:embed="rId5"/>
          <a:stretch>
            <a:fillRect/>
          </a:stretch>
        </p:blipFill>
        <p:spPr>
          <a:xfrm>
            <a:off x="6821222" y="1280160"/>
            <a:ext cx="3669889"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BCA lets practitioners observe dhatu balance in a measurable way.</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452627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4526279" cy="566928"/>
          </a:xfrm>
          <a:prstGeom prst="rect">
            <a:avLst/>
          </a:prstGeom>
          <a:noFill/>
        </p:spPr>
        <p:txBody>
          <a:bodyPr wrap="square" lIns="0" rIns="0" tIns="0" bIns="0" anchor="ctr">
            <a:spAutoFit/>
          </a:bodyPr>
          <a:lstStyle/>
          <a:p>
            <a:pPr algn="ctr"/>
            <a:r>
              <a:rPr sz="2200" b="1" i="0">
                <a:solidFill>
                  <a:srgbClr val="FFFFFF"/>
                </a:solidFill>
                <a:latin typeface="Calibri"/>
              </a:rPr>
              <a:t>Agni (Digestive Fire) and BMR</a:t>
            </a:r>
          </a:p>
        </p:txBody>
      </p:sp>
      <p:sp>
        <p:nvSpPr>
          <p:cNvPr id="4" name="TextBox 3"/>
          <p:cNvSpPr txBox="1"/>
          <p:nvPr/>
        </p:nvSpPr>
        <p:spPr>
          <a:xfrm>
            <a:off x="5212079" y="320040"/>
            <a:ext cx="4693615" cy="566928"/>
          </a:xfrm>
          <a:prstGeom prst="rect">
            <a:avLst/>
          </a:prstGeom>
          <a:noFill/>
        </p:spPr>
        <p:txBody>
          <a:bodyPr wrap="square" lIns="0" rIns="0" tIns="0" bIns="0" anchor="ctr">
            <a:spAutoFit/>
          </a:bodyPr>
          <a:lstStyle/>
          <a:p>
            <a:pPr algn="l"/>
            <a:r>
              <a:rPr sz="900" b="1" i="0">
                <a:solidFill>
                  <a:srgbClr val="B50937"/>
                </a:solidFill>
                <a:latin typeface="Calibri"/>
              </a:rPr>
              <a:t>SESSION 9</a:t>
            </a:r>
          </a:p>
          <a:p>
            <a:pPr algn="l"/>
            <a:r>
              <a:rPr sz="900" b="0" i="0">
                <a:solidFill>
                  <a:srgbClr val="5E6470"/>
                </a:solidFill>
                <a:latin typeface="Calibri"/>
              </a:rPr>
              <a:t>Ayurveda &amp; Integrative Wellness</a:t>
            </a:r>
          </a:p>
        </p:txBody>
      </p:sp>
      <p:pic>
        <p:nvPicPr>
          <p:cNvPr id="5" name="Picture 4" descr="logo_red.png"/>
          <p:cNvPicPr>
            <a:picLocks noChangeAspect="1"/>
          </p:cNvPicPr>
          <p:nvPr/>
        </p:nvPicPr>
        <p:blipFill>
          <a:blip r:embed="rId3"/>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122</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4"/>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Ayurveda says strong Agni = good health, weak Agni = disease risk. BMR is a direct window into metabolic activity.</a:t>
            </a:r>
          </a:p>
          <a:p>
            <a:pPr marL="228600" indent="-228600">
              <a:spcAft>
                <a:spcPts val="600"/>
              </a:spcAft>
              <a:buChar char="•"/>
            </a:pPr>
            <a:r>
              <a:rPr sz="1300">
                <a:solidFill>
                  <a:srgbClr val="181D27"/>
                </a:solidFill>
                <a:latin typeface="Calibri"/>
              </a:rPr>
              <a:t>Low BMR → sluggish Agni (Kapha tendency)</a:t>
            </a:r>
          </a:p>
          <a:p>
            <a:pPr marL="228600" indent="-228600">
              <a:spcAft>
                <a:spcPts val="600"/>
              </a:spcAft>
              <a:buChar char="•"/>
            </a:pPr>
            <a:r>
              <a:rPr sz="1300">
                <a:solidFill>
                  <a:srgbClr val="181D27"/>
                </a:solidFill>
                <a:latin typeface="Calibri"/>
              </a:rPr>
              <a:t>High BMR → strong/irritated Agni (Pitta tendency)</a:t>
            </a:r>
          </a:p>
          <a:p>
            <a:pPr marL="228600" indent="-228600">
              <a:spcAft>
                <a:spcPts val="600"/>
              </a:spcAft>
              <a:buChar char="•"/>
            </a:pPr>
            <a:r>
              <a:rPr sz="1300">
                <a:solidFill>
                  <a:srgbClr val="181D27"/>
                </a:solidFill>
                <a:latin typeface="Calibri"/>
              </a:rPr>
              <a:t>Fluctuating BMR → irregular Agni (Vata tendency)</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120.png"/>
          <p:cNvPicPr>
            <a:picLocks noChangeAspect="1"/>
          </p:cNvPicPr>
          <p:nvPr/>
        </p:nvPicPr>
        <p:blipFill>
          <a:blip r:embed="rId5"/>
          <a:stretch>
            <a:fillRect/>
          </a:stretch>
        </p:blipFill>
        <p:spPr>
          <a:xfrm>
            <a:off x="7087676" y="1280160"/>
            <a:ext cx="3136981"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6"/>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BMR turns Agni into a number practitioners can track.</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20040"/>
            <a:ext cx="32918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291840" cy="566928"/>
          </a:xfrm>
          <a:prstGeom prst="rect">
            <a:avLst/>
          </a:prstGeom>
          <a:noFill/>
        </p:spPr>
        <p:txBody>
          <a:bodyPr wrap="square" lIns="0" rIns="0" tIns="0" bIns="0" anchor="ctr">
            <a:spAutoFit/>
          </a:bodyPr>
          <a:lstStyle/>
          <a:p>
            <a:pPr algn="ctr"/>
            <a:r>
              <a:rPr sz="2200" b="1" i="0">
                <a:solidFill>
                  <a:srgbClr val="FFFFFF"/>
                </a:solidFill>
                <a:latin typeface="Calibri"/>
              </a:rPr>
              <a:t>Ojas and Phase Angle</a:t>
            </a:r>
          </a:p>
        </p:txBody>
      </p:sp>
      <p:sp>
        <p:nvSpPr>
          <p:cNvPr id="4" name="TextBox 3"/>
          <p:cNvSpPr txBox="1"/>
          <p:nvPr/>
        </p:nvSpPr>
        <p:spPr>
          <a:xfrm>
            <a:off x="3977639" y="320040"/>
            <a:ext cx="5928055" cy="566928"/>
          </a:xfrm>
          <a:prstGeom prst="rect">
            <a:avLst/>
          </a:prstGeom>
          <a:noFill/>
        </p:spPr>
        <p:txBody>
          <a:bodyPr wrap="square" lIns="0" rIns="0" tIns="0" bIns="0" anchor="ctr">
            <a:spAutoFit/>
          </a:bodyPr>
          <a:lstStyle/>
          <a:p>
            <a:pPr algn="l"/>
            <a:r>
              <a:rPr sz="900" b="1" i="0">
                <a:solidFill>
                  <a:srgbClr val="B50937"/>
                </a:solidFill>
                <a:latin typeface="Calibri"/>
              </a:rPr>
              <a:t>SESSION 9</a:t>
            </a:r>
          </a:p>
          <a:p>
            <a:pPr algn="l"/>
            <a:r>
              <a:rPr sz="900" b="0" i="0">
                <a:solidFill>
                  <a:srgbClr val="5E6470"/>
                </a:solidFill>
                <a:latin typeface="Calibri"/>
              </a:rPr>
              <a:t>Ayurveda &amp; Integrative Wellness</a:t>
            </a:r>
          </a:p>
        </p:txBody>
      </p:sp>
      <p:pic>
        <p:nvPicPr>
          <p:cNvPr id="5" name="Picture 4" descr="logo_red.png"/>
          <p:cNvPicPr>
            <a:picLocks noChangeAspect="1"/>
          </p:cNvPicPr>
          <p:nvPr/>
        </p:nvPicPr>
        <p:blipFill>
          <a:blip r:embed="rId4"/>
          <a:stretch>
            <a:fillRect/>
          </a:stretch>
        </p:blipFill>
        <p:spPr>
          <a:xfrm>
            <a:off x="10436918" y="420624"/>
            <a:ext cx="1297577" cy="365760"/>
          </a:xfrm>
          <a:prstGeom prst="rect">
            <a:avLst/>
          </a:prstGeom>
        </p:spPr>
      </p:pic>
      <p:sp>
        <p:nvSpPr>
          <p:cNvPr id="6" name="TextBox 5"/>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 name="TextBox 6"/>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123</a:t>
            </a:r>
          </a:p>
        </p:txBody>
      </p:sp>
      <p:sp>
        <p:nvSpPr>
          <p:cNvPr id="8" name="Rectangle 7"/>
          <p:cNvSpPr/>
          <p:nvPr/>
        </p:nvSpPr>
        <p:spPr>
          <a:xfrm>
            <a:off x="457200" y="1097280"/>
            <a:ext cx="4846320" cy="384048"/>
          </a:xfrm>
          <a:prstGeom prst="rect">
            <a:avLst/>
          </a:prstGeom>
          <a:solidFill>
            <a:srgbClr val="18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1161288"/>
            <a:ext cx="256032" cy="25603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concept.png"/>
          <p:cNvPicPr>
            <a:picLocks noChangeAspect="1"/>
          </p:cNvPicPr>
          <p:nvPr/>
        </p:nvPicPr>
        <p:blipFill>
          <a:blip r:embed="rId5"/>
          <a:stretch>
            <a:fillRect/>
          </a:stretch>
        </p:blipFill>
        <p:spPr>
          <a:xfrm>
            <a:off x="603504" y="1216152"/>
            <a:ext cx="146304" cy="146304"/>
          </a:xfrm>
          <a:prstGeom prst="rect">
            <a:avLst/>
          </a:prstGeom>
        </p:spPr>
      </p:pic>
      <p:sp>
        <p:nvSpPr>
          <p:cNvPr id="11" name="TextBox 10"/>
          <p:cNvSpPr txBox="1"/>
          <p:nvPr/>
        </p:nvSpPr>
        <p:spPr>
          <a:xfrm>
            <a:off x="896112" y="1097280"/>
            <a:ext cx="4297680" cy="384048"/>
          </a:xfrm>
          <a:prstGeom prst="rect">
            <a:avLst/>
          </a:prstGeom>
          <a:noFill/>
        </p:spPr>
        <p:txBody>
          <a:bodyPr wrap="square" lIns="0" rIns="0" tIns="0" bIns="0" anchor="ctr">
            <a:spAutoFit/>
          </a:bodyPr>
          <a:lstStyle/>
          <a:p>
            <a:pPr algn="l"/>
            <a:r>
              <a:rPr sz="1300" b="1" i="0">
                <a:solidFill>
                  <a:srgbClr val="FFFFFF"/>
                </a:solidFill>
                <a:latin typeface="Calibri"/>
              </a:rPr>
              <a:t>Key Concept</a:t>
            </a:r>
          </a:p>
        </p:txBody>
      </p:sp>
      <p:sp>
        <p:nvSpPr>
          <p:cNvPr id="12" name="Rectangle 11"/>
          <p:cNvSpPr/>
          <p:nvPr/>
        </p:nvSpPr>
        <p:spPr>
          <a:xfrm>
            <a:off x="457200" y="1481328"/>
            <a:ext cx="4846320" cy="3822191"/>
          </a:xfrm>
          <a:prstGeom prst="rect">
            <a:avLst/>
          </a:prstGeom>
          <a:solidFill>
            <a:srgbClr val="F4F5F7"/>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645919"/>
            <a:ext cx="4443983" cy="3474720"/>
          </a:xfrm>
          <a:prstGeom prst="rect">
            <a:avLst/>
          </a:prstGeom>
          <a:noFill/>
        </p:spPr>
        <p:txBody>
          <a:bodyPr wrap="square" lIns="0" rIns="0" tIns="0" bIns="0">
            <a:spAutoFit/>
          </a:bodyPr>
          <a:lstStyle/>
          <a:p>
            <a:pPr>
              <a:spcAft>
                <a:spcPts val="600"/>
              </a:spcAft>
            </a:pPr>
            <a:r>
              <a:rPr sz="1300">
                <a:solidFill>
                  <a:srgbClr val="181D27"/>
                </a:solidFill>
                <a:latin typeface="Calibri"/>
              </a:rPr>
              <a:t>Ojas is the essence of immunity, vitality and resilience. Phase angle reflects cell membrane integrity and vitality.</a:t>
            </a:r>
          </a:p>
          <a:p>
            <a:pPr marL="228600" indent="-228600">
              <a:spcAft>
                <a:spcPts val="600"/>
              </a:spcAft>
              <a:buChar char="•"/>
            </a:pPr>
            <a:r>
              <a:rPr sz="1300">
                <a:solidFill>
                  <a:srgbClr val="181D27"/>
                </a:solidFill>
                <a:latin typeface="Calibri"/>
              </a:rPr>
              <a:t>Higher phase angle → better Ojas (robust health, resilience)</a:t>
            </a:r>
          </a:p>
          <a:p>
            <a:pPr marL="228600" indent="-228600">
              <a:spcAft>
                <a:spcPts val="600"/>
              </a:spcAft>
              <a:buChar char="•"/>
            </a:pPr>
            <a:r>
              <a:rPr sz="1300">
                <a:solidFill>
                  <a:srgbClr val="181D27"/>
                </a:solidFill>
                <a:latin typeface="Calibri"/>
              </a:rPr>
              <a:t>Lower phase angle → depleted Ojas (fatigue, illness risk)</a:t>
            </a:r>
          </a:p>
        </p:txBody>
      </p:sp>
      <p:sp>
        <p:nvSpPr>
          <p:cNvPr id="14" name="Rectangle 13"/>
          <p:cNvSpPr/>
          <p:nvPr/>
        </p:nvSpPr>
        <p:spPr>
          <a:xfrm>
            <a:off x="5577840" y="1097280"/>
            <a:ext cx="6156655" cy="4206240"/>
          </a:xfrm>
          <a:prstGeom prst="rect">
            <a:avLst/>
          </a:prstGeom>
          <a:solidFill>
            <a:srgbClr val="FFFFFF"/>
          </a:solidFill>
          <a:ln w="9525">
            <a:solidFill>
              <a:srgbClr val="DDE0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c_121.png"/>
          <p:cNvPicPr>
            <a:picLocks noChangeAspect="1"/>
          </p:cNvPicPr>
          <p:nvPr/>
        </p:nvPicPr>
        <p:blipFill>
          <a:blip r:embed="rId6"/>
          <a:stretch>
            <a:fillRect/>
          </a:stretch>
        </p:blipFill>
        <p:spPr>
          <a:xfrm>
            <a:off x="6062958" y="1280160"/>
            <a:ext cx="5186418" cy="3840479"/>
          </a:xfrm>
          <a:prstGeom prst="rect">
            <a:avLst/>
          </a:prstGeom>
        </p:spPr>
      </p:pic>
      <p:sp>
        <p:nvSpPr>
          <p:cNvPr id="16" name="Rectangle 15"/>
          <p:cNvSpPr/>
          <p:nvPr/>
        </p:nvSpPr>
        <p:spPr>
          <a:xfrm>
            <a:off x="457200" y="5486400"/>
            <a:ext cx="11277295" cy="868680"/>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56509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bulb.png"/>
          <p:cNvPicPr>
            <a:picLocks noChangeAspect="1"/>
          </p:cNvPicPr>
          <p:nvPr/>
        </p:nvPicPr>
        <p:blipFill>
          <a:blip r:embed="rId7"/>
          <a:stretch>
            <a:fillRect/>
          </a:stretch>
        </p:blipFill>
        <p:spPr>
          <a:xfrm>
            <a:off x="822960" y="5788152"/>
            <a:ext cx="274320" cy="274320"/>
          </a:xfrm>
          <a:prstGeom prst="rect">
            <a:avLst/>
          </a:prstGeom>
        </p:spPr>
      </p:pic>
      <p:sp>
        <p:nvSpPr>
          <p:cNvPr id="19" name="TextBox 18"/>
          <p:cNvSpPr txBox="1"/>
          <p:nvPr/>
        </p:nvSpPr>
        <p:spPr>
          <a:xfrm>
            <a:off x="1463040" y="5486400"/>
            <a:ext cx="10088575" cy="868680"/>
          </a:xfrm>
          <a:prstGeom prst="rect">
            <a:avLst/>
          </a:prstGeom>
          <a:noFill/>
        </p:spPr>
        <p:txBody>
          <a:bodyPr wrap="square" lIns="0" rIns="0" tIns="0" bIns="0" anchor="ctr">
            <a:spAutoFit/>
          </a:bodyPr>
          <a:lstStyle/>
          <a:p>
            <a:pPr algn="l"/>
            <a:r>
              <a:rPr sz="900" b="1" i="0">
                <a:solidFill>
                  <a:srgbClr val="F5C6D1"/>
                </a:solidFill>
                <a:latin typeface="Calibri"/>
              </a:rPr>
              <a:t>KEY TAKEAWAY</a:t>
            </a:r>
          </a:p>
          <a:p>
            <a:pPr algn="l"/>
            <a:r>
              <a:rPr sz="1500" b="1" i="0">
                <a:solidFill>
                  <a:srgbClr val="FFFFFF"/>
                </a:solidFill>
                <a:latin typeface="Calibri"/>
              </a:rPr>
              <a:t>Phase angle gives Ojas, an Ayurvedic concept, a measurable scientific marker.</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4220389" y="1097280"/>
            <a:ext cx="3719893" cy="5257800"/>
          </a:xfrm>
          <a:custGeom>
            <a:avLst/>
            <a:gdLst/>
            <a:ahLst/>
            <a:cxnLst/>
            <a:rect l="l" t="t" r="r" b="b"/>
            <a:pathLst>
              <a:path w="6384398" h="9023884">
                <a:moveTo>
                  <a:pt x="0" y="0"/>
                </a:moveTo>
                <a:lnTo>
                  <a:pt x="6384398" y="0"/>
                </a:lnTo>
                <a:lnTo>
                  <a:pt x="6384398" y="9023884"/>
                </a:lnTo>
                <a:lnTo>
                  <a:pt x="0" y="9023884"/>
                </a:lnTo>
                <a:lnTo>
                  <a:pt x="0" y="0"/>
                </a:lnTo>
                <a:close/>
              </a:path>
            </a:pathLst>
          </a:custGeom>
          <a:blipFill>
            <a:blip r:embed="rId2"/>
            <a:stretch>
              <a:fillRect/>
            </a:stretch>
          </a:blipFill>
          <a:ln cap="sq">
            <a:noFill/>
            <a:prstDash val="solid"/>
            <a:miter/>
          </a:ln>
        </p:spPr>
        <p:txBody>
          <a:bodyPr/>
          <a:p/>
        </p:txBody>
      </p:sp>
      <p:grpSp>
        <p:nvGrpSpPr>
          <p:cNvPr id="3" name="Group 3"/>
          <p:cNvGrpSpPr/>
          <p:nvPr/>
        </p:nvGrpSpPr>
        <p:grpSpPr>
          <a:xfrm>
            <a:off x="4527310" y="2693407"/>
            <a:ext cx="1984476" cy="593218"/>
            <a:chOff x="0" y="0"/>
            <a:chExt cx="737287" cy="220397"/>
          </a:xfrm>
        </p:grpSpPr>
        <p:sp>
          <p:nvSpPr>
            <p:cNvPr id="4" name="Freeform 4"/>
            <p:cNvSpPr/>
            <p:nvPr/>
          </p:nvSpPr>
          <p:spPr>
            <a:xfrm>
              <a:off x="0" y="0"/>
              <a:ext cx="737287" cy="220397"/>
            </a:xfrm>
            <a:custGeom>
              <a:avLst/>
              <a:gdLst/>
              <a:ahLst/>
              <a:cxnLst/>
              <a:rect l="l" t="t" r="r" b="b"/>
              <a:pathLst>
                <a:path w="737287" h="220397">
                  <a:moveTo>
                    <a:pt x="15912" y="0"/>
                  </a:moveTo>
                  <a:lnTo>
                    <a:pt x="721375" y="0"/>
                  </a:lnTo>
                  <a:cubicBezTo>
                    <a:pt x="730163" y="0"/>
                    <a:pt x="737287" y="7124"/>
                    <a:pt x="737287" y="15912"/>
                  </a:cubicBezTo>
                  <a:lnTo>
                    <a:pt x="737287" y="204485"/>
                  </a:lnTo>
                  <a:cubicBezTo>
                    <a:pt x="737287" y="208705"/>
                    <a:pt x="735610" y="212752"/>
                    <a:pt x="732626" y="215736"/>
                  </a:cubicBezTo>
                  <a:cubicBezTo>
                    <a:pt x="729642" y="218720"/>
                    <a:pt x="725595" y="220397"/>
                    <a:pt x="721375" y="220397"/>
                  </a:cubicBezTo>
                  <a:lnTo>
                    <a:pt x="15912" y="220397"/>
                  </a:lnTo>
                  <a:cubicBezTo>
                    <a:pt x="11692" y="220397"/>
                    <a:pt x="7644" y="218720"/>
                    <a:pt x="4660" y="215736"/>
                  </a:cubicBezTo>
                  <a:cubicBezTo>
                    <a:pt x="1676" y="212752"/>
                    <a:pt x="0" y="208705"/>
                    <a:pt x="0" y="204485"/>
                  </a:cubicBezTo>
                  <a:lnTo>
                    <a:pt x="0" y="15912"/>
                  </a:lnTo>
                  <a:cubicBezTo>
                    <a:pt x="0" y="11692"/>
                    <a:pt x="1676" y="7644"/>
                    <a:pt x="4660" y="4660"/>
                  </a:cubicBezTo>
                  <a:cubicBezTo>
                    <a:pt x="7644" y="1676"/>
                    <a:pt x="11692" y="0"/>
                    <a:pt x="15912" y="0"/>
                  </a:cubicBezTo>
                  <a:close/>
                </a:path>
              </a:pathLst>
            </a:custGeom>
            <a:solidFill>
              <a:srgbClr val="000000">
                <a:alpha val="0"/>
              </a:srgbClr>
            </a:solidFill>
            <a:ln w="9525" cap="sq">
              <a:solidFill>
                <a:srgbClr val="B50937"/>
              </a:solidFill>
              <a:prstDash val="solid"/>
              <a:miter/>
            </a:ln>
          </p:spPr>
          <p:txBody>
            <a:bodyPr/>
            <a:p/>
          </p:txBody>
        </p:sp>
        <p:sp>
          <p:nvSpPr>
            <p:cNvPr id="5" name="TextBox 5"/>
            <p:cNvSpPr txBox="1"/>
            <p:nvPr/>
          </p:nvSpPr>
          <p:spPr>
            <a:xfrm>
              <a:off x="0" y="-38100"/>
              <a:ext cx="737287" cy="258497"/>
            </a:xfrm>
            <a:prstGeom prst="rect">
              <a:avLst/>
            </a:prstGeom>
          </p:spPr>
          <p:txBody>
            <a:bodyPr lIns="33867" tIns="33867" rIns="33867" bIns="33867" rtlCol="0" anchor="ctr"/>
            <a:lstStyle/>
            <a:p>
              <a:pPr algn="ctr">
                <a:lnSpc>
                  <a:spcPts val="1549"/>
                </a:lnSpc>
              </a:pPr>
              <a:endParaRPr sz="1048"/>
            </a:p>
          </p:txBody>
        </p:sp>
      </p:grpSp>
      <p:grpSp>
        <p:nvGrpSpPr>
          <p:cNvPr id="6" name="Group 6"/>
          <p:cNvGrpSpPr/>
          <p:nvPr/>
        </p:nvGrpSpPr>
        <p:grpSpPr>
          <a:xfrm>
            <a:off x="4527310" y="3301882"/>
            <a:ext cx="1984476" cy="424297"/>
            <a:chOff x="0" y="0"/>
            <a:chExt cx="737287" cy="157638"/>
          </a:xfrm>
        </p:grpSpPr>
        <p:sp>
          <p:nvSpPr>
            <p:cNvPr id="7" name="Freeform 7"/>
            <p:cNvSpPr/>
            <p:nvPr/>
          </p:nvSpPr>
          <p:spPr>
            <a:xfrm>
              <a:off x="0" y="0"/>
              <a:ext cx="737287" cy="157638"/>
            </a:xfrm>
            <a:custGeom>
              <a:avLst/>
              <a:gdLst/>
              <a:ahLst/>
              <a:cxnLst/>
              <a:rect l="l" t="t" r="r" b="b"/>
              <a:pathLst>
                <a:path w="737287" h="157638">
                  <a:moveTo>
                    <a:pt x="15912" y="0"/>
                  </a:moveTo>
                  <a:lnTo>
                    <a:pt x="721375" y="0"/>
                  </a:lnTo>
                  <a:cubicBezTo>
                    <a:pt x="730163" y="0"/>
                    <a:pt x="737287" y="7124"/>
                    <a:pt x="737287" y="15912"/>
                  </a:cubicBezTo>
                  <a:lnTo>
                    <a:pt x="737287" y="141726"/>
                  </a:lnTo>
                  <a:cubicBezTo>
                    <a:pt x="737287" y="145946"/>
                    <a:pt x="735610" y="149993"/>
                    <a:pt x="732626" y="152977"/>
                  </a:cubicBezTo>
                  <a:cubicBezTo>
                    <a:pt x="729642" y="155961"/>
                    <a:pt x="725595" y="157638"/>
                    <a:pt x="721375" y="157638"/>
                  </a:cubicBezTo>
                  <a:lnTo>
                    <a:pt x="15912" y="157638"/>
                  </a:lnTo>
                  <a:cubicBezTo>
                    <a:pt x="11692" y="157638"/>
                    <a:pt x="7644" y="155961"/>
                    <a:pt x="4660" y="152977"/>
                  </a:cubicBezTo>
                  <a:cubicBezTo>
                    <a:pt x="1676" y="149993"/>
                    <a:pt x="0" y="145946"/>
                    <a:pt x="0" y="141726"/>
                  </a:cubicBezTo>
                  <a:lnTo>
                    <a:pt x="0" y="15912"/>
                  </a:lnTo>
                  <a:cubicBezTo>
                    <a:pt x="0" y="11692"/>
                    <a:pt x="1676" y="7644"/>
                    <a:pt x="4660" y="4660"/>
                  </a:cubicBezTo>
                  <a:cubicBezTo>
                    <a:pt x="7644" y="1676"/>
                    <a:pt x="11692" y="0"/>
                    <a:pt x="15912" y="0"/>
                  </a:cubicBezTo>
                  <a:close/>
                </a:path>
              </a:pathLst>
            </a:custGeom>
            <a:solidFill>
              <a:srgbClr val="000000">
                <a:alpha val="0"/>
              </a:srgbClr>
            </a:solidFill>
            <a:ln w="9525" cap="sq">
              <a:solidFill>
                <a:srgbClr val="B50937"/>
              </a:solidFill>
              <a:prstDash val="solid"/>
              <a:miter/>
            </a:ln>
          </p:spPr>
          <p:txBody>
            <a:bodyPr/>
            <a:p/>
          </p:txBody>
        </p:sp>
        <p:sp>
          <p:nvSpPr>
            <p:cNvPr id="8" name="TextBox 8"/>
            <p:cNvSpPr txBox="1"/>
            <p:nvPr/>
          </p:nvSpPr>
          <p:spPr>
            <a:xfrm>
              <a:off x="0" y="-38100"/>
              <a:ext cx="737287" cy="195738"/>
            </a:xfrm>
            <a:prstGeom prst="rect">
              <a:avLst/>
            </a:prstGeom>
          </p:spPr>
          <p:txBody>
            <a:bodyPr lIns="33867" tIns="33867" rIns="33867" bIns="33867" rtlCol="0" anchor="ctr"/>
            <a:lstStyle/>
            <a:p>
              <a:pPr algn="ctr">
                <a:lnSpc>
                  <a:spcPts val="1549"/>
                </a:lnSpc>
              </a:pPr>
              <a:endParaRPr sz="1048"/>
            </a:p>
          </p:txBody>
        </p:sp>
      </p:grpSp>
      <p:grpSp>
        <p:nvGrpSpPr>
          <p:cNvPr id="9" name="Group 9"/>
          <p:cNvGrpSpPr/>
          <p:nvPr/>
        </p:nvGrpSpPr>
        <p:grpSpPr>
          <a:xfrm>
            <a:off x="4527310" y="4735459"/>
            <a:ext cx="1984476" cy="335152"/>
            <a:chOff x="0" y="0"/>
            <a:chExt cx="737287" cy="124518"/>
          </a:xfrm>
        </p:grpSpPr>
        <p:sp>
          <p:nvSpPr>
            <p:cNvPr id="10" name="Freeform 10"/>
            <p:cNvSpPr/>
            <p:nvPr/>
          </p:nvSpPr>
          <p:spPr>
            <a:xfrm>
              <a:off x="0" y="0"/>
              <a:ext cx="737287" cy="124518"/>
            </a:xfrm>
            <a:custGeom>
              <a:avLst/>
              <a:gdLst/>
              <a:ahLst/>
              <a:cxnLst/>
              <a:rect l="l" t="t" r="r" b="b"/>
              <a:pathLst>
                <a:path w="737287" h="124518">
                  <a:moveTo>
                    <a:pt x="15912" y="0"/>
                  </a:moveTo>
                  <a:lnTo>
                    <a:pt x="721375" y="0"/>
                  </a:lnTo>
                  <a:cubicBezTo>
                    <a:pt x="730163" y="0"/>
                    <a:pt x="737287" y="7124"/>
                    <a:pt x="737287" y="15912"/>
                  </a:cubicBezTo>
                  <a:lnTo>
                    <a:pt x="737287" y="108607"/>
                  </a:lnTo>
                  <a:cubicBezTo>
                    <a:pt x="737287" y="112827"/>
                    <a:pt x="735610" y="116874"/>
                    <a:pt x="732626" y="119858"/>
                  </a:cubicBezTo>
                  <a:cubicBezTo>
                    <a:pt x="729642" y="122842"/>
                    <a:pt x="725595" y="124518"/>
                    <a:pt x="721375" y="124518"/>
                  </a:cubicBezTo>
                  <a:lnTo>
                    <a:pt x="15912" y="124518"/>
                  </a:lnTo>
                  <a:cubicBezTo>
                    <a:pt x="11692" y="124518"/>
                    <a:pt x="7644" y="122842"/>
                    <a:pt x="4660" y="119858"/>
                  </a:cubicBezTo>
                  <a:cubicBezTo>
                    <a:pt x="1676" y="116874"/>
                    <a:pt x="0" y="112827"/>
                    <a:pt x="0" y="108607"/>
                  </a:cubicBezTo>
                  <a:lnTo>
                    <a:pt x="0" y="15912"/>
                  </a:lnTo>
                  <a:cubicBezTo>
                    <a:pt x="0" y="11692"/>
                    <a:pt x="1676" y="7644"/>
                    <a:pt x="4660" y="4660"/>
                  </a:cubicBezTo>
                  <a:cubicBezTo>
                    <a:pt x="7644" y="1676"/>
                    <a:pt x="11692" y="0"/>
                    <a:pt x="15912" y="0"/>
                  </a:cubicBezTo>
                  <a:close/>
                </a:path>
              </a:pathLst>
            </a:custGeom>
            <a:solidFill>
              <a:srgbClr val="000000">
                <a:alpha val="0"/>
              </a:srgbClr>
            </a:solidFill>
            <a:ln w="9525" cap="sq">
              <a:solidFill>
                <a:srgbClr val="B50937"/>
              </a:solidFill>
              <a:prstDash val="solid"/>
              <a:miter/>
            </a:ln>
          </p:spPr>
          <p:txBody>
            <a:bodyPr/>
            <a:p/>
          </p:txBody>
        </p:sp>
        <p:sp>
          <p:nvSpPr>
            <p:cNvPr id="11" name="TextBox 11"/>
            <p:cNvSpPr txBox="1"/>
            <p:nvPr/>
          </p:nvSpPr>
          <p:spPr>
            <a:xfrm>
              <a:off x="0" y="-38100"/>
              <a:ext cx="737287" cy="162618"/>
            </a:xfrm>
            <a:prstGeom prst="rect">
              <a:avLst/>
            </a:prstGeom>
          </p:spPr>
          <p:txBody>
            <a:bodyPr lIns="33867" tIns="33867" rIns="33867" bIns="33867" rtlCol="0" anchor="ctr"/>
            <a:lstStyle/>
            <a:p>
              <a:pPr algn="ctr">
                <a:lnSpc>
                  <a:spcPts val="1549"/>
                </a:lnSpc>
              </a:pPr>
              <a:endParaRPr sz="1048"/>
            </a:p>
          </p:txBody>
        </p:sp>
      </p:grpSp>
      <p:grpSp>
        <p:nvGrpSpPr>
          <p:cNvPr id="12" name="Group 12"/>
          <p:cNvGrpSpPr/>
          <p:nvPr/>
        </p:nvGrpSpPr>
        <p:grpSpPr>
          <a:xfrm>
            <a:off x="6570021" y="4256714"/>
            <a:ext cx="1032021" cy="250111"/>
            <a:chOff x="0" y="0"/>
            <a:chExt cx="383424" cy="92923"/>
          </a:xfrm>
        </p:grpSpPr>
        <p:sp>
          <p:nvSpPr>
            <p:cNvPr id="13" name="Freeform 13"/>
            <p:cNvSpPr/>
            <p:nvPr/>
          </p:nvSpPr>
          <p:spPr>
            <a:xfrm>
              <a:off x="0" y="0"/>
              <a:ext cx="383424" cy="92923"/>
            </a:xfrm>
            <a:custGeom>
              <a:avLst/>
              <a:gdLst/>
              <a:ahLst/>
              <a:cxnLst/>
              <a:rect l="l" t="t" r="r" b="b"/>
              <a:pathLst>
                <a:path w="383424" h="92923">
                  <a:moveTo>
                    <a:pt x="30596" y="0"/>
                  </a:moveTo>
                  <a:lnTo>
                    <a:pt x="352827" y="0"/>
                  </a:lnTo>
                  <a:cubicBezTo>
                    <a:pt x="369725" y="0"/>
                    <a:pt x="383424" y="13698"/>
                    <a:pt x="383424" y="30596"/>
                  </a:cubicBezTo>
                  <a:lnTo>
                    <a:pt x="383424" y="62327"/>
                  </a:lnTo>
                  <a:cubicBezTo>
                    <a:pt x="383424" y="79225"/>
                    <a:pt x="369725" y="92923"/>
                    <a:pt x="352827" y="92923"/>
                  </a:cubicBezTo>
                  <a:lnTo>
                    <a:pt x="30596" y="92923"/>
                  </a:lnTo>
                  <a:cubicBezTo>
                    <a:pt x="13698" y="92923"/>
                    <a:pt x="0" y="79225"/>
                    <a:pt x="0" y="62327"/>
                  </a:cubicBezTo>
                  <a:lnTo>
                    <a:pt x="0" y="30596"/>
                  </a:lnTo>
                  <a:cubicBezTo>
                    <a:pt x="0" y="13698"/>
                    <a:pt x="13698" y="0"/>
                    <a:pt x="30596" y="0"/>
                  </a:cubicBezTo>
                  <a:close/>
                </a:path>
              </a:pathLst>
            </a:custGeom>
            <a:solidFill>
              <a:srgbClr val="000000">
                <a:alpha val="0"/>
              </a:srgbClr>
            </a:solidFill>
            <a:ln w="9525" cap="sq">
              <a:solidFill>
                <a:srgbClr val="B50937"/>
              </a:solidFill>
              <a:prstDash val="solid"/>
              <a:miter/>
            </a:ln>
          </p:spPr>
          <p:txBody>
            <a:bodyPr/>
            <a:p/>
          </p:txBody>
        </p:sp>
        <p:sp>
          <p:nvSpPr>
            <p:cNvPr id="14" name="TextBox 14"/>
            <p:cNvSpPr txBox="1"/>
            <p:nvPr/>
          </p:nvSpPr>
          <p:spPr>
            <a:xfrm>
              <a:off x="0" y="-38100"/>
              <a:ext cx="383424" cy="131023"/>
            </a:xfrm>
            <a:prstGeom prst="rect">
              <a:avLst/>
            </a:prstGeom>
          </p:spPr>
          <p:txBody>
            <a:bodyPr lIns="33867" tIns="33867" rIns="33867" bIns="33867" rtlCol="0" anchor="ctr"/>
            <a:lstStyle/>
            <a:p>
              <a:pPr algn="ctr">
                <a:lnSpc>
                  <a:spcPts val="1549"/>
                </a:lnSpc>
              </a:pPr>
              <a:endParaRPr sz="1048"/>
            </a:p>
          </p:txBody>
        </p:sp>
      </p:grpSp>
      <p:grpSp>
        <p:nvGrpSpPr>
          <p:cNvPr id="15" name="Group 15"/>
          <p:cNvGrpSpPr/>
          <p:nvPr/>
        </p:nvGrpSpPr>
        <p:grpSpPr>
          <a:xfrm>
            <a:off x="6570021" y="3949219"/>
            <a:ext cx="1032021" cy="82744"/>
            <a:chOff x="0" y="0"/>
            <a:chExt cx="383424" cy="30742"/>
          </a:xfrm>
        </p:grpSpPr>
        <p:sp>
          <p:nvSpPr>
            <p:cNvPr id="16" name="Freeform 16"/>
            <p:cNvSpPr/>
            <p:nvPr/>
          </p:nvSpPr>
          <p:spPr>
            <a:xfrm>
              <a:off x="0" y="0"/>
              <a:ext cx="383424" cy="30742"/>
            </a:xfrm>
            <a:custGeom>
              <a:avLst/>
              <a:gdLst/>
              <a:ahLst/>
              <a:cxnLst/>
              <a:rect l="l" t="t" r="r" b="b"/>
              <a:pathLst>
                <a:path w="383424" h="30742">
                  <a:moveTo>
                    <a:pt x="13113" y="0"/>
                  </a:moveTo>
                  <a:lnTo>
                    <a:pt x="370311" y="0"/>
                  </a:lnTo>
                  <a:cubicBezTo>
                    <a:pt x="377553" y="0"/>
                    <a:pt x="383424" y="5871"/>
                    <a:pt x="383424" y="13113"/>
                  </a:cubicBezTo>
                  <a:lnTo>
                    <a:pt x="383424" y="17629"/>
                  </a:lnTo>
                  <a:cubicBezTo>
                    <a:pt x="383424" y="24871"/>
                    <a:pt x="377553" y="30742"/>
                    <a:pt x="370311" y="30742"/>
                  </a:cubicBezTo>
                  <a:lnTo>
                    <a:pt x="13113" y="30742"/>
                  </a:lnTo>
                  <a:cubicBezTo>
                    <a:pt x="5871" y="30742"/>
                    <a:pt x="0" y="24871"/>
                    <a:pt x="0" y="17629"/>
                  </a:cubicBezTo>
                  <a:lnTo>
                    <a:pt x="0" y="13113"/>
                  </a:lnTo>
                  <a:cubicBezTo>
                    <a:pt x="0" y="5871"/>
                    <a:pt x="5871" y="0"/>
                    <a:pt x="13113" y="0"/>
                  </a:cubicBezTo>
                  <a:close/>
                </a:path>
              </a:pathLst>
            </a:custGeom>
            <a:solidFill>
              <a:srgbClr val="000000">
                <a:alpha val="0"/>
              </a:srgbClr>
            </a:solidFill>
            <a:ln w="9525" cap="sq">
              <a:solidFill>
                <a:srgbClr val="B50937"/>
              </a:solidFill>
              <a:prstDash val="solid"/>
              <a:miter/>
            </a:ln>
          </p:spPr>
          <p:txBody>
            <a:bodyPr/>
            <a:p/>
          </p:txBody>
        </p:sp>
        <p:sp>
          <p:nvSpPr>
            <p:cNvPr id="17" name="TextBox 17"/>
            <p:cNvSpPr txBox="1"/>
            <p:nvPr/>
          </p:nvSpPr>
          <p:spPr>
            <a:xfrm>
              <a:off x="0" y="-38100"/>
              <a:ext cx="383424" cy="68842"/>
            </a:xfrm>
            <a:prstGeom prst="rect">
              <a:avLst/>
            </a:prstGeom>
          </p:spPr>
          <p:txBody>
            <a:bodyPr lIns="33867" tIns="33867" rIns="33867" bIns="33867" rtlCol="0" anchor="ctr"/>
            <a:lstStyle/>
            <a:p>
              <a:pPr algn="ctr">
                <a:lnSpc>
                  <a:spcPts val="1549"/>
                </a:lnSpc>
              </a:pPr>
              <a:endParaRPr sz="1048"/>
            </a:p>
          </p:txBody>
        </p:sp>
      </p:grpSp>
      <p:grpSp>
        <p:nvGrpSpPr>
          <p:cNvPr id="18" name="Group 18"/>
          <p:cNvGrpSpPr/>
          <p:nvPr/>
        </p:nvGrpSpPr>
        <p:grpSpPr>
          <a:xfrm>
            <a:off x="4419494" y="2599739"/>
            <a:ext cx="160327" cy="16032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937"/>
            </a:solidFill>
          </p:spPr>
          <p:txBody>
            <a:bodyPr/>
            <a:p/>
          </p:txBody>
        </p:sp>
        <p:sp>
          <p:nvSpPr>
            <p:cNvPr id="20" name="TextBox 20"/>
            <p:cNvSpPr txBox="1"/>
            <p:nvPr/>
          </p:nvSpPr>
          <p:spPr>
            <a:xfrm>
              <a:off x="76200" y="38100"/>
              <a:ext cx="660400" cy="698500"/>
            </a:xfrm>
            <a:prstGeom prst="rect">
              <a:avLst/>
            </a:prstGeom>
          </p:spPr>
          <p:txBody>
            <a:bodyPr lIns="33867" tIns="33867" rIns="33867" bIns="33867" rtlCol="0" anchor="ctr"/>
            <a:lstStyle/>
            <a:p>
              <a:pPr algn="ctr">
                <a:lnSpc>
                  <a:spcPts val="1549"/>
                </a:lnSpc>
              </a:pPr>
              <a:endParaRPr sz="1048"/>
            </a:p>
          </p:txBody>
        </p:sp>
      </p:grpSp>
      <p:grpSp>
        <p:nvGrpSpPr>
          <p:cNvPr id="21" name="Group 21"/>
          <p:cNvGrpSpPr/>
          <p:nvPr/>
        </p:nvGrpSpPr>
        <p:grpSpPr>
          <a:xfrm>
            <a:off x="1129992" y="1735564"/>
            <a:ext cx="233890" cy="23389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937"/>
            </a:solidFill>
          </p:spPr>
          <p:txBody>
            <a:bodyPr/>
            <a:p/>
          </p:txBody>
        </p:sp>
        <p:sp>
          <p:nvSpPr>
            <p:cNvPr id="23" name="TextBox 23"/>
            <p:cNvSpPr txBox="1"/>
            <p:nvPr/>
          </p:nvSpPr>
          <p:spPr>
            <a:xfrm>
              <a:off x="76200" y="38100"/>
              <a:ext cx="660400" cy="698500"/>
            </a:xfrm>
            <a:prstGeom prst="rect">
              <a:avLst/>
            </a:prstGeom>
          </p:spPr>
          <p:txBody>
            <a:bodyPr lIns="33867" tIns="33867" rIns="33867" bIns="33867" rtlCol="0" anchor="ctr"/>
            <a:lstStyle/>
            <a:p>
              <a:pPr algn="ctr">
                <a:lnSpc>
                  <a:spcPts val="1549"/>
                </a:lnSpc>
              </a:pPr>
              <a:endParaRPr sz="1048"/>
            </a:p>
          </p:txBody>
        </p:sp>
      </p:grpSp>
      <p:grpSp>
        <p:nvGrpSpPr>
          <p:cNvPr id="24" name="Group 24"/>
          <p:cNvGrpSpPr/>
          <p:nvPr/>
        </p:nvGrpSpPr>
        <p:grpSpPr>
          <a:xfrm>
            <a:off x="1129992" y="3364466"/>
            <a:ext cx="233890" cy="23389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937"/>
            </a:solidFill>
          </p:spPr>
          <p:txBody>
            <a:bodyPr/>
            <a:p/>
          </p:txBody>
        </p:sp>
        <p:sp>
          <p:nvSpPr>
            <p:cNvPr id="26" name="TextBox 26"/>
            <p:cNvSpPr txBox="1"/>
            <p:nvPr/>
          </p:nvSpPr>
          <p:spPr>
            <a:xfrm>
              <a:off x="76200" y="38100"/>
              <a:ext cx="660400" cy="698500"/>
            </a:xfrm>
            <a:prstGeom prst="rect">
              <a:avLst/>
            </a:prstGeom>
          </p:spPr>
          <p:txBody>
            <a:bodyPr lIns="33867" tIns="33867" rIns="33867" bIns="33867" rtlCol="0" anchor="ctr"/>
            <a:lstStyle/>
            <a:p>
              <a:pPr algn="ctr">
                <a:lnSpc>
                  <a:spcPts val="1549"/>
                </a:lnSpc>
              </a:pPr>
              <a:endParaRPr sz="1048"/>
            </a:p>
          </p:txBody>
        </p:sp>
      </p:grpSp>
      <p:grpSp>
        <p:nvGrpSpPr>
          <p:cNvPr id="27" name="Group 27"/>
          <p:cNvGrpSpPr/>
          <p:nvPr/>
        </p:nvGrpSpPr>
        <p:grpSpPr>
          <a:xfrm>
            <a:off x="4391033" y="3286625"/>
            <a:ext cx="160327" cy="16032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937"/>
            </a:solidFill>
          </p:spPr>
          <p:txBody>
            <a:bodyPr/>
            <a:p/>
          </p:txBody>
        </p:sp>
        <p:sp>
          <p:nvSpPr>
            <p:cNvPr id="29" name="TextBox 29"/>
            <p:cNvSpPr txBox="1"/>
            <p:nvPr/>
          </p:nvSpPr>
          <p:spPr>
            <a:xfrm>
              <a:off x="76200" y="38100"/>
              <a:ext cx="660400" cy="698500"/>
            </a:xfrm>
            <a:prstGeom prst="rect">
              <a:avLst/>
            </a:prstGeom>
          </p:spPr>
          <p:txBody>
            <a:bodyPr lIns="33867" tIns="33867" rIns="33867" bIns="33867" rtlCol="0" anchor="ctr"/>
            <a:lstStyle/>
            <a:p>
              <a:pPr algn="ctr">
                <a:lnSpc>
                  <a:spcPts val="1549"/>
                </a:lnSpc>
              </a:pPr>
              <a:endParaRPr sz="1048"/>
            </a:p>
          </p:txBody>
        </p:sp>
      </p:grpSp>
      <p:grpSp>
        <p:nvGrpSpPr>
          <p:cNvPr id="31" name="Group 31"/>
          <p:cNvGrpSpPr/>
          <p:nvPr/>
        </p:nvGrpSpPr>
        <p:grpSpPr>
          <a:xfrm>
            <a:off x="1467942" y="1725852"/>
            <a:ext cx="2858267" cy="1572021"/>
            <a:chOff x="0" y="-47625"/>
            <a:chExt cx="6540803" cy="3597384"/>
          </a:xfrm>
        </p:grpSpPr>
        <p:sp>
          <p:nvSpPr>
            <p:cNvPr id="32" name="TextBox 32"/>
            <p:cNvSpPr txBox="1"/>
            <p:nvPr/>
          </p:nvSpPr>
          <p:spPr>
            <a:xfrm>
              <a:off x="0" y="-47625"/>
              <a:ext cx="3977381" cy="493468"/>
            </a:xfrm>
            <a:prstGeom prst="rect">
              <a:avLst/>
            </a:prstGeom>
          </p:spPr>
          <p:txBody>
            <a:bodyPr lIns="0" tIns="0" rIns="0" bIns="0" rtlCol="0" anchor="t">
              <a:spAutoFit/>
            </a:bodyPr>
            <a:lstStyle/>
            <a:p>
              <a:pPr algn="ctr">
                <a:lnSpc>
                  <a:spcPts val="1875"/>
                </a:lnSpc>
                <a:spcBef>
                  <a:spcPct val="0"/>
                </a:spcBef>
              </a:pPr>
              <a:r>
                <a:rPr lang="en-US" sz="1339" b="1">
                  <a:solidFill>
                    <a:srgbClr val="B50937"/>
                  </a:solidFill>
                  <a:latin typeface="Canva Sans Bold"/>
                  <a:ea typeface="Canva Sans Bold"/>
                  <a:cs typeface="Canva Sans Bold"/>
                  <a:sym typeface="Canva Sans Bold"/>
                </a:rPr>
                <a:t>Muscle - Fat Analysis</a:t>
              </a:r>
            </a:p>
          </p:txBody>
        </p:sp>
        <p:sp>
          <p:nvSpPr>
            <p:cNvPr id="33" name="TextBox 33"/>
            <p:cNvSpPr txBox="1"/>
            <p:nvPr/>
          </p:nvSpPr>
          <p:spPr>
            <a:xfrm>
              <a:off x="0" y="1010603"/>
              <a:ext cx="6540803" cy="2539156"/>
            </a:xfrm>
            <a:prstGeom prst="rect">
              <a:avLst/>
            </a:prstGeom>
          </p:spPr>
          <p:txBody>
            <a:bodyPr lIns="0" tIns="0" rIns="0" bIns="0" rtlCol="0" anchor="t">
              <a:spAutoFit/>
            </a:bodyPr>
            <a:lstStyle/>
            <a:p>
              <a:pPr>
                <a:lnSpc>
                  <a:spcPts val="922"/>
                </a:lnSpc>
              </a:pPr>
              <a:r>
                <a:rPr lang="en-US" sz="932">
                  <a:solidFill>
                    <a:srgbClr val="000000"/>
                  </a:solidFill>
                  <a:latin typeface="Poppins"/>
                  <a:ea typeface="Poppins"/>
                  <a:cs typeface="Poppins"/>
                  <a:sym typeface="Poppins"/>
                </a:rPr>
                <a:t>Mamsa Dhatu (Muscle)</a:t>
              </a:r>
            </a:p>
            <a:p>
              <a:pPr>
                <a:lnSpc>
                  <a:spcPts val="922"/>
                </a:lnSpc>
              </a:pPr>
              <a:r>
                <a:rPr lang="en-US" sz="932">
                  <a:solidFill>
                    <a:srgbClr val="000000"/>
                  </a:solidFill>
                  <a:latin typeface="Poppins"/>
                  <a:ea typeface="Poppins"/>
                  <a:cs typeface="Poppins"/>
                  <a:sym typeface="Poppins"/>
                </a:rPr>
                <a:t> Weak → Low SMM (Vata imbalance)</a:t>
              </a:r>
            </a:p>
            <a:p>
              <a:pPr>
                <a:lnSpc>
                  <a:spcPts val="922"/>
                </a:lnSpc>
              </a:pPr>
              <a:endParaRPr lang="en-US" sz="932">
                <a:solidFill>
                  <a:srgbClr val="000000"/>
                </a:solidFill>
                <a:latin typeface="Poppins"/>
                <a:ea typeface="Poppins"/>
                <a:cs typeface="Poppins"/>
                <a:sym typeface="Poppins"/>
              </a:endParaRPr>
            </a:p>
            <a:p>
              <a:pPr>
                <a:lnSpc>
                  <a:spcPts val="922"/>
                </a:lnSpc>
              </a:pPr>
              <a:r>
                <a:rPr lang="en-US" sz="932">
                  <a:solidFill>
                    <a:srgbClr val="000000"/>
                  </a:solidFill>
                  <a:latin typeface="Poppins"/>
                  <a:ea typeface="Poppins"/>
                  <a:cs typeface="Poppins"/>
                  <a:sym typeface="Poppins"/>
                </a:rPr>
                <a:t>Meda Dhatu (Fat)</a:t>
              </a:r>
            </a:p>
            <a:p>
              <a:pPr>
                <a:lnSpc>
                  <a:spcPts val="922"/>
                </a:lnSpc>
              </a:pPr>
              <a:r>
                <a:rPr lang="en-US" sz="932">
                  <a:solidFill>
                    <a:srgbClr val="000000"/>
                  </a:solidFill>
                  <a:latin typeface="Poppins"/>
                  <a:ea typeface="Poppins"/>
                  <a:cs typeface="Poppins"/>
                  <a:sym typeface="Poppins"/>
                </a:rPr>
                <a:t>Excess → High PBF/Body fat (Kapha imbalance, sluggish Agni)</a:t>
              </a:r>
            </a:p>
            <a:p>
              <a:pPr>
                <a:lnSpc>
                  <a:spcPts val="922"/>
                </a:lnSpc>
              </a:pPr>
              <a:endParaRPr lang="en-US" sz="932">
                <a:solidFill>
                  <a:srgbClr val="000000"/>
                </a:solidFill>
                <a:latin typeface="Poppins"/>
                <a:ea typeface="Poppins"/>
                <a:cs typeface="Poppins"/>
                <a:sym typeface="Poppins"/>
              </a:endParaRPr>
            </a:p>
            <a:p>
              <a:pPr>
                <a:lnSpc>
                  <a:spcPts val="922"/>
                </a:lnSpc>
              </a:pPr>
              <a:r>
                <a:rPr lang="en-US" sz="932">
                  <a:solidFill>
                    <a:srgbClr val="000000"/>
                  </a:solidFill>
                  <a:latin typeface="Poppins"/>
                  <a:ea typeface="Poppins"/>
                  <a:cs typeface="Poppins"/>
                  <a:sym typeface="Poppins"/>
                </a:rPr>
                <a:t>Balance → Shows healthy Agni &amp; stable Doshas</a:t>
              </a:r>
            </a:p>
            <a:p>
              <a:pPr>
                <a:lnSpc>
                  <a:spcPts val="922"/>
                </a:lnSpc>
              </a:pPr>
              <a:endParaRPr lang="en-US" sz="932">
                <a:solidFill>
                  <a:srgbClr val="000000"/>
                </a:solidFill>
                <a:latin typeface="Poppins"/>
                <a:ea typeface="Poppins"/>
                <a:cs typeface="Poppins"/>
                <a:sym typeface="Poppins"/>
              </a:endParaRPr>
            </a:p>
          </p:txBody>
        </p:sp>
      </p:grpSp>
      <p:sp>
        <p:nvSpPr>
          <p:cNvPr id="34" name="TextBox 34"/>
          <p:cNvSpPr txBox="1"/>
          <p:nvPr/>
        </p:nvSpPr>
        <p:spPr>
          <a:xfrm>
            <a:off x="8198750" y="1624491"/>
            <a:ext cx="2862951" cy="883298"/>
          </a:xfrm>
          <a:prstGeom prst="rect">
            <a:avLst/>
          </a:prstGeom>
        </p:spPr>
        <p:txBody>
          <a:bodyPr lIns="0" tIns="0" rIns="0" bIns="0" rtlCol="0" anchor="t">
            <a:spAutoFit/>
          </a:bodyPr>
          <a:lstStyle/>
          <a:p>
            <a:pPr algn="ctr">
              <a:lnSpc>
                <a:spcPts val="2328"/>
              </a:lnSpc>
            </a:pPr>
            <a:r>
              <a:rPr lang="en-US" sz="1750" b="1" i="1">
                <a:solidFill>
                  <a:srgbClr val="000000"/>
                </a:solidFill>
                <a:latin typeface="Lato Bold Italics"/>
                <a:ea typeface="Lato Bold Italics"/>
                <a:cs typeface="Lato Bold Italics"/>
                <a:sym typeface="Lato Bold Italics"/>
              </a:rPr>
              <a:t>“Ayurveda tells the why &amp; tendency, BCA tells the how much &amp; where”</a:t>
            </a:r>
          </a:p>
        </p:txBody>
      </p:sp>
      <p:grpSp>
        <p:nvGrpSpPr>
          <p:cNvPr id="35" name="Group 35"/>
          <p:cNvGrpSpPr/>
          <p:nvPr/>
        </p:nvGrpSpPr>
        <p:grpSpPr>
          <a:xfrm>
            <a:off x="1467942" y="3343654"/>
            <a:ext cx="2961967" cy="1506378"/>
            <a:chOff x="0" y="-47625"/>
            <a:chExt cx="6778108" cy="3447166"/>
          </a:xfrm>
        </p:grpSpPr>
        <p:sp>
          <p:nvSpPr>
            <p:cNvPr id="36" name="TextBox 36"/>
            <p:cNvSpPr txBox="1"/>
            <p:nvPr/>
          </p:nvSpPr>
          <p:spPr>
            <a:xfrm>
              <a:off x="0" y="-47625"/>
              <a:ext cx="3151784" cy="493468"/>
            </a:xfrm>
            <a:prstGeom prst="rect">
              <a:avLst/>
            </a:prstGeom>
          </p:spPr>
          <p:txBody>
            <a:bodyPr lIns="0" tIns="0" rIns="0" bIns="0" rtlCol="0" anchor="t">
              <a:spAutoFit/>
            </a:bodyPr>
            <a:lstStyle/>
            <a:p>
              <a:pPr algn="ctr">
                <a:lnSpc>
                  <a:spcPts val="1875"/>
                </a:lnSpc>
                <a:spcBef>
                  <a:spcPct val="0"/>
                </a:spcBef>
              </a:pPr>
              <a:r>
                <a:rPr lang="en-US" sz="1339" b="1">
                  <a:solidFill>
                    <a:srgbClr val="B50937"/>
                  </a:solidFill>
                  <a:latin typeface="Canva Sans Bold"/>
                  <a:ea typeface="Canva Sans Bold"/>
                  <a:cs typeface="Canva Sans Bold"/>
                  <a:sym typeface="Canva Sans Bold"/>
                </a:rPr>
                <a:t>Obesity Analysis</a:t>
              </a:r>
            </a:p>
          </p:txBody>
        </p:sp>
        <p:sp>
          <p:nvSpPr>
            <p:cNvPr id="37" name="TextBox 37"/>
            <p:cNvSpPr txBox="1"/>
            <p:nvPr/>
          </p:nvSpPr>
          <p:spPr>
            <a:xfrm>
              <a:off x="0" y="962977"/>
              <a:ext cx="6778108" cy="2436564"/>
            </a:xfrm>
            <a:prstGeom prst="rect">
              <a:avLst/>
            </a:prstGeom>
          </p:spPr>
          <p:txBody>
            <a:bodyPr lIns="0" tIns="0" rIns="0" bIns="0" rtlCol="0" anchor="t">
              <a:spAutoFit/>
            </a:bodyPr>
            <a:lstStyle/>
            <a:p>
              <a:pPr>
                <a:lnSpc>
                  <a:spcPts val="1192"/>
                </a:lnSpc>
              </a:pPr>
              <a:r>
                <a:rPr lang="en-US" sz="932">
                  <a:solidFill>
                    <a:srgbClr val="000000"/>
                  </a:solidFill>
                  <a:latin typeface="Poppins"/>
                  <a:ea typeface="Poppins"/>
                  <a:cs typeface="Poppins"/>
                  <a:sym typeface="Poppins"/>
                </a:rPr>
                <a:t>Meda Dhatu imbalance</a:t>
              </a:r>
            </a:p>
            <a:p>
              <a:pPr>
                <a:lnSpc>
                  <a:spcPts val="1192"/>
                </a:lnSpc>
              </a:pPr>
              <a:r>
                <a:rPr lang="en-US" sz="932">
                  <a:solidFill>
                    <a:srgbClr val="000000"/>
                  </a:solidFill>
                  <a:latin typeface="Poppins"/>
                  <a:ea typeface="Poppins"/>
                  <a:cs typeface="Poppins"/>
                  <a:sym typeface="Poppins"/>
                </a:rPr>
                <a:t>Kapha imbalance - High fat % → Obesity (Sthaulya)</a:t>
              </a:r>
            </a:p>
            <a:p>
              <a:pPr>
                <a:lnSpc>
                  <a:spcPts val="1192"/>
                </a:lnSpc>
              </a:pPr>
              <a:r>
                <a:rPr lang="en-US" sz="932">
                  <a:solidFill>
                    <a:srgbClr val="000000"/>
                  </a:solidFill>
                  <a:latin typeface="Poppins"/>
                  <a:ea typeface="Poppins"/>
                  <a:cs typeface="Poppins"/>
                  <a:sym typeface="Poppins"/>
                </a:rPr>
                <a:t>Pitta imbalance - Normal BMI + high fat % → Hidden metabolic stress</a:t>
              </a:r>
            </a:p>
            <a:p>
              <a:pPr>
                <a:lnSpc>
                  <a:spcPts val="1192"/>
                </a:lnSpc>
              </a:pPr>
              <a:r>
                <a:rPr lang="en-US" sz="932">
                  <a:solidFill>
                    <a:srgbClr val="000000"/>
                  </a:solidFill>
                  <a:latin typeface="Poppins"/>
                  <a:ea typeface="Poppins"/>
                  <a:cs typeface="Poppins"/>
                  <a:sym typeface="Poppins"/>
                </a:rPr>
                <a:t>Vata imbalance - Low BMI + low fat % → Under-nourished state</a:t>
              </a:r>
            </a:p>
            <a:p>
              <a:pPr>
                <a:lnSpc>
                  <a:spcPts val="922"/>
                </a:lnSpc>
              </a:pPr>
              <a:endParaRPr lang="en-US" sz="932">
                <a:solidFill>
                  <a:srgbClr val="000000"/>
                </a:solidFill>
                <a:latin typeface="Poppins"/>
                <a:ea typeface="Poppins"/>
                <a:cs typeface="Poppins"/>
                <a:sym typeface="Poppins"/>
              </a:endParaRPr>
            </a:p>
          </p:txBody>
        </p:sp>
      </p:grpSp>
      <p:sp>
        <p:nvSpPr>
          <p:cNvPr id="38" name="TextBox 38"/>
          <p:cNvSpPr txBox="1"/>
          <p:nvPr/>
        </p:nvSpPr>
        <p:spPr>
          <a:xfrm>
            <a:off x="8213451" y="3078653"/>
            <a:ext cx="2305201" cy="215640"/>
          </a:xfrm>
          <a:prstGeom prst="rect">
            <a:avLst/>
          </a:prstGeom>
        </p:spPr>
        <p:txBody>
          <a:bodyPr lIns="0" tIns="0" rIns="0" bIns="0" rtlCol="0" anchor="t">
            <a:spAutoFit/>
          </a:bodyPr>
          <a:lstStyle/>
          <a:p>
            <a:pPr algn="ctr">
              <a:lnSpc>
                <a:spcPts val="1875"/>
              </a:lnSpc>
              <a:spcBef>
                <a:spcPct val="0"/>
              </a:spcBef>
            </a:pPr>
            <a:r>
              <a:rPr lang="en-US" sz="1339" b="1">
                <a:solidFill>
                  <a:srgbClr val="B50937"/>
                </a:solidFill>
                <a:latin typeface="Canva Sans Bold"/>
                <a:ea typeface="Canva Sans Bold"/>
                <a:cs typeface="Canva Sans Bold"/>
                <a:sym typeface="Canva Sans Bold"/>
              </a:rPr>
              <a:t>Basal Metabolic Rate (BMR) </a:t>
            </a:r>
          </a:p>
        </p:txBody>
      </p:sp>
      <p:sp>
        <p:nvSpPr>
          <p:cNvPr id="39" name="TextBox 39"/>
          <p:cNvSpPr txBox="1"/>
          <p:nvPr/>
        </p:nvSpPr>
        <p:spPr>
          <a:xfrm>
            <a:off x="8213451" y="3476735"/>
            <a:ext cx="2711310" cy="907843"/>
          </a:xfrm>
          <a:prstGeom prst="rect">
            <a:avLst/>
          </a:prstGeom>
        </p:spPr>
        <p:txBody>
          <a:bodyPr lIns="0" tIns="0" rIns="0" bIns="0" rtlCol="0" anchor="t">
            <a:spAutoFit/>
          </a:bodyPr>
          <a:lstStyle/>
          <a:p>
            <a:pPr>
              <a:lnSpc>
                <a:spcPts val="1192"/>
              </a:lnSpc>
            </a:pPr>
            <a:r>
              <a:rPr lang="en-US" sz="932">
                <a:solidFill>
                  <a:srgbClr val="000000"/>
                </a:solidFill>
                <a:latin typeface="Poppins"/>
                <a:ea typeface="Poppins"/>
                <a:cs typeface="Poppins"/>
                <a:sym typeface="Poppins"/>
              </a:rPr>
              <a:t>Agni (Digestive Fire) and BMR</a:t>
            </a:r>
          </a:p>
          <a:p>
            <a:pPr>
              <a:lnSpc>
                <a:spcPts val="1192"/>
              </a:lnSpc>
            </a:pPr>
            <a:endParaRPr lang="en-US" sz="932">
              <a:solidFill>
                <a:srgbClr val="000000"/>
              </a:solidFill>
              <a:latin typeface="Poppins"/>
              <a:ea typeface="Poppins"/>
              <a:cs typeface="Poppins"/>
              <a:sym typeface="Poppins"/>
            </a:endParaRPr>
          </a:p>
          <a:p>
            <a:pPr>
              <a:lnSpc>
                <a:spcPts val="1192"/>
              </a:lnSpc>
            </a:pPr>
            <a:r>
              <a:rPr lang="en-US" sz="932">
                <a:solidFill>
                  <a:srgbClr val="000000"/>
                </a:solidFill>
                <a:latin typeface="Poppins"/>
                <a:ea typeface="Poppins"/>
                <a:cs typeface="Poppins"/>
                <a:sym typeface="Poppins"/>
              </a:rPr>
              <a:t>Low → Sluggish (Kapha)</a:t>
            </a:r>
          </a:p>
          <a:p>
            <a:pPr>
              <a:lnSpc>
                <a:spcPts val="1192"/>
              </a:lnSpc>
            </a:pPr>
            <a:r>
              <a:rPr lang="en-US" sz="932">
                <a:solidFill>
                  <a:srgbClr val="000000"/>
                </a:solidFill>
                <a:latin typeface="Poppins"/>
                <a:ea typeface="Poppins"/>
                <a:cs typeface="Poppins"/>
                <a:sym typeface="Poppins"/>
              </a:rPr>
              <a:t>High → Sharp/irritated (Pitta)</a:t>
            </a:r>
          </a:p>
          <a:p>
            <a:pPr>
              <a:lnSpc>
                <a:spcPts val="1192"/>
              </a:lnSpc>
            </a:pPr>
            <a:r>
              <a:rPr lang="en-US" sz="932">
                <a:solidFill>
                  <a:srgbClr val="000000"/>
                </a:solidFill>
                <a:latin typeface="Poppins"/>
                <a:ea typeface="Poppins"/>
                <a:cs typeface="Poppins"/>
                <a:sym typeface="Poppins"/>
              </a:rPr>
              <a:t>Fluctuating → Irregular (Vata)</a:t>
            </a:r>
          </a:p>
          <a:p>
            <a:pPr>
              <a:lnSpc>
                <a:spcPts val="922"/>
              </a:lnSpc>
            </a:pPr>
            <a:endParaRPr lang="en-US" sz="932">
              <a:solidFill>
                <a:srgbClr val="000000"/>
              </a:solidFill>
              <a:latin typeface="Poppins"/>
              <a:ea typeface="Poppins"/>
              <a:cs typeface="Poppins"/>
              <a:sym typeface="Poppins"/>
            </a:endParaRPr>
          </a:p>
        </p:txBody>
      </p:sp>
      <p:grpSp>
        <p:nvGrpSpPr>
          <p:cNvPr id="40" name="Group 40"/>
          <p:cNvGrpSpPr/>
          <p:nvPr/>
        </p:nvGrpSpPr>
        <p:grpSpPr>
          <a:xfrm>
            <a:off x="1467942" y="5060834"/>
            <a:ext cx="2305201" cy="882282"/>
            <a:chOff x="0" y="-47625"/>
            <a:chExt cx="5275177" cy="2018998"/>
          </a:xfrm>
        </p:grpSpPr>
        <p:sp>
          <p:nvSpPr>
            <p:cNvPr id="41" name="TextBox 41"/>
            <p:cNvSpPr txBox="1"/>
            <p:nvPr/>
          </p:nvSpPr>
          <p:spPr>
            <a:xfrm>
              <a:off x="0" y="-47625"/>
              <a:ext cx="1968402" cy="1032078"/>
            </a:xfrm>
            <a:prstGeom prst="rect">
              <a:avLst/>
            </a:prstGeom>
          </p:spPr>
          <p:txBody>
            <a:bodyPr lIns="0" tIns="0" rIns="0" bIns="0" rtlCol="0" anchor="t">
              <a:spAutoFit/>
            </a:bodyPr>
            <a:lstStyle/>
            <a:p>
              <a:pPr algn="ctr">
                <a:lnSpc>
                  <a:spcPts val="1875"/>
                </a:lnSpc>
                <a:spcBef>
                  <a:spcPct val="0"/>
                </a:spcBef>
              </a:pPr>
              <a:r>
                <a:rPr lang="en-US" sz="1339" b="1">
                  <a:solidFill>
                    <a:srgbClr val="B50937"/>
                  </a:solidFill>
                  <a:latin typeface="Canva Sans Bold"/>
                  <a:ea typeface="Canva Sans Bold"/>
                  <a:cs typeface="Canva Sans Bold"/>
                  <a:sym typeface="Canva Sans Bold"/>
                </a:rPr>
                <a:t>ECW Ratio</a:t>
              </a:r>
            </a:p>
          </p:txBody>
        </p:sp>
        <p:sp>
          <p:nvSpPr>
            <p:cNvPr id="42" name="TextBox 42"/>
            <p:cNvSpPr txBox="1"/>
            <p:nvPr/>
          </p:nvSpPr>
          <p:spPr>
            <a:xfrm>
              <a:off x="0" y="842859"/>
              <a:ext cx="5275177" cy="1128514"/>
            </a:xfrm>
            <a:prstGeom prst="rect">
              <a:avLst/>
            </a:prstGeom>
          </p:spPr>
          <p:txBody>
            <a:bodyPr lIns="0" tIns="0" rIns="0" bIns="0" rtlCol="0" anchor="t">
              <a:spAutoFit/>
            </a:bodyPr>
            <a:lstStyle/>
            <a:p>
              <a:pPr>
                <a:lnSpc>
                  <a:spcPts val="922"/>
                </a:lnSpc>
              </a:pPr>
              <a:r>
                <a:rPr lang="en-US" sz="932">
                  <a:solidFill>
                    <a:srgbClr val="000000"/>
                  </a:solidFill>
                  <a:latin typeface="Poppins"/>
                  <a:ea typeface="Poppins"/>
                  <a:cs typeface="Poppins"/>
                  <a:sym typeface="Poppins"/>
                </a:rPr>
                <a:t>Balanced Rasa → Normal ECW ratio.</a:t>
              </a:r>
            </a:p>
            <a:p>
              <a:pPr>
                <a:lnSpc>
                  <a:spcPts val="922"/>
                </a:lnSpc>
              </a:pPr>
              <a:r>
                <a:rPr lang="en-US" sz="932">
                  <a:solidFill>
                    <a:srgbClr val="000000"/>
                  </a:solidFill>
                  <a:latin typeface="Poppins"/>
                  <a:ea typeface="Poppins"/>
                  <a:cs typeface="Poppins"/>
                  <a:sym typeface="Poppins"/>
                </a:rPr>
                <a:t>Imbalance Rasa → High ECW (fluid retention)</a:t>
              </a:r>
            </a:p>
            <a:p>
              <a:pPr>
                <a:lnSpc>
                  <a:spcPts val="922"/>
                </a:lnSpc>
              </a:pPr>
              <a:endParaRPr lang="en-US" sz="932">
                <a:solidFill>
                  <a:srgbClr val="000000"/>
                </a:solidFill>
                <a:latin typeface="Poppins"/>
                <a:ea typeface="Poppins"/>
                <a:cs typeface="Poppins"/>
                <a:sym typeface="Poppins"/>
              </a:endParaRPr>
            </a:p>
          </p:txBody>
        </p:sp>
      </p:grpSp>
      <p:sp>
        <p:nvSpPr>
          <p:cNvPr id="43" name="TextBox 43"/>
          <p:cNvSpPr txBox="1"/>
          <p:nvPr/>
        </p:nvSpPr>
        <p:spPr>
          <a:xfrm>
            <a:off x="8213451" y="4763903"/>
            <a:ext cx="1037429" cy="686374"/>
          </a:xfrm>
          <a:prstGeom prst="rect">
            <a:avLst/>
          </a:prstGeom>
        </p:spPr>
        <p:txBody>
          <a:bodyPr lIns="0" tIns="0" rIns="0" bIns="0" rtlCol="0" anchor="t">
            <a:spAutoFit/>
          </a:bodyPr>
          <a:lstStyle/>
          <a:p>
            <a:pPr algn="ctr">
              <a:lnSpc>
                <a:spcPts val="1875"/>
              </a:lnSpc>
            </a:pPr>
            <a:r>
              <a:rPr lang="en-US" sz="1339" b="1">
                <a:solidFill>
                  <a:srgbClr val="B50937"/>
                </a:solidFill>
                <a:latin typeface="Canva Sans Bold"/>
                <a:ea typeface="Canva Sans Bold"/>
                <a:cs typeface="Canva Sans Bold"/>
                <a:sym typeface="Canva Sans Bold"/>
              </a:rPr>
              <a:t> Phase angle</a:t>
            </a:r>
          </a:p>
          <a:p>
            <a:pPr algn="ctr">
              <a:lnSpc>
                <a:spcPts val="1875"/>
              </a:lnSpc>
              <a:spcBef>
                <a:spcPct val="0"/>
              </a:spcBef>
            </a:pPr>
            <a:endParaRPr lang="en-US" sz="1339" b="1">
              <a:solidFill>
                <a:srgbClr val="B50937"/>
              </a:solidFill>
              <a:latin typeface="Canva Sans Bold"/>
              <a:ea typeface="Canva Sans Bold"/>
              <a:cs typeface="Canva Sans Bold"/>
              <a:sym typeface="Canva Sans Bold"/>
            </a:endParaRPr>
          </a:p>
        </p:txBody>
      </p:sp>
      <p:sp>
        <p:nvSpPr>
          <p:cNvPr id="44" name="TextBox 44"/>
          <p:cNvSpPr txBox="1"/>
          <p:nvPr/>
        </p:nvSpPr>
        <p:spPr>
          <a:xfrm>
            <a:off x="8213451" y="5083500"/>
            <a:ext cx="2305201" cy="825801"/>
          </a:xfrm>
          <a:prstGeom prst="rect">
            <a:avLst/>
          </a:prstGeom>
        </p:spPr>
        <p:txBody>
          <a:bodyPr lIns="0" tIns="0" rIns="0" bIns="0" rtlCol="0" anchor="t">
            <a:spAutoFit/>
          </a:bodyPr>
          <a:lstStyle/>
          <a:p>
            <a:pPr>
              <a:lnSpc>
                <a:spcPts val="1304"/>
              </a:lnSpc>
            </a:pPr>
            <a:r>
              <a:rPr lang="en-US" sz="932">
                <a:solidFill>
                  <a:srgbClr val="000000"/>
                </a:solidFill>
                <a:latin typeface="Poppins"/>
                <a:ea typeface="Poppins"/>
                <a:cs typeface="Poppins"/>
                <a:sym typeface="Poppins"/>
              </a:rPr>
              <a:t>Strong Ojas → High Phase Angle (healthy, resilient cells)</a:t>
            </a:r>
          </a:p>
          <a:p>
            <a:pPr>
              <a:lnSpc>
                <a:spcPts val="1304"/>
              </a:lnSpc>
            </a:pPr>
            <a:r>
              <a:rPr lang="en-US" sz="932">
                <a:solidFill>
                  <a:srgbClr val="000000"/>
                </a:solidFill>
                <a:latin typeface="Poppins"/>
                <a:ea typeface="Poppins"/>
                <a:cs typeface="Poppins"/>
                <a:sym typeface="Poppins"/>
              </a:rPr>
              <a:t>Weak Ojas → Low Phase Angle (fatigue, low immunity</a:t>
            </a:r>
          </a:p>
          <a:p>
            <a:pPr>
              <a:lnSpc>
                <a:spcPts val="1304"/>
              </a:lnSpc>
            </a:pPr>
            <a:endParaRPr lang="en-US" sz="932">
              <a:solidFill>
                <a:srgbClr val="000000"/>
              </a:solidFill>
              <a:latin typeface="Poppins"/>
              <a:ea typeface="Poppins"/>
              <a:cs typeface="Poppins"/>
              <a:sym typeface="Poppins"/>
            </a:endParaRPr>
          </a:p>
        </p:txBody>
      </p:sp>
      <p:sp>
        <p:nvSpPr>
          <p:cNvPr id="45" name="TextBox 45"/>
          <p:cNvSpPr txBox="1"/>
          <p:nvPr/>
        </p:nvSpPr>
        <p:spPr>
          <a:xfrm>
            <a:off x="4471198" y="2599782"/>
            <a:ext cx="56919" cy="142509"/>
          </a:xfrm>
          <a:prstGeom prst="rect">
            <a:avLst/>
          </a:prstGeom>
        </p:spPr>
        <p:txBody>
          <a:bodyPr lIns="0" tIns="0" rIns="0" bIns="0" rtlCol="0" anchor="t">
            <a:spAutoFit/>
          </a:bodyPr>
          <a:lstStyle/>
          <a:p>
            <a:pPr algn="ctr">
              <a:lnSpc>
                <a:spcPts val="1191"/>
              </a:lnSpc>
              <a:spcBef>
                <a:spcPct val="0"/>
              </a:spcBef>
            </a:pPr>
            <a:r>
              <a:rPr lang="en-US" sz="850" b="1">
                <a:solidFill>
                  <a:srgbClr val="FFFFFF"/>
                </a:solidFill>
                <a:latin typeface="Canva Sans Bold"/>
                <a:ea typeface="Canva Sans Bold"/>
                <a:cs typeface="Canva Sans Bold"/>
                <a:sym typeface="Canva Sans Bold"/>
              </a:rPr>
              <a:t>1</a:t>
            </a:r>
          </a:p>
        </p:txBody>
      </p:sp>
      <p:sp>
        <p:nvSpPr>
          <p:cNvPr id="46" name="TextBox 46"/>
          <p:cNvSpPr txBox="1"/>
          <p:nvPr/>
        </p:nvSpPr>
        <p:spPr>
          <a:xfrm>
            <a:off x="1205420" y="1737717"/>
            <a:ext cx="83035" cy="204320"/>
          </a:xfrm>
          <a:prstGeom prst="rect">
            <a:avLst/>
          </a:prstGeom>
        </p:spPr>
        <p:txBody>
          <a:bodyPr lIns="0" tIns="0" rIns="0" bIns="0" rtlCol="0" anchor="t">
            <a:spAutoFit/>
          </a:bodyPr>
          <a:lstStyle/>
          <a:p>
            <a:pPr algn="ctr">
              <a:lnSpc>
                <a:spcPts val="1736"/>
              </a:lnSpc>
              <a:spcBef>
                <a:spcPct val="0"/>
              </a:spcBef>
            </a:pPr>
            <a:r>
              <a:rPr lang="en-US" sz="1240" b="1">
                <a:solidFill>
                  <a:srgbClr val="FFFFFF"/>
                </a:solidFill>
                <a:latin typeface="Canva Sans Bold"/>
                <a:ea typeface="Canva Sans Bold"/>
                <a:cs typeface="Canva Sans Bold"/>
                <a:sym typeface="Canva Sans Bold"/>
              </a:rPr>
              <a:t>1</a:t>
            </a:r>
          </a:p>
        </p:txBody>
      </p:sp>
      <p:sp>
        <p:nvSpPr>
          <p:cNvPr id="47" name="TextBox 47"/>
          <p:cNvSpPr txBox="1"/>
          <p:nvPr/>
        </p:nvSpPr>
        <p:spPr>
          <a:xfrm>
            <a:off x="1202980" y="3366618"/>
            <a:ext cx="87914" cy="204320"/>
          </a:xfrm>
          <a:prstGeom prst="rect">
            <a:avLst/>
          </a:prstGeom>
        </p:spPr>
        <p:txBody>
          <a:bodyPr lIns="0" tIns="0" rIns="0" bIns="0" rtlCol="0" anchor="t">
            <a:spAutoFit/>
          </a:bodyPr>
          <a:lstStyle/>
          <a:p>
            <a:pPr algn="ctr">
              <a:lnSpc>
                <a:spcPts val="1736"/>
              </a:lnSpc>
              <a:spcBef>
                <a:spcPct val="0"/>
              </a:spcBef>
            </a:pPr>
            <a:r>
              <a:rPr lang="en-US" sz="1240" b="1">
                <a:solidFill>
                  <a:srgbClr val="FFFFFF"/>
                </a:solidFill>
                <a:latin typeface="Canva Sans Bold"/>
                <a:ea typeface="Canva Sans Bold"/>
                <a:cs typeface="Canva Sans Bold"/>
                <a:sym typeface="Canva Sans Bold"/>
              </a:rPr>
              <a:t>2</a:t>
            </a:r>
          </a:p>
        </p:txBody>
      </p:sp>
      <p:sp>
        <p:nvSpPr>
          <p:cNvPr id="48" name="TextBox 48"/>
          <p:cNvSpPr txBox="1"/>
          <p:nvPr/>
        </p:nvSpPr>
        <p:spPr>
          <a:xfrm>
            <a:off x="4441103" y="3286669"/>
            <a:ext cx="60190" cy="142509"/>
          </a:xfrm>
          <a:prstGeom prst="rect">
            <a:avLst/>
          </a:prstGeom>
        </p:spPr>
        <p:txBody>
          <a:bodyPr lIns="0" tIns="0" rIns="0" bIns="0" rtlCol="0" anchor="t">
            <a:spAutoFit/>
          </a:bodyPr>
          <a:lstStyle/>
          <a:p>
            <a:pPr algn="ctr">
              <a:lnSpc>
                <a:spcPts val="1191"/>
              </a:lnSpc>
              <a:spcBef>
                <a:spcPct val="0"/>
              </a:spcBef>
            </a:pPr>
            <a:r>
              <a:rPr lang="en-US" sz="850" b="1">
                <a:solidFill>
                  <a:srgbClr val="FFFFFF"/>
                </a:solidFill>
                <a:latin typeface="Canva Sans Bold"/>
                <a:ea typeface="Canva Sans Bold"/>
                <a:cs typeface="Canva Sans Bold"/>
                <a:sym typeface="Canva Sans Bold"/>
              </a:rPr>
              <a:t>2</a:t>
            </a:r>
          </a:p>
        </p:txBody>
      </p:sp>
      <p:grpSp>
        <p:nvGrpSpPr>
          <p:cNvPr id="49" name="Group 49"/>
          <p:cNvGrpSpPr/>
          <p:nvPr/>
        </p:nvGrpSpPr>
        <p:grpSpPr>
          <a:xfrm>
            <a:off x="1129992" y="5041298"/>
            <a:ext cx="233890" cy="233890"/>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937"/>
            </a:solidFill>
          </p:spPr>
          <p:txBody>
            <a:bodyPr/>
            <a:p/>
          </p:txBody>
        </p:sp>
        <p:sp>
          <p:nvSpPr>
            <p:cNvPr id="51" name="TextBox 51"/>
            <p:cNvSpPr txBox="1"/>
            <p:nvPr/>
          </p:nvSpPr>
          <p:spPr>
            <a:xfrm>
              <a:off x="76200" y="38100"/>
              <a:ext cx="660400" cy="698500"/>
            </a:xfrm>
            <a:prstGeom prst="rect">
              <a:avLst/>
            </a:prstGeom>
          </p:spPr>
          <p:txBody>
            <a:bodyPr lIns="33867" tIns="33867" rIns="33867" bIns="33867" rtlCol="0" anchor="ctr"/>
            <a:lstStyle/>
            <a:p>
              <a:pPr algn="ctr">
                <a:lnSpc>
                  <a:spcPts val="1549"/>
                </a:lnSpc>
              </a:pPr>
              <a:endParaRPr sz="1048"/>
            </a:p>
          </p:txBody>
        </p:sp>
      </p:grpSp>
      <p:sp>
        <p:nvSpPr>
          <p:cNvPr id="52" name="TextBox 52"/>
          <p:cNvSpPr txBox="1"/>
          <p:nvPr/>
        </p:nvSpPr>
        <p:spPr>
          <a:xfrm>
            <a:off x="1129992" y="5052982"/>
            <a:ext cx="233890" cy="183642"/>
          </a:xfrm>
          <a:prstGeom prst="rect">
            <a:avLst/>
          </a:prstGeom>
        </p:spPr>
        <p:txBody>
          <a:bodyPr lIns="0" tIns="0" rIns="0" bIns="0" rtlCol="0" anchor="t">
            <a:spAutoFit/>
          </a:bodyPr>
          <a:lstStyle/>
          <a:p>
            <a:pPr algn="ctr">
              <a:lnSpc>
                <a:spcPts val="1549"/>
              </a:lnSpc>
              <a:spcBef>
                <a:spcPct val="0"/>
              </a:spcBef>
            </a:pPr>
            <a:r>
              <a:rPr lang="en-US" sz="1106" b="1">
                <a:solidFill>
                  <a:srgbClr val="FFFFFF"/>
                </a:solidFill>
                <a:latin typeface="Canva Sans Bold"/>
                <a:ea typeface="Canva Sans Bold"/>
                <a:cs typeface="Canva Sans Bold"/>
                <a:sym typeface="Canva Sans Bold"/>
              </a:rPr>
              <a:t>3</a:t>
            </a:r>
          </a:p>
        </p:txBody>
      </p:sp>
      <p:grpSp>
        <p:nvGrpSpPr>
          <p:cNvPr id="53" name="Group 53"/>
          <p:cNvGrpSpPr/>
          <p:nvPr/>
        </p:nvGrpSpPr>
        <p:grpSpPr>
          <a:xfrm>
            <a:off x="4364322" y="4594543"/>
            <a:ext cx="197108" cy="197108"/>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937"/>
            </a:solidFill>
          </p:spPr>
          <p:txBody>
            <a:bodyPr/>
            <a:p/>
          </p:txBody>
        </p:sp>
        <p:sp>
          <p:nvSpPr>
            <p:cNvPr id="55" name="TextBox 55"/>
            <p:cNvSpPr txBox="1"/>
            <p:nvPr/>
          </p:nvSpPr>
          <p:spPr>
            <a:xfrm>
              <a:off x="76200" y="38100"/>
              <a:ext cx="660400" cy="698500"/>
            </a:xfrm>
            <a:prstGeom prst="rect">
              <a:avLst/>
            </a:prstGeom>
          </p:spPr>
          <p:txBody>
            <a:bodyPr lIns="33867" tIns="33867" rIns="33867" bIns="33867" rtlCol="0" anchor="ctr"/>
            <a:lstStyle/>
            <a:p>
              <a:pPr algn="ctr">
                <a:lnSpc>
                  <a:spcPts val="1549"/>
                </a:lnSpc>
              </a:pPr>
              <a:endParaRPr sz="1048"/>
            </a:p>
          </p:txBody>
        </p:sp>
      </p:grpSp>
      <p:sp>
        <p:nvSpPr>
          <p:cNvPr id="56" name="TextBox 56"/>
          <p:cNvSpPr txBox="1"/>
          <p:nvPr/>
        </p:nvSpPr>
        <p:spPr>
          <a:xfrm>
            <a:off x="4354252" y="4587837"/>
            <a:ext cx="233890" cy="183642"/>
          </a:xfrm>
          <a:prstGeom prst="rect">
            <a:avLst/>
          </a:prstGeom>
        </p:spPr>
        <p:txBody>
          <a:bodyPr lIns="0" tIns="0" rIns="0" bIns="0" rtlCol="0" anchor="t">
            <a:spAutoFit/>
          </a:bodyPr>
          <a:lstStyle/>
          <a:p>
            <a:pPr algn="ctr">
              <a:lnSpc>
                <a:spcPts val="1549"/>
              </a:lnSpc>
              <a:spcBef>
                <a:spcPct val="0"/>
              </a:spcBef>
            </a:pPr>
            <a:r>
              <a:rPr lang="en-US" sz="1106" b="1">
                <a:solidFill>
                  <a:srgbClr val="FFFFFF"/>
                </a:solidFill>
                <a:latin typeface="Canva Sans Bold"/>
                <a:ea typeface="Canva Sans Bold"/>
                <a:cs typeface="Canva Sans Bold"/>
                <a:sym typeface="Canva Sans Bold"/>
              </a:rPr>
              <a:t>3</a:t>
            </a:r>
          </a:p>
        </p:txBody>
      </p:sp>
      <p:grpSp>
        <p:nvGrpSpPr>
          <p:cNvPr id="57" name="Group 57"/>
          <p:cNvGrpSpPr/>
          <p:nvPr/>
        </p:nvGrpSpPr>
        <p:grpSpPr>
          <a:xfrm>
            <a:off x="10585249" y="3088983"/>
            <a:ext cx="233890" cy="233890"/>
            <a:chOff x="0" y="0"/>
            <a:chExt cx="812800" cy="812800"/>
          </a:xfrm>
        </p:grpSpPr>
        <p:sp>
          <p:nvSpPr>
            <p:cNvPr id="58" name="Freeform 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937"/>
            </a:solidFill>
          </p:spPr>
          <p:txBody>
            <a:bodyPr/>
            <a:p/>
          </p:txBody>
        </p:sp>
        <p:sp>
          <p:nvSpPr>
            <p:cNvPr id="59" name="TextBox 59"/>
            <p:cNvSpPr txBox="1"/>
            <p:nvPr/>
          </p:nvSpPr>
          <p:spPr>
            <a:xfrm>
              <a:off x="76200" y="38100"/>
              <a:ext cx="660400" cy="698500"/>
            </a:xfrm>
            <a:prstGeom prst="rect">
              <a:avLst/>
            </a:prstGeom>
          </p:spPr>
          <p:txBody>
            <a:bodyPr lIns="33867" tIns="33867" rIns="33867" bIns="33867" rtlCol="0" anchor="ctr"/>
            <a:lstStyle/>
            <a:p>
              <a:pPr algn="ctr">
                <a:lnSpc>
                  <a:spcPts val="1549"/>
                </a:lnSpc>
              </a:pPr>
              <a:endParaRPr sz="1048"/>
            </a:p>
          </p:txBody>
        </p:sp>
      </p:grpSp>
      <p:sp>
        <p:nvSpPr>
          <p:cNvPr id="60" name="TextBox 60"/>
          <p:cNvSpPr txBox="1"/>
          <p:nvPr/>
        </p:nvSpPr>
        <p:spPr>
          <a:xfrm>
            <a:off x="10585249" y="3100667"/>
            <a:ext cx="233890" cy="183642"/>
          </a:xfrm>
          <a:prstGeom prst="rect">
            <a:avLst/>
          </a:prstGeom>
        </p:spPr>
        <p:txBody>
          <a:bodyPr lIns="0" tIns="0" rIns="0" bIns="0" rtlCol="0" anchor="t">
            <a:spAutoFit/>
          </a:bodyPr>
          <a:lstStyle/>
          <a:p>
            <a:pPr algn="ctr">
              <a:lnSpc>
                <a:spcPts val="1549"/>
              </a:lnSpc>
              <a:spcBef>
                <a:spcPct val="0"/>
              </a:spcBef>
            </a:pPr>
            <a:r>
              <a:rPr lang="en-US" sz="1106" b="1">
                <a:solidFill>
                  <a:srgbClr val="FFFFFF"/>
                </a:solidFill>
                <a:latin typeface="Canva Sans Bold"/>
                <a:ea typeface="Canva Sans Bold"/>
                <a:cs typeface="Canva Sans Bold"/>
                <a:sym typeface="Canva Sans Bold"/>
              </a:rPr>
              <a:t>4</a:t>
            </a:r>
          </a:p>
        </p:txBody>
      </p:sp>
      <p:grpSp>
        <p:nvGrpSpPr>
          <p:cNvPr id="61" name="Group 61"/>
          <p:cNvGrpSpPr/>
          <p:nvPr/>
        </p:nvGrpSpPr>
        <p:grpSpPr>
          <a:xfrm>
            <a:off x="9366052" y="4776158"/>
            <a:ext cx="233890" cy="233890"/>
            <a:chOff x="0" y="0"/>
            <a:chExt cx="812800" cy="812800"/>
          </a:xfrm>
        </p:grpSpPr>
        <p:sp>
          <p:nvSpPr>
            <p:cNvPr id="62" name="Freeform 6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937"/>
            </a:solidFill>
          </p:spPr>
          <p:txBody>
            <a:bodyPr/>
            <a:p/>
          </p:txBody>
        </p:sp>
        <p:sp>
          <p:nvSpPr>
            <p:cNvPr id="63" name="TextBox 63"/>
            <p:cNvSpPr txBox="1"/>
            <p:nvPr/>
          </p:nvSpPr>
          <p:spPr>
            <a:xfrm>
              <a:off x="76200" y="38100"/>
              <a:ext cx="660400" cy="698500"/>
            </a:xfrm>
            <a:prstGeom prst="rect">
              <a:avLst/>
            </a:prstGeom>
          </p:spPr>
          <p:txBody>
            <a:bodyPr lIns="33867" tIns="33867" rIns="33867" bIns="33867" rtlCol="0" anchor="ctr"/>
            <a:lstStyle/>
            <a:p>
              <a:pPr algn="ctr">
                <a:lnSpc>
                  <a:spcPts val="1549"/>
                </a:lnSpc>
              </a:pPr>
              <a:endParaRPr sz="1048"/>
            </a:p>
          </p:txBody>
        </p:sp>
      </p:grpSp>
      <p:sp>
        <p:nvSpPr>
          <p:cNvPr id="64" name="TextBox 64"/>
          <p:cNvSpPr txBox="1"/>
          <p:nvPr/>
        </p:nvSpPr>
        <p:spPr>
          <a:xfrm>
            <a:off x="9366052" y="4787844"/>
            <a:ext cx="233890" cy="183642"/>
          </a:xfrm>
          <a:prstGeom prst="rect">
            <a:avLst/>
          </a:prstGeom>
        </p:spPr>
        <p:txBody>
          <a:bodyPr lIns="0" tIns="0" rIns="0" bIns="0" rtlCol="0" anchor="t">
            <a:spAutoFit/>
          </a:bodyPr>
          <a:lstStyle/>
          <a:p>
            <a:pPr algn="ctr">
              <a:lnSpc>
                <a:spcPts val="1549"/>
              </a:lnSpc>
              <a:spcBef>
                <a:spcPct val="0"/>
              </a:spcBef>
            </a:pPr>
            <a:r>
              <a:rPr lang="en-US" sz="1106" b="1">
                <a:solidFill>
                  <a:srgbClr val="FFFFFF"/>
                </a:solidFill>
                <a:latin typeface="Canva Sans Bold"/>
                <a:ea typeface="Canva Sans Bold"/>
                <a:cs typeface="Canva Sans Bold"/>
                <a:sym typeface="Canva Sans Bold"/>
              </a:rPr>
              <a:t>5</a:t>
            </a:r>
          </a:p>
        </p:txBody>
      </p:sp>
      <p:grpSp>
        <p:nvGrpSpPr>
          <p:cNvPr id="65" name="Group 65"/>
          <p:cNvGrpSpPr/>
          <p:nvPr/>
        </p:nvGrpSpPr>
        <p:grpSpPr>
          <a:xfrm>
            <a:off x="7602043" y="3873646"/>
            <a:ext cx="233890" cy="233890"/>
            <a:chOff x="0" y="0"/>
            <a:chExt cx="812800" cy="812800"/>
          </a:xfrm>
        </p:grpSpPr>
        <p:sp>
          <p:nvSpPr>
            <p:cNvPr id="66" name="Freeform 6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937"/>
            </a:solidFill>
          </p:spPr>
          <p:txBody>
            <a:bodyPr/>
            <a:p/>
          </p:txBody>
        </p:sp>
        <p:sp>
          <p:nvSpPr>
            <p:cNvPr id="67" name="TextBox 67"/>
            <p:cNvSpPr txBox="1"/>
            <p:nvPr/>
          </p:nvSpPr>
          <p:spPr>
            <a:xfrm>
              <a:off x="76200" y="38100"/>
              <a:ext cx="660400" cy="698500"/>
            </a:xfrm>
            <a:prstGeom prst="rect">
              <a:avLst/>
            </a:prstGeom>
          </p:spPr>
          <p:txBody>
            <a:bodyPr lIns="33867" tIns="33867" rIns="33867" bIns="33867" rtlCol="0" anchor="ctr"/>
            <a:lstStyle/>
            <a:p>
              <a:pPr algn="ctr">
                <a:lnSpc>
                  <a:spcPts val="1549"/>
                </a:lnSpc>
              </a:pPr>
              <a:endParaRPr sz="1048"/>
            </a:p>
          </p:txBody>
        </p:sp>
      </p:grpSp>
      <p:sp>
        <p:nvSpPr>
          <p:cNvPr id="68" name="TextBox 68"/>
          <p:cNvSpPr txBox="1"/>
          <p:nvPr/>
        </p:nvSpPr>
        <p:spPr>
          <a:xfrm>
            <a:off x="7602043" y="3885331"/>
            <a:ext cx="233890" cy="183642"/>
          </a:xfrm>
          <a:prstGeom prst="rect">
            <a:avLst/>
          </a:prstGeom>
        </p:spPr>
        <p:txBody>
          <a:bodyPr lIns="0" tIns="0" rIns="0" bIns="0" rtlCol="0" anchor="t">
            <a:spAutoFit/>
          </a:bodyPr>
          <a:lstStyle/>
          <a:p>
            <a:pPr algn="ctr">
              <a:lnSpc>
                <a:spcPts val="1549"/>
              </a:lnSpc>
              <a:spcBef>
                <a:spcPct val="0"/>
              </a:spcBef>
            </a:pPr>
            <a:r>
              <a:rPr lang="en-US" sz="1106" b="1">
                <a:solidFill>
                  <a:srgbClr val="FFFFFF"/>
                </a:solidFill>
                <a:latin typeface="Canva Sans Bold"/>
                <a:ea typeface="Canva Sans Bold"/>
                <a:cs typeface="Canva Sans Bold"/>
                <a:sym typeface="Canva Sans Bold"/>
              </a:rPr>
              <a:t>4</a:t>
            </a:r>
          </a:p>
        </p:txBody>
      </p:sp>
      <p:grpSp>
        <p:nvGrpSpPr>
          <p:cNvPr id="69" name="Group 69"/>
          <p:cNvGrpSpPr/>
          <p:nvPr/>
        </p:nvGrpSpPr>
        <p:grpSpPr>
          <a:xfrm>
            <a:off x="7617316" y="4376146"/>
            <a:ext cx="233890" cy="233890"/>
            <a:chOff x="0" y="0"/>
            <a:chExt cx="812800" cy="812800"/>
          </a:xfrm>
        </p:grpSpPr>
        <p:sp>
          <p:nvSpPr>
            <p:cNvPr id="70" name="Freeform 7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937"/>
            </a:solidFill>
          </p:spPr>
          <p:txBody>
            <a:bodyPr/>
            <a:p/>
          </p:txBody>
        </p:sp>
        <p:sp>
          <p:nvSpPr>
            <p:cNvPr id="71" name="TextBox 71"/>
            <p:cNvSpPr txBox="1"/>
            <p:nvPr/>
          </p:nvSpPr>
          <p:spPr>
            <a:xfrm>
              <a:off x="76200" y="38100"/>
              <a:ext cx="660400" cy="698500"/>
            </a:xfrm>
            <a:prstGeom prst="rect">
              <a:avLst/>
            </a:prstGeom>
          </p:spPr>
          <p:txBody>
            <a:bodyPr lIns="33867" tIns="33867" rIns="33867" bIns="33867" rtlCol="0" anchor="ctr"/>
            <a:lstStyle/>
            <a:p>
              <a:pPr algn="ctr">
                <a:lnSpc>
                  <a:spcPts val="1549"/>
                </a:lnSpc>
              </a:pPr>
              <a:endParaRPr sz="1048"/>
            </a:p>
          </p:txBody>
        </p:sp>
      </p:grpSp>
      <p:sp>
        <p:nvSpPr>
          <p:cNvPr id="72" name="TextBox 72"/>
          <p:cNvSpPr txBox="1"/>
          <p:nvPr/>
        </p:nvSpPr>
        <p:spPr>
          <a:xfrm>
            <a:off x="7617316" y="4387830"/>
            <a:ext cx="233890" cy="183642"/>
          </a:xfrm>
          <a:prstGeom prst="rect">
            <a:avLst/>
          </a:prstGeom>
        </p:spPr>
        <p:txBody>
          <a:bodyPr lIns="0" tIns="0" rIns="0" bIns="0" rtlCol="0" anchor="t">
            <a:spAutoFit/>
          </a:bodyPr>
          <a:lstStyle/>
          <a:p>
            <a:pPr algn="ctr">
              <a:lnSpc>
                <a:spcPts val="1549"/>
              </a:lnSpc>
              <a:spcBef>
                <a:spcPct val="0"/>
              </a:spcBef>
            </a:pPr>
            <a:r>
              <a:rPr lang="en-US" sz="1106" b="1">
                <a:solidFill>
                  <a:srgbClr val="FFFFFF"/>
                </a:solidFill>
                <a:latin typeface="Canva Sans Bold"/>
                <a:ea typeface="Canva Sans Bold"/>
                <a:cs typeface="Canva Sans Bold"/>
                <a:sym typeface="Canva Sans Bold"/>
              </a:rPr>
              <a:t>5</a:t>
            </a:r>
          </a:p>
        </p:txBody>
      </p:sp>
      <p:sp>
        <p:nvSpPr>
          <p:cNvPr id="73" name="Rectangle 72"/>
          <p:cNvSpPr/>
          <p:nvPr/>
        </p:nvSpPr>
        <p:spPr>
          <a:xfrm>
            <a:off x="457200" y="320040"/>
            <a:ext cx="3977639"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7200" y="320040"/>
            <a:ext cx="3977639" cy="566928"/>
          </a:xfrm>
          <a:prstGeom prst="rect">
            <a:avLst/>
          </a:prstGeom>
          <a:noFill/>
        </p:spPr>
        <p:txBody>
          <a:bodyPr wrap="square" lIns="0" rIns="0" tIns="0" bIns="0" anchor="ctr">
            <a:spAutoFit/>
          </a:bodyPr>
          <a:lstStyle/>
          <a:p>
            <a:pPr algn="ctr"/>
            <a:r>
              <a:rPr sz="2200" b="1" i="0">
                <a:solidFill>
                  <a:srgbClr val="FFFFFF"/>
                </a:solidFill>
                <a:latin typeface="Calibri"/>
              </a:rPr>
              <a:t>Summary: BCA and Ayurveda</a:t>
            </a:r>
          </a:p>
        </p:txBody>
      </p:sp>
      <p:sp>
        <p:nvSpPr>
          <p:cNvPr id="75" name="TextBox 74"/>
          <p:cNvSpPr txBox="1"/>
          <p:nvPr/>
        </p:nvSpPr>
        <p:spPr>
          <a:xfrm>
            <a:off x="4663440" y="320040"/>
            <a:ext cx="5242255" cy="566928"/>
          </a:xfrm>
          <a:prstGeom prst="rect">
            <a:avLst/>
          </a:prstGeom>
          <a:noFill/>
        </p:spPr>
        <p:txBody>
          <a:bodyPr wrap="square" lIns="0" rIns="0" tIns="0" bIns="0" anchor="ctr">
            <a:spAutoFit/>
          </a:bodyPr>
          <a:lstStyle/>
          <a:p>
            <a:pPr algn="l"/>
            <a:r>
              <a:rPr sz="900" b="1" i="0">
                <a:solidFill>
                  <a:srgbClr val="B50937"/>
                </a:solidFill>
                <a:latin typeface="Calibri"/>
              </a:rPr>
              <a:t>SESSION 9</a:t>
            </a:r>
          </a:p>
          <a:p>
            <a:pPr algn="l"/>
            <a:r>
              <a:rPr sz="900" b="0" i="0">
                <a:solidFill>
                  <a:srgbClr val="5E6470"/>
                </a:solidFill>
                <a:latin typeface="Calibri"/>
              </a:rPr>
              <a:t>Ayurveda &amp; Integrative Wellness</a:t>
            </a:r>
          </a:p>
        </p:txBody>
      </p:sp>
      <p:pic>
        <p:nvPicPr>
          <p:cNvPr id="76" name="Picture 75" descr="logo_red.png"/>
          <p:cNvPicPr>
            <a:picLocks noChangeAspect="1"/>
          </p:cNvPicPr>
          <p:nvPr/>
        </p:nvPicPr>
        <p:blipFill>
          <a:blip r:embed="rId3"/>
          <a:stretch>
            <a:fillRect/>
          </a:stretch>
        </p:blipFill>
        <p:spPr>
          <a:xfrm>
            <a:off x="10436918" y="420624"/>
            <a:ext cx="1297577" cy="365760"/>
          </a:xfrm>
          <a:prstGeom prst="rect">
            <a:avLst/>
          </a:prstGeom>
        </p:spPr>
      </p:pic>
      <p:sp>
        <p:nvSpPr>
          <p:cNvPr id="77" name="TextBox 7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78" name="TextBox 7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124</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bg>
      <p:bgPr>
        <a:solidFill>
          <a:srgbClr val="181D27"/>
        </a:solidFill>
        <a:effectLst/>
      </p:bgPr>
    </p:bg>
    <p:spTree>
      <p:nvGrpSpPr>
        <p:cNvPr id="1" name=""/>
        <p:cNvGrpSpPr/>
        <p:nvPr/>
      </p:nvGrpSpPr>
      <p:grpSpPr>
        <a:xfrm>
          <a:off x="0" y="0"/>
          <a:ext cx="0" cy="0"/>
          <a:chOff x="0" y="0"/>
          <a:chExt cx="0" cy="0"/>
        </a:xfrm>
      </p:grpSpPr>
      <p:sp>
        <p:nvSpPr>
          <p:cNvPr id="2" name="Rounded Rectangle 1"/>
          <p:cNvSpPr/>
          <p:nvPr/>
        </p:nvSpPr>
        <p:spPr>
          <a:xfrm>
            <a:off x="822960" y="2148840"/>
            <a:ext cx="1371600" cy="1371600"/>
          </a:xfrm>
          <a:prstGeom prst="roundRect">
            <a:avLst>
              <a:gd name="adj" fmla="val 12000"/>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1371600" cy="1371600"/>
          </a:xfrm>
          <a:prstGeom prst="rect">
            <a:avLst/>
          </a:prstGeom>
          <a:noFill/>
        </p:spPr>
        <p:txBody>
          <a:bodyPr wrap="square" lIns="0" rIns="0" tIns="0" bIns="0" anchor="ctr">
            <a:spAutoFit/>
          </a:bodyPr>
          <a:lstStyle/>
          <a:p>
            <a:pPr algn="ctr"/>
            <a:r>
              <a:rPr sz="4400" b="1" i="0">
                <a:solidFill>
                  <a:srgbClr val="FFFFFF"/>
                </a:solidFill>
                <a:latin typeface="Cambria"/>
              </a:rPr>
              <a:t>10</a:t>
            </a:r>
          </a:p>
        </p:txBody>
      </p:sp>
      <p:sp>
        <p:nvSpPr>
          <p:cNvPr id="4" name="TextBox 3"/>
          <p:cNvSpPr txBox="1"/>
          <p:nvPr/>
        </p:nvSpPr>
        <p:spPr>
          <a:xfrm>
            <a:off x="2560320" y="2148840"/>
            <a:ext cx="8686800" cy="365760"/>
          </a:xfrm>
          <a:prstGeom prst="rect">
            <a:avLst/>
          </a:prstGeom>
          <a:noFill/>
        </p:spPr>
        <p:txBody>
          <a:bodyPr wrap="square" lIns="0" rIns="0" tIns="0" bIns="0" anchor="ctr">
            <a:spAutoFit/>
          </a:bodyPr>
          <a:lstStyle/>
          <a:p>
            <a:pPr algn="l"/>
            <a:r>
              <a:rPr sz="1200" b="1" i="0">
                <a:solidFill>
                  <a:srgbClr val="F5C6D1"/>
                </a:solidFill>
                <a:latin typeface="Calibri"/>
              </a:rPr>
              <a:t>SESSION 10  ·  4:25 – 4:55 PM</a:t>
            </a:r>
          </a:p>
        </p:txBody>
      </p:sp>
      <p:sp>
        <p:nvSpPr>
          <p:cNvPr id="5" name="TextBox 4"/>
          <p:cNvSpPr txBox="1"/>
          <p:nvPr/>
        </p:nvSpPr>
        <p:spPr>
          <a:xfrm>
            <a:off x="2560320" y="2560320"/>
            <a:ext cx="8961120" cy="1463040"/>
          </a:xfrm>
          <a:prstGeom prst="rect">
            <a:avLst/>
          </a:prstGeom>
          <a:noFill/>
        </p:spPr>
        <p:txBody>
          <a:bodyPr wrap="square" lIns="0" rIns="0" tIns="0" bIns="0" anchor="t">
            <a:spAutoFit/>
          </a:bodyPr>
          <a:lstStyle/>
          <a:p>
            <a:pPr algn="l"/>
            <a:r>
              <a:rPr sz="3600" b="1" i="0">
                <a:solidFill>
                  <a:srgbClr val="FFFFFF"/>
                </a:solidFill>
                <a:latin typeface="Cambria"/>
              </a:rPr>
              <a:t>Mock Call – From Clinical Knowledge to Customer Conversation</a:t>
            </a:r>
          </a:p>
        </p:txBody>
      </p:sp>
      <p:pic>
        <p:nvPicPr>
          <p:cNvPr id="6" name="Picture 5" descr="logo_white.png"/>
          <p:cNvPicPr>
            <a:picLocks noChangeAspect="1"/>
          </p:cNvPicPr>
          <p:nvPr/>
        </p:nvPicPr>
        <p:blipFill>
          <a:blip r:embed="rId2"/>
          <a:stretch>
            <a:fillRect/>
          </a:stretch>
        </p:blipFill>
        <p:spPr>
          <a:xfrm>
            <a:off x="10021083" y="457200"/>
            <a:ext cx="1621971" cy="45720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9AA0AA"/>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F5C6D1"/>
                </a:solidFill>
                <a:latin typeface="Calibri"/>
              </a:rPr>
              <a:t>125</a:t>
            </a:r>
          </a:p>
        </p:txBody>
      </p:sp>
    </p:spTree>
    <p:extLst>
      <p:ext uri="{BB962C8B-B14F-4D97-AF65-F5344CB8AC3E}">
        <p14:creationId xmlns:p14="http://schemas.microsoft.com/office/powerpoint/2010/main" val="3425752019"/>
      </p:ext>
    </p:extLst>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320040"/>
            <a:ext cx="3291840" cy="566928"/>
          </a:xfrm>
          <a:prstGeom prst="rect">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291840" cy="566928"/>
          </a:xfrm>
          <a:prstGeom prst="rect">
            <a:avLst/>
          </a:prstGeom>
          <a:noFill/>
        </p:spPr>
        <p:txBody>
          <a:bodyPr wrap="square" lIns="0" rIns="0" tIns="0" bIns="0" anchor="ctr">
            <a:spAutoFit/>
          </a:bodyPr>
          <a:lstStyle/>
          <a:p>
            <a:pPr algn="ctr"/>
            <a:r>
              <a:rPr sz="2200" b="1" i="0">
                <a:solidFill>
                  <a:srgbClr val="FFFFFF"/>
                </a:solidFill>
                <a:latin typeface="Calibri"/>
              </a:rPr>
              <a:t>Workshop Agenda</a:t>
            </a:r>
          </a:p>
        </p:txBody>
      </p:sp>
      <p:sp>
        <p:nvSpPr>
          <p:cNvPr id="4" name="TextBox 3"/>
          <p:cNvSpPr txBox="1"/>
          <p:nvPr/>
        </p:nvSpPr>
        <p:spPr>
          <a:xfrm>
            <a:off x="3977639" y="320040"/>
            <a:ext cx="4572000" cy="566928"/>
          </a:xfrm>
          <a:prstGeom prst="rect">
            <a:avLst/>
          </a:prstGeom>
          <a:noFill/>
        </p:spPr>
        <p:txBody>
          <a:bodyPr wrap="square" lIns="0" rIns="0" tIns="0" bIns="0" anchor="ctr">
            <a:spAutoFit/>
          </a:bodyPr>
          <a:lstStyle/>
          <a:p>
            <a:pPr algn="l"/>
            <a:r>
              <a:rPr sz="900" b="1" i="0">
                <a:solidFill>
                  <a:srgbClr val="B50937"/>
                </a:solidFill>
                <a:latin typeface="Calibri"/>
              </a:rPr>
              <a:t>FULL-DAY WORKSHOP</a:t>
            </a:r>
          </a:p>
          <a:p>
            <a:pPr algn="l"/>
            <a:r>
              <a:rPr sz="900" b="0" i="0">
                <a:solidFill>
                  <a:srgbClr val="5E6470"/>
                </a:solidFill>
                <a:latin typeface="Calibri"/>
              </a:rPr>
              <a:t>9:30 AM – 4:55 PM</a:t>
            </a:r>
          </a:p>
        </p:txBody>
      </p:sp>
      <p:pic>
        <p:nvPicPr>
          <p:cNvPr id="5" name="Picture 4" descr="logo_red.png"/>
          <p:cNvPicPr>
            <a:picLocks noChangeAspect="1"/>
          </p:cNvPicPr>
          <p:nvPr/>
        </p:nvPicPr>
        <p:blipFill>
          <a:blip r:embed="rId2"/>
          <a:stretch>
            <a:fillRect/>
          </a:stretch>
        </p:blipFill>
        <p:spPr>
          <a:xfrm>
            <a:off x="10436918" y="420624"/>
            <a:ext cx="1297577" cy="365760"/>
          </a:xfrm>
          <a:prstGeom prst="rect">
            <a:avLst/>
          </a:prstGeom>
        </p:spPr>
      </p:pic>
      <p:graphicFrame>
        <p:nvGraphicFramePr>
          <p:cNvPr id="6" name="Table 5"/>
          <p:cNvGraphicFramePr>
            <a:graphicFrameLocks noGrp="1"/>
          </p:cNvGraphicFramePr>
          <p:nvPr/>
        </p:nvGraphicFramePr>
        <p:xfrm>
          <a:off x="457200" y="1097280"/>
          <a:ext cx="11277295" cy="5074920"/>
        </p:xfrm>
        <a:graphic>
          <a:graphicData uri="http://schemas.openxmlformats.org/drawingml/2006/table">
            <a:tbl>
              <a:tblPr firstRow="1" bandRow="1">
                <a:tableStyleId>{5C22544A-7EE6-4342-B048-85BDC9FD1C3A}</a:tableStyleId>
              </a:tblPr>
              <a:tblGrid>
                <a:gridCol w="2103120"/>
                <a:gridCol w="8259775"/>
                <a:gridCol w="914400"/>
              </a:tblGrid>
              <a:tr h="338328">
                <a:tc>
                  <a:txBody>
                    <a:bodyPr/>
                    <a:lstStyle/>
                    <a:p>
                      <a:pPr algn="l"/>
                      <a:r>
                        <a:rPr sz="1100" b="1" i="0">
                          <a:solidFill>
                            <a:srgbClr val="FFFFFF"/>
                          </a:solidFill>
                          <a:latin typeface="Calibri"/>
                        </a:rPr>
                        <a:t>Time</a:t>
                      </a:r>
                    </a:p>
                  </a:txBody>
                  <a:tcPr anchor="ctr" marL="109728" marR="109728">
                    <a:solidFill>
                      <a:srgbClr val="181D27"/>
                    </a:solidFill>
                  </a:tcPr>
                </a:tc>
                <a:tc>
                  <a:txBody>
                    <a:bodyPr/>
                    <a:lstStyle/>
                    <a:p>
                      <a:pPr algn="l"/>
                      <a:r>
                        <a:rPr sz="1100" b="1" i="0">
                          <a:solidFill>
                            <a:srgbClr val="FFFFFF"/>
                          </a:solidFill>
                          <a:latin typeface="Calibri"/>
                        </a:rPr>
                        <a:t>Session</a:t>
                      </a:r>
                    </a:p>
                  </a:txBody>
                  <a:tcPr anchor="ctr" marL="109728" marR="109728">
                    <a:solidFill>
                      <a:srgbClr val="181D27"/>
                    </a:solidFill>
                  </a:tcPr>
                </a:tc>
                <a:tc>
                  <a:txBody>
                    <a:bodyPr/>
                    <a:lstStyle/>
                    <a:p>
                      <a:pPr algn="r"/>
                      <a:r>
                        <a:rPr sz="1100" b="1" i="0">
                          <a:solidFill>
                            <a:srgbClr val="FFFFFF"/>
                          </a:solidFill>
                          <a:latin typeface="Calibri"/>
                        </a:rPr>
                        <a:t>Slide</a:t>
                      </a:r>
                    </a:p>
                  </a:txBody>
                  <a:tcPr anchor="ctr" marL="109728" marR="109728">
                    <a:solidFill>
                      <a:srgbClr val="181D27"/>
                    </a:solidFill>
                  </a:tcPr>
                </a:tc>
              </a:tr>
              <a:tr h="338328">
                <a:tc>
                  <a:txBody>
                    <a:bodyPr/>
                    <a:lstStyle/>
                    <a:p>
                      <a:pPr algn="l"/>
                      <a:r>
                        <a:rPr sz="1100" b="0" i="0">
                          <a:solidFill>
                            <a:srgbClr val="181D27"/>
                          </a:solidFill>
                          <a:latin typeface="Calibri"/>
                        </a:rPr>
                        <a:t>9:30 – 9:45 AM</a:t>
                      </a:r>
                    </a:p>
                  </a:txBody>
                  <a:tcPr anchor="ctr" marL="109728" marR="109728">
                    <a:solidFill>
                      <a:srgbClr val="F4F5F7"/>
                    </a:solidFill>
                  </a:tcPr>
                </a:tc>
                <a:tc>
                  <a:txBody>
                    <a:bodyPr/>
                    <a:lstStyle/>
                    <a:p>
                      <a:pPr algn="l"/>
                      <a:r>
                        <a:rPr sz="1100" b="0" i="0">
                          <a:solidFill>
                            <a:srgbClr val="181D27"/>
                          </a:solidFill>
                          <a:latin typeface="Calibri"/>
                        </a:rPr>
                        <a:t>Welcome &amp; Workshop Overview</a:t>
                      </a:r>
                    </a:p>
                  </a:txBody>
                  <a:tcPr anchor="ctr" marL="109728" marR="109728">
                    <a:solidFill>
                      <a:srgbClr val="F4F5F7"/>
                    </a:solidFill>
                  </a:tcPr>
                </a:tc>
                <a:tc>
                  <a:txBody>
                    <a:bodyPr/>
                    <a:lstStyle/>
                    <a:p>
                      <a:pPr algn="r"/>
                      <a:r>
                        <a:rPr sz="1100" b="0" i="0">
                          <a:solidFill>
                            <a:srgbClr val="181D27"/>
                          </a:solidFill>
                          <a:latin typeface="Calibri"/>
                        </a:rPr>
                        <a:t/>
                      </a:r>
                    </a:p>
                  </a:txBody>
                  <a:tcPr anchor="ctr" marL="109728" marR="109728">
                    <a:solidFill>
                      <a:srgbClr val="F4F5F7"/>
                    </a:solidFill>
                  </a:tcPr>
                </a:tc>
              </a:tr>
              <a:tr h="338328">
                <a:tc>
                  <a:txBody>
                    <a:bodyPr/>
                    <a:lstStyle/>
                    <a:p>
                      <a:pPr algn="l"/>
                      <a:r>
                        <a:rPr sz="1100" b="0" i="0">
                          <a:solidFill>
                            <a:srgbClr val="181D27"/>
                          </a:solidFill>
                          <a:latin typeface="Calibri"/>
                        </a:rPr>
                        <a:t>9:45 – 10:30 AM</a:t>
                      </a:r>
                    </a:p>
                  </a:txBody>
                  <a:tcPr anchor="ctr" marL="109728" marR="109728">
                    <a:solidFill>
                      <a:srgbClr val="FFFFFF"/>
                    </a:solidFill>
                  </a:tcPr>
                </a:tc>
                <a:tc>
                  <a:txBody>
                    <a:bodyPr/>
                    <a:lstStyle/>
                    <a:p>
                      <a:pPr algn="l"/>
                      <a:r>
                        <a:rPr sz="1100" b="1" i="0">
                          <a:solidFill>
                            <a:srgbClr val="181D27"/>
                          </a:solidFill>
                          <a:latin typeface="Calibri"/>
                        </a:rPr>
                        <a:t>1.  Basics of Body Composition Analysis Technology</a:t>
                      </a:r>
                    </a:p>
                  </a:txBody>
                  <a:tcPr anchor="ctr" marL="109728" marR="109728">
                    <a:solidFill>
                      <a:srgbClr val="FFFFFF"/>
                    </a:solidFill>
                  </a:tcPr>
                </a:tc>
                <a:tc>
                  <a:txBody>
                    <a:bodyPr/>
                    <a:lstStyle/>
                    <a:p>
                      <a:pPr algn="r"/>
                      <a:r>
                        <a:rPr sz="1100" b="0" i="0">
                          <a:solidFill>
                            <a:srgbClr val="181D27"/>
                          </a:solidFill>
                          <a:latin typeface="Calibri"/>
                        </a:rPr>
                        <a:t>03</a:t>
                      </a:r>
                    </a:p>
                  </a:txBody>
                  <a:tcPr anchor="ctr" marL="109728" marR="109728">
                    <a:solidFill>
                      <a:srgbClr val="FFFFFF"/>
                    </a:solidFill>
                  </a:tcPr>
                </a:tc>
              </a:tr>
              <a:tr h="338328">
                <a:tc>
                  <a:txBody>
                    <a:bodyPr/>
                    <a:lstStyle/>
                    <a:p>
                      <a:pPr algn="l"/>
                      <a:r>
                        <a:rPr sz="1100" b="0" i="0">
                          <a:solidFill>
                            <a:srgbClr val="181D27"/>
                          </a:solidFill>
                          <a:latin typeface="Calibri"/>
                        </a:rPr>
                        <a:t>10:30 – 11:15 AM</a:t>
                      </a:r>
                    </a:p>
                  </a:txBody>
                  <a:tcPr anchor="ctr" marL="109728" marR="109728">
                    <a:solidFill>
                      <a:srgbClr val="F4F5F7"/>
                    </a:solidFill>
                  </a:tcPr>
                </a:tc>
                <a:tc>
                  <a:txBody>
                    <a:bodyPr/>
                    <a:lstStyle/>
                    <a:p>
                      <a:pPr algn="l"/>
                      <a:r>
                        <a:rPr sz="1100" b="1" i="0">
                          <a:solidFill>
                            <a:srgbClr val="181D27"/>
                          </a:solidFill>
                          <a:latin typeface="Calibri"/>
                        </a:rPr>
                        <a:t>2.  InBody Result Sheet Interpretation – Part 1</a:t>
                      </a:r>
                    </a:p>
                  </a:txBody>
                  <a:tcPr anchor="ctr" marL="109728" marR="109728">
                    <a:solidFill>
                      <a:srgbClr val="F4F5F7"/>
                    </a:solidFill>
                  </a:tcPr>
                </a:tc>
                <a:tc>
                  <a:txBody>
                    <a:bodyPr/>
                    <a:lstStyle/>
                    <a:p>
                      <a:pPr algn="r"/>
                      <a:r>
                        <a:rPr sz="1100" b="0" i="0">
                          <a:solidFill>
                            <a:srgbClr val="181D27"/>
                          </a:solidFill>
                          <a:latin typeface="Calibri"/>
                        </a:rPr>
                        <a:t>13</a:t>
                      </a:r>
                    </a:p>
                  </a:txBody>
                  <a:tcPr anchor="ctr" marL="109728" marR="109728">
                    <a:solidFill>
                      <a:srgbClr val="F4F5F7"/>
                    </a:solidFill>
                  </a:tcPr>
                </a:tc>
              </a:tr>
              <a:tr h="338328">
                <a:tc>
                  <a:txBody>
                    <a:bodyPr/>
                    <a:lstStyle/>
                    <a:p>
                      <a:pPr algn="l"/>
                      <a:r>
                        <a:rPr sz="1100" b="0" i="1">
                          <a:solidFill>
                            <a:srgbClr val="B50937"/>
                          </a:solidFill>
                          <a:latin typeface="Calibri"/>
                        </a:rPr>
                        <a:t>11:15 – 11:25 AM</a:t>
                      </a:r>
                    </a:p>
                  </a:txBody>
                  <a:tcPr anchor="ctr" marL="109728" marR="109728">
                    <a:solidFill>
                      <a:srgbClr val="FBE9ED"/>
                    </a:solidFill>
                  </a:tcPr>
                </a:tc>
                <a:tc>
                  <a:txBody>
                    <a:bodyPr/>
                    <a:lstStyle/>
                    <a:p>
                      <a:pPr algn="l"/>
                      <a:r>
                        <a:rPr sz="1100" b="0" i="1">
                          <a:solidFill>
                            <a:srgbClr val="B50937"/>
                          </a:solidFill>
                          <a:latin typeface="Calibri"/>
                        </a:rPr>
                        <a:t>Short Break</a:t>
                      </a:r>
                    </a:p>
                  </a:txBody>
                  <a:tcPr anchor="ctr" marL="109728" marR="109728">
                    <a:solidFill>
                      <a:srgbClr val="FBE9ED"/>
                    </a:solidFill>
                  </a:tcPr>
                </a:tc>
                <a:tc>
                  <a:txBody>
                    <a:bodyPr/>
                    <a:lstStyle/>
                    <a:p>
                      <a:pPr algn="r"/>
                      <a:r>
                        <a:rPr sz="1100" b="0" i="0">
                          <a:solidFill>
                            <a:srgbClr val="B50937"/>
                          </a:solidFill>
                          <a:latin typeface="Calibri"/>
                        </a:rPr>
                        <a:t/>
                      </a:r>
                    </a:p>
                  </a:txBody>
                  <a:tcPr anchor="ctr" marL="109728" marR="109728">
                    <a:solidFill>
                      <a:srgbClr val="FBE9ED"/>
                    </a:solidFill>
                  </a:tcPr>
                </a:tc>
              </a:tr>
              <a:tr h="338328">
                <a:tc>
                  <a:txBody>
                    <a:bodyPr/>
                    <a:lstStyle/>
                    <a:p>
                      <a:pPr algn="l"/>
                      <a:r>
                        <a:rPr sz="1100" b="0" i="0">
                          <a:solidFill>
                            <a:srgbClr val="181D27"/>
                          </a:solidFill>
                          <a:latin typeface="Calibri"/>
                        </a:rPr>
                        <a:t>11:25 AM – 12:10 PM</a:t>
                      </a:r>
                    </a:p>
                  </a:txBody>
                  <a:tcPr anchor="ctr" marL="109728" marR="109728">
                    <a:solidFill>
                      <a:srgbClr val="F4F5F7"/>
                    </a:solidFill>
                  </a:tcPr>
                </a:tc>
                <a:tc>
                  <a:txBody>
                    <a:bodyPr/>
                    <a:lstStyle/>
                    <a:p>
                      <a:pPr algn="l"/>
                      <a:r>
                        <a:rPr sz="1100" b="1" i="0">
                          <a:solidFill>
                            <a:srgbClr val="181D27"/>
                          </a:solidFill>
                          <a:latin typeface="Calibri"/>
                        </a:rPr>
                        <a:t>3.  Result Sheet Interpretation – Part 2: Clinical Interpretation</a:t>
                      </a:r>
                    </a:p>
                  </a:txBody>
                  <a:tcPr anchor="ctr" marL="109728" marR="109728">
                    <a:solidFill>
                      <a:srgbClr val="F4F5F7"/>
                    </a:solidFill>
                  </a:tcPr>
                </a:tc>
                <a:tc>
                  <a:txBody>
                    <a:bodyPr/>
                    <a:lstStyle/>
                    <a:p>
                      <a:pPr algn="r"/>
                      <a:r>
                        <a:rPr sz="1100" b="0" i="0">
                          <a:solidFill>
                            <a:srgbClr val="181D27"/>
                          </a:solidFill>
                          <a:latin typeface="Calibri"/>
                        </a:rPr>
                        <a:t>25</a:t>
                      </a:r>
                    </a:p>
                  </a:txBody>
                  <a:tcPr anchor="ctr" marL="109728" marR="109728">
                    <a:solidFill>
                      <a:srgbClr val="F4F5F7"/>
                    </a:solidFill>
                  </a:tcPr>
                </a:tc>
              </a:tr>
              <a:tr h="338328">
                <a:tc>
                  <a:txBody>
                    <a:bodyPr/>
                    <a:lstStyle/>
                    <a:p>
                      <a:pPr algn="l"/>
                      <a:r>
                        <a:rPr sz="1100" b="0" i="0">
                          <a:solidFill>
                            <a:srgbClr val="181D27"/>
                          </a:solidFill>
                          <a:latin typeface="Calibri"/>
                        </a:rPr>
                        <a:t>12:10 – 12:50 PM</a:t>
                      </a:r>
                    </a:p>
                  </a:txBody>
                  <a:tcPr anchor="ctr" marL="109728" marR="109728">
                    <a:solidFill>
                      <a:srgbClr val="FFFFFF"/>
                    </a:solidFill>
                  </a:tcPr>
                </a:tc>
                <a:tc>
                  <a:txBody>
                    <a:bodyPr/>
                    <a:lstStyle/>
                    <a:p>
                      <a:pPr algn="l"/>
                      <a:r>
                        <a:rPr sz="1100" b="1" i="0">
                          <a:solidFill>
                            <a:srgbClr val="181D27"/>
                          </a:solidFill>
                          <a:latin typeface="Calibri"/>
                        </a:rPr>
                        <a:t>4.  Diabetes &amp; Body Composition</a:t>
                      </a:r>
                    </a:p>
                  </a:txBody>
                  <a:tcPr anchor="ctr" marL="109728" marR="109728">
                    <a:solidFill>
                      <a:srgbClr val="FFFFFF"/>
                    </a:solidFill>
                  </a:tcPr>
                </a:tc>
                <a:tc>
                  <a:txBody>
                    <a:bodyPr/>
                    <a:lstStyle/>
                    <a:p>
                      <a:pPr algn="r"/>
                      <a:r>
                        <a:rPr sz="1100" b="0" i="0">
                          <a:solidFill>
                            <a:srgbClr val="181D27"/>
                          </a:solidFill>
                          <a:latin typeface="Calibri"/>
                        </a:rPr>
                        <a:t>53</a:t>
                      </a:r>
                    </a:p>
                  </a:txBody>
                  <a:tcPr anchor="ctr" marL="109728" marR="109728">
                    <a:solidFill>
                      <a:srgbClr val="FFFFFF"/>
                    </a:solidFill>
                  </a:tcPr>
                </a:tc>
              </a:tr>
              <a:tr h="338328">
                <a:tc>
                  <a:txBody>
                    <a:bodyPr/>
                    <a:lstStyle/>
                    <a:p>
                      <a:pPr algn="l"/>
                      <a:r>
                        <a:rPr sz="1100" b="0" i="0">
                          <a:solidFill>
                            <a:srgbClr val="181D27"/>
                          </a:solidFill>
                          <a:latin typeface="Calibri"/>
                        </a:rPr>
                        <a:t>12:50 – 1:30 PM</a:t>
                      </a:r>
                    </a:p>
                  </a:txBody>
                  <a:tcPr anchor="ctr" marL="109728" marR="109728">
                    <a:solidFill>
                      <a:srgbClr val="F4F5F7"/>
                    </a:solidFill>
                  </a:tcPr>
                </a:tc>
                <a:tc>
                  <a:txBody>
                    <a:bodyPr/>
                    <a:lstStyle/>
                    <a:p>
                      <a:pPr algn="l"/>
                      <a:r>
                        <a:rPr sz="1100" b="1" i="0">
                          <a:solidFill>
                            <a:srgbClr val="181D27"/>
                          </a:solidFill>
                          <a:latin typeface="Calibri"/>
                        </a:rPr>
                        <a:t>5.  GLP-1 Therapy &amp; Body Composition</a:t>
                      </a:r>
                    </a:p>
                  </a:txBody>
                  <a:tcPr anchor="ctr" marL="109728" marR="109728">
                    <a:solidFill>
                      <a:srgbClr val="F4F5F7"/>
                    </a:solidFill>
                  </a:tcPr>
                </a:tc>
                <a:tc>
                  <a:txBody>
                    <a:bodyPr/>
                    <a:lstStyle/>
                    <a:p>
                      <a:pPr algn="r"/>
                      <a:r>
                        <a:rPr sz="1100" b="0" i="0">
                          <a:solidFill>
                            <a:srgbClr val="181D27"/>
                          </a:solidFill>
                          <a:latin typeface="Calibri"/>
                        </a:rPr>
                        <a:t>67</a:t>
                      </a:r>
                    </a:p>
                  </a:txBody>
                  <a:tcPr anchor="ctr" marL="109728" marR="109728">
                    <a:solidFill>
                      <a:srgbClr val="F4F5F7"/>
                    </a:solidFill>
                  </a:tcPr>
                </a:tc>
              </a:tr>
              <a:tr h="338328">
                <a:tc>
                  <a:txBody>
                    <a:bodyPr/>
                    <a:lstStyle/>
                    <a:p>
                      <a:pPr algn="l"/>
                      <a:r>
                        <a:rPr sz="1100" b="0" i="1">
                          <a:solidFill>
                            <a:srgbClr val="B50937"/>
                          </a:solidFill>
                          <a:latin typeface="Calibri"/>
                        </a:rPr>
                        <a:t>1:30 – 2:15 PM</a:t>
                      </a:r>
                    </a:p>
                  </a:txBody>
                  <a:tcPr anchor="ctr" marL="109728" marR="109728">
                    <a:solidFill>
                      <a:srgbClr val="FBE9ED"/>
                    </a:solidFill>
                  </a:tcPr>
                </a:tc>
                <a:tc>
                  <a:txBody>
                    <a:bodyPr/>
                    <a:lstStyle/>
                    <a:p>
                      <a:pPr algn="l"/>
                      <a:r>
                        <a:rPr sz="1100" b="0" i="1">
                          <a:solidFill>
                            <a:srgbClr val="B50937"/>
                          </a:solidFill>
                          <a:latin typeface="Calibri"/>
                        </a:rPr>
                        <a:t>Lunch Break</a:t>
                      </a:r>
                    </a:p>
                  </a:txBody>
                  <a:tcPr anchor="ctr" marL="109728" marR="109728">
                    <a:solidFill>
                      <a:srgbClr val="FBE9ED"/>
                    </a:solidFill>
                  </a:tcPr>
                </a:tc>
                <a:tc>
                  <a:txBody>
                    <a:bodyPr/>
                    <a:lstStyle/>
                    <a:p>
                      <a:pPr algn="r"/>
                      <a:r>
                        <a:rPr sz="1100" b="0" i="0">
                          <a:solidFill>
                            <a:srgbClr val="B50937"/>
                          </a:solidFill>
                          <a:latin typeface="Calibri"/>
                        </a:rPr>
                        <a:t/>
                      </a:r>
                    </a:p>
                  </a:txBody>
                  <a:tcPr anchor="ctr" marL="109728" marR="109728">
                    <a:solidFill>
                      <a:srgbClr val="FBE9ED"/>
                    </a:solidFill>
                  </a:tcPr>
                </a:tc>
              </a:tr>
              <a:tr h="338328">
                <a:tc>
                  <a:txBody>
                    <a:bodyPr/>
                    <a:lstStyle/>
                    <a:p>
                      <a:pPr algn="l"/>
                      <a:r>
                        <a:rPr sz="1100" b="0" i="0">
                          <a:solidFill>
                            <a:srgbClr val="181D27"/>
                          </a:solidFill>
                          <a:latin typeface="Calibri"/>
                        </a:rPr>
                        <a:t>2:15 – 2:55 PM</a:t>
                      </a:r>
                    </a:p>
                  </a:txBody>
                  <a:tcPr anchor="ctr" marL="109728" marR="109728">
                    <a:solidFill>
                      <a:srgbClr val="F4F5F7"/>
                    </a:solidFill>
                  </a:tcPr>
                </a:tc>
                <a:tc>
                  <a:txBody>
                    <a:bodyPr/>
                    <a:lstStyle/>
                    <a:p>
                      <a:pPr algn="l"/>
                      <a:r>
                        <a:rPr sz="1100" b="1" i="0">
                          <a:solidFill>
                            <a:srgbClr val="181D27"/>
                          </a:solidFill>
                          <a:latin typeface="Calibri"/>
                        </a:rPr>
                        <a:t>6.  Bariatric &amp; Obesity Management</a:t>
                      </a:r>
                    </a:p>
                  </a:txBody>
                  <a:tcPr anchor="ctr" marL="109728" marR="109728">
                    <a:solidFill>
                      <a:srgbClr val="F4F5F7"/>
                    </a:solidFill>
                  </a:tcPr>
                </a:tc>
                <a:tc>
                  <a:txBody>
                    <a:bodyPr/>
                    <a:lstStyle/>
                    <a:p>
                      <a:pPr algn="r"/>
                      <a:r>
                        <a:rPr sz="1100" b="0" i="0">
                          <a:solidFill>
                            <a:srgbClr val="181D27"/>
                          </a:solidFill>
                          <a:latin typeface="Calibri"/>
                        </a:rPr>
                        <a:t>77</a:t>
                      </a:r>
                    </a:p>
                  </a:txBody>
                  <a:tcPr anchor="ctr" marL="109728" marR="109728">
                    <a:solidFill>
                      <a:srgbClr val="F4F5F7"/>
                    </a:solidFill>
                  </a:tcPr>
                </a:tc>
              </a:tr>
              <a:tr h="338328">
                <a:tc>
                  <a:txBody>
                    <a:bodyPr/>
                    <a:lstStyle/>
                    <a:p>
                      <a:pPr algn="l"/>
                      <a:r>
                        <a:rPr sz="1100" b="0" i="0">
                          <a:solidFill>
                            <a:srgbClr val="181D27"/>
                          </a:solidFill>
                          <a:latin typeface="Calibri"/>
                        </a:rPr>
                        <a:t>2:55 – 3:30 PM</a:t>
                      </a:r>
                    </a:p>
                  </a:txBody>
                  <a:tcPr anchor="ctr" marL="109728" marR="109728">
                    <a:solidFill>
                      <a:srgbClr val="FFFFFF"/>
                    </a:solidFill>
                  </a:tcPr>
                </a:tc>
                <a:tc>
                  <a:txBody>
                    <a:bodyPr/>
                    <a:lstStyle/>
                    <a:p>
                      <a:pPr algn="l"/>
                      <a:r>
                        <a:rPr sz="1100" b="1" i="0">
                          <a:solidFill>
                            <a:srgbClr val="181D27"/>
                          </a:solidFill>
                          <a:latin typeface="Calibri"/>
                        </a:rPr>
                        <a:t>7.  Dietetics &amp; BCA-Guided Nutrition Practice</a:t>
                      </a:r>
                    </a:p>
                  </a:txBody>
                  <a:tcPr anchor="ctr" marL="109728" marR="109728">
                    <a:solidFill>
                      <a:srgbClr val="FFFFFF"/>
                    </a:solidFill>
                  </a:tcPr>
                </a:tc>
                <a:tc>
                  <a:txBody>
                    <a:bodyPr/>
                    <a:lstStyle/>
                    <a:p>
                      <a:pPr algn="r"/>
                      <a:r>
                        <a:rPr sz="1100" b="0" i="0">
                          <a:solidFill>
                            <a:srgbClr val="181D27"/>
                          </a:solidFill>
                          <a:latin typeface="Calibri"/>
                        </a:rPr>
                        <a:t>100</a:t>
                      </a:r>
                    </a:p>
                  </a:txBody>
                  <a:tcPr anchor="ctr" marL="109728" marR="109728">
                    <a:solidFill>
                      <a:srgbClr val="FFFFFF"/>
                    </a:solidFill>
                  </a:tcPr>
                </a:tc>
              </a:tr>
              <a:tr h="338328">
                <a:tc>
                  <a:txBody>
                    <a:bodyPr/>
                    <a:lstStyle/>
                    <a:p>
                      <a:pPr algn="l"/>
                      <a:r>
                        <a:rPr sz="1100" b="0" i="1">
                          <a:solidFill>
                            <a:srgbClr val="B50937"/>
                          </a:solidFill>
                          <a:latin typeface="Calibri"/>
                        </a:rPr>
                        <a:t>3:30 – 3:40 PM</a:t>
                      </a:r>
                    </a:p>
                  </a:txBody>
                  <a:tcPr anchor="ctr" marL="109728" marR="109728">
                    <a:solidFill>
                      <a:srgbClr val="FBE9ED"/>
                    </a:solidFill>
                  </a:tcPr>
                </a:tc>
                <a:tc>
                  <a:txBody>
                    <a:bodyPr/>
                    <a:lstStyle/>
                    <a:p>
                      <a:pPr algn="l"/>
                      <a:r>
                        <a:rPr sz="1100" b="0" i="1">
                          <a:solidFill>
                            <a:srgbClr val="B50937"/>
                          </a:solidFill>
                          <a:latin typeface="Calibri"/>
                        </a:rPr>
                        <a:t>Short Break</a:t>
                      </a:r>
                    </a:p>
                  </a:txBody>
                  <a:tcPr anchor="ctr" marL="109728" marR="109728">
                    <a:solidFill>
                      <a:srgbClr val="FBE9ED"/>
                    </a:solidFill>
                  </a:tcPr>
                </a:tc>
                <a:tc>
                  <a:txBody>
                    <a:bodyPr/>
                    <a:lstStyle/>
                    <a:p>
                      <a:pPr algn="r"/>
                      <a:r>
                        <a:rPr sz="1100" b="0" i="0">
                          <a:solidFill>
                            <a:srgbClr val="B50937"/>
                          </a:solidFill>
                          <a:latin typeface="Calibri"/>
                        </a:rPr>
                        <a:t/>
                      </a:r>
                    </a:p>
                  </a:txBody>
                  <a:tcPr anchor="ctr" marL="109728" marR="109728">
                    <a:solidFill>
                      <a:srgbClr val="FBE9ED"/>
                    </a:solidFill>
                  </a:tcPr>
                </a:tc>
              </a:tr>
              <a:tr h="338328">
                <a:tc>
                  <a:txBody>
                    <a:bodyPr/>
                    <a:lstStyle/>
                    <a:p>
                      <a:pPr algn="l"/>
                      <a:r>
                        <a:rPr sz="1100" b="0" i="0">
                          <a:solidFill>
                            <a:srgbClr val="181D27"/>
                          </a:solidFill>
                          <a:latin typeface="Calibri"/>
                        </a:rPr>
                        <a:t>3:40 – 4:05 PM</a:t>
                      </a:r>
                    </a:p>
                  </a:txBody>
                  <a:tcPr anchor="ctr" marL="109728" marR="109728">
                    <a:solidFill>
                      <a:srgbClr val="FFFFFF"/>
                    </a:solidFill>
                  </a:tcPr>
                </a:tc>
                <a:tc>
                  <a:txBody>
                    <a:bodyPr/>
                    <a:lstStyle/>
                    <a:p>
                      <a:pPr algn="l"/>
                      <a:r>
                        <a:rPr sz="1100" b="1" i="0">
                          <a:solidFill>
                            <a:srgbClr val="181D27"/>
                          </a:solidFill>
                          <a:latin typeface="Calibri"/>
                        </a:rPr>
                        <a:t>8.  Aesthetic &amp; Wellness Market</a:t>
                      </a:r>
                    </a:p>
                  </a:txBody>
                  <a:tcPr anchor="ctr" marL="109728" marR="109728">
                    <a:solidFill>
                      <a:srgbClr val="FFFFFF"/>
                    </a:solidFill>
                  </a:tcPr>
                </a:tc>
                <a:tc>
                  <a:txBody>
                    <a:bodyPr/>
                    <a:lstStyle/>
                    <a:p>
                      <a:pPr algn="r"/>
                      <a:r>
                        <a:rPr sz="1100" b="0" i="0">
                          <a:solidFill>
                            <a:srgbClr val="181D27"/>
                          </a:solidFill>
                          <a:latin typeface="Calibri"/>
                        </a:rPr>
                        <a:t>108</a:t>
                      </a:r>
                    </a:p>
                  </a:txBody>
                  <a:tcPr anchor="ctr" marL="109728" marR="109728">
                    <a:solidFill>
                      <a:srgbClr val="FFFFFF"/>
                    </a:solidFill>
                  </a:tcPr>
                </a:tc>
              </a:tr>
              <a:tr h="338328">
                <a:tc>
                  <a:txBody>
                    <a:bodyPr/>
                    <a:lstStyle/>
                    <a:p>
                      <a:pPr algn="l"/>
                      <a:r>
                        <a:rPr sz="1100" b="0" i="0">
                          <a:solidFill>
                            <a:srgbClr val="181D27"/>
                          </a:solidFill>
                          <a:latin typeface="Calibri"/>
                        </a:rPr>
                        <a:t>4:05 – 4:25 PM</a:t>
                      </a:r>
                    </a:p>
                  </a:txBody>
                  <a:tcPr anchor="ctr" marL="109728" marR="109728">
                    <a:solidFill>
                      <a:srgbClr val="F4F5F7"/>
                    </a:solidFill>
                  </a:tcPr>
                </a:tc>
                <a:tc>
                  <a:txBody>
                    <a:bodyPr/>
                    <a:lstStyle/>
                    <a:p>
                      <a:pPr algn="l"/>
                      <a:r>
                        <a:rPr sz="1100" b="1" i="0">
                          <a:solidFill>
                            <a:srgbClr val="181D27"/>
                          </a:solidFill>
                          <a:latin typeface="Calibri"/>
                        </a:rPr>
                        <a:t>9.  Ayurveda &amp; Integrative Wellness</a:t>
                      </a:r>
                    </a:p>
                  </a:txBody>
                  <a:tcPr anchor="ctr" marL="109728" marR="109728">
                    <a:solidFill>
                      <a:srgbClr val="F4F5F7"/>
                    </a:solidFill>
                  </a:tcPr>
                </a:tc>
                <a:tc>
                  <a:txBody>
                    <a:bodyPr/>
                    <a:lstStyle/>
                    <a:p>
                      <a:pPr algn="r"/>
                      <a:r>
                        <a:rPr sz="1100" b="0" i="0">
                          <a:solidFill>
                            <a:srgbClr val="181D27"/>
                          </a:solidFill>
                          <a:latin typeface="Calibri"/>
                        </a:rPr>
                        <a:t>117</a:t>
                      </a:r>
                    </a:p>
                  </a:txBody>
                  <a:tcPr anchor="ctr" marL="109728" marR="109728">
                    <a:solidFill>
                      <a:srgbClr val="F4F5F7"/>
                    </a:solidFill>
                  </a:tcPr>
                </a:tc>
              </a:tr>
              <a:tr h="338328">
                <a:tc>
                  <a:txBody>
                    <a:bodyPr/>
                    <a:lstStyle/>
                    <a:p>
                      <a:pPr algn="l"/>
                      <a:r>
                        <a:rPr sz="1100" b="0" i="0">
                          <a:solidFill>
                            <a:srgbClr val="181D27"/>
                          </a:solidFill>
                          <a:latin typeface="Calibri"/>
                        </a:rPr>
                        <a:t>4:25 – 4:55 PM</a:t>
                      </a:r>
                    </a:p>
                  </a:txBody>
                  <a:tcPr anchor="ctr" marL="109728" marR="109728">
                    <a:solidFill>
                      <a:srgbClr val="FFFFFF"/>
                    </a:solidFill>
                  </a:tcPr>
                </a:tc>
                <a:tc>
                  <a:txBody>
                    <a:bodyPr/>
                    <a:lstStyle/>
                    <a:p>
                      <a:pPr algn="l"/>
                      <a:r>
                        <a:rPr sz="1100" b="1" i="0">
                          <a:solidFill>
                            <a:srgbClr val="181D27"/>
                          </a:solidFill>
                          <a:latin typeface="Calibri"/>
                        </a:rPr>
                        <a:t>10.  Mock Call – From Clinical Knowledge to Customer Conversation</a:t>
                      </a:r>
                    </a:p>
                  </a:txBody>
                  <a:tcPr anchor="ctr" marL="109728" marR="109728">
                    <a:solidFill>
                      <a:srgbClr val="FFFFFF"/>
                    </a:solidFill>
                  </a:tcPr>
                </a:tc>
                <a:tc>
                  <a:txBody>
                    <a:bodyPr/>
                    <a:lstStyle/>
                    <a:p>
                      <a:pPr algn="r"/>
                      <a:r>
                        <a:rPr sz="1100" b="0" i="0">
                          <a:solidFill>
                            <a:srgbClr val="181D27"/>
                          </a:solidFill>
                          <a:latin typeface="Calibri"/>
                        </a:rPr>
                        <a:t>125</a:t>
                      </a:r>
                    </a:p>
                  </a:txBody>
                  <a:tcPr anchor="ctr" marL="109728" marR="109728">
                    <a:solidFill>
                      <a:srgbClr val="FFFFFF"/>
                    </a:solidFill>
                  </a:tcPr>
                </a:tc>
              </a:tr>
            </a:tbl>
          </a:graphicData>
        </a:graphic>
      </p:graphicFrame>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5E6470"/>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B50937"/>
                </a:solidFill>
                <a:latin typeface="Calibri"/>
              </a:rPr>
              <a:t>02</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showMasterSp="0">
  <p:cSld>
    <p:bg>
      <p:bgPr>
        <a:solidFill>
          <a:srgbClr val="181D27"/>
        </a:solidFill>
        <a:effectLst/>
      </p:bgPr>
    </p:bg>
    <p:spTree>
      <p:nvGrpSpPr>
        <p:cNvPr id="1" name=""/>
        <p:cNvGrpSpPr/>
        <p:nvPr/>
      </p:nvGrpSpPr>
      <p:grpSpPr/>
      <p:sp>
        <p:nvSpPr>
          <p:cNvPr id="2" name="Rounded Rectangle 1"/>
          <p:cNvSpPr/>
          <p:nvPr/>
        </p:nvSpPr>
        <p:spPr>
          <a:xfrm>
            <a:off x="822960" y="2148840"/>
            <a:ext cx="1371600" cy="1371600"/>
          </a:xfrm>
          <a:prstGeom prst="roundRect">
            <a:avLst>
              <a:gd name="adj" fmla="val 12000"/>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1371600" cy="1371600"/>
          </a:xfrm>
          <a:prstGeom prst="rect">
            <a:avLst/>
          </a:prstGeom>
          <a:noFill/>
        </p:spPr>
        <p:txBody>
          <a:bodyPr wrap="square" lIns="0" rIns="0" tIns="0" bIns="0" anchor="ctr">
            <a:spAutoFit/>
          </a:bodyPr>
          <a:lstStyle/>
          <a:p>
            <a:pPr algn="ctr"/>
            <a:r>
              <a:rPr sz="4400" b="1" i="0">
                <a:solidFill>
                  <a:srgbClr val="FFFFFF"/>
                </a:solidFill>
                <a:latin typeface="Cambria"/>
              </a:rPr>
              <a:t>01</a:t>
            </a:r>
          </a:p>
        </p:txBody>
      </p:sp>
      <p:sp>
        <p:nvSpPr>
          <p:cNvPr id="4" name="TextBox 3"/>
          <p:cNvSpPr txBox="1"/>
          <p:nvPr/>
        </p:nvSpPr>
        <p:spPr>
          <a:xfrm>
            <a:off x="2560320" y="2148840"/>
            <a:ext cx="8686800" cy="365760"/>
          </a:xfrm>
          <a:prstGeom prst="rect">
            <a:avLst/>
          </a:prstGeom>
          <a:noFill/>
        </p:spPr>
        <p:txBody>
          <a:bodyPr wrap="square" lIns="0" rIns="0" tIns="0" bIns="0" anchor="ctr">
            <a:spAutoFit/>
          </a:bodyPr>
          <a:lstStyle/>
          <a:p>
            <a:pPr algn="l"/>
            <a:r>
              <a:rPr sz="1200" b="1" i="0">
                <a:solidFill>
                  <a:srgbClr val="F5C6D1"/>
                </a:solidFill>
                <a:latin typeface="Calibri"/>
              </a:rPr>
              <a:t>SESSION 1  ·  9:45 – 10:30 AM</a:t>
            </a:r>
          </a:p>
        </p:txBody>
      </p:sp>
      <p:sp>
        <p:nvSpPr>
          <p:cNvPr id="5" name="TextBox 4"/>
          <p:cNvSpPr txBox="1"/>
          <p:nvPr/>
        </p:nvSpPr>
        <p:spPr>
          <a:xfrm>
            <a:off x="2560320" y="2560320"/>
            <a:ext cx="8961120" cy="1463040"/>
          </a:xfrm>
          <a:prstGeom prst="rect">
            <a:avLst/>
          </a:prstGeom>
          <a:noFill/>
        </p:spPr>
        <p:txBody>
          <a:bodyPr wrap="square" lIns="0" rIns="0" tIns="0" bIns="0" anchor="t">
            <a:spAutoFit/>
          </a:bodyPr>
          <a:lstStyle/>
          <a:p>
            <a:pPr algn="l"/>
            <a:r>
              <a:rPr sz="3600" b="1" i="0">
                <a:solidFill>
                  <a:srgbClr val="FFFFFF"/>
                </a:solidFill>
                <a:latin typeface="Cambria"/>
              </a:rPr>
              <a:t>Basics of Body Composition Analysis Technology</a:t>
            </a:r>
          </a:p>
        </p:txBody>
      </p:sp>
      <p:pic>
        <p:nvPicPr>
          <p:cNvPr id="6" name="Picture 5" descr="logo_white.png"/>
          <p:cNvPicPr>
            <a:picLocks noChangeAspect="1"/>
          </p:cNvPicPr>
          <p:nvPr/>
        </p:nvPicPr>
        <p:blipFill>
          <a:blip r:embed="rId2"/>
          <a:stretch>
            <a:fillRect/>
          </a:stretch>
        </p:blipFill>
        <p:spPr>
          <a:xfrm>
            <a:off x="10021083" y="457200"/>
            <a:ext cx="1621971" cy="45720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9AA0AA"/>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F5C6D1"/>
                </a:solidFill>
                <a:latin typeface="Calibri"/>
              </a:rPr>
              <a:t>03</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showMasterSp="0">
  <p:cSld>
    <p:bg>
      <p:bgPr>
        <a:solidFill>
          <a:srgbClr val="181D27"/>
        </a:solidFill>
        <a:effectLst/>
      </p:bgPr>
    </p:bg>
    <p:spTree>
      <p:nvGrpSpPr>
        <p:cNvPr id="1" name=""/>
        <p:cNvGrpSpPr/>
        <p:nvPr/>
      </p:nvGrpSpPr>
      <p:grpSpPr/>
      <p:sp>
        <p:nvSpPr>
          <p:cNvPr id="2" name="Rounded Rectangle 1"/>
          <p:cNvSpPr/>
          <p:nvPr/>
        </p:nvSpPr>
        <p:spPr>
          <a:xfrm>
            <a:off x="822960" y="2148840"/>
            <a:ext cx="1371600" cy="1371600"/>
          </a:xfrm>
          <a:prstGeom prst="roundRect">
            <a:avLst>
              <a:gd name="adj" fmla="val 12000"/>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1371600" cy="1371600"/>
          </a:xfrm>
          <a:prstGeom prst="rect">
            <a:avLst/>
          </a:prstGeom>
          <a:noFill/>
        </p:spPr>
        <p:txBody>
          <a:bodyPr wrap="square" lIns="0" rIns="0" tIns="0" bIns="0" anchor="ctr">
            <a:spAutoFit/>
          </a:bodyPr>
          <a:lstStyle/>
          <a:p>
            <a:pPr algn="ctr"/>
            <a:r>
              <a:rPr sz="4400" b="1" i="0">
                <a:solidFill>
                  <a:srgbClr val="FFFFFF"/>
                </a:solidFill>
                <a:latin typeface="Cambria"/>
              </a:rPr>
              <a:t>02</a:t>
            </a:r>
          </a:p>
        </p:txBody>
      </p:sp>
      <p:sp>
        <p:nvSpPr>
          <p:cNvPr id="4" name="TextBox 3"/>
          <p:cNvSpPr txBox="1"/>
          <p:nvPr/>
        </p:nvSpPr>
        <p:spPr>
          <a:xfrm>
            <a:off x="2560320" y="2148840"/>
            <a:ext cx="8686800" cy="365760"/>
          </a:xfrm>
          <a:prstGeom prst="rect">
            <a:avLst/>
          </a:prstGeom>
          <a:noFill/>
        </p:spPr>
        <p:txBody>
          <a:bodyPr wrap="square" lIns="0" rIns="0" tIns="0" bIns="0" anchor="ctr">
            <a:spAutoFit/>
          </a:bodyPr>
          <a:lstStyle/>
          <a:p>
            <a:pPr algn="l"/>
            <a:r>
              <a:rPr sz="1200" b="1" i="0">
                <a:solidFill>
                  <a:srgbClr val="F5C6D1"/>
                </a:solidFill>
                <a:latin typeface="Calibri"/>
              </a:rPr>
              <a:t>SESSION 2  ·  10:30 – 11:15 AM</a:t>
            </a:r>
          </a:p>
        </p:txBody>
      </p:sp>
      <p:sp>
        <p:nvSpPr>
          <p:cNvPr id="5" name="TextBox 4"/>
          <p:cNvSpPr txBox="1"/>
          <p:nvPr/>
        </p:nvSpPr>
        <p:spPr>
          <a:xfrm>
            <a:off x="2560320" y="2560320"/>
            <a:ext cx="8961120" cy="1463040"/>
          </a:xfrm>
          <a:prstGeom prst="rect">
            <a:avLst/>
          </a:prstGeom>
          <a:noFill/>
        </p:spPr>
        <p:txBody>
          <a:bodyPr wrap="square" lIns="0" rIns="0" tIns="0" bIns="0" anchor="t">
            <a:spAutoFit/>
          </a:bodyPr>
          <a:lstStyle/>
          <a:p>
            <a:pPr algn="l"/>
            <a:r>
              <a:rPr sz="3600" b="1" i="0">
                <a:solidFill>
                  <a:srgbClr val="FFFFFF"/>
                </a:solidFill>
                <a:latin typeface="Cambria"/>
              </a:rPr>
              <a:t>InBody Result Sheet Interpretation – Part 1</a:t>
            </a:r>
          </a:p>
        </p:txBody>
      </p:sp>
      <p:pic>
        <p:nvPicPr>
          <p:cNvPr id="6" name="Picture 5" descr="logo_white.png"/>
          <p:cNvPicPr>
            <a:picLocks noChangeAspect="1"/>
          </p:cNvPicPr>
          <p:nvPr/>
        </p:nvPicPr>
        <p:blipFill>
          <a:blip r:embed="rId2"/>
          <a:stretch>
            <a:fillRect/>
          </a:stretch>
        </p:blipFill>
        <p:spPr>
          <a:xfrm>
            <a:off x="10021083" y="457200"/>
            <a:ext cx="1621971" cy="45720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9AA0AA"/>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F5C6D1"/>
                </a:solidFill>
                <a:latin typeface="Calibri"/>
              </a:rPr>
              <a:t>13</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showMasterSp="0">
  <p:cSld>
    <p:bg>
      <p:bgPr>
        <a:solidFill>
          <a:srgbClr val="181D27"/>
        </a:solidFill>
        <a:effectLst/>
      </p:bgPr>
    </p:bg>
    <p:spTree>
      <p:nvGrpSpPr>
        <p:cNvPr id="1" name=""/>
        <p:cNvGrpSpPr/>
        <p:nvPr/>
      </p:nvGrpSpPr>
      <p:grpSpPr/>
      <p:sp>
        <p:nvSpPr>
          <p:cNvPr id="2" name="Rounded Rectangle 1"/>
          <p:cNvSpPr/>
          <p:nvPr/>
        </p:nvSpPr>
        <p:spPr>
          <a:xfrm>
            <a:off x="822960" y="2148840"/>
            <a:ext cx="1371600" cy="1371600"/>
          </a:xfrm>
          <a:prstGeom prst="roundRect">
            <a:avLst>
              <a:gd name="adj" fmla="val 12000"/>
            </a:avLst>
          </a:prstGeom>
          <a:solidFill>
            <a:srgbClr val="B50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1371600" cy="1371600"/>
          </a:xfrm>
          <a:prstGeom prst="rect">
            <a:avLst/>
          </a:prstGeom>
          <a:noFill/>
        </p:spPr>
        <p:txBody>
          <a:bodyPr wrap="square" lIns="0" rIns="0" tIns="0" bIns="0" anchor="ctr">
            <a:spAutoFit/>
          </a:bodyPr>
          <a:lstStyle/>
          <a:p>
            <a:pPr algn="ctr"/>
            <a:r>
              <a:rPr sz="4400" b="1" i="0">
                <a:solidFill>
                  <a:srgbClr val="FFFFFF"/>
                </a:solidFill>
                <a:latin typeface="Cambria"/>
              </a:rPr>
              <a:t>03</a:t>
            </a:r>
          </a:p>
        </p:txBody>
      </p:sp>
      <p:sp>
        <p:nvSpPr>
          <p:cNvPr id="4" name="TextBox 3"/>
          <p:cNvSpPr txBox="1"/>
          <p:nvPr/>
        </p:nvSpPr>
        <p:spPr>
          <a:xfrm>
            <a:off x="2560320" y="2148840"/>
            <a:ext cx="8686800" cy="365760"/>
          </a:xfrm>
          <a:prstGeom prst="rect">
            <a:avLst/>
          </a:prstGeom>
          <a:noFill/>
        </p:spPr>
        <p:txBody>
          <a:bodyPr wrap="square" lIns="0" rIns="0" tIns="0" bIns="0" anchor="ctr">
            <a:spAutoFit/>
          </a:bodyPr>
          <a:lstStyle/>
          <a:p>
            <a:pPr algn="l"/>
            <a:r>
              <a:rPr sz="1200" b="1" i="0">
                <a:solidFill>
                  <a:srgbClr val="F5C6D1"/>
                </a:solidFill>
                <a:latin typeface="Calibri"/>
              </a:rPr>
              <a:t>SESSION 3  ·  11:25 AM – 12:10 PM</a:t>
            </a:r>
          </a:p>
        </p:txBody>
      </p:sp>
      <p:sp>
        <p:nvSpPr>
          <p:cNvPr id="5" name="TextBox 4"/>
          <p:cNvSpPr txBox="1"/>
          <p:nvPr/>
        </p:nvSpPr>
        <p:spPr>
          <a:xfrm>
            <a:off x="2560320" y="2560320"/>
            <a:ext cx="8961120" cy="1463040"/>
          </a:xfrm>
          <a:prstGeom prst="rect">
            <a:avLst/>
          </a:prstGeom>
          <a:noFill/>
        </p:spPr>
        <p:txBody>
          <a:bodyPr wrap="square" lIns="0" rIns="0" tIns="0" bIns="0" anchor="t">
            <a:spAutoFit/>
          </a:bodyPr>
          <a:lstStyle/>
          <a:p>
            <a:pPr algn="l"/>
            <a:r>
              <a:rPr sz="3600" b="1" i="0">
                <a:solidFill>
                  <a:srgbClr val="FFFFFF"/>
                </a:solidFill>
                <a:latin typeface="Cambria"/>
              </a:rPr>
              <a:t>Result Sheet Interpretation – Part 2: Clinical Interpretation</a:t>
            </a:r>
          </a:p>
        </p:txBody>
      </p:sp>
      <p:pic>
        <p:nvPicPr>
          <p:cNvPr id="6" name="Picture 5" descr="logo_white.png"/>
          <p:cNvPicPr>
            <a:picLocks noChangeAspect="1"/>
          </p:cNvPicPr>
          <p:nvPr/>
        </p:nvPicPr>
        <p:blipFill>
          <a:blip r:embed="rId2"/>
          <a:stretch>
            <a:fillRect/>
          </a:stretch>
        </p:blipFill>
        <p:spPr>
          <a:xfrm>
            <a:off x="10021083" y="457200"/>
            <a:ext cx="1621971" cy="457200"/>
          </a:xfrm>
          <a:prstGeom prst="rect">
            <a:avLst/>
          </a:prstGeom>
        </p:spPr>
      </p:pic>
      <p:sp>
        <p:nvSpPr>
          <p:cNvPr id="7" name="TextBox 6"/>
          <p:cNvSpPr txBox="1"/>
          <p:nvPr/>
        </p:nvSpPr>
        <p:spPr>
          <a:xfrm>
            <a:off x="457200" y="6492240"/>
            <a:ext cx="4572000" cy="228600"/>
          </a:xfrm>
          <a:prstGeom prst="rect">
            <a:avLst/>
          </a:prstGeom>
          <a:noFill/>
        </p:spPr>
        <p:txBody>
          <a:bodyPr wrap="square" lIns="0" rIns="0" tIns="0" bIns="0" anchor="ctr">
            <a:spAutoFit/>
          </a:bodyPr>
          <a:lstStyle/>
          <a:p>
            <a:pPr algn="l"/>
            <a:r>
              <a:rPr sz="800" b="0" i="0">
                <a:solidFill>
                  <a:srgbClr val="9AA0AA"/>
                </a:solidFill>
                <a:latin typeface="Calibri"/>
              </a:rPr>
              <a:t>InBody India  ·  Sales Training</a:t>
            </a:r>
          </a:p>
        </p:txBody>
      </p:sp>
      <p:sp>
        <p:nvSpPr>
          <p:cNvPr id="8" name="TextBox 7"/>
          <p:cNvSpPr txBox="1"/>
          <p:nvPr/>
        </p:nvSpPr>
        <p:spPr>
          <a:xfrm>
            <a:off x="10820095" y="6492240"/>
            <a:ext cx="914400" cy="228600"/>
          </a:xfrm>
          <a:prstGeom prst="rect">
            <a:avLst/>
          </a:prstGeom>
          <a:noFill/>
        </p:spPr>
        <p:txBody>
          <a:bodyPr wrap="square" lIns="0" rIns="0" tIns="0" bIns="0" anchor="ctr">
            <a:spAutoFit/>
          </a:bodyPr>
          <a:lstStyle/>
          <a:p>
            <a:pPr algn="r"/>
            <a:r>
              <a:rPr sz="800" b="1" i="0">
                <a:solidFill>
                  <a:srgbClr val="F5C6D1"/>
                </a:solidFill>
                <a:latin typeface="Calibri"/>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B50937"/>
      </a:accent1>
      <a:accent2>
        <a:srgbClr val="181D27"/>
      </a:accent2>
      <a:accent3>
        <a:srgbClr val="5E6470"/>
      </a:accent3>
      <a:accent4>
        <a:srgbClr val="8E072B"/>
      </a:accent4>
      <a:accent5>
        <a:srgbClr val="F5C6D1"/>
      </a:accent5>
      <a:accent6>
        <a:srgbClr val="9AA0AA"/>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B50937"/>
      </a:accent1>
      <a:accent2>
        <a:srgbClr val="181D27"/>
      </a:accent2>
      <a:accent3>
        <a:srgbClr val="5E6470"/>
      </a:accent3>
      <a:accent4>
        <a:srgbClr val="8E072B"/>
      </a:accent4>
      <a:accent5>
        <a:srgbClr val="F5C6D1"/>
      </a:accent5>
      <a:accent6>
        <a:srgbClr val="9AA0AA"/>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3D42C5E06049C0418F6BA80E4DDD693D" ma:contentTypeVersion="10" ma:contentTypeDescription="새 문서를 만듭니다." ma:contentTypeScope="" ma:versionID="bbaa5895a7aaa144ea778cf500a0e330">
  <xsd:schema xmlns:xsd="http://www.w3.org/2001/XMLSchema" xmlns:xs="http://www.w3.org/2001/XMLSchema" xmlns:p="http://schemas.microsoft.com/office/2006/metadata/properties" xmlns:ns3="ca080657-3426-4774-821e-73c75b3ebcef" targetNamespace="http://schemas.microsoft.com/office/2006/metadata/properties" ma:root="true" ma:fieldsID="2ebcfd3fd42802a99ab41ebe98ed2b01" ns3:_="">
    <xsd:import namespace="ca080657-3426-4774-821e-73c75b3ebce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_activity"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080657-3426-4774-821e-73c75b3ebce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a080657-3426-4774-821e-73c75b3ebcef" xsi:nil="true"/>
  </documentManagement>
</p:properties>
</file>

<file path=customXml/itemProps1.xml><?xml version="1.0" encoding="utf-8"?>
<ds:datastoreItem xmlns:ds="http://schemas.openxmlformats.org/officeDocument/2006/customXml" ds:itemID="{38020C7C-0629-4316-BEBF-F6CD8647F7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080657-3426-4774-821e-73c75b3ebce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4AF95F3-D172-4A8F-8C04-89951D93222C}">
  <ds:schemaRefs>
    <ds:schemaRef ds:uri="http://schemas.microsoft.com/sharepoint/v3/contenttype/forms"/>
  </ds:schemaRefs>
</ds:datastoreItem>
</file>

<file path=customXml/itemProps3.xml><?xml version="1.0" encoding="utf-8"?>
<ds:datastoreItem xmlns:ds="http://schemas.openxmlformats.org/officeDocument/2006/customXml" ds:itemID="{8B76D83B-853E-4D27-A325-A882342B4A3C}">
  <ds:schemaRefs>
    <ds:schemaRef ds:uri="http://schemas.microsoft.com/office/2006/metadata/properties"/>
    <ds:schemaRef ds:uri="http://schemas.microsoft.com/office/2006/documentManagement/types"/>
    <ds:schemaRef ds:uri="http://purl.org/dc/elements/1.1/"/>
    <ds:schemaRef ds:uri="http://purl.org/dc/dcmitype/"/>
    <ds:schemaRef ds:uri="http://purl.org/dc/terms/"/>
    <ds:schemaRef ds:uri="http://www.w3.org/XML/1998/namespace"/>
    <ds:schemaRef ds:uri="http://schemas.openxmlformats.org/package/2006/metadata/core-properties"/>
    <ds:schemaRef ds:uri="http://schemas.microsoft.com/office/infopath/2007/PartnerControls"/>
    <ds:schemaRef ds:uri="ca080657-3426-4774-821e-73c75b3ebcef"/>
  </ds:schemaRefs>
</ds:datastoreItem>
</file>

<file path=docProps/app.xml><?xml version="1.0" encoding="utf-8"?>
<Properties xmlns="http://schemas.openxmlformats.org/officeDocument/2006/extended-properties" xmlns:vt="http://schemas.openxmlformats.org/officeDocument/2006/docPropsVTypes">
  <TotalTime>123</TotalTime>
  <Words>7380</Words>
  <Application>Microsoft Office PowerPoint</Application>
  <PresentationFormat>Widescreen</PresentationFormat>
  <Paragraphs>1041</Paragraphs>
  <Slides>123</Slides>
  <Notes>24</Notes>
  <HiddenSlides>0</HiddenSlides>
  <MMClips>0</MMClips>
  <ScaleCrop>false</ScaleCrop>
  <HeadingPairs>
    <vt:vector size="6" baseType="variant">
      <vt:variant>
        <vt:lpstr>Fonts Used</vt:lpstr>
      </vt:variant>
      <vt:variant>
        <vt:i4>45</vt:i4>
      </vt:variant>
      <vt:variant>
        <vt:lpstr>Theme</vt:lpstr>
      </vt:variant>
      <vt:variant>
        <vt:i4>1</vt:i4>
      </vt:variant>
      <vt:variant>
        <vt:lpstr>Slide Titles</vt:lpstr>
      </vt:variant>
      <vt:variant>
        <vt:i4>123</vt:i4>
      </vt:variant>
    </vt:vector>
  </HeadingPairs>
  <TitlesOfParts>
    <vt:vector size="169" baseType="lpstr">
      <vt:lpstr>바탕</vt:lpstr>
      <vt:lpstr>맑은 고딕</vt:lpstr>
      <vt:lpstr>맑은 고딕</vt:lpstr>
      <vt:lpstr>Adobe Heiti Std R</vt:lpstr>
      <vt:lpstr>Argentum Sans Bold</vt:lpstr>
      <vt:lpstr>Arial</vt:lpstr>
      <vt:lpstr>Bauer Bodoni</vt:lpstr>
      <vt:lpstr>Bauer Bodoni Bold</vt:lpstr>
      <vt:lpstr>BlinkMacSystemFont</vt:lpstr>
      <vt:lpstr>Calibri</vt:lpstr>
      <vt:lpstr>Calibri Light</vt:lpstr>
      <vt:lpstr>Cambria</vt:lpstr>
      <vt:lpstr>Canela Bold</vt:lpstr>
      <vt:lpstr>Canva Sans</vt:lpstr>
      <vt:lpstr>Canva Sans Bold</vt:lpstr>
      <vt:lpstr>Canva Sans Bold Italics</vt:lpstr>
      <vt:lpstr>Century Gothic</vt:lpstr>
      <vt:lpstr>CQGIPG+Cambria</vt:lpstr>
      <vt:lpstr>Graphik</vt:lpstr>
      <vt:lpstr>Graphik Light</vt:lpstr>
      <vt:lpstr>Lato</vt:lpstr>
      <vt:lpstr>Lato Black</vt:lpstr>
      <vt:lpstr>Lato Bold</vt:lpstr>
      <vt:lpstr>Lato Bold Italics</vt:lpstr>
      <vt:lpstr>Lato Heavy</vt:lpstr>
      <vt:lpstr>Lato Light</vt:lpstr>
      <vt:lpstr>Montserrat</vt:lpstr>
      <vt:lpstr>Montserrat Bold</vt:lpstr>
      <vt:lpstr>Plus Jakarta Sans</vt:lpstr>
      <vt:lpstr>Poppins</vt:lpstr>
      <vt:lpstr>Poppins Bold</vt:lpstr>
      <vt:lpstr>Segoe UI</vt:lpstr>
      <vt:lpstr>Segoe UI Semibold</vt:lpstr>
      <vt:lpstr>Source Sans Pro</vt:lpstr>
      <vt:lpstr>Symbol</vt:lpstr>
      <vt:lpstr>Times New Roman</vt:lpstr>
      <vt:lpstr>Wingdings</vt:lpstr>
      <vt:lpstr>YDIYGo540</vt:lpstr>
      <vt:lpstr>나눔바른고딕</vt:lpstr>
      <vt:lpstr>나눔스퀘어OTF Bold</vt:lpstr>
      <vt:lpstr>서울남산체 L</vt:lpstr>
      <vt:lpstr>에스코어 드림 4 Regular</vt:lpstr>
      <vt:lpstr>에스코어 드림 5 Medium</vt:lpstr>
      <vt:lpstr>에스코어 드림 6 Bold</vt:lpstr>
      <vt:lpstr>조선일보명조</vt:lpstr>
      <vt:lpstr>Office Theme</vt:lpstr>
      <vt:lpstr>Sales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Water Retention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Mock Call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Shrutika Khedekar</dc:creator>
  <cp:lastModifiedBy>Shrutika Khedekar</cp:lastModifiedBy>
  <cp:revision>11</cp:revision>
  <dcterms:created xsi:type="dcterms:W3CDTF">2026-09-25T09:33:59Z</dcterms:created>
  <dcterms:modified xsi:type="dcterms:W3CDTF">2026-09-28T10:35:23Z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0x0101003D42C5E06049C0418F6BA80E4DDD693D</vt:lpwstr>
  </property>
</Properties>
</file>