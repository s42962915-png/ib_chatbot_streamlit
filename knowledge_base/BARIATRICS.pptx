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7.9123799999999994E-2"/>
          <c:y val="6.0012099999999999E-2"/>
          <c:w val="0.91587600000000002"/>
          <c:h val="0.83350299999999999"/>
        </c:manualLayout>
      </c:layout>
      <c:barChart>
        <c:barDir val="col"/>
        <c:grouping val="clustered"/>
        <c:varyColors val="0"/>
        <c:ser>
          <c:idx val="0"/>
          <c:order val="0"/>
          <c:tx>
            <c:strRef>
              <c:f>Sheet1!$B$1</c:f>
              <c:strCache>
                <c:ptCount val="1"/>
                <c:pt idx="0">
                  <c:v>계열 1</c:v>
                </c:pt>
              </c:strCache>
            </c:strRef>
          </c:tx>
          <c:spPr>
            <a:solidFill>
              <a:schemeClr val="accent1"/>
            </a:solidFill>
            <a:ln w="12700" cap="flat">
              <a:noFill/>
              <a:miter lim="400000"/>
            </a:ln>
            <a:effectLst/>
          </c:spPr>
          <c:invertIfNegative val="0"/>
          <c:cat>
            <c:strRef>
              <c:f>Sheet1!$A$2:$A$5</c:f>
              <c:strCache>
                <c:ptCount val="4"/>
                <c:pt idx="0">
                  <c:v>≤ 6 visits</c:v>
                </c:pt>
                <c:pt idx="1">
                  <c:v>&gt;6 visits</c:v>
                </c:pt>
                <c:pt idx="2">
                  <c:v>≥3 visits</c:v>
                </c:pt>
                <c:pt idx="3">
                  <c:v>&gt;3 visits</c:v>
                </c:pt>
              </c:strCache>
            </c:strRef>
          </c:cat>
          <c:val>
            <c:numRef>
              <c:f>Sheet1!$B$2:$B$5</c:f>
              <c:numCache>
                <c:formatCode>General</c:formatCode>
                <c:ptCount val="4"/>
                <c:pt idx="0">
                  <c:v>41.9</c:v>
                </c:pt>
                <c:pt idx="1">
                  <c:v>50.4</c:v>
                </c:pt>
                <c:pt idx="2">
                  <c:v>66.099999999999994</c:v>
                </c:pt>
                <c:pt idx="3">
                  <c:v>67.599999999999994</c:v>
                </c:pt>
              </c:numCache>
            </c:numRef>
          </c:val>
          <c:extLst>
            <c:ext xmlns:c16="http://schemas.microsoft.com/office/drawing/2014/chart" uri="{C3380CC4-5D6E-409C-BE32-E72D297353CC}">
              <c16:uniqueId val="{00000000-7245-4229-9DFA-830BDB9850D9}"/>
            </c:ext>
          </c:extLst>
        </c:ser>
        <c:dLbls>
          <c:showLegendKey val="0"/>
          <c:showVal val="0"/>
          <c:showCatName val="0"/>
          <c:showSerName val="0"/>
          <c:showPercent val="0"/>
          <c:showBubbleSize val="0"/>
        </c:dLbls>
        <c:gapWidth val="340"/>
        <c:axId val="2094734552"/>
        <c:axId val="2094734553"/>
      </c:barChart>
      <c:catAx>
        <c:axId val="2094734552"/>
        <c:scaling>
          <c:orientation val="minMax"/>
        </c:scaling>
        <c:delete val="0"/>
        <c:axPos val="b"/>
        <c:numFmt formatCode="General" sourceLinked="0"/>
        <c:majorTickMark val="out"/>
        <c:minorTickMark val="none"/>
        <c:tickLblPos val="low"/>
        <c:spPr>
          <a:ln w="12700" cap="flat">
            <a:solidFill>
              <a:srgbClr val="888888"/>
            </a:solidFill>
            <a:prstDash val="solid"/>
            <a:miter lim="800000"/>
          </a:ln>
        </c:spPr>
        <c:txPr>
          <a:bodyPr rot="0"/>
          <a:lstStyle/>
          <a:p>
            <a:pPr>
              <a:defRPr sz="1200" b="0" i="0" u="none" strike="noStrike">
                <a:solidFill>
                  <a:srgbClr val="595959"/>
                </a:solidFill>
                <a:latin typeface="Arial"/>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888888"/>
              </a:solidFill>
              <a:prstDash val="solid"/>
              <a:miter lim="800000"/>
            </a:ln>
          </c:spPr>
        </c:majorGridlines>
        <c:numFmt formatCode="0.####" sourceLinked="0"/>
        <c:majorTickMark val="out"/>
        <c:minorTickMark val="none"/>
        <c:tickLblPos val="nextTo"/>
        <c:spPr>
          <a:ln w="12700" cap="flat">
            <a:solidFill>
              <a:srgbClr val="888888"/>
            </a:solidFill>
            <a:prstDash val="solid"/>
            <a:miter lim="800000"/>
          </a:ln>
        </c:spPr>
        <c:txPr>
          <a:bodyPr rot="0"/>
          <a:lstStyle/>
          <a:p>
            <a:pPr>
              <a:defRPr sz="1000" b="0" i="0" u="none" strike="noStrike">
                <a:solidFill>
                  <a:srgbClr val="595959"/>
                </a:solidFill>
                <a:latin typeface="Calibri"/>
              </a:defRPr>
            </a:pPr>
            <a:endParaRPr lang="en-US"/>
          </a:p>
        </c:txPr>
        <c:crossAx val="2094734552"/>
        <c:crosses val="autoZero"/>
        <c:crossBetween val="between"/>
        <c:majorUnit val="17.5"/>
        <c:minorUnit val="8.7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1T06:47:26.806"/>
    </inkml:context>
    <inkml:brush xml:id="br0">
      <inkml:brushProperty name="width" value="0.035" units="cm"/>
      <inkml:brushProperty name="height" value="0.035" units="cm"/>
      <inkml:brushProperty name="color" value="#FFC11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1T06:47:30.755"/>
    </inkml:context>
    <inkml:brush xml:id="br0">
      <inkml:brushProperty name="width" value="0.035" units="cm"/>
      <inkml:brushProperty name="height" value="0.035" units="cm"/>
      <inkml:brushProperty name="color" value="#FFC114"/>
    </inkml:brush>
  </inkml:definitions>
  <inkml:trace contextRef="#ctx0" brushRef="#br0">1518 2817 24575,'-44'-174'0,"25"86"0,-41-182 0,52 227 0,47 66 0,-1 1 0,53 43 0,-90-67 0,131 110 0,-130-108 0,-1 0 0,1-1 0,0 1 0,-1 0 0,1 0 0,-1 0 0,0 0 0,1 0 0,-1 0 0,0 0 0,0 0 0,0 1 0,-1-1 0,1 0 0,-1 1 0,1-1 0,-1 0 0,0 1 0,1-1 0,-1 0 0,-1 1 0,1-1 0,0 1 0,0-1 0,-1 0 0,0 1 0,1-1 0,-1 0 0,0 1 0,0-1 0,0 0 0,0 0 0,-1 0 0,1 0 0,-3 3 0,-6 7 0,0-1 0,-1-1 0,0 1 0,-20 13 0,15-12 0,-27 21 0,-2-3 0,-69 36 0,-107 33 0,162-79 0,54-19 0,-1 0 0,1 0 0,-1 0 0,1 0 0,-1-1 0,0 0 0,1 0 0,-10-2 0,14 2 0,-1 0 0,1 0 0,0-1 0,0 1 0,0 0 0,0-1 0,0 1 0,0 0 0,0-1 0,0 0 0,0 1 0,0-1 0,0 1 0,0-1 0,0 0 0,0 0 0,0 0 0,1 1 0,-1-1 0,0 0 0,1 0 0,-1 0 0,1 0 0,-1 0 0,1 0 0,-1 0 0,1 0 0,-1 0 0,1-1 0,0 1 0,0 0 0,0 0 0,0 0 0,0 0 0,0 0 0,0-1 0,0 1 0,0 0 0,0 0 0,0 0 0,1-2 0,2-4 0,0 0 0,0 0 0,1 0 0,0 0 0,5-6 0,1-2 0,5-11 0,34-43 0,-42 59 0,0-1 0,-1 0 0,9-21 0,11-19 0,8-6 0,-3-3 0,30-81 0,-3 6 0,-11 30 0,-47 105 0,0 0 0,0 0 0,0 0 0,0 0 0,0-1 0,0 1 0,0 0 0,0 0 0,0 0 0,0 0 0,0 0 0,0 0 0,0-1 0,0 1 0,0 0 0,0 0 0,0 0 0,0 0 0,0 0 0,0 0 0,0 0 0,0-1 0,0 1 0,0 0 0,0 0 0,1 0 0,-1 0 0,0 0 0,0 0 0,0 0 0,0 0 0,0 0 0,0 0 0,0 0 0,0 0 0,1 0 0,-1 0 0,0-1 0,0 1 0,0 0 0,0 0 0,0 0 0,0 0 0,1 0 0,-1 0 0,0 0 0,0 0 0,0 1 0,0-1 0,0 0 0,0 0 0,1 0 0,-1 0 0,0 0 0,0 0 0,0 0 0,0 0 0,0 0 0,0 0 0,0 0 0,1 0 0,1 13 0,-1 24 0,-1-35 0,-45 565-22,24-377-355,-84 700-2017,102-872 2751,2-17 11,1-3 59,1-26 837,14-183-2023,-15-245-1,-48-208-872,-35-128 1011,-10-108-126,96 916 1389,0-1 0,1 0 1,0 0-1,9 18 0,-5-11-610,52 129-419,6-3 0,7-2 0,6-4 0,163 222 0,-186-295 200,3-2 0,3-3 0,2-2 0,109 79 0,-15-17 40,-58-45 3873,-85-66-3595,-1 1 1,-1 1-1,0 0 1,0 1-1,17 31 1,13 16 23,-35-54-155,-1 1 0,0 1 0,0-1 0,-1 1 0,8 21 0,-13-29 0,0 0 0,-1 0 0,1 0 0,0 0 0,-1 0 0,0 0 0,1 0 0,-1 1 0,-1-1 0,1 0 0,0 0 0,-1 0 0,1 0 0,-1 0 0,0 0 0,0 0 0,0 0 0,-1 0 0,1 0 0,-1 0 0,0 0 0,1-1 0,-1 1 0,0-1 0,0 0 0,-1 1 0,1-1 0,-4 3 0,-5 2 0,-1 0 0,1 0 0,-2-1 0,1 0 0,-1-1 0,1-1 0,-1 0 0,-17 3 0,-432 70-153,362-64-406,-137 18-2252,-720 75-113,492-72 1357,453-34 1483,3 1 503,0-1 1,0 0 0,0-1-1,-16-2 1,23 2-299,1 1-1,0 0 1,-1-1-1,1 1 0,0-1 1,-1 1-1,1-1 1,0 0-1,0 0 1,0 1-1,0-1 1,0 0-1,0 0 1,0 0-1,0 0 1,0 0-1,0 0 1,0 0-1,1-1 1,-1 1-1,0 0 1,1 0-1,-1-1 1,1 1-1,0 0 1,-1-1-1,1 1 1,0 0-1,0-1 1,-1 1-1,1 0 1,0-1-1,1 1 1,-1-1-1,0 1 1,0 0-1,1-3 1,2-7-37,1 0 0,-1 0 0,2 1 0,0 0 0,0-1 0,0 1 0,9-10 0,55-63 491,-17 22-401,304-458-1184,-40-18-422,76-84 63,-376 596 1646,-1 5 831,-1-1 1,22-45-1,-35 63-1082,1 0-1,0 0 0,0 0 1,0 0-1,0 0 0,1 1 0,-1-1 1,1 1-1,5-4 0,33-19-48,-20 12 2,230-157 40,-100 64-134,161-109-824,188-127-2226,-485 332 3165,10-7 0,1 2 0,33-16 0,-58 30 2,0 1 1,0-1-1,1 1 1,-1-1 0,0 1-1,0 0 1,1-1-1,-1 1 1,0 0-1,1 0 1,-1 0 0,0 0-1,3 0 1,-4 0 0,0 0 1,0 1-1,0-1 1,1 0-1,-1 0 0,0 1 1,0-1-1,0 0 1,0 0-1,1 1 1,-1-1-1,0 0 1,0 0-1,0 1 0,0-1 1,0 0-1,0 1 1,0-1-1,0 0 1,0 0-1,0 1 0,0-1 1,0 0-1,0 1 1,0-1-1,0 0 1,0 1-1,0-1 1,0 0-1,-1 0 0,1 1 1,0-1-1,0 0 1,0 1-1,-21 30 715,18-27-500,-26 30 2640,-52 39-2608,75-68-250,-2 0 0,1-1 0,0 0 0,-1 0 0,0-1 0,-13 4 0,-18 8 0,36-13 0,0 0 0,0 0 0,1 0 0,-1 0 0,1 0 0,0 0 0,-1 1 0,1-1 0,0 1 0,0-1 0,0 1 0,1 0 0,-3 5 0,-15 48 0,5-12 0,-159 415-174,20 6-2455,108-325 1600,-139 424-81,175-536 1690,-27 73 3782,-236 667-8140,193-525 4073,-157 480-2414,216-662 2037,3-8 258,-34 72 1,48-120 930,2-10-5074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Shape 123"/>
          <p:cNvSpPr>
            <a:spLocks noGrp="1" noRot="1" noChangeAspect="1"/>
          </p:cNvSpPr>
          <p:nvPr>
            <p:ph type="sldImg"/>
          </p:nvPr>
        </p:nvSpPr>
        <p:spPr>
          <a:xfrm>
            <a:off x="1143000" y="685800"/>
            <a:ext cx="4572000" cy="3429000"/>
          </a:xfrm>
          <a:prstGeom prst="rect">
            <a:avLst/>
          </a:prstGeom>
        </p:spPr>
        <p:txBody>
          <a:bodyPr/>
          <a:lstStyle/>
          <a:p>
            <a:endParaRPr/>
          </a:p>
        </p:txBody>
      </p:sp>
      <p:sp>
        <p:nvSpPr>
          <p:cNvPr id="124" name="Shape 12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xfrm>
            <a:off x="381000" y="685800"/>
            <a:ext cx="6096000" cy="3429000"/>
          </a:xfrm>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I’m sure that everyone already has heard so much about diabetes.</a:t>
            </a:r>
          </a:p>
          <a:p>
            <a:r>
              <a:t>Diabetes has been on the rise, and currently 422 million adults have diabetes. This means 1 out of 11 person has diabetes.</a:t>
            </a:r>
          </a:p>
          <a:p>
            <a:endParaRPr/>
          </a:p>
          <a:p>
            <a:r>
              <a:t>As we can see on the chart, compared to 1980, number of diabetes patients has significantly rise.</a:t>
            </a:r>
          </a:p>
          <a:p>
            <a:endParaRPr/>
          </a:p>
          <a:p>
            <a:r>
              <a:t>However, the real reason we have to take good care of diabetes is because it has a lot of complications.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grpSp>
        <p:nvGrpSpPr>
          <p:cNvPr id="69" name="Group"/>
          <p:cNvGrpSpPr/>
          <p:nvPr/>
        </p:nvGrpSpPr>
        <p:grpSpPr>
          <a:xfrm>
            <a:off x="271993" y="229440"/>
            <a:ext cx="11786699" cy="6450710"/>
            <a:chOff x="0" y="0"/>
            <a:chExt cx="11786697" cy="6450708"/>
          </a:xfrm>
        </p:grpSpPr>
        <p:sp>
          <p:nvSpPr>
            <p:cNvPr id="65" name="Line"/>
            <p:cNvSpPr/>
            <p:nvPr/>
          </p:nvSpPr>
          <p:spPr>
            <a:xfrm>
              <a:off x="10077" y="142215"/>
              <a:ext cx="10700419" cy="1"/>
            </a:xfrm>
            <a:prstGeom prst="line">
              <a:avLst/>
            </a:prstGeom>
            <a:noFill/>
            <a:ln w="25400" cap="flat">
              <a:solidFill>
                <a:srgbClr val="9C2639"/>
              </a:solidFill>
              <a:prstDash val="solid"/>
              <a:miter lim="400000"/>
            </a:ln>
            <a:effectLst/>
          </p:spPr>
          <p:txBody>
            <a:bodyPr wrap="square" lIns="45718" tIns="45718" rIns="45718" bIns="45718" numCol="1" anchor="t">
              <a:noAutofit/>
            </a:bodyPr>
            <a:lstStyle/>
            <a:p>
              <a:pPr defTabSz="2438337">
                <a:lnSpc>
                  <a:spcPct val="90000"/>
                </a:lnSpc>
                <a:spcBef>
                  <a:spcPts val="2400"/>
                </a:spcBef>
                <a:defRPr sz="4400">
                  <a:latin typeface="Canela Bold"/>
                  <a:ea typeface="Canela Bold"/>
                  <a:cs typeface="Canela Bold"/>
                  <a:sym typeface="Canela Bold"/>
                </a:defRPr>
              </a:pPr>
              <a:endParaRPr/>
            </a:p>
          </p:txBody>
        </p:sp>
        <p:pic>
          <p:nvPicPr>
            <p:cNvPr id="66" name="Image" descr="Image"/>
            <p:cNvPicPr>
              <a:picLocks noChangeAspect="1"/>
            </p:cNvPicPr>
            <p:nvPr/>
          </p:nvPicPr>
          <p:blipFill>
            <a:blip r:embed="rId2"/>
            <a:stretch>
              <a:fillRect/>
            </a:stretch>
          </p:blipFill>
          <p:spPr>
            <a:xfrm>
              <a:off x="10787553" y="0"/>
              <a:ext cx="999145" cy="284431"/>
            </a:xfrm>
            <a:prstGeom prst="rect">
              <a:avLst/>
            </a:prstGeom>
            <a:ln w="12700" cap="flat">
              <a:noFill/>
              <a:miter lim="400000"/>
            </a:ln>
            <a:effectLst/>
          </p:spPr>
        </p:pic>
        <p:pic>
          <p:nvPicPr>
            <p:cNvPr id="67" name="Image" descr="Image"/>
            <p:cNvPicPr>
              <a:picLocks noChangeAspect="1"/>
            </p:cNvPicPr>
            <p:nvPr/>
          </p:nvPicPr>
          <p:blipFill>
            <a:blip r:embed="rId3"/>
            <a:stretch>
              <a:fillRect/>
            </a:stretch>
          </p:blipFill>
          <p:spPr>
            <a:xfrm>
              <a:off x="0" y="6244530"/>
              <a:ext cx="1619001" cy="206179"/>
            </a:xfrm>
            <a:prstGeom prst="rect">
              <a:avLst/>
            </a:prstGeom>
            <a:ln w="12700" cap="flat">
              <a:noFill/>
              <a:miter lim="400000"/>
            </a:ln>
            <a:effectLst/>
          </p:spPr>
        </p:pic>
        <p:sp>
          <p:nvSpPr>
            <p:cNvPr id="68" name="Line"/>
            <p:cNvSpPr/>
            <p:nvPr/>
          </p:nvSpPr>
          <p:spPr>
            <a:xfrm flipV="1">
              <a:off x="15468" y="139137"/>
              <a:ext cx="1" cy="6065648"/>
            </a:xfrm>
            <a:prstGeom prst="line">
              <a:avLst/>
            </a:prstGeom>
            <a:noFill/>
            <a:ln w="25400" cap="flat">
              <a:solidFill>
                <a:srgbClr val="9B1B2F"/>
              </a:solidFill>
              <a:prstDash val="solid"/>
              <a:miter lim="400000"/>
            </a:ln>
            <a:effectLst/>
          </p:spPr>
          <p:txBody>
            <a:bodyPr wrap="square" lIns="50800" tIns="50800" rIns="50800" bIns="50800" numCol="1" anchor="ctr">
              <a:noAutofit/>
            </a:bodyPr>
            <a:lstStyle/>
            <a:p>
              <a:pPr defTabSz="355600">
                <a:spcBef>
                  <a:spcPts val="4700"/>
                </a:spcBef>
                <a:defRPr sz="4000">
                  <a:solidFill>
                    <a:srgbClr val="53585F"/>
                  </a:solidFill>
                  <a:latin typeface="Graphik Light"/>
                  <a:ea typeface="Graphik Light"/>
                  <a:cs typeface="Graphik Light"/>
                  <a:sym typeface="Graphik Light"/>
                </a:defRPr>
              </a:pPr>
              <a:endParaRPr/>
            </a:p>
          </p:txBody>
        </p:sp>
      </p:gr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97" name="Title Text"/>
          <p:cNvSpPr txBox="1">
            <a:spLocks noGrp="1"/>
          </p:cNvSpPr>
          <p:nvPr>
            <p:ph type="title"/>
          </p:nvPr>
        </p:nvSpPr>
        <p:spPr>
          <a:prstGeom prst="rect">
            <a:avLst/>
          </a:prstGeom>
        </p:spPr>
        <p:txBody>
          <a:bodyPr/>
          <a:lstStyle/>
          <a:p>
            <a:r>
              <a:t>Title Text</a:t>
            </a:r>
          </a:p>
        </p:txBody>
      </p:sp>
      <p:sp>
        <p:nvSpPr>
          <p:cNvPr id="98" name="Body Level One…"/>
          <p:cNvSpPr txBox="1">
            <a:spLocks noGrp="1"/>
          </p:cNvSpPr>
          <p:nvPr>
            <p:ph type="body" idx="1"/>
          </p:nvPr>
        </p:nvSpPr>
        <p:spPr>
          <a:prstGeom prst="rect">
            <a:avLst/>
          </a:prstGeom>
        </p:spPr>
        <p:txBody>
          <a:bodyPr vert="eaVert"/>
          <a:lstStyle/>
          <a:p>
            <a:r>
              <a:t>Body Level One</a:t>
            </a:r>
          </a:p>
          <a:p>
            <a:pPr lvl="1"/>
            <a:r>
              <a:t>Body Level Two</a:t>
            </a:r>
          </a:p>
          <a:p>
            <a:pPr lvl="2"/>
            <a:r>
              <a:t>Body Level Three</a:t>
            </a:r>
          </a:p>
          <a:p>
            <a:pPr lvl="3"/>
            <a:r>
              <a:t>Body Level Four</a:t>
            </a:r>
          </a:p>
          <a:p>
            <a:pPr lvl="4"/>
            <a:r>
              <a:t>Body Level Five</a:t>
            </a: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106" name="Title Text"/>
          <p:cNvSpPr txBox="1">
            <a:spLocks noGrp="1"/>
          </p:cNvSpPr>
          <p:nvPr>
            <p:ph type="title"/>
          </p:nvPr>
        </p:nvSpPr>
        <p:spPr>
          <a:xfrm>
            <a:off x="8724900" y="365125"/>
            <a:ext cx="2628900" cy="5811838"/>
          </a:xfrm>
          <a:prstGeom prst="rect">
            <a:avLst/>
          </a:prstGeom>
        </p:spPr>
        <p:txBody>
          <a:bodyPr vert="eaVert"/>
          <a:lstStyle/>
          <a:p>
            <a:r>
              <a:t>Title Text</a:t>
            </a:r>
          </a:p>
        </p:txBody>
      </p:sp>
      <p:sp>
        <p:nvSpPr>
          <p:cNvPr id="107" name="Body Level One…"/>
          <p:cNvSpPr txBox="1">
            <a:spLocks noGrp="1"/>
          </p:cNvSpPr>
          <p:nvPr>
            <p:ph type="body" idx="1"/>
          </p:nvPr>
        </p:nvSpPr>
        <p:spPr>
          <a:xfrm>
            <a:off x="838200" y="365125"/>
            <a:ext cx="7734300" cy="5811838"/>
          </a:xfrm>
          <a:prstGeom prst="rect">
            <a:avLst/>
          </a:prstGeom>
        </p:spPr>
        <p:txBody>
          <a:bodyPr vert="eaVert"/>
          <a:lstStyle/>
          <a:p>
            <a:r>
              <a:t>Body Level One</a:t>
            </a:r>
          </a:p>
          <a:p>
            <a:pPr lvl="1"/>
            <a:r>
              <a:t>Body Level Two</a:t>
            </a:r>
          </a:p>
          <a:p>
            <a:pPr lvl="2"/>
            <a:r>
              <a:t>Body Level Three</a:t>
            </a:r>
          </a:p>
          <a:p>
            <a:pPr lvl="3"/>
            <a:r>
              <a:t>Body Level Four</a:t>
            </a:r>
          </a:p>
          <a:p>
            <a:pPr lvl="4"/>
            <a:r>
              <a:t>Body Level Five</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
        <p:cNvGrpSpPr/>
        <p:nvPr/>
      </p:nvGrpSpPr>
      <p:grpSpPr>
        <a:xfrm>
          <a:off x="0" y="0"/>
          <a:ext cx="0" cy="0"/>
          <a:chOff x="0" y="0"/>
          <a:chExt cx="0" cy="0"/>
        </a:xfrm>
      </p:grpSpPr>
      <p:sp>
        <p:nvSpPr>
          <p:cNvPr id="115" name="Title Text"/>
          <p:cNvSpPr txBox="1">
            <a:spLocks noGrp="1"/>
          </p:cNvSpPr>
          <p:nvPr>
            <p:ph type="title"/>
          </p:nvPr>
        </p:nvSpPr>
        <p:spPr>
          <a:xfrm>
            <a:off x="415600" y="593366"/>
            <a:ext cx="11360801" cy="763601"/>
          </a:xfrm>
          <a:prstGeom prst="rect">
            <a:avLst/>
          </a:prstGeom>
        </p:spPr>
        <p:txBody>
          <a:bodyPr lIns="91424" tIns="91424" rIns="91424" bIns="91424" anchor="t"/>
          <a:lstStyle/>
          <a:p>
            <a:r>
              <a:t>Title Text</a:t>
            </a:r>
          </a:p>
        </p:txBody>
      </p:sp>
      <p:sp>
        <p:nvSpPr>
          <p:cNvPr id="116" name="Body Level One…"/>
          <p:cNvSpPr txBox="1">
            <a:spLocks noGrp="1"/>
          </p:cNvSpPr>
          <p:nvPr>
            <p:ph type="body" idx="1"/>
          </p:nvPr>
        </p:nvSpPr>
        <p:spPr>
          <a:xfrm>
            <a:off x="415600" y="1536633"/>
            <a:ext cx="11360801" cy="4555200"/>
          </a:xfrm>
          <a:prstGeom prst="rect">
            <a:avLst/>
          </a:prstGeom>
        </p:spPr>
        <p:txBody>
          <a:bodyPr lIns="91424" tIns="91424" rIns="91424" bIns="91424"/>
          <a:lstStyle>
            <a:lvl1pPr marL="609584" indent="-457189">
              <a:spcBef>
                <a:spcPts val="0"/>
              </a:spcBef>
              <a:buSzPts val="2800"/>
              <a:buChar char="●"/>
            </a:lvl1pPr>
            <a:lvl2pPr marL="1289723" indent="-493876">
              <a:spcBef>
                <a:spcPts val="0"/>
              </a:spcBef>
              <a:buSzPts val="2800"/>
              <a:buChar char="○"/>
            </a:lvl2pPr>
            <a:lvl3pPr marL="1998083" indent="-592652">
              <a:spcBef>
                <a:spcPts val="0"/>
              </a:spcBef>
              <a:buSzPts val="2800"/>
              <a:buChar char="■"/>
            </a:lvl3pPr>
            <a:lvl4pPr marL="2673518" indent="-658502">
              <a:spcBef>
                <a:spcPts val="0"/>
              </a:spcBef>
              <a:buSzPts val="2800"/>
              <a:buChar char="●"/>
            </a:lvl4pPr>
            <a:lvl5pPr marL="3283103" indent="-658502">
              <a:spcBef>
                <a:spcPts val="0"/>
              </a:spcBef>
              <a:buSzPts val="2800"/>
              <a:buChar char="○"/>
            </a:lvl5pP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xfrm>
            <a:off x="11678177" y="6310165"/>
            <a:ext cx="350035" cy="339716"/>
          </a:xfrm>
          <a:prstGeom prst="rect">
            <a:avLst/>
          </a:prstGeom>
        </p:spPr>
        <p:txBody>
          <a:bodyPr lIns="91424" tIns="91424" rIns="91424" bIns="91424">
            <a:normAutofit/>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6.xml"/><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customXml" Target="../ink/ink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6.xml"/><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hyperlink" Target="http://www.inbody.in"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C66771-6CF3-422E-8E8C-124F87168F17}"/>
              </a:ext>
            </a:extLst>
          </p:cNvPr>
          <p:cNvSpPr/>
          <p:nvPr/>
        </p:nvSpPr>
        <p:spPr>
          <a:xfrm>
            <a:off x="1240829" y="2320507"/>
            <a:ext cx="7167879" cy="1446550"/>
          </a:xfrm>
          <a:prstGeom prst="rect">
            <a:avLst/>
          </a:prstGeom>
        </p:spPr>
        <p:txBody>
          <a:bodyPr wrap="square">
            <a:spAutoFit/>
          </a:bodyPr>
          <a:lstStyle/>
          <a:p>
            <a:r>
              <a:rPr lang="en-US" sz="4400" b="1" dirty="0">
                <a:solidFill>
                  <a:srgbClr val="C00000"/>
                </a:solidFill>
                <a:latin typeface="Times New Roman" panose="02020603050405020304" pitchFamily="18" charset="0"/>
                <a:cs typeface="Times New Roman" panose="02020603050405020304" pitchFamily="18" charset="0"/>
              </a:rPr>
              <a:t>Applications of InBody in Bariatric Surgery</a:t>
            </a:r>
          </a:p>
        </p:txBody>
      </p:sp>
      <p:sp>
        <p:nvSpPr>
          <p:cNvPr id="3" name="Rectangle 2">
            <a:extLst>
              <a:ext uri="{FF2B5EF4-FFF2-40B4-BE49-F238E27FC236}">
                <a16:creationId xmlns:a16="http://schemas.microsoft.com/office/drawing/2014/main" id="{D69364AF-6BE7-4012-9CD5-6E3B117547A0}"/>
              </a:ext>
            </a:extLst>
          </p:cNvPr>
          <p:cNvSpPr/>
          <p:nvPr/>
        </p:nvSpPr>
        <p:spPr>
          <a:xfrm>
            <a:off x="1379456" y="4673587"/>
            <a:ext cx="6096000" cy="923330"/>
          </a:xfrm>
          <a:prstGeom prst="rect">
            <a:avLst/>
          </a:prstGeom>
        </p:spPr>
        <p:txBody>
          <a:bodyPr>
            <a:spAutoFit/>
          </a:bodyPr>
          <a:lstStyle/>
          <a:p>
            <a:r>
              <a:rPr lang="en-US" dirty="0">
                <a:solidFill>
                  <a:schemeClr val="tx1"/>
                </a:solidFill>
                <a:latin typeface="Times New Roman" panose="02020603050405020304" pitchFamily="18" charset="0"/>
                <a:cs typeface="Times New Roman" panose="02020603050405020304" pitchFamily="18" charset="0"/>
              </a:rPr>
              <a:t>Ms. Sakshi Mhatre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Clinical Dietitian </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InBody India </a:t>
            </a:r>
          </a:p>
        </p:txBody>
      </p:sp>
      <p:pic>
        <p:nvPicPr>
          <p:cNvPr id="1026" name="Picture 2" descr="InBody | Clem&amp;Thyme Nutrition">
            <a:extLst>
              <a:ext uri="{FF2B5EF4-FFF2-40B4-BE49-F238E27FC236}">
                <a16:creationId xmlns:a16="http://schemas.microsoft.com/office/drawing/2014/main" id="{8AD722B9-DC7E-43A0-BAB1-B5E6D5C16F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7930" y="1244338"/>
            <a:ext cx="2707476" cy="54426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1"/>
          <p:cNvSpPr txBox="1"/>
          <p:nvPr/>
        </p:nvSpPr>
        <p:spPr>
          <a:xfrm>
            <a:off x="2567087" y="2711088"/>
            <a:ext cx="7196511" cy="8224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4400" b="1" spc="-18">
                <a:solidFill>
                  <a:srgbClr val="9B1B2F"/>
                </a:solidFill>
                <a:latin typeface="Graphik"/>
                <a:ea typeface="Graphik"/>
                <a:cs typeface="Graphik"/>
                <a:sym typeface="Graphik"/>
              </a:defRPr>
            </a:lvl1pPr>
          </a:lstStyle>
          <a:p>
            <a:r>
              <a:t>What is Bariatric Surgery?</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p:cNvSpPr/>
          <p:nvPr/>
        </p:nvSpPr>
        <p:spPr>
          <a:xfrm>
            <a:off x="288388" y="1969299"/>
            <a:ext cx="11913806" cy="595140"/>
          </a:xfrm>
          <a:prstGeom prst="rect">
            <a:avLst/>
          </a:prstGeom>
          <a:solidFill>
            <a:srgbClr val="9B1B2F"/>
          </a:solidFill>
          <a:ln w="12700">
            <a:miter lim="400000"/>
          </a:ln>
        </p:spPr>
        <p:txBody>
          <a:bodyPr lIns="45719" rIns="45719" anchor="ctr"/>
          <a:lstStyle/>
          <a:p>
            <a:endParaRPr/>
          </a:p>
        </p:txBody>
      </p:sp>
      <p:sp>
        <p:nvSpPr>
          <p:cNvPr id="134" name="Line"/>
          <p:cNvSpPr/>
          <p:nvPr/>
        </p:nvSpPr>
        <p:spPr>
          <a:xfrm>
            <a:off x="282070" y="371655"/>
            <a:ext cx="10700420" cy="1"/>
          </a:xfrm>
          <a:prstGeom prst="line">
            <a:avLst/>
          </a:prstGeom>
          <a:ln w="25400">
            <a:solidFill>
              <a:srgbClr val="9C2639"/>
            </a:solidFill>
            <a:miter lim="400000"/>
          </a:ln>
        </p:spPr>
        <p:txBody>
          <a:bodyPr lIns="45718" tIns="45718" rIns="45718" bIns="45718"/>
          <a:lstStyle/>
          <a:p>
            <a:pPr defTabSz="2438337">
              <a:lnSpc>
                <a:spcPct val="90000"/>
              </a:lnSpc>
              <a:spcBef>
                <a:spcPts val="2400"/>
              </a:spcBef>
              <a:defRPr sz="4400">
                <a:latin typeface="Canela Bold"/>
                <a:ea typeface="Canela Bold"/>
                <a:cs typeface="Canela Bold"/>
                <a:sym typeface="Canela Bold"/>
              </a:defRPr>
            </a:pPr>
            <a:endParaRPr/>
          </a:p>
        </p:txBody>
      </p:sp>
      <p:pic>
        <p:nvPicPr>
          <p:cNvPr id="135" name="Image" descr="Image"/>
          <p:cNvPicPr>
            <a:picLocks noChangeAspect="1"/>
          </p:cNvPicPr>
          <p:nvPr/>
        </p:nvPicPr>
        <p:blipFill>
          <a:blip r:embed="rId2"/>
          <a:stretch>
            <a:fillRect/>
          </a:stretch>
        </p:blipFill>
        <p:spPr>
          <a:xfrm>
            <a:off x="11059547" y="229440"/>
            <a:ext cx="999145" cy="284432"/>
          </a:xfrm>
          <a:prstGeom prst="rect">
            <a:avLst/>
          </a:prstGeom>
          <a:ln w="12700">
            <a:miter lim="400000"/>
          </a:ln>
        </p:spPr>
      </p:pic>
      <p:pic>
        <p:nvPicPr>
          <p:cNvPr id="136" name="Image" descr="Image"/>
          <p:cNvPicPr>
            <a:picLocks noChangeAspect="1"/>
          </p:cNvPicPr>
          <p:nvPr/>
        </p:nvPicPr>
        <p:blipFill>
          <a:blip r:embed="rId3"/>
          <a:stretch>
            <a:fillRect/>
          </a:stretch>
        </p:blipFill>
        <p:spPr>
          <a:xfrm>
            <a:off x="271993" y="6473970"/>
            <a:ext cx="1619002" cy="206180"/>
          </a:xfrm>
          <a:prstGeom prst="rect">
            <a:avLst/>
          </a:prstGeom>
          <a:ln w="12700">
            <a:miter lim="400000"/>
          </a:ln>
        </p:spPr>
      </p:pic>
      <p:sp>
        <p:nvSpPr>
          <p:cNvPr id="137" name="Line"/>
          <p:cNvSpPr/>
          <p:nvPr/>
        </p:nvSpPr>
        <p:spPr>
          <a:xfrm flipV="1">
            <a:off x="287462" y="368578"/>
            <a:ext cx="1" cy="6065647"/>
          </a:xfrm>
          <a:prstGeom prst="line">
            <a:avLst/>
          </a:prstGeom>
          <a:ln w="25400">
            <a:solidFill>
              <a:srgbClr val="9B1B2F"/>
            </a:solidFill>
            <a:miter lim="400000"/>
          </a:ln>
        </p:spPr>
        <p:txBody>
          <a:bodyPr lIns="50800" tIns="50800" rIns="50800" bIns="50800" anchor="ctr"/>
          <a:lstStyle/>
          <a:p>
            <a:pPr defTabSz="355600">
              <a:spcBef>
                <a:spcPts val="4700"/>
              </a:spcBef>
              <a:defRPr sz="4000">
                <a:solidFill>
                  <a:srgbClr val="53585F"/>
                </a:solidFill>
                <a:latin typeface="Graphik Light"/>
                <a:ea typeface="Graphik Light"/>
                <a:cs typeface="Graphik Light"/>
                <a:sym typeface="Graphik Light"/>
              </a:defRPr>
            </a:pPr>
            <a:endParaRPr/>
          </a:p>
        </p:txBody>
      </p:sp>
      <p:sp>
        <p:nvSpPr>
          <p:cNvPr id="138" name="INTRODUCTION"/>
          <p:cNvSpPr txBox="1"/>
          <p:nvPr/>
        </p:nvSpPr>
        <p:spPr>
          <a:xfrm>
            <a:off x="4043553" y="1079299"/>
            <a:ext cx="41048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just" defTabSz="2438400">
              <a:lnSpc>
                <a:spcPct val="90000"/>
              </a:lnSpc>
              <a:defRPr sz="4000" spc="-39">
                <a:solidFill>
                  <a:srgbClr val="9A1B30"/>
                </a:solidFill>
                <a:latin typeface="Argentum Sans Bold"/>
                <a:ea typeface="Argentum Sans Bold"/>
                <a:cs typeface="Argentum Sans Bold"/>
                <a:sym typeface="Argentum Sans Bold"/>
              </a:defRPr>
            </a:lvl1pPr>
          </a:lstStyle>
          <a:p>
            <a:r>
              <a:t>INTRODUCTION</a:t>
            </a:r>
          </a:p>
        </p:txBody>
      </p:sp>
      <p:sp>
        <p:nvSpPr>
          <p:cNvPr id="139" name="Bariatric = Baros: heaviness/Large/ Pressure/"/>
          <p:cNvSpPr txBox="1"/>
          <p:nvPr/>
        </p:nvSpPr>
        <p:spPr>
          <a:xfrm>
            <a:off x="2401432" y="1994263"/>
            <a:ext cx="7687718" cy="545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700" b="1">
                <a:solidFill>
                  <a:srgbClr val="FFFFFF"/>
                </a:solidFill>
                <a:latin typeface="Graphik"/>
                <a:ea typeface="Graphik"/>
                <a:cs typeface="Graphik"/>
                <a:sym typeface="Graphik"/>
              </a:defRPr>
            </a:lvl1pPr>
          </a:lstStyle>
          <a:p>
            <a:r>
              <a:t>Bariatric = Baros: heaviness/Large/ Pressure/</a:t>
            </a:r>
          </a:p>
        </p:txBody>
      </p:sp>
      <p:sp>
        <p:nvSpPr>
          <p:cNvPr id="140" name="It is the field of medicine encompassing the study of Obesity, Its causes, Prevention &amp; treatment"/>
          <p:cNvSpPr txBox="1"/>
          <p:nvPr/>
        </p:nvSpPr>
        <p:spPr>
          <a:xfrm>
            <a:off x="1400730" y="2886810"/>
            <a:ext cx="9581760" cy="9518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500">
                <a:solidFill>
                  <a:schemeClr val="accent3">
                    <a:lumOff val="-12941"/>
                  </a:schemeClr>
                </a:solidFill>
                <a:latin typeface="Graphik"/>
                <a:ea typeface="Graphik"/>
                <a:cs typeface="Graphik"/>
                <a:sym typeface="Graphik"/>
              </a:defRPr>
            </a:lvl1pPr>
          </a:lstStyle>
          <a:p>
            <a:r>
              <a:rPr dirty="0"/>
              <a:t>It is the field of medicine encompassing the study of Obesity, Its causes, Prevention &amp; treatment</a:t>
            </a:r>
          </a:p>
        </p:txBody>
      </p:sp>
      <p:sp>
        <p:nvSpPr>
          <p:cNvPr id="141" name="Bariatric Surgery:…"/>
          <p:cNvSpPr txBox="1"/>
          <p:nvPr/>
        </p:nvSpPr>
        <p:spPr>
          <a:xfrm>
            <a:off x="1711228" y="3974440"/>
            <a:ext cx="8960764" cy="24006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500" b="1">
                <a:solidFill>
                  <a:srgbClr val="535353"/>
                </a:solidFill>
                <a:latin typeface="Graphik"/>
                <a:ea typeface="Graphik"/>
                <a:cs typeface="Graphik"/>
                <a:sym typeface="Graphik"/>
              </a:defRPr>
            </a:pPr>
            <a:r>
              <a:rPr dirty="0"/>
              <a:t>Bariatric Surgery:</a:t>
            </a:r>
          </a:p>
          <a:p>
            <a:pPr algn="ctr">
              <a:defRPr sz="2500">
                <a:solidFill>
                  <a:schemeClr val="accent3">
                    <a:lumOff val="-12941"/>
                  </a:schemeClr>
                </a:solidFill>
                <a:latin typeface="Graphik"/>
                <a:ea typeface="Graphik"/>
                <a:cs typeface="Graphik"/>
                <a:sym typeface="Graphik"/>
              </a:defRPr>
            </a:pPr>
            <a:r>
              <a:rPr dirty="0"/>
              <a:t>A therapeutic Intervention to understand and treated the causes and sequel of morbid obesity</a:t>
            </a:r>
            <a:endParaRPr lang="en-US" dirty="0"/>
          </a:p>
          <a:p>
            <a:pPr algn="ctr">
              <a:defRPr sz="2500">
                <a:solidFill>
                  <a:schemeClr val="accent3">
                    <a:lumOff val="-12941"/>
                  </a:schemeClr>
                </a:solidFill>
                <a:latin typeface="Graphik"/>
                <a:ea typeface="Graphik"/>
                <a:cs typeface="Graphik"/>
                <a:sym typeface="Graphik"/>
              </a:defRPr>
            </a:pPr>
            <a:r>
              <a:rPr lang="en-US" b="1" dirty="0"/>
              <a:t>Bariatric surgery involves reducing the size or capacity of the stomach by a series of surgical procedure for weight loss purposes.</a:t>
            </a:r>
          </a:p>
          <a:p>
            <a:pPr algn="ctr">
              <a:defRPr sz="2500">
                <a:solidFill>
                  <a:schemeClr val="accent3">
                    <a:lumOff val="-12941"/>
                  </a:schemeClr>
                </a:solidFill>
                <a:latin typeface="Graphik"/>
                <a:ea typeface="Graphik"/>
                <a:cs typeface="Graphik"/>
                <a:sym typeface="Graphik"/>
              </a:defRPr>
            </a:pP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Group"/>
          <p:cNvGrpSpPr/>
          <p:nvPr/>
        </p:nvGrpSpPr>
        <p:grpSpPr>
          <a:xfrm>
            <a:off x="271993" y="229440"/>
            <a:ext cx="11786699" cy="6450710"/>
            <a:chOff x="0" y="0"/>
            <a:chExt cx="11786697" cy="6450708"/>
          </a:xfrm>
        </p:grpSpPr>
        <p:sp>
          <p:nvSpPr>
            <p:cNvPr id="143" name="Line"/>
            <p:cNvSpPr/>
            <p:nvPr/>
          </p:nvSpPr>
          <p:spPr>
            <a:xfrm>
              <a:off x="10077" y="142215"/>
              <a:ext cx="10700419" cy="1"/>
            </a:xfrm>
            <a:prstGeom prst="line">
              <a:avLst/>
            </a:prstGeom>
            <a:noFill/>
            <a:ln w="25400" cap="flat">
              <a:solidFill>
                <a:srgbClr val="9C2639"/>
              </a:solidFill>
              <a:prstDash val="solid"/>
              <a:miter lim="400000"/>
            </a:ln>
            <a:effectLst/>
          </p:spPr>
          <p:txBody>
            <a:bodyPr wrap="square" lIns="45718" tIns="45718" rIns="45718" bIns="45718" numCol="1" anchor="t">
              <a:noAutofit/>
            </a:bodyPr>
            <a:lstStyle/>
            <a:p>
              <a:pPr defTabSz="2438337">
                <a:lnSpc>
                  <a:spcPct val="90000"/>
                </a:lnSpc>
                <a:spcBef>
                  <a:spcPts val="2400"/>
                </a:spcBef>
                <a:defRPr sz="4400">
                  <a:latin typeface="Canela Bold"/>
                  <a:ea typeface="Canela Bold"/>
                  <a:cs typeface="Canela Bold"/>
                  <a:sym typeface="Canela Bold"/>
                </a:defRPr>
              </a:pPr>
              <a:endParaRPr/>
            </a:p>
          </p:txBody>
        </p:sp>
        <p:pic>
          <p:nvPicPr>
            <p:cNvPr id="144" name="Image" descr="Image"/>
            <p:cNvPicPr>
              <a:picLocks noChangeAspect="1"/>
            </p:cNvPicPr>
            <p:nvPr/>
          </p:nvPicPr>
          <p:blipFill>
            <a:blip r:embed="rId2"/>
            <a:stretch>
              <a:fillRect/>
            </a:stretch>
          </p:blipFill>
          <p:spPr>
            <a:xfrm>
              <a:off x="10787553" y="0"/>
              <a:ext cx="999145" cy="284431"/>
            </a:xfrm>
            <a:prstGeom prst="rect">
              <a:avLst/>
            </a:prstGeom>
            <a:ln w="12700" cap="flat">
              <a:noFill/>
              <a:miter lim="400000"/>
            </a:ln>
            <a:effectLst/>
          </p:spPr>
        </p:pic>
        <p:pic>
          <p:nvPicPr>
            <p:cNvPr id="145" name="Image" descr="Image"/>
            <p:cNvPicPr>
              <a:picLocks noChangeAspect="1"/>
            </p:cNvPicPr>
            <p:nvPr/>
          </p:nvPicPr>
          <p:blipFill>
            <a:blip r:embed="rId3"/>
            <a:stretch>
              <a:fillRect/>
            </a:stretch>
          </p:blipFill>
          <p:spPr>
            <a:xfrm>
              <a:off x="0" y="6244530"/>
              <a:ext cx="1619001" cy="206179"/>
            </a:xfrm>
            <a:prstGeom prst="rect">
              <a:avLst/>
            </a:prstGeom>
            <a:ln w="12700" cap="flat">
              <a:noFill/>
              <a:miter lim="400000"/>
            </a:ln>
            <a:effectLst/>
          </p:spPr>
        </p:pic>
        <p:sp>
          <p:nvSpPr>
            <p:cNvPr id="146" name="Line"/>
            <p:cNvSpPr/>
            <p:nvPr/>
          </p:nvSpPr>
          <p:spPr>
            <a:xfrm flipV="1">
              <a:off x="15468" y="139137"/>
              <a:ext cx="1" cy="6065648"/>
            </a:xfrm>
            <a:prstGeom prst="line">
              <a:avLst/>
            </a:prstGeom>
            <a:noFill/>
            <a:ln w="25400" cap="flat">
              <a:solidFill>
                <a:srgbClr val="9B1B2F"/>
              </a:solidFill>
              <a:prstDash val="solid"/>
              <a:miter lim="400000"/>
            </a:ln>
            <a:effectLst/>
          </p:spPr>
          <p:txBody>
            <a:bodyPr wrap="square" lIns="50800" tIns="50800" rIns="50800" bIns="50800" numCol="1" anchor="ctr">
              <a:noAutofit/>
            </a:bodyPr>
            <a:lstStyle/>
            <a:p>
              <a:pPr defTabSz="355600">
                <a:spcBef>
                  <a:spcPts val="4700"/>
                </a:spcBef>
                <a:defRPr sz="4000">
                  <a:solidFill>
                    <a:srgbClr val="53585F"/>
                  </a:solidFill>
                  <a:latin typeface="Graphik Light"/>
                  <a:ea typeface="Graphik Light"/>
                  <a:cs typeface="Graphik Light"/>
                  <a:sym typeface="Graphik Light"/>
                </a:defRPr>
              </a:pPr>
              <a:endParaRPr/>
            </a:p>
          </p:txBody>
        </p:sp>
      </p:grpSp>
      <p:grpSp>
        <p:nvGrpSpPr>
          <p:cNvPr id="154" name="Group"/>
          <p:cNvGrpSpPr/>
          <p:nvPr/>
        </p:nvGrpSpPr>
        <p:grpSpPr>
          <a:xfrm>
            <a:off x="2560757" y="2831112"/>
            <a:ext cx="7209170" cy="2395073"/>
            <a:chOff x="0" y="0"/>
            <a:chExt cx="7209168" cy="2395071"/>
          </a:xfrm>
        </p:grpSpPr>
        <p:sp>
          <p:nvSpPr>
            <p:cNvPr id="148" name="Defined as a person’s weight in kilograms divided by the square of his height in meters (kg/m2)."/>
            <p:cNvSpPr txBox="1"/>
            <p:nvPr/>
          </p:nvSpPr>
          <p:spPr>
            <a:xfrm>
              <a:off x="3871959" y="48839"/>
              <a:ext cx="3307279" cy="77546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a:latin typeface="Graphik"/>
                  <a:ea typeface="Graphik"/>
                  <a:cs typeface="Graphik"/>
                  <a:sym typeface="Graphik"/>
                </a:defRPr>
              </a:lvl1pPr>
            </a:lstStyle>
            <a:p>
              <a:r>
                <a:t>Defined as a person’s weight in kilograms divided by the square of his height in meters (kg/m2).</a:t>
              </a:r>
            </a:p>
          </p:txBody>
        </p:sp>
        <p:grpSp>
          <p:nvGrpSpPr>
            <p:cNvPr id="151" name="Group"/>
            <p:cNvGrpSpPr/>
            <p:nvPr/>
          </p:nvGrpSpPr>
          <p:grpSpPr>
            <a:xfrm>
              <a:off x="0" y="-1"/>
              <a:ext cx="3307278" cy="2395073"/>
              <a:chOff x="0" y="0"/>
              <a:chExt cx="3307277" cy="2395071"/>
            </a:xfrm>
          </p:grpSpPr>
          <p:sp>
            <p:nvSpPr>
              <p:cNvPr id="149" name="Rectangle"/>
              <p:cNvSpPr/>
              <p:nvPr/>
            </p:nvSpPr>
            <p:spPr>
              <a:xfrm>
                <a:off x="-1" y="50971"/>
                <a:ext cx="3307279" cy="2344101"/>
              </a:xfrm>
              <a:prstGeom prst="rect">
                <a:avLst/>
              </a:prstGeom>
              <a:solidFill>
                <a:srgbClr val="FFFFFF"/>
              </a:solidFill>
              <a:ln w="12700" cap="flat">
                <a:noFill/>
                <a:miter lim="400000"/>
              </a:ln>
              <a:effectLst>
                <a:outerShdw blurRad="292100" dist="139700" dir="2700000" rotWithShape="0">
                  <a:srgbClr val="000000">
                    <a:alpha val="5031"/>
                  </a:srgbClr>
                </a:outerShdw>
              </a:effectLst>
            </p:spPr>
            <p:txBody>
              <a:bodyPr wrap="square" lIns="45719" tIns="45719" rIns="45719" bIns="45719" numCol="1" anchor="ctr">
                <a:noAutofit/>
              </a:bodyPr>
              <a:lstStyle/>
              <a:p>
                <a:endParaRPr/>
              </a:p>
            </p:txBody>
          </p:sp>
          <p:sp>
            <p:nvSpPr>
              <p:cNvPr id="150" name="Rectangle"/>
              <p:cNvSpPr/>
              <p:nvPr/>
            </p:nvSpPr>
            <p:spPr>
              <a:xfrm>
                <a:off x="-1" y="-1"/>
                <a:ext cx="3307279" cy="28343"/>
              </a:xfrm>
              <a:prstGeom prst="rect">
                <a:avLst/>
              </a:prstGeom>
              <a:solidFill>
                <a:srgbClr val="9B1B2F"/>
              </a:solidFill>
              <a:ln w="12700" cap="flat">
                <a:noFill/>
                <a:miter lim="400000"/>
              </a:ln>
              <a:effectLst/>
            </p:spPr>
            <p:txBody>
              <a:bodyPr wrap="square" lIns="45719" tIns="45719" rIns="45719" bIns="45719" numCol="1" anchor="ctr">
                <a:noAutofit/>
              </a:bodyPr>
              <a:lstStyle/>
              <a:p>
                <a:endParaRPr/>
              </a:p>
            </p:txBody>
          </p:sp>
        </p:grpSp>
        <p:sp>
          <p:nvSpPr>
            <p:cNvPr id="152" name="Body Mass Index…"/>
            <p:cNvSpPr txBox="1"/>
            <p:nvPr/>
          </p:nvSpPr>
          <p:spPr>
            <a:xfrm>
              <a:off x="105913" y="119705"/>
              <a:ext cx="3095452" cy="200723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defRPr sz="2400" b="1">
                  <a:solidFill>
                    <a:srgbClr val="9B1B2F"/>
                  </a:solidFill>
                  <a:latin typeface="Graphik"/>
                  <a:ea typeface="Graphik"/>
                  <a:cs typeface="Graphik"/>
                  <a:sym typeface="Graphik"/>
                </a:defRPr>
              </a:pPr>
              <a:r>
                <a:t>Body Mass Index</a:t>
              </a:r>
            </a:p>
            <a:p>
              <a:pPr algn="ctr">
                <a:defRPr sz="1500">
                  <a:latin typeface="Graphik"/>
                  <a:ea typeface="Graphik"/>
                  <a:cs typeface="Graphik"/>
                  <a:sym typeface="Graphik"/>
                </a:defRPr>
              </a:pPr>
              <a:r>
                <a:t>(BMI)</a:t>
              </a:r>
            </a:p>
            <a:p>
              <a:pPr algn="ctr">
                <a:defRPr sz="1500">
                  <a:latin typeface="Graphik"/>
                  <a:ea typeface="Graphik"/>
                  <a:cs typeface="Graphik"/>
                  <a:sym typeface="Graphik"/>
                </a:defRPr>
              </a:pPr>
              <a:endParaRPr/>
            </a:p>
            <a:p>
              <a:pPr algn="ctr">
                <a:defRPr sz="1500">
                  <a:latin typeface="Graphik"/>
                  <a:ea typeface="Graphik"/>
                  <a:cs typeface="Graphik"/>
                  <a:sym typeface="Graphik"/>
                </a:defRPr>
              </a:pPr>
              <a:r>
                <a:t>is a simple index of weight-for-height that is commonly used to</a:t>
              </a:r>
            </a:p>
            <a:p>
              <a:pPr algn="ctr">
                <a:defRPr sz="1500">
                  <a:latin typeface="Graphik"/>
                  <a:ea typeface="Graphik"/>
                  <a:cs typeface="Graphik"/>
                  <a:sym typeface="Graphik"/>
                </a:defRPr>
              </a:pPr>
              <a:r>
                <a:t>classify overweight and obesity in adults.</a:t>
              </a:r>
            </a:p>
          </p:txBody>
        </p:sp>
        <p:pic>
          <p:nvPicPr>
            <p:cNvPr id="153" name="pasted-movie.png" descr="pasted-movie.png"/>
            <p:cNvPicPr>
              <a:picLocks noChangeAspect="1"/>
            </p:cNvPicPr>
            <p:nvPr/>
          </p:nvPicPr>
          <p:blipFill>
            <a:blip r:embed="rId4"/>
            <a:srcRect l="4503" t="37439" r="7734" b="32124"/>
            <a:stretch>
              <a:fillRect/>
            </a:stretch>
          </p:blipFill>
          <p:spPr>
            <a:xfrm>
              <a:off x="3902062" y="1572578"/>
              <a:ext cx="3307107" cy="645128"/>
            </a:xfrm>
            <a:prstGeom prst="rect">
              <a:avLst/>
            </a:prstGeom>
            <a:ln w="12700" cap="flat">
              <a:noFill/>
              <a:miter lim="400000"/>
            </a:ln>
            <a:effectLst/>
          </p:spPr>
        </p:pic>
      </p:grpSp>
      <p:pic>
        <p:nvPicPr>
          <p:cNvPr id="155" name="Website_Banner_Mobile_578X364_01-1-removebg-preview (1).png" descr="Website_Banner_Mobile_578X364_01-1-removebg-preview (1).png"/>
          <p:cNvPicPr>
            <a:picLocks noChangeAspect="1"/>
          </p:cNvPicPr>
          <p:nvPr/>
        </p:nvPicPr>
        <p:blipFill>
          <a:blip r:embed="rId5"/>
          <a:stretch>
            <a:fillRect/>
          </a:stretch>
        </p:blipFill>
        <p:spPr>
          <a:xfrm>
            <a:off x="2575397" y="1044330"/>
            <a:ext cx="3322905" cy="1783980"/>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Rectangle"/>
          <p:cNvSpPr/>
          <p:nvPr/>
        </p:nvSpPr>
        <p:spPr>
          <a:xfrm>
            <a:off x="288388" y="875233"/>
            <a:ext cx="11913806" cy="945592"/>
          </a:xfrm>
          <a:prstGeom prst="rect">
            <a:avLst/>
          </a:prstGeom>
          <a:solidFill>
            <a:srgbClr val="9B1B2F"/>
          </a:solidFill>
          <a:ln w="12700">
            <a:miter lim="400000"/>
          </a:ln>
        </p:spPr>
        <p:txBody>
          <a:bodyPr lIns="45719" rIns="45719" anchor="ctr"/>
          <a:lstStyle/>
          <a:p>
            <a:endParaRPr/>
          </a:p>
        </p:txBody>
      </p:sp>
      <p:sp>
        <p:nvSpPr>
          <p:cNvPr id="158" name="TextBox 4"/>
          <p:cNvSpPr txBox="1"/>
          <p:nvPr/>
        </p:nvSpPr>
        <p:spPr>
          <a:xfrm>
            <a:off x="2212658" y="910133"/>
            <a:ext cx="7766686" cy="8757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a:solidFill>
                  <a:srgbClr val="FFFFFF"/>
                </a:solidFill>
                <a:latin typeface="Graphik"/>
                <a:ea typeface="Graphik"/>
                <a:cs typeface="Graphik"/>
                <a:sym typeface="Graphik"/>
              </a:defRPr>
            </a:lvl1pPr>
          </a:lstStyle>
          <a:p>
            <a:r>
              <a:t>Bariatric surgery can help such cases of extreme obesity,  when immediate weight loss is required</a:t>
            </a:r>
          </a:p>
        </p:txBody>
      </p:sp>
      <p:sp>
        <p:nvSpPr>
          <p:cNvPr id="159" name="모서리가 둥근 직사각형 6"/>
          <p:cNvSpPr/>
          <p:nvPr/>
        </p:nvSpPr>
        <p:spPr>
          <a:xfrm>
            <a:off x="1619250" y="2738436"/>
            <a:ext cx="4114800" cy="3752851"/>
          </a:xfrm>
          <a:prstGeom prst="roundRect">
            <a:avLst>
              <a:gd name="adj" fmla="val 16667"/>
            </a:avLst>
          </a:prstGeom>
          <a:ln w="12700">
            <a:solidFill>
              <a:srgbClr val="C00000"/>
            </a:solidFill>
            <a:prstDash val="lgDash"/>
            <a:miter/>
          </a:ln>
        </p:spPr>
        <p:txBody>
          <a:bodyPr lIns="45719" rIns="45719" anchor="ctr"/>
          <a:lstStyle/>
          <a:p>
            <a:pPr algn="ctr">
              <a:defRPr>
                <a:solidFill>
                  <a:srgbClr val="FFFFFF"/>
                </a:solidFill>
              </a:defRPr>
            </a:pPr>
            <a:endParaRPr/>
          </a:p>
        </p:txBody>
      </p:sp>
      <p:sp>
        <p:nvSpPr>
          <p:cNvPr id="160" name="모서리가 둥근 직사각형 15"/>
          <p:cNvSpPr/>
          <p:nvPr/>
        </p:nvSpPr>
        <p:spPr>
          <a:xfrm>
            <a:off x="6448425" y="2738436"/>
            <a:ext cx="4114800" cy="3752851"/>
          </a:xfrm>
          <a:prstGeom prst="roundRect">
            <a:avLst>
              <a:gd name="adj" fmla="val 16667"/>
            </a:avLst>
          </a:prstGeom>
          <a:ln w="12700">
            <a:solidFill>
              <a:srgbClr val="C00000"/>
            </a:solidFill>
            <a:prstDash val="lgDash"/>
            <a:miter/>
          </a:ln>
        </p:spPr>
        <p:txBody>
          <a:bodyPr lIns="45719" rIns="45719" anchor="ctr"/>
          <a:lstStyle/>
          <a:p>
            <a:pPr algn="ctr">
              <a:defRPr>
                <a:solidFill>
                  <a:srgbClr val="FFFFFF"/>
                </a:solidFill>
              </a:defRPr>
            </a:pPr>
            <a:endParaRPr/>
          </a:p>
        </p:txBody>
      </p:sp>
      <p:sp>
        <p:nvSpPr>
          <p:cNvPr id="161" name="TextBox 7"/>
          <p:cNvSpPr txBox="1"/>
          <p:nvPr/>
        </p:nvSpPr>
        <p:spPr>
          <a:xfrm>
            <a:off x="2160270" y="2943443"/>
            <a:ext cx="3032761" cy="3401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000"/>
            </a:lvl1pPr>
          </a:lstStyle>
          <a:p>
            <a:r>
              <a:t>What is Bariatric Surgery?</a:t>
            </a:r>
          </a:p>
        </p:txBody>
      </p:sp>
      <p:sp>
        <p:nvSpPr>
          <p:cNvPr id="162" name="TextBox 16"/>
          <p:cNvSpPr txBox="1"/>
          <p:nvPr/>
        </p:nvSpPr>
        <p:spPr>
          <a:xfrm>
            <a:off x="1788794" y="3662174"/>
            <a:ext cx="2715921" cy="18641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000"/>
            </a:lvl1pPr>
          </a:lstStyle>
          <a:p>
            <a:r>
              <a:rPr dirty="0"/>
              <a:t>Bariatric surgery involves reducing the size or capacity of the stomach by a series of surgical procedure for weight loss purposes.</a:t>
            </a:r>
          </a:p>
        </p:txBody>
      </p:sp>
      <p:sp>
        <p:nvSpPr>
          <p:cNvPr id="163" name="TextBox 9"/>
          <p:cNvSpPr txBox="1"/>
          <p:nvPr/>
        </p:nvSpPr>
        <p:spPr>
          <a:xfrm>
            <a:off x="6989444" y="2943443"/>
            <a:ext cx="3032761" cy="6449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000"/>
            </a:pPr>
            <a:r>
              <a:t>Who is eligible for </a:t>
            </a:r>
          </a:p>
          <a:p>
            <a:pPr algn="ctr">
              <a:defRPr sz="2000"/>
            </a:pPr>
            <a:r>
              <a:t>Bariatric Surgery?</a:t>
            </a:r>
          </a:p>
        </p:txBody>
      </p:sp>
      <p:sp>
        <p:nvSpPr>
          <p:cNvPr id="164" name="TextBox 10"/>
          <p:cNvSpPr txBox="1"/>
          <p:nvPr/>
        </p:nvSpPr>
        <p:spPr>
          <a:xfrm>
            <a:off x="6868854" y="3856335"/>
            <a:ext cx="3648651" cy="2832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latin typeface="Graphik"/>
                <a:ea typeface="Graphik"/>
                <a:cs typeface="Graphik"/>
                <a:sym typeface="Graphik"/>
              </a:defRPr>
            </a:lvl1pPr>
          </a:lstStyle>
          <a:p>
            <a:r>
              <a:t>Morbidly obese people are the ones who opt for bariatric surgery. People with obesity and high diabetes also often opt for bariatric surgery. Bariatric surgery can help them shed some weight so that they can at least get moving and start exercising again.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
          <p:cNvSpPr txBox="1"/>
          <p:nvPr/>
        </p:nvSpPr>
        <p:spPr>
          <a:xfrm>
            <a:off x="229180" y="16078"/>
            <a:ext cx="3652927"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Bariatric Surgery in Latin America</a:t>
            </a:r>
          </a:p>
        </p:txBody>
      </p:sp>
      <p:pic>
        <p:nvPicPr>
          <p:cNvPr id="169" name="그림 2" descr="그림 2"/>
          <p:cNvPicPr>
            <a:picLocks noChangeAspect="1"/>
          </p:cNvPicPr>
          <p:nvPr/>
        </p:nvPicPr>
        <p:blipFill>
          <a:blip r:embed="rId2"/>
          <a:stretch>
            <a:fillRect/>
          </a:stretch>
        </p:blipFill>
        <p:spPr>
          <a:xfrm>
            <a:off x="1499389" y="2018515"/>
            <a:ext cx="4332280" cy="3164425"/>
          </a:xfrm>
          <a:prstGeom prst="rect">
            <a:avLst/>
          </a:prstGeom>
          <a:ln w="12700">
            <a:miter lim="400000"/>
          </a:ln>
          <a:effectLst>
            <a:outerShdw blurRad="355600" rotWithShape="0">
              <a:srgbClr val="000000">
                <a:alpha val="75000"/>
              </a:srgbClr>
            </a:outerShdw>
          </a:effectLst>
        </p:spPr>
      </p:pic>
      <p:sp>
        <p:nvSpPr>
          <p:cNvPr id="170" name="TextBox 3"/>
          <p:cNvSpPr txBox="1"/>
          <p:nvPr/>
        </p:nvSpPr>
        <p:spPr>
          <a:xfrm>
            <a:off x="6301837" y="2501837"/>
            <a:ext cx="4663931" cy="18169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300">
                <a:latin typeface="Graphik"/>
                <a:ea typeface="Graphik"/>
                <a:cs typeface="Graphik"/>
                <a:sym typeface="Graphik"/>
              </a:defRPr>
            </a:pPr>
            <a:endParaRPr/>
          </a:p>
          <a:p>
            <a:pPr marL="342890" indent="-342890">
              <a:buSzPct val="100000"/>
              <a:buAutoNum type="arabicPeriod"/>
              <a:defRPr sz="1300">
                <a:latin typeface="Graphik"/>
                <a:ea typeface="Graphik"/>
                <a:cs typeface="Graphik"/>
                <a:sym typeface="Graphik"/>
              </a:defRPr>
            </a:pPr>
            <a:r>
              <a:t>BMI ≥ 40, or more than 100 pounds overweight</a:t>
            </a:r>
          </a:p>
          <a:p>
            <a:pPr marL="342890" indent="-342890">
              <a:buSzPct val="100000"/>
              <a:buAutoNum type="arabicPeriod"/>
              <a:defRPr sz="1300">
                <a:latin typeface="Graphik"/>
                <a:ea typeface="Graphik"/>
                <a:cs typeface="Graphik"/>
                <a:sym typeface="Graphik"/>
              </a:defRPr>
            </a:pPr>
            <a:endParaRPr/>
          </a:p>
          <a:p>
            <a:pPr marL="342890" indent="-342890">
              <a:buSzPct val="100000"/>
              <a:buAutoNum type="arabicPeriod" startAt="2"/>
              <a:defRPr sz="1300">
                <a:latin typeface="Graphik"/>
                <a:ea typeface="Graphik"/>
                <a:cs typeface="Graphik"/>
                <a:sym typeface="Graphik"/>
              </a:defRPr>
            </a:pPr>
            <a:r>
              <a:t>BMI ≥ 35 and at least one or more obesity-related co-morbidities such as T2DM, Hypertension and so on</a:t>
            </a:r>
          </a:p>
          <a:p>
            <a:pPr marL="342890" indent="-342890">
              <a:buSzPct val="100000"/>
              <a:buAutoNum type="arabicPeriod" startAt="2"/>
              <a:defRPr sz="1300">
                <a:latin typeface="Graphik"/>
                <a:ea typeface="Graphik"/>
                <a:cs typeface="Graphik"/>
                <a:sym typeface="Graphik"/>
              </a:defRPr>
            </a:pPr>
            <a:endParaRPr/>
          </a:p>
          <a:p>
            <a:pPr marL="342890" indent="-342890">
              <a:buSzPct val="100000"/>
              <a:buAutoNum type="arabicPeriod" startAt="3"/>
              <a:defRPr sz="1300">
                <a:latin typeface="Graphik"/>
                <a:ea typeface="Graphik"/>
                <a:cs typeface="Graphik"/>
                <a:sym typeface="Graphik"/>
              </a:defRPr>
            </a:pPr>
            <a:r>
              <a:t>Inability to achieve a healthy weight loss sustained for a period of time with prior weight loss efforts.</a:t>
            </a:r>
          </a:p>
        </p:txBody>
      </p:sp>
      <p:sp>
        <p:nvSpPr>
          <p:cNvPr id="171" name="TextBox 4"/>
          <p:cNvSpPr txBox="1"/>
          <p:nvPr/>
        </p:nvSpPr>
        <p:spPr>
          <a:xfrm>
            <a:off x="2415565" y="5510201"/>
            <a:ext cx="7499555" cy="52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a:solidFill>
                  <a:srgbClr val="C00000"/>
                </a:solidFill>
                <a:latin typeface="Graphik"/>
                <a:ea typeface="Graphik"/>
                <a:cs typeface="Graphik"/>
                <a:sym typeface="Graphik"/>
              </a:defRPr>
            </a:lvl1pPr>
          </a:lstStyle>
          <a:p>
            <a:r>
              <a:t>※ Since the effort for weight loss should be accompanied after surgery, the patients of Bariatric surgery should have understanding of surgery process and willingness to lose his/her weight. </a:t>
            </a:r>
          </a:p>
        </p:txBody>
      </p:sp>
      <p:sp>
        <p:nvSpPr>
          <p:cNvPr id="172" name="TextBox 5"/>
          <p:cNvSpPr txBox="1"/>
          <p:nvPr/>
        </p:nvSpPr>
        <p:spPr>
          <a:xfrm>
            <a:off x="6559433" y="4503332"/>
            <a:ext cx="3723816" cy="205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900" i="1"/>
            </a:lvl1pPr>
          </a:lstStyle>
          <a:p>
            <a:r>
              <a:t>From ASMBS (American society for Metabolic and Bariatric surgery)</a:t>
            </a:r>
          </a:p>
        </p:txBody>
      </p:sp>
      <p:sp>
        <p:nvSpPr>
          <p:cNvPr id="173" name="TextBox 6"/>
          <p:cNvSpPr txBox="1"/>
          <p:nvPr/>
        </p:nvSpPr>
        <p:spPr>
          <a:xfrm>
            <a:off x="1455684" y="1133468"/>
            <a:ext cx="6634226" cy="5577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800" b="1">
                <a:latin typeface="Graphik"/>
                <a:ea typeface="Graphik"/>
                <a:cs typeface="Graphik"/>
                <a:sym typeface="Graphik"/>
              </a:defRPr>
            </a:lvl1pPr>
          </a:lstStyle>
          <a:p>
            <a:r>
              <a:t>Patients eligible for Bariatric Surgery</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Box 1"/>
          <p:cNvSpPr txBox="1"/>
          <p:nvPr/>
        </p:nvSpPr>
        <p:spPr>
          <a:xfrm>
            <a:off x="245524" y="-17493"/>
            <a:ext cx="2827224"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Types of Bariatric Surgery</a:t>
            </a:r>
          </a:p>
        </p:txBody>
      </p:sp>
      <p:pic>
        <p:nvPicPr>
          <p:cNvPr id="176" name="Picture 2" descr="Picture 2"/>
          <p:cNvPicPr>
            <a:picLocks noChangeAspect="1"/>
          </p:cNvPicPr>
          <p:nvPr/>
        </p:nvPicPr>
        <p:blipFill>
          <a:blip r:embed="rId2"/>
          <a:srcRect t="16232"/>
          <a:stretch>
            <a:fillRect/>
          </a:stretch>
        </p:blipFill>
        <p:spPr>
          <a:xfrm>
            <a:off x="4533482" y="707365"/>
            <a:ext cx="5960552" cy="5949173"/>
          </a:xfrm>
          <a:prstGeom prst="rect">
            <a:avLst/>
          </a:prstGeom>
          <a:ln w="12700">
            <a:miter lim="400000"/>
          </a:ln>
        </p:spPr>
      </p:pic>
      <p:sp>
        <p:nvSpPr>
          <p:cNvPr id="177" name="TextBox 2"/>
          <p:cNvSpPr txBox="1"/>
          <p:nvPr/>
        </p:nvSpPr>
        <p:spPr>
          <a:xfrm>
            <a:off x="686804" y="858093"/>
            <a:ext cx="3297102" cy="7607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4 Most Common Bariatric Surgeries</a:t>
            </a:r>
          </a:p>
        </p:txBody>
      </p:sp>
      <p:sp>
        <p:nvSpPr>
          <p:cNvPr id="178" name="TextBox 3"/>
          <p:cNvSpPr txBox="1"/>
          <p:nvPr/>
        </p:nvSpPr>
        <p:spPr>
          <a:xfrm>
            <a:off x="686804" y="2055505"/>
            <a:ext cx="3971127" cy="2669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buSzPct val="100000"/>
              <a:buAutoNum type="arabicPeriod"/>
            </a:pPr>
            <a:r>
              <a:t>Adjustable Gastric Band (LAP BAND)</a:t>
            </a:r>
          </a:p>
          <a:p>
            <a:pPr marL="342900" indent="-342900">
              <a:buSzPct val="100000"/>
              <a:buAutoNum type="arabicPeriod"/>
            </a:pPr>
            <a:endParaRPr/>
          </a:p>
          <a:p>
            <a:pPr marL="342900" indent="-342900">
              <a:buSzPct val="100000"/>
              <a:buAutoNum type="arabicPeriod" startAt="2"/>
            </a:pPr>
            <a:r>
              <a:t>Gastric Sleeve Plication</a:t>
            </a:r>
          </a:p>
          <a:p>
            <a:pPr marL="342900" indent="-342900">
              <a:buSzPct val="100000"/>
              <a:buAutoNum type="arabicPeriod" startAt="2"/>
            </a:pPr>
            <a:endParaRPr/>
          </a:p>
          <a:p>
            <a:pPr marL="342900" indent="-342900">
              <a:buSzPct val="100000"/>
              <a:buAutoNum type="arabicPeriod" startAt="3"/>
            </a:pPr>
            <a:r>
              <a:t>Roux-En-Y Gastric Bypass</a:t>
            </a:r>
          </a:p>
          <a:p>
            <a:pPr marL="342900" indent="-342900">
              <a:buSzPct val="100000"/>
              <a:buAutoNum type="arabicPeriod" startAt="3"/>
            </a:pPr>
            <a:endParaRPr/>
          </a:p>
          <a:p>
            <a:pPr marL="342900" indent="-342900">
              <a:buSzPct val="100000"/>
              <a:buAutoNum type="arabicPeriod" startAt="4"/>
            </a:pPr>
            <a:r>
              <a:t>Vertical Sleeve Gastrectomy </a:t>
            </a:r>
          </a:p>
          <a:p>
            <a:r>
              <a:t>      (Gastric Sleeve)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 name="그룹 1"/>
          <p:cNvGrpSpPr/>
          <p:nvPr/>
        </p:nvGrpSpPr>
        <p:grpSpPr>
          <a:xfrm>
            <a:off x="1626660" y="2063338"/>
            <a:ext cx="8784978" cy="3054193"/>
            <a:chOff x="0" y="0"/>
            <a:chExt cx="8784975" cy="3054192"/>
          </a:xfrm>
        </p:grpSpPr>
        <p:sp>
          <p:nvSpPr>
            <p:cNvPr id="180" name="갈매기형 수장 2"/>
            <p:cNvSpPr/>
            <p:nvPr/>
          </p:nvSpPr>
          <p:spPr>
            <a:xfrm>
              <a:off x="2664296" y="1051069"/>
              <a:ext cx="360041" cy="562506"/>
            </a:xfrm>
            <a:prstGeom prst="chevron">
              <a:avLst>
                <a:gd name="adj" fmla="val 50000"/>
              </a:avLst>
            </a:prstGeom>
            <a:solidFill>
              <a:srgbClr val="8A1C22">
                <a:alpha val="50195"/>
              </a:srgbClr>
            </a:solidFill>
            <a:ln w="12700" cap="flat">
              <a:noFill/>
              <a:miter lim="400000"/>
            </a:ln>
            <a:effectLst/>
          </p:spPr>
          <p:txBody>
            <a:bodyPr wrap="square" lIns="45719" tIns="45719" rIns="45719" bIns="45719" numCol="1" anchor="ctr">
              <a:noAutofit/>
            </a:bodyPr>
            <a:lstStyle/>
            <a:p>
              <a:pPr algn="ctr">
                <a:defRPr>
                  <a:latin typeface="조선일보명조"/>
                  <a:ea typeface="조선일보명조"/>
                  <a:cs typeface="조선일보명조"/>
                  <a:sym typeface="조선일보명조"/>
                </a:defRPr>
              </a:pPr>
              <a:endParaRPr/>
            </a:p>
          </p:txBody>
        </p:sp>
        <p:sp>
          <p:nvSpPr>
            <p:cNvPr id="181" name="갈매기형 수장 3"/>
            <p:cNvSpPr/>
            <p:nvPr/>
          </p:nvSpPr>
          <p:spPr>
            <a:xfrm>
              <a:off x="5760640" y="1051069"/>
              <a:ext cx="360041" cy="562506"/>
            </a:xfrm>
            <a:prstGeom prst="chevron">
              <a:avLst>
                <a:gd name="adj" fmla="val 50000"/>
              </a:avLst>
            </a:prstGeom>
            <a:solidFill>
              <a:srgbClr val="8A1C22">
                <a:alpha val="50195"/>
              </a:srgbClr>
            </a:solidFill>
            <a:ln w="12700" cap="flat">
              <a:noFill/>
              <a:miter lim="400000"/>
            </a:ln>
            <a:effectLst/>
          </p:spPr>
          <p:txBody>
            <a:bodyPr wrap="square" lIns="45719" tIns="45719" rIns="45719" bIns="45719" numCol="1" anchor="ctr">
              <a:noAutofit/>
            </a:bodyPr>
            <a:lstStyle/>
            <a:p>
              <a:pPr algn="ctr">
                <a:defRPr>
                  <a:latin typeface="조선일보명조"/>
                  <a:ea typeface="조선일보명조"/>
                  <a:cs typeface="조선일보명조"/>
                  <a:sym typeface="조선일보명조"/>
                </a:defRPr>
              </a:pPr>
              <a:endParaRPr/>
            </a:p>
          </p:txBody>
        </p:sp>
        <p:sp>
          <p:nvSpPr>
            <p:cNvPr id="182" name="모서리가 둥근 직사각형 4"/>
            <p:cNvSpPr/>
            <p:nvPr/>
          </p:nvSpPr>
          <p:spPr>
            <a:xfrm>
              <a:off x="0" y="1"/>
              <a:ext cx="2513909" cy="3054192"/>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83" name="TextBox 5"/>
            <p:cNvSpPr txBox="1"/>
            <p:nvPr/>
          </p:nvSpPr>
          <p:spPr>
            <a:xfrm>
              <a:off x="78542" y="955212"/>
              <a:ext cx="2422464" cy="2085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High protein liquid diet</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Physical Exercise</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Mental consultant</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Taking a daily multivitamin &amp; mineral</a:t>
              </a:r>
            </a:p>
          </p:txBody>
        </p:sp>
        <p:sp>
          <p:nvSpPr>
            <p:cNvPr id="184" name="모서리가 둥근 직사각형 6"/>
            <p:cNvSpPr/>
            <p:nvPr/>
          </p:nvSpPr>
          <p:spPr>
            <a:xfrm>
              <a:off x="142714" y="160012"/>
              <a:ext cx="2312148" cy="766020"/>
            </a:xfrm>
            <a:prstGeom prst="roundRect">
              <a:avLst>
                <a:gd name="adj" fmla="val 50000"/>
              </a:avLst>
            </a:prstGeom>
            <a:solidFill>
              <a:srgbClr val="8A1C22"/>
            </a:solidFill>
            <a:ln w="12700" cap="flat">
              <a:noFill/>
              <a:miter lim="400000"/>
            </a:ln>
            <a:effectLst/>
          </p:spPr>
          <p:txBody>
            <a:bodyPr wrap="square" lIns="45719" tIns="45719" rIns="45719" bIns="45719" numCol="1" anchor="ctr">
              <a:noAutofit/>
            </a:bodyPr>
            <a:lstStyle/>
            <a:p>
              <a:pPr algn="ctr" defTabSz="1067747">
                <a:defRPr sz="2300">
                  <a:solidFill>
                    <a:srgbClr val="0049C0"/>
                  </a:solidFill>
                  <a:latin typeface="조선일보명조"/>
                  <a:ea typeface="조선일보명조"/>
                  <a:cs typeface="조선일보명조"/>
                  <a:sym typeface="조선일보명조"/>
                </a:defRPr>
              </a:pPr>
              <a:endParaRPr/>
            </a:p>
          </p:txBody>
        </p:sp>
        <p:sp>
          <p:nvSpPr>
            <p:cNvPr id="185" name="TextBox 7"/>
            <p:cNvSpPr txBox="1"/>
            <p:nvPr/>
          </p:nvSpPr>
          <p:spPr>
            <a:xfrm>
              <a:off x="291288" y="305657"/>
              <a:ext cx="2014997"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Before Surgery</a:t>
              </a:r>
            </a:p>
          </p:txBody>
        </p:sp>
        <p:sp>
          <p:nvSpPr>
            <p:cNvPr id="186" name="모서리가 둥근 직사각형 8"/>
            <p:cNvSpPr/>
            <p:nvPr/>
          </p:nvSpPr>
          <p:spPr>
            <a:xfrm>
              <a:off x="3138191" y="0"/>
              <a:ext cx="2513908" cy="3054191"/>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87" name="모서리가 둥근 직사각형 9"/>
            <p:cNvSpPr/>
            <p:nvPr/>
          </p:nvSpPr>
          <p:spPr>
            <a:xfrm>
              <a:off x="3239072" y="160011"/>
              <a:ext cx="2312147" cy="766019"/>
            </a:xfrm>
            <a:prstGeom prst="roundRect">
              <a:avLst>
                <a:gd name="adj" fmla="val 50000"/>
              </a:avLst>
            </a:prstGeom>
            <a:solidFill>
              <a:srgbClr val="8A1C22"/>
            </a:solidFill>
            <a:ln w="12700" cap="flat">
              <a:noFill/>
              <a:miter lim="400000"/>
            </a:ln>
            <a:effectLst/>
          </p:spPr>
          <p:txBody>
            <a:bodyPr wrap="square" lIns="45719" tIns="45719" rIns="45719" bIns="45719" numCol="1" anchor="ctr">
              <a:noAutofit/>
            </a:bodyPr>
            <a:lstStyle/>
            <a:p>
              <a:pPr algn="ctr" defTabSz="1067747">
                <a:defRPr sz="2300">
                  <a:solidFill>
                    <a:srgbClr val="0049C0"/>
                  </a:solidFill>
                  <a:latin typeface="조선일보명조"/>
                  <a:ea typeface="조선일보명조"/>
                  <a:cs typeface="조선일보명조"/>
                  <a:sym typeface="조선일보명조"/>
                </a:defRPr>
              </a:pPr>
              <a:endParaRPr/>
            </a:p>
          </p:txBody>
        </p:sp>
        <p:sp>
          <p:nvSpPr>
            <p:cNvPr id="188" name="TextBox 10"/>
            <p:cNvSpPr txBox="1"/>
            <p:nvPr/>
          </p:nvSpPr>
          <p:spPr>
            <a:xfrm>
              <a:off x="3282327" y="285483"/>
              <a:ext cx="2225641"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Surgery</a:t>
              </a:r>
            </a:p>
          </p:txBody>
        </p:sp>
        <p:sp>
          <p:nvSpPr>
            <p:cNvPr id="189" name="모서리가 둥근 직사각형 11"/>
            <p:cNvSpPr/>
            <p:nvPr/>
          </p:nvSpPr>
          <p:spPr>
            <a:xfrm>
              <a:off x="6271067" y="0"/>
              <a:ext cx="2513909" cy="3054191"/>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90" name="모서리가 둥근 직사각형 12"/>
            <p:cNvSpPr/>
            <p:nvPr/>
          </p:nvSpPr>
          <p:spPr>
            <a:xfrm>
              <a:off x="6371949" y="160011"/>
              <a:ext cx="2312147" cy="766020"/>
            </a:xfrm>
            <a:prstGeom prst="roundRect">
              <a:avLst>
                <a:gd name="adj" fmla="val 50000"/>
              </a:avLst>
            </a:prstGeom>
            <a:solidFill>
              <a:srgbClr val="8A1C22"/>
            </a:solidFill>
            <a:ln w="12700" cap="flat">
              <a:noFill/>
              <a:miter lim="400000"/>
            </a:ln>
            <a:effectLst/>
          </p:spPr>
          <p:txBody>
            <a:bodyPr wrap="square" lIns="45719" tIns="45719" rIns="45719" bIns="45719" numCol="1" anchor="ctr">
              <a:noAutofit/>
            </a:bodyPr>
            <a:lstStyle/>
            <a:p>
              <a:pPr algn="ctr" defTabSz="1067747">
                <a:defRPr sz="2300">
                  <a:solidFill>
                    <a:srgbClr val="0049C0"/>
                  </a:solidFill>
                  <a:latin typeface="조선일보명조"/>
                  <a:ea typeface="조선일보명조"/>
                  <a:cs typeface="조선일보명조"/>
                  <a:sym typeface="조선일보명조"/>
                </a:defRPr>
              </a:pPr>
              <a:endParaRPr/>
            </a:p>
          </p:txBody>
        </p:sp>
        <p:sp>
          <p:nvSpPr>
            <p:cNvPr id="191" name="TextBox 13"/>
            <p:cNvSpPr txBox="1"/>
            <p:nvPr/>
          </p:nvSpPr>
          <p:spPr>
            <a:xfrm>
              <a:off x="6520524" y="305655"/>
              <a:ext cx="2014996"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After Surgery</a:t>
              </a:r>
            </a:p>
          </p:txBody>
        </p:sp>
      </p:grpSp>
      <p:sp>
        <p:nvSpPr>
          <p:cNvPr id="193" name="TextBox 14"/>
          <p:cNvSpPr txBox="1"/>
          <p:nvPr/>
        </p:nvSpPr>
        <p:spPr>
          <a:xfrm>
            <a:off x="4807718" y="3295550"/>
            <a:ext cx="2422464" cy="151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Adjustable gastric banding</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Sleeve gastrectomy</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Roux-en-Y gastric bypass</a:t>
            </a:r>
          </a:p>
        </p:txBody>
      </p:sp>
      <p:sp>
        <p:nvSpPr>
          <p:cNvPr id="194" name="TextBox 15"/>
          <p:cNvSpPr txBox="1"/>
          <p:nvPr/>
        </p:nvSpPr>
        <p:spPr>
          <a:xfrm>
            <a:off x="8009088" y="3283651"/>
            <a:ext cx="2422464" cy="179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Following dietary program</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Monitoring Balance of Protein, mineral, Carbs</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C70655">
                      <a:alpha val="0"/>
                    </a:srgbClr>
                  </a:solidFill>
                  <a:prstDash val="solid"/>
                  <a:round/>
                </a:ln>
                <a:solidFill>
                  <a:srgbClr val="595959"/>
                </a:solidFill>
                <a:latin typeface="조선일보명조"/>
                <a:ea typeface="조선일보명조"/>
                <a:cs typeface="조선일보명조"/>
                <a:sym typeface="조선일보명조"/>
              </a:defRPr>
            </a:pPr>
            <a:r>
              <a:t>Physical Exercise</a:t>
            </a:r>
          </a:p>
        </p:txBody>
      </p:sp>
      <p:sp>
        <p:nvSpPr>
          <p:cNvPr id="195" name="TextBox 17"/>
          <p:cNvSpPr txBox="1"/>
          <p:nvPr/>
        </p:nvSpPr>
        <p:spPr>
          <a:xfrm>
            <a:off x="3558108" y="874437"/>
            <a:ext cx="5075784" cy="4820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b="1">
                <a:latin typeface="Graphik"/>
                <a:ea typeface="Graphik"/>
                <a:cs typeface="Graphik"/>
                <a:sym typeface="Graphik"/>
              </a:defRPr>
            </a:lvl1pPr>
          </a:lstStyle>
          <a:p>
            <a:r>
              <a:t>Process of Bariatric Surgery</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Google Shape;132;p25"/>
          <p:cNvSpPr txBox="1">
            <a:spLocks noGrp="1"/>
          </p:cNvSpPr>
          <p:nvPr>
            <p:ph type="title"/>
          </p:nvPr>
        </p:nvSpPr>
        <p:spPr>
          <a:xfrm>
            <a:off x="2541399" y="2678835"/>
            <a:ext cx="7109202" cy="1325601"/>
          </a:xfrm>
          <a:prstGeom prst="rect">
            <a:avLst/>
          </a:prstGeom>
        </p:spPr>
        <p:txBody>
          <a:bodyPr lIns="45699" tIns="45699" rIns="45699" bIns="45699"/>
          <a:lstStyle>
            <a:lvl1pPr algn="ctr" defTabSz="731520">
              <a:lnSpc>
                <a:spcPct val="100000"/>
              </a:lnSpc>
              <a:defRPr sz="5840" b="1">
                <a:solidFill>
                  <a:srgbClr val="535353"/>
                </a:solidFill>
                <a:latin typeface="Graphik"/>
                <a:ea typeface="Graphik"/>
                <a:cs typeface="Graphik"/>
                <a:sym typeface="Graphik"/>
              </a:defRPr>
            </a:lvl1pPr>
          </a:lstStyle>
          <a:p>
            <a:r>
              <a:t>&amp; Bariatric Surgery</a:t>
            </a:r>
          </a:p>
        </p:txBody>
      </p:sp>
      <p:pic>
        <p:nvPicPr>
          <p:cNvPr id="198" name="Image" descr="Image"/>
          <p:cNvPicPr>
            <a:picLocks noChangeAspect="1"/>
          </p:cNvPicPr>
          <p:nvPr/>
        </p:nvPicPr>
        <p:blipFill>
          <a:blip r:embed="rId2"/>
          <a:stretch>
            <a:fillRect/>
          </a:stretch>
        </p:blipFill>
        <p:spPr>
          <a:xfrm>
            <a:off x="4922480" y="1974276"/>
            <a:ext cx="2346853" cy="668090"/>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2" name="직사각형 6"/>
          <p:cNvGrpSpPr/>
          <p:nvPr/>
        </p:nvGrpSpPr>
        <p:grpSpPr>
          <a:xfrm>
            <a:off x="5807631" y="1470167"/>
            <a:ext cx="4779034" cy="979099"/>
            <a:chOff x="0" y="0"/>
            <a:chExt cx="4779033" cy="979097"/>
          </a:xfrm>
        </p:grpSpPr>
        <p:sp>
          <p:nvSpPr>
            <p:cNvPr id="200" name="Rectangle"/>
            <p:cNvSpPr/>
            <p:nvPr/>
          </p:nvSpPr>
          <p:spPr>
            <a:xfrm>
              <a:off x="-1" y="0"/>
              <a:ext cx="4779035" cy="979098"/>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01"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a:solidFill>
                    <a:srgbClr val="FFFFFF"/>
                  </a:solidFill>
                </a:defRPr>
              </a:pPr>
              <a:r>
                <a:t>Body Composition: Obesity analysis</a:t>
              </a:r>
            </a:p>
            <a:p>
              <a:pPr marL="285750" indent="-285750">
                <a:buSzPct val="100000"/>
                <a:buChar char="-"/>
                <a:defRPr>
                  <a:solidFill>
                    <a:srgbClr val="FFFFFF"/>
                  </a:solidFill>
                </a:defRPr>
              </a:pPr>
              <a:r>
                <a:t>Phase Angle: Prediction of surgical outcomes</a:t>
              </a:r>
            </a:p>
          </p:txBody>
        </p:sp>
      </p:grpSp>
      <p:sp>
        <p:nvSpPr>
          <p:cNvPr id="203"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pic>
        <p:nvPicPr>
          <p:cNvPr id="204" name="그림 2" descr="그림 2"/>
          <p:cNvPicPr>
            <a:picLocks noChangeAspect="1"/>
          </p:cNvPicPr>
          <p:nvPr/>
        </p:nvPicPr>
        <p:blipFill>
          <a:blip r:embed="rId2"/>
          <a:stretch>
            <a:fillRect/>
          </a:stretch>
        </p:blipFill>
        <p:spPr>
          <a:xfrm>
            <a:off x="1322216" y="565679"/>
            <a:ext cx="4321738" cy="5778231"/>
          </a:xfrm>
          <a:prstGeom prst="rect">
            <a:avLst/>
          </a:prstGeom>
          <a:ln w="12700">
            <a:miter lim="400000"/>
          </a:ln>
        </p:spPr>
      </p:pic>
      <p:grpSp>
        <p:nvGrpSpPr>
          <p:cNvPr id="207" name="직사각형 3"/>
          <p:cNvGrpSpPr/>
          <p:nvPr/>
        </p:nvGrpSpPr>
        <p:grpSpPr>
          <a:xfrm>
            <a:off x="5807631" y="1250193"/>
            <a:ext cx="4779033" cy="405443"/>
            <a:chOff x="0" y="0"/>
            <a:chExt cx="4779031" cy="405442"/>
          </a:xfrm>
        </p:grpSpPr>
        <p:sp>
          <p:nvSpPr>
            <p:cNvPr id="205" name="Rectangle"/>
            <p:cNvSpPr/>
            <p:nvPr/>
          </p:nvSpPr>
          <p:spPr>
            <a:xfrm>
              <a:off x="0" y="-1"/>
              <a:ext cx="4779032" cy="405444"/>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06"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sp>
        <p:nvSpPr>
          <p:cNvPr id="208" name="직사각형 11"/>
          <p:cNvSpPr/>
          <p:nvPr/>
        </p:nvSpPr>
        <p:spPr>
          <a:xfrm>
            <a:off x="1477397" y="2189347"/>
            <a:ext cx="2587700" cy="1338221"/>
          </a:xfrm>
          <a:prstGeom prst="rect">
            <a:avLst/>
          </a:prstGeom>
          <a:solidFill>
            <a:srgbClr val="F4B183">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09" name="직사각형 13"/>
          <p:cNvSpPr/>
          <p:nvPr/>
        </p:nvSpPr>
        <p:spPr>
          <a:xfrm>
            <a:off x="4122832" y="1931117"/>
            <a:ext cx="1322493" cy="1011920"/>
          </a:xfrm>
          <a:prstGeom prst="rect">
            <a:avLst/>
          </a:prstGeom>
          <a:solidFill>
            <a:srgbClr val="F4B183">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10" name="직사각형 14"/>
          <p:cNvSpPr/>
          <p:nvPr/>
        </p:nvSpPr>
        <p:spPr>
          <a:xfrm>
            <a:off x="4140084" y="4447154"/>
            <a:ext cx="1322493" cy="98332"/>
          </a:xfrm>
          <a:prstGeom prst="rect">
            <a:avLst/>
          </a:prstGeom>
          <a:solidFill>
            <a:srgbClr val="F4B183">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11" name="직사각형 15"/>
          <p:cNvSpPr/>
          <p:nvPr/>
        </p:nvSpPr>
        <p:spPr>
          <a:xfrm>
            <a:off x="4122833" y="5193220"/>
            <a:ext cx="1348371" cy="301171"/>
          </a:xfrm>
          <a:prstGeom prst="rect">
            <a:avLst/>
          </a:prstGeom>
          <a:solidFill>
            <a:srgbClr val="F4B183">
              <a:alpha val="40000"/>
            </a:srgbClr>
          </a:solidFill>
          <a:ln w="12700">
            <a:solidFill>
              <a:srgbClr val="FFFFFF"/>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직사각형 6"/>
          <p:cNvGrpSpPr/>
          <p:nvPr/>
        </p:nvGrpSpPr>
        <p:grpSpPr>
          <a:xfrm>
            <a:off x="5725915" y="1357781"/>
            <a:ext cx="4779035" cy="979099"/>
            <a:chOff x="0" y="0"/>
            <a:chExt cx="4779033" cy="979097"/>
          </a:xfrm>
        </p:grpSpPr>
        <p:sp>
          <p:nvSpPr>
            <p:cNvPr id="213" name="Rectangle"/>
            <p:cNvSpPr/>
            <p:nvPr/>
          </p:nvSpPr>
          <p:spPr>
            <a:xfrm>
              <a:off x="-1" y="0"/>
              <a:ext cx="4779035" cy="979098"/>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14"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Body Composition: Obesity analysis</a:t>
              </a:r>
            </a:p>
            <a:p>
              <a:pPr marL="285750" indent="-285750">
                <a:buSzPct val="100000"/>
                <a:buChar char="-"/>
                <a:defRPr>
                  <a:solidFill>
                    <a:srgbClr val="FFFFFF"/>
                  </a:solidFill>
                </a:defRPr>
              </a:pPr>
              <a:r>
                <a:rPr dirty="0"/>
                <a:t>Phase Angle: Prediction of surgical outcomes</a:t>
              </a:r>
            </a:p>
          </p:txBody>
        </p:sp>
      </p:grpSp>
      <p:pic>
        <p:nvPicPr>
          <p:cNvPr id="216" name="그림 2" descr="그림 2"/>
          <p:cNvPicPr>
            <a:picLocks noChangeAspect="1"/>
          </p:cNvPicPr>
          <p:nvPr/>
        </p:nvPicPr>
        <p:blipFill>
          <a:blip r:embed="rId2"/>
          <a:stretch>
            <a:fillRect/>
          </a:stretch>
        </p:blipFill>
        <p:spPr>
          <a:xfrm>
            <a:off x="970838" y="412435"/>
            <a:ext cx="4321738" cy="5778231"/>
          </a:xfrm>
          <a:prstGeom prst="rect">
            <a:avLst/>
          </a:prstGeom>
          <a:ln w="12700">
            <a:miter lim="400000"/>
          </a:ln>
        </p:spPr>
      </p:pic>
      <p:grpSp>
        <p:nvGrpSpPr>
          <p:cNvPr id="219" name="직사각형 3"/>
          <p:cNvGrpSpPr/>
          <p:nvPr/>
        </p:nvGrpSpPr>
        <p:grpSpPr>
          <a:xfrm>
            <a:off x="5725916" y="1137807"/>
            <a:ext cx="4779032" cy="405443"/>
            <a:chOff x="0" y="0"/>
            <a:chExt cx="4779031" cy="405442"/>
          </a:xfrm>
        </p:grpSpPr>
        <p:sp>
          <p:nvSpPr>
            <p:cNvPr id="217" name="Rectangle"/>
            <p:cNvSpPr/>
            <p:nvPr/>
          </p:nvSpPr>
          <p:spPr>
            <a:xfrm>
              <a:off x="0" y="-1"/>
              <a:ext cx="4779032" cy="405444"/>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18"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grpSp>
        <p:nvGrpSpPr>
          <p:cNvPr id="222" name="직사각형 7"/>
          <p:cNvGrpSpPr/>
          <p:nvPr/>
        </p:nvGrpSpPr>
        <p:grpSpPr>
          <a:xfrm>
            <a:off x="5725915" y="3033371"/>
            <a:ext cx="4779035" cy="979099"/>
            <a:chOff x="0" y="0"/>
            <a:chExt cx="4779033" cy="979097"/>
          </a:xfrm>
        </p:grpSpPr>
        <p:sp>
          <p:nvSpPr>
            <p:cNvPr id="220" name="Rectangle"/>
            <p:cNvSpPr/>
            <p:nvPr/>
          </p:nvSpPr>
          <p:spPr>
            <a:xfrm>
              <a:off x="-1" y="0"/>
              <a:ext cx="4779035" cy="979098"/>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21" name="ECW Ratio(ECW/TBW): Malnutrition monitoring…"/>
            <p:cNvSpPr txBox="1"/>
            <p:nvPr/>
          </p:nvSpPr>
          <p:spPr>
            <a:xfrm>
              <a:off x="52069" y="43605"/>
              <a:ext cx="4674894" cy="8918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sz="1700">
                  <a:solidFill>
                    <a:srgbClr val="FFFFFF"/>
                  </a:solidFill>
                </a:defRPr>
              </a:pPr>
              <a:r>
                <a:t>ECW Ratio(ECW/TBW): Malnutrition monitoring</a:t>
              </a:r>
            </a:p>
            <a:p>
              <a:pPr marL="285750" indent="-285750">
                <a:buSzPct val="100000"/>
                <a:buChar char="-"/>
                <a:defRPr>
                  <a:solidFill>
                    <a:srgbClr val="FFFFFF"/>
                  </a:solidFill>
                </a:defRPr>
              </a:pPr>
              <a:r>
                <a:t>BMR: Monitoring weight recycling</a:t>
              </a:r>
            </a:p>
          </p:txBody>
        </p:sp>
      </p:grpSp>
      <p:grpSp>
        <p:nvGrpSpPr>
          <p:cNvPr id="225" name="직사각형 8"/>
          <p:cNvGrpSpPr/>
          <p:nvPr/>
        </p:nvGrpSpPr>
        <p:grpSpPr>
          <a:xfrm>
            <a:off x="5725916" y="2813397"/>
            <a:ext cx="4779032" cy="405443"/>
            <a:chOff x="0" y="0"/>
            <a:chExt cx="4779031" cy="405442"/>
          </a:xfrm>
        </p:grpSpPr>
        <p:sp>
          <p:nvSpPr>
            <p:cNvPr id="223" name="Rectangle"/>
            <p:cNvSpPr/>
            <p:nvPr/>
          </p:nvSpPr>
          <p:spPr>
            <a:xfrm>
              <a:off x="0" y="-1"/>
              <a:ext cx="4779032" cy="405444"/>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24" name="Post-Surgery: Post surgery managemen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Post-Surgery: Post surgery management</a:t>
              </a:r>
            </a:p>
          </p:txBody>
        </p:sp>
      </p:grpSp>
      <p:sp>
        <p:nvSpPr>
          <p:cNvPr id="226" name="직사각형 11"/>
          <p:cNvSpPr/>
          <p:nvPr/>
        </p:nvSpPr>
        <p:spPr>
          <a:xfrm>
            <a:off x="1134739" y="4508510"/>
            <a:ext cx="2570354" cy="453073"/>
          </a:xfrm>
          <a:prstGeom prst="rect">
            <a:avLst/>
          </a:prstGeom>
          <a:solidFill>
            <a:srgbClr val="767171">
              <a:alpha val="56000"/>
            </a:srgbClr>
          </a:solidFill>
          <a:ln w="12700">
            <a:solidFill>
              <a:srgbClr val="FFFFFF"/>
            </a:solidFill>
            <a:miter/>
          </a:ln>
        </p:spPr>
        <p:txBody>
          <a:bodyPr lIns="45719" rIns="45719" anchor="ctr"/>
          <a:lstStyle/>
          <a:p>
            <a:pPr algn="ctr">
              <a:defRPr>
                <a:solidFill>
                  <a:srgbClr val="FFFFFF"/>
                </a:solidFill>
              </a:defRPr>
            </a:pPr>
            <a:endParaRPr/>
          </a:p>
        </p:txBody>
      </p:sp>
      <p:sp>
        <p:nvSpPr>
          <p:cNvPr id="227" name="직사각형 13"/>
          <p:cNvSpPr/>
          <p:nvPr/>
        </p:nvSpPr>
        <p:spPr>
          <a:xfrm>
            <a:off x="3315191" y="3449459"/>
            <a:ext cx="345929" cy="1012617"/>
          </a:xfrm>
          <a:prstGeom prst="rect">
            <a:avLst/>
          </a:prstGeom>
          <a:solidFill>
            <a:srgbClr val="767171">
              <a:alpha val="56000"/>
            </a:srgbClr>
          </a:solidFill>
          <a:ln w="12700">
            <a:solidFill>
              <a:srgbClr val="FFFFFF"/>
            </a:solidFill>
            <a:miter/>
          </a:ln>
        </p:spPr>
        <p:txBody>
          <a:bodyPr lIns="45719" rIns="45719" anchor="ctr"/>
          <a:lstStyle/>
          <a:p>
            <a:pPr algn="ctr">
              <a:defRPr>
                <a:solidFill>
                  <a:srgbClr val="FFFFFF"/>
                </a:solidFill>
              </a:defRPr>
            </a:pPr>
            <a:endParaRPr/>
          </a:p>
        </p:txBody>
      </p:sp>
      <p:sp>
        <p:nvSpPr>
          <p:cNvPr id="228"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pic>
        <p:nvPicPr>
          <p:cNvPr id="4" name="Graphic 3" descr="Star">
            <a:extLst>
              <a:ext uri="{FF2B5EF4-FFF2-40B4-BE49-F238E27FC236}">
                <a16:creationId xmlns:a16="http://schemas.microsoft.com/office/drawing/2014/main" id="{6D324507-A2D2-3CC7-B15C-A2DB2A7E54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39718" y="363146"/>
            <a:ext cx="1549320" cy="1549320"/>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2" name="직사각형 6"/>
          <p:cNvGrpSpPr/>
          <p:nvPr/>
        </p:nvGrpSpPr>
        <p:grpSpPr>
          <a:xfrm>
            <a:off x="5949190" y="1349609"/>
            <a:ext cx="4779034" cy="979099"/>
            <a:chOff x="0" y="0"/>
            <a:chExt cx="4779033" cy="979097"/>
          </a:xfrm>
        </p:grpSpPr>
        <p:sp>
          <p:nvSpPr>
            <p:cNvPr id="230" name="Rectangle"/>
            <p:cNvSpPr/>
            <p:nvPr/>
          </p:nvSpPr>
          <p:spPr>
            <a:xfrm>
              <a:off x="-1" y="0"/>
              <a:ext cx="4779035" cy="979098"/>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31"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Body Composition: Obesity analysis</a:t>
              </a:r>
            </a:p>
            <a:p>
              <a:pPr marL="285750" indent="-285750">
                <a:buSzPct val="100000"/>
                <a:buChar char="-"/>
                <a:defRPr>
                  <a:solidFill>
                    <a:srgbClr val="FFFFFF"/>
                  </a:solidFill>
                </a:defRPr>
              </a:pPr>
              <a:r>
                <a:rPr dirty="0"/>
                <a:t>Phase Angle: Prediction of surgical outcomes</a:t>
              </a:r>
            </a:p>
          </p:txBody>
        </p:sp>
      </p:grpSp>
      <p:pic>
        <p:nvPicPr>
          <p:cNvPr id="233" name="그림 2" descr="그림 2"/>
          <p:cNvPicPr>
            <a:picLocks noChangeAspect="1"/>
          </p:cNvPicPr>
          <p:nvPr/>
        </p:nvPicPr>
        <p:blipFill>
          <a:blip r:embed="rId2"/>
          <a:stretch>
            <a:fillRect/>
          </a:stretch>
        </p:blipFill>
        <p:spPr>
          <a:xfrm>
            <a:off x="1463776" y="445121"/>
            <a:ext cx="4321738" cy="5778231"/>
          </a:xfrm>
          <a:prstGeom prst="rect">
            <a:avLst/>
          </a:prstGeom>
          <a:ln w="12700">
            <a:miter lim="400000"/>
          </a:ln>
        </p:spPr>
      </p:pic>
      <p:grpSp>
        <p:nvGrpSpPr>
          <p:cNvPr id="236" name="직사각형 3"/>
          <p:cNvGrpSpPr/>
          <p:nvPr/>
        </p:nvGrpSpPr>
        <p:grpSpPr>
          <a:xfrm>
            <a:off x="5949190" y="1129635"/>
            <a:ext cx="4779033" cy="405443"/>
            <a:chOff x="0" y="0"/>
            <a:chExt cx="4779031" cy="405442"/>
          </a:xfrm>
        </p:grpSpPr>
        <p:sp>
          <p:nvSpPr>
            <p:cNvPr id="234" name="Rectangle"/>
            <p:cNvSpPr/>
            <p:nvPr/>
          </p:nvSpPr>
          <p:spPr>
            <a:xfrm>
              <a:off x="0" y="-1"/>
              <a:ext cx="4779032" cy="405444"/>
            </a:xfrm>
            <a:prstGeom prst="rect">
              <a:avLst/>
            </a:prstGeom>
            <a:solidFill>
              <a:srgbClr val="F4B183"/>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5"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grpSp>
        <p:nvGrpSpPr>
          <p:cNvPr id="239" name="직사각형 7"/>
          <p:cNvGrpSpPr/>
          <p:nvPr/>
        </p:nvGrpSpPr>
        <p:grpSpPr>
          <a:xfrm>
            <a:off x="5949190" y="3025199"/>
            <a:ext cx="4779034" cy="979099"/>
            <a:chOff x="0" y="0"/>
            <a:chExt cx="4779033" cy="979097"/>
          </a:xfrm>
        </p:grpSpPr>
        <p:sp>
          <p:nvSpPr>
            <p:cNvPr id="237" name="Rectangle"/>
            <p:cNvSpPr/>
            <p:nvPr/>
          </p:nvSpPr>
          <p:spPr>
            <a:xfrm>
              <a:off x="-1" y="0"/>
              <a:ext cx="4779035" cy="979098"/>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38" name="ECW Ratio(ECW/TBW): Malnutrition monitoring…"/>
            <p:cNvSpPr txBox="1"/>
            <p:nvPr/>
          </p:nvSpPr>
          <p:spPr>
            <a:xfrm>
              <a:off x="52069" y="54903"/>
              <a:ext cx="4674894" cy="8692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sz="1700">
                  <a:solidFill>
                    <a:srgbClr val="FFFFFF"/>
                  </a:solidFill>
                </a:defRPr>
              </a:pPr>
              <a:r>
                <a:t>ECW Ratio(ECW/TBW): Malnutrition monitoring</a:t>
              </a:r>
            </a:p>
            <a:p>
              <a:pPr marL="285750" indent="-285750">
                <a:buSzPct val="100000"/>
                <a:buChar char="-"/>
                <a:defRPr sz="1700">
                  <a:solidFill>
                    <a:srgbClr val="FFFFFF"/>
                  </a:solidFill>
                </a:defRPr>
              </a:pPr>
              <a:r>
                <a:t>ECW Ratio(ECW/TBW): Monitoring recovery</a:t>
              </a:r>
            </a:p>
          </p:txBody>
        </p:sp>
      </p:grpSp>
      <p:grpSp>
        <p:nvGrpSpPr>
          <p:cNvPr id="242" name="직사각형 8"/>
          <p:cNvGrpSpPr/>
          <p:nvPr/>
        </p:nvGrpSpPr>
        <p:grpSpPr>
          <a:xfrm>
            <a:off x="5949190" y="2805225"/>
            <a:ext cx="4779033" cy="405443"/>
            <a:chOff x="0" y="0"/>
            <a:chExt cx="4779031" cy="405442"/>
          </a:xfrm>
        </p:grpSpPr>
        <p:sp>
          <p:nvSpPr>
            <p:cNvPr id="240" name="Rectangle"/>
            <p:cNvSpPr/>
            <p:nvPr/>
          </p:nvSpPr>
          <p:spPr>
            <a:xfrm>
              <a:off x="0" y="-1"/>
              <a:ext cx="4779032" cy="405444"/>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41" name="Post-Surgery: Post-surgery Managemen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Post-Surgery: Post-surgery Management</a:t>
              </a:r>
            </a:p>
          </p:txBody>
        </p:sp>
      </p:grpSp>
      <p:grpSp>
        <p:nvGrpSpPr>
          <p:cNvPr id="245" name="직사각형 9"/>
          <p:cNvGrpSpPr/>
          <p:nvPr/>
        </p:nvGrpSpPr>
        <p:grpSpPr>
          <a:xfrm>
            <a:off x="5949190" y="4700789"/>
            <a:ext cx="4779034" cy="979099"/>
            <a:chOff x="0" y="0"/>
            <a:chExt cx="4779033" cy="979097"/>
          </a:xfrm>
        </p:grpSpPr>
        <p:sp>
          <p:nvSpPr>
            <p:cNvPr id="243" name="Rectangle"/>
            <p:cNvSpPr/>
            <p:nvPr/>
          </p:nvSpPr>
          <p:spPr>
            <a:xfrm>
              <a:off x="-1" y="0"/>
              <a:ext cx="4779035" cy="979098"/>
            </a:xfrm>
            <a:prstGeom prst="rect">
              <a:avLst/>
            </a:prstGeom>
            <a:solidFill>
              <a:srgbClr val="8FAADC"/>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44" name="BMR: Monitoring weight recycling…"/>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BMR: Monitoring weight recycling</a:t>
              </a:r>
            </a:p>
            <a:p>
              <a:pPr marL="285750" indent="-285750">
                <a:buSzPct val="100000"/>
                <a:buChar char="-"/>
                <a:defRPr sz="1700">
                  <a:solidFill>
                    <a:srgbClr val="FFFFFF"/>
                  </a:solidFill>
                </a:defRPr>
              </a:pPr>
              <a:r>
                <a:rPr dirty="0"/>
                <a:t>SMI: </a:t>
              </a:r>
              <a:r>
                <a:rPr sz="1800" dirty="0"/>
                <a:t>Monitoring Muscle Loss</a:t>
              </a:r>
            </a:p>
          </p:txBody>
        </p:sp>
      </p:grpSp>
      <p:grpSp>
        <p:nvGrpSpPr>
          <p:cNvPr id="248" name="직사각형 10"/>
          <p:cNvGrpSpPr/>
          <p:nvPr/>
        </p:nvGrpSpPr>
        <p:grpSpPr>
          <a:xfrm>
            <a:off x="5949190" y="4480815"/>
            <a:ext cx="4779033" cy="405443"/>
            <a:chOff x="0" y="0"/>
            <a:chExt cx="4779031" cy="405442"/>
          </a:xfrm>
        </p:grpSpPr>
        <p:sp>
          <p:nvSpPr>
            <p:cNvPr id="246" name="Rectangle"/>
            <p:cNvSpPr/>
            <p:nvPr/>
          </p:nvSpPr>
          <p:spPr>
            <a:xfrm>
              <a:off x="0" y="-1"/>
              <a:ext cx="4779032" cy="405444"/>
            </a:xfrm>
            <a:prstGeom prst="rect">
              <a:avLst/>
            </a:prstGeom>
            <a:solidFill>
              <a:srgbClr val="8FAADC"/>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47" name="Patient Monitoring: Keeping the patients fi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Patient Monitoring: Keeping the patients fit</a:t>
              </a:r>
            </a:p>
          </p:txBody>
        </p:sp>
      </p:grpSp>
      <p:sp>
        <p:nvSpPr>
          <p:cNvPr id="249" name="직사각형 11"/>
          <p:cNvSpPr/>
          <p:nvPr/>
        </p:nvSpPr>
        <p:spPr>
          <a:xfrm>
            <a:off x="1623204" y="3871707"/>
            <a:ext cx="2185361" cy="948456"/>
          </a:xfrm>
          <a:prstGeom prst="rect">
            <a:avLst/>
          </a:prstGeom>
          <a:solidFill>
            <a:srgbClr val="8FAADC">
              <a:alpha val="44000"/>
            </a:srgbClr>
          </a:solidFill>
          <a:ln w="12700">
            <a:solidFill>
              <a:srgbClr val="FFFFFF"/>
            </a:solidFill>
            <a:miter/>
          </a:ln>
        </p:spPr>
        <p:txBody>
          <a:bodyPr lIns="45719" rIns="45719" anchor="ctr"/>
          <a:lstStyle/>
          <a:p>
            <a:pPr algn="ctr">
              <a:defRPr>
                <a:solidFill>
                  <a:srgbClr val="FFFFFF"/>
                </a:solidFill>
              </a:defRPr>
            </a:pPr>
            <a:endParaRPr/>
          </a:p>
        </p:txBody>
      </p:sp>
      <p:sp>
        <p:nvSpPr>
          <p:cNvPr id="250" name="직사각형 12"/>
          <p:cNvSpPr/>
          <p:nvPr/>
        </p:nvSpPr>
        <p:spPr>
          <a:xfrm>
            <a:off x="4278542" y="4216004"/>
            <a:ext cx="1334220" cy="122662"/>
          </a:xfrm>
          <a:prstGeom prst="rect">
            <a:avLst/>
          </a:prstGeom>
          <a:solidFill>
            <a:srgbClr val="8FAADC">
              <a:alpha val="44000"/>
            </a:srgbClr>
          </a:solidFill>
          <a:ln w="12700">
            <a:solidFill>
              <a:srgbClr val="FFFFFF"/>
            </a:solidFill>
            <a:miter/>
          </a:ln>
        </p:spPr>
        <p:txBody>
          <a:bodyPr lIns="45719" rIns="45719" anchor="ctr"/>
          <a:lstStyle/>
          <a:p>
            <a:pPr algn="ctr">
              <a:defRPr>
                <a:solidFill>
                  <a:srgbClr val="FFFFFF"/>
                </a:solidFill>
              </a:defRPr>
            </a:pPr>
            <a:endParaRPr/>
          </a:p>
        </p:txBody>
      </p:sp>
      <p:sp>
        <p:nvSpPr>
          <p:cNvPr id="251"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Google Shape;132;p25"/>
          <p:cNvSpPr txBox="1"/>
          <p:nvPr/>
        </p:nvSpPr>
        <p:spPr>
          <a:xfrm>
            <a:off x="2541399" y="2766199"/>
            <a:ext cx="7109202" cy="132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gn="ctr">
              <a:defRPr sz="7300" b="1">
                <a:solidFill>
                  <a:srgbClr val="535353"/>
                </a:solidFill>
                <a:latin typeface="Graphik"/>
                <a:ea typeface="Graphik"/>
                <a:cs typeface="Graphik"/>
                <a:sym typeface="Graphik"/>
              </a:defRPr>
            </a:lvl1pPr>
          </a:lstStyle>
          <a:p>
            <a:r>
              <a:t>Pre-Surgery</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256" name="오른쪽 화살표 3"/>
          <p:cNvSpPr/>
          <p:nvPr/>
        </p:nvSpPr>
        <p:spPr>
          <a:xfrm>
            <a:off x="2667114" y="2310125"/>
            <a:ext cx="6217921" cy="1332972"/>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sp>
        <p:nvSpPr>
          <p:cNvPr id="257" name="TextBox 4"/>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Most appropriate treatment can be selected by analyzing obesity types before surgery.</a:t>
            </a:r>
          </a:p>
        </p:txBody>
      </p:sp>
      <p:grpSp>
        <p:nvGrpSpPr>
          <p:cNvPr id="260" name="직사각형 5"/>
          <p:cNvGrpSpPr/>
          <p:nvPr/>
        </p:nvGrpSpPr>
        <p:grpSpPr>
          <a:xfrm>
            <a:off x="4502540" y="2497095"/>
            <a:ext cx="2605867" cy="508629"/>
            <a:chOff x="0" y="0"/>
            <a:chExt cx="2605866" cy="508628"/>
          </a:xfrm>
        </p:grpSpPr>
        <p:sp>
          <p:nvSpPr>
            <p:cNvPr id="258"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259" name="Obesity type analysis"/>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Obesity type analysis</a:t>
              </a:r>
            </a:p>
          </p:txBody>
        </p:sp>
      </p:grpSp>
      <p:pic>
        <p:nvPicPr>
          <p:cNvPr id="261" name="그림 7" descr="그림 7"/>
          <p:cNvPicPr>
            <a:picLocks/>
          </p:cNvPicPr>
          <p:nvPr/>
        </p:nvPicPr>
        <p:blipFill>
          <a:blip r:embed="rId2"/>
          <a:stretch>
            <a:fillRect/>
          </a:stretch>
        </p:blipFill>
        <p:spPr>
          <a:xfrm>
            <a:off x="755566" y="1929280"/>
            <a:ext cx="2605867" cy="2094661"/>
          </a:xfrm>
          <a:prstGeom prst="rect">
            <a:avLst/>
          </a:prstGeom>
          <a:ln w="12700">
            <a:miter lim="400000"/>
          </a:ln>
        </p:spPr>
      </p:pic>
      <p:sp>
        <p:nvSpPr>
          <p:cNvPr id="262" name="직사각형 8"/>
          <p:cNvSpPr/>
          <p:nvPr/>
        </p:nvSpPr>
        <p:spPr>
          <a:xfrm>
            <a:off x="4151829" y="2399850"/>
            <a:ext cx="3248492" cy="1159381"/>
          </a:xfrm>
          <a:prstGeom prst="rect">
            <a:avLst/>
          </a:prstGeom>
          <a:ln w="19050">
            <a:solidFill>
              <a:srgbClr val="C55A11"/>
            </a:solidFill>
            <a:miter/>
          </a:ln>
        </p:spPr>
        <p:txBody>
          <a:bodyPr lIns="45719" rIns="45719" anchor="ctr"/>
          <a:lstStyle/>
          <a:p>
            <a:pPr algn="ctr">
              <a:defRPr>
                <a:solidFill>
                  <a:srgbClr val="FFFFFF"/>
                </a:solidFill>
              </a:defRPr>
            </a:pPr>
            <a:endParaRPr/>
          </a:p>
        </p:txBody>
      </p:sp>
      <p:sp>
        <p:nvSpPr>
          <p:cNvPr id="263" name="TextBox 9"/>
          <p:cNvSpPr txBox="1"/>
          <p:nvPr/>
        </p:nvSpPr>
        <p:spPr>
          <a:xfrm>
            <a:off x="4985431" y="3668132"/>
            <a:ext cx="1651479"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Pre-Surgery</a:t>
            </a:r>
          </a:p>
        </p:txBody>
      </p:sp>
      <p:grpSp>
        <p:nvGrpSpPr>
          <p:cNvPr id="266" name="폭발 1 10"/>
          <p:cNvGrpSpPr/>
          <p:nvPr/>
        </p:nvGrpSpPr>
        <p:grpSpPr>
          <a:xfrm>
            <a:off x="8850374" y="1996950"/>
            <a:ext cx="2371109" cy="1965180"/>
            <a:chOff x="0" y="0"/>
            <a:chExt cx="2371108" cy="1965179"/>
          </a:xfrm>
        </p:grpSpPr>
        <p:sp>
          <p:nvSpPr>
            <p:cNvPr id="264"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C00000"/>
            </a:solidFill>
            <a:ln w="53975" cap="flat">
              <a:solidFill>
                <a:srgbClr val="C00000"/>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265" name="Minimize Risk of Surgery"/>
            <p:cNvSpPr txBox="1"/>
            <p:nvPr/>
          </p:nvSpPr>
          <p:spPr>
            <a:xfrm>
              <a:off x="580629" y="462852"/>
              <a:ext cx="1180101"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Minimize Risk of Surgery</a:t>
              </a:r>
            </a:p>
          </p:txBody>
        </p:sp>
      </p:grpSp>
      <p:grpSp>
        <p:nvGrpSpPr>
          <p:cNvPr id="269" name="직사각형 11"/>
          <p:cNvGrpSpPr/>
          <p:nvPr/>
        </p:nvGrpSpPr>
        <p:grpSpPr>
          <a:xfrm>
            <a:off x="4508237" y="3035695"/>
            <a:ext cx="2605867" cy="508629"/>
            <a:chOff x="0" y="0"/>
            <a:chExt cx="2605866" cy="508628"/>
          </a:xfrm>
        </p:grpSpPr>
        <p:sp>
          <p:nvSpPr>
            <p:cNvPr id="267"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268" name="Predict Success rate"/>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Predict Success rate</a:t>
              </a:r>
            </a:p>
          </p:txBody>
        </p:sp>
      </p:grpSp>
      <p:grpSp>
        <p:nvGrpSpPr>
          <p:cNvPr id="272" name="그룹 14"/>
          <p:cNvGrpSpPr/>
          <p:nvPr/>
        </p:nvGrpSpPr>
        <p:grpSpPr>
          <a:xfrm>
            <a:off x="2627189" y="4663628"/>
            <a:ext cx="7228490" cy="1754836"/>
            <a:chOff x="0" y="0"/>
            <a:chExt cx="7228489" cy="1754834"/>
          </a:xfrm>
        </p:grpSpPr>
        <p:sp>
          <p:nvSpPr>
            <p:cNvPr id="270" name="모서리가 둥근 직사각형 12"/>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400" b="1" i="1">
                  <a:solidFill>
                    <a:srgbClr val="333F50"/>
                  </a:solidFill>
                  <a:latin typeface="Arial"/>
                  <a:ea typeface="Arial"/>
                  <a:cs typeface="Arial"/>
                  <a:sym typeface="Arial"/>
                </a:defRPr>
              </a:pPr>
              <a:endParaRPr/>
            </a:p>
          </p:txBody>
        </p:sp>
        <p:sp>
          <p:nvSpPr>
            <p:cNvPr id="271" name="TextBox 13"/>
            <p:cNvSpPr txBox="1"/>
            <p:nvPr/>
          </p:nvSpPr>
          <p:spPr>
            <a:xfrm>
              <a:off x="217915" y="184918"/>
              <a:ext cx="6964855" cy="15577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400"/>
              </a:pPr>
              <a:r>
                <a:t>▷ Different types of obesity patients can have appropriate surgery based on their condition. </a:t>
              </a:r>
            </a:p>
            <a:p>
              <a:pPr>
                <a:defRPr sz="1400"/>
              </a:pPr>
              <a:r>
                <a:t>Body composition analysis</a:t>
              </a:r>
            </a:p>
            <a:p>
              <a:pPr>
                <a:defRPr sz="1400"/>
              </a:pPr>
              <a:endParaRPr/>
            </a:p>
            <a:p>
              <a:pPr>
                <a:defRPr sz="1400"/>
              </a:pPr>
              <a:r>
                <a:t>▷ Success rate of the surgery can be predicted by Phase angle parameter.</a:t>
              </a:r>
            </a:p>
            <a:p>
              <a:pPr>
                <a:defRPr sz="1400"/>
              </a:pPr>
              <a:endParaRPr/>
            </a:p>
            <a:p>
              <a:pPr>
                <a:defRPr sz="1400"/>
              </a:pPr>
              <a:r>
                <a:t>▷ Accurate analysis of patient will minimize the risk of surgery which can occur.</a:t>
              </a:r>
            </a:p>
          </p:txBody>
        </p:sp>
      </p:grpSp>
      <p:sp>
        <p:nvSpPr>
          <p:cNvPr id="273"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
        <p:nvSpPr>
          <p:cNvPr id="274" name="TextBox 6"/>
          <p:cNvSpPr txBox="1"/>
          <p:nvPr/>
        </p:nvSpPr>
        <p:spPr>
          <a:xfrm>
            <a:off x="1369205" y="1957181"/>
            <a:ext cx="1378589" cy="2678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a:latin typeface="Graphik"/>
                <a:ea typeface="Graphik"/>
                <a:cs typeface="Graphik"/>
                <a:sym typeface="Graphik"/>
              </a:defRPr>
            </a:lvl1pPr>
          </a:lstStyle>
          <a:p>
            <a:r>
              <a:t>InBody Test</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그림 5" descr="그림 5"/>
          <p:cNvPicPr>
            <a:picLocks noChangeAspect="1"/>
          </p:cNvPicPr>
          <p:nvPr/>
        </p:nvPicPr>
        <p:blipFill>
          <a:blip r:embed="rId2"/>
          <a:srcRect l="32499" t="27221" r="33094" b="55556"/>
          <a:stretch>
            <a:fillRect/>
          </a:stretch>
        </p:blipFill>
        <p:spPr>
          <a:xfrm>
            <a:off x="1675208" y="1796917"/>
            <a:ext cx="4620390" cy="1300984"/>
          </a:xfrm>
          <a:prstGeom prst="rect">
            <a:avLst/>
          </a:prstGeom>
          <a:ln w="12700">
            <a:miter lim="400000"/>
          </a:ln>
        </p:spPr>
      </p:pic>
      <p:pic>
        <p:nvPicPr>
          <p:cNvPr id="277" name="그림 28" descr="그림 28"/>
          <p:cNvPicPr>
            <a:picLocks noChangeAspect="1"/>
          </p:cNvPicPr>
          <p:nvPr/>
        </p:nvPicPr>
        <p:blipFill>
          <a:blip r:embed="rId3"/>
          <a:stretch>
            <a:fillRect/>
          </a:stretch>
        </p:blipFill>
        <p:spPr>
          <a:xfrm>
            <a:off x="6468564" y="2129272"/>
            <a:ext cx="4198000" cy="3302149"/>
          </a:xfrm>
          <a:prstGeom prst="rect">
            <a:avLst/>
          </a:prstGeom>
          <a:ln w="12700">
            <a:miter lim="400000"/>
          </a:ln>
        </p:spPr>
      </p:pic>
      <p:pic>
        <p:nvPicPr>
          <p:cNvPr id="278" name="그림 52" descr="그림 52"/>
          <p:cNvPicPr>
            <a:picLocks noChangeAspect="1"/>
          </p:cNvPicPr>
          <p:nvPr/>
        </p:nvPicPr>
        <p:blipFill>
          <a:blip r:embed="rId4"/>
          <a:stretch>
            <a:fillRect/>
          </a:stretch>
        </p:blipFill>
        <p:spPr>
          <a:xfrm>
            <a:off x="1675208" y="3165199"/>
            <a:ext cx="2856596" cy="3238748"/>
          </a:xfrm>
          <a:prstGeom prst="rect">
            <a:avLst/>
          </a:prstGeom>
          <a:ln w="12700">
            <a:miter lim="400000"/>
          </a:ln>
        </p:spPr>
      </p:pic>
      <p:sp>
        <p:nvSpPr>
          <p:cNvPr id="279" name="TextBox 53"/>
          <p:cNvSpPr txBox="1"/>
          <p:nvPr/>
        </p:nvSpPr>
        <p:spPr>
          <a:xfrm>
            <a:off x="4879446" y="5757614"/>
            <a:ext cx="5609555" cy="6251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b="1">
                <a:solidFill>
                  <a:srgbClr val="FF0000"/>
                </a:solidFill>
              </a:defRPr>
            </a:pPr>
            <a:r>
              <a:t>Body composition analysis </a:t>
            </a:r>
            <a:r>
              <a:rPr b="0">
                <a:solidFill>
                  <a:srgbClr val="000000"/>
                </a:solidFill>
              </a:rPr>
              <a:t>will give you a </a:t>
            </a:r>
          </a:p>
          <a:p>
            <a:pPr algn="ctr"/>
            <a:r>
              <a:t>guideline for selecting treatment.</a:t>
            </a:r>
          </a:p>
        </p:txBody>
      </p:sp>
      <p:sp>
        <p:nvSpPr>
          <p:cNvPr id="280" name="TextBox 54"/>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281" name="TextBox 55"/>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Most appropriate treatment can be selected by analyzing obesity types before surgery.</a:t>
            </a:r>
          </a:p>
        </p:txBody>
      </p:sp>
      <p:sp>
        <p:nvSpPr>
          <p:cNvPr id="282"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 name="그림 65" descr="그림 65"/>
          <p:cNvPicPr>
            <a:picLocks noChangeAspect="1"/>
          </p:cNvPicPr>
          <p:nvPr/>
        </p:nvPicPr>
        <p:blipFill>
          <a:blip r:embed="rId2"/>
          <a:stretch>
            <a:fillRect/>
          </a:stretch>
        </p:blipFill>
        <p:spPr>
          <a:xfrm>
            <a:off x="1771851" y="1118850"/>
            <a:ext cx="4090772" cy="5474684"/>
          </a:xfrm>
          <a:prstGeom prst="rect">
            <a:avLst/>
          </a:prstGeom>
          <a:ln w="12700">
            <a:miter lim="400000"/>
          </a:ln>
        </p:spPr>
      </p:pic>
      <p:grpSp>
        <p:nvGrpSpPr>
          <p:cNvPr id="319" name="다이어그램 69"/>
          <p:cNvGrpSpPr/>
          <p:nvPr/>
        </p:nvGrpSpPr>
        <p:grpSpPr>
          <a:xfrm>
            <a:off x="6066114" y="1668977"/>
            <a:ext cx="4699878" cy="2549957"/>
            <a:chOff x="0" y="0"/>
            <a:chExt cx="4699877" cy="2549955"/>
          </a:xfrm>
        </p:grpSpPr>
        <p:sp>
          <p:nvSpPr>
            <p:cNvPr id="285" name="Line"/>
            <p:cNvSpPr/>
            <p:nvPr/>
          </p:nvSpPr>
          <p:spPr>
            <a:xfrm>
              <a:off x="3497583"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D6712C"/>
              </a:solidFill>
              <a:prstDash val="solid"/>
              <a:miter lim="800000"/>
            </a:ln>
            <a:effectLst/>
          </p:spPr>
          <p:txBody>
            <a:bodyPr wrap="square" lIns="45719" tIns="45719" rIns="45719" bIns="45719" numCol="1" anchor="t">
              <a:noAutofit/>
            </a:bodyPr>
            <a:lstStyle/>
            <a:p>
              <a:endParaRPr/>
            </a:p>
          </p:txBody>
        </p:sp>
        <p:sp>
          <p:nvSpPr>
            <p:cNvPr id="286" name="Line"/>
            <p:cNvSpPr/>
            <p:nvPr/>
          </p:nvSpPr>
          <p:spPr>
            <a:xfrm>
              <a:off x="2896435" y="1535383"/>
              <a:ext cx="601148"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D6712C"/>
              </a:solidFill>
              <a:prstDash val="solid"/>
              <a:miter lim="800000"/>
            </a:ln>
            <a:effectLst/>
          </p:spPr>
          <p:txBody>
            <a:bodyPr wrap="square" lIns="45719" tIns="45719" rIns="45719" bIns="45719" numCol="1" anchor="t">
              <a:noAutofit/>
            </a:bodyPr>
            <a:lstStyle/>
            <a:p>
              <a:endParaRPr/>
            </a:p>
          </p:txBody>
        </p:sp>
        <p:sp>
          <p:nvSpPr>
            <p:cNvPr id="287" name="Line"/>
            <p:cNvSpPr/>
            <p:nvPr/>
          </p:nvSpPr>
          <p:spPr>
            <a:xfrm>
              <a:off x="2295289" y="624646"/>
              <a:ext cx="1202295"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BC6327"/>
              </a:solidFill>
              <a:prstDash val="solid"/>
              <a:miter lim="800000"/>
            </a:ln>
            <a:effectLst/>
          </p:spPr>
          <p:txBody>
            <a:bodyPr wrap="square" lIns="45719" tIns="45719" rIns="45719" bIns="45719" numCol="1" anchor="t">
              <a:noAutofit/>
            </a:bodyPr>
            <a:lstStyle/>
            <a:p>
              <a:endParaRPr/>
            </a:p>
          </p:txBody>
        </p:sp>
        <p:sp>
          <p:nvSpPr>
            <p:cNvPr id="288" name="Line"/>
            <p:cNvSpPr/>
            <p:nvPr/>
          </p:nvSpPr>
          <p:spPr>
            <a:xfrm>
              <a:off x="1092995"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D6712C"/>
              </a:solidFill>
              <a:prstDash val="solid"/>
              <a:miter lim="800000"/>
            </a:ln>
            <a:effectLst/>
          </p:spPr>
          <p:txBody>
            <a:bodyPr wrap="square" lIns="45719" tIns="45719" rIns="45719" bIns="45719" numCol="1" anchor="t">
              <a:noAutofit/>
            </a:bodyPr>
            <a:lstStyle/>
            <a:p>
              <a:endParaRPr/>
            </a:p>
          </p:txBody>
        </p:sp>
        <p:sp>
          <p:nvSpPr>
            <p:cNvPr id="289" name="Line"/>
            <p:cNvSpPr/>
            <p:nvPr/>
          </p:nvSpPr>
          <p:spPr>
            <a:xfrm>
              <a:off x="491848"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D6712C"/>
              </a:solidFill>
              <a:prstDash val="solid"/>
              <a:miter lim="800000"/>
            </a:ln>
            <a:effectLst/>
          </p:spPr>
          <p:txBody>
            <a:bodyPr wrap="square" lIns="45719" tIns="45719" rIns="45719" bIns="45719" numCol="1" anchor="t">
              <a:noAutofit/>
            </a:bodyPr>
            <a:lstStyle/>
            <a:p>
              <a:endParaRPr/>
            </a:p>
          </p:txBody>
        </p:sp>
        <p:sp>
          <p:nvSpPr>
            <p:cNvPr id="290" name="Line"/>
            <p:cNvSpPr/>
            <p:nvPr/>
          </p:nvSpPr>
          <p:spPr>
            <a:xfrm>
              <a:off x="1092995" y="624646"/>
              <a:ext cx="1202294"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BC6327"/>
              </a:solidFill>
              <a:prstDash val="solid"/>
              <a:miter lim="800000"/>
            </a:ln>
            <a:effectLst/>
          </p:spPr>
          <p:txBody>
            <a:bodyPr wrap="square" lIns="45719" tIns="45719" rIns="45719" bIns="45719" numCol="1" anchor="t">
              <a:noAutofit/>
            </a:bodyPr>
            <a:lstStyle/>
            <a:p>
              <a:endParaRPr/>
            </a:p>
          </p:txBody>
        </p:sp>
        <p:sp>
          <p:nvSpPr>
            <p:cNvPr id="291" name="Rounded Rectangle"/>
            <p:cNvSpPr/>
            <p:nvPr/>
          </p:nvSpPr>
          <p:spPr>
            <a:xfrm>
              <a:off x="1803440" y="0"/>
              <a:ext cx="983696" cy="624646"/>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294" name="Group"/>
            <p:cNvGrpSpPr/>
            <p:nvPr/>
          </p:nvGrpSpPr>
          <p:grpSpPr>
            <a:xfrm>
              <a:off x="1912741" y="103835"/>
              <a:ext cx="983695" cy="624646"/>
              <a:chOff x="0" y="0"/>
              <a:chExt cx="983694" cy="624645"/>
            </a:xfrm>
          </p:grpSpPr>
          <p:sp>
            <p:nvSpPr>
              <p:cNvPr id="292"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77850">
                  <a:lnSpc>
                    <a:spcPct val="90000"/>
                  </a:lnSpc>
                  <a:spcBef>
                    <a:spcPts val="700"/>
                  </a:spcBef>
                  <a:defRPr sz="1300"/>
                </a:pPr>
                <a:endParaRPr/>
              </a:p>
            </p:txBody>
          </p:sp>
          <p:sp>
            <p:nvSpPr>
              <p:cNvPr id="293" name="BMI…"/>
              <p:cNvSpPr txBox="1"/>
              <p:nvPr/>
            </p:nvSpPr>
            <p:spPr>
              <a:xfrm>
                <a:off x="18295" y="51479"/>
                <a:ext cx="947105" cy="5216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9530" tIns="49530" rIns="49530" bIns="49530" numCol="1" anchor="ctr">
                <a:spAutoFit/>
              </a:bodyPr>
              <a:lstStyle/>
              <a:p>
                <a:pPr algn="ctr" defTabSz="577850">
                  <a:lnSpc>
                    <a:spcPct val="90000"/>
                  </a:lnSpc>
                  <a:spcBef>
                    <a:spcPts val="500"/>
                  </a:spcBef>
                  <a:defRPr sz="1300"/>
                </a:pPr>
                <a:r>
                  <a:t>BMI </a:t>
                </a:r>
              </a:p>
              <a:p>
                <a:pPr algn="ctr" defTabSz="577850">
                  <a:lnSpc>
                    <a:spcPct val="90000"/>
                  </a:lnSpc>
                  <a:spcBef>
                    <a:spcPts val="500"/>
                  </a:spcBef>
                  <a:defRPr sz="1300"/>
                </a:pPr>
                <a:r>
                  <a:t>Over normal</a:t>
                </a:r>
              </a:p>
            </p:txBody>
          </p:sp>
        </p:grpSp>
        <p:sp>
          <p:nvSpPr>
            <p:cNvPr id="295" name="Rounded Rectangle"/>
            <p:cNvSpPr/>
            <p:nvPr/>
          </p:nvSpPr>
          <p:spPr>
            <a:xfrm>
              <a:off x="601146" y="910738"/>
              <a:ext cx="983696" cy="624646"/>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298" name="Group"/>
            <p:cNvGrpSpPr/>
            <p:nvPr/>
          </p:nvGrpSpPr>
          <p:grpSpPr>
            <a:xfrm>
              <a:off x="710446" y="1014573"/>
              <a:ext cx="983696" cy="624647"/>
              <a:chOff x="0" y="0"/>
              <a:chExt cx="983694" cy="624645"/>
            </a:xfrm>
          </p:grpSpPr>
          <p:sp>
            <p:nvSpPr>
              <p:cNvPr id="296"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a:pPr>
                <a:endParaRPr/>
              </a:p>
            </p:txBody>
          </p:sp>
          <p:sp>
            <p:nvSpPr>
              <p:cNvPr id="297" name="SMM&gt;…"/>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a:pPr>
                <a:r>
                  <a:t>SMM&gt;</a:t>
                </a:r>
              </a:p>
              <a:p>
                <a:pPr algn="ctr" defTabSz="533400">
                  <a:lnSpc>
                    <a:spcPct val="90000"/>
                  </a:lnSpc>
                  <a:spcBef>
                    <a:spcPts val="500"/>
                  </a:spcBef>
                  <a:defRPr sz="1200"/>
                </a:pPr>
                <a:r>
                  <a:t>Normal</a:t>
                </a:r>
              </a:p>
            </p:txBody>
          </p:sp>
        </p:grpSp>
        <p:sp>
          <p:nvSpPr>
            <p:cNvPr id="299" name="Rounded Rectangle"/>
            <p:cNvSpPr/>
            <p:nvPr/>
          </p:nvSpPr>
          <p:spPr>
            <a:xfrm>
              <a:off x="0" y="1821476"/>
              <a:ext cx="983695" cy="624647"/>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302" name="Group"/>
            <p:cNvGrpSpPr/>
            <p:nvPr/>
          </p:nvGrpSpPr>
          <p:grpSpPr>
            <a:xfrm>
              <a:off x="109300" y="1925310"/>
              <a:ext cx="983695" cy="624646"/>
              <a:chOff x="0" y="0"/>
              <a:chExt cx="983694" cy="624645"/>
            </a:xfrm>
          </p:grpSpPr>
          <p:sp>
            <p:nvSpPr>
              <p:cNvPr id="300"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a:pPr>
                <a:endParaRPr/>
              </a:p>
            </p:txBody>
          </p:sp>
          <p:sp>
            <p:nvSpPr>
              <p:cNvPr id="301" name="ECW ratio&gt;…"/>
              <p:cNvSpPr txBox="1"/>
              <p:nvPr/>
            </p:nvSpPr>
            <p:spPr>
              <a:xfrm>
                <a:off x="18294" y="68759"/>
                <a:ext cx="947106"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a:pPr>
                <a:r>
                  <a:t>ECW ratio&gt;</a:t>
                </a:r>
              </a:p>
              <a:p>
                <a:pPr algn="ctr" defTabSz="533400">
                  <a:lnSpc>
                    <a:spcPct val="90000"/>
                  </a:lnSpc>
                  <a:spcBef>
                    <a:spcPts val="500"/>
                  </a:spcBef>
                  <a:defRPr sz="1200"/>
                </a:pPr>
                <a:r>
                  <a:t>Normal</a:t>
                </a:r>
              </a:p>
            </p:txBody>
          </p:sp>
        </p:grpSp>
        <p:sp>
          <p:nvSpPr>
            <p:cNvPr id="303" name="Rounded Rectangle"/>
            <p:cNvSpPr/>
            <p:nvPr/>
          </p:nvSpPr>
          <p:spPr>
            <a:xfrm>
              <a:off x="1202293" y="1821476"/>
              <a:ext cx="983696" cy="624647"/>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306" name="Group"/>
            <p:cNvGrpSpPr/>
            <p:nvPr/>
          </p:nvGrpSpPr>
          <p:grpSpPr>
            <a:xfrm>
              <a:off x="1311593" y="1925310"/>
              <a:ext cx="983696" cy="624646"/>
              <a:chOff x="0" y="0"/>
              <a:chExt cx="983694" cy="624645"/>
            </a:xfrm>
          </p:grpSpPr>
          <p:sp>
            <p:nvSpPr>
              <p:cNvPr id="304"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a:pPr>
                <a:endParaRPr/>
              </a:p>
            </p:txBody>
          </p:sp>
          <p:sp>
            <p:nvSpPr>
              <p:cNvPr id="305" name="ECW ratio ≤…"/>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a:pPr>
                <a:r>
                  <a:t>ECW ratio ≤</a:t>
                </a:r>
              </a:p>
              <a:p>
                <a:pPr algn="ctr" defTabSz="533400">
                  <a:lnSpc>
                    <a:spcPct val="90000"/>
                  </a:lnSpc>
                  <a:spcBef>
                    <a:spcPts val="500"/>
                  </a:spcBef>
                  <a:defRPr sz="1200"/>
                </a:pPr>
                <a:r>
                  <a:t>Normal</a:t>
                </a:r>
              </a:p>
            </p:txBody>
          </p:sp>
        </p:grpSp>
        <p:sp>
          <p:nvSpPr>
            <p:cNvPr id="307" name="Rounded Rectangle"/>
            <p:cNvSpPr/>
            <p:nvPr/>
          </p:nvSpPr>
          <p:spPr>
            <a:xfrm>
              <a:off x="3005734" y="910738"/>
              <a:ext cx="983696" cy="624646"/>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310" name="Group"/>
            <p:cNvGrpSpPr/>
            <p:nvPr/>
          </p:nvGrpSpPr>
          <p:grpSpPr>
            <a:xfrm>
              <a:off x="3115034" y="1014573"/>
              <a:ext cx="983696" cy="624647"/>
              <a:chOff x="0" y="0"/>
              <a:chExt cx="983694" cy="624645"/>
            </a:xfrm>
          </p:grpSpPr>
          <p:sp>
            <p:nvSpPr>
              <p:cNvPr id="308"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a:pPr>
                <a:endParaRPr/>
              </a:p>
            </p:txBody>
          </p:sp>
          <p:sp>
            <p:nvSpPr>
              <p:cNvPr id="309" name="SMM≤…"/>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b="1"/>
                </a:pPr>
                <a:r>
                  <a:t>SMM≤</a:t>
                </a:r>
              </a:p>
              <a:p>
                <a:pPr algn="ctr" defTabSz="533400">
                  <a:lnSpc>
                    <a:spcPct val="90000"/>
                  </a:lnSpc>
                  <a:spcBef>
                    <a:spcPts val="500"/>
                  </a:spcBef>
                  <a:defRPr sz="1200"/>
                </a:pPr>
                <a:r>
                  <a:t>Normal</a:t>
                </a:r>
              </a:p>
            </p:txBody>
          </p:sp>
        </p:grpSp>
        <p:sp>
          <p:nvSpPr>
            <p:cNvPr id="311" name="Rounded Rectangle"/>
            <p:cNvSpPr/>
            <p:nvPr/>
          </p:nvSpPr>
          <p:spPr>
            <a:xfrm>
              <a:off x="2404587" y="1821476"/>
              <a:ext cx="983696" cy="624647"/>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314" name="Group"/>
            <p:cNvGrpSpPr/>
            <p:nvPr/>
          </p:nvGrpSpPr>
          <p:grpSpPr>
            <a:xfrm>
              <a:off x="2513888" y="1925310"/>
              <a:ext cx="983696" cy="624646"/>
              <a:chOff x="0" y="0"/>
              <a:chExt cx="983694" cy="624645"/>
            </a:xfrm>
          </p:grpSpPr>
          <p:sp>
            <p:nvSpPr>
              <p:cNvPr id="312"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baseline="21999"/>
                </a:pPr>
                <a:endParaRPr/>
              </a:p>
            </p:txBody>
          </p:sp>
          <p:sp>
            <p:nvSpPr>
              <p:cNvPr id="313" name="VFA &gt;…"/>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a:pPr>
                <a:r>
                  <a:t>VFA &gt;</a:t>
                </a:r>
              </a:p>
              <a:p>
                <a:pPr algn="ctr" defTabSz="533400">
                  <a:lnSpc>
                    <a:spcPct val="90000"/>
                  </a:lnSpc>
                  <a:spcBef>
                    <a:spcPts val="500"/>
                  </a:spcBef>
                  <a:defRPr sz="1200"/>
                </a:pPr>
                <a:r>
                  <a:t>100cm</a:t>
                </a:r>
                <a:r>
                  <a:rPr baseline="21999"/>
                  <a:t>2</a:t>
                </a:r>
              </a:p>
            </p:txBody>
          </p:sp>
        </p:grpSp>
        <p:sp>
          <p:nvSpPr>
            <p:cNvPr id="315" name="Rounded Rectangle"/>
            <p:cNvSpPr/>
            <p:nvPr/>
          </p:nvSpPr>
          <p:spPr>
            <a:xfrm>
              <a:off x="3606881" y="1821476"/>
              <a:ext cx="983696" cy="624647"/>
            </a:xfrm>
            <a:prstGeom prst="roundRect">
              <a:avLst>
                <a:gd name="adj" fmla="val 10000"/>
              </a:avLst>
            </a:prstGeom>
            <a:solidFill>
              <a:srgbClr val="FFFFFF"/>
            </a:solidFill>
            <a:ln w="12700" cap="flat">
              <a:solidFill>
                <a:srgbClr val="D6712C"/>
              </a:solidFill>
              <a:prstDash val="solid"/>
              <a:miter lim="800000"/>
            </a:ln>
            <a:effectLst/>
          </p:spPr>
          <p:txBody>
            <a:bodyPr wrap="square" lIns="45719" tIns="45719" rIns="45719" bIns="45719" numCol="1" anchor="t">
              <a:noAutofit/>
            </a:bodyPr>
            <a:lstStyle/>
            <a:p>
              <a:endParaRPr/>
            </a:p>
          </p:txBody>
        </p:sp>
        <p:grpSp>
          <p:nvGrpSpPr>
            <p:cNvPr id="318" name="Group"/>
            <p:cNvGrpSpPr/>
            <p:nvPr/>
          </p:nvGrpSpPr>
          <p:grpSpPr>
            <a:xfrm>
              <a:off x="3716182" y="1925310"/>
              <a:ext cx="983696" cy="624646"/>
              <a:chOff x="0" y="0"/>
              <a:chExt cx="983694" cy="624645"/>
            </a:xfrm>
          </p:grpSpPr>
          <p:sp>
            <p:nvSpPr>
              <p:cNvPr id="316" name="Rounded Rectangle"/>
              <p:cNvSpPr/>
              <p:nvPr/>
            </p:nvSpPr>
            <p:spPr>
              <a:xfrm>
                <a:off x="0" y="0"/>
                <a:ext cx="983695" cy="624646"/>
              </a:xfrm>
              <a:prstGeom prst="roundRect">
                <a:avLst>
                  <a:gd name="adj" fmla="val 10000"/>
                </a:avLst>
              </a:prstGeom>
              <a:solidFill>
                <a:srgbClr val="F8D6CC">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700"/>
                  </a:spcBef>
                  <a:defRPr sz="1200"/>
                </a:pPr>
                <a:endParaRPr/>
              </a:p>
            </p:txBody>
          </p:sp>
          <p:sp>
            <p:nvSpPr>
              <p:cNvPr id="317" name="VFA ≤…"/>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500"/>
                  </a:spcBef>
                  <a:defRPr sz="1200"/>
                </a:pPr>
                <a:r>
                  <a:t>VFA ≤</a:t>
                </a:r>
              </a:p>
              <a:p>
                <a:pPr algn="ctr" defTabSz="533400">
                  <a:lnSpc>
                    <a:spcPct val="90000"/>
                  </a:lnSpc>
                  <a:spcBef>
                    <a:spcPts val="500"/>
                  </a:spcBef>
                  <a:defRPr sz="1200"/>
                </a:pPr>
                <a:r>
                  <a:t>100cm</a:t>
                </a:r>
                <a:r>
                  <a:rPr baseline="21999"/>
                  <a:t>2</a:t>
                </a:r>
              </a:p>
            </p:txBody>
          </p:sp>
        </p:grpSp>
      </p:grpSp>
      <p:sp>
        <p:nvSpPr>
          <p:cNvPr id="320" name="아래쪽 화살표 70"/>
          <p:cNvSpPr/>
          <p:nvPr/>
        </p:nvSpPr>
        <p:spPr>
          <a:xfrm>
            <a:off x="6443562" y="4341683"/>
            <a:ext cx="365761" cy="60089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8A221C"/>
          </a:solidFill>
          <a:ln w="12700">
            <a:solidFill>
              <a:srgbClr val="32538F"/>
            </a:solidFill>
            <a:miter/>
          </a:ln>
        </p:spPr>
        <p:txBody>
          <a:bodyPr lIns="45719" rIns="45719" anchor="ctr"/>
          <a:lstStyle/>
          <a:p>
            <a:pPr algn="ctr">
              <a:defRPr>
                <a:solidFill>
                  <a:srgbClr val="FFFFFF"/>
                </a:solidFill>
              </a:defRPr>
            </a:pPr>
            <a:endParaRPr/>
          </a:p>
        </p:txBody>
      </p:sp>
      <p:sp>
        <p:nvSpPr>
          <p:cNvPr id="321" name="아래쪽 화살표 71"/>
          <p:cNvSpPr/>
          <p:nvPr/>
        </p:nvSpPr>
        <p:spPr>
          <a:xfrm>
            <a:off x="7699772" y="4380872"/>
            <a:ext cx="365761" cy="60089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8A221C"/>
          </a:solidFill>
          <a:ln w="12700">
            <a:solidFill>
              <a:srgbClr val="32538F"/>
            </a:solidFill>
            <a:miter/>
          </a:ln>
        </p:spPr>
        <p:txBody>
          <a:bodyPr lIns="45719" rIns="45719" anchor="ctr"/>
          <a:lstStyle/>
          <a:p>
            <a:pPr algn="ctr">
              <a:defRPr>
                <a:solidFill>
                  <a:srgbClr val="FFFFFF"/>
                </a:solidFill>
              </a:defRPr>
            </a:pPr>
            <a:endParaRPr/>
          </a:p>
        </p:txBody>
      </p:sp>
      <p:sp>
        <p:nvSpPr>
          <p:cNvPr id="322" name="아래쪽 화살표 72"/>
          <p:cNvSpPr/>
          <p:nvPr/>
        </p:nvSpPr>
        <p:spPr>
          <a:xfrm>
            <a:off x="8938566" y="4341683"/>
            <a:ext cx="365761" cy="60089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8A221C"/>
          </a:solidFill>
          <a:ln w="12700">
            <a:solidFill>
              <a:srgbClr val="32538F"/>
            </a:solidFill>
            <a:miter/>
          </a:ln>
        </p:spPr>
        <p:txBody>
          <a:bodyPr lIns="45719" rIns="45719" anchor="ctr"/>
          <a:lstStyle/>
          <a:p>
            <a:pPr algn="ctr">
              <a:defRPr>
                <a:solidFill>
                  <a:srgbClr val="FFFFFF"/>
                </a:solidFill>
              </a:defRPr>
            </a:pPr>
            <a:endParaRPr/>
          </a:p>
        </p:txBody>
      </p:sp>
      <p:sp>
        <p:nvSpPr>
          <p:cNvPr id="323" name="아래쪽 화살표 73"/>
          <p:cNvSpPr/>
          <p:nvPr/>
        </p:nvSpPr>
        <p:spPr>
          <a:xfrm>
            <a:off x="10177358" y="4341683"/>
            <a:ext cx="365761" cy="60089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8A221C"/>
          </a:solidFill>
          <a:ln w="12700">
            <a:solidFill>
              <a:srgbClr val="32538F"/>
            </a:solidFill>
            <a:miter/>
          </a:ln>
        </p:spPr>
        <p:txBody>
          <a:bodyPr lIns="45719" rIns="45719" anchor="ctr"/>
          <a:lstStyle/>
          <a:p>
            <a:pPr algn="ctr">
              <a:defRPr>
                <a:solidFill>
                  <a:srgbClr val="FFFFFF"/>
                </a:solidFill>
              </a:defRPr>
            </a:pPr>
            <a:endParaRPr/>
          </a:p>
        </p:txBody>
      </p:sp>
      <p:grpSp>
        <p:nvGrpSpPr>
          <p:cNvPr id="326" name="순서도: 대체 처리 74"/>
          <p:cNvGrpSpPr/>
          <p:nvPr/>
        </p:nvGrpSpPr>
        <p:grpSpPr>
          <a:xfrm>
            <a:off x="6097397" y="5184237"/>
            <a:ext cx="1058093" cy="862151"/>
            <a:chOff x="0" y="0"/>
            <a:chExt cx="1058092" cy="862149"/>
          </a:xfrm>
        </p:grpSpPr>
        <p:sp>
          <p:nvSpPr>
            <p:cNvPr id="324"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32538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5" name="Edematous…"/>
            <p:cNvSpPr txBox="1"/>
            <p:nvPr/>
          </p:nvSpPr>
          <p:spPr>
            <a:xfrm>
              <a:off x="123915" y="169280"/>
              <a:ext cx="810261" cy="5235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sz="1200">
                  <a:solidFill>
                    <a:srgbClr val="FFFFFF"/>
                  </a:solidFill>
                </a:defRPr>
              </a:pPr>
              <a:r>
                <a:t>Edematous</a:t>
              </a:r>
            </a:p>
            <a:p>
              <a:pPr algn="ctr">
                <a:defRPr>
                  <a:solidFill>
                    <a:srgbClr val="FFFFFF"/>
                  </a:solidFill>
                </a:defRPr>
              </a:pPr>
              <a:r>
                <a:t>Obese</a:t>
              </a:r>
            </a:p>
          </p:txBody>
        </p:sp>
      </p:grpSp>
      <p:grpSp>
        <p:nvGrpSpPr>
          <p:cNvPr id="329" name="순서도: 대체 처리 75"/>
          <p:cNvGrpSpPr/>
          <p:nvPr/>
        </p:nvGrpSpPr>
        <p:grpSpPr>
          <a:xfrm>
            <a:off x="7353607" y="5184237"/>
            <a:ext cx="1058093" cy="862151"/>
            <a:chOff x="0" y="0"/>
            <a:chExt cx="1058092" cy="862149"/>
          </a:xfrm>
        </p:grpSpPr>
        <p:sp>
          <p:nvSpPr>
            <p:cNvPr id="327"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32538F"/>
              </a:solidFill>
              <a:prstDash val="solid"/>
              <a:miter lim="800000"/>
            </a:ln>
            <a:effectLst/>
          </p:spPr>
          <p:txBody>
            <a:bodyPr wrap="square" lIns="45719" tIns="45719" rIns="45719" bIns="45719" numCol="1" anchor="ctr">
              <a:noAutofit/>
            </a:bodyPr>
            <a:lstStyle/>
            <a:p>
              <a:pPr algn="ctr">
                <a:defRPr sz="1600">
                  <a:solidFill>
                    <a:srgbClr val="FFFFFF"/>
                  </a:solidFill>
                </a:defRPr>
              </a:pPr>
              <a:endParaRPr/>
            </a:p>
          </p:txBody>
        </p:sp>
        <p:sp>
          <p:nvSpPr>
            <p:cNvPr id="328" name="Muscular"/>
            <p:cNvSpPr txBox="1"/>
            <p:nvPr/>
          </p:nvSpPr>
          <p:spPr>
            <a:xfrm>
              <a:off x="123915" y="153777"/>
              <a:ext cx="810261" cy="5545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600">
                  <a:solidFill>
                    <a:srgbClr val="FFFFFF"/>
                  </a:solidFill>
                </a:defRPr>
              </a:lvl1pPr>
            </a:lstStyle>
            <a:p>
              <a:r>
                <a:t>Muscular</a:t>
              </a:r>
            </a:p>
          </p:txBody>
        </p:sp>
      </p:grpSp>
      <p:grpSp>
        <p:nvGrpSpPr>
          <p:cNvPr id="332" name="순서도: 대체 처리 76"/>
          <p:cNvGrpSpPr/>
          <p:nvPr/>
        </p:nvGrpSpPr>
        <p:grpSpPr>
          <a:xfrm>
            <a:off x="8592415" y="5203831"/>
            <a:ext cx="1058093" cy="862151"/>
            <a:chOff x="0" y="0"/>
            <a:chExt cx="1058092" cy="862149"/>
          </a:xfrm>
        </p:grpSpPr>
        <p:sp>
          <p:nvSpPr>
            <p:cNvPr id="330"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32538F"/>
              </a:solidFill>
              <a:prstDash val="solid"/>
              <a:miter lim="800000"/>
            </a:ln>
            <a:effectLst/>
          </p:spPr>
          <p:txBody>
            <a:bodyPr wrap="square" lIns="45719" tIns="45719" rIns="45719" bIns="45719" numCol="1" anchor="ctr">
              <a:noAutofit/>
            </a:bodyPr>
            <a:lstStyle/>
            <a:p>
              <a:pPr algn="ctr">
                <a:defRPr sz="1500">
                  <a:solidFill>
                    <a:srgbClr val="FFFFFF"/>
                  </a:solidFill>
                </a:defRPr>
              </a:pPr>
              <a:endParaRPr/>
            </a:p>
          </p:txBody>
        </p:sp>
        <p:sp>
          <p:nvSpPr>
            <p:cNvPr id="331" name="Visceral Fat Obese"/>
            <p:cNvSpPr txBox="1"/>
            <p:nvPr/>
          </p:nvSpPr>
          <p:spPr>
            <a:xfrm>
              <a:off x="123915" y="63476"/>
              <a:ext cx="810261" cy="7351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500">
                  <a:solidFill>
                    <a:srgbClr val="FFFFFF"/>
                  </a:solidFill>
                </a:defRPr>
              </a:lvl1pPr>
            </a:lstStyle>
            <a:p>
              <a:r>
                <a:t>Visceral Fat Obese</a:t>
              </a:r>
            </a:p>
          </p:txBody>
        </p:sp>
      </p:grpSp>
      <p:grpSp>
        <p:nvGrpSpPr>
          <p:cNvPr id="335" name="순서도: 대체 처리 77"/>
          <p:cNvGrpSpPr/>
          <p:nvPr/>
        </p:nvGrpSpPr>
        <p:grpSpPr>
          <a:xfrm>
            <a:off x="9831193" y="5133413"/>
            <a:ext cx="1058093" cy="963797"/>
            <a:chOff x="0" y="0"/>
            <a:chExt cx="1058092" cy="963796"/>
          </a:xfrm>
        </p:grpSpPr>
        <p:sp>
          <p:nvSpPr>
            <p:cNvPr id="333" name="Shape"/>
            <p:cNvSpPr/>
            <p:nvPr/>
          </p:nvSpPr>
          <p:spPr>
            <a:xfrm>
              <a:off x="0" y="50823"/>
              <a:ext cx="1058093" cy="86215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32538F"/>
              </a:solidFill>
              <a:prstDash val="solid"/>
              <a:miter lim="800000"/>
            </a:ln>
            <a:effectLst/>
          </p:spPr>
          <p:txBody>
            <a:bodyPr wrap="square" lIns="45719" tIns="45719" rIns="45719" bIns="45719" numCol="1" anchor="ctr">
              <a:noAutofit/>
            </a:bodyPr>
            <a:lstStyle/>
            <a:p>
              <a:pPr algn="ctr">
                <a:defRPr sz="1500">
                  <a:solidFill>
                    <a:srgbClr val="FFFFFF"/>
                  </a:solidFill>
                </a:defRPr>
              </a:pPr>
              <a:endParaRPr/>
            </a:p>
          </p:txBody>
        </p:sp>
        <p:sp>
          <p:nvSpPr>
            <p:cNvPr id="334" name="Subcutaneous fat Obese"/>
            <p:cNvSpPr txBox="1"/>
            <p:nvPr/>
          </p:nvSpPr>
          <p:spPr>
            <a:xfrm>
              <a:off x="123915" y="0"/>
              <a:ext cx="810261" cy="9637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500">
                  <a:solidFill>
                    <a:srgbClr val="FFFFFF"/>
                  </a:solidFill>
                </a:defRPr>
              </a:lvl1pPr>
            </a:lstStyle>
            <a:p>
              <a:r>
                <a:t>Subcutaneous fat Obese</a:t>
              </a:r>
            </a:p>
          </p:txBody>
        </p:sp>
      </p:grpSp>
      <p:sp>
        <p:nvSpPr>
          <p:cNvPr id="336" name="TextBox 78"/>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337"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1888FC0-32AF-C223-9D51-27CD8C7FA782}"/>
                  </a:ext>
                </a:extLst>
              </p14:cNvPr>
              <p14:cNvContentPartPr/>
              <p14:nvPr/>
            </p14:nvContentPartPr>
            <p14:xfrm>
              <a:off x="7959364" y="3050026"/>
              <a:ext cx="360" cy="360"/>
            </p14:xfrm>
          </p:contentPart>
        </mc:Choice>
        <mc:Fallback xmlns="">
          <p:pic>
            <p:nvPicPr>
              <p:cNvPr id="2" name="Ink 1">
                <a:extLst>
                  <a:ext uri="{FF2B5EF4-FFF2-40B4-BE49-F238E27FC236}">
                    <a16:creationId xmlns:a16="http://schemas.microsoft.com/office/drawing/2014/main" id="{81888FC0-32AF-C223-9D51-27CD8C7FA782}"/>
                  </a:ext>
                </a:extLst>
              </p:cNvPr>
              <p:cNvPicPr/>
              <p:nvPr/>
            </p:nvPicPr>
            <p:blipFill>
              <a:blip r:embed="rId4"/>
              <a:stretch>
                <a:fillRect/>
              </a:stretch>
            </p:blipFill>
            <p:spPr>
              <a:xfrm>
                <a:off x="7953244" y="304390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7EC1CC2-DA76-17BF-75E0-3762A3D63C2E}"/>
                  </a:ext>
                </a:extLst>
              </p14:cNvPr>
              <p14:cNvContentPartPr/>
              <p14:nvPr/>
            </p14:nvContentPartPr>
            <p14:xfrm>
              <a:off x="6566164" y="1181626"/>
              <a:ext cx="994680" cy="1466280"/>
            </p14:xfrm>
          </p:contentPart>
        </mc:Choice>
        <mc:Fallback xmlns="">
          <p:pic>
            <p:nvPicPr>
              <p:cNvPr id="3" name="Ink 2">
                <a:extLst>
                  <a:ext uri="{FF2B5EF4-FFF2-40B4-BE49-F238E27FC236}">
                    <a16:creationId xmlns:a16="http://schemas.microsoft.com/office/drawing/2014/main" id="{C7EC1CC2-DA76-17BF-75E0-3762A3D63C2E}"/>
                  </a:ext>
                </a:extLst>
              </p:cNvPr>
              <p:cNvPicPr/>
              <p:nvPr/>
            </p:nvPicPr>
            <p:blipFill>
              <a:blip r:embed="rId6"/>
              <a:stretch>
                <a:fillRect/>
              </a:stretch>
            </p:blipFill>
            <p:spPr>
              <a:xfrm>
                <a:off x="6560044" y="1175506"/>
                <a:ext cx="1006920" cy="1478520"/>
              </a:xfrm>
              <a:prstGeom prst="rect">
                <a:avLst/>
              </a:prstGeom>
            </p:spPr>
          </p:pic>
        </mc:Fallback>
      </mc:AlternateContent>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340" name="TextBox 3"/>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Phase Angle can be a predictor for post-surgical outcomes.</a:t>
            </a:r>
          </a:p>
        </p:txBody>
      </p:sp>
      <p:pic>
        <p:nvPicPr>
          <p:cNvPr id="341" name="그림 5" descr="그림 5"/>
          <p:cNvPicPr>
            <a:picLocks noChangeAspect="1"/>
          </p:cNvPicPr>
          <p:nvPr/>
        </p:nvPicPr>
        <p:blipFill>
          <a:blip r:embed="rId2"/>
          <a:stretch>
            <a:fillRect/>
          </a:stretch>
        </p:blipFill>
        <p:spPr>
          <a:xfrm>
            <a:off x="6815924" y="1146733"/>
            <a:ext cx="4091657" cy="5470608"/>
          </a:xfrm>
          <a:prstGeom prst="rect">
            <a:avLst/>
          </a:prstGeom>
          <a:ln w="12700">
            <a:miter lim="400000"/>
          </a:ln>
        </p:spPr>
      </p:pic>
      <p:sp>
        <p:nvSpPr>
          <p:cNvPr id="342" name="직사각형 7"/>
          <p:cNvSpPr/>
          <p:nvPr/>
        </p:nvSpPr>
        <p:spPr>
          <a:xfrm>
            <a:off x="7038667" y="1658354"/>
            <a:ext cx="654049" cy="122288"/>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343" name="직사각형 13"/>
          <p:cNvSpPr/>
          <p:nvPr/>
        </p:nvSpPr>
        <p:spPr>
          <a:xfrm>
            <a:off x="9470639" y="5546785"/>
            <a:ext cx="1286406" cy="267179"/>
          </a:xfrm>
          <a:prstGeom prst="rect">
            <a:avLst/>
          </a:prstGeom>
          <a:ln w="19050">
            <a:solidFill>
              <a:srgbClr val="2E75B6"/>
            </a:solidFill>
            <a:miter/>
          </a:ln>
        </p:spPr>
        <p:txBody>
          <a:bodyPr lIns="45719" rIns="45719" anchor="ctr"/>
          <a:lstStyle/>
          <a:p>
            <a:pPr algn="ctr">
              <a:defRPr>
                <a:solidFill>
                  <a:srgbClr val="FFFFFF"/>
                </a:solidFill>
              </a:defRPr>
            </a:pPr>
            <a:endParaRPr/>
          </a:p>
        </p:txBody>
      </p:sp>
      <p:grpSp>
        <p:nvGrpSpPr>
          <p:cNvPr id="355" name="그룹 19"/>
          <p:cNvGrpSpPr/>
          <p:nvPr/>
        </p:nvGrpSpPr>
        <p:grpSpPr>
          <a:xfrm>
            <a:off x="2139123" y="4327895"/>
            <a:ext cx="4322860" cy="2092169"/>
            <a:chOff x="1" y="0"/>
            <a:chExt cx="4322859" cy="2092168"/>
          </a:xfrm>
        </p:grpSpPr>
        <p:grpSp>
          <p:nvGrpSpPr>
            <p:cNvPr id="346" name="타원 14"/>
            <p:cNvGrpSpPr/>
            <p:nvPr/>
          </p:nvGrpSpPr>
          <p:grpSpPr>
            <a:xfrm>
              <a:off x="2569257" y="712840"/>
              <a:ext cx="1286811" cy="1286811"/>
              <a:chOff x="0" y="0"/>
              <a:chExt cx="1286810" cy="1286810"/>
            </a:xfrm>
          </p:grpSpPr>
          <p:sp>
            <p:nvSpPr>
              <p:cNvPr id="344" name="Circle"/>
              <p:cNvSpPr/>
              <p:nvPr/>
            </p:nvSpPr>
            <p:spPr>
              <a:xfrm>
                <a:off x="-1" y="-1"/>
                <a:ext cx="1286812" cy="1286812"/>
              </a:xfrm>
              <a:prstGeom prst="ellipse">
                <a:avLst/>
              </a:prstGeom>
              <a:solidFill>
                <a:srgbClr val="2F5597"/>
              </a:solidFill>
              <a:ln w="12700" cap="flat">
                <a:solidFill>
                  <a:srgbClr val="32538F"/>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345" name="Success!"/>
              <p:cNvSpPr txBox="1"/>
              <p:nvPr/>
            </p:nvSpPr>
            <p:spPr>
              <a:xfrm>
                <a:off x="240518" y="330810"/>
                <a:ext cx="805773" cy="6251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Success!</a:t>
                </a:r>
              </a:p>
            </p:txBody>
          </p:sp>
        </p:grpSp>
        <p:sp>
          <p:nvSpPr>
            <p:cNvPr id="347" name="직사각형 15"/>
            <p:cNvSpPr/>
            <p:nvPr/>
          </p:nvSpPr>
          <p:spPr>
            <a:xfrm>
              <a:off x="1" y="-1"/>
              <a:ext cx="4322860" cy="2092170"/>
            </a:xfrm>
            <a:prstGeom prst="rect">
              <a:avLst/>
            </a:prstGeom>
            <a:noFill/>
            <a:ln w="19050" cap="flat">
              <a:solidFill>
                <a:srgbClr val="2E75B6"/>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48" name="직사각형 16"/>
            <p:cNvSpPr txBox="1"/>
            <p:nvPr/>
          </p:nvSpPr>
          <p:spPr>
            <a:xfrm>
              <a:off x="45720" y="30892"/>
              <a:ext cx="4231419" cy="6248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just">
                <a:defRPr sz="1200" b="1">
                  <a:latin typeface="맑은 고딕"/>
                  <a:ea typeface="맑은 고딕"/>
                  <a:cs typeface="맑은 고딕"/>
                  <a:sym typeface="맑은 고딕"/>
                </a:defRPr>
              </a:lvl1pPr>
            </a:lstStyle>
            <a:p>
              <a:r>
                <a:t>phase angle is a parameter reflecting cell membrane integrity and physiological function which can be used as a weight loss predictor.</a:t>
              </a:r>
            </a:p>
          </p:txBody>
        </p:sp>
        <p:grpSp>
          <p:nvGrpSpPr>
            <p:cNvPr id="351" name="오른쪽 화살표 17"/>
            <p:cNvGrpSpPr/>
            <p:nvPr/>
          </p:nvGrpSpPr>
          <p:grpSpPr>
            <a:xfrm>
              <a:off x="1535067" y="768279"/>
              <a:ext cx="1252729" cy="1176687"/>
              <a:chOff x="0" y="0"/>
              <a:chExt cx="1252727" cy="1176686"/>
            </a:xfrm>
          </p:grpSpPr>
          <p:sp>
            <p:nvSpPr>
              <p:cNvPr id="349" name="Arrow"/>
              <p:cNvSpPr/>
              <p:nvPr/>
            </p:nvSpPr>
            <p:spPr>
              <a:xfrm>
                <a:off x="0" y="0"/>
                <a:ext cx="1252728" cy="1176687"/>
              </a:xfrm>
              <a:prstGeom prst="rightArrow">
                <a:avLst>
                  <a:gd name="adj1" fmla="val 50000"/>
                  <a:gd name="adj2" fmla="val 50000"/>
                </a:avLst>
              </a:prstGeom>
              <a:gradFill flip="none" rotWithShape="1">
                <a:gsLst>
                  <a:gs pos="23000">
                    <a:srgbClr val="C7D5ED">
                      <a:alpha val="50000"/>
                    </a:srgbClr>
                  </a:gs>
                  <a:gs pos="43000">
                    <a:srgbClr val="ABC0E4"/>
                  </a:gs>
                  <a:gs pos="100000">
                    <a:srgbClr val="2F5597">
                      <a:alpha val="50000"/>
                    </a:srgbClr>
                  </a:gs>
                </a:gsLst>
                <a:lin ang="0" scaled="0"/>
              </a:gradFill>
              <a:ln w="12700" cap="flat">
                <a:noFill/>
                <a:miter lim="400000"/>
              </a:ln>
              <a:effectLst/>
            </p:spPr>
            <p:txBody>
              <a:bodyPr wrap="square" lIns="45719" tIns="45719" rIns="45719" bIns="45719" numCol="1" anchor="ctr">
                <a:noAutofit/>
              </a:bodyPr>
              <a:lstStyle/>
              <a:p>
                <a:pPr algn="ctr">
                  <a:defRPr b="1">
                    <a:solidFill>
                      <a:srgbClr val="C00000"/>
                    </a:solidFill>
                    <a:latin typeface="맑은 고딕"/>
                    <a:ea typeface="맑은 고딕"/>
                    <a:cs typeface="맑은 고딕"/>
                    <a:sym typeface="맑은 고딕"/>
                  </a:defRPr>
                </a:pPr>
                <a:endParaRPr/>
              </a:p>
            </p:txBody>
          </p:sp>
          <p:sp>
            <p:nvSpPr>
              <p:cNvPr id="350" name="Phase angle"/>
              <p:cNvSpPr txBox="1"/>
              <p:nvPr/>
            </p:nvSpPr>
            <p:spPr>
              <a:xfrm>
                <a:off x="45719" y="263223"/>
                <a:ext cx="867119" cy="650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C00000"/>
                    </a:solidFill>
                    <a:latin typeface="맑은 고딕"/>
                    <a:ea typeface="맑은 고딕"/>
                    <a:cs typeface="맑은 고딕"/>
                    <a:sym typeface="맑은 고딕"/>
                  </a:defRPr>
                </a:lvl1pPr>
              </a:lstStyle>
              <a:p>
                <a:r>
                  <a:t>Phase angle</a:t>
                </a:r>
              </a:p>
            </p:txBody>
          </p:sp>
        </p:grpSp>
        <p:grpSp>
          <p:nvGrpSpPr>
            <p:cNvPr id="354" name="타원 18"/>
            <p:cNvGrpSpPr/>
            <p:nvPr/>
          </p:nvGrpSpPr>
          <p:grpSpPr>
            <a:xfrm>
              <a:off x="549835" y="831397"/>
              <a:ext cx="1058705" cy="1058705"/>
              <a:chOff x="0" y="0"/>
              <a:chExt cx="1058703" cy="1058703"/>
            </a:xfrm>
          </p:grpSpPr>
          <p:sp>
            <p:nvSpPr>
              <p:cNvPr id="352" name="Circle"/>
              <p:cNvSpPr/>
              <p:nvPr/>
            </p:nvSpPr>
            <p:spPr>
              <a:xfrm>
                <a:off x="0" y="0"/>
                <a:ext cx="1058704" cy="1058704"/>
              </a:xfrm>
              <a:prstGeom prst="ellipse">
                <a:avLst/>
              </a:prstGeom>
              <a:solidFill>
                <a:srgbClr val="2F5597"/>
              </a:solidFill>
              <a:ln w="12700" cap="flat">
                <a:solidFill>
                  <a:srgbClr val="32538F"/>
                </a:solidFill>
                <a:prstDash val="solid"/>
                <a:miter lim="800000"/>
              </a:ln>
              <a:effectLst/>
            </p:spPr>
            <p:txBody>
              <a:bodyPr wrap="square" lIns="45719" tIns="45719" rIns="45719" bIns="45719" numCol="1" anchor="ctr">
                <a:noAutofit/>
              </a:bodyPr>
              <a:lstStyle/>
              <a:p>
                <a:pPr algn="ctr">
                  <a:defRPr sz="1400" b="1" spc="-150">
                    <a:solidFill>
                      <a:srgbClr val="FFFFFF">
                        <a:alpha val="10000"/>
                      </a:srgbClr>
                    </a:solidFill>
                  </a:defRPr>
                </a:pPr>
                <a:endParaRPr/>
              </a:p>
            </p:txBody>
          </p:sp>
          <p:sp>
            <p:nvSpPr>
              <p:cNvPr id="353" name="Success?"/>
              <p:cNvSpPr txBox="1"/>
              <p:nvPr/>
            </p:nvSpPr>
            <p:spPr>
              <a:xfrm>
                <a:off x="207113" y="388952"/>
                <a:ext cx="644478" cy="280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400" b="1" spc="-150">
                    <a:solidFill>
                      <a:srgbClr val="FFFFFF">
                        <a:alpha val="10000"/>
                      </a:srgbClr>
                    </a:solidFill>
                  </a:defRPr>
                </a:lvl1pPr>
              </a:lstStyle>
              <a:p>
                <a:r>
                  <a:t>Success?</a:t>
                </a:r>
              </a:p>
            </p:txBody>
          </p:sp>
        </p:grpSp>
      </p:grpSp>
      <p:pic>
        <p:nvPicPr>
          <p:cNvPr id="356" name="Picture 2" descr="Picture 2"/>
          <p:cNvPicPr>
            <a:picLocks noChangeAspect="1"/>
          </p:cNvPicPr>
          <p:nvPr/>
        </p:nvPicPr>
        <p:blipFill>
          <a:blip r:embed="rId3"/>
          <a:srcRect l="16790" t="66139" r="17151" b="3340"/>
          <a:stretch>
            <a:fillRect/>
          </a:stretch>
        </p:blipFill>
        <p:spPr>
          <a:xfrm>
            <a:off x="1987130" y="1892391"/>
            <a:ext cx="4364228" cy="2063426"/>
          </a:xfrm>
          <a:prstGeom prst="rect">
            <a:avLst/>
          </a:prstGeom>
          <a:ln w="12700">
            <a:miter lim="400000"/>
          </a:ln>
        </p:spPr>
      </p:pic>
      <p:sp>
        <p:nvSpPr>
          <p:cNvPr id="357"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TextBox 1"/>
          <p:cNvSpPr txBox="1"/>
          <p:nvPr/>
        </p:nvSpPr>
        <p:spPr>
          <a:xfrm>
            <a:off x="1853641" y="5851600"/>
            <a:ext cx="8484718" cy="6449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000" b="1">
                <a:solidFill>
                  <a:srgbClr val="C00000"/>
                </a:solidFill>
              </a:defRPr>
            </a:lvl1pPr>
          </a:lstStyle>
          <a:p>
            <a:r>
              <a:t>Phase angle shows the nutrition level of cell mass and can be used for evaluating survival rate and nutrition level of cell mass.</a:t>
            </a:r>
          </a:p>
        </p:txBody>
      </p:sp>
      <p:pic>
        <p:nvPicPr>
          <p:cNvPr id="360" name="Picture 2" descr="Picture 2"/>
          <p:cNvPicPr>
            <a:picLocks noChangeAspect="1"/>
          </p:cNvPicPr>
          <p:nvPr/>
        </p:nvPicPr>
        <p:blipFill>
          <a:blip r:embed="rId2"/>
          <a:stretch>
            <a:fillRect/>
          </a:stretch>
        </p:blipFill>
        <p:spPr>
          <a:xfrm>
            <a:off x="1963925" y="1737856"/>
            <a:ext cx="3787034" cy="3918817"/>
          </a:xfrm>
          <a:prstGeom prst="rect">
            <a:avLst/>
          </a:prstGeom>
          <a:ln w="12700">
            <a:miter lim="400000"/>
          </a:ln>
        </p:spPr>
      </p:pic>
      <p:pic>
        <p:nvPicPr>
          <p:cNvPr id="361" name="Picture 6" descr="Picture 6"/>
          <p:cNvPicPr>
            <a:picLocks noChangeAspect="1"/>
          </p:cNvPicPr>
          <p:nvPr/>
        </p:nvPicPr>
        <p:blipFill>
          <a:blip r:embed="rId3"/>
          <a:srcRect r="11223"/>
          <a:stretch>
            <a:fillRect/>
          </a:stretch>
        </p:blipFill>
        <p:spPr>
          <a:xfrm>
            <a:off x="6035964" y="1708218"/>
            <a:ext cx="4373488" cy="3978095"/>
          </a:xfrm>
          <a:prstGeom prst="rect">
            <a:avLst/>
          </a:prstGeom>
          <a:ln w="12700">
            <a:miter lim="400000"/>
          </a:ln>
        </p:spPr>
      </p:pic>
      <p:sp>
        <p:nvSpPr>
          <p:cNvPr id="362" name="타원 4"/>
          <p:cNvSpPr/>
          <p:nvPr/>
        </p:nvSpPr>
        <p:spPr>
          <a:xfrm>
            <a:off x="2177700" y="2899606"/>
            <a:ext cx="819377" cy="819377"/>
          </a:xfrm>
          <a:prstGeom prst="ellipse">
            <a:avLst/>
          </a:prstGeom>
          <a:ln w="19050">
            <a:solidFill>
              <a:srgbClr val="C00000"/>
            </a:solidFill>
            <a:miter/>
          </a:ln>
        </p:spPr>
        <p:txBody>
          <a:bodyPr lIns="45719" rIns="45719" anchor="ctr"/>
          <a:lstStyle/>
          <a:p>
            <a:pPr algn="ctr">
              <a:defRPr>
                <a:solidFill>
                  <a:srgbClr val="FFFFFF"/>
                </a:solidFill>
              </a:defRPr>
            </a:pPr>
            <a:endParaRPr/>
          </a:p>
        </p:txBody>
      </p:sp>
      <p:sp>
        <p:nvSpPr>
          <p:cNvPr id="363" name="TextBox 6"/>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364" name="TextBox 7"/>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Phase Angle can be a predictor for post-surgical outcomes.</a:t>
            </a:r>
          </a:p>
        </p:txBody>
      </p:sp>
      <p:sp>
        <p:nvSpPr>
          <p:cNvPr id="365"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① Pre-surgery: Prediction of surgery outcome</a:t>
            </a:r>
          </a:p>
        </p:txBody>
      </p:sp>
      <p:sp>
        <p:nvSpPr>
          <p:cNvPr id="368" name="TextBox 6"/>
          <p:cNvSpPr txBox="1"/>
          <p:nvPr/>
        </p:nvSpPr>
        <p:spPr>
          <a:xfrm>
            <a:off x="2291724" y="6058958"/>
            <a:ext cx="7709191"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FF0000"/>
                </a:solidFill>
              </a:defRPr>
            </a:pPr>
            <a:r>
              <a:t>PhA</a:t>
            </a:r>
            <a:r>
              <a:rPr>
                <a:solidFill>
                  <a:srgbClr val="000000"/>
                </a:solidFill>
              </a:rPr>
              <a:t> can be used as predictor of weight loss success rate before bariatric surgery.</a:t>
            </a:r>
          </a:p>
        </p:txBody>
      </p:sp>
      <p:pic>
        <p:nvPicPr>
          <p:cNvPr id="369" name="그림 7" descr="그림 7"/>
          <p:cNvPicPr>
            <a:picLocks noChangeAspect="1"/>
          </p:cNvPicPr>
          <p:nvPr/>
        </p:nvPicPr>
        <p:blipFill>
          <a:blip r:embed="rId2"/>
          <a:srcRect l="31746" t="14833" r="38016" b="63721"/>
          <a:stretch>
            <a:fillRect/>
          </a:stretch>
        </p:blipFill>
        <p:spPr>
          <a:xfrm>
            <a:off x="1777520" y="1457405"/>
            <a:ext cx="3894666" cy="1553778"/>
          </a:xfrm>
          <a:prstGeom prst="rect">
            <a:avLst/>
          </a:prstGeom>
          <a:ln w="12700">
            <a:miter lim="400000"/>
          </a:ln>
        </p:spPr>
      </p:pic>
      <p:pic>
        <p:nvPicPr>
          <p:cNvPr id="370" name="그림 8" descr="그림 8"/>
          <p:cNvPicPr>
            <a:picLocks noChangeAspect="1"/>
          </p:cNvPicPr>
          <p:nvPr/>
        </p:nvPicPr>
        <p:blipFill>
          <a:blip r:embed="rId3"/>
          <a:srcRect l="50080" t="36561" r="32698" b="58642"/>
          <a:stretch>
            <a:fillRect/>
          </a:stretch>
        </p:blipFill>
        <p:spPr>
          <a:xfrm>
            <a:off x="1821061" y="5037278"/>
            <a:ext cx="3851125" cy="603404"/>
          </a:xfrm>
          <a:prstGeom prst="rect">
            <a:avLst/>
          </a:prstGeom>
          <a:ln w="12700">
            <a:miter lim="400000"/>
          </a:ln>
        </p:spPr>
      </p:pic>
      <p:pic>
        <p:nvPicPr>
          <p:cNvPr id="371" name="그림 9" descr="그림 9"/>
          <p:cNvPicPr>
            <a:picLocks noChangeAspect="1"/>
          </p:cNvPicPr>
          <p:nvPr/>
        </p:nvPicPr>
        <p:blipFill>
          <a:blip r:embed="rId3"/>
          <a:srcRect l="32103" t="33104" r="50278" b="52786"/>
          <a:stretch>
            <a:fillRect/>
          </a:stretch>
        </p:blipFill>
        <p:spPr>
          <a:xfrm>
            <a:off x="1777519" y="3113622"/>
            <a:ext cx="3939861" cy="1774713"/>
          </a:xfrm>
          <a:prstGeom prst="rect">
            <a:avLst/>
          </a:prstGeom>
          <a:ln w="12700">
            <a:miter lim="400000"/>
          </a:ln>
        </p:spPr>
      </p:pic>
      <p:sp>
        <p:nvSpPr>
          <p:cNvPr id="372" name="직선 연결선 10"/>
          <p:cNvSpPr/>
          <p:nvPr/>
        </p:nvSpPr>
        <p:spPr>
          <a:xfrm>
            <a:off x="2662893" y="5201227"/>
            <a:ext cx="2951237" cy="1"/>
          </a:xfrm>
          <a:prstGeom prst="line">
            <a:avLst/>
          </a:prstGeom>
          <a:ln w="19050">
            <a:solidFill>
              <a:srgbClr val="C00000"/>
            </a:solidFill>
            <a:miter/>
          </a:ln>
        </p:spPr>
        <p:txBody>
          <a:bodyPr lIns="45719" rIns="45719"/>
          <a:lstStyle/>
          <a:p>
            <a:endParaRPr/>
          </a:p>
        </p:txBody>
      </p:sp>
      <p:sp>
        <p:nvSpPr>
          <p:cNvPr id="373" name="직선 연결선 11"/>
          <p:cNvSpPr/>
          <p:nvPr/>
        </p:nvSpPr>
        <p:spPr>
          <a:xfrm>
            <a:off x="1828805" y="5397172"/>
            <a:ext cx="1034392" cy="1"/>
          </a:xfrm>
          <a:prstGeom prst="line">
            <a:avLst/>
          </a:prstGeom>
          <a:ln w="19050">
            <a:solidFill>
              <a:srgbClr val="C00000"/>
            </a:solidFill>
            <a:miter/>
          </a:ln>
        </p:spPr>
        <p:txBody>
          <a:bodyPr lIns="45719" rIns="45719"/>
          <a:lstStyle/>
          <a:p>
            <a:endParaRPr/>
          </a:p>
        </p:txBody>
      </p:sp>
      <p:grpSp>
        <p:nvGrpSpPr>
          <p:cNvPr id="377" name="그룹 15"/>
          <p:cNvGrpSpPr/>
          <p:nvPr/>
        </p:nvGrpSpPr>
        <p:grpSpPr>
          <a:xfrm>
            <a:off x="5954626" y="1883212"/>
            <a:ext cx="4717975" cy="3621875"/>
            <a:chOff x="0" y="0"/>
            <a:chExt cx="4717974" cy="3621873"/>
          </a:xfrm>
        </p:grpSpPr>
        <p:sp>
          <p:nvSpPr>
            <p:cNvPr id="374" name="TextBox 5"/>
            <p:cNvSpPr txBox="1"/>
            <p:nvPr/>
          </p:nvSpPr>
          <p:spPr>
            <a:xfrm>
              <a:off x="250209" y="2789777"/>
              <a:ext cx="4467766" cy="73914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a:latin typeface="나눔바른고딕"/>
                  <a:ea typeface="나눔바른고딕"/>
                  <a:cs typeface="나눔바른고딕"/>
                  <a:sym typeface="나눔바른고딕"/>
                </a:defRPr>
              </a:lvl1pPr>
            </a:lstStyle>
            <a:p>
              <a:r>
                <a:rPr dirty="0"/>
                <a:t>Phase angle showed a close correlation with the EWL%(</a:t>
              </a:r>
              <a:r>
                <a:rPr dirty="0" err="1"/>
                <a:t>Exceww</a:t>
              </a:r>
              <a:r>
                <a:rPr dirty="0"/>
                <a:t> Weight Loss) after 6 weeks. 6 months, 9 months, 12 months surgery.</a:t>
              </a:r>
            </a:p>
          </p:txBody>
        </p:sp>
        <p:pic>
          <p:nvPicPr>
            <p:cNvPr id="375" name="그림 12" descr="그림 12"/>
            <p:cNvPicPr>
              <a:picLocks noChangeAspect="1"/>
            </p:cNvPicPr>
            <p:nvPr/>
          </p:nvPicPr>
          <p:blipFill>
            <a:blip r:embed="rId4"/>
            <a:srcRect l="50000" t="47566" r="32301" b="30705"/>
            <a:stretch>
              <a:fillRect/>
            </a:stretch>
          </p:blipFill>
          <p:spPr>
            <a:xfrm>
              <a:off x="381320" y="53605"/>
              <a:ext cx="3883481" cy="2681867"/>
            </a:xfrm>
            <a:prstGeom prst="rect">
              <a:avLst/>
            </a:prstGeom>
            <a:ln w="12700" cap="flat">
              <a:noFill/>
              <a:miter lim="400000"/>
            </a:ln>
            <a:effectLst/>
          </p:spPr>
        </p:pic>
        <p:sp>
          <p:nvSpPr>
            <p:cNvPr id="376" name="모서리가 둥근 직사각형 13"/>
            <p:cNvSpPr/>
            <p:nvPr/>
          </p:nvSpPr>
          <p:spPr>
            <a:xfrm>
              <a:off x="0" y="0"/>
              <a:ext cx="4646120" cy="3621874"/>
            </a:xfrm>
            <a:prstGeom prst="roundRect">
              <a:avLst>
                <a:gd name="adj" fmla="val 16667"/>
              </a:avLst>
            </a:prstGeom>
            <a:noFill/>
            <a:ln w="25400" cap="flat">
              <a:solidFill>
                <a:srgbClr val="C00000"/>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378" name="직사각형 14"/>
          <p:cNvSpPr/>
          <p:nvPr/>
        </p:nvSpPr>
        <p:spPr>
          <a:xfrm>
            <a:off x="1574319" y="7073459"/>
            <a:ext cx="9144001" cy="188641"/>
          </a:xfrm>
          <a:prstGeom prst="rect">
            <a:avLst/>
          </a:prstGeom>
          <a:solidFill>
            <a:srgbClr val="C55A11"/>
          </a:solidFill>
          <a:ln w="12700">
            <a:miter lim="400000"/>
          </a:ln>
        </p:spPr>
        <p:txBody>
          <a:bodyPr lIns="45719" rIns="45719" anchor="ctr"/>
          <a:lstStyle/>
          <a:p>
            <a:pPr algn="ctr">
              <a:defRPr sz="1300">
                <a:solidFill>
                  <a:srgbClr val="FFFFFF"/>
                </a:solidFill>
              </a:defRPr>
            </a:pPr>
            <a:endParaRPr/>
          </a:p>
        </p:txBody>
      </p:sp>
      <p:sp>
        <p:nvSpPr>
          <p:cNvPr id="379"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1" name="그림 4" descr="그림 4"/>
          <p:cNvPicPr>
            <a:picLocks noChangeAspect="1"/>
          </p:cNvPicPr>
          <p:nvPr/>
        </p:nvPicPr>
        <p:blipFill>
          <a:blip r:embed="rId2"/>
          <a:stretch>
            <a:fillRect/>
          </a:stretch>
        </p:blipFill>
        <p:spPr>
          <a:xfrm>
            <a:off x="2086665" y="1667201"/>
            <a:ext cx="2454640" cy="331896"/>
          </a:xfrm>
          <a:prstGeom prst="rect">
            <a:avLst/>
          </a:prstGeom>
          <a:ln w="12700">
            <a:miter lim="400000"/>
          </a:ln>
        </p:spPr>
      </p:pic>
      <p:pic>
        <p:nvPicPr>
          <p:cNvPr id="382" name="그림 2" descr="그림 2"/>
          <p:cNvPicPr>
            <a:picLocks noChangeAspect="1"/>
          </p:cNvPicPr>
          <p:nvPr/>
        </p:nvPicPr>
        <p:blipFill>
          <a:blip r:embed="rId3"/>
          <a:stretch>
            <a:fillRect/>
          </a:stretch>
        </p:blipFill>
        <p:spPr>
          <a:xfrm>
            <a:off x="2054625" y="803105"/>
            <a:ext cx="3926837" cy="521982"/>
          </a:xfrm>
          <a:prstGeom prst="rect">
            <a:avLst/>
          </a:prstGeom>
          <a:ln w="12700">
            <a:miter lim="400000"/>
          </a:ln>
        </p:spPr>
      </p:pic>
      <p:sp>
        <p:nvSpPr>
          <p:cNvPr id="383" name="모서리가 둥근 직사각형 1"/>
          <p:cNvSpPr/>
          <p:nvPr/>
        </p:nvSpPr>
        <p:spPr>
          <a:xfrm>
            <a:off x="2093029" y="2099248"/>
            <a:ext cx="3384377" cy="4222123"/>
          </a:xfrm>
          <a:prstGeom prst="roundRect">
            <a:avLst>
              <a:gd name="adj" fmla="val 7903"/>
            </a:avLst>
          </a:prstGeom>
          <a:solidFill>
            <a:srgbClr val="D9D9D9"/>
          </a:solidFill>
          <a:ln w="12700">
            <a:miter lim="400000"/>
          </a:ln>
          <a:effectLst>
            <a:outerShdw blurRad="50800" dist="38100" dir="5400000" rotWithShape="0">
              <a:srgbClr val="000000">
                <a:alpha val="40000"/>
              </a:srgbClr>
            </a:outerShdw>
          </a:effectLst>
        </p:spPr>
        <p:txBody>
          <a:bodyPr lIns="45719" rIns="45719" anchor="b"/>
          <a:lstStyle/>
          <a:p>
            <a:pPr algn="ctr">
              <a:defRPr b="1">
                <a:solidFill>
                  <a:srgbClr val="0E3767"/>
                </a:solidFill>
                <a:latin typeface="Arial"/>
                <a:ea typeface="Arial"/>
                <a:cs typeface="Arial"/>
                <a:sym typeface="Arial"/>
              </a:defRPr>
            </a:pPr>
            <a:endParaRPr/>
          </a:p>
        </p:txBody>
      </p:sp>
      <p:pic>
        <p:nvPicPr>
          <p:cNvPr id="384" name="그림 3" descr="그림 3"/>
          <p:cNvPicPr>
            <a:picLocks noChangeAspect="1"/>
          </p:cNvPicPr>
          <p:nvPr/>
        </p:nvPicPr>
        <p:blipFill>
          <a:blip r:embed="rId4"/>
          <a:stretch>
            <a:fillRect/>
          </a:stretch>
        </p:blipFill>
        <p:spPr>
          <a:xfrm>
            <a:off x="2113896" y="1307161"/>
            <a:ext cx="3867568" cy="341068"/>
          </a:xfrm>
          <a:prstGeom prst="rect">
            <a:avLst/>
          </a:prstGeom>
          <a:ln w="12700">
            <a:miter lim="400000"/>
          </a:ln>
        </p:spPr>
      </p:pic>
      <p:pic>
        <p:nvPicPr>
          <p:cNvPr id="385" name="그림 5" descr="그림 5"/>
          <p:cNvPicPr>
            <a:picLocks noChangeAspect="1"/>
          </p:cNvPicPr>
          <p:nvPr/>
        </p:nvPicPr>
        <p:blipFill>
          <a:blip r:embed="rId5"/>
          <a:stretch>
            <a:fillRect/>
          </a:stretch>
        </p:blipFill>
        <p:spPr>
          <a:xfrm>
            <a:off x="2237047" y="2216916"/>
            <a:ext cx="3059810" cy="2115460"/>
          </a:xfrm>
          <a:prstGeom prst="rect">
            <a:avLst/>
          </a:prstGeom>
          <a:ln w="12700">
            <a:miter lim="400000"/>
          </a:ln>
        </p:spPr>
      </p:pic>
      <p:pic>
        <p:nvPicPr>
          <p:cNvPr id="386" name="그림 6" descr="그림 6"/>
          <p:cNvPicPr>
            <a:picLocks noChangeAspect="1"/>
          </p:cNvPicPr>
          <p:nvPr/>
        </p:nvPicPr>
        <p:blipFill>
          <a:blip r:embed="rId6"/>
          <a:stretch>
            <a:fillRect/>
          </a:stretch>
        </p:blipFill>
        <p:spPr>
          <a:xfrm>
            <a:off x="2237047" y="4305148"/>
            <a:ext cx="3059810" cy="1884476"/>
          </a:xfrm>
          <a:prstGeom prst="rect">
            <a:avLst/>
          </a:prstGeom>
          <a:ln w="12700">
            <a:miter lim="400000"/>
          </a:ln>
        </p:spPr>
      </p:pic>
      <p:pic>
        <p:nvPicPr>
          <p:cNvPr id="387" name="그림 7" descr="그림 7"/>
          <p:cNvPicPr>
            <a:picLocks noChangeAspect="1"/>
          </p:cNvPicPr>
          <p:nvPr/>
        </p:nvPicPr>
        <p:blipFill>
          <a:blip r:embed="rId7"/>
          <a:stretch>
            <a:fillRect/>
          </a:stretch>
        </p:blipFill>
        <p:spPr>
          <a:xfrm>
            <a:off x="6477305" y="1069179"/>
            <a:ext cx="3453444" cy="3600401"/>
          </a:xfrm>
          <a:prstGeom prst="rect">
            <a:avLst/>
          </a:prstGeom>
          <a:ln w="12700">
            <a:miter lim="400000"/>
          </a:ln>
        </p:spPr>
      </p:pic>
      <p:pic>
        <p:nvPicPr>
          <p:cNvPr id="388" name="그림 8" descr="그림 8"/>
          <p:cNvPicPr>
            <a:picLocks noChangeAspect="1"/>
          </p:cNvPicPr>
          <p:nvPr/>
        </p:nvPicPr>
        <p:blipFill>
          <a:blip r:embed="rId8"/>
          <a:stretch>
            <a:fillRect/>
          </a:stretch>
        </p:blipFill>
        <p:spPr>
          <a:xfrm>
            <a:off x="6477305" y="4840637"/>
            <a:ext cx="3571029" cy="515484"/>
          </a:xfrm>
          <a:prstGeom prst="rect">
            <a:avLst/>
          </a:prstGeom>
          <a:ln w="12700">
            <a:miter lim="400000"/>
          </a:ln>
        </p:spPr>
      </p:pic>
      <p:sp>
        <p:nvSpPr>
          <p:cNvPr id="389" name="직선 연결선 10"/>
          <p:cNvSpPr/>
          <p:nvPr/>
        </p:nvSpPr>
        <p:spPr>
          <a:xfrm>
            <a:off x="7290976" y="5016072"/>
            <a:ext cx="2736001" cy="1590"/>
          </a:xfrm>
          <a:prstGeom prst="line">
            <a:avLst/>
          </a:prstGeom>
          <a:ln w="12700">
            <a:solidFill>
              <a:srgbClr val="FF0000"/>
            </a:solidFill>
            <a:miter/>
          </a:ln>
        </p:spPr>
        <p:txBody>
          <a:bodyPr lIns="45719" rIns="45719"/>
          <a:lstStyle/>
          <a:p>
            <a:endParaRPr/>
          </a:p>
        </p:txBody>
      </p:sp>
      <p:sp>
        <p:nvSpPr>
          <p:cNvPr id="390" name="직선 연결선 12"/>
          <p:cNvSpPr/>
          <p:nvPr/>
        </p:nvSpPr>
        <p:spPr>
          <a:xfrm>
            <a:off x="6477304" y="5196324"/>
            <a:ext cx="3528002" cy="1588"/>
          </a:xfrm>
          <a:prstGeom prst="line">
            <a:avLst/>
          </a:prstGeom>
          <a:ln w="12700">
            <a:solidFill>
              <a:srgbClr val="FF0000"/>
            </a:solidFill>
            <a:miter/>
          </a:ln>
        </p:spPr>
        <p:txBody>
          <a:bodyPr lIns="45719" rIns="45719"/>
          <a:lstStyle/>
          <a:p>
            <a:endParaRPr/>
          </a:p>
        </p:txBody>
      </p:sp>
      <p:sp>
        <p:nvSpPr>
          <p:cNvPr id="391" name="직사각형 9"/>
          <p:cNvSpPr txBox="1"/>
          <p:nvPr/>
        </p:nvSpPr>
        <p:spPr>
          <a:xfrm>
            <a:off x="6243206" y="5706805"/>
            <a:ext cx="4246433" cy="50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1">
                <a:solidFill>
                  <a:srgbClr val="203864"/>
                </a:solidFill>
              </a:defRPr>
            </a:lvl1pPr>
          </a:lstStyle>
          <a:p>
            <a:r>
              <a:t>El ángulo de fase puede ser un predictor útil de pérdida de peso excesiva después de la cirugía</a:t>
            </a:r>
          </a:p>
        </p:txBody>
      </p:sp>
      <p:sp>
        <p:nvSpPr>
          <p:cNvPr id="392" name="직선 연결선 13"/>
          <p:cNvSpPr/>
          <p:nvPr/>
        </p:nvSpPr>
        <p:spPr>
          <a:xfrm>
            <a:off x="6498818" y="5393806"/>
            <a:ext cx="2376001" cy="1590"/>
          </a:xfrm>
          <a:prstGeom prst="line">
            <a:avLst/>
          </a:prstGeom>
          <a:ln w="12700">
            <a:solidFill>
              <a:srgbClr val="FF0000"/>
            </a:solidFill>
            <a:miter/>
          </a:ln>
        </p:spPr>
        <p:txBody>
          <a:bodyPr lIns="45719" rIns="45719"/>
          <a:lstStyle/>
          <a:p>
            <a:endParaRPr/>
          </a:p>
        </p:txBody>
      </p:sp>
      <p:sp>
        <p:nvSpPr>
          <p:cNvPr id="393"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Google Shape;132;p25"/>
          <p:cNvSpPr txBox="1"/>
          <p:nvPr/>
        </p:nvSpPr>
        <p:spPr>
          <a:xfrm>
            <a:off x="2541399" y="2766199"/>
            <a:ext cx="7109202" cy="132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gn="ctr">
              <a:defRPr sz="7300" b="1">
                <a:solidFill>
                  <a:srgbClr val="535353"/>
                </a:solidFill>
                <a:latin typeface="Graphik"/>
                <a:ea typeface="Graphik"/>
                <a:cs typeface="Graphik"/>
                <a:sym typeface="Graphik"/>
              </a:defRPr>
            </a:lvl1pPr>
          </a:lstStyle>
          <a:p>
            <a:r>
              <a:t>Post-Surgery</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rPr dirty="0"/>
              <a:t>② Post-surgery: Post-surgery Management</a:t>
            </a:r>
          </a:p>
        </p:txBody>
      </p:sp>
      <p:sp>
        <p:nvSpPr>
          <p:cNvPr id="398" name="TextBox 4"/>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recovery</a:t>
            </a:r>
          </a:p>
        </p:txBody>
      </p:sp>
      <p:sp>
        <p:nvSpPr>
          <p:cNvPr id="399" name="오른쪽 화살표 15"/>
          <p:cNvSpPr/>
          <p:nvPr/>
        </p:nvSpPr>
        <p:spPr>
          <a:xfrm>
            <a:off x="2667114" y="2310125"/>
            <a:ext cx="6217921" cy="1332972"/>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grpSp>
        <p:nvGrpSpPr>
          <p:cNvPr id="402" name="직사각형 16"/>
          <p:cNvGrpSpPr/>
          <p:nvPr/>
        </p:nvGrpSpPr>
        <p:grpSpPr>
          <a:xfrm>
            <a:off x="4832368" y="2497095"/>
            <a:ext cx="2605868" cy="508629"/>
            <a:chOff x="0" y="0"/>
            <a:chExt cx="2605866" cy="508628"/>
          </a:xfrm>
        </p:grpSpPr>
        <p:sp>
          <p:nvSpPr>
            <p:cNvPr id="400"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01" name="Malnutrition Prevention"/>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Malnutrition Prevention</a:t>
              </a:r>
            </a:p>
          </p:txBody>
        </p:sp>
      </p:grpSp>
      <p:pic>
        <p:nvPicPr>
          <p:cNvPr id="403" name="그림 18" descr="그림 18"/>
          <p:cNvPicPr>
            <a:picLocks/>
          </p:cNvPicPr>
          <p:nvPr/>
        </p:nvPicPr>
        <p:blipFill>
          <a:blip r:embed="rId2"/>
          <a:stretch>
            <a:fillRect/>
          </a:stretch>
        </p:blipFill>
        <p:spPr>
          <a:xfrm>
            <a:off x="803662" y="1787033"/>
            <a:ext cx="2863566" cy="2379151"/>
          </a:xfrm>
          <a:prstGeom prst="rect">
            <a:avLst/>
          </a:prstGeom>
          <a:ln w="12700">
            <a:miter lim="400000"/>
          </a:ln>
        </p:spPr>
      </p:pic>
      <p:sp>
        <p:nvSpPr>
          <p:cNvPr id="404" name="직사각형 19"/>
          <p:cNvSpPr/>
          <p:nvPr/>
        </p:nvSpPr>
        <p:spPr>
          <a:xfrm>
            <a:off x="4481657" y="2399850"/>
            <a:ext cx="3248492" cy="1159381"/>
          </a:xfrm>
          <a:prstGeom prst="rect">
            <a:avLst/>
          </a:prstGeom>
          <a:ln w="19050">
            <a:solidFill>
              <a:srgbClr val="C55A11"/>
            </a:solidFill>
            <a:miter/>
          </a:ln>
        </p:spPr>
        <p:txBody>
          <a:bodyPr lIns="45719" rIns="45719" anchor="ctr"/>
          <a:lstStyle/>
          <a:p>
            <a:pPr algn="ctr">
              <a:defRPr>
                <a:solidFill>
                  <a:srgbClr val="FFFFFF"/>
                </a:solidFill>
              </a:defRPr>
            </a:pPr>
            <a:endParaRPr/>
          </a:p>
        </p:txBody>
      </p:sp>
      <p:sp>
        <p:nvSpPr>
          <p:cNvPr id="405" name="TextBox 20"/>
          <p:cNvSpPr txBox="1"/>
          <p:nvPr/>
        </p:nvSpPr>
        <p:spPr>
          <a:xfrm>
            <a:off x="5309563" y="3648955"/>
            <a:ext cx="1651479"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Post-Surgery</a:t>
            </a:r>
          </a:p>
        </p:txBody>
      </p:sp>
      <p:grpSp>
        <p:nvGrpSpPr>
          <p:cNvPr id="408" name="폭발 1 21"/>
          <p:cNvGrpSpPr/>
          <p:nvPr/>
        </p:nvGrpSpPr>
        <p:grpSpPr>
          <a:xfrm>
            <a:off x="8276925" y="2136264"/>
            <a:ext cx="2371109" cy="1965180"/>
            <a:chOff x="0" y="0"/>
            <a:chExt cx="2371108" cy="1965179"/>
          </a:xfrm>
        </p:grpSpPr>
        <p:sp>
          <p:nvSpPr>
            <p:cNvPr id="406"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C00000"/>
            </a:solidFill>
            <a:ln w="53975" cap="flat">
              <a:solidFill>
                <a:srgbClr val="C00000"/>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407" name="Successful…"/>
            <p:cNvSpPr txBox="1"/>
            <p:nvPr/>
          </p:nvSpPr>
          <p:spPr>
            <a:xfrm>
              <a:off x="580629" y="608902"/>
              <a:ext cx="1180101" cy="6251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b="1">
                  <a:solidFill>
                    <a:srgbClr val="FFFFFF"/>
                  </a:solidFill>
                </a:defRPr>
              </a:pPr>
              <a:r>
                <a:t>Successful</a:t>
              </a:r>
            </a:p>
            <a:p>
              <a:pPr algn="ctr">
                <a:defRPr b="1">
                  <a:solidFill>
                    <a:srgbClr val="FFFFFF"/>
                  </a:solidFill>
                </a:defRPr>
              </a:pPr>
              <a:r>
                <a:t>Recovery</a:t>
              </a:r>
            </a:p>
          </p:txBody>
        </p:sp>
      </p:grpSp>
      <p:grpSp>
        <p:nvGrpSpPr>
          <p:cNvPr id="411" name="직사각형 22"/>
          <p:cNvGrpSpPr/>
          <p:nvPr/>
        </p:nvGrpSpPr>
        <p:grpSpPr>
          <a:xfrm>
            <a:off x="4838065" y="3035695"/>
            <a:ext cx="2605867" cy="508629"/>
            <a:chOff x="0" y="0"/>
            <a:chExt cx="2605866" cy="508628"/>
          </a:xfrm>
        </p:grpSpPr>
        <p:sp>
          <p:nvSpPr>
            <p:cNvPr id="409"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10" name="Recovery Monitoring"/>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Recovery Monitoring</a:t>
              </a:r>
            </a:p>
          </p:txBody>
        </p:sp>
      </p:grpSp>
      <p:grpSp>
        <p:nvGrpSpPr>
          <p:cNvPr id="414" name="그룹 23"/>
          <p:cNvGrpSpPr/>
          <p:nvPr/>
        </p:nvGrpSpPr>
        <p:grpSpPr>
          <a:xfrm>
            <a:off x="2667114" y="4737287"/>
            <a:ext cx="7228491" cy="1754836"/>
            <a:chOff x="0" y="0"/>
            <a:chExt cx="7228489" cy="1754834"/>
          </a:xfrm>
        </p:grpSpPr>
        <p:sp>
          <p:nvSpPr>
            <p:cNvPr id="412" name="모서리가 둥근 직사각형 24"/>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400" b="1" i="1">
                  <a:solidFill>
                    <a:srgbClr val="333F50"/>
                  </a:solidFill>
                  <a:latin typeface="Arial"/>
                  <a:ea typeface="Arial"/>
                  <a:cs typeface="Arial"/>
                  <a:sym typeface="Arial"/>
                </a:defRPr>
              </a:pPr>
              <a:endParaRPr/>
            </a:p>
          </p:txBody>
        </p:sp>
        <p:sp>
          <p:nvSpPr>
            <p:cNvPr id="413" name="TextBox 25"/>
            <p:cNvSpPr txBox="1"/>
            <p:nvPr/>
          </p:nvSpPr>
          <p:spPr>
            <a:xfrm>
              <a:off x="131817" y="261479"/>
              <a:ext cx="6964855" cy="5706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400"/>
              </a:pPr>
              <a:r>
                <a:t>▷ Malnutrition is one of the post-surgical issues in bariatric surgery.</a:t>
              </a:r>
            </a:p>
            <a:p>
              <a:pPr>
                <a:defRPr sz="1400"/>
              </a:pPr>
              <a:r>
                <a:t>      -&gt; ECW ratio from InBody can monitor malnutrition in post-surgical patients</a:t>
              </a:r>
            </a:p>
          </p:txBody>
        </p:sp>
      </p:grpSp>
      <p:sp>
        <p:nvSpPr>
          <p:cNvPr id="415" name="TextBox 26"/>
          <p:cNvSpPr txBox="1"/>
          <p:nvPr/>
        </p:nvSpPr>
        <p:spPr>
          <a:xfrm>
            <a:off x="2798932" y="5724962"/>
            <a:ext cx="7097457" cy="5706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pPr>
            <a:r>
              <a:t>▷ Monitoring post-surgical edema for tracking recovery.</a:t>
            </a:r>
          </a:p>
          <a:p>
            <a:pPr>
              <a:defRPr sz="1400"/>
            </a:pPr>
            <a:r>
              <a:t>      -&gt; InBody measures water volume that can track edema in whole body and in each segments.</a:t>
            </a:r>
          </a:p>
        </p:txBody>
      </p:sp>
      <p:sp>
        <p:nvSpPr>
          <p:cNvPr id="416"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
        <p:nvSpPr>
          <p:cNvPr id="417" name="TextBox 6"/>
          <p:cNvSpPr txBox="1"/>
          <p:nvPr/>
        </p:nvSpPr>
        <p:spPr>
          <a:xfrm>
            <a:off x="1712411" y="1932666"/>
            <a:ext cx="1378589" cy="2678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a:latin typeface="Graphik"/>
                <a:ea typeface="Graphik"/>
                <a:cs typeface="Graphik"/>
                <a:sym typeface="Graphik"/>
              </a:defRPr>
            </a:lvl1pPr>
          </a:lstStyle>
          <a:p>
            <a:r>
              <a:t>InBody Test</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TextBox 8"/>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② Post-surgery: Post-surgery Management</a:t>
            </a:r>
          </a:p>
        </p:txBody>
      </p:sp>
      <p:sp>
        <p:nvSpPr>
          <p:cNvPr id="420" name="TextBox 9"/>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recovery</a:t>
            </a:r>
          </a:p>
        </p:txBody>
      </p:sp>
      <p:pic>
        <p:nvPicPr>
          <p:cNvPr id="421" name="그림 10" descr="그림 10"/>
          <p:cNvPicPr>
            <a:picLocks noChangeAspect="1"/>
          </p:cNvPicPr>
          <p:nvPr/>
        </p:nvPicPr>
        <p:blipFill>
          <a:blip r:embed="rId2"/>
          <a:srcRect l="31290" t="8925" r="31774" b="64347"/>
          <a:stretch>
            <a:fillRect/>
          </a:stretch>
        </p:blipFill>
        <p:spPr>
          <a:xfrm>
            <a:off x="1683893" y="1751007"/>
            <a:ext cx="4083351" cy="1769441"/>
          </a:xfrm>
          <a:prstGeom prst="rect">
            <a:avLst/>
          </a:prstGeom>
          <a:ln w="12700">
            <a:miter lim="400000"/>
          </a:ln>
        </p:spPr>
      </p:pic>
      <p:pic>
        <p:nvPicPr>
          <p:cNvPr id="422" name="그림 11" descr="그림 11"/>
          <p:cNvPicPr>
            <a:picLocks noChangeAspect="1"/>
          </p:cNvPicPr>
          <p:nvPr/>
        </p:nvPicPr>
        <p:blipFill>
          <a:blip r:embed="rId3"/>
          <a:srcRect t="14392"/>
          <a:stretch>
            <a:fillRect/>
          </a:stretch>
        </p:blipFill>
        <p:spPr>
          <a:xfrm>
            <a:off x="5877419" y="2313148"/>
            <a:ext cx="4771223" cy="2004948"/>
          </a:xfrm>
          <a:prstGeom prst="rect">
            <a:avLst/>
          </a:prstGeom>
          <a:ln w="12700">
            <a:miter lim="400000"/>
          </a:ln>
        </p:spPr>
      </p:pic>
      <p:sp>
        <p:nvSpPr>
          <p:cNvPr id="423" name="모서리가 둥근 직사각형 12"/>
          <p:cNvSpPr/>
          <p:nvPr/>
        </p:nvSpPr>
        <p:spPr>
          <a:xfrm>
            <a:off x="5790334" y="2084839"/>
            <a:ext cx="4893735" cy="2980962"/>
          </a:xfrm>
          <a:prstGeom prst="roundRect">
            <a:avLst>
              <a:gd name="adj" fmla="val 16667"/>
            </a:avLst>
          </a:prstGeom>
          <a:ln w="25400">
            <a:solidFill>
              <a:srgbClr val="C00000"/>
            </a:solidFill>
            <a:miter/>
          </a:ln>
        </p:spPr>
        <p:txBody>
          <a:bodyPr lIns="45719" rIns="45719" anchor="ctr"/>
          <a:lstStyle/>
          <a:p>
            <a:pPr algn="ctr">
              <a:defRPr>
                <a:solidFill>
                  <a:srgbClr val="FFFFFF"/>
                </a:solidFill>
              </a:defRPr>
            </a:pPr>
            <a:endParaRPr/>
          </a:p>
        </p:txBody>
      </p:sp>
      <p:sp>
        <p:nvSpPr>
          <p:cNvPr id="424" name="TextBox 13"/>
          <p:cNvSpPr txBox="1"/>
          <p:nvPr/>
        </p:nvSpPr>
        <p:spPr>
          <a:xfrm>
            <a:off x="5931916" y="4318094"/>
            <a:ext cx="4607213" cy="50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1"/>
            </a:lvl1pPr>
          </a:lstStyle>
          <a:p>
            <a:r>
              <a:t>ECW/ICW was increased after duodenoileal bypass surgery which is a absorption limiting procedure.</a:t>
            </a:r>
          </a:p>
        </p:txBody>
      </p:sp>
      <p:sp>
        <p:nvSpPr>
          <p:cNvPr id="425" name="TextBox 14"/>
          <p:cNvSpPr txBox="1"/>
          <p:nvPr/>
        </p:nvSpPr>
        <p:spPr>
          <a:xfrm>
            <a:off x="2146817" y="5888121"/>
            <a:ext cx="8241112"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FF0000"/>
                </a:solidFill>
              </a:defRPr>
            </a:pPr>
            <a:r>
              <a:t>ECW/ICW</a:t>
            </a:r>
            <a:r>
              <a:rPr>
                <a:solidFill>
                  <a:srgbClr val="000000"/>
                </a:solidFill>
              </a:rPr>
              <a:t> can be used as tool for evaluation of nutrition status after bariatric surgery.</a:t>
            </a:r>
          </a:p>
        </p:txBody>
      </p:sp>
      <p:grpSp>
        <p:nvGrpSpPr>
          <p:cNvPr id="431" name="그룹 15"/>
          <p:cNvGrpSpPr/>
          <p:nvPr/>
        </p:nvGrpSpPr>
        <p:grpSpPr>
          <a:xfrm>
            <a:off x="1937257" y="3576508"/>
            <a:ext cx="3576623" cy="1983180"/>
            <a:chOff x="0" y="0"/>
            <a:chExt cx="3576621" cy="1983178"/>
          </a:xfrm>
        </p:grpSpPr>
        <p:pic>
          <p:nvPicPr>
            <p:cNvPr id="426" name="그림 16" descr="그림 16"/>
            <p:cNvPicPr>
              <a:picLocks noChangeAspect="1"/>
            </p:cNvPicPr>
            <p:nvPr/>
          </p:nvPicPr>
          <p:blipFill>
            <a:blip r:embed="rId4"/>
            <a:srcRect l="32394" t="56724" r="49935" b="32502"/>
            <a:stretch>
              <a:fillRect/>
            </a:stretch>
          </p:blipFill>
          <p:spPr>
            <a:xfrm>
              <a:off x="0" y="0"/>
              <a:ext cx="3576622" cy="1983179"/>
            </a:xfrm>
            <a:prstGeom prst="rect">
              <a:avLst/>
            </a:prstGeom>
            <a:ln w="12700" cap="flat">
              <a:noFill/>
              <a:miter lim="400000"/>
            </a:ln>
            <a:effectLst/>
          </p:spPr>
        </p:pic>
        <p:sp>
          <p:nvSpPr>
            <p:cNvPr id="427" name="직선 연결선 17"/>
            <p:cNvSpPr/>
            <p:nvPr/>
          </p:nvSpPr>
          <p:spPr>
            <a:xfrm>
              <a:off x="2828497" y="731698"/>
              <a:ext cx="641269" cy="1"/>
            </a:xfrm>
            <a:prstGeom prst="line">
              <a:avLst/>
            </a:prstGeom>
            <a:noFill/>
            <a:ln w="19050" cap="flat">
              <a:solidFill>
                <a:srgbClr val="C00000"/>
              </a:solidFill>
              <a:prstDash val="solid"/>
              <a:miter lim="800000"/>
            </a:ln>
            <a:effectLst/>
          </p:spPr>
          <p:txBody>
            <a:bodyPr wrap="square" lIns="45719" tIns="45719" rIns="45719" bIns="45719" numCol="1" anchor="t">
              <a:noAutofit/>
            </a:bodyPr>
            <a:lstStyle/>
            <a:p>
              <a:endParaRPr/>
            </a:p>
          </p:txBody>
        </p:sp>
        <p:sp>
          <p:nvSpPr>
            <p:cNvPr id="428" name="직선 연결선 18"/>
            <p:cNvSpPr/>
            <p:nvPr/>
          </p:nvSpPr>
          <p:spPr>
            <a:xfrm>
              <a:off x="58168" y="943474"/>
              <a:ext cx="3423473" cy="1"/>
            </a:xfrm>
            <a:prstGeom prst="line">
              <a:avLst/>
            </a:prstGeom>
            <a:noFill/>
            <a:ln w="19050" cap="flat">
              <a:solidFill>
                <a:srgbClr val="C00000"/>
              </a:solidFill>
              <a:prstDash val="solid"/>
              <a:miter lim="800000"/>
            </a:ln>
            <a:effectLst/>
          </p:spPr>
          <p:txBody>
            <a:bodyPr wrap="square" lIns="45719" tIns="45719" rIns="45719" bIns="45719" numCol="1" anchor="t">
              <a:noAutofit/>
            </a:bodyPr>
            <a:lstStyle/>
            <a:p>
              <a:endParaRPr/>
            </a:p>
          </p:txBody>
        </p:sp>
        <p:sp>
          <p:nvSpPr>
            <p:cNvPr id="429" name="직선 연결선 19"/>
            <p:cNvSpPr/>
            <p:nvPr/>
          </p:nvSpPr>
          <p:spPr>
            <a:xfrm>
              <a:off x="56188" y="1167124"/>
              <a:ext cx="3423474" cy="1"/>
            </a:xfrm>
            <a:prstGeom prst="line">
              <a:avLst/>
            </a:prstGeom>
            <a:noFill/>
            <a:ln w="19050" cap="flat">
              <a:solidFill>
                <a:srgbClr val="C00000"/>
              </a:solidFill>
              <a:prstDash val="solid"/>
              <a:miter lim="800000"/>
            </a:ln>
            <a:effectLst/>
          </p:spPr>
          <p:txBody>
            <a:bodyPr wrap="square" lIns="45719" tIns="45719" rIns="45719" bIns="45719" numCol="1" anchor="t">
              <a:noAutofit/>
            </a:bodyPr>
            <a:lstStyle/>
            <a:p>
              <a:endParaRPr/>
            </a:p>
          </p:txBody>
        </p:sp>
        <p:sp>
          <p:nvSpPr>
            <p:cNvPr id="430" name="직선 연결선 20"/>
            <p:cNvSpPr/>
            <p:nvPr/>
          </p:nvSpPr>
          <p:spPr>
            <a:xfrm>
              <a:off x="59566" y="1382860"/>
              <a:ext cx="560122" cy="1"/>
            </a:xfrm>
            <a:prstGeom prst="line">
              <a:avLst/>
            </a:prstGeom>
            <a:noFill/>
            <a:ln w="19050" cap="flat">
              <a:solidFill>
                <a:srgbClr val="C00000"/>
              </a:solidFill>
              <a:prstDash val="solid"/>
              <a:miter lim="800000"/>
            </a:ln>
            <a:effectLst/>
          </p:spPr>
          <p:txBody>
            <a:bodyPr wrap="square" lIns="45719" tIns="45719" rIns="45719" bIns="45719" numCol="1" anchor="t">
              <a:noAutofit/>
            </a:bodyPr>
            <a:lstStyle/>
            <a:p>
              <a:endParaRPr/>
            </a:p>
          </p:txBody>
        </p:sp>
      </p:grpSp>
      <p:sp>
        <p:nvSpPr>
          <p:cNvPr id="432"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② Post-surgery: Post-surgery Management</a:t>
            </a:r>
          </a:p>
        </p:txBody>
      </p:sp>
      <p:sp>
        <p:nvSpPr>
          <p:cNvPr id="435" name="TextBox 3"/>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recovery</a:t>
            </a:r>
          </a:p>
        </p:txBody>
      </p:sp>
      <p:sp>
        <p:nvSpPr>
          <p:cNvPr id="436" name="TextBox 4"/>
          <p:cNvSpPr txBox="1"/>
          <p:nvPr/>
        </p:nvSpPr>
        <p:spPr>
          <a:xfrm>
            <a:off x="1900757" y="1800242"/>
            <a:ext cx="8261489" cy="15739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50000"/>
              </a:lnSpc>
              <a:defRPr sz="1400"/>
            </a:pPr>
            <a:r>
              <a:t>After surgery by using the ECW Ratio, we can see how well the patient is recovering from surgery. </a:t>
            </a:r>
          </a:p>
          <a:p>
            <a:pPr>
              <a:lnSpc>
                <a:spcPct val="150000"/>
              </a:lnSpc>
              <a:defRPr sz="1400"/>
            </a:pPr>
            <a:r>
              <a:t>If the ECW ratio comes down to the normal, which means the patient has recovered well and does not have edema any more, We can track the actual fat, muscle decrease from the surgery and keep on monitoring the body composition change of the patient.</a:t>
            </a:r>
          </a:p>
        </p:txBody>
      </p:sp>
      <p:pic>
        <p:nvPicPr>
          <p:cNvPr id="437" name="그림 5" descr="그림 5"/>
          <p:cNvPicPr>
            <a:picLocks noChangeAspect="1"/>
          </p:cNvPicPr>
          <p:nvPr/>
        </p:nvPicPr>
        <p:blipFill>
          <a:blip r:embed="rId2"/>
          <a:srcRect l="3767" t="71049" r="37095" b="21254"/>
          <a:stretch>
            <a:fillRect/>
          </a:stretch>
        </p:blipFill>
        <p:spPr>
          <a:xfrm>
            <a:off x="3309931" y="3220890"/>
            <a:ext cx="5077218" cy="936105"/>
          </a:xfrm>
          <a:prstGeom prst="rect">
            <a:avLst/>
          </a:prstGeom>
          <a:ln w="12700">
            <a:miter lim="400000"/>
          </a:ln>
          <a:effectLst>
            <a:outerShdw blurRad="50800" dist="38100" dir="2700000" rotWithShape="0">
              <a:srgbClr val="000000">
                <a:alpha val="40000"/>
              </a:srgbClr>
            </a:outerShdw>
          </a:effectLst>
        </p:spPr>
      </p:pic>
      <p:grpSp>
        <p:nvGrpSpPr>
          <p:cNvPr id="440" name="Picture 10"/>
          <p:cNvGrpSpPr/>
          <p:nvPr/>
        </p:nvGrpSpPr>
        <p:grpSpPr>
          <a:xfrm>
            <a:off x="6031503" y="4481419"/>
            <a:ext cx="4344485" cy="2048097"/>
            <a:chOff x="0" y="0"/>
            <a:chExt cx="4344484" cy="2048095"/>
          </a:xfrm>
        </p:grpSpPr>
        <p:sp>
          <p:nvSpPr>
            <p:cNvPr id="438" name="Rectangle"/>
            <p:cNvSpPr/>
            <p:nvPr/>
          </p:nvSpPr>
          <p:spPr>
            <a:xfrm>
              <a:off x="0" y="0"/>
              <a:ext cx="4344485" cy="2048096"/>
            </a:xfrm>
            <a:prstGeom prst="rect">
              <a:avLst/>
            </a:prstGeom>
            <a:solidFill>
              <a:srgbClr val="EDEDED"/>
            </a:solidFill>
            <a:ln w="12700" cap="flat">
              <a:noFill/>
              <a:miter lim="400000"/>
            </a:ln>
            <a:effectLst/>
          </p:spPr>
          <p:txBody>
            <a:bodyPr wrap="square" lIns="45719" tIns="45719" rIns="45719" bIns="45719" numCol="1" anchor="ctr">
              <a:noAutofit/>
            </a:bodyPr>
            <a:lstStyle/>
            <a:p>
              <a:endParaRPr/>
            </a:p>
          </p:txBody>
        </p:sp>
        <p:pic>
          <p:nvPicPr>
            <p:cNvPr id="439" name="image30.png" descr="image30.png"/>
            <p:cNvPicPr>
              <a:picLocks noChangeAspect="1"/>
            </p:cNvPicPr>
            <p:nvPr/>
          </p:nvPicPr>
          <p:blipFill>
            <a:blip r:embed="rId3"/>
            <a:srcRect l="48580" t="7992" b="3124"/>
            <a:stretch>
              <a:fillRect/>
            </a:stretch>
          </p:blipFill>
          <p:spPr>
            <a:xfrm>
              <a:off x="0" y="0"/>
              <a:ext cx="4344485" cy="2048096"/>
            </a:xfrm>
            <a:prstGeom prst="rect">
              <a:avLst/>
            </a:prstGeom>
            <a:ln w="88900" cap="sq">
              <a:solidFill>
                <a:srgbClr val="FFFFFF"/>
              </a:solidFill>
              <a:prstDash val="solid"/>
              <a:miter lim="800000"/>
            </a:ln>
            <a:effectLst>
              <a:outerShdw blurRad="50800" dist="18000" dir="5400000" rotWithShape="0">
                <a:srgbClr val="000000">
                  <a:alpha val="40000"/>
                </a:srgbClr>
              </a:outerShdw>
            </a:effectLst>
          </p:spPr>
        </p:pic>
      </p:grpSp>
      <p:pic>
        <p:nvPicPr>
          <p:cNvPr id="441" name="그림 7" descr="그림 7"/>
          <p:cNvPicPr>
            <a:picLocks noChangeAspect="1"/>
          </p:cNvPicPr>
          <p:nvPr/>
        </p:nvPicPr>
        <p:blipFill>
          <a:blip r:embed="rId4"/>
          <a:srcRect l="2473" t="54200" r="35147" b="25851"/>
          <a:stretch>
            <a:fillRect/>
          </a:stretch>
        </p:blipFill>
        <p:spPr>
          <a:xfrm>
            <a:off x="1552266" y="4369970"/>
            <a:ext cx="5164947" cy="2159547"/>
          </a:xfrm>
          <a:prstGeom prst="rect">
            <a:avLst/>
          </a:prstGeom>
          <a:ln w="12700">
            <a:miter lim="400000"/>
          </a:ln>
          <a:effectLst>
            <a:outerShdw blurRad="50800" dist="38100" dir="2700000" rotWithShape="0">
              <a:srgbClr val="000000">
                <a:alpha val="40000"/>
              </a:srgbClr>
            </a:outerShdw>
          </a:effectLst>
        </p:spPr>
      </p:pic>
      <p:sp>
        <p:nvSpPr>
          <p:cNvPr id="442"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7" name="그룹 1"/>
          <p:cNvGrpSpPr/>
          <p:nvPr/>
        </p:nvGrpSpPr>
        <p:grpSpPr>
          <a:xfrm>
            <a:off x="1984474" y="1699404"/>
            <a:ext cx="5102126" cy="4889992"/>
            <a:chOff x="0" y="0"/>
            <a:chExt cx="5102125" cy="4889991"/>
          </a:xfrm>
        </p:grpSpPr>
        <p:pic>
          <p:nvPicPr>
            <p:cNvPr id="444" name="그림 2" descr="그림 2"/>
            <p:cNvPicPr>
              <a:picLocks noChangeAspect="1"/>
            </p:cNvPicPr>
            <p:nvPr/>
          </p:nvPicPr>
          <p:blipFill>
            <a:blip r:embed="rId2"/>
            <a:stretch>
              <a:fillRect/>
            </a:stretch>
          </p:blipFill>
          <p:spPr>
            <a:xfrm>
              <a:off x="0" y="0"/>
              <a:ext cx="5102126" cy="4889992"/>
            </a:xfrm>
            <a:prstGeom prst="rect">
              <a:avLst/>
            </a:prstGeom>
            <a:ln w="12700" cap="flat">
              <a:noFill/>
              <a:miter lim="400000"/>
            </a:ln>
            <a:effectLst/>
          </p:spPr>
        </p:pic>
        <p:sp>
          <p:nvSpPr>
            <p:cNvPr id="445" name="직선 연결선 3"/>
            <p:cNvSpPr/>
            <p:nvPr/>
          </p:nvSpPr>
          <p:spPr>
            <a:xfrm>
              <a:off x="3573365" y="2286859"/>
              <a:ext cx="1336582" cy="1"/>
            </a:xfrm>
            <a:prstGeom prst="line">
              <a:avLst/>
            </a:prstGeom>
            <a:noFill/>
            <a:ln w="6350" cap="flat">
              <a:solidFill>
                <a:srgbClr val="C00000"/>
              </a:solidFill>
              <a:prstDash val="solid"/>
              <a:miter lim="800000"/>
            </a:ln>
            <a:effectLst/>
          </p:spPr>
          <p:txBody>
            <a:bodyPr wrap="square" lIns="45719" tIns="45719" rIns="45719" bIns="45719" numCol="1" anchor="t">
              <a:noAutofit/>
            </a:bodyPr>
            <a:lstStyle/>
            <a:p>
              <a:endParaRPr/>
            </a:p>
          </p:txBody>
        </p:sp>
        <p:sp>
          <p:nvSpPr>
            <p:cNvPr id="446" name="직선 연결선 4"/>
            <p:cNvSpPr/>
            <p:nvPr/>
          </p:nvSpPr>
          <p:spPr>
            <a:xfrm>
              <a:off x="194907" y="2466657"/>
              <a:ext cx="2289388" cy="1"/>
            </a:xfrm>
            <a:prstGeom prst="line">
              <a:avLst/>
            </a:prstGeom>
            <a:noFill/>
            <a:ln w="6350" cap="flat">
              <a:solidFill>
                <a:srgbClr val="C00000"/>
              </a:solidFill>
              <a:prstDash val="solid"/>
              <a:miter lim="800000"/>
            </a:ln>
            <a:effectLst/>
          </p:spPr>
          <p:txBody>
            <a:bodyPr wrap="square" lIns="45719" tIns="45719" rIns="45719" bIns="45719" numCol="1" anchor="t">
              <a:noAutofit/>
            </a:bodyPr>
            <a:lstStyle/>
            <a:p>
              <a:endParaRPr/>
            </a:p>
          </p:txBody>
        </p:sp>
      </p:grpSp>
      <p:sp>
        <p:nvSpPr>
          <p:cNvPr id="448" name="TextBox 6"/>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② Post-surgery: Post-surgery Management</a:t>
            </a:r>
          </a:p>
        </p:txBody>
      </p:sp>
      <p:sp>
        <p:nvSpPr>
          <p:cNvPr id="449" name="TextBox 7"/>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recovery</a:t>
            </a:r>
          </a:p>
        </p:txBody>
      </p:sp>
      <p:sp>
        <p:nvSpPr>
          <p:cNvPr id="450"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453" name="TextBox 4"/>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weight loss</a:t>
            </a:r>
          </a:p>
        </p:txBody>
      </p:sp>
      <p:sp>
        <p:nvSpPr>
          <p:cNvPr id="454" name="오른쪽 화살표 15"/>
          <p:cNvSpPr/>
          <p:nvPr/>
        </p:nvSpPr>
        <p:spPr>
          <a:xfrm>
            <a:off x="2667114" y="2310125"/>
            <a:ext cx="6217921" cy="1332972"/>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grpSp>
        <p:nvGrpSpPr>
          <p:cNvPr id="457" name="직사각형 16"/>
          <p:cNvGrpSpPr/>
          <p:nvPr/>
        </p:nvGrpSpPr>
        <p:grpSpPr>
          <a:xfrm>
            <a:off x="4832368" y="2497095"/>
            <a:ext cx="2605868" cy="508629"/>
            <a:chOff x="0" y="0"/>
            <a:chExt cx="2605866" cy="508628"/>
          </a:xfrm>
        </p:grpSpPr>
        <p:sp>
          <p:nvSpPr>
            <p:cNvPr id="455"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56" name="Prevent Weight Recycling"/>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Prevent Weight Recycling</a:t>
              </a:r>
            </a:p>
          </p:txBody>
        </p:sp>
      </p:grpSp>
      <p:pic>
        <p:nvPicPr>
          <p:cNvPr id="458" name="그림 18" descr="그림 18"/>
          <p:cNvPicPr>
            <a:picLocks/>
          </p:cNvPicPr>
          <p:nvPr/>
        </p:nvPicPr>
        <p:blipFill>
          <a:blip r:embed="rId2"/>
          <a:stretch>
            <a:fillRect/>
          </a:stretch>
        </p:blipFill>
        <p:spPr>
          <a:xfrm>
            <a:off x="735145" y="1787033"/>
            <a:ext cx="2932083" cy="2379151"/>
          </a:xfrm>
          <a:prstGeom prst="rect">
            <a:avLst/>
          </a:prstGeom>
          <a:ln w="12700">
            <a:miter lim="400000"/>
          </a:ln>
        </p:spPr>
      </p:pic>
      <p:sp>
        <p:nvSpPr>
          <p:cNvPr id="459" name="직사각형 19"/>
          <p:cNvSpPr/>
          <p:nvPr/>
        </p:nvSpPr>
        <p:spPr>
          <a:xfrm>
            <a:off x="4481657" y="2399850"/>
            <a:ext cx="3248492" cy="1159381"/>
          </a:xfrm>
          <a:prstGeom prst="rect">
            <a:avLst/>
          </a:prstGeom>
          <a:ln w="19050">
            <a:solidFill>
              <a:srgbClr val="C55A11"/>
            </a:solidFill>
            <a:miter/>
          </a:ln>
        </p:spPr>
        <p:txBody>
          <a:bodyPr lIns="45719" rIns="45719" anchor="ctr"/>
          <a:lstStyle/>
          <a:p>
            <a:pPr algn="ctr">
              <a:defRPr>
                <a:solidFill>
                  <a:srgbClr val="FFFFFF"/>
                </a:solidFill>
              </a:defRPr>
            </a:pPr>
            <a:endParaRPr/>
          </a:p>
        </p:txBody>
      </p:sp>
      <p:sp>
        <p:nvSpPr>
          <p:cNvPr id="460" name="TextBox 20"/>
          <p:cNvSpPr txBox="1"/>
          <p:nvPr/>
        </p:nvSpPr>
        <p:spPr>
          <a:xfrm>
            <a:off x="5309563" y="3648955"/>
            <a:ext cx="1651479"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Post-Surgery</a:t>
            </a:r>
          </a:p>
        </p:txBody>
      </p:sp>
      <p:grpSp>
        <p:nvGrpSpPr>
          <p:cNvPr id="463" name="폭발 1 21"/>
          <p:cNvGrpSpPr/>
          <p:nvPr/>
        </p:nvGrpSpPr>
        <p:grpSpPr>
          <a:xfrm>
            <a:off x="8276925" y="2136264"/>
            <a:ext cx="2371109" cy="1965180"/>
            <a:chOff x="0" y="0"/>
            <a:chExt cx="2371108" cy="1965179"/>
          </a:xfrm>
        </p:grpSpPr>
        <p:sp>
          <p:nvSpPr>
            <p:cNvPr id="461"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C00000"/>
            </a:solidFill>
            <a:ln w="53975" cap="flat">
              <a:solidFill>
                <a:srgbClr val="C00000"/>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462" name="Successful…"/>
            <p:cNvSpPr txBox="1"/>
            <p:nvPr/>
          </p:nvSpPr>
          <p:spPr>
            <a:xfrm>
              <a:off x="580629" y="462852"/>
              <a:ext cx="1180101"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b="1">
                  <a:solidFill>
                    <a:srgbClr val="FFFFFF"/>
                  </a:solidFill>
                </a:defRPr>
              </a:pPr>
              <a:r>
                <a:t>Successful</a:t>
              </a:r>
            </a:p>
            <a:p>
              <a:pPr algn="ctr">
                <a:defRPr b="1">
                  <a:solidFill>
                    <a:srgbClr val="FFFFFF"/>
                  </a:solidFill>
                </a:defRPr>
              </a:pPr>
              <a:r>
                <a:t>Weight Reduction</a:t>
              </a:r>
            </a:p>
          </p:txBody>
        </p:sp>
      </p:grpSp>
      <p:grpSp>
        <p:nvGrpSpPr>
          <p:cNvPr id="466" name="직사각형 22"/>
          <p:cNvGrpSpPr/>
          <p:nvPr/>
        </p:nvGrpSpPr>
        <p:grpSpPr>
          <a:xfrm>
            <a:off x="4838065" y="3035695"/>
            <a:ext cx="2605867" cy="508629"/>
            <a:chOff x="0" y="0"/>
            <a:chExt cx="2605866" cy="508628"/>
          </a:xfrm>
        </p:grpSpPr>
        <p:sp>
          <p:nvSpPr>
            <p:cNvPr id="464"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65" name="Prevent Muscle Loss"/>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Prevent Muscle Loss </a:t>
              </a:r>
            </a:p>
          </p:txBody>
        </p:sp>
      </p:grpSp>
      <p:grpSp>
        <p:nvGrpSpPr>
          <p:cNvPr id="469" name="그룹 23"/>
          <p:cNvGrpSpPr/>
          <p:nvPr/>
        </p:nvGrpSpPr>
        <p:grpSpPr>
          <a:xfrm>
            <a:off x="2667114" y="4737287"/>
            <a:ext cx="7228491" cy="1754836"/>
            <a:chOff x="0" y="0"/>
            <a:chExt cx="7228489" cy="1754834"/>
          </a:xfrm>
        </p:grpSpPr>
        <p:sp>
          <p:nvSpPr>
            <p:cNvPr id="467" name="모서리가 둥근 직사각형 24"/>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400" b="1" i="1">
                  <a:solidFill>
                    <a:srgbClr val="333F50"/>
                  </a:solidFill>
                  <a:latin typeface="Arial"/>
                  <a:ea typeface="Arial"/>
                  <a:cs typeface="Arial"/>
                  <a:sym typeface="Arial"/>
                </a:defRPr>
              </a:pPr>
              <a:endParaRPr/>
            </a:p>
          </p:txBody>
        </p:sp>
        <p:sp>
          <p:nvSpPr>
            <p:cNvPr id="468" name="TextBox 25"/>
            <p:cNvSpPr txBox="1"/>
            <p:nvPr/>
          </p:nvSpPr>
          <p:spPr>
            <a:xfrm>
              <a:off x="131817" y="261479"/>
              <a:ext cx="6964855" cy="5706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400"/>
              </a:pPr>
              <a:r>
                <a:t>▷ Majority of the patients tend to re-gain weight after surgery.</a:t>
              </a:r>
            </a:p>
            <a:p>
              <a:pPr>
                <a:defRPr sz="1400"/>
              </a:pPr>
              <a:r>
                <a:t>      -&gt; Preventing patients from weight recycling in very important</a:t>
              </a:r>
            </a:p>
          </p:txBody>
        </p:sp>
      </p:grpSp>
      <p:sp>
        <p:nvSpPr>
          <p:cNvPr id="470" name="TextBox 26"/>
          <p:cNvSpPr txBox="1"/>
          <p:nvPr/>
        </p:nvSpPr>
        <p:spPr>
          <a:xfrm>
            <a:off x="2798932" y="5724962"/>
            <a:ext cx="7097457" cy="5706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pPr>
            <a:r>
              <a:t>▷ Patients tend to lose muscle after surgery.</a:t>
            </a:r>
          </a:p>
          <a:p>
            <a:pPr>
              <a:defRPr sz="1400"/>
            </a:pPr>
            <a:r>
              <a:t>      -&gt;Keeping certain amount of muscle helps maintain the weight loss</a:t>
            </a:r>
          </a:p>
        </p:txBody>
      </p:sp>
      <p:sp>
        <p:nvSpPr>
          <p:cNvPr id="471"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
        <p:nvSpPr>
          <p:cNvPr id="472" name="TextBox 17"/>
          <p:cNvSpPr txBox="1"/>
          <p:nvPr/>
        </p:nvSpPr>
        <p:spPr>
          <a:xfrm>
            <a:off x="1511892" y="1908151"/>
            <a:ext cx="1378589" cy="3182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latin typeface="Graphik"/>
                <a:ea typeface="Graphik"/>
                <a:cs typeface="Graphik"/>
                <a:sym typeface="Graphik"/>
              </a:defRPr>
            </a:lvl1pPr>
          </a:lstStyle>
          <a:p>
            <a:r>
              <a:t>InBody Test</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TextBox 1"/>
          <p:cNvSpPr txBox="1"/>
          <p:nvPr/>
        </p:nvSpPr>
        <p:spPr>
          <a:xfrm>
            <a:off x="1823162" y="1278629"/>
            <a:ext cx="8045465"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solidFill>
                  <a:srgbClr val="808080"/>
                </a:solidFill>
              </a:defRPr>
            </a:lvl1pPr>
          </a:lstStyle>
          <a:p>
            <a:r>
              <a:t>Continuous Follow-up Management affects Sustaining Weight Loss</a:t>
            </a:r>
          </a:p>
        </p:txBody>
      </p:sp>
      <p:sp>
        <p:nvSpPr>
          <p:cNvPr id="475" name="TextBox 2"/>
          <p:cNvSpPr txBox="1"/>
          <p:nvPr/>
        </p:nvSpPr>
        <p:spPr>
          <a:xfrm>
            <a:off x="1823162" y="1695512"/>
            <a:ext cx="8261489" cy="6040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50000"/>
              </a:lnSpc>
              <a:defRPr sz="1400"/>
            </a:lvl1pPr>
          </a:lstStyle>
          <a:p>
            <a:r>
              <a:t>One of the most common side effects after bariatric surgery is regaining of weight. Against patients’ wishes, weight can be increased despite of bariatric surgery and this may be related with various complications</a:t>
            </a:r>
          </a:p>
        </p:txBody>
      </p:sp>
      <p:pic>
        <p:nvPicPr>
          <p:cNvPr id="476" name="Picture 2" descr="Picture 2"/>
          <p:cNvPicPr>
            <a:picLocks noChangeAspect="1"/>
          </p:cNvPicPr>
          <p:nvPr/>
        </p:nvPicPr>
        <p:blipFill>
          <a:blip r:embed="rId2"/>
          <a:stretch>
            <a:fillRect/>
          </a:stretch>
        </p:blipFill>
        <p:spPr>
          <a:xfrm>
            <a:off x="1777443" y="2726538"/>
            <a:ext cx="2520281" cy="3422032"/>
          </a:xfrm>
          <a:prstGeom prst="rect">
            <a:avLst/>
          </a:prstGeom>
          <a:ln w="12700">
            <a:miter lim="400000"/>
          </a:ln>
        </p:spPr>
      </p:pic>
      <p:grpSp>
        <p:nvGrpSpPr>
          <p:cNvPr id="484" name="그룹 31"/>
          <p:cNvGrpSpPr/>
          <p:nvPr/>
        </p:nvGrpSpPr>
        <p:grpSpPr>
          <a:xfrm>
            <a:off x="4657764" y="2726538"/>
            <a:ext cx="2272894" cy="3370549"/>
            <a:chOff x="0" y="0"/>
            <a:chExt cx="2272893" cy="3370548"/>
          </a:xfrm>
        </p:grpSpPr>
        <p:pic>
          <p:nvPicPr>
            <p:cNvPr id="477" name="Picture 3" descr="Picture 3"/>
            <p:cNvPicPr>
              <a:picLocks noChangeAspect="1"/>
            </p:cNvPicPr>
            <p:nvPr/>
          </p:nvPicPr>
          <p:blipFill>
            <a:blip r:embed="rId3"/>
            <a:stretch>
              <a:fillRect/>
            </a:stretch>
          </p:blipFill>
          <p:spPr>
            <a:xfrm>
              <a:off x="1586" y="0"/>
              <a:ext cx="1885095" cy="575203"/>
            </a:xfrm>
            <a:prstGeom prst="rect">
              <a:avLst/>
            </a:prstGeom>
            <a:ln w="12700" cap="flat">
              <a:noFill/>
              <a:miter lim="400000"/>
            </a:ln>
            <a:effectLst/>
          </p:spPr>
        </p:pic>
        <p:pic>
          <p:nvPicPr>
            <p:cNvPr id="478" name="Picture 5" descr="Picture 5"/>
            <p:cNvPicPr>
              <a:picLocks noChangeAspect="1"/>
            </p:cNvPicPr>
            <p:nvPr/>
          </p:nvPicPr>
          <p:blipFill>
            <a:blip r:embed="rId4"/>
            <a:stretch>
              <a:fillRect/>
            </a:stretch>
          </p:blipFill>
          <p:spPr>
            <a:xfrm>
              <a:off x="0" y="510504"/>
              <a:ext cx="2272894" cy="2860045"/>
            </a:xfrm>
            <a:prstGeom prst="rect">
              <a:avLst/>
            </a:prstGeom>
            <a:ln w="12700" cap="flat">
              <a:noFill/>
              <a:miter lim="400000"/>
            </a:ln>
            <a:effectLst/>
          </p:spPr>
        </p:pic>
        <p:sp>
          <p:nvSpPr>
            <p:cNvPr id="479" name="직선 연결선 7"/>
            <p:cNvSpPr/>
            <p:nvPr/>
          </p:nvSpPr>
          <p:spPr>
            <a:xfrm>
              <a:off x="57910" y="929926"/>
              <a:ext cx="2188776" cy="1332"/>
            </a:xfrm>
            <a:prstGeom prst="line">
              <a:avLst/>
            </a:prstGeom>
            <a:noFill/>
            <a:ln w="15875" cap="flat">
              <a:solidFill>
                <a:srgbClr val="9C1F00"/>
              </a:solidFill>
              <a:prstDash val="solid"/>
              <a:miter lim="800000"/>
            </a:ln>
            <a:effectLst/>
          </p:spPr>
          <p:txBody>
            <a:bodyPr wrap="square" lIns="45719" tIns="45719" rIns="45719" bIns="45719" numCol="1" anchor="t">
              <a:noAutofit/>
            </a:bodyPr>
            <a:lstStyle/>
            <a:p>
              <a:endParaRPr/>
            </a:p>
          </p:txBody>
        </p:sp>
        <p:sp>
          <p:nvSpPr>
            <p:cNvPr id="480" name="직선 연결선 8"/>
            <p:cNvSpPr/>
            <p:nvPr/>
          </p:nvSpPr>
          <p:spPr>
            <a:xfrm>
              <a:off x="57910" y="1108346"/>
              <a:ext cx="2188776" cy="1332"/>
            </a:xfrm>
            <a:prstGeom prst="line">
              <a:avLst/>
            </a:prstGeom>
            <a:noFill/>
            <a:ln w="15875" cap="flat">
              <a:solidFill>
                <a:srgbClr val="9C1F00"/>
              </a:solidFill>
              <a:prstDash val="solid"/>
              <a:miter lim="800000"/>
            </a:ln>
            <a:effectLst/>
          </p:spPr>
          <p:txBody>
            <a:bodyPr wrap="square" lIns="45719" tIns="45719" rIns="45719" bIns="45719" numCol="1" anchor="t">
              <a:noAutofit/>
            </a:bodyPr>
            <a:lstStyle/>
            <a:p>
              <a:endParaRPr/>
            </a:p>
          </p:txBody>
        </p:sp>
        <p:sp>
          <p:nvSpPr>
            <p:cNvPr id="481" name="직선 연결선 9"/>
            <p:cNvSpPr/>
            <p:nvPr/>
          </p:nvSpPr>
          <p:spPr>
            <a:xfrm>
              <a:off x="57910" y="1228181"/>
              <a:ext cx="2188776" cy="1332"/>
            </a:xfrm>
            <a:prstGeom prst="line">
              <a:avLst/>
            </a:prstGeom>
            <a:noFill/>
            <a:ln w="15875" cap="flat">
              <a:solidFill>
                <a:srgbClr val="9C1F00"/>
              </a:solidFill>
              <a:prstDash val="solid"/>
              <a:miter lim="800000"/>
            </a:ln>
            <a:effectLst/>
          </p:spPr>
          <p:txBody>
            <a:bodyPr wrap="square" lIns="45719" tIns="45719" rIns="45719" bIns="45719" numCol="1" anchor="t">
              <a:noAutofit/>
            </a:bodyPr>
            <a:lstStyle/>
            <a:p>
              <a:endParaRPr/>
            </a:p>
          </p:txBody>
        </p:sp>
        <p:sp>
          <p:nvSpPr>
            <p:cNvPr id="482" name="직선 연결선 10"/>
            <p:cNvSpPr/>
            <p:nvPr/>
          </p:nvSpPr>
          <p:spPr>
            <a:xfrm>
              <a:off x="57910" y="1356004"/>
              <a:ext cx="2188776" cy="1332"/>
            </a:xfrm>
            <a:prstGeom prst="line">
              <a:avLst/>
            </a:prstGeom>
            <a:noFill/>
            <a:ln w="15875" cap="flat">
              <a:solidFill>
                <a:srgbClr val="9C1F00"/>
              </a:solidFill>
              <a:prstDash val="solid"/>
              <a:miter lim="800000"/>
            </a:ln>
            <a:effectLst/>
          </p:spPr>
          <p:txBody>
            <a:bodyPr wrap="square" lIns="45719" tIns="45719" rIns="45719" bIns="45719" numCol="1" anchor="t">
              <a:noAutofit/>
            </a:bodyPr>
            <a:lstStyle/>
            <a:p>
              <a:endParaRPr/>
            </a:p>
          </p:txBody>
        </p:sp>
        <p:sp>
          <p:nvSpPr>
            <p:cNvPr id="483" name="직선 연결선 11"/>
            <p:cNvSpPr/>
            <p:nvPr/>
          </p:nvSpPr>
          <p:spPr>
            <a:xfrm>
              <a:off x="57910" y="1527768"/>
              <a:ext cx="1360591" cy="1332"/>
            </a:xfrm>
            <a:prstGeom prst="line">
              <a:avLst/>
            </a:prstGeom>
            <a:noFill/>
            <a:ln w="15875" cap="flat">
              <a:solidFill>
                <a:srgbClr val="9C1F00"/>
              </a:solidFill>
              <a:prstDash val="solid"/>
              <a:miter lim="800000"/>
            </a:ln>
            <a:effectLst/>
          </p:spPr>
          <p:txBody>
            <a:bodyPr wrap="square" lIns="45719" tIns="45719" rIns="45719" bIns="45719" numCol="1" anchor="t">
              <a:noAutofit/>
            </a:bodyPr>
            <a:lstStyle/>
            <a:p>
              <a:endParaRPr/>
            </a:p>
          </p:txBody>
        </p:sp>
      </p:grpSp>
      <p:sp>
        <p:nvSpPr>
          <p:cNvPr id="485" name="TextBox 12"/>
          <p:cNvSpPr txBox="1"/>
          <p:nvPr/>
        </p:nvSpPr>
        <p:spPr>
          <a:xfrm>
            <a:off x="6755152" y="6456167"/>
            <a:ext cx="4409155" cy="214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900" i="1">
                <a:latin typeface="Arial"/>
                <a:ea typeface="Arial"/>
                <a:cs typeface="Arial"/>
                <a:sym typeface="Arial"/>
              </a:defRPr>
            </a:lvl1pPr>
          </a:lstStyle>
          <a:p>
            <a:r>
              <a:t>Endocrine and Nutritional Management of the Post-Bariatric Surgery Patient (P.7)</a:t>
            </a:r>
          </a:p>
        </p:txBody>
      </p:sp>
      <p:sp>
        <p:nvSpPr>
          <p:cNvPr id="486" name="TextBox 13"/>
          <p:cNvSpPr txBox="1"/>
          <p:nvPr/>
        </p:nvSpPr>
        <p:spPr>
          <a:xfrm>
            <a:off x="6169931" y="4310714"/>
            <a:ext cx="4032449" cy="966599"/>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b="1">
                <a:solidFill>
                  <a:srgbClr val="C00000"/>
                </a:solidFill>
              </a:defRPr>
            </a:pPr>
            <a:r>
              <a:t>Weight regain </a:t>
            </a:r>
            <a:r>
              <a:rPr>
                <a:solidFill>
                  <a:srgbClr val="000000"/>
                </a:solidFill>
              </a:rPr>
              <a:t>is not uncommon in patients undergoing bariatric surgery and it can be expected that 20%-25% of the lost weight will be regained over a period of 10yr. </a:t>
            </a:r>
          </a:p>
        </p:txBody>
      </p:sp>
      <p:sp>
        <p:nvSpPr>
          <p:cNvPr id="487" name="TextBox 15"/>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488"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graphicFrame>
        <p:nvGraphicFramePr>
          <p:cNvPr id="491" name="차트 3"/>
          <p:cNvGraphicFramePr/>
          <p:nvPr/>
        </p:nvGraphicFramePr>
        <p:xfrm>
          <a:off x="3213990" y="2860560"/>
          <a:ext cx="5092836" cy="2879657"/>
        </p:xfrm>
        <a:graphic>
          <a:graphicData uri="http://schemas.openxmlformats.org/drawingml/2006/chart">
            <c:chart xmlns:c="http://schemas.openxmlformats.org/drawingml/2006/chart" xmlns:r="http://schemas.openxmlformats.org/officeDocument/2006/relationships" r:id="rId2"/>
          </a:graphicData>
        </a:graphic>
      </p:graphicFrame>
      <p:sp>
        <p:nvSpPr>
          <p:cNvPr id="492" name="직선 연결선 2"/>
          <p:cNvSpPr/>
          <p:nvPr/>
        </p:nvSpPr>
        <p:spPr>
          <a:xfrm flipH="1">
            <a:off x="5998139" y="4940512"/>
            <a:ext cx="1506" cy="856721"/>
          </a:xfrm>
          <a:prstGeom prst="line">
            <a:avLst/>
          </a:prstGeom>
          <a:ln w="6350">
            <a:solidFill>
              <a:srgbClr val="595959"/>
            </a:solidFill>
            <a:miter/>
          </a:ln>
        </p:spPr>
        <p:txBody>
          <a:bodyPr lIns="45719" rIns="45719"/>
          <a:lstStyle/>
          <a:p>
            <a:endParaRPr/>
          </a:p>
        </p:txBody>
      </p:sp>
      <p:sp>
        <p:nvSpPr>
          <p:cNvPr id="493" name="TextBox 4"/>
          <p:cNvSpPr txBox="1"/>
          <p:nvPr/>
        </p:nvSpPr>
        <p:spPr>
          <a:xfrm>
            <a:off x="4088489" y="3892548"/>
            <a:ext cx="408627"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41.9</a:t>
            </a:r>
          </a:p>
        </p:txBody>
      </p:sp>
      <p:sp>
        <p:nvSpPr>
          <p:cNvPr id="494" name="TextBox 5"/>
          <p:cNvSpPr txBox="1"/>
          <p:nvPr/>
        </p:nvSpPr>
        <p:spPr>
          <a:xfrm>
            <a:off x="5231496" y="3606796"/>
            <a:ext cx="408627"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50.4</a:t>
            </a:r>
          </a:p>
        </p:txBody>
      </p:sp>
      <p:sp>
        <p:nvSpPr>
          <p:cNvPr id="495" name="TextBox 6"/>
          <p:cNvSpPr txBox="1"/>
          <p:nvPr/>
        </p:nvSpPr>
        <p:spPr>
          <a:xfrm>
            <a:off x="6445942" y="3178168"/>
            <a:ext cx="408627"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66.1</a:t>
            </a:r>
          </a:p>
        </p:txBody>
      </p:sp>
      <p:sp>
        <p:nvSpPr>
          <p:cNvPr id="496" name="TextBox 7"/>
          <p:cNvSpPr txBox="1"/>
          <p:nvPr/>
        </p:nvSpPr>
        <p:spPr>
          <a:xfrm>
            <a:off x="7588950" y="3106730"/>
            <a:ext cx="408627"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67.6</a:t>
            </a:r>
          </a:p>
        </p:txBody>
      </p:sp>
      <p:sp>
        <p:nvSpPr>
          <p:cNvPr id="497" name="TextBox 8"/>
          <p:cNvSpPr txBox="1"/>
          <p:nvPr/>
        </p:nvSpPr>
        <p:spPr>
          <a:xfrm>
            <a:off x="3802737" y="5654357"/>
            <a:ext cx="765817"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b="1">
                <a:solidFill>
                  <a:srgbClr val="808080"/>
                </a:solidFill>
              </a:defRPr>
            </a:lvl1pPr>
          </a:lstStyle>
          <a:p>
            <a:r>
              <a:t>(N=130)</a:t>
            </a:r>
          </a:p>
        </p:txBody>
      </p:sp>
      <p:sp>
        <p:nvSpPr>
          <p:cNvPr id="498" name="TextBox 9"/>
          <p:cNvSpPr txBox="1"/>
          <p:nvPr/>
        </p:nvSpPr>
        <p:spPr>
          <a:xfrm>
            <a:off x="5088621" y="5654357"/>
            <a:ext cx="765817"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b="1">
                <a:solidFill>
                  <a:srgbClr val="808080"/>
                </a:solidFill>
              </a:defRPr>
            </a:lvl1pPr>
          </a:lstStyle>
          <a:p>
            <a:r>
              <a:t>(N=56)</a:t>
            </a:r>
          </a:p>
        </p:txBody>
      </p:sp>
      <p:sp>
        <p:nvSpPr>
          <p:cNvPr id="499" name="TextBox 10"/>
          <p:cNvSpPr txBox="1"/>
          <p:nvPr/>
        </p:nvSpPr>
        <p:spPr>
          <a:xfrm>
            <a:off x="6303067" y="5654357"/>
            <a:ext cx="765817"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b="1">
                <a:solidFill>
                  <a:srgbClr val="808080"/>
                </a:solidFill>
              </a:defRPr>
            </a:lvl1pPr>
          </a:lstStyle>
          <a:p>
            <a:r>
              <a:t>(N=53)</a:t>
            </a:r>
          </a:p>
        </p:txBody>
      </p:sp>
      <p:sp>
        <p:nvSpPr>
          <p:cNvPr id="500" name="TextBox 11"/>
          <p:cNvSpPr txBox="1"/>
          <p:nvPr/>
        </p:nvSpPr>
        <p:spPr>
          <a:xfrm>
            <a:off x="7588950" y="5654357"/>
            <a:ext cx="765817"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00" b="1">
                <a:solidFill>
                  <a:srgbClr val="808080"/>
                </a:solidFill>
              </a:defRPr>
            </a:lvl1pPr>
          </a:lstStyle>
          <a:p>
            <a:r>
              <a:t>(N=62)</a:t>
            </a:r>
          </a:p>
        </p:txBody>
      </p:sp>
      <p:sp>
        <p:nvSpPr>
          <p:cNvPr id="501" name="TextBox 12"/>
          <p:cNvSpPr txBox="1"/>
          <p:nvPr/>
        </p:nvSpPr>
        <p:spPr>
          <a:xfrm>
            <a:off x="4659993" y="5868670"/>
            <a:ext cx="551503"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LAGB</a:t>
            </a:r>
          </a:p>
        </p:txBody>
      </p:sp>
      <p:sp>
        <p:nvSpPr>
          <p:cNvPr id="502" name="TextBox 13"/>
          <p:cNvSpPr txBox="1"/>
          <p:nvPr/>
        </p:nvSpPr>
        <p:spPr>
          <a:xfrm>
            <a:off x="6946008" y="5868670"/>
            <a:ext cx="551503"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808080"/>
                </a:solidFill>
              </a:defRPr>
            </a:lvl1pPr>
          </a:lstStyle>
          <a:p>
            <a:r>
              <a:t>RYGB</a:t>
            </a:r>
          </a:p>
        </p:txBody>
      </p:sp>
      <p:sp>
        <p:nvSpPr>
          <p:cNvPr id="503" name="TextBox 14"/>
          <p:cNvSpPr txBox="1"/>
          <p:nvPr/>
        </p:nvSpPr>
        <p:spPr>
          <a:xfrm>
            <a:off x="4874307" y="6208191"/>
            <a:ext cx="2908957" cy="2257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100" b="1">
                <a:solidFill>
                  <a:srgbClr val="404040"/>
                </a:solidFill>
              </a:defRPr>
            </a:lvl1pPr>
          </a:lstStyle>
          <a:p>
            <a:r>
              <a:t>Procedure: Number of F/U Visits</a:t>
            </a:r>
          </a:p>
        </p:txBody>
      </p:sp>
      <p:sp>
        <p:nvSpPr>
          <p:cNvPr id="504" name="TextBox 15"/>
          <p:cNvSpPr txBox="1"/>
          <p:nvPr/>
        </p:nvSpPr>
        <p:spPr>
          <a:xfrm rot="10800000">
            <a:off x="2874045" y="3011151"/>
            <a:ext cx="239270" cy="18573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eaVert" lIns="45719" rIns="45719">
            <a:spAutoFit/>
          </a:bodyPr>
          <a:lstStyle>
            <a:lvl1pPr>
              <a:defRPr sz="1100" b="1">
                <a:solidFill>
                  <a:srgbClr val="404040"/>
                </a:solidFill>
                <a:latin typeface="Arial"/>
                <a:ea typeface="Arial"/>
                <a:cs typeface="Arial"/>
                <a:sym typeface="Arial"/>
              </a:defRPr>
            </a:lvl1pPr>
          </a:lstStyle>
          <a:p>
            <a:r>
              <a:t>Mean % EWL at 1 Year</a:t>
            </a:r>
          </a:p>
        </p:txBody>
      </p:sp>
      <p:sp>
        <p:nvSpPr>
          <p:cNvPr id="505" name="TextBox 16"/>
          <p:cNvSpPr txBox="1"/>
          <p:nvPr/>
        </p:nvSpPr>
        <p:spPr>
          <a:xfrm>
            <a:off x="3302670" y="2582522"/>
            <a:ext cx="6337981" cy="3133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solidFill>
                  <a:srgbClr val="595959"/>
                </a:solidFill>
                <a:latin typeface="Arial"/>
                <a:ea typeface="Arial"/>
                <a:cs typeface="Arial"/>
                <a:sym typeface="Arial"/>
              </a:defRPr>
            </a:lvl1pPr>
          </a:lstStyle>
          <a:p>
            <a:r>
              <a:t>Impact of Follow-Up on Weight Loss For LAGB and RYGB</a:t>
            </a:r>
          </a:p>
        </p:txBody>
      </p:sp>
      <p:sp>
        <p:nvSpPr>
          <p:cNvPr id="506" name="TextBox 17"/>
          <p:cNvSpPr txBox="1"/>
          <p:nvPr/>
        </p:nvSpPr>
        <p:spPr>
          <a:xfrm>
            <a:off x="4665300" y="6478577"/>
            <a:ext cx="6337980" cy="226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r">
              <a:defRPr sz="1000" b="1">
                <a:solidFill>
                  <a:srgbClr val="595959"/>
                </a:solidFill>
                <a:latin typeface="Arial"/>
                <a:ea typeface="Arial"/>
                <a:cs typeface="Arial"/>
                <a:sym typeface="Arial"/>
              </a:defRPr>
            </a:lvl1pPr>
          </a:lstStyle>
          <a:p>
            <a:r>
              <a:t>Shen R, et al, Obes surg 2004; 14: 514-9</a:t>
            </a:r>
          </a:p>
        </p:txBody>
      </p:sp>
      <p:sp>
        <p:nvSpPr>
          <p:cNvPr id="507" name="TextBox 19"/>
          <p:cNvSpPr txBox="1"/>
          <p:nvPr/>
        </p:nvSpPr>
        <p:spPr>
          <a:xfrm>
            <a:off x="1823162" y="1674154"/>
            <a:ext cx="8261489" cy="6040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50000"/>
              </a:lnSpc>
              <a:defRPr sz="1400"/>
            </a:lvl1pPr>
          </a:lstStyle>
          <a:p>
            <a:r>
              <a:t>In order to prevent weight re-gain, continuous and intensive management is necessary. Continuous visit and follow-up management can affect positively on weight loss maintenance.</a:t>
            </a:r>
          </a:p>
        </p:txBody>
      </p:sp>
      <p:sp>
        <p:nvSpPr>
          <p:cNvPr id="508" name="TextBox 20"/>
          <p:cNvSpPr txBox="1"/>
          <p:nvPr/>
        </p:nvSpPr>
        <p:spPr>
          <a:xfrm>
            <a:off x="1823162" y="1278629"/>
            <a:ext cx="8045465"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solidFill>
                  <a:srgbClr val="808080"/>
                </a:solidFill>
              </a:defRPr>
            </a:lvl1pPr>
          </a:lstStyle>
          <a:p>
            <a:r>
              <a:t>Continuous Follow-up Management affects Sustaining Weight Loss</a:t>
            </a:r>
          </a:p>
        </p:txBody>
      </p:sp>
      <p:sp>
        <p:nvSpPr>
          <p:cNvPr id="509"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TextBox 1"/>
          <p:cNvSpPr txBox="1"/>
          <p:nvPr/>
        </p:nvSpPr>
        <p:spPr>
          <a:xfrm>
            <a:off x="1823162" y="1278629"/>
            <a:ext cx="8045465"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solidFill>
                  <a:srgbClr val="808080"/>
                </a:solidFill>
              </a:defRPr>
            </a:lvl1pPr>
          </a:lstStyle>
          <a:p>
            <a:r>
              <a:t>Continuous Follow-up Management affects Sustaining Weight Loss</a:t>
            </a:r>
          </a:p>
        </p:txBody>
      </p:sp>
      <p:sp>
        <p:nvSpPr>
          <p:cNvPr id="512" name="TextBox 3"/>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pic>
        <p:nvPicPr>
          <p:cNvPr id="513" name="그림 4" descr="그림 4"/>
          <p:cNvPicPr>
            <a:picLocks noChangeAspect="1"/>
          </p:cNvPicPr>
          <p:nvPr/>
        </p:nvPicPr>
        <p:blipFill>
          <a:blip r:embed="rId2"/>
          <a:stretch>
            <a:fillRect/>
          </a:stretch>
        </p:blipFill>
        <p:spPr>
          <a:xfrm>
            <a:off x="2222348" y="1688551"/>
            <a:ext cx="3740647" cy="5028816"/>
          </a:xfrm>
          <a:prstGeom prst="rect">
            <a:avLst/>
          </a:prstGeom>
          <a:ln>
            <a:solidFill>
              <a:srgbClr val="D9D9D9"/>
            </a:solidFill>
          </a:ln>
        </p:spPr>
      </p:pic>
      <p:sp>
        <p:nvSpPr>
          <p:cNvPr id="514" name="직사각형 5"/>
          <p:cNvSpPr txBox="1"/>
          <p:nvPr/>
        </p:nvSpPr>
        <p:spPr>
          <a:xfrm>
            <a:off x="6223913" y="3204442"/>
            <a:ext cx="4336544" cy="13763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50000"/>
              </a:lnSpc>
              <a:defRPr sz="1600">
                <a:solidFill>
                  <a:srgbClr val="231F20"/>
                </a:solidFill>
                <a:latin typeface="Calibri Light"/>
                <a:ea typeface="Calibri Light"/>
                <a:cs typeface="Calibri Light"/>
                <a:sym typeface="Calibri Light"/>
              </a:defRPr>
            </a:lvl1pPr>
          </a:lstStyle>
          <a:p>
            <a:r>
              <a:t>“ Preoperative weight loss before bariatric surgery appears to be associated with greater weight loss postoperatively and might help to identify patients who would have better compliance after surgery. ”</a:t>
            </a:r>
          </a:p>
        </p:txBody>
      </p:sp>
      <p:sp>
        <p:nvSpPr>
          <p:cNvPr id="515"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모서리가 둥근 직사각형 1"/>
          <p:cNvSpPr/>
          <p:nvPr/>
        </p:nvSpPr>
        <p:spPr>
          <a:xfrm>
            <a:off x="5952713" y="1916379"/>
            <a:ext cx="4667204" cy="3390182"/>
          </a:xfrm>
          <a:prstGeom prst="roundRect">
            <a:avLst>
              <a:gd name="adj" fmla="val 16667"/>
            </a:avLst>
          </a:prstGeom>
          <a:ln w="25400">
            <a:solidFill>
              <a:srgbClr val="C00000"/>
            </a:solidFill>
            <a:miter/>
          </a:ln>
        </p:spPr>
        <p:txBody>
          <a:bodyPr lIns="45719" rIns="45719" anchor="ctr"/>
          <a:lstStyle/>
          <a:p>
            <a:pPr algn="ctr">
              <a:defRPr>
                <a:solidFill>
                  <a:srgbClr val="FFFFFF"/>
                </a:solidFill>
              </a:defRPr>
            </a:pPr>
            <a:endParaRPr/>
          </a:p>
        </p:txBody>
      </p:sp>
      <p:sp>
        <p:nvSpPr>
          <p:cNvPr id="518" name="TextBox 2"/>
          <p:cNvSpPr txBox="1"/>
          <p:nvPr/>
        </p:nvSpPr>
        <p:spPr>
          <a:xfrm>
            <a:off x="6139619" y="3773401"/>
            <a:ext cx="4467765" cy="1423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pPr>
            <a:r>
              <a:t>This study is conducted on 46 patients to see the relationship between RMR and body composition before surgery.</a:t>
            </a:r>
          </a:p>
          <a:p>
            <a:pPr algn="r">
              <a:defRPr sz="1400"/>
            </a:pPr>
            <a:endParaRPr/>
          </a:p>
          <a:p>
            <a:pPr>
              <a:defRPr sz="1400"/>
            </a:pPr>
            <a:r>
              <a:t>Results show that increase in energy-expenditure may be a predictor for successful long-term weight loss of RYGB.</a:t>
            </a:r>
          </a:p>
        </p:txBody>
      </p:sp>
      <p:sp>
        <p:nvSpPr>
          <p:cNvPr id="519" name="TextBox 3"/>
          <p:cNvSpPr txBox="1"/>
          <p:nvPr/>
        </p:nvSpPr>
        <p:spPr>
          <a:xfrm>
            <a:off x="2084319" y="5744907"/>
            <a:ext cx="8019158" cy="6251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r>
              <a:t>Maintaining </a:t>
            </a:r>
            <a:r>
              <a:rPr b="1">
                <a:solidFill>
                  <a:srgbClr val="FF0000"/>
                </a:solidFill>
              </a:rPr>
              <a:t>FFM &amp; RMR </a:t>
            </a:r>
            <a:r>
              <a:t>by monitoring from InBody parameter, it can prevent the patient from weight re-gain after bariatric surgery. </a:t>
            </a:r>
          </a:p>
        </p:txBody>
      </p:sp>
      <p:pic>
        <p:nvPicPr>
          <p:cNvPr id="520" name="그림 4" descr="그림 4"/>
          <p:cNvPicPr>
            <a:picLocks noChangeAspect="1"/>
          </p:cNvPicPr>
          <p:nvPr/>
        </p:nvPicPr>
        <p:blipFill>
          <a:blip r:embed="rId2"/>
          <a:srcRect l="32976" t="9673" r="41761" b="69025"/>
          <a:stretch>
            <a:fillRect/>
          </a:stretch>
        </p:blipFill>
        <p:spPr>
          <a:xfrm>
            <a:off x="1785180" y="1916378"/>
            <a:ext cx="4012807" cy="1783187"/>
          </a:xfrm>
          <a:prstGeom prst="rect">
            <a:avLst/>
          </a:prstGeom>
          <a:ln w="12700">
            <a:miter lim="400000"/>
          </a:ln>
        </p:spPr>
      </p:pic>
      <p:pic>
        <p:nvPicPr>
          <p:cNvPr id="521" name="그림 5" descr="그림 5"/>
          <p:cNvPicPr>
            <a:picLocks noChangeAspect="1"/>
          </p:cNvPicPr>
          <p:nvPr/>
        </p:nvPicPr>
        <p:blipFill>
          <a:blip r:embed="rId2"/>
          <a:srcRect l="50057" t="39751" r="33655" b="52069"/>
          <a:stretch>
            <a:fillRect/>
          </a:stretch>
        </p:blipFill>
        <p:spPr>
          <a:xfrm>
            <a:off x="1839410" y="3819054"/>
            <a:ext cx="3904345" cy="1103087"/>
          </a:xfrm>
          <a:prstGeom prst="rect">
            <a:avLst/>
          </a:prstGeom>
          <a:ln w="12700">
            <a:miter lim="400000"/>
          </a:ln>
        </p:spPr>
      </p:pic>
      <p:pic>
        <p:nvPicPr>
          <p:cNvPr id="522" name="그림 6" descr="그림 6"/>
          <p:cNvPicPr>
            <a:picLocks noChangeAspect="1"/>
          </p:cNvPicPr>
          <p:nvPr/>
        </p:nvPicPr>
        <p:blipFill>
          <a:blip r:embed="rId3"/>
          <a:srcRect l="32986" t="25555" r="33403" b="58641"/>
          <a:stretch>
            <a:fillRect/>
          </a:stretch>
        </p:blipFill>
        <p:spPr>
          <a:xfrm>
            <a:off x="6093898" y="2163060"/>
            <a:ext cx="4415556" cy="1490854"/>
          </a:xfrm>
          <a:prstGeom prst="rect">
            <a:avLst/>
          </a:prstGeom>
          <a:ln w="12700">
            <a:miter lim="400000"/>
          </a:ln>
        </p:spPr>
      </p:pic>
      <p:sp>
        <p:nvSpPr>
          <p:cNvPr id="523" name="TextBox 8"/>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24" name="TextBox 9"/>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weight loss</a:t>
            </a:r>
          </a:p>
        </p:txBody>
      </p:sp>
      <p:sp>
        <p:nvSpPr>
          <p:cNvPr id="525"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28" name="TextBox 3"/>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weight loss</a:t>
            </a:r>
          </a:p>
        </p:txBody>
      </p:sp>
      <p:sp>
        <p:nvSpPr>
          <p:cNvPr id="529" name="모서리가 둥근 직사각형 4"/>
          <p:cNvSpPr/>
          <p:nvPr/>
        </p:nvSpPr>
        <p:spPr>
          <a:xfrm>
            <a:off x="5932585" y="1703788"/>
            <a:ext cx="4667205" cy="3841135"/>
          </a:xfrm>
          <a:prstGeom prst="roundRect">
            <a:avLst>
              <a:gd name="adj" fmla="val 16667"/>
            </a:avLst>
          </a:prstGeom>
          <a:ln w="25400">
            <a:solidFill>
              <a:srgbClr val="C00000"/>
            </a:solidFill>
            <a:miter/>
          </a:ln>
        </p:spPr>
        <p:txBody>
          <a:bodyPr lIns="45719" rIns="45719" anchor="ctr"/>
          <a:lstStyle/>
          <a:p>
            <a:pPr algn="ctr">
              <a:defRPr>
                <a:solidFill>
                  <a:srgbClr val="FFFFFF"/>
                </a:solidFill>
              </a:defRPr>
            </a:pPr>
            <a:endParaRPr/>
          </a:p>
        </p:txBody>
      </p:sp>
      <p:sp>
        <p:nvSpPr>
          <p:cNvPr id="530" name="TextBox 5"/>
          <p:cNvSpPr txBox="1"/>
          <p:nvPr/>
        </p:nvSpPr>
        <p:spPr>
          <a:xfrm>
            <a:off x="6154291" y="3667135"/>
            <a:ext cx="4467765" cy="210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pPr>
            <a:r>
              <a:t>After open gastric bypass, there was significant weight loss. However, a significant loss of fat-free mas was also observed six months after the surgery.</a:t>
            </a:r>
          </a:p>
          <a:p>
            <a:pPr>
              <a:defRPr sz="1400"/>
            </a:pPr>
            <a:endParaRPr/>
          </a:p>
          <a:p>
            <a:pPr>
              <a:defRPr sz="1400"/>
            </a:pPr>
            <a:r>
              <a:t>The use of BIA resulted in an appropriate estimation of total weight components in individuals subjected to bariatric surgery allowing a more real analysis of the variation of weight after the surgery.</a:t>
            </a:r>
          </a:p>
        </p:txBody>
      </p:sp>
      <p:sp>
        <p:nvSpPr>
          <p:cNvPr id="531" name="TextBox 6"/>
          <p:cNvSpPr txBox="1"/>
          <p:nvPr/>
        </p:nvSpPr>
        <p:spPr>
          <a:xfrm>
            <a:off x="2250087" y="5912939"/>
            <a:ext cx="7936991" cy="6251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r>
              <a:t>Body composition analysis by </a:t>
            </a:r>
            <a:r>
              <a:rPr b="1">
                <a:solidFill>
                  <a:srgbClr val="FF0000"/>
                </a:solidFill>
              </a:rPr>
              <a:t>BIA technology </a:t>
            </a:r>
            <a:r>
              <a:t>will give customized guide line/management for patients.</a:t>
            </a:r>
          </a:p>
        </p:txBody>
      </p:sp>
      <p:pic>
        <p:nvPicPr>
          <p:cNvPr id="532" name="그림 7" descr="그림 7"/>
          <p:cNvPicPr>
            <a:picLocks noChangeAspect="1"/>
          </p:cNvPicPr>
          <p:nvPr/>
        </p:nvPicPr>
        <p:blipFill>
          <a:blip r:embed="rId2"/>
          <a:srcRect l="31507" t="16808" r="32698" b="50316"/>
          <a:stretch>
            <a:fillRect/>
          </a:stretch>
        </p:blipFill>
        <p:spPr>
          <a:xfrm>
            <a:off x="1929820" y="1623848"/>
            <a:ext cx="3900842" cy="2015290"/>
          </a:xfrm>
          <a:prstGeom prst="rect">
            <a:avLst/>
          </a:prstGeom>
          <a:ln w="12700">
            <a:miter lim="400000"/>
          </a:ln>
        </p:spPr>
      </p:pic>
      <p:pic>
        <p:nvPicPr>
          <p:cNvPr id="533" name="그림 8" descr="그림 8"/>
          <p:cNvPicPr>
            <a:picLocks noChangeAspect="1"/>
          </p:cNvPicPr>
          <p:nvPr/>
        </p:nvPicPr>
        <p:blipFill>
          <a:blip r:embed="rId3"/>
          <a:srcRect l="31874" t="34629" r="32917" b="53889"/>
          <a:stretch>
            <a:fillRect/>
          </a:stretch>
        </p:blipFill>
        <p:spPr>
          <a:xfrm>
            <a:off x="6076235" y="2007885"/>
            <a:ext cx="4388089" cy="1631707"/>
          </a:xfrm>
          <a:prstGeom prst="rect">
            <a:avLst/>
          </a:prstGeom>
          <a:ln w="12700">
            <a:miter lim="400000"/>
          </a:ln>
        </p:spPr>
      </p:pic>
      <p:pic>
        <p:nvPicPr>
          <p:cNvPr id="534" name="그림 9" descr="그림 9"/>
          <p:cNvPicPr>
            <a:picLocks noChangeAspect="1"/>
          </p:cNvPicPr>
          <p:nvPr/>
        </p:nvPicPr>
        <p:blipFill>
          <a:blip r:embed="rId4"/>
          <a:srcRect l="31529" t="60864" r="50484" b="23579"/>
          <a:stretch>
            <a:fillRect/>
          </a:stretch>
        </p:blipFill>
        <p:spPr>
          <a:xfrm>
            <a:off x="1929820" y="3751169"/>
            <a:ext cx="4002766" cy="1947292"/>
          </a:xfrm>
          <a:prstGeom prst="rect">
            <a:avLst/>
          </a:prstGeom>
          <a:ln w="12700">
            <a:miter lim="400000"/>
          </a:ln>
        </p:spPr>
      </p:pic>
      <p:sp>
        <p:nvSpPr>
          <p:cNvPr id="535"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TextBox 2"/>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38" name="TextBox 3"/>
          <p:cNvSpPr txBox="1"/>
          <p:nvPr/>
        </p:nvSpPr>
        <p:spPr>
          <a:xfrm>
            <a:off x="1830901" y="1261668"/>
            <a:ext cx="8356177" cy="3005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a:lvl1pPr>
          </a:lstStyle>
          <a:p>
            <a:r>
              <a:t>Monitoring Individual to help in successful weight loss</a:t>
            </a:r>
          </a:p>
        </p:txBody>
      </p:sp>
      <p:sp>
        <p:nvSpPr>
          <p:cNvPr id="539" name="TextBox 5"/>
          <p:cNvSpPr txBox="1"/>
          <p:nvPr/>
        </p:nvSpPr>
        <p:spPr>
          <a:xfrm>
            <a:off x="5838559" y="5634704"/>
            <a:ext cx="4692808" cy="6675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C00000"/>
                </a:solidFill>
                <a:latin typeface="맑은 고딕"/>
                <a:ea typeface="맑은 고딕"/>
                <a:cs typeface="맑은 고딕"/>
                <a:sym typeface="맑은 고딕"/>
              </a:defRPr>
            </a:pPr>
            <a:r>
              <a:t>Skelectal Muscle mass Index (SMI)</a:t>
            </a:r>
            <a:r>
              <a:rPr>
                <a:solidFill>
                  <a:srgbClr val="000000"/>
                </a:solidFill>
                <a:latin typeface="+mj-lt"/>
                <a:ea typeface="+mj-ea"/>
                <a:cs typeface="+mj-cs"/>
                <a:sym typeface="Calibri"/>
              </a:rPr>
              <a:t> can be used for preventing sarcopenia after surgery.</a:t>
            </a:r>
          </a:p>
        </p:txBody>
      </p:sp>
      <p:pic>
        <p:nvPicPr>
          <p:cNvPr id="540" name="그림 6" descr="그림 6"/>
          <p:cNvPicPr>
            <a:picLocks noChangeAspect="1"/>
          </p:cNvPicPr>
          <p:nvPr/>
        </p:nvPicPr>
        <p:blipFill>
          <a:blip r:embed="rId2"/>
          <a:srcRect l="31799" t="9289" r="33000" b="70978"/>
          <a:stretch>
            <a:fillRect/>
          </a:stretch>
        </p:blipFill>
        <p:spPr>
          <a:xfrm>
            <a:off x="1817274" y="1650288"/>
            <a:ext cx="3656155" cy="1152936"/>
          </a:xfrm>
          <a:prstGeom prst="rect">
            <a:avLst/>
          </a:prstGeom>
          <a:ln w="12700">
            <a:miter lim="400000"/>
          </a:ln>
        </p:spPr>
      </p:pic>
      <p:pic>
        <p:nvPicPr>
          <p:cNvPr id="541" name="그림 7" descr="그림 7"/>
          <p:cNvPicPr>
            <a:picLocks noChangeAspect="1"/>
          </p:cNvPicPr>
          <p:nvPr/>
        </p:nvPicPr>
        <p:blipFill>
          <a:blip r:embed="rId3"/>
          <a:srcRect l="33800" t="21643" r="36529" b="51778"/>
          <a:stretch>
            <a:fillRect/>
          </a:stretch>
        </p:blipFill>
        <p:spPr>
          <a:xfrm>
            <a:off x="1646596" y="2757503"/>
            <a:ext cx="3835319" cy="2864079"/>
          </a:xfrm>
          <a:prstGeom prst="rect">
            <a:avLst/>
          </a:prstGeom>
          <a:ln w="12700">
            <a:miter lim="400000"/>
          </a:ln>
        </p:spPr>
      </p:pic>
      <p:pic>
        <p:nvPicPr>
          <p:cNvPr id="542" name="그림 8" descr="그림 8"/>
          <p:cNvPicPr>
            <a:picLocks noChangeAspect="1"/>
          </p:cNvPicPr>
          <p:nvPr/>
        </p:nvPicPr>
        <p:blipFill>
          <a:blip r:embed="rId3"/>
          <a:srcRect l="33800" t="72814" r="36570" b="15512"/>
          <a:stretch>
            <a:fillRect/>
          </a:stretch>
        </p:blipFill>
        <p:spPr>
          <a:xfrm>
            <a:off x="1650994" y="5571566"/>
            <a:ext cx="3829987" cy="1257993"/>
          </a:xfrm>
          <a:prstGeom prst="rect">
            <a:avLst/>
          </a:prstGeom>
          <a:ln w="12700">
            <a:miter lim="400000"/>
          </a:ln>
        </p:spPr>
      </p:pic>
      <p:grpSp>
        <p:nvGrpSpPr>
          <p:cNvPr id="551" name="그룹 17"/>
          <p:cNvGrpSpPr/>
          <p:nvPr/>
        </p:nvGrpSpPr>
        <p:grpSpPr>
          <a:xfrm>
            <a:off x="5652592" y="1715735"/>
            <a:ext cx="4924495" cy="3467820"/>
            <a:chOff x="0" y="0"/>
            <a:chExt cx="4924494" cy="3467818"/>
          </a:xfrm>
        </p:grpSpPr>
        <p:sp>
          <p:nvSpPr>
            <p:cNvPr id="543" name="TextBox 4"/>
            <p:cNvSpPr txBox="1"/>
            <p:nvPr/>
          </p:nvSpPr>
          <p:spPr>
            <a:xfrm>
              <a:off x="185966" y="2211133"/>
              <a:ext cx="4607212" cy="11709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400">
                  <a:latin typeface="나눔바른고딕"/>
                  <a:ea typeface="나눔바른고딕"/>
                  <a:cs typeface="나눔바른고딕"/>
                  <a:sym typeface="나눔바른고딕"/>
                </a:defRPr>
              </a:pPr>
              <a:r>
                <a:t>FFM tends to decrease continuously after Roux-en-Y gastric bypass surgery.</a:t>
              </a:r>
            </a:p>
            <a:p>
              <a:pPr>
                <a:defRPr sz="1400">
                  <a:latin typeface="나눔바른고딕"/>
                  <a:ea typeface="나눔바른고딕"/>
                  <a:cs typeface="나눔바른고딕"/>
                  <a:sym typeface="나눔바른고딕"/>
                </a:defRPr>
              </a:pPr>
              <a:endParaRPr/>
            </a:p>
            <a:p>
              <a:pPr>
                <a:defRPr sz="1400">
                  <a:latin typeface="나눔바른고딕"/>
                  <a:ea typeface="나눔바른고딕"/>
                  <a:cs typeface="나눔바른고딕"/>
                  <a:sym typeface="나눔바른고딕"/>
                </a:defRPr>
              </a:pPr>
              <a:r>
                <a:t>Monitoring is necessary in order to maintain FFM and muscle strength.</a:t>
              </a:r>
            </a:p>
          </p:txBody>
        </p:sp>
        <p:pic>
          <p:nvPicPr>
            <p:cNvPr id="544" name="그림 9" descr="그림 9"/>
            <p:cNvPicPr>
              <a:picLocks noChangeAspect="1"/>
            </p:cNvPicPr>
            <p:nvPr/>
          </p:nvPicPr>
          <p:blipFill>
            <a:blip r:embed="rId4"/>
            <a:srcRect l="38528" t="34853" r="35372" b="52666"/>
            <a:stretch>
              <a:fillRect/>
            </a:stretch>
          </p:blipFill>
          <p:spPr>
            <a:xfrm>
              <a:off x="54653" y="508873"/>
              <a:ext cx="4869841" cy="1309922"/>
            </a:xfrm>
            <a:prstGeom prst="rect">
              <a:avLst/>
            </a:prstGeom>
            <a:ln w="12700" cap="flat">
              <a:noFill/>
              <a:miter lim="400000"/>
            </a:ln>
            <a:effectLst/>
          </p:spPr>
        </p:pic>
        <p:pic>
          <p:nvPicPr>
            <p:cNvPr id="545" name="그림 10" descr="그림 10"/>
            <p:cNvPicPr>
              <a:picLocks noChangeAspect="1"/>
            </p:cNvPicPr>
            <p:nvPr/>
          </p:nvPicPr>
          <p:blipFill>
            <a:blip r:embed="rId4"/>
            <a:srcRect l="38649" t="69484" r="35495" b="27357"/>
            <a:stretch>
              <a:fillRect/>
            </a:stretch>
          </p:blipFill>
          <p:spPr>
            <a:xfrm>
              <a:off x="72940" y="1796381"/>
              <a:ext cx="4841376" cy="332578"/>
            </a:xfrm>
            <a:prstGeom prst="rect">
              <a:avLst/>
            </a:prstGeom>
            <a:ln w="12700" cap="flat">
              <a:noFill/>
              <a:miter lim="400000"/>
            </a:ln>
            <a:effectLst/>
          </p:spPr>
        </p:pic>
        <p:pic>
          <p:nvPicPr>
            <p:cNvPr id="546" name="그림 11" descr="그림 11"/>
            <p:cNvPicPr>
              <a:picLocks noChangeAspect="1"/>
            </p:cNvPicPr>
            <p:nvPr/>
          </p:nvPicPr>
          <p:blipFill>
            <a:blip r:embed="rId4"/>
            <a:srcRect l="34300" t="31689" r="58653" b="65612"/>
            <a:stretch>
              <a:fillRect/>
            </a:stretch>
          </p:blipFill>
          <p:spPr>
            <a:xfrm>
              <a:off x="54652" y="199316"/>
              <a:ext cx="1088407" cy="234442"/>
            </a:xfrm>
            <a:prstGeom prst="rect">
              <a:avLst/>
            </a:prstGeom>
            <a:ln w="12700" cap="flat">
              <a:noFill/>
              <a:miter lim="400000"/>
            </a:ln>
            <a:effectLst/>
          </p:spPr>
        </p:pic>
        <p:sp>
          <p:nvSpPr>
            <p:cNvPr id="547" name="모서리가 둥근 직사각형 12"/>
            <p:cNvSpPr/>
            <p:nvPr/>
          </p:nvSpPr>
          <p:spPr>
            <a:xfrm>
              <a:off x="-1" y="0"/>
              <a:ext cx="4893736" cy="3467819"/>
            </a:xfrm>
            <a:prstGeom prst="roundRect">
              <a:avLst>
                <a:gd name="adj" fmla="val 16667"/>
              </a:avLst>
            </a:prstGeom>
            <a:noFill/>
            <a:ln w="25400" cap="flat">
              <a:solidFill>
                <a:srgbClr val="C00000"/>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548" name="직선 연결선 13"/>
            <p:cNvSpPr/>
            <p:nvPr/>
          </p:nvSpPr>
          <p:spPr>
            <a:xfrm>
              <a:off x="107666" y="1404042"/>
              <a:ext cx="4611240" cy="1"/>
            </a:xfrm>
            <a:prstGeom prst="line">
              <a:avLst/>
            </a:prstGeom>
            <a:noFill/>
            <a:ln w="25400" cap="flat">
              <a:solidFill>
                <a:srgbClr val="91001E"/>
              </a:solidFill>
              <a:prstDash val="solid"/>
              <a:miter lim="800000"/>
            </a:ln>
            <a:effectLst/>
          </p:spPr>
          <p:txBody>
            <a:bodyPr wrap="square" lIns="45719" tIns="45719" rIns="45719" bIns="45719" numCol="1" anchor="t">
              <a:noAutofit/>
            </a:bodyPr>
            <a:lstStyle/>
            <a:p>
              <a:endParaRPr/>
            </a:p>
          </p:txBody>
        </p:sp>
        <p:sp>
          <p:nvSpPr>
            <p:cNvPr id="549" name="직선 연결선 14"/>
            <p:cNvSpPr/>
            <p:nvPr/>
          </p:nvSpPr>
          <p:spPr>
            <a:xfrm>
              <a:off x="113762" y="1574729"/>
              <a:ext cx="4611240" cy="1"/>
            </a:xfrm>
            <a:prstGeom prst="line">
              <a:avLst/>
            </a:prstGeom>
            <a:noFill/>
            <a:ln w="25400" cap="flat">
              <a:solidFill>
                <a:srgbClr val="91001E"/>
              </a:solidFill>
              <a:prstDash val="solid"/>
              <a:miter lim="800000"/>
            </a:ln>
            <a:effectLst/>
          </p:spPr>
          <p:txBody>
            <a:bodyPr wrap="square" lIns="45719" tIns="45719" rIns="45719" bIns="45719" numCol="1" anchor="t">
              <a:noAutofit/>
            </a:bodyPr>
            <a:lstStyle/>
            <a:p>
              <a:endParaRPr/>
            </a:p>
          </p:txBody>
        </p:sp>
        <p:sp>
          <p:nvSpPr>
            <p:cNvPr id="550" name="직선 연결선 15"/>
            <p:cNvSpPr/>
            <p:nvPr/>
          </p:nvSpPr>
          <p:spPr>
            <a:xfrm>
              <a:off x="107665" y="1771996"/>
              <a:ext cx="410334" cy="1"/>
            </a:xfrm>
            <a:prstGeom prst="line">
              <a:avLst/>
            </a:prstGeom>
            <a:noFill/>
            <a:ln w="25400" cap="flat">
              <a:solidFill>
                <a:srgbClr val="91001E"/>
              </a:solidFill>
              <a:prstDash val="solid"/>
              <a:miter lim="800000"/>
            </a:ln>
            <a:effectLst/>
          </p:spPr>
          <p:txBody>
            <a:bodyPr wrap="square" lIns="45719" tIns="45719" rIns="45719" bIns="45719" numCol="1" anchor="t">
              <a:noAutofit/>
            </a:bodyPr>
            <a:lstStyle/>
            <a:p>
              <a:endParaRPr/>
            </a:p>
          </p:txBody>
        </p:sp>
      </p:grpSp>
      <p:sp>
        <p:nvSpPr>
          <p:cNvPr id="552"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4" name="Picture 2" descr="Picture 2"/>
          <p:cNvPicPr>
            <a:picLocks noChangeAspect="1"/>
          </p:cNvPicPr>
          <p:nvPr/>
        </p:nvPicPr>
        <p:blipFill>
          <a:blip r:embed="rId2"/>
          <a:stretch>
            <a:fillRect/>
          </a:stretch>
        </p:blipFill>
        <p:spPr>
          <a:xfrm>
            <a:off x="1950674" y="1569351"/>
            <a:ext cx="5230591" cy="4887070"/>
          </a:xfrm>
          <a:prstGeom prst="rect">
            <a:avLst/>
          </a:prstGeom>
          <a:ln w="12700">
            <a:miter lim="400000"/>
          </a:ln>
        </p:spPr>
      </p:pic>
      <p:sp>
        <p:nvSpPr>
          <p:cNvPr id="555" name="TextBox 2"/>
          <p:cNvSpPr txBox="1"/>
          <p:nvPr/>
        </p:nvSpPr>
        <p:spPr>
          <a:xfrm>
            <a:off x="6884992" y="3195365"/>
            <a:ext cx="4004358" cy="16535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2000" b="1">
                <a:solidFill>
                  <a:srgbClr val="C00000"/>
                </a:solidFill>
              </a:defRPr>
            </a:pPr>
            <a:r>
              <a:t>Skeletal Muscle mass Index </a:t>
            </a:r>
          </a:p>
          <a:p>
            <a:pPr algn="just">
              <a:defRPr sz="1600" b="1"/>
            </a:pPr>
            <a:endParaRPr/>
          </a:p>
          <a:p>
            <a:pPr algn="just">
              <a:defRPr sz="1600" b="1"/>
            </a:pPr>
            <a:r>
              <a:t>Appendicular Skeletal Muscle Mass/height2</a:t>
            </a:r>
          </a:p>
          <a:p>
            <a:pPr algn="just">
              <a:defRPr sz="1600" b="1"/>
            </a:pPr>
            <a:endParaRPr/>
          </a:p>
          <a:p>
            <a:pPr algn="just">
              <a:defRPr sz="1600" b="1"/>
            </a:pPr>
            <a:endParaRPr/>
          </a:p>
          <a:p>
            <a:pPr algn="just">
              <a:defRPr sz="1600" b="1">
                <a:solidFill>
                  <a:srgbClr val="9A0000"/>
                </a:solidFill>
                <a:latin typeface="Malgun Gothic"/>
                <a:ea typeface="Malgun Gothic"/>
                <a:cs typeface="Malgun Gothic"/>
                <a:sym typeface="Malgun Gothic"/>
              </a:defRPr>
            </a:pPr>
            <a:r>
              <a:t>MALE : 7.0kg/m</a:t>
            </a:r>
            <a:r>
              <a:rPr baseline="30000"/>
              <a:t>2   </a:t>
            </a:r>
            <a:r>
              <a:t>FEMALE : 5.7kg/m</a:t>
            </a:r>
            <a:r>
              <a:rPr baseline="30000"/>
              <a:t>2</a:t>
            </a:r>
          </a:p>
        </p:txBody>
      </p:sp>
      <p:sp>
        <p:nvSpPr>
          <p:cNvPr id="556" name="TextBox 3"/>
          <p:cNvSpPr txBox="1"/>
          <p:nvPr/>
        </p:nvSpPr>
        <p:spPr>
          <a:xfrm>
            <a:off x="1751797" y="1300168"/>
            <a:ext cx="7459900"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t>Cut-off for Sarcopenia (Asian)</a:t>
            </a:r>
          </a:p>
        </p:txBody>
      </p:sp>
      <p:sp>
        <p:nvSpPr>
          <p:cNvPr id="557" name="TextBox 5"/>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58"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TextBox 1"/>
          <p:cNvSpPr txBox="1"/>
          <p:nvPr/>
        </p:nvSpPr>
        <p:spPr>
          <a:xfrm>
            <a:off x="1751797" y="1300168"/>
            <a:ext cx="7459900"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t>Cut-off for Sarcopenia (European)</a:t>
            </a:r>
          </a:p>
        </p:txBody>
      </p:sp>
      <p:pic>
        <p:nvPicPr>
          <p:cNvPr id="561" name="그림 2" descr="그림 2"/>
          <p:cNvPicPr>
            <a:picLocks noChangeAspect="1"/>
          </p:cNvPicPr>
          <p:nvPr/>
        </p:nvPicPr>
        <p:blipFill>
          <a:blip r:embed="rId2"/>
          <a:stretch>
            <a:fillRect/>
          </a:stretch>
        </p:blipFill>
        <p:spPr>
          <a:xfrm>
            <a:off x="1706078" y="1791853"/>
            <a:ext cx="5976664" cy="1797420"/>
          </a:xfrm>
          <a:prstGeom prst="rect">
            <a:avLst/>
          </a:prstGeom>
          <a:ln w="12700">
            <a:miter lim="400000"/>
          </a:ln>
        </p:spPr>
      </p:pic>
      <p:pic>
        <p:nvPicPr>
          <p:cNvPr id="562" name="그림 3" descr="그림 3"/>
          <p:cNvPicPr>
            <a:picLocks noChangeAspect="1"/>
          </p:cNvPicPr>
          <p:nvPr/>
        </p:nvPicPr>
        <p:blipFill>
          <a:blip r:embed="rId3"/>
          <a:srcRect b="86002"/>
          <a:stretch>
            <a:fillRect/>
          </a:stretch>
        </p:blipFill>
        <p:spPr>
          <a:xfrm>
            <a:off x="1706078" y="3589273"/>
            <a:ext cx="8443708" cy="763108"/>
          </a:xfrm>
          <a:prstGeom prst="rect">
            <a:avLst/>
          </a:prstGeom>
          <a:ln w="12700">
            <a:miter lim="400000"/>
          </a:ln>
        </p:spPr>
      </p:pic>
      <p:pic>
        <p:nvPicPr>
          <p:cNvPr id="563" name="그림 4" descr="그림 4"/>
          <p:cNvPicPr>
            <a:picLocks noChangeAspect="1"/>
          </p:cNvPicPr>
          <p:nvPr/>
        </p:nvPicPr>
        <p:blipFill>
          <a:blip r:embed="rId3"/>
          <a:srcRect t="12751" b="42627"/>
          <a:stretch>
            <a:fillRect/>
          </a:stretch>
        </p:blipFill>
        <p:spPr>
          <a:xfrm>
            <a:off x="1706077" y="4292801"/>
            <a:ext cx="8443708" cy="2432483"/>
          </a:xfrm>
          <a:prstGeom prst="rect">
            <a:avLst/>
          </a:prstGeom>
          <a:ln w="12700">
            <a:miter lim="400000"/>
          </a:ln>
        </p:spPr>
      </p:pic>
      <p:sp>
        <p:nvSpPr>
          <p:cNvPr id="564" name="TextBox 5"/>
          <p:cNvSpPr txBox="1"/>
          <p:nvPr/>
        </p:nvSpPr>
        <p:spPr>
          <a:xfrm>
            <a:off x="5097574" y="6403866"/>
            <a:ext cx="5905706"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r">
              <a:defRPr sz="1000"/>
            </a:lvl1pPr>
          </a:lstStyle>
          <a:p>
            <a:r>
              <a:t>(Age Ageing. 2010 Jul;39(4):412-23)</a:t>
            </a:r>
          </a:p>
        </p:txBody>
      </p:sp>
      <p:sp>
        <p:nvSpPr>
          <p:cNvPr id="565" name="TextBox 7"/>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66"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2" descr="Picture 2"/>
          <p:cNvPicPr>
            <a:picLocks noChangeAspect="1"/>
          </p:cNvPicPr>
          <p:nvPr/>
        </p:nvPicPr>
        <p:blipFill>
          <a:blip r:embed="rId2"/>
          <a:srcRect b="24164"/>
          <a:stretch>
            <a:fillRect/>
          </a:stretch>
        </p:blipFill>
        <p:spPr>
          <a:xfrm>
            <a:off x="1734911" y="1683173"/>
            <a:ext cx="4568849" cy="4914128"/>
          </a:xfrm>
          <a:prstGeom prst="rect">
            <a:avLst/>
          </a:prstGeom>
          <a:ln w="12700">
            <a:miter lim="400000"/>
          </a:ln>
        </p:spPr>
      </p:pic>
      <p:grpSp>
        <p:nvGrpSpPr>
          <p:cNvPr id="571" name="직사각형 2"/>
          <p:cNvGrpSpPr/>
          <p:nvPr/>
        </p:nvGrpSpPr>
        <p:grpSpPr>
          <a:xfrm>
            <a:off x="4299742" y="1695813"/>
            <a:ext cx="504057" cy="333088"/>
            <a:chOff x="0" y="0"/>
            <a:chExt cx="504056" cy="333087"/>
          </a:xfrm>
        </p:grpSpPr>
        <p:sp>
          <p:nvSpPr>
            <p:cNvPr id="569" name="Rectangle"/>
            <p:cNvSpPr/>
            <p:nvPr/>
          </p:nvSpPr>
          <p:spPr>
            <a:xfrm>
              <a:off x="0" y="94535"/>
              <a:ext cx="504057" cy="144017"/>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0" name="`"/>
            <p:cNvSpPr txBox="1"/>
            <p:nvPr/>
          </p:nvSpPr>
          <p:spPr>
            <a:xfrm>
              <a:off x="45719" y="-1"/>
              <a:ext cx="412617" cy="3330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a:t>
              </a:r>
            </a:p>
          </p:txBody>
        </p:sp>
      </p:grpSp>
      <p:grpSp>
        <p:nvGrpSpPr>
          <p:cNvPr id="574" name="직사각형 3"/>
          <p:cNvGrpSpPr/>
          <p:nvPr/>
        </p:nvGrpSpPr>
        <p:grpSpPr>
          <a:xfrm>
            <a:off x="4452142" y="1848213"/>
            <a:ext cx="504057" cy="333088"/>
            <a:chOff x="0" y="0"/>
            <a:chExt cx="504056" cy="333087"/>
          </a:xfrm>
        </p:grpSpPr>
        <p:sp>
          <p:nvSpPr>
            <p:cNvPr id="572" name="Rectangle"/>
            <p:cNvSpPr/>
            <p:nvPr/>
          </p:nvSpPr>
          <p:spPr>
            <a:xfrm>
              <a:off x="0" y="94535"/>
              <a:ext cx="504057" cy="144017"/>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3" name="`"/>
            <p:cNvSpPr txBox="1"/>
            <p:nvPr/>
          </p:nvSpPr>
          <p:spPr>
            <a:xfrm>
              <a:off x="45719" y="-1"/>
              <a:ext cx="412617" cy="3330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a:t>
              </a:r>
            </a:p>
          </p:txBody>
        </p:sp>
      </p:grpSp>
      <p:sp>
        <p:nvSpPr>
          <p:cNvPr id="575" name="직사각형 4"/>
          <p:cNvSpPr/>
          <p:nvPr/>
        </p:nvSpPr>
        <p:spPr>
          <a:xfrm>
            <a:off x="1798128" y="5283575"/>
            <a:ext cx="2529073" cy="473592"/>
          </a:xfrm>
          <a:prstGeom prst="rect">
            <a:avLst/>
          </a:prstGeom>
          <a:ln w="12700">
            <a:solidFill>
              <a:srgbClr val="C00000"/>
            </a:solidFill>
            <a:miter/>
          </a:ln>
        </p:spPr>
        <p:txBody>
          <a:bodyPr lIns="45719" rIns="45719" anchor="ctr"/>
          <a:lstStyle/>
          <a:p>
            <a:pPr algn="ctr">
              <a:defRPr>
                <a:solidFill>
                  <a:srgbClr val="FFFFFF"/>
                </a:solidFill>
              </a:defRPr>
            </a:pPr>
            <a:endParaRPr/>
          </a:p>
        </p:txBody>
      </p:sp>
      <p:sp>
        <p:nvSpPr>
          <p:cNvPr id="576" name="직사각형 5"/>
          <p:cNvSpPr/>
          <p:nvPr/>
        </p:nvSpPr>
        <p:spPr>
          <a:xfrm>
            <a:off x="1806919" y="5949231"/>
            <a:ext cx="2520282" cy="473592"/>
          </a:xfrm>
          <a:prstGeom prst="rect">
            <a:avLst/>
          </a:prstGeom>
          <a:ln w="12700">
            <a:solidFill>
              <a:srgbClr val="C00000"/>
            </a:solidFill>
            <a:miter/>
          </a:ln>
        </p:spPr>
        <p:txBody>
          <a:bodyPr lIns="45719" rIns="45719" anchor="ctr"/>
          <a:lstStyle/>
          <a:p>
            <a:pPr algn="ctr">
              <a:defRPr>
                <a:solidFill>
                  <a:srgbClr val="FFFFFF"/>
                </a:solidFill>
              </a:defRPr>
            </a:pPr>
            <a:endParaRPr/>
          </a:p>
        </p:txBody>
      </p:sp>
      <p:sp>
        <p:nvSpPr>
          <p:cNvPr id="577" name="正方形/長方形 1"/>
          <p:cNvSpPr txBox="1"/>
          <p:nvPr/>
        </p:nvSpPr>
        <p:spPr>
          <a:xfrm>
            <a:off x="6578567" y="4895865"/>
            <a:ext cx="3445500" cy="310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b="1"/>
            </a:pPr>
            <a:r>
              <a:t>Appendicular</a:t>
            </a:r>
            <a:r>
              <a:rPr>
                <a:latin typeface="Malgun Gothic"/>
                <a:ea typeface="Malgun Gothic"/>
                <a:cs typeface="Malgun Gothic"/>
                <a:sym typeface="Malgun Gothic"/>
              </a:rPr>
              <a:t> SMM ÷ Height Square</a:t>
            </a:r>
          </a:p>
        </p:txBody>
      </p:sp>
      <p:sp>
        <p:nvSpPr>
          <p:cNvPr id="578" name="直線コネクタ 32"/>
          <p:cNvSpPr/>
          <p:nvPr/>
        </p:nvSpPr>
        <p:spPr>
          <a:xfrm flipV="1">
            <a:off x="4615231" y="5805214"/>
            <a:ext cx="1800001" cy="413"/>
          </a:xfrm>
          <a:prstGeom prst="line">
            <a:avLst/>
          </a:prstGeom>
          <a:ln w="6350">
            <a:solidFill>
              <a:srgbClr val="C00000"/>
            </a:solidFill>
            <a:miter/>
            <a:tailEnd type="triangle"/>
          </a:ln>
        </p:spPr>
        <p:txBody>
          <a:bodyPr lIns="45719" rIns="45719"/>
          <a:lstStyle/>
          <a:p>
            <a:endParaRPr/>
          </a:p>
        </p:txBody>
      </p:sp>
      <p:sp>
        <p:nvSpPr>
          <p:cNvPr id="579" name="テキスト ボックス 29"/>
          <p:cNvSpPr txBox="1"/>
          <p:nvPr/>
        </p:nvSpPr>
        <p:spPr>
          <a:xfrm>
            <a:off x="6936710" y="5632291"/>
            <a:ext cx="2834822"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latin typeface="Malgun Gothic"/>
                <a:ea typeface="Malgun Gothic"/>
                <a:cs typeface="Malgun Gothic"/>
                <a:sym typeface="Malgun Gothic"/>
              </a:defRPr>
            </a:pPr>
            <a:r>
              <a:t>9.68 ÷ 2.25 = </a:t>
            </a:r>
            <a:r>
              <a:rPr>
                <a:solidFill>
                  <a:srgbClr val="C00000"/>
                </a:solidFill>
              </a:rPr>
              <a:t>4.30</a:t>
            </a:r>
          </a:p>
        </p:txBody>
      </p:sp>
      <p:sp>
        <p:nvSpPr>
          <p:cNvPr id="580" name="テキスト ボックス 38"/>
          <p:cNvSpPr txBox="1"/>
          <p:nvPr/>
        </p:nvSpPr>
        <p:spPr>
          <a:xfrm>
            <a:off x="6955701" y="5967440"/>
            <a:ext cx="2420296"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000">
                <a:latin typeface="Malgun Gothic"/>
                <a:ea typeface="Malgun Gothic"/>
                <a:cs typeface="Malgun Gothic"/>
                <a:sym typeface="Malgun Gothic"/>
              </a:defRPr>
            </a:pPr>
            <a:r>
              <a:t>※ Female / 150</a:t>
            </a:r>
            <a:r>
              <a:rPr>
                <a:latin typeface="メイリオ"/>
                <a:ea typeface="メイリオ"/>
                <a:cs typeface="メイリオ"/>
                <a:sym typeface="メイリオ"/>
              </a:rPr>
              <a:t>㎝ </a:t>
            </a:r>
            <a:r>
              <a:t>/ 46.3kg</a:t>
            </a:r>
          </a:p>
        </p:txBody>
      </p:sp>
      <p:sp>
        <p:nvSpPr>
          <p:cNvPr id="581" name="直線コネクタ 40"/>
          <p:cNvSpPr/>
          <p:nvPr/>
        </p:nvSpPr>
        <p:spPr>
          <a:xfrm>
            <a:off x="7333481" y="5241144"/>
            <a:ext cx="1" cy="389760"/>
          </a:xfrm>
          <a:prstGeom prst="line">
            <a:avLst/>
          </a:prstGeom>
          <a:ln w="6350">
            <a:solidFill>
              <a:srgbClr val="C00000"/>
            </a:solidFill>
            <a:miter/>
            <a:tailEnd type="triangle"/>
          </a:ln>
        </p:spPr>
        <p:txBody>
          <a:bodyPr lIns="45719" rIns="45719"/>
          <a:lstStyle/>
          <a:p>
            <a:endParaRPr/>
          </a:p>
        </p:txBody>
      </p:sp>
      <p:sp>
        <p:nvSpPr>
          <p:cNvPr id="582" name="直線コネクタ 42"/>
          <p:cNvSpPr/>
          <p:nvPr/>
        </p:nvSpPr>
        <p:spPr>
          <a:xfrm>
            <a:off x="8257881" y="5408152"/>
            <a:ext cx="1" cy="237988"/>
          </a:xfrm>
          <a:prstGeom prst="line">
            <a:avLst/>
          </a:prstGeom>
          <a:ln w="6350">
            <a:solidFill>
              <a:srgbClr val="C00000"/>
            </a:solidFill>
            <a:miter/>
            <a:tailEnd type="triangle"/>
          </a:ln>
        </p:spPr>
        <p:txBody>
          <a:bodyPr lIns="45719" rIns="45719"/>
          <a:lstStyle/>
          <a:p>
            <a:endParaRPr/>
          </a:p>
        </p:txBody>
      </p:sp>
      <p:sp>
        <p:nvSpPr>
          <p:cNvPr id="583" name="直線コネクタ 43"/>
          <p:cNvSpPr/>
          <p:nvPr/>
        </p:nvSpPr>
        <p:spPr>
          <a:xfrm flipV="1">
            <a:off x="8888381" y="5249516"/>
            <a:ext cx="1" cy="158637"/>
          </a:xfrm>
          <a:prstGeom prst="line">
            <a:avLst/>
          </a:prstGeom>
          <a:ln w="6350">
            <a:solidFill>
              <a:srgbClr val="C00000"/>
            </a:solidFill>
            <a:miter/>
          </a:ln>
        </p:spPr>
        <p:txBody>
          <a:bodyPr lIns="45719" rIns="45719"/>
          <a:lstStyle/>
          <a:p>
            <a:endParaRPr/>
          </a:p>
        </p:txBody>
      </p:sp>
      <p:sp>
        <p:nvSpPr>
          <p:cNvPr id="584" name="直線コネクタ 45"/>
          <p:cNvSpPr/>
          <p:nvPr/>
        </p:nvSpPr>
        <p:spPr>
          <a:xfrm>
            <a:off x="8262177" y="5408152"/>
            <a:ext cx="623909" cy="1"/>
          </a:xfrm>
          <a:prstGeom prst="line">
            <a:avLst/>
          </a:prstGeom>
          <a:ln w="6350">
            <a:solidFill>
              <a:srgbClr val="C00000"/>
            </a:solidFill>
            <a:miter/>
          </a:ln>
        </p:spPr>
        <p:txBody>
          <a:bodyPr lIns="45719" rIns="45719"/>
          <a:lstStyle/>
          <a:p>
            <a:endParaRPr/>
          </a:p>
        </p:txBody>
      </p:sp>
      <p:sp>
        <p:nvSpPr>
          <p:cNvPr id="585" name="직사각형 14"/>
          <p:cNvSpPr txBox="1"/>
          <p:nvPr/>
        </p:nvSpPr>
        <p:spPr>
          <a:xfrm>
            <a:off x="6192041" y="3665344"/>
            <a:ext cx="4480560" cy="1960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r">
              <a:defRPr sz="800" i="1"/>
            </a:lvl1pPr>
          </a:lstStyle>
          <a:p>
            <a:r>
              <a:t>Journal of the American Medical Directors Association 15(2):95-101, 2014</a:t>
            </a:r>
          </a:p>
        </p:txBody>
      </p:sp>
      <p:sp>
        <p:nvSpPr>
          <p:cNvPr id="586" name="TextBox 15"/>
          <p:cNvSpPr txBox="1"/>
          <p:nvPr/>
        </p:nvSpPr>
        <p:spPr>
          <a:xfrm>
            <a:off x="6587114" y="2678298"/>
            <a:ext cx="4085487" cy="10861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sz="1600" b="1"/>
            </a:pPr>
            <a:r>
              <a:t>Skeletal Muscle mass Index </a:t>
            </a:r>
          </a:p>
          <a:p>
            <a:pPr algn="just">
              <a:defRPr sz="1600"/>
            </a:pPr>
            <a:r>
              <a:t>(Appendicular SMM </a:t>
            </a:r>
            <a:r>
              <a:rPr>
                <a:latin typeface="Malgun Gothic"/>
                <a:ea typeface="Malgun Gothic"/>
                <a:cs typeface="Malgun Gothic"/>
                <a:sym typeface="Malgun Gothic"/>
              </a:rPr>
              <a:t>÷ Height^2) is less than the standard </a:t>
            </a:r>
            <a:r>
              <a:rPr>
                <a:latin typeface="Wingdings"/>
                <a:ea typeface="Wingdings"/>
                <a:cs typeface="Wingdings"/>
                <a:sym typeface="Wingdings"/>
              </a:rPr>
              <a:t> </a:t>
            </a:r>
            <a:r>
              <a:rPr>
                <a:latin typeface="Malgun Gothic"/>
                <a:ea typeface="Malgun Gothic"/>
                <a:cs typeface="Malgun Gothic"/>
                <a:sym typeface="Malgun Gothic"/>
              </a:rPr>
              <a:t>Sarcopenia</a:t>
            </a:r>
          </a:p>
        </p:txBody>
      </p:sp>
      <p:sp>
        <p:nvSpPr>
          <p:cNvPr id="587" name="직사각형 16"/>
          <p:cNvSpPr/>
          <p:nvPr/>
        </p:nvSpPr>
        <p:spPr>
          <a:xfrm>
            <a:off x="1797192" y="2132805"/>
            <a:ext cx="720081" cy="216025"/>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588" name="TextBox 18"/>
          <p:cNvSpPr txBox="1"/>
          <p:nvPr/>
        </p:nvSpPr>
        <p:spPr>
          <a:xfrm>
            <a:off x="1751797" y="1300168"/>
            <a:ext cx="7459900"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lvl1pPr>
          </a:lstStyle>
          <a:p>
            <a:r>
              <a:t>Sarcopenia evaluation through BIA</a:t>
            </a:r>
          </a:p>
        </p:txBody>
      </p:sp>
      <p:sp>
        <p:nvSpPr>
          <p:cNvPr id="589" name="TextBox 20"/>
          <p:cNvSpPr txBox="1"/>
          <p:nvPr/>
        </p:nvSpPr>
        <p:spPr>
          <a:xfrm>
            <a:off x="1447511" y="776377"/>
            <a:ext cx="6236917" cy="392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400" b="1"/>
            </a:lvl1pPr>
          </a:lstStyle>
          <a:p>
            <a:r>
              <a:t>③ Patient Monitoring</a:t>
            </a:r>
          </a:p>
        </p:txBody>
      </p:sp>
      <p:sp>
        <p:nvSpPr>
          <p:cNvPr id="590" name="TextBox 1"/>
          <p:cNvSpPr txBox="1"/>
          <p:nvPr/>
        </p:nvSpPr>
        <p:spPr>
          <a:xfrm>
            <a:off x="270038" y="-265"/>
            <a:ext cx="2932083" cy="3939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pc="-7">
                <a:latin typeface="Graphik"/>
                <a:ea typeface="Graphik"/>
                <a:cs typeface="Graphik"/>
                <a:sym typeface="Graphik"/>
              </a:defRPr>
            </a:lvl1pPr>
          </a:lstStyle>
          <a:p>
            <a:r>
              <a:t>InBody in Bariatric Surgery</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Google Shape;132;p25"/>
          <p:cNvSpPr txBox="1"/>
          <p:nvPr/>
        </p:nvSpPr>
        <p:spPr>
          <a:xfrm>
            <a:off x="2541399" y="2766199"/>
            <a:ext cx="7109202" cy="1325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gn="ctr">
              <a:defRPr sz="7300" b="1">
                <a:solidFill>
                  <a:srgbClr val="535353"/>
                </a:solidFill>
                <a:latin typeface="Graphik"/>
                <a:ea typeface="Graphik"/>
                <a:cs typeface="Graphik"/>
                <a:sym typeface="Graphik"/>
              </a:defRPr>
            </a:lvl1pPr>
          </a:lstStyle>
          <a:p>
            <a:r>
              <a:t>Case Studies</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4" name="Picture 2" descr="Picture 2"/>
          <p:cNvPicPr>
            <a:picLocks noChangeAspect="1"/>
          </p:cNvPicPr>
          <p:nvPr/>
        </p:nvPicPr>
        <p:blipFill>
          <a:blip r:embed="rId2"/>
          <a:srcRect r="49632"/>
          <a:stretch>
            <a:fillRect/>
          </a:stretch>
        </p:blipFill>
        <p:spPr>
          <a:xfrm>
            <a:off x="1901594" y="1611624"/>
            <a:ext cx="1461540" cy="2423457"/>
          </a:xfrm>
          <a:prstGeom prst="rect">
            <a:avLst/>
          </a:prstGeom>
          <a:ln w="12700">
            <a:miter lim="400000"/>
          </a:ln>
        </p:spPr>
      </p:pic>
      <p:pic>
        <p:nvPicPr>
          <p:cNvPr id="595" name="Picture 2" descr="Picture 2"/>
          <p:cNvPicPr>
            <a:picLocks noChangeAspect="1"/>
          </p:cNvPicPr>
          <p:nvPr/>
        </p:nvPicPr>
        <p:blipFill>
          <a:blip r:embed="rId2"/>
          <a:srcRect l="49919"/>
          <a:stretch>
            <a:fillRect/>
          </a:stretch>
        </p:blipFill>
        <p:spPr>
          <a:xfrm>
            <a:off x="8732586" y="1611624"/>
            <a:ext cx="1453209" cy="2423457"/>
          </a:xfrm>
          <a:prstGeom prst="rect">
            <a:avLst/>
          </a:prstGeom>
          <a:ln w="12700">
            <a:miter lim="400000"/>
          </a:ln>
        </p:spPr>
      </p:pic>
      <p:pic>
        <p:nvPicPr>
          <p:cNvPr id="596" name="Picture 4" descr="Picture 4"/>
          <p:cNvPicPr>
            <a:picLocks noChangeAspect="1"/>
          </p:cNvPicPr>
          <p:nvPr/>
        </p:nvPicPr>
        <p:blipFill>
          <a:blip r:embed="rId3"/>
          <a:stretch>
            <a:fillRect/>
          </a:stretch>
        </p:blipFill>
        <p:spPr>
          <a:xfrm>
            <a:off x="3312864" y="3409736"/>
            <a:ext cx="5419726" cy="2686052"/>
          </a:xfrm>
          <a:prstGeom prst="rect">
            <a:avLst/>
          </a:prstGeom>
          <a:ln w="12700">
            <a:miter lim="400000"/>
          </a:ln>
        </p:spPr>
      </p:pic>
      <p:grpSp>
        <p:nvGrpSpPr>
          <p:cNvPr id="599" name="직사각형 6"/>
          <p:cNvGrpSpPr/>
          <p:nvPr/>
        </p:nvGrpSpPr>
        <p:grpSpPr>
          <a:xfrm>
            <a:off x="3462954" y="3409734"/>
            <a:ext cx="1800201" cy="288033"/>
            <a:chOff x="0" y="0"/>
            <a:chExt cx="1800200" cy="288032"/>
          </a:xfrm>
        </p:grpSpPr>
        <p:sp>
          <p:nvSpPr>
            <p:cNvPr id="597" name="Rectangle"/>
            <p:cNvSpPr/>
            <p:nvPr/>
          </p:nvSpPr>
          <p:spPr>
            <a:xfrm>
              <a:off x="-1" y="-1"/>
              <a:ext cx="1800202" cy="288034"/>
            </a:xfrm>
            <a:prstGeom prst="rect">
              <a:avLst/>
            </a:prstGeom>
            <a:solidFill>
              <a:srgbClr val="9C1F00"/>
            </a:solidFill>
            <a:ln w="12700" cap="flat">
              <a:noFill/>
              <a:miter lim="400000"/>
            </a:ln>
            <a:effectLst/>
          </p:spPr>
          <p:txBody>
            <a:bodyPr wrap="square" lIns="45719" tIns="45719" rIns="45719" bIns="45719" numCol="1" anchor="ctr">
              <a:noAutofit/>
            </a:bodyPr>
            <a:lstStyle/>
            <a:p>
              <a:pPr algn="ctr">
                <a:defRPr sz="1400">
                  <a:solidFill>
                    <a:srgbClr val="FFFFFF"/>
                  </a:solidFill>
                </a:defRPr>
              </a:pPr>
              <a:endParaRPr/>
            </a:p>
          </p:txBody>
        </p:sp>
        <p:sp>
          <p:nvSpPr>
            <p:cNvPr id="598" name="Weight &amp; SMM"/>
            <p:cNvSpPr txBox="1"/>
            <p:nvPr/>
          </p:nvSpPr>
          <p:spPr>
            <a:xfrm>
              <a:off x="45719" y="3616"/>
              <a:ext cx="1708762" cy="280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400">
                  <a:solidFill>
                    <a:srgbClr val="FFFFFF"/>
                  </a:solidFill>
                </a:defRPr>
              </a:lvl1pPr>
            </a:lstStyle>
            <a:p>
              <a:r>
                <a:t>Weight &amp; SMM</a:t>
              </a:r>
            </a:p>
          </p:txBody>
        </p:sp>
      </p:grpSp>
      <p:sp>
        <p:nvSpPr>
          <p:cNvPr id="600" name="직사각형 7"/>
          <p:cNvSpPr txBox="1"/>
          <p:nvPr/>
        </p:nvSpPr>
        <p:spPr>
          <a:xfrm>
            <a:off x="7177084" y="2953193"/>
            <a:ext cx="1708761" cy="280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400" b="1">
                <a:solidFill>
                  <a:srgbClr val="44546A"/>
                </a:solidFill>
              </a:defRPr>
            </a:lvl1pPr>
          </a:lstStyle>
          <a:p>
            <a:r>
              <a:t>Weight</a:t>
            </a:r>
          </a:p>
        </p:txBody>
      </p:sp>
      <p:sp>
        <p:nvSpPr>
          <p:cNvPr id="601" name="직사각형 8"/>
          <p:cNvSpPr txBox="1"/>
          <p:nvPr/>
        </p:nvSpPr>
        <p:spPr>
          <a:xfrm>
            <a:off x="7177084" y="3217799"/>
            <a:ext cx="1708761" cy="280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400" b="1">
                <a:solidFill>
                  <a:schemeClr val="accent3"/>
                </a:solidFill>
              </a:defRPr>
            </a:lvl1pPr>
          </a:lstStyle>
          <a:p>
            <a:r>
              <a:t>Percent Body Fat</a:t>
            </a:r>
          </a:p>
        </p:txBody>
      </p:sp>
      <p:grpSp>
        <p:nvGrpSpPr>
          <p:cNvPr id="604" name="직사각형 9"/>
          <p:cNvGrpSpPr/>
          <p:nvPr/>
        </p:nvGrpSpPr>
        <p:grpSpPr>
          <a:xfrm>
            <a:off x="7131366" y="3502214"/>
            <a:ext cx="1601224" cy="288033"/>
            <a:chOff x="0" y="0"/>
            <a:chExt cx="1601222" cy="288032"/>
          </a:xfrm>
        </p:grpSpPr>
        <p:sp>
          <p:nvSpPr>
            <p:cNvPr id="602" name="Rectangle"/>
            <p:cNvSpPr/>
            <p:nvPr/>
          </p:nvSpPr>
          <p:spPr>
            <a:xfrm>
              <a:off x="0" y="-1"/>
              <a:ext cx="1601223" cy="288034"/>
            </a:xfrm>
            <a:prstGeom prst="rect">
              <a:avLst/>
            </a:prstGeom>
            <a:solidFill>
              <a:srgbClr val="FFFFFF"/>
            </a:solidFill>
            <a:ln w="12700" cap="flat">
              <a:noFill/>
              <a:miter lim="400000"/>
            </a:ln>
            <a:effectLst/>
          </p:spPr>
          <p:txBody>
            <a:bodyPr wrap="square" lIns="45719" tIns="45719" rIns="45719" bIns="45719" numCol="1" anchor="ctr">
              <a:noAutofit/>
            </a:bodyPr>
            <a:lstStyle/>
            <a:p>
              <a:pPr>
                <a:defRPr sz="1400" b="1">
                  <a:solidFill>
                    <a:srgbClr val="C00000"/>
                  </a:solidFill>
                </a:defRPr>
              </a:pPr>
              <a:endParaRPr/>
            </a:p>
          </p:txBody>
        </p:sp>
        <p:sp>
          <p:nvSpPr>
            <p:cNvPr id="603" name="Skeletal Muscle"/>
            <p:cNvSpPr txBox="1"/>
            <p:nvPr/>
          </p:nvSpPr>
          <p:spPr>
            <a:xfrm>
              <a:off x="45719" y="3616"/>
              <a:ext cx="1509785" cy="280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defRPr sz="1400" b="1">
                  <a:solidFill>
                    <a:srgbClr val="C00000"/>
                  </a:solidFill>
                </a:defRPr>
              </a:lvl1pPr>
            </a:lstStyle>
            <a:p>
              <a:r>
                <a:t>Skeletal Muscle</a:t>
              </a:r>
            </a:p>
          </p:txBody>
        </p:sp>
      </p:grpSp>
      <p:sp>
        <p:nvSpPr>
          <p:cNvPr id="605" name="TextBox 10"/>
          <p:cNvSpPr txBox="1"/>
          <p:nvPr/>
        </p:nvSpPr>
        <p:spPr>
          <a:xfrm>
            <a:off x="1780484" y="4777887"/>
            <a:ext cx="1973981" cy="73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b="1"/>
            </a:pPr>
            <a:r>
              <a:t>Weight: 100.4 kg</a:t>
            </a:r>
          </a:p>
          <a:p>
            <a:pPr>
              <a:defRPr sz="1400" b="1"/>
            </a:pPr>
            <a:r>
              <a:t>%BF:     </a:t>
            </a:r>
            <a:r>
              <a:rPr>
                <a:solidFill>
                  <a:srgbClr val="C00000"/>
                </a:solidFill>
              </a:rPr>
              <a:t>42.3 %</a:t>
            </a:r>
          </a:p>
          <a:p>
            <a:pPr>
              <a:defRPr sz="1400" b="1"/>
            </a:pPr>
            <a:r>
              <a:t>SMM:    32.6 kg</a:t>
            </a:r>
          </a:p>
        </p:txBody>
      </p:sp>
      <p:sp>
        <p:nvSpPr>
          <p:cNvPr id="606" name="TextBox 11"/>
          <p:cNvSpPr txBox="1"/>
          <p:nvPr/>
        </p:nvSpPr>
        <p:spPr>
          <a:xfrm>
            <a:off x="8778424" y="4777890"/>
            <a:ext cx="1973980" cy="1423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b="1"/>
            </a:pPr>
            <a:r>
              <a:t>Weight: 84.5 kg</a:t>
            </a:r>
          </a:p>
          <a:p>
            <a:pPr>
              <a:defRPr sz="1400" b="1"/>
            </a:pPr>
            <a:r>
              <a:t>%BF:     </a:t>
            </a:r>
            <a:r>
              <a:rPr>
                <a:solidFill>
                  <a:srgbClr val="44546A"/>
                </a:solidFill>
              </a:rPr>
              <a:t>30.8 %</a:t>
            </a:r>
          </a:p>
          <a:p>
            <a:pPr>
              <a:defRPr sz="1400" b="1"/>
            </a:pPr>
            <a:r>
              <a:t>SMM:    30.1 kg</a:t>
            </a:r>
          </a:p>
          <a:p>
            <a:pPr>
              <a:defRPr sz="1400" b="1"/>
            </a:pPr>
            <a:endParaRPr/>
          </a:p>
          <a:p>
            <a:pPr>
              <a:defRPr sz="1400" b="1"/>
            </a:pPr>
            <a:endParaRPr/>
          </a:p>
          <a:p>
            <a:pPr>
              <a:defRPr sz="1400" b="1"/>
            </a:pPr>
            <a:r>
              <a:t>(After 4 months)</a:t>
            </a:r>
          </a:p>
        </p:txBody>
      </p:sp>
      <p:sp>
        <p:nvSpPr>
          <p:cNvPr id="607" name="TextBox 12"/>
          <p:cNvSpPr txBox="1"/>
          <p:nvPr/>
        </p:nvSpPr>
        <p:spPr>
          <a:xfrm>
            <a:off x="2813192" y="261585"/>
            <a:ext cx="6906502" cy="8765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800" b="1"/>
            </a:lvl1pPr>
          </a:lstStyle>
          <a:p>
            <a:r>
              <a:t>Laparoscopic adjustable gastric banding (LAGB)</a:t>
            </a:r>
          </a:p>
        </p:txBody>
      </p:sp>
      <p:sp>
        <p:nvSpPr>
          <p:cNvPr id="608" name="직사각형 13"/>
          <p:cNvSpPr/>
          <p:nvPr/>
        </p:nvSpPr>
        <p:spPr>
          <a:xfrm>
            <a:off x="2238818" y="1949912"/>
            <a:ext cx="603165" cy="235690"/>
          </a:xfrm>
          <a:prstGeom prst="rect">
            <a:avLst/>
          </a:prstGeom>
          <a:solidFill>
            <a:srgbClr val="D9D9D9"/>
          </a:solidFill>
          <a:ln w="12700">
            <a:miter lim="400000"/>
          </a:ln>
        </p:spPr>
        <p:txBody>
          <a:bodyPr lIns="45719" rIns="45719" anchor="ctr"/>
          <a:lstStyle/>
          <a:p>
            <a:pPr algn="ctr">
              <a:defRPr>
                <a:solidFill>
                  <a:srgbClr val="FFFFFF"/>
                </a:solidFill>
              </a:defRPr>
            </a:pPr>
            <a:endParaRPr/>
          </a:p>
        </p:txBody>
      </p:sp>
      <p:sp>
        <p:nvSpPr>
          <p:cNvPr id="609" name="직사각형 14"/>
          <p:cNvSpPr/>
          <p:nvPr/>
        </p:nvSpPr>
        <p:spPr>
          <a:xfrm>
            <a:off x="9187832" y="1787712"/>
            <a:ext cx="603165" cy="235690"/>
          </a:xfrm>
          <a:prstGeom prst="rect">
            <a:avLst/>
          </a:prstGeom>
          <a:solidFill>
            <a:srgbClr val="D9D9D9"/>
          </a:solidFill>
          <a:ln w="12700">
            <a:miter lim="400000"/>
          </a:ln>
        </p:spPr>
        <p:txBody>
          <a:bodyPr lIns="45719" rIns="45719" anchor="ctr"/>
          <a:lstStyle/>
          <a:p>
            <a:pPr algn="ctr">
              <a:defRPr>
                <a:solidFill>
                  <a:srgbClr val="FFFFFF"/>
                </a:solidFill>
              </a:defRPr>
            </a:pPr>
            <a:endParaRPr/>
          </a:p>
        </p:txBody>
      </p:sp>
      <p:sp>
        <p:nvSpPr>
          <p:cNvPr id="610" name="TextBox 15"/>
          <p:cNvSpPr txBox="1"/>
          <p:nvPr/>
        </p:nvSpPr>
        <p:spPr>
          <a:xfrm>
            <a:off x="2027604" y="1284879"/>
            <a:ext cx="1904664" cy="3182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latin typeface="Graphik"/>
                <a:ea typeface="Graphik"/>
                <a:cs typeface="Graphik"/>
                <a:sym typeface="Graphik"/>
              </a:defRPr>
            </a:lvl1pPr>
          </a:lstStyle>
          <a:p>
            <a:r>
              <a:t>Case Study 1</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 name="Group"/>
          <p:cNvGrpSpPr/>
          <p:nvPr/>
        </p:nvGrpSpPr>
        <p:grpSpPr>
          <a:xfrm>
            <a:off x="1284438" y="605494"/>
            <a:ext cx="4122758" cy="5807081"/>
            <a:chOff x="0" y="0"/>
            <a:chExt cx="4122757" cy="5807079"/>
          </a:xfrm>
        </p:grpSpPr>
        <p:pic>
          <p:nvPicPr>
            <p:cNvPr id="612" name="Picture 2" descr="Picture 2"/>
            <p:cNvPicPr>
              <a:picLocks noChangeAspect="1"/>
            </p:cNvPicPr>
            <p:nvPr/>
          </p:nvPicPr>
          <p:blipFill>
            <a:blip r:embed="rId2"/>
            <a:stretch>
              <a:fillRect/>
            </a:stretch>
          </p:blipFill>
          <p:spPr>
            <a:xfrm>
              <a:off x="0" y="0"/>
              <a:ext cx="4122758" cy="5807080"/>
            </a:xfrm>
            <a:prstGeom prst="rect">
              <a:avLst/>
            </a:prstGeom>
            <a:ln w="12700" cap="flat">
              <a:noFill/>
              <a:miter lim="400000"/>
            </a:ln>
            <a:effectLst/>
          </p:spPr>
        </p:pic>
        <p:sp>
          <p:nvSpPr>
            <p:cNvPr id="613" name="Rectangle 2"/>
            <p:cNvSpPr/>
            <p:nvPr/>
          </p:nvSpPr>
          <p:spPr>
            <a:xfrm>
              <a:off x="141539" y="508593"/>
              <a:ext cx="538959" cy="159411"/>
            </a:xfrm>
            <a:prstGeom prst="rect">
              <a:avLst/>
            </a:prstGeom>
            <a:solidFill>
              <a:srgbClr val="FFFFFF"/>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615" name="TextBox 3"/>
          <p:cNvSpPr txBox="1"/>
          <p:nvPr/>
        </p:nvSpPr>
        <p:spPr>
          <a:xfrm>
            <a:off x="6048972" y="1940267"/>
            <a:ext cx="5370797" cy="31375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500">
                <a:latin typeface="Graphik"/>
                <a:ea typeface="Graphik"/>
                <a:cs typeface="Graphik"/>
                <a:sym typeface="Graphik"/>
              </a:defRPr>
            </a:pPr>
            <a:r>
              <a:t>Case Study 2 : (Over weight individual)</a:t>
            </a:r>
            <a:br/>
            <a:br/>
            <a:r>
              <a:t>45 Year old Female Bariatric patient weight 97.1 kg , Body Fat Mass (Kg) is 50Kg. </a:t>
            </a:r>
          </a:p>
          <a:p>
            <a:pPr>
              <a:defRPr sz="1500">
                <a:latin typeface="Graphik"/>
                <a:ea typeface="Graphik"/>
                <a:cs typeface="Graphik"/>
                <a:sym typeface="Graphik"/>
              </a:defRPr>
            </a:pPr>
            <a:endParaRPr/>
          </a:p>
          <a:p>
            <a:pPr>
              <a:defRPr sz="1500">
                <a:latin typeface="Graphik"/>
                <a:ea typeface="Graphik"/>
                <a:cs typeface="Graphik"/>
                <a:sym typeface="Graphik"/>
              </a:defRPr>
            </a:pPr>
            <a:r>
              <a:t>Her PBF is 51.4 % .</a:t>
            </a:r>
            <a:br/>
            <a:endParaRPr/>
          </a:p>
          <a:p>
            <a:pPr>
              <a:defRPr sz="1500">
                <a:latin typeface="Graphik"/>
                <a:ea typeface="Graphik"/>
                <a:cs typeface="Graphik"/>
                <a:sym typeface="Graphik"/>
              </a:defRPr>
            </a:pPr>
            <a:r>
              <a:t>There is presence of lower body edema as the ECW Ratio is higher in trunk and legs.</a:t>
            </a:r>
            <a:br/>
            <a:br/>
            <a:r>
              <a:t>The phase angle 4.1 suggests the patient can undergo a bariatric surgery</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7" name="Google Shape;236;p39" descr="Google Shape;236;p39"/>
          <p:cNvPicPr>
            <a:picLocks noChangeAspect="1"/>
          </p:cNvPicPr>
          <p:nvPr/>
        </p:nvPicPr>
        <p:blipFill>
          <a:blip r:embed="rId2"/>
          <a:stretch>
            <a:fillRect/>
          </a:stretch>
        </p:blipFill>
        <p:spPr>
          <a:xfrm>
            <a:off x="2299842" y="1671853"/>
            <a:ext cx="7731001" cy="4364997"/>
          </a:xfrm>
          <a:prstGeom prst="rect">
            <a:avLst/>
          </a:prstGeom>
          <a:ln w="12700">
            <a:miter lim="400000"/>
          </a:ln>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Thank You"/>
          <p:cNvSpPr txBox="1"/>
          <p:nvPr/>
        </p:nvSpPr>
        <p:spPr>
          <a:xfrm>
            <a:off x="3251423" y="2280128"/>
            <a:ext cx="5689154" cy="15081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2438337">
              <a:lnSpc>
                <a:spcPct val="90000"/>
              </a:lnSpc>
              <a:spcBef>
                <a:spcPts val="2400"/>
              </a:spcBef>
              <a:defRPr sz="10000">
                <a:latin typeface="Times New Roman"/>
                <a:ea typeface="Times New Roman"/>
                <a:cs typeface="Times New Roman"/>
                <a:sym typeface="Times New Roman"/>
              </a:defRPr>
            </a:lvl1pPr>
          </a:lstStyle>
          <a:p>
            <a:r>
              <a:t>Thank You</a:t>
            </a:r>
          </a:p>
        </p:txBody>
      </p:sp>
      <p:sp>
        <p:nvSpPr>
          <p:cNvPr id="620" name="www.inbody.in"/>
          <p:cNvSpPr txBox="1"/>
          <p:nvPr/>
        </p:nvSpPr>
        <p:spPr>
          <a:xfrm>
            <a:off x="5546293" y="4622630"/>
            <a:ext cx="109941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2438337">
              <a:lnSpc>
                <a:spcPct val="90000"/>
              </a:lnSpc>
              <a:spcBef>
                <a:spcPts val="2400"/>
              </a:spcBef>
              <a:defRPr sz="1200" u="sng">
                <a:solidFill>
                  <a:srgbClr val="0000FF"/>
                </a:solidFill>
                <a:uFill>
                  <a:solidFill>
                    <a:srgbClr val="0000FF"/>
                  </a:solidFill>
                </a:uFill>
                <a:latin typeface="Avenir Book"/>
                <a:ea typeface="Avenir Book"/>
                <a:cs typeface="Avenir Book"/>
                <a:sym typeface="Avenir Book"/>
                <a:hlinkClick r:id="rId2"/>
              </a:defRPr>
            </a:lvl1pPr>
          </a:lstStyle>
          <a:p>
            <a:pPr>
              <a:defRPr u="none">
                <a:solidFill>
                  <a:srgbClr val="000000"/>
                </a:solidFill>
                <a:uFillTx/>
              </a:defRPr>
            </a:pPr>
            <a:r>
              <a:rPr u="sng">
                <a:solidFill>
                  <a:srgbClr val="0000FF"/>
                </a:solidFill>
                <a:uFill>
                  <a:solidFill>
                    <a:srgbClr val="0000FF"/>
                  </a:solidFill>
                </a:uFill>
                <a:hlinkClick r:id="rId2"/>
              </a:rPr>
              <a:t>www.inbody.in</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221</TotalTime>
  <Words>1954</Words>
  <Application>Microsoft Office PowerPoint</Application>
  <PresentationFormat>Widescreen</PresentationFormat>
  <Paragraphs>282</Paragraphs>
  <Slides>40</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40</vt:i4>
      </vt:variant>
    </vt:vector>
  </HeadingPairs>
  <TitlesOfParts>
    <vt:vector size="57" baseType="lpstr">
      <vt:lpstr>Malgun Gothic</vt:lpstr>
      <vt:lpstr>Malgun Gothic</vt:lpstr>
      <vt:lpstr>メイリオ</vt:lpstr>
      <vt:lpstr>Argentum Sans Bold</vt:lpstr>
      <vt:lpstr>Arial</vt:lpstr>
      <vt:lpstr>Avenir Book</vt:lpstr>
      <vt:lpstr>Calibri</vt:lpstr>
      <vt:lpstr>Calibri Light</vt:lpstr>
      <vt:lpstr>Canela Bold</vt:lpstr>
      <vt:lpstr>Graphik</vt:lpstr>
      <vt:lpstr>Graphik Light</vt:lpstr>
      <vt:lpstr>Times New Roman</vt:lpstr>
      <vt:lpstr>Wingdings</vt:lpstr>
      <vt:lpstr>YDIYGo540</vt:lpstr>
      <vt:lpstr>나눔바른고딕</vt:lpstr>
      <vt:lpstr>조선일보명조</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&amp; Bariatric Surgery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Shrutika Khedekar</cp:lastModifiedBy>
  <cp:revision>6</cp:revision>
  <dcterms:modified xsi:type="dcterms:W3CDTF">2025-12-10T03:41:57Z</dcterms:modified>
</cp:coreProperties>
</file>