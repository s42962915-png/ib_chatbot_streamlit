
<file path=[Content_Types].xml><?xml version="1.0" encoding="utf-8"?>
<Types xmlns="http://schemas.openxmlformats.org/package/2006/content-types">
  <Default Extension="png" ContentType="image/png"/>
  <Default Extension="tmp"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446" r:id="rId2"/>
    <p:sldId id="445" r:id="rId3"/>
    <p:sldId id="437" r:id="rId4"/>
    <p:sldId id="438" r:id="rId5"/>
    <p:sldId id="440" r:id="rId6"/>
    <p:sldId id="257" r:id="rId7"/>
    <p:sldId id="259" r:id="rId8"/>
    <p:sldId id="260" r:id="rId9"/>
    <p:sldId id="273" r:id="rId10"/>
    <p:sldId id="274" r:id="rId11"/>
    <p:sldId id="283" r:id="rId12"/>
    <p:sldId id="275" r:id="rId13"/>
    <p:sldId id="276" r:id="rId14"/>
    <p:sldId id="277" r:id="rId15"/>
    <p:sldId id="278" r:id="rId16"/>
    <p:sldId id="279" r:id="rId17"/>
    <p:sldId id="281" r:id="rId18"/>
    <p:sldId id="282" r:id="rId19"/>
    <p:sldId id="284" r:id="rId20"/>
    <p:sldId id="286" r:id="rId21"/>
    <p:sldId id="285" r:id="rId22"/>
    <p:sldId id="451" r:id="rId23"/>
    <p:sldId id="288" r:id="rId24"/>
    <p:sldId id="289" r:id="rId25"/>
    <p:sldId id="290" r:id="rId26"/>
    <p:sldId id="291" r:id="rId27"/>
    <p:sldId id="292" r:id="rId28"/>
    <p:sldId id="287" r:id="rId29"/>
    <p:sldId id="441" r:id="rId30"/>
    <p:sldId id="442" r:id="rId31"/>
    <p:sldId id="453" r:id="rId32"/>
    <p:sldId id="454" r:id="rId33"/>
    <p:sldId id="443" r:id="rId34"/>
    <p:sldId id="444" r:id="rId35"/>
    <p:sldId id="448" r:id="rId36"/>
    <p:sldId id="449" r:id="rId37"/>
    <p:sldId id="295" r:id="rId38"/>
    <p:sldId id="294" r:id="rId39"/>
    <p:sldId id="296" r:id="rId40"/>
    <p:sldId id="297" r:id="rId41"/>
    <p:sldId id="293" r:id="rId42"/>
    <p:sldId id="455" r:id="rId43"/>
    <p:sldId id="379" r:id="rId44"/>
    <p:sldId id="299" r:id="rId45"/>
    <p:sldId id="309" r:id="rId46"/>
    <p:sldId id="311" r:id="rId47"/>
    <p:sldId id="307" r:id="rId48"/>
    <p:sldId id="376" r:id="rId49"/>
    <p:sldId id="298" r:id="rId50"/>
    <p:sldId id="381" r:id="rId51"/>
    <p:sldId id="384" r:id="rId52"/>
    <p:sldId id="366" r:id="rId53"/>
    <p:sldId id="382" r:id="rId54"/>
    <p:sldId id="383" r:id="rId55"/>
    <p:sldId id="385" r:id="rId56"/>
    <p:sldId id="386" r:id="rId57"/>
    <p:sldId id="387" r:id="rId58"/>
    <p:sldId id="388" r:id="rId59"/>
    <p:sldId id="300" r:id="rId60"/>
    <p:sldId id="301" r:id="rId61"/>
    <p:sldId id="269" r:id="rId62"/>
    <p:sldId id="263" r:id="rId63"/>
    <p:sldId id="262" r:id="rId64"/>
    <p:sldId id="264" r:id="rId65"/>
    <p:sldId id="265" r:id="rId66"/>
    <p:sldId id="391" r:id="rId67"/>
    <p:sldId id="390" r:id="rId68"/>
    <p:sldId id="270" r:id="rId69"/>
    <p:sldId id="271" r:id="rId70"/>
    <p:sldId id="303" r:id="rId71"/>
    <p:sldId id="302" r:id="rId72"/>
    <p:sldId id="272" r:id="rId73"/>
    <p:sldId id="268" r:id="rId74"/>
    <p:sldId id="267" r:id="rId75"/>
    <p:sldId id="266" r:id="rId76"/>
    <p:sldId id="304" r:id="rId77"/>
    <p:sldId id="392" r:id="rId78"/>
    <p:sldId id="393" r:id="rId79"/>
    <p:sldId id="394" r:id="rId80"/>
    <p:sldId id="395" r:id="rId81"/>
    <p:sldId id="396" r:id="rId82"/>
    <p:sldId id="319" r:id="rId83"/>
    <p:sldId id="320" r:id="rId84"/>
    <p:sldId id="321" r:id="rId85"/>
    <p:sldId id="322" r:id="rId86"/>
    <p:sldId id="305" r:id="rId87"/>
    <p:sldId id="397" r:id="rId88"/>
    <p:sldId id="398" r:id="rId89"/>
    <p:sldId id="399" r:id="rId90"/>
    <p:sldId id="401" r:id="rId91"/>
    <p:sldId id="400" r:id="rId92"/>
    <p:sldId id="402" r:id="rId93"/>
    <p:sldId id="403" r:id="rId94"/>
    <p:sldId id="404" r:id="rId95"/>
    <p:sldId id="406" r:id="rId96"/>
    <p:sldId id="411" r:id="rId97"/>
    <p:sldId id="412" r:id="rId98"/>
    <p:sldId id="405" r:id="rId99"/>
    <p:sldId id="407" r:id="rId100"/>
    <p:sldId id="408" r:id="rId101"/>
    <p:sldId id="409" r:id="rId102"/>
    <p:sldId id="410" r:id="rId103"/>
    <p:sldId id="427" r:id="rId104"/>
    <p:sldId id="428" r:id="rId105"/>
    <p:sldId id="429" r:id="rId106"/>
    <p:sldId id="430" r:id="rId107"/>
    <p:sldId id="431" r:id="rId108"/>
    <p:sldId id="432" r:id="rId109"/>
    <p:sldId id="433" r:id="rId110"/>
    <p:sldId id="434" r:id="rId111"/>
    <p:sldId id="435" r:id="rId112"/>
    <p:sldId id="436" r:id="rId113"/>
    <p:sldId id="447" r:id="rId114"/>
    <p:sldId id="452" r:id="rId115"/>
    <p:sldId id="423" r:id="rId11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12D"/>
    <a:srgbClr val="4B4F5A"/>
    <a:srgbClr val="67767F"/>
    <a:srgbClr val="F4F4F6"/>
    <a:srgbClr val="B9BFC5"/>
    <a:srgbClr val="BDD7EE"/>
    <a:srgbClr val="B8B8B6"/>
    <a:srgbClr val="C6CA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17" autoAdjust="0"/>
    <p:restoredTop sz="89926" autoAdjust="0"/>
  </p:normalViewPr>
  <p:slideViewPr>
    <p:cSldViewPr snapToGrid="0">
      <p:cViewPr varScale="1">
        <p:scale>
          <a:sx n="77" d="100"/>
          <a:sy n="77" d="100"/>
        </p:scale>
        <p:origin x="1310" y="58"/>
      </p:cViewPr>
      <p:guideLst/>
    </p:cSldViewPr>
  </p:slideViewPr>
  <p:notesTextViewPr>
    <p:cViewPr>
      <p:scale>
        <a:sx n="125" d="100"/>
        <a:sy n="125" d="100"/>
      </p:scale>
      <p:origin x="0" y="0"/>
    </p:cViewPr>
  </p:notesTextViewPr>
  <p:notesViewPr>
    <p:cSldViewPr snapToGrid="0">
      <p:cViewPr varScale="1">
        <p:scale>
          <a:sx n="89" d="100"/>
          <a:sy n="89" d="100"/>
        </p:scale>
        <p:origin x="3802"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c:v>
                </c:pt>
              </c:strCache>
            </c:strRef>
          </c:tx>
          <c:spPr>
            <a:solidFill>
              <a:srgbClr val="950B29"/>
            </a:solidFill>
            <a:ln>
              <a:noFill/>
            </a:ln>
            <a:effectLst/>
          </c:spPr>
          <c:invertIfNegative val="0"/>
          <c:cat>
            <c:strRef>
              <c:f>Sheet1!$A$2:$A$3</c:f>
              <c:strCache>
                <c:ptCount val="2"/>
                <c:pt idx="0">
                  <c:v>BWA2.0</c:v>
                </c:pt>
                <c:pt idx="1">
                  <c:v>InBody S10</c:v>
                </c:pt>
              </c:strCache>
            </c:strRef>
          </c:cat>
          <c:val>
            <c:numRef>
              <c:f>Sheet1!$B$2:$B$3</c:f>
              <c:numCache>
                <c:formatCode>General</c:formatCode>
                <c:ptCount val="2"/>
                <c:pt idx="0">
                  <c:v>88</c:v>
                </c:pt>
                <c:pt idx="1">
                  <c:v>55</c:v>
                </c:pt>
              </c:numCache>
            </c:numRef>
          </c:val>
          <c:extLst>
            <c:ext xmlns:c16="http://schemas.microsoft.com/office/drawing/2014/chart" uri="{C3380CC4-5D6E-409C-BE32-E72D297353CC}">
              <c16:uniqueId val="{00000000-1BDE-451F-B4AD-3F6615B02756}"/>
            </c:ext>
          </c:extLst>
        </c:ser>
        <c:ser>
          <c:idx val="1"/>
          <c:order val="1"/>
          <c:tx>
            <c:strRef>
              <c:f>Sheet1!$C$1</c:f>
              <c:strCache>
                <c:ptCount val="1"/>
                <c:pt idx="0">
                  <c:v>2023</c:v>
                </c:pt>
              </c:strCache>
            </c:strRef>
          </c:tx>
          <c:spPr>
            <a:solidFill>
              <a:srgbClr val="BDD7EE"/>
            </a:solidFill>
            <a:ln>
              <a:noFill/>
            </a:ln>
            <a:effectLst/>
          </c:spPr>
          <c:invertIfNegative val="0"/>
          <c:cat>
            <c:strRef>
              <c:f>Sheet1!$A$2:$A$3</c:f>
              <c:strCache>
                <c:ptCount val="2"/>
                <c:pt idx="0">
                  <c:v>BWA2.0</c:v>
                </c:pt>
                <c:pt idx="1">
                  <c:v>InBody S10</c:v>
                </c:pt>
              </c:strCache>
            </c:strRef>
          </c:cat>
          <c:val>
            <c:numRef>
              <c:f>Sheet1!$C$2:$C$3</c:f>
              <c:numCache>
                <c:formatCode>General</c:formatCode>
                <c:ptCount val="2"/>
                <c:pt idx="0">
                  <c:v>98</c:v>
                </c:pt>
                <c:pt idx="1">
                  <c:v>32</c:v>
                </c:pt>
              </c:numCache>
            </c:numRef>
          </c:val>
          <c:extLst>
            <c:ext xmlns:c16="http://schemas.microsoft.com/office/drawing/2014/chart" uri="{C3380CC4-5D6E-409C-BE32-E72D297353CC}">
              <c16:uniqueId val="{00000001-1BDE-451F-B4AD-3F6615B02756}"/>
            </c:ext>
          </c:extLst>
        </c:ser>
        <c:ser>
          <c:idx val="2"/>
          <c:order val="2"/>
          <c:tx>
            <c:strRef>
              <c:f>Sheet1!$D$1</c:f>
              <c:strCache>
                <c:ptCount val="1"/>
                <c:pt idx="0">
                  <c:v>2022</c:v>
                </c:pt>
              </c:strCache>
            </c:strRef>
          </c:tx>
          <c:spPr>
            <a:solidFill>
              <a:srgbClr val="C6CACE"/>
            </a:solidFill>
            <a:ln>
              <a:noFill/>
            </a:ln>
            <a:effectLst/>
          </c:spPr>
          <c:invertIfNegative val="0"/>
          <c:cat>
            <c:strRef>
              <c:f>Sheet1!$A$2:$A$3</c:f>
              <c:strCache>
                <c:ptCount val="2"/>
                <c:pt idx="0">
                  <c:v>BWA2.0</c:v>
                </c:pt>
                <c:pt idx="1">
                  <c:v>InBody S10</c:v>
                </c:pt>
              </c:strCache>
            </c:strRef>
          </c:cat>
          <c:val>
            <c:numRef>
              <c:f>Sheet1!$D$2:$D$3</c:f>
              <c:numCache>
                <c:formatCode>General</c:formatCode>
                <c:ptCount val="2"/>
                <c:pt idx="0">
                  <c:v>81</c:v>
                </c:pt>
                <c:pt idx="1">
                  <c:v>44</c:v>
                </c:pt>
              </c:numCache>
            </c:numRef>
          </c:val>
          <c:extLst>
            <c:ext xmlns:c16="http://schemas.microsoft.com/office/drawing/2014/chart" uri="{C3380CC4-5D6E-409C-BE32-E72D297353CC}">
              <c16:uniqueId val="{00000002-1BDE-451F-B4AD-3F6615B02756}"/>
            </c:ext>
          </c:extLst>
        </c:ser>
        <c:dLbls>
          <c:showLegendKey val="0"/>
          <c:showVal val="0"/>
          <c:showCatName val="0"/>
          <c:showSerName val="0"/>
          <c:showPercent val="0"/>
          <c:showBubbleSize val="0"/>
        </c:dLbls>
        <c:gapWidth val="219"/>
        <c:overlap val="-27"/>
        <c:axId val="-1985820960"/>
        <c:axId val="-1985820416"/>
      </c:barChart>
      <c:catAx>
        <c:axId val="-1985820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Lato Bold" panose="020F0802020204030203" pitchFamily="34" charset="0"/>
                <a:ea typeface="에스코어 드림 5 Medium" panose="020B0503030302020204" pitchFamily="34" charset="-127"/>
                <a:cs typeface="+mn-cs"/>
              </a:defRPr>
            </a:pPr>
            <a:endParaRPr lang="en-US"/>
          </a:p>
        </c:txPr>
        <c:crossAx val="-1985820416"/>
        <c:crosses val="autoZero"/>
        <c:auto val="1"/>
        <c:lblAlgn val="ctr"/>
        <c:lblOffset val="100"/>
        <c:noMultiLvlLbl val="0"/>
      </c:catAx>
      <c:valAx>
        <c:axId val="-1985820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5820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Lato" panose="020F0502020204030203" pitchFamily="34" charset="0"/>
              <a:ea typeface="에스코어 드림 5 Medium" panose="020B0503030302020204" pitchFamily="34" charset="-127"/>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729471837252256E-2"/>
          <c:y val="0"/>
          <c:w val="0.97325429859754176"/>
          <c:h val="0.66695606443923738"/>
        </c:manualLayout>
      </c:layout>
      <c:barChart>
        <c:barDir val="col"/>
        <c:grouping val="clustered"/>
        <c:varyColors val="0"/>
        <c:ser>
          <c:idx val="0"/>
          <c:order val="0"/>
          <c:tx>
            <c:strRef>
              <c:f>Sheet1!$B$1</c:f>
              <c:strCache>
                <c:ptCount val="1"/>
                <c:pt idx="0">
                  <c:v>2024</c:v>
                </c:pt>
              </c:strCache>
            </c:strRef>
          </c:tx>
          <c:spPr>
            <a:solidFill>
              <a:srgbClr val="950B29"/>
            </a:solidFill>
            <a:ln>
              <a:noFill/>
            </a:ln>
            <a:effectLst/>
          </c:spPr>
          <c:invertIfNegative val="0"/>
          <c:cat>
            <c:strRef>
              <c:f>Sheet1!$A$2:$A$20</c:f>
              <c:strCache>
                <c:ptCount val="19"/>
                <c:pt idx="0">
                  <c:v>Family Medicine</c:v>
                </c:pt>
                <c:pt idx="1">
                  <c:v>Screening Center</c:v>
                </c:pt>
                <c:pt idx="2">
                  <c:v>Internal Medicine</c:v>
                </c:pt>
                <c:pt idx="3">
                  <c:v>Endocrinology</c:v>
                </c:pt>
                <c:pt idx="4">
                  <c:v>Urology</c:v>
                </c:pt>
                <c:pt idx="5">
                  <c:v>Gynecology</c:v>
                </c:pt>
                <c:pt idx="6">
                  <c:v>Neurology</c:v>
                </c:pt>
                <c:pt idx="7">
                  <c:v>Nephrology</c:v>
                </c:pt>
                <c:pt idx="8">
                  <c:v>Oncology</c:v>
                </c:pt>
                <c:pt idx="9">
                  <c:v>Surgery (Critical Care)</c:v>
                </c:pt>
                <c:pt idx="10">
                  <c:v>Rehabilitation</c:v>
                </c:pt>
                <c:pt idx="11">
                  <c:v>Orthopedics</c:v>
                </c:pt>
                <c:pt idx="12">
                  <c:v>Aesthetic, Obesity, Plastic Surgery</c:v>
                </c:pt>
                <c:pt idx="13">
                  <c:v>Oriental Medicine</c:v>
                </c:pt>
                <c:pt idx="14">
                  <c:v>ETC.</c:v>
                </c:pt>
                <c:pt idx="15">
                  <c:v>University</c:v>
                </c:pt>
                <c:pt idx="16">
                  <c:v>Corporations, Public Offices, Others</c:v>
                </c:pt>
                <c:pt idx="17">
                  <c:v>Sports/Fitness</c:v>
                </c:pt>
                <c:pt idx="18">
                  <c:v>Disability Related</c:v>
                </c:pt>
              </c:strCache>
            </c:strRef>
          </c:cat>
          <c:val>
            <c:numRef>
              <c:f>Sheet1!$B$2:$B$20</c:f>
              <c:numCache>
                <c:formatCode>General</c:formatCode>
                <c:ptCount val="19"/>
                <c:pt idx="0">
                  <c:v>5</c:v>
                </c:pt>
                <c:pt idx="1">
                  <c:v>1</c:v>
                </c:pt>
                <c:pt idx="2">
                  <c:v>12</c:v>
                </c:pt>
                <c:pt idx="3">
                  <c:v>4</c:v>
                </c:pt>
                <c:pt idx="4">
                  <c:v>2</c:v>
                </c:pt>
                <c:pt idx="5">
                  <c:v>3</c:v>
                </c:pt>
                <c:pt idx="6">
                  <c:v>1</c:v>
                </c:pt>
                <c:pt idx="7">
                  <c:v>32</c:v>
                </c:pt>
                <c:pt idx="8">
                  <c:v>15</c:v>
                </c:pt>
                <c:pt idx="9">
                  <c:v>5</c:v>
                </c:pt>
                <c:pt idx="10">
                  <c:v>7</c:v>
                </c:pt>
                <c:pt idx="11">
                  <c:v>5</c:v>
                </c:pt>
                <c:pt idx="12">
                  <c:v>6</c:v>
                </c:pt>
                <c:pt idx="13">
                  <c:v>22</c:v>
                </c:pt>
                <c:pt idx="14">
                  <c:v>4</c:v>
                </c:pt>
                <c:pt idx="15">
                  <c:v>5</c:v>
                </c:pt>
                <c:pt idx="16">
                  <c:v>1</c:v>
                </c:pt>
                <c:pt idx="17">
                  <c:v>19</c:v>
                </c:pt>
                <c:pt idx="18">
                  <c:v>4</c:v>
                </c:pt>
              </c:numCache>
            </c:numRef>
          </c:val>
          <c:extLst>
            <c:ext xmlns:c16="http://schemas.microsoft.com/office/drawing/2014/chart" uri="{C3380CC4-5D6E-409C-BE32-E72D297353CC}">
              <c16:uniqueId val="{00000000-BD92-414C-B02A-49E841CA4998}"/>
            </c:ext>
          </c:extLst>
        </c:ser>
        <c:ser>
          <c:idx val="1"/>
          <c:order val="1"/>
          <c:tx>
            <c:strRef>
              <c:f>Sheet1!$C$1</c:f>
              <c:strCache>
                <c:ptCount val="1"/>
                <c:pt idx="0">
                  <c:v>2023</c:v>
                </c:pt>
              </c:strCache>
            </c:strRef>
          </c:tx>
          <c:spPr>
            <a:solidFill>
              <a:srgbClr val="BDD7EE"/>
            </a:solidFill>
            <a:ln>
              <a:noFill/>
            </a:ln>
            <a:effectLst/>
          </c:spPr>
          <c:invertIfNegative val="0"/>
          <c:cat>
            <c:strRef>
              <c:f>Sheet1!$A$2:$A$20</c:f>
              <c:strCache>
                <c:ptCount val="19"/>
                <c:pt idx="0">
                  <c:v>Family Medicine</c:v>
                </c:pt>
                <c:pt idx="1">
                  <c:v>Screening Center</c:v>
                </c:pt>
                <c:pt idx="2">
                  <c:v>Internal Medicine</c:v>
                </c:pt>
                <c:pt idx="3">
                  <c:v>Endocrinology</c:v>
                </c:pt>
                <c:pt idx="4">
                  <c:v>Urology</c:v>
                </c:pt>
                <c:pt idx="5">
                  <c:v>Gynecology</c:v>
                </c:pt>
                <c:pt idx="6">
                  <c:v>Neurology</c:v>
                </c:pt>
                <c:pt idx="7">
                  <c:v>Nephrology</c:v>
                </c:pt>
                <c:pt idx="8">
                  <c:v>Oncology</c:v>
                </c:pt>
                <c:pt idx="9">
                  <c:v>Surgery (Critical Care)</c:v>
                </c:pt>
                <c:pt idx="10">
                  <c:v>Rehabilitation</c:v>
                </c:pt>
                <c:pt idx="11">
                  <c:v>Orthopedics</c:v>
                </c:pt>
                <c:pt idx="12">
                  <c:v>Aesthetic, Obesity, Plastic Surgery</c:v>
                </c:pt>
                <c:pt idx="13">
                  <c:v>Oriental Medicine</c:v>
                </c:pt>
                <c:pt idx="14">
                  <c:v>ETC.</c:v>
                </c:pt>
                <c:pt idx="15">
                  <c:v>University</c:v>
                </c:pt>
                <c:pt idx="16">
                  <c:v>Corporations, Public Offices, Others</c:v>
                </c:pt>
                <c:pt idx="17">
                  <c:v>Sports/Fitness</c:v>
                </c:pt>
                <c:pt idx="18">
                  <c:v>Disability Related</c:v>
                </c:pt>
              </c:strCache>
            </c:strRef>
          </c:cat>
          <c:val>
            <c:numRef>
              <c:f>Sheet1!$C$2:$C$20</c:f>
              <c:numCache>
                <c:formatCode>General</c:formatCode>
                <c:ptCount val="19"/>
                <c:pt idx="0">
                  <c:v>12</c:v>
                </c:pt>
                <c:pt idx="1">
                  <c:v>1</c:v>
                </c:pt>
                <c:pt idx="2">
                  <c:v>12</c:v>
                </c:pt>
                <c:pt idx="3">
                  <c:v>4</c:v>
                </c:pt>
                <c:pt idx="4">
                  <c:v>5</c:v>
                </c:pt>
                <c:pt idx="5">
                  <c:v>2</c:v>
                </c:pt>
                <c:pt idx="6">
                  <c:v>3</c:v>
                </c:pt>
                <c:pt idx="7">
                  <c:v>15</c:v>
                </c:pt>
                <c:pt idx="8">
                  <c:v>3</c:v>
                </c:pt>
                <c:pt idx="9">
                  <c:v>2</c:v>
                </c:pt>
                <c:pt idx="10">
                  <c:v>11</c:v>
                </c:pt>
                <c:pt idx="11">
                  <c:v>10</c:v>
                </c:pt>
                <c:pt idx="12">
                  <c:v>3</c:v>
                </c:pt>
                <c:pt idx="13">
                  <c:v>23</c:v>
                </c:pt>
                <c:pt idx="14">
                  <c:v>5</c:v>
                </c:pt>
                <c:pt idx="15">
                  <c:v>10</c:v>
                </c:pt>
                <c:pt idx="16">
                  <c:v>7</c:v>
                </c:pt>
                <c:pt idx="17">
                  <c:v>4</c:v>
                </c:pt>
                <c:pt idx="18">
                  <c:v>12</c:v>
                </c:pt>
              </c:numCache>
            </c:numRef>
          </c:val>
          <c:extLst>
            <c:ext xmlns:c16="http://schemas.microsoft.com/office/drawing/2014/chart" uri="{C3380CC4-5D6E-409C-BE32-E72D297353CC}">
              <c16:uniqueId val="{00000001-BD92-414C-B02A-49E841CA4998}"/>
            </c:ext>
          </c:extLst>
        </c:ser>
        <c:ser>
          <c:idx val="2"/>
          <c:order val="2"/>
          <c:tx>
            <c:strRef>
              <c:f>Sheet1!$D$1</c:f>
              <c:strCache>
                <c:ptCount val="1"/>
                <c:pt idx="0">
                  <c:v>2022</c:v>
                </c:pt>
              </c:strCache>
            </c:strRef>
          </c:tx>
          <c:spPr>
            <a:solidFill>
              <a:srgbClr val="A2AAAD"/>
            </a:solidFill>
            <a:ln>
              <a:noFill/>
            </a:ln>
            <a:effectLst/>
          </c:spPr>
          <c:invertIfNegative val="0"/>
          <c:cat>
            <c:strRef>
              <c:f>Sheet1!$A$2:$A$20</c:f>
              <c:strCache>
                <c:ptCount val="19"/>
                <c:pt idx="0">
                  <c:v>Family Medicine</c:v>
                </c:pt>
                <c:pt idx="1">
                  <c:v>Screening Center</c:v>
                </c:pt>
                <c:pt idx="2">
                  <c:v>Internal Medicine</c:v>
                </c:pt>
                <c:pt idx="3">
                  <c:v>Endocrinology</c:v>
                </c:pt>
                <c:pt idx="4">
                  <c:v>Urology</c:v>
                </c:pt>
                <c:pt idx="5">
                  <c:v>Gynecology</c:v>
                </c:pt>
                <c:pt idx="6">
                  <c:v>Neurology</c:v>
                </c:pt>
                <c:pt idx="7">
                  <c:v>Nephrology</c:v>
                </c:pt>
                <c:pt idx="8">
                  <c:v>Oncology</c:v>
                </c:pt>
                <c:pt idx="9">
                  <c:v>Surgery (Critical Care)</c:v>
                </c:pt>
                <c:pt idx="10">
                  <c:v>Rehabilitation</c:v>
                </c:pt>
                <c:pt idx="11">
                  <c:v>Orthopedics</c:v>
                </c:pt>
                <c:pt idx="12">
                  <c:v>Aesthetic, Obesity, Plastic Surgery</c:v>
                </c:pt>
                <c:pt idx="13">
                  <c:v>Oriental Medicine</c:v>
                </c:pt>
                <c:pt idx="14">
                  <c:v>ETC.</c:v>
                </c:pt>
                <c:pt idx="15">
                  <c:v>University</c:v>
                </c:pt>
                <c:pt idx="16">
                  <c:v>Corporations, Public Offices, Others</c:v>
                </c:pt>
                <c:pt idx="17">
                  <c:v>Sports/Fitness</c:v>
                </c:pt>
                <c:pt idx="18">
                  <c:v>Disability Related</c:v>
                </c:pt>
              </c:strCache>
            </c:strRef>
          </c:cat>
          <c:val>
            <c:numRef>
              <c:f>Sheet1!$D$2:$D$20</c:f>
              <c:numCache>
                <c:formatCode>General</c:formatCode>
                <c:ptCount val="19"/>
                <c:pt idx="0">
                  <c:v>10</c:v>
                </c:pt>
                <c:pt idx="1">
                  <c:v>4</c:v>
                </c:pt>
                <c:pt idx="2">
                  <c:v>10</c:v>
                </c:pt>
                <c:pt idx="3">
                  <c:v>2</c:v>
                </c:pt>
                <c:pt idx="4">
                  <c:v>1</c:v>
                </c:pt>
                <c:pt idx="5">
                  <c:v>3</c:v>
                </c:pt>
                <c:pt idx="6">
                  <c:v>1</c:v>
                </c:pt>
                <c:pt idx="7">
                  <c:v>9</c:v>
                </c:pt>
                <c:pt idx="8">
                  <c:v>5</c:v>
                </c:pt>
                <c:pt idx="9">
                  <c:v>0</c:v>
                </c:pt>
                <c:pt idx="10">
                  <c:v>17</c:v>
                </c:pt>
                <c:pt idx="11">
                  <c:v>10</c:v>
                </c:pt>
                <c:pt idx="12">
                  <c:v>3</c:v>
                </c:pt>
                <c:pt idx="13">
                  <c:v>20</c:v>
                </c:pt>
                <c:pt idx="14">
                  <c:v>3</c:v>
                </c:pt>
                <c:pt idx="15">
                  <c:v>8</c:v>
                </c:pt>
                <c:pt idx="16">
                  <c:v>14</c:v>
                </c:pt>
                <c:pt idx="17">
                  <c:v>5</c:v>
                </c:pt>
                <c:pt idx="18">
                  <c:v>4</c:v>
                </c:pt>
              </c:numCache>
            </c:numRef>
          </c:val>
          <c:extLst>
            <c:ext xmlns:c16="http://schemas.microsoft.com/office/drawing/2014/chart" uri="{C3380CC4-5D6E-409C-BE32-E72D297353CC}">
              <c16:uniqueId val="{00000002-BD92-414C-B02A-49E841CA4998}"/>
            </c:ext>
          </c:extLst>
        </c:ser>
        <c:dLbls>
          <c:showLegendKey val="0"/>
          <c:showVal val="0"/>
          <c:showCatName val="0"/>
          <c:showSerName val="0"/>
          <c:showPercent val="0"/>
          <c:showBubbleSize val="0"/>
        </c:dLbls>
        <c:gapWidth val="219"/>
        <c:overlap val="-27"/>
        <c:axId val="-1707770336"/>
        <c:axId val="-1707774144"/>
      </c:barChart>
      <c:catAx>
        <c:axId val="-170777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50" b="0" i="0" u="none" strike="noStrike" kern="1200" baseline="0">
                <a:solidFill>
                  <a:schemeClr val="tx1">
                    <a:lumMod val="65000"/>
                    <a:lumOff val="35000"/>
                  </a:schemeClr>
                </a:solidFill>
                <a:latin typeface="Lato" panose="020F0502020204030203" pitchFamily="34" charset="0"/>
                <a:ea typeface="에스코어 드림 5 Medium" panose="020B0503030302020204" pitchFamily="34" charset="-127"/>
                <a:cs typeface="+mn-cs"/>
              </a:defRPr>
            </a:pPr>
            <a:endParaRPr lang="en-US"/>
          </a:p>
        </c:txPr>
        <c:crossAx val="-1707774144"/>
        <c:crosses val="autoZero"/>
        <c:auto val="1"/>
        <c:lblAlgn val="ctr"/>
        <c:lblOffset val="100"/>
        <c:noMultiLvlLbl val="0"/>
      </c:catAx>
      <c:valAx>
        <c:axId val="-1707774144"/>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707770336"/>
        <c:crosses val="autoZero"/>
        <c:crossBetween val="between"/>
      </c:valAx>
      <c:spPr>
        <a:noFill/>
        <a:ln>
          <a:noFill/>
        </a:ln>
        <a:effectLst/>
      </c:spPr>
    </c:plotArea>
    <c:legend>
      <c:legendPos val="b"/>
      <c:layout>
        <c:manualLayout>
          <c:xMode val="edge"/>
          <c:yMode val="edge"/>
          <c:x val="0.85294178182389446"/>
          <c:y val="0.8547295790455266"/>
          <c:w val="0.13666847041518088"/>
          <c:h val="8.67287436990290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에스코어 드림 5 Medium" panose="020B0503030302020204" pitchFamily="34" charset="-127"/>
              <a:ea typeface="에스코어 드림 5 Medium" panose="020B0503030302020204" pitchFamily="34" charset="-127"/>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15F96-C52F-4818-A704-8A2AE2400AAF}" type="datetimeFigureOut">
              <a:rPr lang="ko-KR" altLang="en-US" smtClean="0"/>
              <a:t>2026-01-07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0CCD25-DBD8-4BFA-A5B5-85318685B608}" type="slidenum">
              <a:rPr lang="ko-KR" altLang="en-US" smtClean="0"/>
              <a:t>‹#›</a:t>
            </a:fld>
            <a:endParaRPr lang="ko-KR" altLang="en-US"/>
          </a:p>
        </p:txBody>
      </p:sp>
    </p:spTree>
    <p:extLst>
      <p:ext uri="{BB962C8B-B14F-4D97-AF65-F5344CB8AC3E}">
        <p14:creationId xmlns:p14="http://schemas.microsoft.com/office/powerpoint/2010/main" val="12157357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13760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Our</a:t>
            </a:r>
            <a:r>
              <a:rPr lang="en-US" altLang="ko-KR" baseline="0" dirty="0"/>
              <a:t> Body water Analyzer line, which is S10 and BWA, is the optimal BIA device for Nephrology.</a:t>
            </a:r>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1132320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593152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b="1" dirty="0"/>
              <a:t>Q. What’s the difference between hemodialysis and peritoneal dialysis?</a:t>
            </a:r>
            <a:endParaRPr lang="en-US" altLang="ko-KR" sz="1200" dirty="0"/>
          </a:p>
          <a:p>
            <a:r>
              <a:rPr lang="en-US" altLang="ko-KR" sz="1200" dirty="0"/>
              <a:t>Hemodialysis means your blood goes out of your body to a machine. The machine cleans your blood, then puts it back into your body. Because you need a big machine, you have to go to the hospital for it.</a:t>
            </a:r>
          </a:p>
          <a:p>
            <a:r>
              <a:rPr lang="en-US" altLang="ko-KR" sz="1200" dirty="0"/>
              <a:t>Peritoneal dialysis happens </a:t>
            </a:r>
            <a:r>
              <a:rPr lang="en-US" altLang="ko-KR" sz="1200" b="1" dirty="0"/>
              <a:t>inside your body</a:t>
            </a:r>
            <a:r>
              <a:rPr lang="en-US" altLang="ko-KR" sz="1200" dirty="0"/>
              <a:t>. There is a thin layer in your belly called the </a:t>
            </a:r>
            <a:r>
              <a:rPr lang="en-US" altLang="ko-KR" sz="1200" b="1" dirty="0"/>
              <a:t>peritoneum</a:t>
            </a:r>
            <a:r>
              <a:rPr lang="en-US" altLang="ko-KR" sz="1200" dirty="0"/>
              <a:t>. This layer works like a filter. It lets water pass, but stops bigger stuff like waste.</a:t>
            </a:r>
          </a:p>
          <a:p>
            <a:r>
              <a:rPr lang="en-US" altLang="ko-KR" sz="1200" dirty="0"/>
              <a:t>Here’s how it works:</a:t>
            </a:r>
            <a:br>
              <a:rPr lang="en-US" altLang="ko-KR" sz="1200" dirty="0"/>
            </a:br>
            <a:r>
              <a:rPr lang="en-US" altLang="ko-KR" sz="1200" dirty="0"/>
              <a:t>You put clean water into your belly using a tube. If your body has too much water or waste, it moves into the clean water. After some time (like 1 hour), the water inside your belly now has waste in it. Then, you open a small valve and let the dirty water out. That’s how your body gets clean — from the inside!</a:t>
            </a:r>
          </a:p>
          <a:p>
            <a:r>
              <a:rPr lang="en-US" altLang="ko-KR" sz="1200" dirty="0"/>
              <a:t>People who get peritoneal dialysis have a </a:t>
            </a:r>
            <a:r>
              <a:rPr lang="en-US" altLang="ko-KR" sz="1200" b="1" dirty="0"/>
              <a:t>Y-shaped tube</a:t>
            </a:r>
            <a:r>
              <a:rPr lang="en-US" altLang="ko-KR" sz="1200" dirty="0"/>
              <a:t> in their belly. One side is for clean water going in, and the other side is for dirty water going out.</a:t>
            </a:r>
          </a:p>
          <a:p>
            <a:r>
              <a:rPr lang="en-US" altLang="ko-KR" sz="1200" dirty="0"/>
              <a:t>In Korea, many people like going to hospitals, so they mostly do </a:t>
            </a:r>
            <a:r>
              <a:rPr lang="en-US" altLang="ko-KR" sz="1200" b="1" dirty="0"/>
              <a:t>hemodialysis</a:t>
            </a:r>
            <a:r>
              <a:rPr lang="en-US" altLang="ko-KR" sz="1200" dirty="0"/>
              <a:t>. But if you move a lot or have weak blood vessels, </a:t>
            </a:r>
            <a:r>
              <a:rPr lang="en-US" altLang="ko-KR" sz="1200" b="1" dirty="0"/>
              <a:t>peritoneal dialysis</a:t>
            </a:r>
            <a:r>
              <a:rPr lang="en-US" altLang="ko-KR" sz="1200" dirty="0"/>
              <a:t> might be better. In big countries like the U.S. or Australia, many people do peritoneal dialysis because they can do it at home.</a:t>
            </a:r>
          </a:p>
          <a:p>
            <a:r>
              <a:rPr lang="en-US" altLang="ko-KR" sz="1200" dirty="0"/>
              <a:t>But there’s one problem with peritoneal dialysis:</a:t>
            </a:r>
            <a:br>
              <a:rPr lang="en-US" altLang="ko-KR" sz="1200" dirty="0"/>
            </a:br>
            <a:r>
              <a:rPr lang="en-US" altLang="ko-KR" sz="1200" dirty="0"/>
              <a:t>Since it uses your belly’s filter, over time some </a:t>
            </a:r>
            <a:r>
              <a:rPr lang="en-US" altLang="ko-KR" sz="1200" b="1" dirty="0"/>
              <a:t>fat can build up inside</a:t>
            </a:r>
            <a:r>
              <a:rPr lang="en-US" altLang="ko-KR" sz="1200" dirty="0"/>
              <a:t>. These patients don’t usually die from kidney problems — they may die from </a:t>
            </a:r>
            <a:r>
              <a:rPr lang="en-US" altLang="ko-KR" sz="1200" b="1" dirty="0"/>
              <a:t>heart problems</a:t>
            </a:r>
            <a:r>
              <a:rPr lang="en-US" altLang="ko-KR" sz="1200" dirty="0"/>
              <a:t> caused by the extra fat inside the body. So, peritoneal dialysis patients sometimes </a:t>
            </a:r>
            <a:r>
              <a:rPr lang="en-US" altLang="ko-KR" sz="1200" b="1" dirty="0"/>
              <a:t>look overweight</a:t>
            </a:r>
            <a:r>
              <a:rPr lang="en-US" altLang="ko-KR" sz="1200" dirty="0"/>
              <a:t>, while hemodialysis patients often look very thin.</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4237388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ko-KR" sz="1800" dirty="0" err="1">
                <a:effectLst/>
                <a:ea typeface="맑은 고딕" panose="020B0503020000020004" pitchFamily="50" charset="-127"/>
                <a:cs typeface="Times New Roman" panose="02020603050405020304" pitchFamily="18" charset="0"/>
              </a:rPr>
              <a:t>투석량은</a:t>
            </a:r>
            <a:r>
              <a:rPr lang="ko-KR" altLang="ko-KR" sz="1800" dirty="0">
                <a:effectLst/>
                <a:ea typeface="맑은 고딕" panose="020B0503020000020004" pitchFamily="50" charset="-127"/>
                <a:cs typeface="Times New Roman" panose="02020603050405020304" pitchFamily="18" charset="0"/>
              </a:rPr>
              <a:t> 다음과 같이 네 가지를 고려해서 의사가 처방하는 것이다</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막면적에 따라 </a:t>
            </a:r>
            <a:r>
              <a:rPr lang="ko-KR" altLang="ko-KR" sz="1800" dirty="0" err="1">
                <a:effectLst/>
                <a:ea typeface="맑은 고딕" panose="020B0503020000020004" pitchFamily="50" charset="-127"/>
                <a:cs typeface="Times New Roman" panose="02020603050405020304" pitchFamily="18" charset="0"/>
              </a:rPr>
              <a:t>다이얼라이저를</a:t>
            </a:r>
            <a:r>
              <a:rPr lang="ko-KR" altLang="ko-KR" sz="1800" dirty="0">
                <a:effectLst/>
                <a:ea typeface="맑은 고딕" panose="020B0503020000020004" pitchFamily="50" charset="-127"/>
                <a:cs typeface="Times New Roman" panose="02020603050405020304" pitchFamily="18" charset="0"/>
              </a:rPr>
              <a:t> 정하고</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투석시간</a:t>
            </a:r>
            <a:r>
              <a:rPr lang="en-US" altLang="ko-KR" sz="1800" dirty="0">
                <a:effectLst/>
                <a:ea typeface="맑은 고딕" panose="020B0503020000020004" pitchFamily="50" charset="-127"/>
                <a:cs typeface="Times New Roman" panose="02020603050405020304" pitchFamily="18" charset="0"/>
              </a:rPr>
              <a:t>, </a:t>
            </a:r>
            <a:r>
              <a:rPr lang="ko-KR" altLang="ko-KR" sz="1800" dirty="0" err="1">
                <a:effectLst/>
                <a:ea typeface="맑은 고딕" panose="020B0503020000020004" pitchFamily="50" charset="-127"/>
                <a:cs typeface="Times New Roman" panose="02020603050405020304" pitchFamily="18" charset="0"/>
              </a:rPr>
              <a:t>혈류량</a:t>
            </a:r>
            <a:r>
              <a:rPr lang="en-US" altLang="ko-KR" sz="1800" dirty="0">
                <a:effectLst/>
                <a:ea typeface="맑은 고딕" panose="020B0503020000020004" pitchFamily="50" charset="-127"/>
                <a:cs typeface="Times New Roman" panose="02020603050405020304" pitchFamily="18" charset="0"/>
              </a:rPr>
              <a:t>, </a:t>
            </a:r>
            <a:r>
              <a:rPr lang="ko-KR" altLang="ko-KR" sz="1800" dirty="0" err="1">
                <a:effectLst/>
                <a:ea typeface="맑은 고딕" panose="020B0503020000020004" pitchFamily="50" charset="-127"/>
                <a:cs typeface="Times New Roman" panose="02020603050405020304" pitchFamily="18" charset="0"/>
              </a:rPr>
              <a:t>투석액</a:t>
            </a:r>
            <a:r>
              <a:rPr lang="ko-KR" altLang="ko-KR" sz="1800" dirty="0">
                <a:effectLst/>
                <a:ea typeface="맑은 고딕" panose="020B0503020000020004" pitchFamily="50" charset="-127"/>
                <a:cs typeface="Times New Roman" panose="02020603050405020304" pitchFamily="18" charset="0"/>
              </a:rPr>
              <a:t> 량을 조절하여 </a:t>
            </a:r>
            <a:r>
              <a:rPr lang="ko-KR" altLang="ko-KR" sz="1800" dirty="0" err="1">
                <a:effectLst/>
                <a:ea typeface="맑은 고딕" panose="020B0503020000020004" pitchFamily="50" charset="-127"/>
                <a:cs typeface="Times New Roman" panose="02020603050405020304" pitchFamily="18" charset="0"/>
              </a:rPr>
              <a:t>투석량을</a:t>
            </a:r>
            <a:r>
              <a:rPr lang="ko-KR" altLang="ko-KR" sz="1800" dirty="0">
                <a:effectLst/>
                <a:ea typeface="맑은 고딕" panose="020B0503020000020004" pitchFamily="50" charset="-127"/>
                <a:cs typeface="Times New Roman" panose="02020603050405020304" pitchFamily="18" charset="0"/>
              </a:rPr>
              <a:t> 설정할 수 있다</a:t>
            </a:r>
            <a:r>
              <a:rPr lang="en-US" altLang="ko-KR" sz="1800" dirty="0">
                <a:effectLst/>
                <a:ea typeface="맑은 고딕" panose="020B0503020000020004" pitchFamily="50" charset="-127"/>
                <a:cs typeface="Times New Roman" panose="02020603050405020304" pitchFamily="18" charset="0"/>
              </a:rPr>
              <a:t>. </a:t>
            </a:r>
            <a:r>
              <a:rPr lang="ko-KR" altLang="ko-KR" sz="1800" u="sng" dirty="0">
                <a:solidFill>
                  <a:srgbClr val="C00000"/>
                </a:solidFill>
                <a:effectLst/>
                <a:ea typeface="맑은 고딕" panose="020B0503020000020004" pitchFamily="50" charset="-127"/>
                <a:cs typeface="Times New Roman" panose="02020603050405020304" pitchFamily="18" charset="0"/>
              </a:rPr>
              <a:t>복잡해 보이지만 사실 병원에서 많이 쓰는 </a:t>
            </a:r>
            <a:r>
              <a:rPr lang="ko-KR" altLang="ko-KR" sz="1800" u="sng" dirty="0" err="1">
                <a:solidFill>
                  <a:srgbClr val="C00000"/>
                </a:solidFill>
                <a:effectLst/>
                <a:ea typeface="맑은 고딕" panose="020B0503020000020004" pitchFamily="50" charset="-127"/>
                <a:cs typeface="Times New Roman" panose="02020603050405020304" pitchFamily="18" charset="0"/>
              </a:rPr>
              <a:t>다이얼라이저는</a:t>
            </a:r>
            <a:r>
              <a:rPr lang="en-US" altLang="ko-KR" sz="1800" u="sng" dirty="0">
                <a:solidFill>
                  <a:srgbClr val="C00000"/>
                </a:solidFill>
                <a:effectLst/>
                <a:ea typeface="맑은 고딕" panose="020B0503020000020004" pitchFamily="50" charset="-127"/>
                <a:cs typeface="Times New Roman" panose="02020603050405020304" pitchFamily="18" charset="0"/>
              </a:rPr>
              <a:t> 2~3</a:t>
            </a:r>
            <a:r>
              <a:rPr lang="ko-KR" altLang="ko-KR" sz="1800" u="sng" dirty="0">
                <a:solidFill>
                  <a:srgbClr val="C00000"/>
                </a:solidFill>
                <a:effectLst/>
                <a:ea typeface="맑은 고딕" panose="020B0503020000020004" pitchFamily="50" charset="-127"/>
                <a:cs typeface="Times New Roman" panose="02020603050405020304" pitchFamily="18" charset="0"/>
              </a:rPr>
              <a:t>종류 밖에 없어 이 중에서 선택해서 쓰고 투석시간은</a:t>
            </a:r>
            <a:r>
              <a:rPr lang="en-US" altLang="ko-KR" sz="1800" u="sng" dirty="0">
                <a:solidFill>
                  <a:srgbClr val="C00000"/>
                </a:solidFill>
                <a:effectLst/>
                <a:ea typeface="맑은 고딕" panose="020B0503020000020004" pitchFamily="50" charset="-127"/>
                <a:cs typeface="Times New Roman" panose="02020603050405020304" pitchFamily="18" charset="0"/>
              </a:rPr>
              <a:t>  </a:t>
            </a:r>
            <a:r>
              <a:rPr lang="ko-KR" altLang="ko-KR" sz="1800" u="sng" dirty="0">
                <a:solidFill>
                  <a:srgbClr val="C00000"/>
                </a:solidFill>
                <a:effectLst/>
                <a:ea typeface="맑은 고딕" panose="020B0503020000020004" pitchFamily="50" charset="-127"/>
                <a:cs typeface="Times New Roman" panose="02020603050405020304" pitchFamily="18" charset="0"/>
              </a:rPr>
              <a:t>보통</a:t>
            </a:r>
            <a:r>
              <a:rPr lang="en-US" altLang="ko-KR" sz="1800" u="sng" dirty="0">
                <a:solidFill>
                  <a:srgbClr val="C00000"/>
                </a:solidFill>
                <a:effectLst/>
                <a:ea typeface="맑은 고딕" panose="020B0503020000020004" pitchFamily="50" charset="-127"/>
                <a:cs typeface="Times New Roman" panose="02020603050405020304" pitchFamily="18" charset="0"/>
              </a:rPr>
              <a:t> 3~4</a:t>
            </a:r>
            <a:r>
              <a:rPr lang="ko-KR" altLang="ko-KR" sz="1800" u="sng" dirty="0">
                <a:solidFill>
                  <a:srgbClr val="C00000"/>
                </a:solidFill>
                <a:effectLst/>
                <a:ea typeface="맑은 고딕" panose="020B0503020000020004" pitchFamily="50" charset="-127"/>
                <a:cs typeface="Times New Roman" panose="02020603050405020304" pitchFamily="18" charset="0"/>
              </a:rPr>
              <a:t>시간</a:t>
            </a:r>
            <a:r>
              <a:rPr lang="en-US" altLang="ko-KR" sz="1800" u="sng" dirty="0">
                <a:solidFill>
                  <a:srgbClr val="C00000"/>
                </a:solidFill>
                <a:effectLst/>
                <a:ea typeface="맑은 고딕" panose="020B0503020000020004" pitchFamily="50" charset="-127"/>
                <a:cs typeface="Times New Roman" panose="02020603050405020304" pitchFamily="18" charset="0"/>
              </a:rPr>
              <a:t>, </a:t>
            </a:r>
            <a:r>
              <a:rPr lang="ko-KR" altLang="ko-KR" sz="1800" u="sng" dirty="0" err="1">
                <a:solidFill>
                  <a:srgbClr val="C00000"/>
                </a:solidFill>
                <a:effectLst/>
                <a:ea typeface="맑은 고딕" panose="020B0503020000020004" pitchFamily="50" charset="-127"/>
                <a:cs typeface="Times New Roman" panose="02020603050405020304" pitchFamily="18" charset="0"/>
              </a:rPr>
              <a:t>혈류량은</a:t>
            </a:r>
            <a:r>
              <a:rPr lang="en-US" altLang="ko-KR" sz="1800" u="sng" dirty="0">
                <a:solidFill>
                  <a:srgbClr val="C00000"/>
                </a:solidFill>
                <a:effectLst/>
                <a:ea typeface="맑은 고딕" panose="020B0503020000020004" pitchFamily="50" charset="-127"/>
                <a:cs typeface="Times New Roman" panose="02020603050405020304" pitchFamily="18" charset="0"/>
              </a:rPr>
              <a:t> 150-250ml/min, </a:t>
            </a:r>
            <a:r>
              <a:rPr lang="ko-KR" altLang="ko-KR" sz="1800" u="sng" dirty="0" err="1">
                <a:solidFill>
                  <a:srgbClr val="C00000"/>
                </a:solidFill>
                <a:effectLst/>
                <a:ea typeface="맑은 고딕" panose="020B0503020000020004" pitchFamily="50" charset="-127"/>
                <a:cs typeface="Times New Roman" panose="02020603050405020304" pitchFamily="18" charset="0"/>
              </a:rPr>
              <a:t>투석액량</a:t>
            </a:r>
            <a:r>
              <a:rPr lang="ko-KR" altLang="ko-KR" sz="1800" u="sng" dirty="0">
                <a:solidFill>
                  <a:srgbClr val="C00000"/>
                </a:solidFill>
                <a:effectLst/>
                <a:ea typeface="맑은 고딕" panose="020B0503020000020004" pitchFamily="50" charset="-127"/>
                <a:cs typeface="Times New Roman" panose="02020603050405020304" pitchFamily="18" charset="0"/>
              </a:rPr>
              <a:t> 약</a:t>
            </a:r>
            <a:r>
              <a:rPr lang="en-US" altLang="ko-KR" sz="1800" u="sng" dirty="0">
                <a:solidFill>
                  <a:srgbClr val="C00000"/>
                </a:solidFill>
                <a:effectLst/>
                <a:ea typeface="맑은 고딕" panose="020B0503020000020004" pitchFamily="50" charset="-127"/>
                <a:cs typeface="Times New Roman" panose="02020603050405020304" pitchFamily="18" charset="0"/>
              </a:rPr>
              <a:t> 500ml/min</a:t>
            </a:r>
            <a:r>
              <a:rPr lang="ko-KR" altLang="ko-KR" sz="1800" u="sng" dirty="0">
                <a:solidFill>
                  <a:srgbClr val="C00000"/>
                </a:solidFill>
                <a:effectLst/>
                <a:ea typeface="맑은 고딕" panose="020B0503020000020004" pitchFamily="50" charset="-127"/>
                <a:cs typeface="Times New Roman" panose="02020603050405020304" pitchFamily="18" charset="0"/>
              </a:rPr>
              <a:t>에서 정한다</a:t>
            </a:r>
            <a:r>
              <a:rPr lang="en-US" altLang="ko-KR" sz="1800" u="sng" dirty="0">
                <a:solidFill>
                  <a:srgbClr val="C00000"/>
                </a:solidFill>
                <a:effectLst/>
                <a:ea typeface="맑은 고딕" panose="020B0503020000020004" pitchFamily="50" charset="-127"/>
                <a:cs typeface="Times New Roman" panose="02020603050405020304" pitchFamily="18" charset="0"/>
              </a:rPr>
              <a:t>. </a:t>
            </a:r>
            <a:endParaRPr lang="ko-KR" altLang="en-US" sz="300" dirty="0">
              <a:latin typeface="+mn-lt"/>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073664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혈액투석의 원리는 두 가지만 기억하시면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그림이 복잡하게 보이지만 사실 혈액투석이 일어나는 곳은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다이얼라이저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투석기이다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혈액투석의 중심이 되는 반투막 구조로 이 안에서 확산과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한외여과가</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일어난다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확산은 농도가 높은 곳에서 낮은 곳으로 이동하는 것으로 노폐물을 제거하고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한외여과는</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압력 차를 이용해서 수분을 제거한다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다시 한번</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노폐물은 확산을 통해 빼고 제수량은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한외여과</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통해 뺀다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투석기가 이것을 전부 다 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en-US" altLang="ko-KR" sz="1000" dirty="0">
              <a:latin typeface="+mn-lt"/>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투석기를 좀 더 자세히 살펴보면 중공사라고 하는 매우 가는 실의 다발로 이루어져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 실의 가닥 하나하나에서 확산과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한외여과</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등이 일어나는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이것</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실 하나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확대해서 보면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혈액은 위에서 아래로 흐르고 투석액은 아래서 위로 흐른다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이렇게 반대로 흐르는 이유는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투석효율을 높이기 위함이다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혈액 안에는 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포도당</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아미노산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무기질</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요소 이렇게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5</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가지가 포함 되어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요소는 노폐물로 제거되어야 하는 성분인데 신장질환자는 신장에서 제거가 안되므로 투석으로 이걸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빼줘야</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그래서 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포도당</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아미노산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무기질로 조성된 투석액을 사용해서 확산을 통해 요소를 제거할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반투막을 중심으로 큰 단백질 빼고 나머지 혈액 성분들은 어차피 농도가 비슷하기 때문에 왔다 갔다 하고 투석액에는 없는 요소만 투석액으로 빠져나가게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 중에 가끔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어지러움증을</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호소하시는 환자가 있어서 포도당 등의 수액을 넣고 싶다면 왼팔은 투석을 하고 있으니 오른 팔에 따로 주입할 필요 없이 투석액에 포도당 농도를 높이면 혈액으로 포도당이 보충된다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이러한 원리를 이용해서 당뇨환자</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질환자들의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투석액</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조성을 변화시킬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수분은 약간의 압력을 걸어 주고 압력차를 이용해서 투석액으로 빠져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나오게해서</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제거한다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한마디로 혈액투석의 원리는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다이얼라이저라고</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하는 투석기 안에서 농도차와 압력차를 통해 각각 노폐물과 수분을 제거하는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sz="1000" dirty="0">
              <a:latin typeface="+mn-lt"/>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885381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800" dirty="0">
                <a:effectLst/>
                <a:ea typeface="맑은 고딕" panose="020B0503020000020004" pitchFamily="50" charset="-127"/>
                <a:cs typeface="Times New Roman" panose="02020603050405020304" pitchFamily="18" charset="0"/>
              </a:rPr>
              <a:t>실제 인공 투석기의 모습</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아래 있는 통이 </a:t>
            </a:r>
            <a:r>
              <a:rPr lang="ko-KR" altLang="ko-KR" sz="1800" dirty="0" err="1">
                <a:effectLst/>
                <a:ea typeface="맑은 고딕" panose="020B0503020000020004" pitchFamily="50" charset="-127"/>
                <a:cs typeface="Times New Roman" panose="02020603050405020304" pitchFamily="18" charset="0"/>
              </a:rPr>
              <a:t>투석액</a:t>
            </a:r>
            <a:r>
              <a:rPr lang="ko-KR" altLang="en-US" sz="1800" dirty="0" err="1">
                <a:effectLst/>
                <a:ea typeface="맑은 고딕" panose="020B0503020000020004" pitchFamily="50" charset="-127"/>
                <a:cs typeface="Times New Roman" panose="02020603050405020304" pitchFamily="18" charset="0"/>
              </a:rPr>
              <a:t>고</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대용량으로 사서 꼽아놓고 사용한다</a:t>
            </a:r>
            <a:r>
              <a:rPr lang="en-US" altLang="ko-KR" sz="1800" dirty="0">
                <a:effectLst/>
                <a:ea typeface="맑은 고딕" panose="020B0503020000020004" pitchFamily="50" charset="-127"/>
                <a:cs typeface="Times New Roman" panose="02020603050405020304" pitchFamily="18" charset="0"/>
              </a:rPr>
              <a:t>. </a:t>
            </a: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3~4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시간 동안 혈액투석을 실시하고 투석 과정은 동맥에서 혈액이 나와서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헤파린</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라인과 만나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헤파린이</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주입된 이후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동맥 챔버에 혈액이 모이고 이후 혈액 투석막을 위에서 아래로 통과한 다음 정맥 챔버에 모였다가 다시 정맥으로 들어간다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 때 투석액은 중앙라인을 통해 들어오는 정수액과의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종류 정도의 투석액이 장비내에서 일정 비율로 조합되어 사용된다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투석액은 혈액이 위에서 아래로 투석막을 통과할 때 혈액의 방향과는 반대로 아래에서 위로 통과하면서 노폐물을 제거하게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만약 영양 공급을 하고 싶다면 투석액의 농도나 조성을 조절해서 사용하면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한마디로 혈액투석의 원리는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다이얼라이저라고</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하는 투석기 안에서 농도차와 압력차를 통해 각각 노폐물과 수분을 제거하는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sz="1000" dirty="0">
              <a:latin typeface="+mn-lt"/>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999354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투석량의</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지표는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말 그대로 노폐물이 잘 제거 되었는지를 알아보는 지표이다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의무적으로 두세 달에 한번씩 꼭 확인해야 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실제 필드에서 선생님들이 제일 많이 사용하는 방법은 요소제거율과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표준화투석량인데</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이들은 간단히 줄여 각각</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URR</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라고 말한다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 둘은 혈액 중의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요소량을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취해서 이걸로 구하는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노폐물의 대부분은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크레아티닌과</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요소 두가지 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크레아티닌은</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근육 운동하고 난 후 남는 찌꺼기 이고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요소는 단백질을 섭취 후 나오는 찌꺼기이다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투석환자들은 신장이 이것을 제대로 제거하지 못 하기 때문에 혈액에 쌓인 상태로 와서 투석을 통해 제거하는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그리고 이것이 잘 제거되었는지 확인하는 것이 위의 두 가지 방법이다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p>
          <a:p>
            <a:pPr latinLnBrk="1">
              <a:spcAft>
                <a:spcPts val="800"/>
              </a:spcAft>
            </a:pPr>
            <a:endPar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dirty="0">
                <a:effectLst/>
                <a:latin typeface="맑은 고딕" panose="020B0503020000020004" pitchFamily="50" charset="-127"/>
                <a:cs typeface="Times New Roman" panose="02020603050405020304" pitchFamily="18" charset="0"/>
              </a:rPr>
              <a:t>URR</a:t>
            </a:r>
            <a:r>
              <a:rPr lang="ko-KR" altLang="ko-KR" sz="1800" dirty="0">
                <a:effectLst/>
                <a:ea typeface="맑은 고딕" panose="020B0503020000020004" pitchFamily="50" charset="-127"/>
                <a:cs typeface="Times New Roman" panose="02020603050405020304" pitchFamily="18" charset="0"/>
              </a:rPr>
              <a:t>은 계산식이 있는데 투석 전후 혈액의 </a:t>
            </a:r>
            <a:r>
              <a:rPr lang="ko-KR" altLang="ko-KR" sz="1800" dirty="0" err="1">
                <a:effectLst/>
                <a:ea typeface="맑은 고딕" panose="020B0503020000020004" pitchFamily="50" charset="-127"/>
                <a:cs typeface="Times New Roman" panose="02020603050405020304" pitchFamily="18" charset="0"/>
              </a:rPr>
              <a:t>요소량을</a:t>
            </a:r>
            <a:r>
              <a:rPr lang="ko-KR" altLang="ko-KR" sz="1800" dirty="0">
                <a:effectLst/>
                <a:ea typeface="맑은 고딕" panose="020B0503020000020004" pitchFamily="50" charset="-127"/>
                <a:cs typeface="Times New Roman" panose="02020603050405020304" pitchFamily="18" charset="0"/>
              </a:rPr>
              <a:t> 이용한다</a:t>
            </a:r>
            <a:r>
              <a:rPr lang="en-US" altLang="ko-KR" sz="1800" dirty="0">
                <a:effectLst/>
                <a:ea typeface="맑은 고딕" panose="020B0503020000020004" pitchFamily="50" charset="-127"/>
                <a:cs typeface="Times New Roman" panose="02020603050405020304" pitchFamily="18" charset="0"/>
              </a:rPr>
              <a:t>. </a:t>
            </a:r>
            <a:r>
              <a:rPr lang="ko-KR" altLang="en-US" sz="1800" dirty="0">
                <a:effectLst/>
                <a:ea typeface="맑은 고딕" panose="020B0503020000020004" pitchFamily="50" charset="-127"/>
                <a:cs typeface="Times New Roman" panose="02020603050405020304" pitchFamily="18" charset="0"/>
              </a:rPr>
              <a:t>이 것보다 정확한 것은 </a:t>
            </a:r>
            <a:r>
              <a:rPr lang="en-US" altLang="ko-KR" sz="1800" dirty="0">
                <a:effectLst/>
                <a:latin typeface="맑은 고딕" panose="020B0503020000020004" pitchFamily="50" charset="-127"/>
                <a:cs typeface="Times New Roman" panose="02020603050405020304" pitchFamily="18" charset="0"/>
              </a:rPr>
              <a:t>Kt/V</a:t>
            </a:r>
            <a:r>
              <a:rPr lang="ko-KR" altLang="ko-KR" sz="1800" dirty="0">
                <a:effectLst/>
                <a:ea typeface="맑은 고딕" panose="020B0503020000020004" pitchFamily="50" charset="-127"/>
                <a:cs typeface="Times New Roman" panose="02020603050405020304" pitchFamily="18" charset="0"/>
              </a:rPr>
              <a:t>이다</a:t>
            </a:r>
            <a:r>
              <a:rPr lang="en-US" altLang="ko-KR" sz="1800" dirty="0">
                <a:effectLst/>
                <a:ea typeface="맑은 고딕" panose="020B0503020000020004" pitchFamily="50" charset="-127"/>
                <a:cs typeface="Times New Roman" panose="02020603050405020304" pitchFamily="18" charset="0"/>
              </a:rPr>
              <a:t>. URR</a:t>
            </a:r>
            <a:r>
              <a:rPr lang="ko-KR" altLang="ko-KR" sz="1800" dirty="0">
                <a:effectLst/>
                <a:ea typeface="맑은 고딕" panose="020B0503020000020004" pitchFamily="50" charset="-127"/>
                <a:cs typeface="Times New Roman" panose="02020603050405020304" pitchFamily="18" charset="0"/>
              </a:rPr>
              <a:t>과 마찬가지로 혈중 </a:t>
            </a:r>
            <a:r>
              <a:rPr lang="ko-KR" altLang="ko-KR" sz="1800" dirty="0" err="1">
                <a:effectLst/>
                <a:ea typeface="맑은 고딕" panose="020B0503020000020004" pitchFamily="50" charset="-127"/>
                <a:cs typeface="Times New Roman" panose="02020603050405020304" pitchFamily="18" charset="0"/>
              </a:rPr>
              <a:t>요소량을</a:t>
            </a:r>
            <a:r>
              <a:rPr lang="ko-KR" altLang="ko-KR" sz="1800" dirty="0">
                <a:effectLst/>
                <a:ea typeface="맑은 고딕" panose="020B0503020000020004" pitchFamily="50" charset="-127"/>
                <a:cs typeface="Times New Roman" panose="02020603050405020304" pitchFamily="18" charset="0"/>
              </a:rPr>
              <a:t> 이용한다</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최근</a:t>
            </a:r>
            <a:r>
              <a:rPr lang="en-US" altLang="ko-KR" sz="1800" dirty="0">
                <a:effectLst/>
                <a:ea typeface="맑은 고딕" panose="020B0503020000020004" pitchFamily="50" charset="-127"/>
                <a:cs typeface="Times New Roman" panose="02020603050405020304" pitchFamily="18" charset="0"/>
              </a:rPr>
              <a:t> FMC</a:t>
            </a:r>
            <a:r>
              <a:rPr lang="ko-KR" altLang="ko-KR" sz="1800" dirty="0">
                <a:effectLst/>
                <a:ea typeface="맑은 고딕" panose="020B0503020000020004" pitchFamily="50" charset="-127"/>
                <a:cs typeface="Times New Roman" panose="02020603050405020304" pitchFamily="18" charset="0"/>
              </a:rPr>
              <a:t>의</a:t>
            </a:r>
            <a:r>
              <a:rPr lang="en-US" altLang="ko-KR" sz="1800" dirty="0">
                <a:effectLst/>
                <a:ea typeface="맑은 고딕" panose="020B0503020000020004" pitchFamily="50" charset="-127"/>
                <a:cs typeface="Times New Roman" panose="02020603050405020304" pitchFamily="18" charset="0"/>
              </a:rPr>
              <a:t> 5008S</a:t>
            </a:r>
            <a:r>
              <a:rPr lang="ko-KR" altLang="ko-KR" sz="1800" dirty="0">
                <a:effectLst/>
                <a:ea typeface="맑은 고딕" panose="020B0503020000020004" pitchFamily="50" charset="-127"/>
                <a:cs typeface="Times New Roman" panose="02020603050405020304" pitchFamily="18" charset="0"/>
              </a:rPr>
              <a:t>와 같은 투석장비는</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피검사 없이도</a:t>
            </a:r>
            <a:r>
              <a:rPr lang="en-US" altLang="ko-KR" sz="1800" dirty="0">
                <a:effectLst/>
                <a:ea typeface="맑은 고딕" panose="020B0503020000020004" pitchFamily="50" charset="-127"/>
                <a:cs typeface="Times New Roman" panose="02020603050405020304" pitchFamily="18" charset="0"/>
              </a:rPr>
              <a:t> Kt/V</a:t>
            </a:r>
            <a:r>
              <a:rPr lang="ko-KR" altLang="ko-KR" sz="1800" dirty="0">
                <a:effectLst/>
                <a:ea typeface="맑은 고딕" panose="020B0503020000020004" pitchFamily="50" charset="-127"/>
                <a:cs typeface="Times New Roman" panose="02020603050405020304" pitchFamily="18" charset="0"/>
              </a:rPr>
              <a:t>값을 보여 주는데 혈액에서 채취하는 요소 대신</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투석기가 투석하는 동안 나트륨을 알아서 파악하고 이온 치환율을 계산해서 결과를 보여준다</a:t>
            </a:r>
            <a:r>
              <a:rPr lang="en-US" altLang="ko-KR" sz="1800" dirty="0">
                <a:effectLst/>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이것을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OCM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이라고 하는데 </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OCM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보여주는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값이 맞지 않다는 의견에 대해서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통해 측정한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입력하라고 영업한다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투석기에서 보여주는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값이 맞지 않는 이유는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 수분량을 입력할 때 왓슨 공식 같은 외부 공식을 사용해서 그냥 체중의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60%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체수분</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값으로 입력한다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따라서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보여주는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직접 입력해서 사용하면 정확한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모니터링 할 수 있도록 도와줄 수 있다고 어필하고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그런데 </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넣어야 한다면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whole body</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 아니라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segmental body</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로 측정한 값이 더 정확하다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모니터에</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OCM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 있으면 이게 투석 효율</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노폐물이 잘 빠진 정도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실시간으로 보여주는 기능을 갖춘 장비로 이해하면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sz="1000" dirty="0">
              <a:latin typeface="+mn-lt"/>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8681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제수량은 투석환자가 불어온 물을 얼마나 뺄 것인가에 대한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투석환자가 투석을 받고 일상생활 하고 다음날 다시 병원에 올 때는 신장이 기능을 하지 못하기 때문에 불필요한 수분과 노폐물이 쌓여 있는 상태로 오게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Dry weight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이렇게 늘어난 수분을 제거한 적정한 상태의 체중이다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보통 혈액투석 환자들은 투석 후 집에 갈 때 체중을 재고 다음 번에 왔을 때 체중을 재서 늘어난 만큼을 빼게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관리가 잘 되는 환자의 경우는 투석 후 체중과 원래 건체중이 딱 맞겠지만 어떤 환자는 너무 많이 늘어와서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건체중</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만큼 빼지 못하고 가는 경우도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건체중을 설정하는 일반적인 방법은 다음과 같다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1)</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임상적으로 부었는지 보고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혈압 체크해서 </a:t>
            </a:r>
            <a:r>
              <a:rPr lang="ko-KR" altLang="ko-KR" sz="1800" b="1" kern="100" dirty="0">
                <a:effectLst/>
                <a:latin typeface="맑은 고딕" panose="020B0503020000020004" pitchFamily="50" charset="-127"/>
                <a:ea typeface="맑은 고딕" panose="020B0503020000020004" pitchFamily="50" charset="-127"/>
                <a:cs typeface="Times New Roman" panose="02020603050405020304" pitchFamily="18" charset="0"/>
              </a:rPr>
              <a:t>혈압이 높으면 체액이 많은 상태</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임을 알 수 있고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심흉비는</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엑스레이 찍어서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흉곽비</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대 심장의 비율을 보는 것으로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심장이 비대해지면 이 수치가 높아져서 많이 부어 있음을 확인할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3)</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하대정맥 직경은 </a:t>
            </a:r>
            <a:r>
              <a:rPr lang="ko-KR" altLang="ko-KR" sz="1800" b="1" kern="100" dirty="0">
                <a:effectLst/>
                <a:latin typeface="맑은 고딕" panose="020B0503020000020004" pitchFamily="50" charset="-127"/>
                <a:ea typeface="맑은 고딕" panose="020B0503020000020004" pitchFamily="50" charset="-127"/>
                <a:cs typeface="Times New Roman" panose="02020603050405020304" pitchFamily="18" charset="0"/>
              </a:rPr>
              <a:t>초음파로</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측정하는데 하대정맥은 신장과 연결이 되어 수분이 많으면 사이즈가 커지기 때문에 초음파로 직경을 측정한다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이렇게 임상적으로 진단하고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x-ray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찍고 초음파보고 혈압 측정해서 건체중을 산출한다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기존의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건체중</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결정 방법은 긴 시행착오가 필요하고 초기 변화에 대해서는 알 수 없다는 단점이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498446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혈관접근로는</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혈액투석 시 높은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혈류량</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(250ml/min)</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감당하기 위해 만들어주는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말 그대로 혈액이 접근하기 쉽게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많은 양이 들어가고 나가기 쉽게 만들어 주는 것으로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가장 일반적인 방법이 동맥과 정맥을 연결해서 만들어주는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동정맥루이다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투석실</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가보면 팔에 불룩불룩 나와 있는 게 바로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이거다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 끝나고 나서 그 부위에 손 대보면 떨림이 굉장히 심한데 이것은 혈류가 잘 흐르고 있구나 라는 신호다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아무 반응 없으면 이상한 거다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인조혈관 넣어서 하는 방법도 있고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1,2</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번은 수술 후 한 달 정도 후에 투석이 가능한데 그사이 임시로 실시할 수 있는 방법이 도관이다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번</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일반적으로는 왼팔에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동정맥루를</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많이 실시한다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sz="1000" dirty="0">
              <a:latin typeface="+mn-lt"/>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652963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혈액투석에 있어서 가장 중요한 게 혈압이다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 중에 혈압이 떨어지는 경우가 많은데 이유는 수분제거의 속도가 빠르거나 건체중이 너무 낮거나 원래 혈압이 떨어지기 쉬운 질환 등이 원인이 될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과잉의 체액을 최대한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빼주면</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좋지만 너무 많이 빼게 되면 혈압이 떨어지고 어지럽고 심한 경우 구토를 하기도 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sz="1000" dirty="0">
              <a:latin typeface="+mn-lt"/>
            </a:endParaRP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990067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401311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ko-KR" altLang="ko-KR" sz="1800" dirty="0">
                <a:effectLst/>
                <a:ea typeface="맑은 고딕" panose="020B0503020000020004" pitchFamily="50" charset="-127"/>
                <a:cs typeface="Times New Roman" panose="02020603050405020304" pitchFamily="18" charset="0"/>
              </a:rPr>
              <a:t>혈액투석 과정은 환자분들이 오시면 먼저 체중을 측정한다</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주로 환자 자신이 직접 체중계에 올라가서 측정한 다음 간호사가 혈압을 측정하고 혈관접속용 기구를 삽입한다</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혈액투석기에 </a:t>
            </a:r>
            <a:r>
              <a:rPr lang="ko-KR" altLang="ko-KR" sz="1800" dirty="0" err="1">
                <a:effectLst/>
                <a:ea typeface="맑은 고딕" panose="020B0503020000020004" pitchFamily="50" charset="-127"/>
                <a:cs typeface="Times New Roman" panose="02020603050405020304" pitchFamily="18" charset="0"/>
              </a:rPr>
              <a:t>제수량</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투석시간</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혈류속도</a:t>
            </a:r>
            <a:r>
              <a:rPr lang="en-US" altLang="ko-KR" sz="1800" dirty="0">
                <a:effectLst/>
                <a:ea typeface="맑은 고딕" panose="020B0503020000020004" pitchFamily="50" charset="-127"/>
                <a:cs typeface="Times New Roman" panose="02020603050405020304" pitchFamily="18" charset="0"/>
              </a:rPr>
              <a:t>, </a:t>
            </a:r>
            <a:r>
              <a:rPr lang="ko-KR" altLang="ko-KR" sz="1800" dirty="0" err="1">
                <a:effectLst/>
                <a:ea typeface="맑은 고딕" panose="020B0503020000020004" pitchFamily="50" charset="-127"/>
                <a:cs typeface="Times New Roman" panose="02020603050405020304" pitchFamily="18" charset="0"/>
              </a:rPr>
              <a:t>헤파린</a:t>
            </a:r>
            <a:r>
              <a:rPr lang="ko-KR" altLang="ko-KR" sz="1800" dirty="0">
                <a:effectLst/>
                <a:ea typeface="맑은 고딕" panose="020B0503020000020004" pitchFamily="50" charset="-127"/>
                <a:cs typeface="Times New Roman" panose="02020603050405020304" pitchFamily="18" charset="0"/>
              </a:rPr>
              <a:t> 속도</a:t>
            </a:r>
            <a:r>
              <a:rPr lang="en-US" altLang="ko-KR" sz="1800" dirty="0">
                <a:effectLst/>
                <a:ea typeface="맑은 고딕" panose="020B0503020000020004" pitchFamily="50" charset="-127"/>
                <a:cs typeface="Times New Roman" panose="02020603050405020304" pitchFamily="18" charset="0"/>
              </a:rPr>
              <a:t>(</a:t>
            </a:r>
            <a:r>
              <a:rPr lang="ko-KR" altLang="ko-KR" sz="1800" dirty="0">
                <a:effectLst/>
                <a:ea typeface="맑은 고딕" panose="020B0503020000020004" pitchFamily="50" charset="-127"/>
                <a:cs typeface="Times New Roman" panose="02020603050405020304" pitchFamily="18" charset="0"/>
              </a:rPr>
              <a:t>혈액 응고 막기 위해</a:t>
            </a:r>
            <a:r>
              <a:rPr lang="en-US" altLang="ko-KR" sz="1800" dirty="0">
                <a:effectLst/>
                <a:ea typeface="맑은 고딕" panose="020B0503020000020004" pitchFamily="50" charset="-127"/>
                <a:cs typeface="Times New Roman" panose="02020603050405020304" pitchFamily="18" charset="0"/>
              </a:rPr>
              <a:t>), </a:t>
            </a:r>
            <a:r>
              <a:rPr lang="ko-KR" altLang="ko-KR" sz="1800" dirty="0" err="1">
                <a:effectLst/>
                <a:ea typeface="맑은 고딕" panose="020B0503020000020004" pitchFamily="50" charset="-127"/>
                <a:cs typeface="Times New Roman" panose="02020603050405020304" pitchFamily="18" charset="0"/>
              </a:rPr>
              <a:t>투석액량</a:t>
            </a:r>
            <a:r>
              <a:rPr lang="en-US" altLang="ko-KR" sz="1800" dirty="0">
                <a:effectLst/>
                <a:ea typeface="맑은 고딕" panose="020B0503020000020004" pitchFamily="50" charset="-127"/>
                <a:cs typeface="Times New Roman" panose="02020603050405020304" pitchFamily="18" charset="0"/>
              </a:rPr>
              <a:t>, </a:t>
            </a:r>
            <a:r>
              <a:rPr lang="ko-KR" altLang="ko-KR" sz="1800" dirty="0" err="1">
                <a:effectLst/>
                <a:ea typeface="맑은 고딕" panose="020B0503020000020004" pitchFamily="50" charset="-127"/>
                <a:cs typeface="Times New Roman" panose="02020603050405020304" pitchFamily="18" charset="0"/>
              </a:rPr>
              <a:t>투석액</a:t>
            </a:r>
            <a:r>
              <a:rPr lang="ko-KR" altLang="ko-KR" sz="1800" dirty="0">
                <a:effectLst/>
                <a:ea typeface="맑은 고딕" panose="020B0503020000020004" pitchFamily="50" charset="-127"/>
                <a:cs typeface="Times New Roman" panose="02020603050405020304" pitchFamily="18" charset="0"/>
              </a:rPr>
              <a:t> 온도</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혈압</a:t>
            </a:r>
            <a:r>
              <a:rPr lang="en-US" altLang="ko-KR" sz="1800" dirty="0">
                <a:effectLst/>
                <a:ea typeface="맑은 고딕" panose="020B0503020000020004" pitchFamily="50" charset="-127"/>
                <a:cs typeface="Times New Roman" panose="02020603050405020304" pitchFamily="18" charset="0"/>
              </a:rPr>
              <a:t>, </a:t>
            </a:r>
            <a:r>
              <a:rPr lang="ko-KR" altLang="ko-KR" sz="1800" dirty="0">
                <a:effectLst/>
                <a:ea typeface="맑은 고딕" panose="020B0503020000020004" pitchFamily="50" charset="-127"/>
                <a:cs typeface="Times New Roman" panose="02020603050405020304" pitchFamily="18" charset="0"/>
              </a:rPr>
              <a:t>체온 등을 입력한다</a:t>
            </a:r>
            <a:r>
              <a:rPr lang="en-US" altLang="ko-KR" sz="1800" dirty="0">
                <a:effectLst/>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다시 한 번 정리하면 혈액 투석은 제수량은 수분 빼는 것</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투석량은</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노폐물 빼는 것 두 가지가 전부이다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제수량은 투석하고 갈 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체중 잰 후 다음에 와서 불어서 온만큼의 체중 값을 빼는 것이고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투석량은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가지 처방해야 할 것이 있지만 일반적으로 비슷하기 때문에 그 전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값이랑</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거의 똑같이 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안타까운 것은 혈액투석 환자들이 이렇게 투석을 받는다고 해도 일반인 신장 기능의 미니멈</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10%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정도 밖에 대체될 수 없다는 점이다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711687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096337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759592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301528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536427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2386172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S20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의 부종지수를 이용해서 설정한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Dry Weight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과 고전적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건체중</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설정 방법인</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CTR(X-ray), </a:t>
            </a:r>
            <a:r>
              <a:rPr lang="en-US"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hANP</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혈액검사</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IVC(</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초음파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통해 설정한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Dry weight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0.99</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로 매우 높은 상관 관계를 보였다는 내용이다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005354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6126139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40031093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건체중을 설정하는 방법은 몇 가지가 있지만 수분비율을 이용한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사사키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공식을 기준으로 하고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지금까지 데모를 해서 환자 데이터를 비교해 본 결과 가장 잘 맞다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투석환자에 있어서 당뇨나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저알부민혈증이</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없으면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0.385</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 적당하고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둘중</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한가지가 있다고 하면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0.395</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로 맞추면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지금까지 해본 바로는 잘 맞다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80%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맞는다하면</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거의 맞다고 할 수 있기 때문에 이 방법을 사용하면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조심해야 할 점은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 기준을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0.385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또는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0.395</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로 하라는 것이지 꼭 이 수치에 맞추어야 한다는 것은 아니다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941535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628326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If ICW (Intracellular Water) is within the normal range, additional fluid removal is possible. (In some cases, antihypertensive medications may be used if the patient struggles.) </a:t>
            </a:r>
            <a:r>
              <a:rPr lang="ko-KR" altLang="en-US" dirty="0"/>
              <a:t>제수를 힘들어하면 </a:t>
            </a:r>
            <a:r>
              <a:rPr lang="ko-KR" altLang="en-US" dirty="0" err="1"/>
              <a:t>혈압약을</a:t>
            </a:r>
            <a:r>
              <a:rPr lang="ko-KR" altLang="en-US" dirty="0"/>
              <a:t> 주고서라도 </a:t>
            </a:r>
            <a:r>
              <a:rPr lang="ko-KR" altLang="en-US" dirty="0" err="1"/>
              <a:t>빼는게</a:t>
            </a:r>
            <a:r>
              <a:rPr lang="ko-KR" altLang="en-US" dirty="0"/>
              <a:t> 좋다고 함</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dirty="0">
              <a:solidFill>
                <a:schemeClr val="tx1"/>
              </a:solidFill>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If ICW is low – additional fluid removal may difficult. </a:t>
            </a:r>
            <a:r>
              <a:rPr lang="en-US" altLang="ko-KR" dirty="0"/>
              <a:t>(These patients may require adjustments to the dialysis temperature and concentration, or continuous renal replacement therapy (CRRT).)</a:t>
            </a:r>
            <a:endParaRPr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endParaRPr lang="en-US" altLang="ko-KR" dirty="0"/>
          </a:p>
          <a:p>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1472658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498474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16259077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2863079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17851945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solidFill>
                <a:prstClr val="black"/>
              </a:solidFill>
              <a:latin typeface="Calibri" panose="020F0502020204030204"/>
            </a:endParaRPr>
          </a:p>
        </p:txBody>
      </p:sp>
    </p:spTree>
    <p:extLst>
      <p:ext uri="{BB962C8B-B14F-4D97-AF65-F5344CB8AC3E}">
        <p14:creationId xmlns:p14="http://schemas.microsoft.com/office/powerpoint/2010/main" val="22882668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7085027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8503494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825350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8077305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6697778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368694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8026357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674640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0767235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156004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6140264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0932175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5336869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4565473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4891791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41861781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34815321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2492990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9745015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4473825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288333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7470584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2001108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225756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010863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3705740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6815663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26318682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8339277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이미지 활용 페이지</a:t>
            </a:r>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4018612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06F5C9BB-EBC1-4FD7-8462-E6C4DD7A7CB4}" type="slidenum">
              <a:rPr lang="ko-KR" altLang="en-US" smtClean="0"/>
              <a:t>82</a:t>
            </a:fld>
            <a:endParaRPr lang="ko-KR" altLang="en-US"/>
          </a:p>
        </p:txBody>
      </p:sp>
    </p:spTree>
    <p:extLst>
      <p:ext uri="{BB962C8B-B14F-4D97-AF65-F5344CB8AC3E}">
        <p14:creationId xmlns:p14="http://schemas.microsoft.com/office/powerpoint/2010/main" val="15409154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06F5C9BB-EBC1-4FD7-8462-E6C4DD7A7CB4}" type="slidenum">
              <a:rPr lang="ko-KR" altLang="en-US" smtClean="0"/>
              <a:t>83</a:t>
            </a:fld>
            <a:endParaRPr lang="ko-KR" altLang="en-US"/>
          </a:p>
        </p:txBody>
      </p:sp>
    </p:spTree>
    <p:extLst>
      <p:ext uri="{BB962C8B-B14F-4D97-AF65-F5344CB8AC3E}">
        <p14:creationId xmlns:p14="http://schemas.microsoft.com/office/powerpoint/2010/main" val="24501940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06F5C9BB-EBC1-4FD7-8462-E6C4DD7A7CB4}" type="slidenum">
              <a:rPr lang="ko-KR" altLang="en-US" smtClean="0"/>
              <a:t>84</a:t>
            </a:fld>
            <a:endParaRPr lang="ko-KR" altLang="en-US"/>
          </a:p>
        </p:txBody>
      </p:sp>
    </p:spTree>
    <p:extLst>
      <p:ext uri="{BB962C8B-B14F-4D97-AF65-F5344CB8AC3E}">
        <p14:creationId xmlns:p14="http://schemas.microsoft.com/office/powerpoint/2010/main" val="11411975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06F5C9BB-EBC1-4FD7-8462-E6C4DD7A7CB4}" type="slidenum">
              <a:rPr lang="ko-KR" altLang="en-US" smtClean="0"/>
              <a:t>85</a:t>
            </a:fld>
            <a:endParaRPr lang="ko-KR" altLang="en-US"/>
          </a:p>
        </p:txBody>
      </p:sp>
    </p:spTree>
    <p:extLst>
      <p:ext uri="{BB962C8B-B14F-4D97-AF65-F5344CB8AC3E}">
        <p14:creationId xmlns:p14="http://schemas.microsoft.com/office/powerpoint/2010/main" val="12211315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화면구성을 일단 보시면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8</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개 화면이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첫 번째 화면에</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Overhydration</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 나오는데 옆에 있는 수치를 통해 수분 상태가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과한지</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부족한지를 볼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Overhydration</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그대로 투석기에 입력하면 되니까 매우 편리하다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위 화면은 투석 후 물을 과하게 빼서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2.3L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부족하다고 측정된 실제 케이스 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환자 결과가 정상범위를 기준으로 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우로 표기되어서 수분 상태를 바로 파악할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두 번째 화면은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값에 대한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는 투석효율을 알아보는 중요한 수치라고 앞서 말씀드린 바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하지만 혈액 중의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요소값을</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알아야 하기 때문에 불편하다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에서는 이러한 불편함을 해소하기 위해 투석기 자체에서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보여준다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일반적으로 체중의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60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퍼센트로 계산해서 쓰는데 투석환자의 경우 개인차가 심해서 잘 맞지 않는다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이에</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자체적으로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 대한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체수분</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값을 제공해 주는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값에</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나온</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입력해 두면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 항목을 활용하여 바로 대입할 수 있는 투석기는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밖에 없으며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비브라운</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같은 경우에는 장비에서 보여주는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Kt/V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 자체가 달라서 바로 적용할 수 없다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그래서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자사 투석기에 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V</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넣어서 활용할 수 있도록 하고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세 번째 화면은 수분 상태가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-2.3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부족하고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화살표는 피검자의 수분상태가 표준에 비해서 낮다는 것을 나타낸다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다음으로는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UF-Vol(</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한외여과량</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혈압은 입력해주는 부분이고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OHPOST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는 투석 후의 기대되는 수분 상태를 보여주는데 역시 입력했을 경우에 나타난다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장비를 쓸 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Overhydration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이외의 항목은 현장에서 거의 잘 활용하지 않는다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네 번째 화면은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TBW, ECW, ICW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값을 보여주는데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E/I</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ECW/ICW</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나타낸 값이다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5"/>
          </p:nvPr>
        </p:nvSpPr>
        <p:spPr/>
        <p:txBody>
          <a:bodyPr/>
          <a:lstStyle/>
          <a:p>
            <a:fld id="{D00CCD25-DBD8-4BFA-A5B5-85318685B608}" type="slidenum">
              <a:rPr lang="ko-KR" altLang="en-US" smtClean="0"/>
              <a:t>105</a:t>
            </a:fld>
            <a:endParaRPr lang="ko-KR" altLang="en-US"/>
          </a:p>
        </p:txBody>
      </p:sp>
    </p:spTree>
    <p:extLst>
      <p:ext uri="{BB962C8B-B14F-4D97-AF65-F5344CB8AC3E}">
        <p14:creationId xmlns:p14="http://schemas.microsoft.com/office/powerpoint/2010/main" val="7351404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5</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번째 화면은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BMI, Lean Tissue Index, fat tissue index</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 나온다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LTI, FTI</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는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근육량</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지방량을</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각각 신장의 제곱으로 나눠준 값이다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그리고 ‘</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이 두 값이 표준 상태를 나타낸다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6</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번째 화면의 항목에는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Lean Tissue Mass, FAT, Adipose Tissue Mass, body cell mass</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가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지방을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adipose tissue</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로 나누는 기준은 수분이 약간 포함된 세포 개념의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adipose tissue</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와 수분이 거의 없는 순수 지방</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fat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7</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번째 화면을 보시면 지금까지 구한 데이터의 질을 자체 평가하고 마지막으로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8</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번째 화면에서는 처음에 기본적으로 입력했던 신상 정보를 보여준다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이렇게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장비에서 보여주는 화면은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8</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개가 전부이다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5"/>
          </p:nvPr>
        </p:nvSpPr>
        <p:spPr/>
        <p:txBody>
          <a:bodyPr/>
          <a:lstStyle/>
          <a:p>
            <a:fld id="{D00CCD25-DBD8-4BFA-A5B5-85318685B608}" type="slidenum">
              <a:rPr lang="ko-KR" altLang="en-US" smtClean="0"/>
              <a:t>106</a:t>
            </a:fld>
            <a:endParaRPr lang="ko-KR" altLang="en-US"/>
          </a:p>
        </p:txBody>
      </p:sp>
    </p:spTree>
    <p:extLst>
      <p:ext uri="{BB962C8B-B14F-4D97-AF65-F5344CB8AC3E}">
        <p14:creationId xmlns:p14="http://schemas.microsoft.com/office/powerpoint/2010/main" val="23882181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장비는 독일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제조하였고 다주파수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BIS</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사용하였으며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5~1000khz</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의 범위 내에서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50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개의 주파수를 사용한다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우반신의</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임피던스를 측정해서 임피던스가 장비에서는 제공이 안되고 프로그램으로는 제공이 되지만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Cole-Cole Plot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바탕으로 나타내 주는데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측정시간이 딱 정해져 있는 것이 아니고 사람마다 측정시간이 제 각각으로 나타났다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또 다른 불편한 점은 투석 직후에 측정이 불가능하며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30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분 후에 측정을 권장하고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 후 수분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리필링</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등의 이유 때문에 그러는 것 같은데 투석을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3~4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시간에 걸쳐 실시하는 만큼 투석 직후에도 수분상태가 안정되어 있다고 볼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그래서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인바디의</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경우는 투석 후 바로 측정하는 것을 권장한다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경험에 비추어 보았을 때도 투석 후 즉</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시간 동안 동일 자세를 유지한 후 바로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인바디</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측정을 했을 때 결과가 정확했다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그리고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장비에서는 결과지를 제공하지 따로 않고 고객카드에 저장된 데이터를 프로그램을 통해 확인하고 출력하다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앞서 언급한 바와 같이 측정시간이 정해져 있지 않아 환자마다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10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초에서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분까지 다양하며 측정 시 자세 변화가 생기게 되면 측정시간이 지연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5"/>
          </p:nvPr>
        </p:nvSpPr>
        <p:spPr/>
        <p:txBody>
          <a:bodyPr/>
          <a:lstStyle/>
          <a:p>
            <a:fld id="{D00CCD25-DBD8-4BFA-A5B5-85318685B608}" type="slidenum">
              <a:rPr lang="ko-KR" altLang="en-US" smtClean="0"/>
              <a:t>107</a:t>
            </a:fld>
            <a:endParaRPr lang="ko-KR" altLang="en-US"/>
          </a:p>
        </p:txBody>
      </p:sp>
    </p:spTree>
    <p:extLst>
      <p:ext uri="{BB962C8B-B14F-4D97-AF65-F5344CB8AC3E}">
        <p14:creationId xmlns:p14="http://schemas.microsoft.com/office/powerpoint/2010/main" val="30244804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장비는 독일</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FMC</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제조하였고 다주파수</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BIS</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사용하였으며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5~1000khz</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의 범위 내에서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50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개의 주파수를 사용한다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우반신의</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임피던스를 측정해서 임피던스가 장비에서는 제공이 안되고 프로그램으로는 제공이 되지만</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Cole-Cole Plot</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을 바탕으로 나타내 주는데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측정시간이 딱 정해져 있는 것이 아니고 사람마다 측정시간이 제 각각으로 나타났다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또 다른 불편한 점은 투석 직후에 측정이 불가능하며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30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분 후에 측정을 권장하고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 후 수분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리필링</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등의 이유 때문에 그러는 것 같은데 투석을</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3~4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시간에 걸쳐 실시하는 만큼 투석 직후에도 수분상태가 안정되어 있다고 볼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그래서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인바디의</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경우는 투석 후 바로 측정하는 것을 권장한다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경험에 비추어 보았을 때도 투석 후 즉</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시간 동안 동일 자세를 유지한 후 바로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인바디</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측정을 했을 때 결과가 정확했다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그리고</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장비에서는 결과지를 제공하지 따로 않고 고객카드에 저장된 데이터를 프로그램을 통해 확인하고 출력하다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앞서 언급한 바와 같이 측정시간이 정해져 있지 않아 환자마다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10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초에서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분까지 다양하며 측정 시 자세 변화가 생기게 되면 측정시간이 지연 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5"/>
          </p:nvPr>
        </p:nvSpPr>
        <p:spPr/>
        <p:txBody>
          <a:bodyPr/>
          <a:lstStyle/>
          <a:p>
            <a:fld id="{D00CCD25-DBD8-4BFA-A5B5-85318685B608}" type="slidenum">
              <a:rPr lang="ko-KR" altLang="en-US" smtClean="0"/>
              <a:t>108</a:t>
            </a:fld>
            <a:endParaRPr lang="ko-KR" altLang="en-US"/>
          </a:p>
        </p:txBody>
      </p:sp>
    </p:spTree>
    <p:extLst>
      <p:ext uri="{BB962C8B-B14F-4D97-AF65-F5344CB8AC3E}">
        <p14:creationId xmlns:p14="http://schemas.microsoft.com/office/powerpoint/2010/main" val="23489694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첫 번째는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에서는 두 다리를 따로 측정하지 않는다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투석 환자들은 앞서 보신 것과 같이 오른 다리</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왼 다리의 수분 상태가 각각 다를 수 있는데 이는 투석을 주로 왼팔을 통해 실시하기 때문에 왼팔에서 제일 먼 오른 다리의 부종이 가장 심하게 나타날 수 있으며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그래서 하체 불균형이 자주 발생한다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우반신</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측정 후 공식을 통해 단순히</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X2</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를 해서 계산하므로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일반인에서는 잘 맞을 수 있지만 투석환자들은 정확하게 측정할 수 없다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정확도 면에서 설명한 것이다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두 번째는</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a:t>
            </a:r>
            <a:r>
              <a:rPr lang="ko-KR" altLang="ko-KR" sz="1800" kern="100" dirty="0" err="1">
                <a:effectLst/>
                <a:latin typeface="맑은 고딕" panose="020B0503020000020004" pitchFamily="50" charset="-127"/>
                <a:ea typeface="맑은 고딕" panose="020B0503020000020004" pitchFamily="50" charset="-127"/>
                <a:cs typeface="Times New Roman" panose="02020603050405020304" pitchFamily="18" charset="0"/>
              </a:rPr>
              <a:t>집게식</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전극을 사용하여 붙이는 위치에 따라 결과값이 달라질 수 있고 소모품 전극을 사용하기 때문에 전극비용이 발생한다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의료기기에 있어서 가장 중요한 점이 재현도 인데</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BCM</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은 재현도가 낮고 소모품이 발생하므로 비경제적이라 할 수 있다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latinLnBrk="1">
              <a:spcAft>
                <a:spcPts val="800"/>
              </a:spcAft>
            </a:pP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마지막 세 번째는 편의성 면에서</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신상정보 입력을 위해</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4</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개의 버튼으로 입력할 때 상당한 시간이 소요된다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예를 들면 이전 사용자가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20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대이고 다음 사용자가</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70</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대라고 하면 연령설정을 하는데도 많은 시간이 소요가 되고 체중</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신장</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혈압에 대해서도 같은 방법으로 입력해야 하기 때문에 불편하다</a:t>
            </a:r>
            <a:r>
              <a:rPr lang="en-US"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5"/>
          </p:nvPr>
        </p:nvSpPr>
        <p:spPr/>
        <p:txBody>
          <a:bodyPr/>
          <a:lstStyle/>
          <a:p>
            <a:fld id="{D00CCD25-DBD8-4BFA-A5B5-85318685B608}" type="slidenum">
              <a:rPr lang="ko-KR" altLang="en-US" smtClean="0"/>
              <a:t>112</a:t>
            </a:fld>
            <a:endParaRPr lang="ko-KR" altLang="en-US"/>
          </a:p>
        </p:txBody>
      </p:sp>
    </p:spTree>
    <p:extLst>
      <p:ext uri="{BB962C8B-B14F-4D97-AF65-F5344CB8AC3E}">
        <p14:creationId xmlns:p14="http://schemas.microsoft.com/office/powerpoint/2010/main" val="23567984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126427225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7" name="바닥글 개체 틀 6"/>
          <p:cNvSpPr>
            <a:spLocks noGrp="1"/>
          </p:cNvSpPr>
          <p:nvPr>
            <p:ph type="ftr" sz="quarter" idx="10"/>
          </p:nvPr>
        </p:nvSpPr>
        <p:spPr/>
        <p:txBody>
          <a:bodyPr/>
          <a:lstStyle/>
          <a:p>
            <a:endParaRPr kumimoji="1" lang="x-none" altLang="en-US"/>
          </a:p>
        </p:txBody>
      </p:sp>
    </p:spTree>
    <p:extLst>
      <p:ext uri="{BB962C8B-B14F-4D97-AF65-F5344CB8AC3E}">
        <p14:creationId xmlns:p14="http://schemas.microsoft.com/office/powerpoint/2010/main" val="42589315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51" name="텍스트 개체 틀 50">
            <a:extLst>
              <a:ext uri="{FF2B5EF4-FFF2-40B4-BE49-F238E27FC236}">
                <a16:creationId xmlns:a16="http://schemas.microsoft.com/office/drawing/2014/main" id="{7AF93DE4-F3CB-EDDF-C6FE-59015AC0C57D}"/>
              </a:ext>
            </a:extLst>
          </p:cNvPr>
          <p:cNvSpPr>
            <a:spLocks noGrp="1"/>
          </p:cNvSpPr>
          <p:nvPr>
            <p:ph type="body" sz="quarter" idx="12" hasCustomPrompt="1"/>
          </p:nvPr>
        </p:nvSpPr>
        <p:spPr>
          <a:xfrm>
            <a:off x="976342" y="5680556"/>
            <a:ext cx="1115230" cy="323165"/>
          </a:xfrm>
          <a:prstGeom prst="rect">
            <a:avLst/>
          </a:prstGeom>
        </p:spPr>
        <p:txBody>
          <a:bodyPr vert="horz" wrap="square" lIns="91440" tIns="45720" rIns="91440" bIns="45720" rtlCol="0" anchor="ctr" anchorCtr="0">
            <a:spAutoFit/>
          </a:bodyPr>
          <a:lstStyle>
            <a:lvl1pPr marL="0" indent="0">
              <a:buNone/>
              <a:defRPr kumimoji="1" lang="ko-KR" altLang="en-US" sz="1500" dirty="0">
                <a:ln>
                  <a:solidFill>
                    <a:schemeClr val="tx1">
                      <a:lumMod val="65000"/>
                      <a:lumOff val="35000"/>
                      <a:alpha val="0"/>
                    </a:schemeClr>
                  </a:solidFill>
                </a:ln>
                <a:solidFill>
                  <a:srgbClr val="3C3C3A"/>
                </a:solidFill>
                <a:latin typeface="에스코어 드림 4 Regular" panose="020B0503030302020204" pitchFamily="34" charset="-127"/>
                <a:ea typeface="에스코어 드림 4 Regular" panose="020B0503030302020204" pitchFamily="34" charset="-127"/>
              </a:defRPr>
            </a:lvl1pPr>
          </a:lstStyle>
          <a:p>
            <a:pPr marL="228600" lvl="0" indent="-228600">
              <a:lnSpc>
                <a:spcPct val="100000"/>
              </a:lnSpc>
            </a:pPr>
            <a:r>
              <a:rPr lang="ko-KR" altLang="en-US" dirty="0" err="1"/>
              <a:t>성이름</a:t>
            </a:r>
            <a:endParaRPr lang="ko-KR" altLang="en-US" dirty="0"/>
          </a:p>
        </p:txBody>
      </p:sp>
      <p:sp>
        <p:nvSpPr>
          <p:cNvPr id="56" name="텍스트 개체 틀 50">
            <a:extLst>
              <a:ext uri="{FF2B5EF4-FFF2-40B4-BE49-F238E27FC236}">
                <a16:creationId xmlns:a16="http://schemas.microsoft.com/office/drawing/2014/main" id="{820DB4C8-02C4-67B6-AAE6-182417362F41}"/>
              </a:ext>
            </a:extLst>
          </p:cNvPr>
          <p:cNvSpPr>
            <a:spLocks noGrp="1"/>
          </p:cNvSpPr>
          <p:nvPr>
            <p:ph type="body" sz="quarter" idx="14" hasCustomPrompt="1"/>
          </p:nvPr>
        </p:nvSpPr>
        <p:spPr>
          <a:xfrm>
            <a:off x="976342" y="6027985"/>
            <a:ext cx="1729178" cy="279151"/>
          </a:xfrm>
          <a:prstGeom prst="rect">
            <a:avLst/>
          </a:prstGeom>
          <a:ln>
            <a:noFill/>
          </a:ln>
        </p:spPr>
        <p:txBody>
          <a:bodyPr tIns="0" bIns="0" anchor="ctr" anchorCtr="0">
            <a:noAutofit/>
          </a:bodyPr>
          <a:lstStyle>
            <a:lvl1pPr marL="0" indent="0">
              <a:buNone/>
              <a:defRPr lang="ko-KR" altLang="en-US" sz="1100" b="0" dirty="0">
                <a:ln>
                  <a:solidFill>
                    <a:schemeClr val="tx1">
                      <a:lumMod val="65000"/>
                      <a:lumOff val="35000"/>
                      <a:alpha val="0"/>
                    </a:schemeClr>
                  </a:solidFill>
                </a:ln>
                <a:solidFill>
                  <a:srgbClr val="656E7D"/>
                </a:solidFill>
                <a:latin typeface="에스코어 드림 6 Bold" panose="020B0703030302020204" pitchFamily="34" charset="-127"/>
                <a:ea typeface="에스코어 드림 6 Bold" panose="020B0703030302020204" pitchFamily="34" charset="-127"/>
              </a:defRPr>
            </a:lvl1pPr>
          </a:lstStyle>
          <a:p>
            <a:pPr marL="228600" lvl="0" indent="-228600"/>
            <a:r>
              <a:rPr lang="en-US" altLang="ko-KR" dirty="0"/>
              <a:t>OO</a:t>
            </a:r>
            <a:r>
              <a:rPr lang="ko-KR" altLang="en-US" dirty="0"/>
              <a:t>파트</a:t>
            </a:r>
            <a:r>
              <a:rPr lang="en-US" altLang="ko-KR" dirty="0"/>
              <a:t>, OO</a:t>
            </a:r>
            <a:r>
              <a:rPr lang="ko-KR" altLang="en-US" dirty="0"/>
              <a:t>팀</a:t>
            </a:r>
          </a:p>
        </p:txBody>
      </p:sp>
      <p:sp>
        <p:nvSpPr>
          <p:cNvPr id="146" name="텍스트 개체 틀 50">
            <a:extLst>
              <a:ext uri="{FF2B5EF4-FFF2-40B4-BE49-F238E27FC236}">
                <a16:creationId xmlns:a16="http://schemas.microsoft.com/office/drawing/2014/main" id="{BECD2002-9673-413C-9056-0181B74AF339}"/>
              </a:ext>
            </a:extLst>
          </p:cNvPr>
          <p:cNvSpPr>
            <a:spLocks noGrp="1"/>
          </p:cNvSpPr>
          <p:nvPr>
            <p:ph type="body" sz="quarter" idx="16" hasCustomPrompt="1"/>
          </p:nvPr>
        </p:nvSpPr>
        <p:spPr>
          <a:xfrm>
            <a:off x="986228" y="3487106"/>
            <a:ext cx="2919022" cy="386395"/>
          </a:xfrm>
          <a:prstGeom prst="roundRect">
            <a:avLst>
              <a:gd name="adj" fmla="val 50000"/>
            </a:avLst>
          </a:prstGeom>
          <a:ln w="15875">
            <a:solidFill>
              <a:srgbClr val="3C3C3A"/>
            </a:solidFill>
          </a:ln>
        </p:spPr>
        <p:txBody>
          <a:bodyPr vert="horz" lIns="0" tIns="18000" rIns="0" bIns="0" rtlCol="0" anchor="ctr" anchorCtr="0">
            <a:noAutofit/>
          </a:bodyPr>
          <a:lstStyle>
            <a:lvl1pPr marL="0" indent="0" algn="ctr">
              <a:buNone/>
              <a:defRPr kumimoji="1" lang="ko-KR" altLang="en-US" sz="1600" b="0" dirty="0">
                <a:ln>
                  <a:solidFill>
                    <a:schemeClr val="tx1">
                      <a:lumMod val="65000"/>
                      <a:lumOff val="35000"/>
                      <a:alpha val="0"/>
                    </a:schemeClr>
                  </a:solidFill>
                </a:ln>
                <a:solidFill>
                  <a:srgbClr val="3C3C3A"/>
                </a:solidFill>
                <a:latin typeface="에스코어 드림 5 Medium" panose="020B0503030302020204" pitchFamily="34" charset="-127"/>
                <a:ea typeface="에스코어 드림 5 Medium" panose="020B0503030302020204" pitchFamily="34" charset="-127"/>
              </a:defRPr>
            </a:lvl1pPr>
          </a:lstStyle>
          <a:p>
            <a:pPr marL="228600" lvl="0" indent="-228600" algn="ctr"/>
            <a:r>
              <a:rPr lang="ko-KR" altLang="en-US" dirty="0"/>
              <a:t>소제목을 입력하는 곳입니다</a:t>
            </a:r>
          </a:p>
        </p:txBody>
      </p:sp>
      <p:pic>
        <p:nvPicPr>
          <p:cNvPr id="177" name="그림 176">
            <a:extLst>
              <a:ext uri="{FF2B5EF4-FFF2-40B4-BE49-F238E27FC236}">
                <a16:creationId xmlns:a16="http://schemas.microsoft.com/office/drawing/2014/main" id="{A29D7E20-F787-F94F-C978-80BB7BAA6C32}"/>
              </a:ext>
            </a:extLst>
          </p:cNvPr>
          <p:cNvPicPr>
            <a:picLocks noChangeAspect="1"/>
          </p:cNvPicPr>
          <p:nvPr userDrawn="1"/>
        </p:nvPicPr>
        <p:blipFill rotWithShape="1">
          <a:blip r:embed="rId2"/>
          <a:srcRect l="66797" t="65417"/>
          <a:stretch/>
        </p:blipFill>
        <p:spPr>
          <a:xfrm>
            <a:off x="8143874" y="4486274"/>
            <a:ext cx="4048125" cy="2371725"/>
          </a:xfrm>
          <a:prstGeom prst="rect">
            <a:avLst/>
          </a:prstGeom>
        </p:spPr>
      </p:pic>
      <p:sp>
        <p:nvSpPr>
          <p:cNvPr id="4" name="텍스트 개체 틀 2">
            <a:extLst>
              <a:ext uri="{FF2B5EF4-FFF2-40B4-BE49-F238E27FC236}">
                <a16:creationId xmlns:a16="http://schemas.microsoft.com/office/drawing/2014/main" id="{2D608F42-D381-C26A-6D36-0ACF15577A0C}"/>
              </a:ext>
            </a:extLst>
          </p:cNvPr>
          <p:cNvSpPr>
            <a:spLocks noGrp="1"/>
          </p:cNvSpPr>
          <p:nvPr>
            <p:ph type="body" sz="quarter" idx="17" hasCustomPrompt="1"/>
          </p:nvPr>
        </p:nvSpPr>
        <p:spPr>
          <a:xfrm>
            <a:off x="928717" y="2680178"/>
            <a:ext cx="5272088" cy="605947"/>
          </a:xfrm>
          <a:prstGeom prst="rect">
            <a:avLst/>
          </a:prstGeom>
        </p:spPr>
        <p:txBody>
          <a:bodyPr/>
          <a:lstStyle>
            <a:lvl1pPr marL="0" indent="0">
              <a:buNone/>
              <a:defRPr sz="4200">
                <a:solidFill>
                  <a:schemeClr val="tx1"/>
                </a:solidFill>
                <a:latin typeface="에스코어 드림 6 Bold" panose="020B0703030302020204" pitchFamily="34" charset="-127"/>
                <a:ea typeface="에스코어 드림 6 Bold" panose="020B0703030302020204" pitchFamily="34" charset="-127"/>
              </a:defRPr>
            </a:lvl1pPr>
          </a:lstStyle>
          <a:p>
            <a:pPr lvl="0"/>
            <a:r>
              <a:rPr lang="ko-KR" altLang="en-US" dirty="0" err="1"/>
              <a:t>대제목</a:t>
            </a:r>
            <a:r>
              <a:rPr lang="ko-KR" altLang="en-US" dirty="0"/>
              <a:t> 입력</a:t>
            </a:r>
          </a:p>
        </p:txBody>
      </p:sp>
      <p:pic>
        <p:nvPicPr>
          <p:cNvPr id="8" name="그림 7">
            <a:extLst>
              <a:ext uri="{FF2B5EF4-FFF2-40B4-BE49-F238E27FC236}">
                <a16:creationId xmlns:a16="http://schemas.microsoft.com/office/drawing/2014/main" id="{E602A3CA-D654-2D4C-87EB-E39A8398037B}"/>
              </a:ext>
            </a:extLst>
          </p:cNvPr>
          <p:cNvPicPr>
            <a:picLocks noChangeAspect="1"/>
          </p:cNvPicPr>
          <p:nvPr userDrawn="1"/>
        </p:nvPicPr>
        <p:blipFill>
          <a:blip r:embed="rId3"/>
          <a:stretch>
            <a:fillRect/>
          </a:stretch>
        </p:blipFill>
        <p:spPr>
          <a:xfrm>
            <a:off x="10858500" y="534881"/>
            <a:ext cx="761924" cy="255750"/>
          </a:xfrm>
          <a:prstGeom prst="rect">
            <a:avLst/>
          </a:prstGeom>
        </p:spPr>
      </p:pic>
    </p:spTree>
    <p:extLst>
      <p:ext uri="{BB962C8B-B14F-4D97-AF65-F5344CB8AC3E}">
        <p14:creationId xmlns:p14="http://schemas.microsoft.com/office/powerpoint/2010/main" val="181328111"/>
      </p:ext>
    </p:extLst>
  </p:cSld>
  <p:clrMapOvr>
    <a:masterClrMapping/>
  </p:clrMapOvr>
  <p:extLst>
    <p:ext uri="{DCECCB84-F9BA-43D5-87BE-67443E8EF086}">
      <p15:sldGuideLst xmlns:p15="http://schemas.microsoft.com/office/powerpoint/2012/main">
        <p15:guide id="1" orient="horz" pos="40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목차3">
    <p:bg>
      <p:bgPr>
        <a:solidFill>
          <a:schemeClr val="bg1"/>
        </a:solidFill>
        <a:effectLst/>
      </p:bgPr>
    </p:bg>
    <p:spTree>
      <p:nvGrpSpPr>
        <p:cNvPr id="1" name=""/>
        <p:cNvGrpSpPr/>
        <p:nvPr/>
      </p:nvGrpSpPr>
      <p:grpSpPr>
        <a:xfrm>
          <a:off x="0" y="0"/>
          <a:ext cx="0" cy="0"/>
          <a:chOff x="0" y="0"/>
          <a:chExt cx="0" cy="0"/>
        </a:xfrm>
      </p:grpSpPr>
      <p:sp>
        <p:nvSpPr>
          <p:cNvPr id="145" name="직사각형 144">
            <a:extLst>
              <a:ext uri="{FF2B5EF4-FFF2-40B4-BE49-F238E27FC236}">
                <a16:creationId xmlns:a16="http://schemas.microsoft.com/office/drawing/2014/main" id="{B5353E19-9A77-2F46-BA99-308B7F95FC38}"/>
              </a:ext>
            </a:extLst>
          </p:cNvPr>
          <p:cNvSpPr/>
          <p:nvPr userDrawn="1"/>
        </p:nvSpPr>
        <p:spPr>
          <a:xfrm>
            <a:off x="0" y="0"/>
            <a:ext cx="12192000" cy="6858000"/>
          </a:xfrm>
          <a:prstGeom prst="rect">
            <a:avLst/>
          </a:prstGeom>
          <a:solidFill>
            <a:srgbClr val="F7F7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에스코어 드림 4 Regular" panose="020B0503030302020204" pitchFamily="34" charset="-127"/>
              <a:ea typeface="에스코어 드림 4 Regular" panose="020B0503030302020204" pitchFamily="34" charset="-127"/>
            </a:endParaRPr>
          </a:p>
        </p:txBody>
      </p:sp>
      <p:pic>
        <p:nvPicPr>
          <p:cNvPr id="35" name="그림 34">
            <a:extLst>
              <a:ext uri="{FF2B5EF4-FFF2-40B4-BE49-F238E27FC236}">
                <a16:creationId xmlns:a16="http://schemas.microsoft.com/office/drawing/2014/main" id="{53050236-6634-CCFF-D9CB-37F1CE38FB1B}"/>
              </a:ext>
            </a:extLst>
          </p:cNvPr>
          <p:cNvPicPr>
            <a:picLocks noChangeAspect="1"/>
          </p:cNvPicPr>
          <p:nvPr userDrawn="1"/>
        </p:nvPicPr>
        <p:blipFill>
          <a:blip r:embed="rId2"/>
          <a:stretch>
            <a:fillRect/>
          </a:stretch>
        </p:blipFill>
        <p:spPr>
          <a:xfrm>
            <a:off x="10858500" y="534881"/>
            <a:ext cx="761924" cy="255750"/>
          </a:xfrm>
          <a:prstGeom prst="rect">
            <a:avLst/>
          </a:prstGeom>
        </p:spPr>
      </p:pic>
      <p:pic>
        <p:nvPicPr>
          <p:cNvPr id="2" name="그림 1">
            <a:extLst>
              <a:ext uri="{FF2B5EF4-FFF2-40B4-BE49-F238E27FC236}">
                <a16:creationId xmlns:a16="http://schemas.microsoft.com/office/drawing/2014/main" id="{00DFB621-7E53-EAA0-2C8D-4536281E55E4}"/>
              </a:ext>
            </a:extLst>
          </p:cNvPr>
          <p:cNvPicPr>
            <a:picLocks noChangeAspect="1"/>
          </p:cNvPicPr>
          <p:nvPr userDrawn="1"/>
        </p:nvPicPr>
        <p:blipFill rotWithShape="1">
          <a:blip r:embed="rId3"/>
          <a:srcRect l="66797" t="65417"/>
          <a:stretch/>
        </p:blipFill>
        <p:spPr>
          <a:xfrm>
            <a:off x="8143874" y="4486274"/>
            <a:ext cx="4048125" cy="2371725"/>
          </a:xfrm>
          <a:prstGeom prst="rect">
            <a:avLst/>
          </a:prstGeom>
        </p:spPr>
      </p:pic>
      <p:grpSp>
        <p:nvGrpSpPr>
          <p:cNvPr id="8" name="그룹 7">
            <a:extLst>
              <a:ext uri="{FF2B5EF4-FFF2-40B4-BE49-F238E27FC236}">
                <a16:creationId xmlns:a16="http://schemas.microsoft.com/office/drawing/2014/main" id="{67E9C3D6-50B9-C8A6-FD14-3D4F01A3BEE4}"/>
              </a:ext>
            </a:extLst>
          </p:cNvPr>
          <p:cNvGrpSpPr/>
          <p:nvPr userDrawn="1"/>
        </p:nvGrpSpPr>
        <p:grpSpPr>
          <a:xfrm>
            <a:off x="1068748" y="577011"/>
            <a:ext cx="2556705" cy="486079"/>
            <a:chOff x="580333" y="528971"/>
            <a:chExt cx="2556705" cy="486079"/>
          </a:xfrm>
        </p:grpSpPr>
        <p:cxnSp>
          <p:nvCxnSpPr>
            <p:cNvPr id="9" name="직선 연결선 8">
              <a:extLst>
                <a:ext uri="{FF2B5EF4-FFF2-40B4-BE49-F238E27FC236}">
                  <a16:creationId xmlns:a16="http://schemas.microsoft.com/office/drawing/2014/main" id="{448AB41A-3A8D-3305-CDC9-D71315ECCC3B}"/>
                </a:ext>
              </a:extLst>
            </p:cNvPr>
            <p:cNvCxnSpPr>
              <a:cxnSpLocks/>
            </p:cNvCxnSpPr>
            <p:nvPr userDrawn="1"/>
          </p:nvCxnSpPr>
          <p:spPr>
            <a:xfrm>
              <a:off x="580333" y="528971"/>
              <a:ext cx="0" cy="486079"/>
            </a:xfrm>
            <a:prstGeom prst="line">
              <a:avLst/>
            </a:prstGeom>
            <a:ln w="22225">
              <a:solidFill>
                <a:srgbClr val="ADB3B9"/>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BE4AC9D-8A35-41E0-2D52-7B074BC7E02E}"/>
                </a:ext>
              </a:extLst>
            </p:cNvPr>
            <p:cNvGrpSpPr/>
            <p:nvPr userDrawn="1"/>
          </p:nvGrpSpPr>
          <p:grpSpPr>
            <a:xfrm>
              <a:off x="778179" y="552111"/>
              <a:ext cx="2358859" cy="460313"/>
              <a:chOff x="778179" y="552111"/>
              <a:chExt cx="2358859" cy="460313"/>
            </a:xfrm>
          </p:grpSpPr>
          <p:sp>
            <p:nvSpPr>
              <p:cNvPr id="13" name="텍스트 개체 틀 50">
                <a:extLst>
                  <a:ext uri="{FF2B5EF4-FFF2-40B4-BE49-F238E27FC236}">
                    <a16:creationId xmlns:a16="http://schemas.microsoft.com/office/drawing/2014/main" id="{E6BC6373-0B96-C375-65C3-AA37D5EDEC59}"/>
                  </a:ext>
                </a:extLst>
              </p:cNvPr>
              <p:cNvSpPr txBox="1">
                <a:spLocks/>
              </p:cNvSpPr>
              <p:nvPr userDrawn="1"/>
            </p:nvSpPr>
            <p:spPr>
              <a:xfrm>
                <a:off x="778179" y="552111"/>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1800" dirty="0">
                    <a:ea typeface="에스코어 드림 4 Regular" panose="020B0503030302020204" pitchFamily="34" charset="-127"/>
                  </a:rPr>
                  <a:t>CONTENTS</a:t>
                </a:r>
                <a:endParaRPr lang="en-US" sz="1800" dirty="0">
                  <a:ea typeface="에스코어 드림 4 Regular" panose="020B0503030302020204" pitchFamily="34" charset="-127"/>
                </a:endParaRPr>
              </a:p>
            </p:txBody>
          </p:sp>
          <p:sp>
            <p:nvSpPr>
              <p:cNvPr id="15" name="텍스트 개체 틀 50">
                <a:extLst>
                  <a:ext uri="{FF2B5EF4-FFF2-40B4-BE49-F238E27FC236}">
                    <a16:creationId xmlns:a16="http://schemas.microsoft.com/office/drawing/2014/main" id="{9A796C0F-2BE7-9B8E-EA76-6CB06F80E49E}"/>
                  </a:ext>
                </a:extLst>
              </p:cNvPr>
              <p:cNvSpPr txBox="1">
                <a:spLocks/>
              </p:cNvSpPr>
              <p:nvPr userDrawn="1"/>
            </p:nvSpPr>
            <p:spPr>
              <a:xfrm>
                <a:off x="789637" y="846225"/>
                <a:ext cx="1850859" cy="1661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1400" b="0" kern="1200" dirty="0" smtClean="0">
                    <a:ln>
                      <a:solidFill>
                        <a:schemeClr val="tx1">
                          <a:lumMod val="65000"/>
                          <a:lumOff val="35000"/>
                          <a:alpha val="0"/>
                        </a:schemeClr>
                      </a:solidFill>
                    </a:ln>
                    <a:solidFill>
                      <a:srgbClr val="9E0B28"/>
                    </a:solidFill>
                    <a:latin typeface="Noto Sans KR" panose="020B0500000000000000" pitchFamily="34" charset="-127"/>
                    <a:ea typeface="Noto Sans KR" panose="020B0500000000000000" pitchFamily="34" charset="-127"/>
                    <a:cs typeface="+mn-cs"/>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ko-KR" altLang="en-US" sz="1200" b="1" dirty="0">
                    <a:solidFill>
                      <a:srgbClr val="ADB3B9"/>
                    </a:solidFill>
                    <a:latin typeface="에스코어 드림 4 Regular" panose="020B0503030302020204" pitchFamily="34" charset="-127"/>
                    <a:ea typeface="에스코어 드림 4 Regular" panose="020B0503030302020204" pitchFamily="34" charset="-127"/>
                  </a:rPr>
                  <a:t>목차</a:t>
                </a:r>
              </a:p>
            </p:txBody>
          </p:sp>
        </p:grpSp>
      </p:grpSp>
      <p:pic>
        <p:nvPicPr>
          <p:cNvPr id="17" name="그림 16">
            <a:extLst>
              <a:ext uri="{FF2B5EF4-FFF2-40B4-BE49-F238E27FC236}">
                <a16:creationId xmlns:a16="http://schemas.microsoft.com/office/drawing/2014/main" id="{8AF8B2EB-B16A-D188-F3CB-7EBE75424C60}"/>
              </a:ext>
            </a:extLst>
          </p:cNvPr>
          <p:cNvPicPr>
            <a:picLocks noChangeAspect="1"/>
          </p:cNvPicPr>
          <p:nvPr userDrawn="1"/>
        </p:nvPicPr>
        <p:blipFill rotWithShape="1">
          <a:blip r:embed="rId4"/>
          <a:srcRect l="76774" b="71415"/>
          <a:stretch/>
        </p:blipFill>
        <p:spPr>
          <a:xfrm flipH="1">
            <a:off x="-1" y="0"/>
            <a:ext cx="1595955" cy="1104899"/>
          </a:xfrm>
          <a:prstGeom prst="rect">
            <a:avLst/>
          </a:prstGeom>
        </p:spPr>
      </p:pic>
      <p:cxnSp>
        <p:nvCxnSpPr>
          <p:cNvPr id="98" name="직선 연결선 97">
            <a:extLst>
              <a:ext uri="{FF2B5EF4-FFF2-40B4-BE49-F238E27FC236}">
                <a16:creationId xmlns:a16="http://schemas.microsoft.com/office/drawing/2014/main" id="{FA00113D-8854-FA14-96F7-C44C09C26844}"/>
              </a:ext>
            </a:extLst>
          </p:cNvPr>
          <p:cNvCxnSpPr>
            <a:cxnSpLocks/>
          </p:cNvCxnSpPr>
          <p:nvPr/>
        </p:nvCxnSpPr>
        <p:spPr>
          <a:xfrm>
            <a:off x="5786715" y="1895474"/>
            <a:ext cx="0" cy="4962524"/>
          </a:xfrm>
          <a:prstGeom prst="line">
            <a:avLst/>
          </a:prstGeom>
          <a:ln>
            <a:solidFill>
              <a:srgbClr val="DDE0E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741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제목 슬라이드">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D5125F54-6783-D642-BC62-8D24664B3E1B}"/>
              </a:ext>
            </a:extLst>
          </p:cNvPr>
          <p:cNvSpPr/>
          <p:nvPr userDrawn="1"/>
        </p:nvSpPr>
        <p:spPr>
          <a:xfrm>
            <a:off x="-1" y="0"/>
            <a:ext cx="12192000" cy="6858000"/>
          </a:xfrm>
          <a:prstGeom prst="rect">
            <a:avLst/>
          </a:prstGeom>
          <a:solidFill>
            <a:srgbClr val="F7F7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에스코어 드림 4 Regular" panose="020B0503030302020204" pitchFamily="34" charset="-127"/>
              <a:ea typeface="에스코어 드림 4 Regular" panose="020B0503030302020204" pitchFamily="34" charset="-127"/>
            </a:endParaRPr>
          </a:p>
        </p:txBody>
      </p:sp>
      <p:pic>
        <p:nvPicPr>
          <p:cNvPr id="4" name="그림 3">
            <a:extLst>
              <a:ext uri="{FF2B5EF4-FFF2-40B4-BE49-F238E27FC236}">
                <a16:creationId xmlns:a16="http://schemas.microsoft.com/office/drawing/2014/main" id="{6172065E-BC44-B14F-93F4-4C5792C6BDA8}"/>
              </a:ext>
            </a:extLst>
          </p:cNvPr>
          <p:cNvPicPr>
            <a:picLocks noChangeAspect="1"/>
          </p:cNvPicPr>
          <p:nvPr userDrawn="1"/>
        </p:nvPicPr>
        <p:blipFill rotWithShape="1">
          <a:blip r:embed="rId2"/>
          <a:srcRect l="76774" b="71415"/>
          <a:stretch/>
        </p:blipFill>
        <p:spPr>
          <a:xfrm flipH="1">
            <a:off x="-1" y="0"/>
            <a:ext cx="1595955" cy="1104899"/>
          </a:xfrm>
          <a:prstGeom prst="rect">
            <a:avLst/>
          </a:prstGeom>
        </p:spPr>
      </p:pic>
      <p:pic>
        <p:nvPicPr>
          <p:cNvPr id="5" name="그림 4">
            <a:extLst>
              <a:ext uri="{FF2B5EF4-FFF2-40B4-BE49-F238E27FC236}">
                <a16:creationId xmlns:a16="http://schemas.microsoft.com/office/drawing/2014/main" id="{61E3C8D8-1C3B-2348-BBBE-2A7BA667F1C9}"/>
              </a:ext>
            </a:extLst>
          </p:cNvPr>
          <p:cNvPicPr>
            <a:picLocks noChangeAspect="1"/>
          </p:cNvPicPr>
          <p:nvPr userDrawn="1"/>
        </p:nvPicPr>
        <p:blipFill rotWithShape="1">
          <a:blip r:embed="rId3"/>
          <a:srcRect l="66797" t="65417"/>
          <a:stretch/>
        </p:blipFill>
        <p:spPr>
          <a:xfrm>
            <a:off x="9374359" y="5207193"/>
            <a:ext cx="2817639" cy="1650805"/>
          </a:xfrm>
          <a:prstGeom prst="rect">
            <a:avLst/>
          </a:prstGeom>
        </p:spPr>
      </p:pic>
    </p:spTree>
    <p:extLst>
      <p:ext uri="{BB962C8B-B14F-4D97-AF65-F5344CB8AC3E}">
        <p14:creationId xmlns:p14="http://schemas.microsoft.com/office/powerpoint/2010/main" val="264849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하단 대제목 수정">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0764E376-B9E3-E14A-BEEB-3D128A87DD6D}"/>
              </a:ext>
            </a:extLst>
          </p:cNvPr>
          <p:cNvSpPr/>
          <p:nvPr userDrawn="1"/>
        </p:nvSpPr>
        <p:spPr>
          <a:xfrm flipH="1">
            <a:off x="-2" y="-4"/>
            <a:ext cx="12192002" cy="54000"/>
          </a:xfrm>
          <a:prstGeom prst="rect">
            <a:avLst/>
          </a:prstGeom>
          <a:solidFill>
            <a:srgbClr val="656E7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ln>
                <a:solidFill>
                  <a:schemeClr val="tx1">
                    <a:lumMod val="65000"/>
                    <a:lumOff val="35000"/>
                    <a:alpha val="0"/>
                  </a:schemeClr>
                </a:solidFill>
              </a:ln>
            </a:endParaRPr>
          </a:p>
        </p:txBody>
      </p:sp>
      <p:pic>
        <p:nvPicPr>
          <p:cNvPr id="7" name="그림 6">
            <a:extLst>
              <a:ext uri="{FF2B5EF4-FFF2-40B4-BE49-F238E27FC236}">
                <a16:creationId xmlns:a16="http://schemas.microsoft.com/office/drawing/2014/main" id="{05C5F8EB-8389-3544-A205-74CB1A11A66E}"/>
              </a:ext>
            </a:extLst>
          </p:cNvPr>
          <p:cNvPicPr>
            <a:picLocks noChangeAspect="1"/>
          </p:cNvPicPr>
          <p:nvPr userDrawn="1"/>
        </p:nvPicPr>
        <p:blipFill>
          <a:blip r:embed="rId2">
            <a:alphaModFix amt="30000"/>
          </a:blip>
          <a:stretch>
            <a:fillRect/>
          </a:stretch>
        </p:blipFill>
        <p:spPr>
          <a:xfrm>
            <a:off x="234315" y="6371029"/>
            <a:ext cx="773724" cy="279659"/>
          </a:xfrm>
          <a:prstGeom prst="rect">
            <a:avLst/>
          </a:prstGeom>
        </p:spPr>
      </p:pic>
    </p:spTree>
    <p:extLst>
      <p:ext uri="{BB962C8B-B14F-4D97-AF65-F5344CB8AC3E}">
        <p14:creationId xmlns:p14="http://schemas.microsoft.com/office/powerpoint/2010/main" val="1085533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C1E6BCD0-4903-49D9-A9FE-930EBD7AFF28}" type="datetimeFigureOut">
              <a:rPr lang="ko-KR" altLang="en-US" smtClean="0"/>
              <a:t>2026-01-07</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517738D1-C376-41BE-8F95-DD6BB7A72373}" type="slidenum">
              <a:rPr lang="ko-KR" altLang="en-US" smtClean="0"/>
              <a:t>‹#›</a:t>
            </a:fld>
            <a:endParaRPr lang="ko-KR" altLang="en-US"/>
          </a:p>
        </p:txBody>
      </p:sp>
    </p:spTree>
    <p:extLst>
      <p:ext uri="{BB962C8B-B14F-4D97-AF65-F5344CB8AC3E}">
        <p14:creationId xmlns:p14="http://schemas.microsoft.com/office/powerpoint/2010/main" val="1990969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하단 대제목 수정">
    <p:spTree>
      <p:nvGrpSpPr>
        <p:cNvPr id="1" name=""/>
        <p:cNvGrpSpPr/>
        <p:nvPr/>
      </p:nvGrpSpPr>
      <p:grpSpPr>
        <a:xfrm>
          <a:off x="0" y="0"/>
          <a:ext cx="0" cy="0"/>
          <a:chOff x="0" y="0"/>
          <a:chExt cx="0" cy="0"/>
        </a:xfrm>
      </p:grpSpPr>
      <p:cxnSp>
        <p:nvCxnSpPr>
          <p:cNvPr id="9" name="직선 연결선 8">
            <a:extLst>
              <a:ext uri="{FF2B5EF4-FFF2-40B4-BE49-F238E27FC236}">
                <a16:creationId xmlns:a16="http://schemas.microsoft.com/office/drawing/2014/main" id="{770448A0-30FC-D54C-078E-075B9B01B909}"/>
              </a:ext>
            </a:extLst>
          </p:cNvPr>
          <p:cNvCxnSpPr>
            <a:cxnSpLocks/>
          </p:cNvCxnSpPr>
          <p:nvPr userDrawn="1"/>
        </p:nvCxnSpPr>
        <p:spPr>
          <a:xfrm flipH="1">
            <a:off x="1" y="6231814"/>
            <a:ext cx="12191999" cy="0"/>
          </a:xfrm>
          <a:prstGeom prst="line">
            <a:avLst/>
          </a:prstGeom>
          <a:ln>
            <a:solidFill>
              <a:srgbClr val="DDE0E7"/>
            </a:solidFill>
          </a:ln>
        </p:spPr>
        <p:style>
          <a:lnRef idx="1">
            <a:schemeClr val="accent1"/>
          </a:lnRef>
          <a:fillRef idx="0">
            <a:schemeClr val="accent1"/>
          </a:fillRef>
          <a:effectRef idx="0">
            <a:schemeClr val="accent1"/>
          </a:effectRef>
          <a:fontRef idx="minor">
            <a:schemeClr val="tx1"/>
          </a:fontRef>
        </p:style>
      </p:cxnSp>
      <p:sp>
        <p:nvSpPr>
          <p:cNvPr id="12" name="직사각형 11">
            <a:extLst>
              <a:ext uri="{FF2B5EF4-FFF2-40B4-BE49-F238E27FC236}">
                <a16:creationId xmlns:a16="http://schemas.microsoft.com/office/drawing/2014/main" id="{0764E376-B9E3-E14A-BEEB-3D128A87DD6D}"/>
              </a:ext>
            </a:extLst>
          </p:cNvPr>
          <p:cNvSpPr/>
          <p:nvPr userDrawn="1"/>
        </p:nvSpPr>
        <p:spPr>
          <a:xfrm flipH="1">
            <a:off x="-2" y="-4"/>
            <a:ext cx="12192002" cy="54000"/>
          </a:xfrm>
          <a:prstGeom prst="rect">
            <a:avLst/>
          </a:prstGeom>
          <a:solidFill>
            <a:srgbClr val="656E7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latinLnBrk="0"/>
            <a:endParaRPr lang="ko-KR" altLang="en-US">
              <a:ln>
                <a:solidFill>
                  <a:prstClr val="black">
                    <a:lumMod val="65000"/>
                    <a:lumOff val="35000"/>
                    <a:alpha val="0"/>
                  </a:prstClr>
                </a:solidFill>
              </a:ln>
              <a:solidFill>
                <a:prstClr val="white"/>
              </a:solidFill>
            </a:endParaRPr>
          </a:p>
        </p:txBody>
      </p:sp>
      <p:cxnSp>
        <p:nvCxnSpPr>
          <p:cNvPr id="13" name="직선 연결선 9">
            <a:extLst>
              <a:ext uri="{FF2B5EF4-FFF2-40B4-BE49-F238E27FC236}">
                <a16:creationId xmlns:a16="http://schemas.microsoft.com/office/drawing/2014/main" id="{EEC9624A-2A6A-6849-B9E9-9FB475852BBC}"/>
              </a:ext>
            </a:extLst>
          </p:cNvPr>
          <p:cNvCxnSpPr>
            <a:cxnSpLocks/>
          </p:cNvCxnSpPr>
          <p:nvPr userDrawn="1"/>
        </p:nvCxnSpPr>
        <p:spPr>
          <a:xfrm flipH="1">
            <a:off x="5712543" y="6231815"/>
            <a:ext cx="766914" cy="0"/>
          </a:xfrm>
          <a:prstGeom prst="line">
            <a:avLst/>
          </a:prstGeom>
          <a:ln w="22225">
            <a:solidFill>
              <a:srgbClr val="ADB3B9"/>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05C5F8EB-8389-3544-A205-74CB1A11A66E}"/>
              </a:ext>
            </a:extLst>
          </p:cNvPr>
          <p:cNvPicPr>
            <a:picLocks noChangeAspect="1"/>
          </p:cNvPicPr>
          <p:nvPr userDrawn="1"/>
        </p:nvPicPr>
        <p:blipFill>
          <a:blip r:embed="rId2">
            <a:alphaModFix amt="30000"/>
          </a:blip>
          <a:stretch>
            <a:fillRect/>
          </a:stretch>
        </p:blipFill>
        <p:spPr>
          <a:xfrm>
            <a:off x="356235" y="6379590"/>
            <a:ext cx="773724" cy="279659"/>
          </a:xfrm>
          <a:prstGeom prst="rect">
            <a:avLst/>
          </a:prstGeom>
        </p:spPr>
      </p:pic>
      <p:sp>
        <p:nvSpPr>
          <p:cNvPr id="6" name="바닥글 개체 틀 4"/>
          <p:cNvSpPr>
            <a:spLocks noGrp="1"/>
          </p:cNvSpPr>
          <p:nvPr>
            <p:ph type="ftr" sz="quarter" idx="3"/>
          </p:nvPr>
        </p:nvSpPr>
        <p:spPr>
          <a:xfrm>
            <a:off x="6943725" y="6356350"/>
            <a:ext cx="4114800" cy="365125"/>
          </a:xfrm>
          <a:prstGeom prst="rect">
            <a:avLst/>
          </a:prstGeom>
        </p:spPr>
        <p:txBody>
          <a:bodyPr vert="horz" lIns="91440" tIns="45720" rIns="91440" bIns="45720" rtlCol="0" anchor="ctr"/>
          <a:lstStyle>
            <a:lvl1pPr algn="ctr">
              <a:defRPr sz="800">
                <a:solidFill>
                  <a:srgbClr val="656E7D"/>
                </a:solidFill>
              </a:defRPr>
            </a:lvl1pPr>
          </a:lstStyle>
          <a:p>
            <a:pPr marL="228600" indent="-228600" algn="r">
              <a:lnSpc>
                <a:spcPct val="90000"/>
              </a:lnSpc>
              <a:spcBef>
                <a:spcPts val="1000"/>
              </a:spcBef>
              <a:buFont typeface="Arial" panose="020B0604020202020204" pitchFamily="34" charset="0"/>
              <a:buNone/>
            </a:pPr>
            <a:r>
              <a:rPr lang="en-US" altLang="ko-KR" b="1" dirty="0">
                <a:ln>
                  <a:solidFill>
                    <a:prstClr val="black">
                      <a:lumMod val="65000"/>
                      <a:lumOff val="35000"/>
                      <a:alpha val="0"/>
                    </a:prstClr>
                  </a:solidFill>
                </a:ln>
                <a:ea typeface="에스코어 드림 4 Regular" panose="020B0503030302020204" pitchFamily="34" charset="-127"/>
              </a:rPr>
              <a:t>Clinical Nutrition</a:t>
            </a:r>
            <a:endParaRPr lang="ko-KR" altLang="en-US" b="1" dirty="0">
              <a:ln>
                <a:solidFill>
                  <a:prstClr val="black">
                    <a:lumMod val="65000"/>
                    <a:lumOff val="35000"/>
                    <a:alpha val="0"/>
                  </a:prstClr>
                </a:solidFill>
              </a:ln>
              <a:ea typeface="에스코어 드림 4 Regular" panose="020B0503030302020204" pitchFamily="34" charset="-127"/>
            </a:endParaRPr>
          </a:p>
        </p:txBody>
      </p:sp>
      <p:sp>
        <p:nvSpPr>
          <p:cNvPr id="24" name="텍스트 개체 틀 2">
            <a:extLst>
              <a:ext uri="{FF2B5EF4-FFF2-40B4-BE49-F238E27FC236}">
                <a16:creationId xmlns:a16="http://schemas.microsoft.com/office/drawing/2014/main" id="{2D608F42-D381-C26A-6D36-0ACF15577A0C}"/>
              </a:ext>
            </a:extLst>
          </p:cNvPr>
          <p:cNvSpPr>
            <a:spLocks noGrp="1"/>
          </p:cNvSpPr>
          <p:nvPr>
            <p:ph type="body" sz="quarter" idx="17" hasCustomPrompt="1"/>
          </p:nvPr>
        </p:nvSpPr>
        <p:spPr>
          <a:xfrm>
            <a:off x="356235" y="577963"/>
            <a:ext cx="595283" cy="446199"/>
          </a:xfrm>
          <a:prstGeom prst="rect">
            <a:avLst/>
          </a:prstGeom>
        </p:spPr>
        <p:txBody>
          <a:bodyPr/>
          <a:lstStyle>
            <a:lvl1pPr marL="0" indent="0">
              <a:buNone/>
              <a:defRPr sz="2400" spc="-30" baseline="0">
                <a:solidFill>
                  <a:srgbClr val="A0112D"/>
                </a:solidFill>
                <a:latin typeface="Lato Black" panose="020F0A02020204030203" pitchFamily="34" charset="0"/>
                <a:ea typeface="Arial Unicode MS" panose="020B0604020202020204" pitchFamily="50" charset="-127"/>
              </a:defRPr>
            </a:lvl1pPr>
          </a:lstStyle>
          <a:p>
            <a:pPr lvl="0"/>
            <a:r>
              <a:rPr lang="en-US" altLang="ko-KR" dirty="0"/>
              <a:t>01</a:t>
            </a:r>
            <a:endParaRPr lang="ko-KR" altLang="en-US" dirty="0"/>
          </a:p>
        </p:txBody>
      </p:sp>
      <p:sp>
        <p:nvSpPr>
          <p:cNvPr id="25" name="텍스트 개체 틀 2">
            <a:extLst>
              <a:ext uri="{FF2B5EF4-FFF2-40B4-BE49-F238E27FC236}">
                <a16:creationId xmlns:a16="http://schemas.microsoft.com/office/drawing/2014/main" id="{2D608F42-D381-C26A-6D36-0ACF15577A0C}"/>
              </a:ext>
            </a:extLst>
          </p:cNvPr>
          <p:cNvSpPr>
            <a:spLocks noGrp="1"/>
          </p:cNvSpPr>
          <p:nvPr>
            <p:ph type="body" sz="quarter" idx="18" hasCustomPrompt="1"/>
          </p:nvPr>
        </p:nvSpPr>
        <p:spPr>
          <a:xfrm>
            <a:off x="811508" y="568692"/>
            <a:ext cx="2482373" cy="446199"/>
          </a:xfrm>
          <a:prstGeom prst="rect">
            <a:avLst/>
          </a:prstGeom>
        </p:spPr>
        <p:txBody>
          <a:bodyPr/>
          <a:lstStyle>
            <a:lvl1pPr marL="0" indent="0">
              <a:buNone/>
              <a:defRPr sz="2400" spc="-30" baseline="0">
                <a:solidFill>
                  <a:srgbClr val="3A3A38"/>
                </a:solidFill>
                <a:latin typeface="Lato Black" panose="020F0A02020204030203" pitchFamily="34" charset="0"/>
                <a:ea typeface="Arial Unicode MS" panose="020B0604020202020204" pitchFamily="50" charset="-127"/>
              </a:defRPr>
            </a:lvl1pPr>
          </a:lstStyle>
          <a:p>
            <a:pPr lvl="0"/>
            <a:r>
              <a:rPr lang="en-US" altLang="ko-KR" dirty="0"/>
              <a:t>Checking Points</a:t>
            </a:r>
            <a:endParaRPr lang="ko-KR" altLang="en-US" dirty="0"/>
          </a:p>
        </p:txBody>
      </p:sp>
      <p:sp>
        <p:nvSpPr>
          <p:cNvPr id="29" name="텍스트 개체 틀 50">
            <a:extLst>
              <a:ext uri="{FF2B5EF4-FFF2-40B4-BE49-F238E27FC236}">
                <a16:creationId xmlns:a16="http://schemas.microsoft.com/office/drawing/2014/main" id="{7AF93DE4-F3CB-EDDF-C6FE-59015AC0C57D}"/>
              </a:ext>
            </a:extLst>
          </p:cNvPr>
          <p:cNvSpPr>
            <a:spLocks noGrp="1"/>
          </p:cNvSpPr>
          <p:nvPr>
            <p:ph type="body" sz="quarter" idx="12" hasCustomPrompt="1"/>
          </p:nvPr>
        </p:nvSpPr>
        <p:spPr>
          <a:xfrm>
            <a:off x="811508" y="963200"/>
            <a:ext cx="2454836" cy="338554"/>
          </a:xfrm>
          <a:prstGeom prst="rect">
            <a:avLst/>
          </a:prstGeom>
        </p:spPr>
        <p:txBody>
          <a:bodyPr vert="horz" wrap="square" lIns="91440" tIns="45720" rIns="91440" bIns="45720" rtlCol="0" anchor="ctr" anchorCtr="0">
            <a:spAutoFit/>
          </a:bodyPr>
          <a:lstStyle>
            <a:lvl1pPr marL="0" indent="0">
              <a:buNone/>
              <a:defRPr kumimoji="1" lang="ko-KR" altLang="en-US" sz="1600" spc="-30" baseline="0" dirty="0">
                <a:ln>
                  <a:solidFill>
                    <a:schemeClr val="tx1">
                      <a:lumMod val="65000"/>
                      <a:lumOff val="35000"/>
                      <a:alpha val="0"/>
                    </a:schemeClr>
                  </a:solidFill>
                </a:ln>
                <a:solidFill>
                  <a:srgbClr val="656E7D"/>
                </a:solidFill>
                <a:latin typeface="+mn-lt"/>
                <a:ea typeface="에스코어 드림 4 Regular" panose="020B0503030302020204" pitchFamily="34" charset="-127"/>
              </a:defRPr>
            </a:lvl1pPr>
          </a:lstStyle>
          <a:p>
            <a:pPr marL="228600" lvl="0" indent="-228600">
              <a:lnSpc>
                <a:spcPct val="100000"/>
              </a:lnSpc>
            </a:pPr>
            <a:r>
              <a:rPr lang="en-US" altLang="ko-KR" dirty="0"/>
              <a:t>Key Parameters</a:t>
            </a:r>
            <a:endParaRPr lang="ko-KR" altLang="en-US" dirty="0"/>
          </a:p>
        </p:txBody>
      </p:sp>
      <p:sp>
        <p:nvSpPr>
          <p:cNvPr id="10" name="직사각형 9"/>
          <p:cNvSpPr/>
          <p:nvPr userDrawn="1"/>
        </p:nvSpPr>
        <p:spPr>
          <a:xfrm>
            <a:off x="11151126" y="6509895"/>
            <a:ext cx="913984" cy="3101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B4A18C89-3B7D-45E6-B15F-3229B5508142}" type="slidenum">
              <a:rPr lang="en-US" altLang="ko-KR" sz="900" smtClean="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t>
            </a:fld>
            <a:r>
              <a:rPr lang="en-US" altLang="ko-KR" sz="70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/24</a:t>
            </a:r>
          </a:p>
        </p:txBody>
      </p:sp>
    </p:spTree>
    <p:extLst>
      <p:ext uri="{BB962C8B-B14F-4D97-AF65-F5344CB8AC3E}">
        <p14:creationId xmlns:p14="http://schemas.microsoft.com/office/powerpoint/2010/main" val="4503637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A67A30-99FF-4F73-9F8A-DC8CDAD9D5C4}" type="datetimeFigureOut">
              <a:rPr lang="ko-KR" altLang="en-US" smtClean="0"/>
              <a:t>2026-01-07</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AB3BE-266A-4F8B-88B4-FC348C28CFCE}" type="slidenum">
              <a:rPr lang="ko-KR" altLang="en-US" smtClean="0"/>
              <a:t>‹#›</a:t>
            </a:fld>
            <a:endParaRPr lang="ko-KR" altLang="en-US"/>
          </a:p>
        </p:txBody>
      </p:sp>
    </p:spTree>
    <p:extLst>
      <p:ext uri="{BB962C8B-B14F-4D97-AF65-F5344CB8AC3E}">
        <p14:creationId xmlns:p14="http://schemas.microsoft.com/office/powerpoint/2010/main" val="335603967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4.emf"/><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0.emf"/><Relationship Id="rId4" Type="http://schemas.openxmlformats.org/officeDocument/2006/relationships/image" Target="../media/image19.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0.jpe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40.jpeg"/><Relationship Id="rId4" Type="http://schemas.openxmlformats.org/officeDocument/2006/relationships/image" Target="../media/image39.jpeg"/></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40.jpeg"/><Relationship Id="rId4" Type="http://schemas.openxmlformats.org/officeDocument/2006/relationships/image" Target="../media/image39.jpeg"/></Relationships>
</file>

<file path=ppt/slides/_rels/slide3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42.emf"/></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48.jpe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50.jpeg"/></Relationships>
</file>

<file path=ppt/slides/_rels/slide4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52.jpeg"/></Relationships>
</file>

<file path=ppt/slides/_rels/slide4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52.jpeg"/></Relationships>
</file>

<file path=ppt/slides/_rels/slide4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63.jpeg"/></Relationships>
</file>

<file path=ppt/slides/_rels/slide50.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4.xml"/><Relationship Id="rId4" Type="http://schemas.openxmlformats.org/officeDocument/2006/relationships/image" Target="../media/image68.jpeg"/></Relationships>
</file>

<file path=ppt/slides/_rels/slide52.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81.jpeg"/></Relationships>
</file>

<file path=ppt/slides/_rels/slide6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33.jpeg"/><Relationship Id="rId4" Type="http://schemas.openxmlformats.org/officeDocument/2006/relationships/image" Target="../media/image83.jpeg"/></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7.xml"/><Relationship Id="rId1" Type="http://schemas.openxmlformats.org/officeDocument/2006/relationships/slideLayout" Target="../slideLayouts/slideLayout4.xml"/><Relationship Id="rId5" Type="http://schemas.openxmlformats.org/officeDocument/2006/relationships/image" Target="../media/image86.png"/><Relationship Id="rId4" Type="http://schemas.openxmlformats.org/officeDocument/2006/relationships/image" Target="../media/image85.png"/></Relationships>
</file>

<file path=ppt/slides/_rels/slide64.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89.png"/><Relationship Id="rId4" Type="http://schemas.openxmlformats.org/officeDocument/2006/relationships/image" Target="../media/image88.jpeg"/></Relationships>
</file>

<file path=ppt/slides/_rels/slide6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91.png"/></Relationships>
</file>

<file path=ppt/slides/_rels/slide6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93.png"/></Relationships>
</file>

<file path=ppt/slides/_rels/slide6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97.jpg"/><Relationship Id="rId5" Type="http://schemas.openxmlformats.org/officeDocument/2006/relationships/image" Target="../media/image96.jpg"/><Relationship Id="rId4" Type="http://schemas.openxmlformats.org/officeDocument/2006/relationships/image" Target="../media/image95.jpeg"/></Relationships>
</file>

<file path=ppt/slides/_rels/slide6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36.jpg"/><Relationship Id="rId5" Type="http://schemas.openxmlformats.org/officeDocument/2006/relationships/image" Target="../media/image99.jpg"/><Relationship Id="rId4" Type="http://schemas.openxmlformats.org/officeDocument/2006/relationships/image" Target="../media/image98.jpeg"/></Relationships>
</file>

<file path=ppt/slides/_rels/slide7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101.png"/></Relationships>
</file>

<file path=ppt/slides/_rels/slide7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100.jpeg"/></Relationships>
</file>

<file path=ppt/slides/_rels/slide72.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106.jpg"/><Relationship Id="rId5" Type="http://schemas.openxmlformats.org/officeDocument/2006/relationships/image" Target="../media/image105.jpeg"/><Relationship Id="rId4" Type="http://schemas.openxmlformats.org/officeDocument/2006/relationships/image" Target="../media/image104.jpg"/></Relationships>
</file>

<file path=ppt/slides/_rels/slide7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08.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8" Type="http://schemas.openxmlformats.org/officeDocument/2006/relationships/image" Target="../media/image115.png"/><Relationship Id="rId13" Type="http://schemas.microsoft.com/office/2007/relationships/hdphoto" Target="../media/hdphoto3.wdp"/><Relationship Id="rId18" Type="http://schemas.openxmlformats.org/officeDocument/2006/relationships/image" Target="../media/image121.png"/><Relationship Id="rId3" Type="http://schemas.openxmlformats.org/officeDocument/2006/relationships/image" Target="../media/image110.png"/><Relationship Id="rId7" Type="http://schemas.openxmlformats.org/officeDocument/2006/relationships/image" Target="../media/image114.jpeg"/><Relationship Id="rId12" Type="http://schemas.openxmlformats.org/officeDocument/2006/relationships/image" Target="../media/image117.png"/><Relationship Id="rId17" Type="http://schemas.openxmlformats.org/officeDocument/2006/relationships/image" Target="../media/image120.png"/><Relationship Id="rId2" Type="http://schemas.openxmlformats.org/officeDocument/2006/relationships/image" Target="../media/image109.jpeg"/><Relationship Id="rId16" Type="http://schemas.openxmlformats.org/officeDocument/2006/relationships/image" Target="../media/image119.jpeg"/><Relationship Id="rId1" Type="http://schemas.openxmlformats.org/officeDocument/2006/relationships/slideLayout" Target="../slideLayouts/slideLayout4.xml"/><Relationship Id="rId6" Type="http://schemas.openxmlformats.org/officeDocument/2006/relationships/image" Target="../media/image113.png"/><Relationship Id="rId11" Type="http://schemas.microsoft.com/office/2007/relationships/hdphoto" Target="../media/hdphoto2.wdp"/><Relationship Id="rId5" Type="http://schemas.openxmlformats.org/officeDocument/2006/relationships/image" Target="../media/image112.jpeg"/><Relationship Id="rId15" Type="http://schemas.microsoft.com/office/2007/relationships/hdphoto" Target="../media/hdphoto4.wdp"/><Relationship Id="rId10" Type="http://schemas.openxmlformats.org/officeDocument/2006/relationships/image" Target="../media/image116.png"/><Relationship Id="rId4" Type="http://schemas.openxmlformats.org/officeDocument/2006/relationships/image" Target="../media/image111.png"/><Relationship Id="rId9" Type="http://schemas.microsoft.com/office/2007/relationships/hdphoto" Target="../media/hdphoto1.wdp"/><Relationship Id="rId14" Type="http://schemas.openxmlformats.org/officeDocument/2006/relationships/image" Target="../media/image118.png"/></Relationships>
</file>

<file path=ppt/slides/_rels/slide79.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image" Target="../media/image122.png"/><Relationship Id="rId1" Type="http://schemas.openxmlformats.org/officeDocument/2006/relationships/slideLayout" Target="../slideLayouts/slideLayout4.xml"/><Relationship Id="rId6" Type="http://schemas.openxmlformats.org/officeDocument/2006/relationships/image" Target="../media/image126.png"/><Relationship Id="rId5" Type="http://schemas.openxmlformats.org/officeDocument/2006/relationships/image" Target="../media/image125.png"/><Relationship Id="rId10" Type="http://schemas.openxmlformats.org/officeDocument/2006/relationships/image" Target="../media/image130.png"/><Relationship Id="rId4" Type="http://schemas.openxmlformats.org/officeDocument/2006/relationships/image" Target="../media/image124.png"/><Relationship Id="rId9" Type="http://schemas.openxmlformats.org/officeDocument/2006/relationships/image" Target="../media/image129.png"/></Relationships>
</file>

<file path=ppt/slides/_rels/slide8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32.png"/><Relationship Id="rId7" Type="http://schemas.openxmlformats.org/officeDocument/2006/relationships/image" Target="../media/image116.png"/><Relationship Id="rId2" Type="http://schemas.openxmlformats.org/officeDocument/2006/relationships/image" Target="../media/image131.png"/><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115.png"/><Relationship Id="rId10" Type="http://schemas.microsoft.com/office/2007/relationships/hdphoto" Target="../media/hdphoto3.wdp"/><Relationship Id="rId4" Type="http://schemas.openxmlformats.org/officeDocument/2006/relationships/image" Target="../media/image133.png"/><Relationship Id="rId9" Type="http://schemas.openxmlformats.org/officeDocument/2006/relationships/image" Target="../media/image117.png"/></Relationships>
</file>

<file path=ppt/slides/_rels/slide8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139.emf"/><Relationship Id="rId2" Type="http://schemas.openxmlformats.org/officeDocument/2006/relationships/image" Target="../media/image138.png"/><Relationship Id="rId1" Type="http://schemas.openxmlformats.org/officeDocument/2006/relationships/slideLayout" Target="../slideLayouts/slideLayout4.xml"/><Relationship Id="rId5" Type="http://schemas.openxmlformats.org/officeDocument/2006/relationships/image" Target="../media/image141.png"/><Relationship Id="rId4" Type="http://schemas.openxmlformats.org/officeDocument/2006/relationships/image" Target="../media/image140.png"/></Relationships>
</file>

<file path=ppt/slides/_rels/slide88.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143.jpeg"/><Relationship Id="rId7" Type="http://schemas.openxmlformats.org/officeDocument/2006/relationships/image" Target="../media/image147.png"/><Relationship Id="rId2" Type="http://schemas.openxmlformats.org/officeDocument/2006/relationships/image" Target="../media/image142.jpeg"/><Relationship Id="rId1" Type="http://schemas.openxmlformats.org/officeDocument/2006/relationships/slideLayout" Target="../slideLayouts/slideLayout4.xml"/><Relationship Id="rId6" Type="http://schemas.openxmlformats.org/officeDocument/2006/relationships/image" Target="../media/image146.png"/><Relationship Id="rId5" Type="http://schemas.openxmlformats.org/officeDocument/2006/relationships/image" Target="../media/image145.jpeg"/><Relationship Id="rId4" Type="http://schemas.openxmlformats.org/officeDocument/2006/relationships/image" Target="../media/image144.jpeg"/><Relationship Id="rId9" Type="http://schemas.openxmlformats.org/officeDocument/2006/relationships/image" Target="../media/image149.png"/></Relationships>
</file>

<file path=ppt/slides/_rels/slide89.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51.png"/><Relationship Id="rId7" Type="http://schemas.openxmlformats.org/officeDocument/2006/relationships/image" Target="../media/image153.jpeg"/><Relationship Id="rId2" Type="http://schemas.openxmlformats.org/officeDocument/2006/relationships/image" Target="../media/image150.png"/><Relationship Id="rId1" Type="http://schemas.openxmlformats.org/officeDocument/2006/relationships/slideLayout" Target="../slideLayouts/slideLayout4.xml"/><Relationship Id="rId6" Type="http://schemas.openxmlformats.org/officeDocument/2006/relationships/image" Target="../media/image152.png"/><Relationship Id="rId5" Type="http://schemas.openxmlformats.org/officeDocument/2006/relationships/image" Target="../media/image139.emf"/><Relationship Id="rId4" Type="http://schemas.openxmlformats.org/officeDocument/2006/relationships/image" Target="../media/image138.png"/></Relationships>
</file>

<file path=ppt/slides/_rels/slide90.xml.rels><?xml version="1.0" encoding="UTF-8" standalone="yes"?>
<Relationships xmlns="http://schemas.openxmlformats.org/package/2006/relationships"><Relationship Id="rId3" Type="http://schemas.openxmlformats.org/officeDocument/2006/relationships/image" Target="../media/image139.emf"/><Relationship Id="rId2" Type="http://schemas.openxmlformats.org/officeDocument/2006/relationships/image" Target="../media/image138.png"/><Relationship Id="rId1" Type="http://schemas.openxmlformats.org/officeDocument/2006/relationships/slideLayout" Target="../slideLayouts/slideLayout4.xml"/><Relationship Id="rId6" Type="http://schemas.openxmlformats.org/officeDocument/2006/relationships/image" Target="../media/image157.jpeg"/><Relationship Id="rId5" Type="http://schemas.openxmlformats.org/officeDocument/2006/relationships/image" Target="../media/image156.jpeg"/><Relationship Id="rId4" Type="http://schemas.openxmlformats.org/officeDocument/2006/relationships/image" Target="../media/image155.png"/></Relationships>
</file>

<file path=ppt/slides/_rels/slide91.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image" Target="../media/image158.jpe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jpeg"/><Relationship Id="rId1" Type="http://schemas.openxmlformats.org/officeDocument/2006/relationships/slideLayout" Target="../slideLayouts/slideLayout4.xml"/><Relationship Id="rId4" Type="http://schemas.openxmlformats.org/officeDocument/2006/relationships/image" Target="../media/image162.png"/></Relationships>
</file>

<file path=ppt/slides/_rels/slide93.xml.rels><?xml version="1.0" encoding="UTF-8" standalone="yes"?>
<Relationships xmlns="http://schemas.openxmlformats.org/package/2006/relationships"><Relationship Id="rId3" Type="http://schemas.openxmlformats.org/officeDocument/2006/relationships/image" Target="../media/image164.tmp"/><Relationship Id="rId2" Type="http://schemas.openxmlformats.org/officeDocument/2006/relationships/image" Target="../media/image163.tmp"/><Relationship Id="rId1" Type="http://schemas.openxmlformats.org/officeDocument/2006/relationships/slideLayout" Target="../slideLayouts/slideLayout4.xml"/><Relationship Id="rId5" Type="http://schemas.openxmlformats.org/officeDocument/2006/relationships/image" Target="../media/image166.tmp"/><Relationship Id="rId4" Type="http://schemas.openxmlformats.org/officeDocument/2006/relationships/image" Target="../media/image165.tmp"/></Relationships>
</file>

<file path=ppt/slides/_rels/slide94.xml.rels><?xml version="1.0" encoding="UTF-8" standalone="yes"?>
<Relationships xmlns="http://schemas.openxmlformats.org/package/2006/relationships"><Relationship Id="rId3" Type="http://schemas.openxmlformats.org/officeDocument/2006/relationships/image" Target="../media/image168.tmp"/><Relationship Id="rId2" Type="http://schemas.openxmlformats.org/officeDocument/2006/relationships/image" Target="../media/image167.png"/><Relationship Id="rId1" Type="http://schemas.openxmlformats.org/officeDocument/2006/relationships/slideLayout" Target="../slideLayouts/slideLayout4.xml"/><Relationship Id="rId6" Type="http://schemas.openxmlformats.org/officeDocument/2006/relationships/image" Target="../media/image171.jpeg"/><Relationship Id="rId5" Type="http://schemas.openxmlformats.org/officeDocument/2006/relationships/image" Target="../media/image170.png"/><Relationship Id="rId4" Type="http://schemas.openxmlformats.org/officeDocument/2006/relationships/image" Target="../media/image169.tmp"/></Relationships>
</file>

<file path=ppt/slides/_rels/slide95.xml.rels><?xml version="1.0" encoding="UTF-8" standalone="yes"?>
<Relationships xmlns="http://schemas.openxmlformats.org/package/2006/relationships"><Relationship Id="rId3" Type="http://schemas.openxmlformats.org/officeDocument/2006/relationships/image" Target="../media/image173.jpg"/><Relationship Id="rId2" Type="http://schemas.openxmlformats.org/officeDocument/2006/relationships/image" Target="../media/image172.jpe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image" Target="../media/image174.jp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jpeg"/><Relationship Id="rId1" Type="http://schemas.openxmlformats.org/officeDocument/2006/relationships/slideLayout" Target="../slideLayouts/slideLayout4.xml"/><Relationship Id="rId4" Type="http://schemas.openxmlformats.org/officeDocument/2006/relationships/image" Target="../media/image178.jpeg"/></Relationships>
</file>

<file path=ppt/slides/_rels/slide9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9.jpe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180.jpe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image" Target="../media/image181.jpe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slideLayout" Target="../slideLayouts/slideLayout4.xml"/><Relationship Id="rId4" Type="http://schemas.openxmlformats.org/officeDocument/2006/relationships/image" Target="../media/image185.jpeg"/></Relationships>
</file>

<file path=ppt/slides/_rels/slide10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image" Target="../media/image186.emf"/><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5CA2EDD0-D101-1ED9-3BFD-12C28B19165F}"/>
              </a:ext>
            </a:extLst>
          </p:cNvPr>
          <p:cNvSpPr>
            <a:spLocks noGrp="1"/>
          </p:cNvSpPr>
          <p:nvPr>
            <p:ph type="body" sz="quarter" idx="17"/>
          </p:nvPr>
        </p:nvSpPr>
        <p:spPr>
          <a:xfrm>
            <a:off x="928716" y="2680178"/>
            <a:ext cx="8766429" cy="605947"/>
          </a:xfrm>
        </p:spPr>
        <p:txBody>
          <a:bodyPr>
            <a:noAutofit/>
          </a:bodyPr>
          <a:lstStyle/>
          <a:p>
            <a:r>
              <a:rPr lang="en-US" altLang="ko-KR" b="1" dirty="0">
                <a:solidFill>
                  <a:srgbClr val="3C3C3A"/>
                </a:solidFill>
                <a:latin typeface="Lato" panose="020F0502020204030203" pitchFamily="34" charset="0"/>
                <a:ea typeface="에스코어 드림 7 ExtraBold" panose="020B0803030302020204" pitchFamily="34" charset="-127"/>
              </a:rPr>
              <a:t>Medical Training</a:t>
            </a:r>
            <a:endParaRPr lang="ko-KR" altLang="en-US" b="1" dirty="0">
              <a:solidFill>
                <a:srgbClr val="3C3C3A"/>
              </a:solidFill>
              <a:latin typeface="Lato" panose="020F0502020204030203" pitchFamily="34" charset="0"/>
              <a:ea typeface="에스코어 드림 7 ExtraBold" panose="020B0803030302020204" pitchFamily="34" charset="-127"/>
            </a:endParaRPr>
          </a:p>
        </p:txBody>
      </p:sp>
      <p:sp>
        <p:nvSpPr>
          <p:cNvPr id="9" name="TextBox 8">
            <a:extLst>
              <a:ext uri="{FF2B5EF4-FFF2-40B4-BE49-F238E27FC236}">
                <a16:creationId xmlns:a16="http://schemas.microsoft.com/office/drawing/2014/main" id="{9521BAAA-F8ED-824E-9BF3-F37A095374F0}"/>
              </a:ext>
            </a:extLst>
          </p:cNvPr>
          <p:cNvSpPr txBox="1"/>
          <p:nvPr/>
        </p:nvSpPr>
        <p:spPr>
          <a:xfrm>
            <a:off x="965002" y="3337707"/>
            <a:ext cx="4147772" cy="313932"/>
          </a:xfrm>
          <a:prstGeom prst="rect">
            <a:avLst/>
          </a:prstGeom>
          <a:noFill/>
        </p:spPr>
        <p:txBody>
          <a:bodyPr wrap="square">
            <a:spAutoFit/>
          </a:body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en-US" altLang="ko-KR" sz="1600" b="0" i="0" u="none" strike="noStrike" kern="1200" cap="none" spc="0" normalizeH="0" baseline="0" noProof="0" dirty="0">
                <a:ln>
                  <a:solidFill>
                    <a:prstClr val="black">
                      <a:lumMod val="65000"/>
                      <a:lumOff val="35000"/>
                      <a:alpha val="0"/>
                    </a:prstClr>
                  </a:solidFill>
                </a:ln>
                <a:solidFill>
                  <a:srgbClr val="3C3C3A"/>
                </a:solidFill>
                <a:effectLst/>
                <a:uLnTx/>
                <a:uFillTx/>
                <a:latin typeface="+mj-lt"/>
                <a:ea typeface="에스코어 드림 5 Medium" panose="020B0503030302020204" pitchFamily="34" charset="-127"/>
                <a:cs typeface="+mn-cs"/>
              </a:rPr>
              <a:t>InBody</a:t>
            </a:r>
            <a:r>
              <a:rPr kumimoji="1" lang="en-US" altLang="ko-KR" sz="1600" b="0" i="0" u="none" strike="noStrike" kern="1200" cap="none" spc="0" normalizeH="0" noProof="0" dirty="0">
                <a:ln>
                  <a:solidFill>
                    <a:prstClr val="black">
                      <a:lumMod val="65000"/>
                      <a:lumOff val="35000"/>
                      <a:alpha val="0"/>
                    </a:prstClr>
                  </a:solidFill>
                </a:ln>
                <a:solidFill>
                  <a:srgbClr val="3C3C3A"/>
                </a:solidFill>
                <a:effectLst/>
                <a:uLnTx/>
                <a:uFillTx/>
                <a:latin typeface="+mj-lt"/>
                <a:ea typeface="에스코어 드림 5 Medium" panose="020B0503030302020204" pitchFamily="34" charset="-127"/>
                <a:cs typeface="+mn-cs"/>
              </a:rPr>
              <a:t> for Nephrology - Hemodialysis</a:t>
            </a:r>
            <a:endParaRPr kumimoji="1" lang="x-none" altLang="en-US" sz="1600" b="0" i="0" u="none" strike="noStrike" kern="1200" cap="none" spc="0" normalizeH="0" baseline="0" noProof="0" dirty="0">
              <a:ln>
                <a:solidFill>
                  <a:prstClr val="black">
                    <a:lumMod val="65000"/>
                    <a:lumOff val="35000"/>
                    <a:alpha val="0"/>
                  </a:prstClr>
                </a:solidFill>
              </a:ln>
              <a:solidFill>
                <a:srgbClr val="3C3C3A"/>
              </a:solidFill>
              <a:effectLst/>
              <a:uLnTx/>
              <a:uFillTx/>
              <a:latin typeface="+mj-lt"/>
              <a:ea typeface="에스코어 드림 5 Medium" panose="020B0503030302020204" pitchFamily="34" charset="-127"/>
              <a:cs typeface="+mn-cs"/>
            </a:endParaRPr>
          </a:p>
        </p:txBody>
      </p:sp>
      <p:sp>
        <p:nvSpPr>
          <p:cNvPr id="4" name="텍스트 개체 틀 50">
            <a:extLst>
              <a:ext uri="{FF2B5EF4-FFF2-40B4-BE49-F238E27FC236}">
                <a16:creationId xmlns:a16="http://schemas.microsoft.com/office/drawing/2014/main" id="{820DB4C8-02C4-67B6-AAE6-182417362F41}"/>
              </a:ext>
            </a:extLst>
          </p:cNvPr>
          <p:cNvSpPr>
            <a:spLocks noGrp="1"/>
          </p:cNvSpPr>
          <p:nvPr>
            <p:ph type="body" sz="quarter" idx="14" hasCustomPrompt="1"/>
          </p:nvPr>
        </p:nvSpPr>
        <p:spPr>
          <a:xfrm>
            <a:off x="976342" y="6027985"/>
            <a:ext cx="2315498" cy="279151"/>
          </a:xfrm>
          <a:prstGeom prst="rect">
            <a:avLst/>
          </a:prstGeom>
          <a:ln>
            <a:noFill/>
          </a:ln>
        </p:spPr>
        <p:txBody>
          <a:bodyPr tIns="0" bIns="0" anchor="ctr" anchorCtr="0">
            <a:noAutofit/>
          </a:bodyPr>
          <a:lstStyle>
            <a:lvl1pPr marL="0" indent="0">
              <a:buNone/>
              <a:defRPr lang="ko-KR" altLang="en-US" sz="1100" b="0" dirty="0">
                <a:ln>
                  <a:solidFill>
                    <a:schemeClr val="tx1">
                      <a:lumMod val="65000"/>
                      <a:lumOff val="35000"/>
                      <a:alpha val="0"/>
                    </a:schemeClr>
                  </a:solidFill>
                </a:ln>
                <a:solidFill>
                  <a:srgbClr val="656E7D"/>
                </a:solidFill>
                <a:latin typeface="에스코어 드림 6 Bold" panose="020B0703030302020204" pitchFamily="34" charset="-127"/>
                <a:ea typeface="에스코어 드림 6 Bold" panose="020B0703030302020204" pitchFamily="34" charset="-127"/>
              </a:defRPr>
            </a:lvl1pPr>
          </a:lstStyle>
          <a:p>
            <a:pPr marL="228600" lvl="0" indent="-228600"/>
            <a:r>
              <a:rPr lang="en-US" altLang="ko-KR" dirty="0">
                <a:latin typeface="+mj-lt"/>
              </a:rPr>
              <a:t>InBody India</a:t>
            </a:r>
            <a:endParaRPr lang="ko-KR" altLang="en-US" dirty="0">
              <a:latin typeface="+mj-lt"/>
            </a:endParaRPr>
          </a:p>
        </p:txBody>
      </p:sp>
    </p:spTree>
    <p:extLst>
      <p:ext uri="{BB962C8B-B14F-4D97-AF65-F5344CB8AC3E}">
        <p14:creationId xmlns:p14="http://schemas.microsoft.com/office/powerpoint/2010/main" val="2623916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p:cNvGrpSpPr/>
          <p:nvPr/>
        </p:nvGrpSpPr>
        <p:grpSpPr>
          <a:xfrm>
            <a:off x="1214694" y="1559370"/>
            <a:ext cx="9525067" cy="4435902"/>
            <a:chOff x="1106539" y="1451216"/>
            <a:chExt cx="9525067" cy="4435902"/>
          </a:xfrm>
        </p:grpSpPr>
        <p:pic>
          <p:nvPicPr>
            <p:cNvPr id="3" name="그림 2"/>
            <p:cNvPicPr>
              <a:picLocks noChangeAspect="1"/>
            </p:cNvPicPr>
            <p:nvPr/>
          </p:nvPicPr>
          <p:blipFill>
            <a:blip r:embed="rId3"/>
            <a:stretch>
              <a:fillRect/>
            </a:stretch>
          </p:blipFill>
          <p:spPr>
            <a:xfrm>
              <a:off x="7304679" y="1451216"/>
              <a:ext cx="3326927" cy="4435902"/>
            </a:xfrm>
            <a:prstGeom prst="rect">
              <a:avLst/>
            </a:prstGeom>
          </p:spPr>
        </p:pic>
        <p:pic>
          <p:nvPicPr>
            <p:cNvPr id="7" name="그림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6539" y="1451216"/>
              <a:ext cx="5914536" cy="4435902"/>
            </a:xfrm>
            <a:prstGeom prst="rect">
              <a:avLst/>
            </a:prstGeom>
          </p:spPr>
        </p:pic>
      </p:grpSp>
      <p:sp>
        <p:nvSpPr>
          <p:cNvPr id="14" name="직사각형 13">
            <a:extLst>
              <a:ext uri="{FF2B5EF4-FFF2-40B4-BE49-F238E27FC236}">
                <a16:creationId xmlns:a16="http://schemas.microsoft.com/office/drawing/2014/main" id="{5DDF4E55-5E63-5EA0-A951-410DDF0291E8}"/>
              </a:ext>
            </a:extLst>
          </p:cNvPr>
          <p:cNvSpPr/>
          <p:nvPr/>
        </p:nvSpPr>
        <p:spPr>
          <a:xfrm rot="10800000" flipV="1">
            <a:off x="1214693" y="805292"/>
            <a:ext cx="9525068" cy="492567"/>
          </a:xfrm>
          <a:prstGeom prst="rect">
            <a:avLst/>
          </a:prstGeom>
          <a:solidFill>
            <a:srgbClr val="8119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t>The optimal body water analyzer for Nephrology</a:t>
            </a:r>
            <a:endParaRPr kumimoji="1" lang="ko-KR" altLang="en-US" sz="2400" b="1" dirty="0">
              <a:latin typeface="에스코어 드림 5 Medium" panose="020B0503030302020204" pitchFamily="34" charset="-127"/>
              <a:ea typeface="에스코어 드림 5 Medium" panose="020B0503030302020204" pitchFamily="34" charset="-127"/>
            </a:endParaRPr>
          </a:p>
        </p:txBody>
      </p:sp>
    </p:spTree>
    <p:extLst>
      <p:ext uri="{BB962C8B-B14F-4D97-AF65-F5344CB8AC3E}">
        <p14:creationId xmlns:p14="http://schemas.microsoft.com/office/powerpoint/2010/main" val="1821483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C31E62-CE78-8243-AB22-9D4C1B89F17B}"/>
              </a:ext>
            </a:extLst>
          </p:cNvPr>
          <p:cNvSpPr txBox="1"/>
          <p:nvPr/>
        </p:nvSpPr>
        <p:spPr>
          <a:xfrm>
            <a:off x="650642" y="306181"/>
            <a:ext cx="3759579" cy="461665"/>
          </a:xfrm>
          <a:prstGeom prst="rect">
            <a:avLst/>
          </a:prstGeom>
          <a:noFill/>
        </p:spPr>
        <p:txBody>
          <a:bodyPr wrap="square" rtlCol="0">
            <a:spAutoFit/>
          </a:bodyPr>
          <a:lstStyle/>
          <a:p>
            <a:r>
              <a:rPr kumimoji="1" lang="en-US" altLang="ko-KR" sz="2400" spc="-30" dirty="0">
                <a:ln>
                  <a:solidFill>
                    <a:srgbClr val="7E8080">
                      <a:alpha val="0"/>
                    </a:srgbClr>
                  </a:solidFill>
                </a:ln>
                <a:solidFill>
                  <a:srgbClr val="3C3C3A"/>
                </a:solidFill>
                <a:latin typeface="Lato Black" panose="020F0A02020204030203" pitchFamily="34" charset="0"/>
                <a:ea typeface="에스코어 드림 6 Bold" panose="020B0703030302020204" pitchFamily="34" charset="-127"/>
              </a:rPr>
              <a:t>BWA Sales Status</a:t>
            </a:r>
          </a:p>
        </p:txBody>
      </p:sp>
      <p:sp>
        <p:nvSpPr>
          <p:cNvPr id="3" name="TextBox 2">
            <a:extLst>
              <a:ext uri="{FF2B5EF4-FFF2-40B4-BE49-F238E27FC236}">
                <a16:creationId xmlns:a16="http://schemas.microsoft.com/office/drawing/2014/main" id="{21A23155-F013-4647-A64C-638174D1B0A3}"/>
              </a:ext>
            </a:extLst>
          </p:cNvPr>
          <p:cNvSpPr txBox="1"/>
          <p:nvPr/>
        </p:nvSpPr>
        <p:spPr>
          <a:xfrm>
            <a:off x="170621" y="286931"/>
            <a:ext cx="704480" cy="461665"/>
          </a:xfrm>
          <a:prstGeom prst="rect">
            <a:avLst/>
          </a:prstGeom>
          <a:noFill/>
        </p:spPr>
        <p:txBody>
          <a:bodyPr wrap="square" rtlCol="0">
            <a:spAutoFit/>
          </a:bodyPr>
          <a:lstStyle/>
          <a:p>
            <a:r>
              <a:rPr lang="en-US" altLang="ko-KR" sz="24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4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4" name="모서리가 둥근 직사각형 5">
            <a:extLst>
              <a:ext uri="{FF2B5EF4-FFF2-40B4-BE49-F238E27FC236}">
                <a16:creationId xmlns:a16="http://schemas.microsoft.com/office/drawing/2014/main" id="{A57B0427-F890-F527-A3DA-F20D0C77335C}"/>
              </a:ext>
            </a:extLst>
          </p:cNvPr>
          <p:cNvSpPr/>
          <p:nvPr/>
        </p:nvSpPr>
        <p:spPr>
          <a:xfrm>
            <a:off x="742294" y="787096"/>
            <a:ext cx="2559706" cy="321105"/>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 name="TextBox 4">
            <a:extLst>
              <a:ext uri="{FF2B5EF4-FFF2-40B4-BE49-F238E27FC236}">
                <a16:creationId xmlns:a16="http://schemas.microsoft.com/office/drawing/2014/main" id="{FA5A5E99-6CBB-7096-6593-E957B7FD69CA}"/>
              </a:ext>
            </a:extLst>
          </p:cNvPr>
          <p:cNvSpPr txBox="1"/>
          <p:nvPr/>
        </p:nvSpPr>
        <p:spPr>
          <a:xfrm>
            <a:off x="751438" y="727957"/>
            <a:ext cx="2463030" cy="415498"/>
          </a:xfrm>
          <a:prstGeom prst="rect">
            <a:avLst/>
          </a:prstGeom>
          <a:noFill/>
        </p:spPr>
        <p:txBody>
          <a:bodyPr wrap="square" rtlCol="0">
            <a:spAutoFit/>
          </a:bodyPr>
          <a:lstStyle/>
          <a:p>
            <a:pPr>
              <a:lnSpc>
                <a:spcPct val="150000"/>
              </a:lnSpc>
            </a:pPr>
            <a:r>
              <a:rPr kumimoji="1" lang="en-US" altLang="ko-KR" sz="1400" dirty="0">
                <a:ln>
                  <a:solidFill>
                    <a:srgbClr val="7E8080">
                      <a:alpha val="0"/>
                    </a:srgbClr>
                  </a:solidFill>
                </a:ln>
                <a:solidFill>
                  <a:srgbClr val="656E7D"/>
                </a:solidFill>
                <a:latin typeface="Lato Bold" panose="020F0802020204030203" pitchFamily="34" charset="0"/>
                <a:ea typeface="에스코어 드림 5 Medium" panose="020B0503030302020204" pitchFamily="34" charset="-127"/>
              </a:rPr>
              <a:t>2024 Sales Status</a:t>
            </a:r>
            <a:r>
              <a:rPr kumimoji="1" lang="ko-KR" altLang="en-US" sz="1400" dirty="0">
                <a:ln>
                  <a:solidFill>
                    <a:srgbClr val="7E8080">
                      <a:alpha val="0"/>
                    </a:srgbClr>
                  </a:solidFill>
                </a:ln>
                <a:solidFill>
                  <a:srgbClr val="656E7D"/>
                </a:solidFill>
                <a:latin typeface="Lato Bold" panose="020F0802020204030203" pitchFamily="34" charset="0"/>
                <a:ea typeface="에스코어 드림 5 Medium" panose="020B0503030302020204" pitchFamily="34" charset="-127"/>
              </a:rPr>
              <a:t> </a:t>
            </a:r>
            <a:r>
              <a:rPr kumimoji="1" lang="en-US" altLang="ko-KR" sz="1400" dirty="0">
                <a:ln>
                  <a:solidFill>
                    <a:srgbClr val="7E8080">
                      <a:alpha val="0"/>
                    </a:srgbClr>
                  </a:solidFill>
                </a:ln>
                <a:solidFill>
                  <a:srgbClr val="656E7D"/>
                </a:solidFill>
                <a:latin typeface="Lato Bold" panose="020F0802020204030203" pitchFamily="34" charset="0"/>
                <a:ea typeface="에스코어 드림 5 Medium" panose="020B0503030302020204" pitchFamily="34" charset="-127"/>
              </a:rPr>
              <a:t>(Korea)</a:t>
            </a:r>
          </a:p>
        </p:txBody>
      </p:sp>
      <p:sp>
        <p:nvSpPr>
          <p:cNvPr id="6" name="직사각형 5">
            <a:extLst>
              <a:ext uri="{FF2B5EF4-FFF2-40B4-BE49-F238E27FC236}">
                <a16:creationId xmlns:a16="http://schemas.microsoft.com/office/drawing/2014/main" id="{5DDF4E55-5E63-5EA0-A951-410DDF0291E8}"/>
              </a:ext>
            </a:extLst>
          </p:cNvPr>
          <p:cNvSpPr/>
          <p:nvPr/>
        </p:nvSpPr>
        <p:spPr>
          <a:xfrm flipV="1">
            <a:off x="4258494" y="1208414"/>
            <a:ext cx="3725906" cy="346479"/>
          </a:xfrm>
          <a:prstGeom prst="rect">
            <a:avLst/>
          </a:prstGeom>
          <a:solidFill>
            <a:srgbClr val="8119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latin typeface="에스코어 드림 5 Medium" panose="020B0503030302020204" pitchFamily="34" charset="-127"/>
              <a:ea typeface="에스코어 드림 5 Medium" panose="020B0503030302020204" pitchFamily="34" charset="-127"/>
            </a:endParaRPr>
          </a:p>
        </p:txBody>
      </p:sp>
      <p:sp>
        <p:nvSpPr>
          <p:cNvPr id="7" name="TextBox 6">
            <a:extLst>
              <a:ext uri="{FF2B5EF4-FFF2-40B4-BE49-F238E27FC236}">
                <a16:creationId xmlns:a16="http://schemas.microsoft.com/office/drawing/2014/main" id="{508944F9-D9BF-294E-667B-68C8787F7696}"/>
              </a:ext>
            </a:extLst>
          </p:cNvPr>
          <p:cNvSpPr txBox="1"/>
          <p:nvPr/>
        </p:nvSpPr>
        <p:spPr>
          <a:xfrm>
            <a:off x="4925176" y="1255459"/>
            <a:ext cx="2419253" cy="297517"/>
          </a:xfrm>
          <a:prstGeom prst="rect">
            <a:avLst/>
          </a:prstGeom>
          <a:noFill/>
        </p:spPr>
        <p:txBody>
          <a:bodyPr wrap="none" rtlCol="0">
            <a:spAutoFit/>
          </a:bodyPr>
          <a:lstStyle/>
          <a:p>
            <a:pPr algn="ctr">
              <a:lnSpc>
                <a:spcPts val="1620"/>
              </a:lnSpc>
            </a:pPr>
            <a:r>
              <a:rPr kumimoji="1" lang="en-US" altLang="ko-KR" sz="1600" dirty="0">
                <a:solidFill>
                  <a:schemeClr val="bg1"/>
                </a:solidFill>
                <a:latin typeface="Lato Black" panose="020F0A02020204030203" pitchFamily="34" charset="0"/>
                <a:ea typeface="에스코어 드림 5 Medium" panose="020B0503030302020204" pitchFamily="34" charset="-127"/>
              </a:rPr>
              <a:t>Yearly</a:t>
            </a:r>
            <a:r>
              <a:rPr kumimoji="1" lang="ko-KR" altLang="en-US" sz="1600" dirty="0">
                <a:solidFill>
                  <a:schemeClr val="bg1"/>
                </a:solidFill>
                <a:latin typeface="Lato Black" panose="020F0A02020204030203" pitchFamily="34" charset="0"/>
                <a:ea typeface="에스코어 드림 5 Medium" panose="020B0503030302020204" pitchFamily="34" charset="-127"/>
              </a:rPr>
              <a:t> </a:t>
            </a:r>
            <a:r>
              <a:rPr kumimoji="1" lang="en-US" altLang="ko-KR" sz="1600" dirty="0">
                <a:solidFill>
                  <a:schemeClr val="bg1"/>
                </a:solidFill>
                <a:latin typeface="Lato Black" panose="020F0A02020204030203" pitchFamily="34" charset="0"/>
                <a:ea typeface="에스코어 드림 5 Medium" panose="020B0503030302020204" pitchFamily="34" charset="-127"/>
              </a:rPr>
              <a:t>BWA / S10 Sales </a:t>
            </a:r>
            <a:endParaRPr kumimoji="1" lang="ko-KR" altLang="en-US" sz="1600" dirty="0">
              <a:solidFill>
                <a:schemeClr val="bg1"/>
              </a:solidFill>
              <a:latin typeface="Lato Black" panose="020F0A02020204030203" pitchFamily="34" charset="0"/>
              <a:ea typeface="에스코어 드림 5 Medium" panose="020B0503030302020204" pitchFamily="34" charset="-127"/>
            </a:endParaRPr>
          </a:p>
        </p:txBody>
      </p:sp>
      <p:graphicFrame>
        <p:nvGraphicFramePr>
          <p:cNvPr id="8" name="표 7">
            <a:extLst>
              <a:ext uri="{FF2B5EF4-FFF2-40B4-BE49-F238E27FC236}">
                <a16:creationId xmlns:a16="http://schemas.microsoft.com/office/drawing/2014/main" id="{ABEB7845-3BD7-8D8A-90E7-ACB359822532}"/>
              </a:ext>
            </a:extLst>
          </p:cNvPr>
          <p:cNvGraphicFramePr>
            <a:graphicFrameLocks noGrp="1"/>
          </p:cNvGraphicFramePr>
          <p:nvPr/>
        </p:nvGraphicFramePr>
        <p:xfrm>
          <a:off x="751438" y="2652105"/>
          <a:ext cx="4396425" cy="2059805"/>
        </p:xfrm>
        <a:graphic>
          <a:graphicData uri="http://schemas.openxmlformats.org/drawingml/2006/table">
            <a:tbl>
              <a:tblPr firstRow="1" firstCol="1" bandRow="1">
                <a:tableStyleId>{5C22544A-7EE6-4342-B048-85BDC9FD1C3A}</a:tableStyleId>
              </a:tblPr>
              <a:tblGrid>
                <a:gridCol w="1465475">
                  <a:extLst>
                    <a:ext uri="{9D8B030D-6E8A-4147-A177-3AD203B41FA5}">
                      <a16:colId xmlns:a16="http://schemas.microsoft.com/office/drawing/2014/main" val="3807572866"/>
                    </a:ext>
                  </a:extLst>
                </a:gridCol>
                <a:gridCol w="1465475">
                  <a:extLst>
                    <a:ext uri="{9D8B030D-6E8A-4147-A177-3AD203B41FA5}">
                      <a16:colId xmlns:a16="http://schemas.microsoft.com/office/drawing/2014/main" val="20000"/>
                    </a:ext>
                  </a:extLst>
                </a:gridCol>
                <a:gridCol w="1465475">
                  <a:extLst>
                    <a:ext uri="{9D8B030D-6E8A-4147-A177-3AD203B41FA5}">
                      <a16:colId xmlns:a16="http://schemas.microsoft.com/office/drawing/2014/main" val="20001"/>
                    </a:ext>
                  </a:extLst>
                </a:gridCol>
              </a:tblGrid>
              <a:tr h="438257">
                <a:tc>
                  <a:txBody>
                    <a:bodyPr/>
                    <a:lstStyle/>
                    <a:p>
                      <a:pPr algn="ctr" latinLnBrk="1">
                        <a:lnSpc>
                          <a:spcPct val="107000"/>
                        </a:lnSpc>
                        <a:spcAft>
                          <a:spcPts val="0"/>
                        </a:spcAft>
                      </a:pPr>
                      <a:r>
                        <a:rPr lang="en-US" altLang="ko-KR" sz="1600" b="0" kern="100" dirty="0">
                          <a:effectLst/>
                          <a:latin typeface="Lato Bold" panose="020F0802020204030203" pitchFamily="34" charset="0"/>
                          <a:ea typeface="에스코어 드림 5 Medium" panose="020B0503030302020204" pitchFamily="34" charset="-127"/>
                          <a:cs typeface="Times New Roman" panose="02020603050405020304" pitchFamily="18" charset="0"/>
                        </a:rPr>
                        <a:t>Year</a:t>
                      </a:r>
                      <a:endParaRPr lang="ko-KR" sz="1600" b="0" kern="100" dirty="0">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5B6770"/>
                    </a:solidFill>
                  </a:tcPr>
                </a:tc>
                <a:tc>
                  <a:txBody>
                    <a:bodyPr/>
                    <a:lstStyle/>
                    <a:p>
                      <a:pPr algn="ctr" latinLnBrk="1">
                        <a:lnSpc>
                          <a:spcPct val="107000"/>
                        </a:lnSpc>
                        <a:spcAft>
                          <a:spcPts val="0"/>
                        </a:spcAft>
                      </a:pPr>
                      <a:r>
                        <a:rPr lang="en-US" sz="1600" b="0" kern="100" dirty="0">
                          <a:effectLst/>
                          <a:latin typeface="Lato Bold" panose="020F0802020204030203" pitchFamily="34" charset="0"/>
                          <a:ea typeface="에스코어 드림 5 Medium" panose="020B0503030302020204" pitchFamily="34" charset="-127"/>
                        </a:rPr>
                        <a:t>BWA</a:t>
                      </a:r>
                      <a:endParaRPr lang="ko-KR" sz="1600" b="0" kern="100" dirty="0">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5B6770"/>
                    </a:solidFill>
                  </a:tcPr>
                </a:tc>
                <a:tc>
                  <a:txBody>
                    <a:bodyPr/>
                    <a:lstStyle/>
                    <a:p>
                      <a:pPr algn="ctr" latinLnBrk="1">
                        <a:lnSpc>
                          <a:spcPct val="107000"/>
                        </a:lnSpc>
                        <a:spcAft>
                          <a:spcPts val="0"/>
                        </a:spcAft>
                      </a:pPr>
                      <a:r>
                        <a:rPr lang="en-US" sz="1600" b="0" kern="100">
                          <a:effectLst/>
                          <a:latin typeface="Lato Bold" panose="020F0802020204030203" pitchFamily="34" charset="0"/>
                          <a:ea typeface="에스코어 드림 5 Medium" panose="020B0503030302020204" pitchFamily="34" charset="-127"/>
                        </a:rPr>
                        <a:t>InBody S10</a:t>
                      </a:r>
                      <a:endParaRPr lang="ko-KR" sz="1600" b="0" kern="100">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5B6770"/>
                    </a:solidFill>
                  </a:tcPr>
                </a:tc>
                <a:extLst>
                  <a:ext uri="{0D108BD9-81ED-4DB2-BD59-A6C34878D82A}">
                    <a16:rowId xmlns:a16="http://schemas.microsoft.com/office/drawing/2014/main" val="10000"/>
                  </a:ext>
                </a:extLst>
              </a:tr>
              <a:tr h="540516">
                <a:tc>
                  <a:txBody>
                    <a:bodyPr/>
                    <a:lstStyle/>
                    <a:p>
                      <a:pPr algn="ctr" latinLnBrk="1">
                        <a:lnSpc>
                          <a:spcPct val="107000"/>
                        </a:lnSpc>
                        <a:spcAft>
                          <a:spcPts val="0"/>
                        </a:spcAft>
                      </a:pPr>
                      <a:r>
                        <a:rPr lang="en-US" altLang="ko-KR" sz="1600" b="0" kern="100" dirty="0">
                          <a:solidFill>
                            <a:srgbClr val="950B29"/>
                          </a:solidFill>
                          <a:effectLst/>
                          <a:latin typeface="Lato Bold" panose="020F0802020204030203" pitchFamily="34" charset="0"/>
                          <a:ea typeface="에스코어 드림 5 Medium" panose="020B0503030302020204" pitchFamily="34" charset="-127"/>
                          <a:cs typeface="Times New Roman" panose="02020603050405020304" pitchFamily="18" charset="0"/>
                        </a:rPr>
                        <a:t>2024</a:t>
                      </a:r>
                      <a:endParaRPr lang="ko-KR" sz="1600" b="0" kern="100" dirty="0">
                        <a:solidFill>
                          <a:srgbClr val="950B29"/>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latinLnBrk="1">
                        <a:lnSpc>
                          <a:spcPct val="107000"/>
                        </a:lnSpc>
                        <a:spcAft>
                          <a:spcPts val="0"/>
                        </a:spcAft>
                      </a:pPr>
                      <a:r>
                        <a:rPr lang="en-US" altLang="ko-KR" sz="1600" b="0" kern="100" dirty="0">
                          <a:solidFill>
                            <a:srgbClr val="950B29"/>
                          </a:solidFill>
                          <a:effectLst/>
                          <a:latin typeface="Lato Bold" panose="020F0802020204030203" pitchFamily="34" charset="0"/>
                          <a:ea typeface="에스코어 드림 5 Medium" panose="020B0503030302020204" pitchFamily="34" charset="-127"/>
                          <a:cs typeface="Times New Roman" panose="02020603050405020304" pitchFamily="18" charset="0"/>
                        </a:rPr>
                        <a:t>88</a:t>
                      </a:r>
                      <a:endParaRPr lang="ko-KR" sz="1600" b="0" kern="100" dirty="0">
                        <a:solidFill>
                          <a:srgbClr val="950B29"/>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latinLnBrk="1">
                        <a:lnSpc>
                          <a:spcPct val="107000"/>
                        </a:lnSpc>
                        <a:spcAft>
                          <a:spcPts val="0"/>
                        </a:spcAft>
                      </a:pPr>
                      <a:r>
                        <a:rPr lang="en-US" altLang="ko-KR" sz="1600" b="0" kern="100" dirty="0">
                          <a:solidFill>
                            <a:srgbClr val="950B29"/>
                          </a:solidFill>
                          <a:effectLst/>
                          <a:latin typeface="Lato Bold" panose="020F0802020204030203" pitchFamily="34" charset="0"/>
                          <a:ea typeface="에스코어 드림 5 Medium" panose="020B0503030302020204" pitchFamily="34" charset="-127"/>
                          <a:cs typeface="Times New Roman" panose="02020603050405020304" pitchFamily="18" charset="0"/>
                        </a:rPr>
                        <a:t>55</a:t>
                      </a:r>
                      <a:endParaRPr lang="ko-KR" sz="1600" b="0" kern="100" dirty="0">
                        <a:solidFill>
                          <a:srgbClr val="950B29"/>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84345681"/>
                  </a:ext>
                </a:extLst>
              </a:tr>
              <a:tr h="540516">
                <a:tc>
                  <a:txBody>
                    <a:bodyPr/>
                    <a:lstStyle/>
                    <a:p>
                      <a:pPr algn="ctr" latinLnBrk="1">
                        <a:lnSpc>
                          <a:spcPct val="107000"/>
                        </a:lnSpc>
                        <a:spcAft>
                          <a:spcPts val="0"/>
                        </a:spcAft>
                      </a:pPr>
                      <a:r>
                        <a:rPr lang="en-US" alt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rPr>
                        <a:t>2023</a:t>
                      </a:r>
                      <a:endParaRPr 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latinLnBrk="1">
                        <a:lnSpc>
                          <a:spcPct val="107000"/>
                        </a:lnSpc>
                        <a:spcAft>
                          <a:spcPts val="0"/>
                        </a:spcAft>
                      </a:pPr>
                      <a:r>
                        <a:rPr lang="en-US" alt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rPr>
                        <a:t>98</a:t>
                      </a:r>
                      <a:endParaRPr 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latinLnBrk="1">
                        <a:lnSpc>
                          <a:spcPct val="107000"/>
                        </a:lnSpc>
                        <a:spcAft>
                          <a:spcPts val="0"/>
                        </a:spcAft>
                      </a:pPr>
                      <a:r>
                        <a:rPr lang="en-US" sz="1600" b="0" kern="100" dirty="0">
                          <a:effectLst/>
                          <a:latin typeface="Lato Bold" panose="020F0802020204030203" pitchFamily="34" charset="0"/>
                          <a:ea typeface="에스코어 드림 5 Medium" panose="020B0503030302020204" pitchFamily="34" charset="-127"/>
                        </a:rPr>
                        <a:t>32</a:t>
                      </a:r>
                      <a:endParaRPr lang="ko-KR" sz="1600" b="0" kern="100" dirty="0">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0516">
                <a:tc>
                  <a:txBody>
                    <a:bodyPr/>
                    <a:lstStyle/>
                    <a:p>
                      <a:pPr algn="ctr" latinLnBrk="1">
                        <a:lnSpc>
                          <a:spcPct val="107000"/>
                        </a:lnSpc>
                        <a:spcAft>
                          <a:spcPts val="0"/>
                        </a:spcAft>
                      </a:pPr>
                      <a:r>
                        <a:rPr lang="en-US" alt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rPr>
                        <a:t>2022</a:t>
                      </a:r>
                      <a:endParaRPr 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latinLnBrk="1">
                        <a:lnSpc>
                          <a:spcPct val="107000"/>
                        </a:lnSpc>
                        <a:spcAft>
                          <a:spcPts val="0"/>
                        </a:spcAft>
                      </a:pPr>
                      <a:r>
                        <a:rPr lang="en-US" alt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rPr>
                        <a:t>81</a:t>
                      </a:r>
                      <a:endParaRPr lang="ko-KR" sz="1600" b="0" kern="100" dirty="0">
                        <a:solidFill>
                          <a:sysClr val="windowText" lastClr="000000"/>
                        </a:solidFill>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a:txBody>
                    <a:bodyPr/>
                    <a:lstStyle/>
                    <a:p>
                      <a:pPr algn="ctr" latinLnBrk="1">
                        <a:lnSpc>
                          <a:spcPct val="107000"/>
                        </a:lnSpc>
                        <a:spcAft>
                          <a:spcPts val="0"/>
                        </a:spcAft>
                      </a:pPr>
                      <a:r>
                        <a:rPr lang="en-US" altLang="ko-KR" sz="1600" b="0" kern="100" dirty="0">
                          <a:effectLst/>
                          <a:latin typeface="Lato Bold" panose="020F0802020204030203" pitchFamily="34" charset="0"/>
                          <a:ea typeface="에스코어 드림 5 Medium" panose="020B0503030302020204" pitchFamily="34" charset="-127"/>
                          <a:cs typeface="Times New Roman" panose="02020603050405020304" pitchFamily="18" charset="0"/>
                        </a:rPr>
                        <a:t>44</a:t>
                      </a:r>
                      <a:endParaRPr lang="ko-KR" sz="1600" b="0" kern="100" dirty="0">
                        <a:effectLst/>
                        <a:latin typeface="Lato Bold" panose="020F0802020204030203" pitchFamily="34" charset="0"/>
                        <a:ea typeface="에스코어 드림 5 Medium" panose="020B0503030302020204" pitchFamily="34" charset="-127"/>
                        <a:cs typeface="Times New Roman" panose="02020603050405020304" pitchFamily="18" charset="0"/>
                      </a:endParaRPr>
                    </a:p>
                  </a:txBody>
                  <a:tcPr marL="68580" marR="6858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19257173"/>
                  </a:ext>
                </a:extLst>
              </a:tr>
            </a:tbl>
          </a:graphicData>
        </a:graphic>
      </p:graphicFrame>
      <p:graphicFrame>
        <p:nvGraphicFramePr>
          <p:cNvPr id="9" name="차트 8">
            <a:extLst>
              <a:ext uri="{FF2B5EF4-FFF2-40B4-BE49-F238E27FC236}">
                <a16:creationId xmlns:a16="http://schemas.microsoft.com/office/drawing/2014/main" id="{70B9C452-B159-7FF6-BCB9-CE72AFCF4AEE}"/>
              </a:ext>
            </a:extLst>
          </p:cNvPr>
          <p:cNvGraphicFramePr/>
          <p:nvPr/>
        </p:nvGraphicFramePr>
        <p:xfrm>
          <a:off x="5734537" y="2392527"/>
          <a:ext cx="5952399" cy="3388601"/>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91A19268-B018-BAEB-90A9-3C3C485A927C}"/>
              </a:ext>
            </a:extLst>
          </p:cNvPr>
          <p:cNvSpPr txBox="1"/>
          <p:nvPr/>
        </p:nvSpPr>
        <p:spPr>
          <a:xfrm>
            <a:off x="7264749" y="2652105"/>
            <a:ext cx="393056" cy="307777"/>
          </a:xfrm>
          <a:prstGeom prst="rect">
            <a:avLst/>
          </a:prstGeom>
          <a:noFill/>
        </p:spPr>
        <p:txBody>
          <a:bodyPr wrap="none" rtlCol="0">
            <a:spAutoFit/>
          </a:bodyPr>
          <a:lstStyle/>
          <a:p>
            <a:r>
              <a:rPr lang="en-US" altLang="ko-KR" sz="1400" b="1" dirty="0">
                <a:solidFill>
                  <a:srgbClr val="67767F"/>
                </a:solidFill>
                <a:latin typeface="Lato Bold" panose="020F0802020204030203" pitchFamily="34" charset="0"/>
                <a:ea typeface="에스코어 드림 5 Medium" panose="020B0503030302020204" pitchFamily="34" charset="-127"/>
              </a:rPr>
              <a:t>98</a:t>
            </a:r>
            <a:endParaRPr lang="ko-KR" altLang="en-US" sz="1400" b="1" dirty="0">
              <a:solidFill>
                <a:srgbClr val="67767F"/>
              </a:solidFill>
              <a:latin typeface="Lato Bold" panose="020F0802020204030203" pitchFamily="34" charset="0"/>
              <a:ea typeface="에스코어 드림 5 Medium" panose="020B0503030302020204" pitchFamily="34" charset="-127"/>
            </a:endParaRPr>
          </a:p>
        </p:txBody>
      </p:sp>
      <p:sp>
        <p:nvSpPr>
          <p:cNvPr id="11" name="TextBox 10">
            <a:extLst>
              <a:ext uri="{FF2B5EF4-FFF2-40B4-BE49-F238E27FC236}">
                <a16:creationId xmlns:a16="http://schemas.microsoft.com/office/drawing/2014/main" id="{417D1800-A0A0-3E54-4B72-7D100E102724}"/>
              </a:ext>
            </a:extLst>
          </p:cNvPr>
          <p:cNvSpPr txBox="1"/>
          <p:nvPr/>
        </p:nvSpPr>
        <p:spPr>
          <a:xfrm>
            <a:off x="7912543" y="3034364"/>
            <a:ext cx="393056" cy="307777"/>
          </a:xfrm>
          <a:prstGeom prst="rect">
            <a:avLst/>
          </a:prstGeom>
          <a:noFill/>
        </p:spPr>
        <p:txBody>
          <a:bodyPr wrap="none" rtlCol="0">
            <a:spAutoFit/>
          </a:bodyPr>
          <a:lstStyle/>
          <a:p>
            <a:r>
              <a:rPr lang="en-US" altLang="ko-KR" sz="1400" b="1" dirty="0">
                <a:solidFill>
                  <a:srgbClr val="67767F"/>
                </a:solidFill>
                <a:latin typeface="Lato Bold" panose="020F0802020204030203" pitchFamily="34" charset="0"/>
                <a:ea typeface="에스코어 드림 5 Medium" panose="020B0503030302020204" pitchFamily="34" charset="-127"/>
              </a:rPr>
              <a:t>81</a:t>
            </a:r>
            <a:endParaRPr lang="ko-KR" altLang="en-US" sz="1400" b="1" dirty="0">
              <a:solidFill>
                <a:srgbClr val="67767F"/>
              </a:solidFill>
              <a:latin typeface="Lato Bold" panose="020F0802020204030203" pitchFamily="34" charset="0"/>
              <a:ea typeface="에스코어 드림 5 Medium" panose="020B0503030302020204" pitchFamily="34" charset="-127"/>
            </a:endParaRPr>
          </a:p>
        </p:txBody>
      </p:sp>
      <p:sp>
        <p:nvSpPr>
          <p:cNvPr id="12" name="TextBox 11">
            <a:extLst>
              <a:ext uri="{FF2B5EF4-FFF2-40B4-BE49-F238E27FC236}">
                <a16:creationId xmlns:a16="http://schemas.microsoft.com/office/drawing/2014/main" id="{96C8D42A-E2FE-A333-68E1-8C6585451AEF}"/>
              </a:ext>
            </a:extLst>
          </p:cNvPr>
          <p:cNvSpPr txBox="1"/>
          <p:nvPr/>
        </p:nvSpPr>
        <p:spPr>
          <a:xfrm>
            <a:off x="9968309" y="4057952"/>
            <a:ext cx="393056" cy="307777"/>
          </a:xfrm>
          <a:prstGeom prst="rect">
            <a:avLst/>
          </a:prstGeom>
          <a:noFill/>
        </p:spPr>
        <p:txBody>
          <a:bodyPr wrap="none" rtlCol="0">
            <a:spAutoFit/>
          </a:bodyPr>
          <a:lstStyle/>
          <a:p>
            <a:r>
              <a:rPr lang="en-US" altLang="ko-KR" sz="1400" b="1" dirty="0">
                <a:solidFill>
                  <a:srgbClr val="67767F"/>
                </a:solidFill>
                <a:latin typeface="Lato Bold" panose="020F0802020204030203" pitchFamily="34" charset="0"/>
                <a:ea typeface="에스코어 드림 5 Medium" panose="020B0503030302020204" pitchFamily="34" charset="-127"/>
              </a:rPr>
              <a:t>32</a:t>
            </a:r>
            <a:endParaRPr lang="ko-KR" altLang="en-US" sz="1400" b="1" dirty="0">
              <a:solidFill>
                <a:srgbClr val="67767F"/>
              </a:solidFill>
              <a:latin typeface="Lato Bold" panose="020F0802020204030203" pitchFamily="34" charset="0"/>
              <a:ea typeface="에스코어 드림 5 Medium" panose="020B0503030302020204" pitchFamily="34" charset="-127"/>
            </a:endParaRPr>
          </a:p>
        </p:txBody>
      </p:sp>
      <p:sp>
        <p:nvSpPr>
          <p:cNvPr id="13" name="TextBox 12">
            <a:extLst>
              <a:ext uri="{FF2B5EF4-FFF2-40B4-BE49-F238E27FC236}">
                <a16:creationId xmlns:a16="http://schemas.microsoft.com/office/drawing/2014/main" id="{F374F398-D3B9-8E80-44CD-C56F79C27145}"/>
              </a:ext>
            </a:extLst>
          </p:cNvPr>
          <p:cNvSpPr txBox="1"/>
          <p:nvPr/>
        </p:nvSpPr>
        <p:spPr>
          <a:xfrm>
            <a:off x="10575856" y="3817550"/>
            <a:ext cx="393056" cy="307777"/>
          </a:xfrm>
          <a:prstGeom prst="rect">
            <a:avLst/>
          </a:prstGeom>
          <a:noFill/>
        </p:spPr>
        <p:txBody>
          <a:bodyPr wrap="none" rtlCol="0">
            <a:spAutoFit/>
          </a:bodyPr>
          <a:lstStyle/>
          <a:p>
            <a:r>
              <a:rPr lang="en-US" altLang="ko-KR" sz="1400" b="1" dirty="0">
                <a:solidFill>
                  <a:srgbClr val="67767F"/>
                </a:solidFill>
                <a:latin typeface="Lato Bold" panose="020F0802020204030203" pitchFamily="34" charset="0"/>
                <a:ea typeface="에스코어 드림 5 Medium" panose="020B0503030302020204" pitchFamily="34" charset="-127"/>
              </a:rPr>
              <a:t>44</a:t>
            </a:r>
            <a:endParaRPr lang="ko-KR" altLang="en-US" sz="1400" b="1" dirty="0">
              <a:solidFill>
                <a:srgbClr val="67767F"/>
              </a:solidFill>
              <a:latin typeface="Lato Bold" panose="020F0802020204030203" pitchFamily="34" charset="0"/>
              <a:ea typeface="에스코어 드림 5 Medium" panose="020B0503030302020204" pitchFamily="34" charset="-127"/>
            </a:endParaRPr>
          </a:p>
        </p:txBody>
      </p:sp>
      <p:sp>
        <p:nvSpPr>
          <p:cNvPr id="14" name="TextBox 13">
            <a:extLst>
              <a:ext uri="{FF2B5EF4-FFF2-40B4-BE49-F238E27FC236}">
                <a16:creationId xmlns:a16="http://schemas.microsoft.com/office/drawing/2014/main" id="{9FBF8FC7-00C4-59A2-37AC-995F401DDF6B}"/>
              </a:ext>
            </a:extLst>
          </p:cNvPr>
          <p:cNvSpPr txBox="1"/>
          <p:nvPr/>
        </p:nvSpPr>
        <p:spPr>
          <a:xfrm>
            <a:off x="6635041" y="2856613"/>
            <a:ext cx="393056" cy="307777"/>
          </a:xfrm>
          <a:prstGeom prst="rect">
            <a:avLst/>
          </a:prstGeom>
          <a:noFill/>
        </p:spPr>
        <p:txBody>
          <a:bodyPr wrap="none" rtlCol="0">
            <a:spAutoFit/>
          </a:bodyPr>
          <a:lstStyle/>
          <a:p>
            <a:r>
              <a:rPr lang="en-US" altLang="ko-KR" sz="1400" b="1" dirty="0">
                <a:solidFill>
                  <a:srgbClr val="67767F"/>
                </a:solidFill>
                <a:latin typeface="Lato Bold" panose="020F0802020204030203" pitchFamily="34" charset="0"/>
                <a:ea typeface="에스코어 드림 5 Medium" panose="020B0503030302020204" pitchFamily="34" charset="-127"/>
              </a:rPr>
              <a:t>88</a:t>
            </a:r>
            <a:endParaRPr lang="ko-KR" altLang="en-US" sz="1400" b="1" dirty="0">
              <a:solidFill>
                <a:srgbClr val="67767F"/>
              </a:solidFill>
              <a:latin typeface="Lato Bold" panose="020F0802020204030203" pitchFamily="34" charset="0"/>
              <a:ea typeface="에스코어 드림 5 Medium" panose="020B0503030302020204" pitchFamily="34" charset="-127"/>
            </a:endParaRPr>
          </a:p>
        </p:txBody>
      </p:sp>
      <p:sp>
        <p:nvSpPr>
          <p:cNvPr id="15" name="TextBox 14">
            <a:extLst>
              <a:ext uri="{FF2B5EF4-FFF2-40B4-BE49-F238E27FC236}">
                <a16:creationId xmlns:a16="http://schemas.microsoft.com/office/drawing/2014/main" id="{F32D5A5B-F46D-9663-60DE-05F26922B54A}"/>
              </a:ext>
            </a:extLst>
          </p:cNvPr>
          <p:cNvSpPr txBox="1"/>
          <p:nvPr/>
        </p:nvSpPr>
        <p:spPr>
          <a:xfrm>
            <a:off x="9387777" y="3582785"/>
            <a:ext cx="393056" cy="307777"/>
          </a:xfrm>
          <a:prstGeom prst="rect">
            <a:avLst/>
          </a:prstGeom>
          <a:noFill/>
        </p:spPr>
        <p:txBody>
          <a:bodyPr wrap="none" rtlCol="0">
            <a:spAutoFit/>
          </a:bodyPr>
          <a:lstStyle/>
          <a:p>
            <a:r>
              <a:rPr lang="en-US" altLang="ko-KR" sz="1400" b="1" dirty="0">
                <a:solidFill>
                  <a:srgbClr val="67767F"/>
                </a:solidFill>
                <a:latin typeface="Lato Bold" panose="020F0802020204030203" pitchFamily="34" charset="0"/>
                <a:ea typeface="에스코어 드림 5 Medium" panose="020B0503030302020204" pitchFamily="34" charset="-127"/>
              </a:rPr>
              <a:t>55</a:t>
            </a:r>
            <a:endParaRPr lang="ko-KR" altLang="en-US" sz="1400" b="1" dirty="0">
              <a:solidFill>
                <a:srgbClr val="67767F"/>
              </a:solidFill>
              <a:latin typeface="Lato Bold" panose="020F0802020204030203" pitchFamily="34" charset="0"/>
              <a:ea typeface="에스코어 드림 5 Medium" panose="020B0503030302020204" pitchFamily="34" charset="-127"/>
            </a:endParaRPr>
          </a:p>
        </p:txBody>
      </p:sp>
    </p:spTree>
    <p:extLst>
      <p:ext uri="{BB962C8B-B14F-4D97-AF65-F5344CB8AC3E}">
        <p14:creationId xmlns:p14="http://schemas.microsoft.com/office/powerpoint/2010/main" val="232266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4624B0-55C2-001A-5777-3182222F742D}"/>
              </a:ext>
            </a:extLst>
          </p:cNvPr>
          <p:cNvSpPr txBox="1"/>
          <p:nvPr/>
        </p:nvSpPr>
        <p:spPr>
          <a:xfrm>
            <a:off x="170621" y="286931"/>
            <a:ext cx="704480" cy="461665"/>
          </a:xfrm>
          <a:prstGeom prst="rect">
            <a:avLst/>
          </a:prstGeom>
          <a:noFill/>
        </p:spPr>
        <p:txBody>
          <a:bodyPr wrap="square" rtlCol="0">
            <a:spAutoFit/>
          </a:bodyPr>
          <a:lstStyle/>
          <a:p>
            <a:r>
              <a:rPr lang="en-US" altLang="ko-KR" sz="24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4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모서리가 둥근 직사각형 5">
            <a:extLst>
              <a:ext uri="{FF2B5EF4-FFF2-40B4-BE49-F238E27FC236}">
                <a16:creationId xmlns:a16="http://schemas.microsoft.com/office/drawing/2014/main" id="{AB0531C0-FE88-7698-88BB-F5E8C5B11E80}"/>
              </a:ext>
            </a:extLst>
          </p:cNvPr>
          <p:cNvSpPr/>
          <p:nvPr/>
        </p:nvSpPr>
        <p:spPr>
          <a:xfrm>
            <a:off x="742294" y="787096"/>
            <a:ext cx="2635906" cy="321105"/>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4" name="TextBox 3">
            <a:extLst>
              <a:ext uri="{FF2B5EF4-FFF2-40B4-BE49-F238E27FC236}">
                <a16:creationId xmlns:a16="http://schemas.microsoft.com/office/drawing/2014/main" id="{EA777722-C4DC-F77A-4417-DDEA3317134E}"/>
              </a:ext>
            </a:extLst>
          </p:cNvPr>
          <p:cNvSpPr txBox="1"/>
          <p:nvPr/>
        </p:nvSpPr>
        <p:spPr>
          <a:xfrm>
            <a:off x="815446" y="736251"/>
            <a:ext cx="2682403" cy="369332"/>
          </a:xfrm>
          <a:prstGeom prst="rect">
            <a:avLst/>
          </a:prstGeom>
          <a:noFill/>
        </p:spPr>
        <p:txBody>
          <a:bodyPr wrap="square" rtlCol="0">
            <a:spAutoFit/>
          </a:bodyPr>
          <a:lstStyle/>
          <a:p>
            <a:pPr>
              <a:lnSpc>
                <a:spcPct val="150000"/>
              </a:lnSpc>
            </a:pPr>
            <a:r>
              <a:rPr kumimoji="1" lang="en-US" altLang="ko-KR" sz="1400" dirty="0">
                <a:ln>
                  <a:solidFill>
                    <a:srgbClr val="7E8080">
                      <a:alpha val="0"/>
                    </a:srgbClr>
                  </a:solidFill>
                </a:ln>
                <a:solidFill>
                  <a:srgbClr val="656E7D"/>
                </a:solidFill>
                <a:latin typeface="Lato Bold" panose="020F0802020204030203" pitchFamily="34" charset="0"/>
                <a:ea typeface="에스코어 드림 5 Medium" panose="020B0503030302020204" pitchFamily="34" charset="-127"/>
              </a:rPr>
              <a:t>Sales Status by Departments</a:t>
            </a:r>
          </a:p>
        </p:txBody>
      </p:sp>
      <p:graphicFrame>
        <p:nvGraphicFramePr>
          <p:cNvPr id="5" name="차트 4">
            <a:extLst>
              <a:ext uri="{FF2B5EF4-FFF2-40B4-BE49-F238E27FC236}">
                <a16:creationId xmlns:a16="http://schemas.microsoft.com/office/drawing/2014/main" id="{95C56F18-A88B-836E-2D25-AA8DD99CBCC5}"/>
              </a:ext>
            </a:extLst>
          </p:cNvPr>
          <p:cNvGraphicFramePr/>
          <p:nvPr/>
        </p:nvGraphicFramePr>
        <p:xfrm>
          <a:off x="338545" y="1928860"/>
          <a:ext cx="11514909" cy="289221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83932FB-A5DD-2D1A-1325-DE527F14A864}"/>
              </a:ext>
            </a:extLst>
          </p:cNvPr>
          <p:cNvSpPr txBox="1"/>
          <p:nvPr/>
        </p:nvSpPr>
        <p:spPr>
          <a:xfrm>
            <a:off x="693604" y="2998888"/>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5</a:t>
            </a:r>
            <a:endParaRPr lang="ko-KR" altLang="en-US" sz="900" b="1" dirty="0">
              <a:solidFill>
                <a:srgbClr val="950B29"/>
              </a:solidFill>
              <a:latin typeface="Lato" panose="020F0502020204030203" pitchFamily="34" charset="0"/>
              <a:ea typeface="+mj-ea"/>
            </a:endParaRPr>
          </a:p>
        </p:txBody>
      </p:sp>
      <p:sp>
        <p:nvSpPr>
          <p:cNvPr id="7" name="TextBox 6">
            <a:extLst>
              <a:ext uri="{FF2B5EF4-FFF2-40B4-BE49-F238E27FC236}">
                <a16:creationId xmlns:a16="http://schemas.microsoft.com/office/drawing/2014/main" id="{F0327A5E-99B9-C414-E88E-69C0973020AE}"/>
              </a:ext>
            </a:extLst>
          </p:cNvPr>
          <p:cNvSpPr txBox="1"/>
          <p:nvPr/>
        </p:nvSpPr>
        <p:spPr>
          <a:xfrm>
            <a:off x="786545" y="2727157"/>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12</a:t>
            </a:r>
            <a:endParaRPr lang="ko-KR" altLang="en-US" sz="900" b="1" dirty="0">
              <a:solidFill>
                <a:srgbClr val="67767F"/>
              </a:solidFill>
              <a:latin typeface="Lato" panose="020F0502020204030203" pitchFamily="34" charset="0"/>
              <a:ea typeface="+mj-ea"/>
            </a:endParaRPr>
          </a:p>
        </p:txBody>
      </p:sp>
      <p:sp>
        <p:nvSpPr>
          <p:cNvPr id="8" name="TextBox 7">
            <a:extLst>
              <a:ext uri="{FF2B5EF4-FFF2-40B4-BE49-F238E27FC236}">
                <a16:creationId xmlns:a16="http://schemas.microsoft.com/office/drawing/2014/main" id="{94934C9F-0FE7-3BF1-8C5B-129A081B56C2}"/>
              </a:ext>
            </a:extLst>
          </p:cNvPr>
          <p:cNvSpPr txBox="1"/>
          <p:nvPr/>
        </p:nvSpPr>
        <p:spPr>
          <a:xfrm>
            <a:off x="930822" y="2813097"/>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10</a:t>
            </a:r>
            <a:endParaRPr lang="ko-KR" altLang="en-US" sz="900" b="1" dirty="0">
              <a:solidFill>
                <a:srgbClr val="67767F"/>
              </a:solidFill>
              <a:latin typeface="Lato" panose="020F0502020204030203" pitchFamily="34" charset="0"/>
              <a:ea typeface="+mj-ea"/>
            </a:endParaRPr>
          </a:p>
        </p:txBody>
      </p:sp>
      <p:sp>
        <p:nvSpPr>
          <p:cNvPr id="9" name="TextBox 8">
            <a:extLst>
              <a:ext uri="{FF2B5EF4-FFF2-40B4-BE49-F238E27FC236}">
                <a16:creationId xmlns:a16="http://schemas.microsoft.com/office/drawing/2014/main" id="{494E32DC-64D2-2248-34FA-0C0395608549}"/>
              </a:ext>
            </a:extLst>
          </p:cNvPr>
          <p:cNvSpPr txBox="1"/>
          <p:nvPr/>
        </p:nvSpPr>
        <p:spPr>
          <a:xfrm>
            <a:off x="1283516" y="3182108"/>
            <a:ext cx="251992" cy="230832"/>
          </a:xfrm>
          <a:prstGeom prst="rect">
            <a:avLst/>
          </a:prstGeom>
          <a:noFill/>
        </p:spPr>
        <p:txBody>
          <a:bodyPr wrap="none" rtlCol="0">
            <a:spAutoFit/>
          </a:bodyPr>
          <a:lstStyle/>
          <a:p>
            <a:r>
              <a:rPr lang="en-US" altLang="ko-KR" sz="900" b="1" dirty="0">
                <a:solidFill>
                  <a:srgbClr val="950B29"/>
                </a:solidFill>
                <a:latin typeface="+mj-ea"/>
                <a:ea typeface="+mj-ea"/>
              </a:rPr>
              <a:t>1</a:t>
            </a:r>
            <a:endParaRPr lang="ko-KR" altLang="en-US" sz="900" b="1" dirty="0">
              <a:solidFill>
                <a:srgbClr val="950B29"/>
              </a:solidFill>
              <a:latin typeface="+mj-ea"/>
              <a:ea typeface="+mj-ea"/>
            </a:endParaRPr>
          </a:p>
        </p:txBody>
      </p:sp>
      <p:sp>
        <p:nvSpPr>
          <p:cNvPr id="10" name="TextBox 9">
            <a:extLst>
              <a:ext uri="{FF2B5EF4-FFF2-40B4-BE49-F238E27FC236}">
                <a16:creationId xmlns:a16="http://schemas.microsoft.com/office/drawing/2014/main" id="{5E025E18-80C0-214C-C97A-E431D381BFE6}"/>
              </a:ext>
            </a:extLst>
          </p:cNvPr>
          <p:cNvSpPr txBox="1"/>
          <p:nvPr/>
        </p:nvSpPr>
        <p:spPr>
          <a:xfrm>
            <a:off x="1414197" y="3172199"/>
            <a:ext cx="251992" cy="230832"/>
          </a:xfrm>
          <a:prstGeom prst="rect">
            <a:avLst/>
          </a:prstGeom>
          <a:noFill/>
        </p:spPr>
        <p:txBody>
          <a:bodyPr wrap="none" rtlCol="0">
            <a:spAutoFit/>
          </a:bodyPr>
          <a:lstStyle/>
          <a:p>
            <a:r>
              <a:rPr lang="en-US" altLang="ko-KR" sz="900" b="1" dirty="0">
                <a:solidFill>
                  <a:srgbClr val="67767F"/>
                </a:solidFill>
                <a:latin typeface="+mj-ea"/>
                <a:ea typeface="+mj-ea"/>
              </a:rPr>
              <a:t>1</a:t>
            </a:r>
            <a:endParaRPr lang="ko-KR" altLang="en-US" sz="900" b="1" dirty="0">
              <a:solidFill>
                <a:srgbClr val="67767F"/>
              </a:solidFill>
              <a:latin typeface="+mj-ea"/>
              <a:ea typeface="+mj-ea"/>
            </a:endParaRPr>
          </a:p>
        </p:txBody>
      </p:sp>
      <p:sp>
        <p:nvSpPr>
          <p:cNvPr id="11" name="TextBox 10">
            <a:extLst>
              <a:ext uri="{FF2B5EF4-FFF2-40B4-BE49-F238E27FC236}">
                <a16:creationId xmlns:a16="http://schemas.microsoft.com/office/drawing/2014/main" id="{E3896D9F-F60F-33EF-D35B-BC41F29D94F6}"/>
              </a:ext>
            </a:extLst>
          </p:cNvPr>
          <p:cNvSpPr txBox="1"/>
          <p:nvPr/>
        </p:nvSpPr>
        <p:spPr>
          <a:xfrm>
            <a:off x="1540704" y="3053395"/>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4</a:t>
            </a:r>
            <a:endParaRPr lang="ko-KR" altLang="en-US" sz="900" b="1" dirty="0">
              <a:solidFill>
                <a:srgbClr val="67767F"/>
              </a:solidFill>
              <a:latin typeface="Lato" panose="020F0502020204030203" pitchFamily="34" charset="0"/>
              <a:ea typeface="+mj-ea"/>
            </a:endParaRPr>
          </a:p>
        </p:txBody>
      </p:sp>
      <p:sp>
        <p:nvSpPr>
          <p:cNvPr id="12" name="TextBox 11">
            <a:extLst>
              <a:ext uri="{FF2B5EF4-FFF2-40B4-BE49-F238E27FC236}">
                <a16:creationId xmlns:a16="http://schemas.microsoft.com/office/drawing/2014/main" id="{103E964D-E804-73C8-A5A7-706BA6F6E83A}"/>
              </a:ext>
            </a:extLst>
          </p:cNvPr>
          <p:cNvSpPr txBox="1"/>
          <p:nvPr/>
        </p:nvSpPr>
        <p:spPr>
          <a:xfrm>
            <a:off x="1812241" y="2756656"/>
            <a:ext cx="319318"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12</a:t>
            </a:r>
            <a:endParaRPr lang="ko-KR" altLang="en-US" sz="900" b="1" dirty="0">
              <a:solidFill>
                <a:srgbClr val="950B29"/>
              </a:solidFill>
              <a:latin typeface="Lato" panose="020F0502020204030203" pitchFamily="34" charset="0"/>
              <a:ea typeface="+mj-ea"/>
            </a:endParaRPr>
          </a:p>
        </p:txBody>
      </p:sp>
      <p:sp>
        <p:nvSpPr>
          <p:cNvPr id="13" name="TextBox 12">
            <a:extLst>
              <a:ext uri="{FF2B5EF4-FFF2-40B4-BE49-F238E27FC236}">
                <a16:creationId xmlns:a16="http://schemas.microsoft.com/office/drawing/2014/main" id="{C89C2C51-3E14-7FAF-C6CC-23FFF47659F1}"/>
              </a:ext>
            </a:extLst>
          </p:cNvPr>
          <p:cNvSpPr txBox="1"/>
          <p:nvPr/>
        </p:nvSpPr>
        <p:spPr>
          <a:xfrm>
            <a:off x="1971900" y="2756656"/>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12</a:t>
            </a:r>
            <a:endParaRPr lang="ko-KR" altLang="en-US" sz="900" b="1" dirty="0">
              <a:solidFill>
                <a:srgbClr val="67767F"/>
              </a:solidFill>
              <a:latin typeface="Lato" panose="020F0502020204030203" pitchFamily="34" charset="0"/>
              <a:ea typeface="+mj-ea"/>
            </a:endParaRPr>
          </a:p>
        </p:txBody>
      </p:sp>
      <p:sp>
        <p:nvSpPr>
          <p:cNvPr id="14" name="TextBox 13">
            <a:extLst>
              <a:ext uri="{FF2B5EF4-FFF2-40B4-BE49-F238E27FC236}">
                <a16:creationId xmlns:a16="http://schemas.microsoft.com/office/drawing/2014/main" id="{BB1231A8-F7F5-B26A-27E8-2ADA56318507}"/>
              </a:ext>
            </a:extLst>
          </p:cNvPr>
          <p:cNvSpPr txBox="1"/>
          <p:nvPr/>
        </p:nvSpPr>
        <p:spPr>
          <a:xfrm>
            <a:off x="2117067" y="2836714"/>
            <a:ext cx="319318" cy="230832"/>
          </a:xfrm>
          <a:prstGeom prst="rect">
            <a:avLst/>
          </a:prstGeom>
          <a:noFill/>
        </p:spPr>
        <p:txBody>
          <a:bodyPr wrap="none" rtlCol="0">
            <a:spAutoFit/>
          </a:bodyPr>
          <a:lstStyle/>
          <a:p>
            <a:r>
              <a:rPr lang="en-US" altLang="ko-KR" sz="900" b="1">
                <a:solidFill>
                  <a:srgbClr val="67767F"/>
                </a:solidFill>
                <a:latin typeface="Lato" panose="020F0502020204030203" pitchFamily="34" charset="0"/>
                <a:ea typeface="+mj-ea"/>
              </a:rPr>
              <a:t>10</a:t>
            </a:r>
            <a:endParaRPr lang="ko-KR" altLang="en-US" sz="900" b="1" dirty="0">
              <a:solidFill>
                <a:srgbClr val="67767F"/>
              </a:solidFill>
              <a:latin typeface="Lato" panose="020F0502020204030203" pitchFamily="34" charset="0"/>
              <a:ea typeface="+mj-ea"/>
            </a:endParaRPr>
          </a:p>
        </p:txBody>
      </p:sp>
      <p:sp>
        <p:nvSpPr>
          <p:cNvPr id="15" name="TextBox 14">
            <a:extLst>
              <a:ext uri="{FF2B5EF4-FFF2-40B4-BE49-F238E27FC236}">
                <a16:creationId xmlns:a16="http://schemas.microsoft.com/office/drawing/2014/main" id="{51088B22-A65A-B7BB-745D-BE567B3E8349}"/>
              </a:ext>
            </a:extLst>
          </p:cNvPr>
          <p:cNvSpPr txBox="1"/>
          <p:nvPr/>
        </p:nvSpPr>
        <p:spPr>
          <a:xfrm>
            <a:off x="2479923" y="3056783"/>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4</a:t>
            </a:r>
            <a:endParaRPr lang="ko-KR" altLang="en-US" sz="900" b="1" dirty="0">
              <a:solidFill>
                <a:srgbClr val="950B29"/>
              </a:solidFill>
              <a:latin typeface="Lato" panose="020F0502020204030203" pitchFamily="34" charset="0"/>
              <a:ea typeface="+mj-ea"/>
            </a:endParaRPr>
          </a:p>
        </p:txBody>
      </p:sp>
      <p:sp>
        <p:nvSpPr>
          <p:cNvPr id="16" name="TextBox 15">
            <a:extLst>
              <a:ext uri="{FF2B5EF4-FFF2-40B4-BE49-F238E27FC236}">
                <a16:creationId xmlns:a16="http://schemas.microsoft.com/office/drawing/2014/main" id="{91F49468-ACC3-9664-DF5D-4BFDFC48E375}"/>
              </a:ext>
            </a:extLst>
          </p:cNvPr>
          <p:cNvSpPr txBox="1"/>
          <p:nvPr/>
        </p:nvSpPr>
        <p:spPr>
          <a:xfrm>
            <a:off x="2591655" y="3056783"/>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4</a:t>
            </a:r>
            <a:endParaRPr lang="ko-KR" altLang="en-US" sz="900" b="1" dirty="0">
              <a:solidFill>
                <a:srgbClr val="67767F"/>
              </a:solidFill>
              <a:latin typeface="Lato" panose="020F0502020204030203" pitchFamily="34" charset="0"/>
              <a:ea typeface="+mj-ea"/>
            </a:endParaRPr>
          </a:p>
        </p:txBody>
      </p:sp>
      <p:sp>
        <p:nvSpPr>
          <p:cNvPr id="17" name="TextBox 16">
            <a:extLst>
              <a:ext uri="{FF2B5EF4-FFF2-40B4-BE49-F238E27FC236}">
                <a16:creationId xmlns:a16="http://schemas.microsoft.com/office/drawing/2014/main" id="{3DB81F18-908E-409F-73E8-A2E0F865B028}"/>
              </a:ext>
            </a:extLst>
          </p:cNvPr>
          <p:cNvSpPr txBox="1"/>
          <p:nvPr/>
        </p:nvSpPr>
        <p:spPr>
          <a:xfrm>
            <a:off x="2731915" y="3133029"/>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2</a:t>
            </a:r>
            <a:endParaRPr lang="ko-KR" altLang="en-US" sz="900" b="1" dirty="0">
              <a:solidFill>
                <a:srgbClr val="67767F"/>
              </a:solidFill>
              <a:latin typeface="Lato" panose="020F0502020204030203" pitchFamily="34" charset="0"/>
              <a:ea typeface="+mj-ea"/>
            </a:endParaRPr>
          </a:p>
        </p:txBody>
      </p:sp>
      <p:sp>
        <p:nvSpPr>
          <p:cNvPr id="18" name="TextBox 17">
            <a:extLst>
              <a:ext uri="{FF2B5EF4-FFF2-40B4-BE49-F238E27FC236}">
                <a16:creationId xmlns:a16="http://schemas.microsoft.com/office/drawing/2014/main" id="{D94FBFA2-8791-77B0-3638-85F836BD8A32}"/>
              </a:ext>
            </a:extLst>
          </p:cNvPr>
          <p:cNvSpPr txBox="1"/>
          <p:nvPr/>
        </p:nvSpPr>
        <p:spPr>
          <a:xfrm>
            <a:off x="3043924" y="3123211"/>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2</a:t>
            </a:r>
            <a:endParaRPr lang="ko-KR" altLang="en-US" sz="900" b="1" dirty="0">
              <a:solidFill>
                <a:srgbClr val="950B29"/>
              </a:solidFill>
              <a:latin typeface="Lato" panose="020F0502020204030203" pitchFamily="34" charset="0"/>
              <a:ea typeface="+mj-ea"/>
            </a:endParaRPr>
          </a:p>
        </p:txBody>
      </p:sp>
      <p:sp>
        <p:nvSpPr>
          <p:cNvPr id="19" name="TextBox 18">
            <a:extLst>
              <a:ext uri="{FF2B5EF4-FFF2-40B4-BE49-F238E27FC236}">
                <a16:creationId xmlns:a16="http://schemas.microsoft.com/office/drawing/2014/main" id="{1A843A38-CB9A-4EAF-DE1C-189C9116114B}"/>
              </a:ext>
            </a:extLst>
          </p:cNvPr>
          <p:cNvSpPr txBox="1"/>
          <p:nvPr/>
        </p:nvSpPr>
        <p:spPr>
          <a:xfrm>
            <a:off x="3315930" y="3166973"/>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a:t>
            </a:r>
            <a:endParaRPr lang="ko-KR" altLang="en-US" sz="900" b="1" dirty="0">
              <a:solidFill>
                <a:srgbClr val="67767F"/>
              </a:solidFill>
              <a:latin typeface="Lato" panose="020F0502020204030203" pitchFamily="34" charset="0"/>
              <a:ea typeface="+mj-ea"/>
            </a:endParaRPr>
          </a:p>
        </p:txBody>
      </p:sp>
      <p:sp>
        <p:nvSpPr>
          <p:cNvPr id="20" name="TextBox 19">
            <a:extLst>
              <a:ext uri="{FF2B5EF4-FFF2-40B4-BE49-F238E27FC236}">
                <a16:creationId xmlns:a16="http://schemas.microsoft.com/office/drawing/2014/main" id="{2E9E6D9C-672F-ABEE-9652-77EEC74E91BA}"/>
              </a:ext>
            </a:extLst>
          </p:cNvPr>
          <p:cNvSpPr txBox="1"/>
          <p:nvPr/>
        </p:nvSpPr>
        <p:spPr>
          <a:xfrm>
            <a:off x="3192053" y="3013267"/>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5</a:t>
            </a:r>
            <a:endParaRPr lang="ko-KR" altLang="en-US" sz="900" b="1" dirty="0">
              <a:solidFill>
                <a:srgbClr val="67767F"/>
              </a:solidFill>
              <a:latin typeface="Lato" panose="020F0502020204030203" pitchFamily="34" charset="0"/>
              <a:ea typeface="+mj-ea"/>
            </a:endParaRPr>
          </a:p>
        </p:txBody>
      </p:sp>
      <p:sp>
        <p:nvSpPr>
          <p:cNvPr id="21" name="TextBox 20">
            <a:extLst>
              <a:ext uri="{FF2B5EF4-FFF2-40B4-BE49-F238E27FC236}">
                <a16:creationId xmlns:a16="http://schemas.microsoft.com/office/drawing/2014/main" id="{26F43C0B-5DFA-41DD-4DB8-3B8022DB63E0}"/>
              </a:ext>
            </a:extLst>
          </p:cNvPr>
          <p:cNvSpPr txBox="1"/>
          <p:nvPr/>
        </p:nvSpPr>
        <p:spPr>
          <a:xfrm>
            <a:off x="3650959" y="3069681"/>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3</a:t>
            </a:r>
            <a:endParaRPr lang="ko-KR" altLang="en-US" sz="900" b="1" dirty="0">
              <a:solidFill>
                <a:srgbClr val="950B29"/>
              </a:solidFill>
              <a:latin typeface="Lato" panose="020F0502020204030203" pitchFamily="34" charset="0"/>
              <a:ea typeface="+mj-ea"/>
            </a:endParaRPr>
          </a:p>
        </p:txBody>
      </p:sp>
      <p:sp>
        <p:nvSpPr>
          <p:cNvPr id="22" name="TextBox 21">
            <a:extLst>
              <a:ext uri="{FF2B5EF4-FFF2-40B4-BE49-F238E27FC236}">
                <a16:creationId xmlns:a16="http://schemas.microsoft.com/office/drawing/2014/main" id="{A9030986-714D-FC33-065B-98C7009EDF01}"/>
              </a:ext>
            </a:extLst>
          </p:cNvPr>
          <p:cNvSpPr txBox="1"/>
          <p:nvPr/>
        </p:nvSpPr>
        <p:spPr>
          <a:xfrm>
            <a:off x="3902951" y="3069681"/>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3</a:t>
            </a:r>
            <a:endParaRPr lang="ko-KR" altLang="en-US" sz="900" b="1" dirty="0">
              <a:solidFill>
                <a:srgbClr val="67767F"/>
              </a:solidFill>
              <a:latin typeface="Lato" panose="020F0502020204030203" pitchFamily="34" charset="0"/>
              <a:ea typeface="+mj-ea"/>
            </a:endParaRPr>
          </a:p>
        </p:txBody>
      </p:sp>
      <p:sp>
        <p:nvSpPr>
          <p:cNvPr id="23" name="TextBox 22">
            <a:extLst>
              <a:ext uri="{FF2B5EF4-FFF2-40B4-BE49-F238E27FC236}">
                <a16:creationId xmlns:a16="http://schemas.microsoft.com/office/drawing/2014/main" id="{BFDB652D-B773-8A23-8A85-EBF5E4DE389F}"/>
              </a:ext>
            </a:extLst>
          </p:cNvPr>
          <p:cNvSpPr txBox="1"/>
          <p:nvPr/>
        </p:nvSpPr>
        <p:spPr>
          <a:xfrm>
            <a:off x="3784668" y="3131284"/>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2</a:t>
            </a:r>
            <a:endParaRPr lang="ko-KR" altLang="en-US" sz="900" b="1" dirty="0">
              <a:solidFill>
                <a:srgbClr val="67767F"/>
              </a:solidFill>
              <a:latin typeface="Lato" panose="020F0502020204030203" pitchFamily="34" charset="0"/>
              <a:ea typeface="+mj-ea"/>
            </a:endParaRPr>
          </a:p>
        </p:txBody>
      </p:sp>
      <p:sp>
        <p:nvSpPr>
          <p:cNvPr id="24" name="TextBox 23">
            <a:extLst>
              <a:ext uri="{FF2B5EF4-FFF2-40B4-BE49-F238E27FC236}">
                <a16:creationId xmlns:a16="http://schemas.microsoft.com/office/drawing/2014/main" id="{08F0725B-4950-7671-025B-F83E58DFAC8B}"/>
              </a:ext>
            </a:extLst>
          </p:cNvPr>
          <p:cNvSpPr txBox="1"/>
          <p:nvPr/>
        </p:nvSpPr>
        <p:spPr>
          <a:xfrm>
            <a:off x="4363239" y="3060605"/>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3</a:t>
            </a:r>
            <a:endParaRPr lang="ko-KR" altLang="en-US" sz="900" b="1" dirty="0">
              <a:solidFill>
                <a:srgbClr val="67767F"/>
              </a:solidFill>
              <a:latin typeface="Lato" panose="020F0502020204030203" pitchFamily="34" charset="0"/>
              <a:ea typeface="+mj-ea"/>
            </a:endParaRPr>
          </a:p>
        </p:txBody>
      </p:sp>
      <p:sp>
        <p:nvSpPr>
          <p:cNvPr id="25" name="TextBox 24">
            <a:extLst>
              <a:ext uri="{FF2B5EF4-FFF2-40B4-BE49-F238E27FC236}">
                <a16:creationId xmlns:a16="http://schemas.microsoft.com/office/drawing/2014/main" id="{467AAA34-DA8C-62FF-DB4C-ACAF526B6233}"/>
              </a:ext>
            </a:extLst>
          </p:cNvPr>
          <p:cNvSpPr txBox="1"/>
          <p:nvPr/>
        </p:nvSpPr>
        <p:spPr>
          <a:xfrm>
            <a:off x="4229341" y="3161845"/>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1</a:t>
            </a:r>
            <a:endParaRPr lang="ko-KR" altLang="en-US" sz="900" b="1" dirty="0">
              <a:solidFill>
                <a:srgbClr val="950B29"/>
              </a:solidFill>
              <a:latin typeface="Lato" panose="020F0502020204030203" pitchFamily="34" charset="0"/>
              <a:ea typeface="+mj-ea"/>
            </a:endParaRPr>
          </a:p>
        </p:txBody>
      </p:sp>
      <p:sp>
        <p:nvSpPr>
          <p:cNvPr id="26" name="TextBox 25">
            <a:extLst>
              <a:ext uri="{FF2B5EF4-FFF2-40B4-BE49-F238E27FC236}">
                <a16:creationId xmlns:a16="http://schemas.microsoft.com/office/drawing/2014/main" id="{C01FFA7F-749D-3F3A-5845-90406EA6D55A}"/>
              </a:ext>
            </a:extLst>
          </p:cNvPr>
          <p:cNvSpPr txBox="1"/>
          <p:nvPr/>
        </p:nvSpPr>
        <p:spPr>
          <a:xfrm>
            <a:off x="4497137" y="3161845"/>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a:t>
            </a:r>
            <a:endParaRPr lang="ko-KR" altLang="en-US" sz="900" b="1" dirty="0">
              <a:solidFill>
                <a:srgbClr val="67767F"/>
              </a:solidFill>
              <a:latin typeface="Lato" panose="020F0502020204030203" pitchFamily="34" charset="0"/>
              <a:ea typeface="+mj-ea"/>
            </a:endParaRPr>
          </a:p>
        </p:txBody>
      </p:sp>
      <p:sp>
        <p:nvSpPr>
          <p:cNvPr id="27" name="TextBox 26">
            <a:extLst>
              <a:ext uri="{FF2B5EF4-FFF2-40B4-BE49-F238E27FC236}">
                <a16:creationId xmlns:a16="http://schemas.microsoft.com/office/drawing/2014/main" id="{21A0D7C9-AB35-5614-0E97-3204B2FE98EE}"/>
              </a:ext>
            </a:extLst>
          </p:cNvPr>
          <p:cNvSpPr txBox="1"/>
          <p:nvPr/>
        </p:nvSpPr>
        <p:spPr>
          <a:xfrm>
            <a:off x="4792356" y="1989085"/>
            <a:ext cx="319318"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32</a:t>
            </a:r>
            <a:endParaRPr lang="ko-KR" altLang="en-US" sz="900" b="1" dirty="0">
              <a:solidFill>
                <a:srgbClr val="950B29"/>
              </a:solidFill>
              <a:latin typeface="Lato" panose="020F0502020204030203" pitchFamily="34" charset="0"/>
              <a:ea typeface="+mj-ea"/>
            </a:endParaRPr>
          </a:p>
        </p:txBody>
      </p:sp>
      <p:sp>
        <p:nvSpPr>
          <p:cNvPr id="28" name="TextBox 27">
            <a:extLst>
              <a:ext uri="{FF2B5EF4-FFF2-40B4-BE49-F238E27FC236}">
                <a16:creationId xmlns:a16="http://schemas.microsoft.com/office/drawing/2014/main" id="{7241C4B1-0F3E-09A2-9175-36C3D1E122EB}"/>
              </a:ext>
            </a:extLst>
          </p:cNvPr>
          <p:cNvSpPr txBox="1"/>
          <p:nvPr/>
        </p:nvSpPr>
        <p:spPr>
          <a:xfrm>
            <a:off x="4920120" y="2633737"/>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15</a:t>
            </a:r>
            <a:endParaRPr lang="ko-KR" altLang="en-US" sz="900" b="1" dirty="0">
              <a:solidFill>
                <a:srgbClr val="67767F"/>
              </a:solidFill>
              <a:latin typeface="Lato" panose="020F0502020204030203" pitchFamily="34" charset="0"/>
              <a:ea typeface="+mj-ea"/>
            </a:endParaRPr>
          </a:p>
        </p:txBody>
      </p:sp>
      <p:sp>
        <p:nvSpPr>
          <p:cNvPr id="29" name="TextBox 28">
            <a:extLst>
              <a:ext uri="{FF2B5EF4-FFF2-40B4-BE49-F238E27FC236}">
                <a16:creationId xmlns:a16="http://schemas.microsoft.com/office/drawing/2014/main" id="{C33C35FC-F69F-0EDC-6B54-4F121B305793}"/>
              </a:ext>
            </a:extLst>
          </p:cNvPr>
          <p:cNvSpPr txBox="1"/>
          <p:nvPr/>
        </p:nvSpPr>
        <p:spPr>
          <a:xfrm>
            <a:off x="5088799" y="2854289"/>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9</a:t>
            </a:r>
            <a:endParaRPr lang="ko-KR" altLang="en-US" sz="900" b="1" dirty="0">
              <a:solidFill>
                <a:srgbClr val="67767F"/>
              </a:solidFill>
              <a:latin typeface="Lato" panose="020F0502020204030203" pitchFamily="34" charset="0"/>
              <a:ea typeface="+mj-ea"/>
            </a:endParaRPr>
          </a:p>
        </p:txBody>
      </p:sp>
      <p:sp>
        <p:nvSpPr>
          <p:cNvPr id="30" name="TextBox 29">
            <a:extLst>
              <a:ext uri="{FF2B5EF4-FFF2-40B4-BE49-F238E27FC236}">
                <a16:creationId xmlns:a16="http://schemas.microsoft.com/office/drawing/2014/main" id="{52424B4B-2AF0-CBD8-FECB-E2A87B09EBFD}"/>
              </a:ext>
            </a:extLst>
          </p:cNvPr>
          <p:cNvSpPr txBox="1"/>
          <p:nvPr/>
        </p:nvSpPr>
        <p:spPr>
          <a:xfrm>
            <a:off x="5377694" y="2630564"/>
            <a:ext cx="319318"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15</a:t>
            </a:r>
            <a:endParaRPr lang="ko-KR" altLang="en-US" sz="900" b="1" dirty="0">
              <a:solidFill>
                <a:srgbClr val="950B29"/>
              </a:solidFill>
              <a:latin typeface="Lato" panose="020F0502020204030203" pitchFamily="34" charset="0"/>
              <a:ea typeface="+mj-ea"/>
            </a:endParaRPr>
          </a:p>
        </p:txBody>
      </p:sp>
      <p:sp>
        <p:nvSpPr>
          <p:cNvPr id="31" name="TextBox 30">
            <a:extLst>
              <a:ext uri="{FF2B5EF4-FFF2-40B4-BE49-F238E27FC236}">
                <a16:creationId xmlns:a16="http://schemas.microsoft.com/office/drawing/2014/main" id="{BA64EA59-04B7-DB39-2997-525DE49DF628}"/>
              </a:ext>
            </a:extLst>
          </p:cNvPr>
          <p:cNvSpPr txBox="1"/>
          <p:nvPr/>
        </p:nvSpPr>
        <p:spPr>
          <a:xfrm>
            <a:off x="5530835" y="3086629"/>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3</a:t>
            </a:r>
            <a:endParaRPr lang="ko-KR" altLang="en-US" sz="900" b="1" dirty="0">
              <a:solidFill>
                <a:srgbClr val="67767F"/>
              </a:solidFill>
              <a:latin typeface="Lato" panose="020F0502020204030203" pitchFamily="34" charset="0"/>
              <a:ea typeface="+mj-ea"/>
            </a:endParaRPr>
          </a:p>
        </p:txBody>
      </p:sp>
      <p:sp>
        <p:nvSpPr>
          <p:cNvPr id="32" name="TextBox 31">
            <a:extLst>
              <a:ext uri="{FF2B5EF4-FFF2-40B4-BE49-F238E27FC236}">
                <a16:creationId xmlns:a16="http://schemas.microsoft.com/office/drawing/2014/main" id="{CA44D830-2C96-2EAF-0D73-C6EC574273A7}"/>
              </a:ext>
            </a:extLst>
          </p:cNvPr>
          <p:cNvSpPr txBox="1"/>
          <p:nvPr/>
        </p:nvSpPr>
        <p:spPr>
          <a:xfrm>
            <a:off x="5673018" y="2999476"/>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5</a:t>
            </a:r>
            <a:endParaRPr lang="ko-KR" altLang="en-US" sz="900" b="1" dirty="0">
              <a:solidFill>
                <a:srgbClr val="67767F"/>
              </a:solidFill>
              <a:latin typeface="Lato" panose="020F0502020204030203" pitchFamily="34" charset="0"/>
              <a:ea typeface="+mj-ea"/>
            </a:endParaRPr>
          </a:p>
        </p:txBody>
      </p:sp>
      <p:sp>
        <p:nvSpPr>
          <p:cNvPr id="33" name="TextBox 32">
            <a:extLst>
              <a:ext uri="{FF2B5EF4-FFF2-40B4-BE49-F238E27FC236}">
                <a16:creationId xmlns:a16="http://schemas.microsoft.com/office/drawing/2014/main" id="{5909D622-4630-4EE2-EA0F-29649398C158}"/>
              </a:ext>
            </a:extLst>
          </p:cNvPr>
          <p:cNvSpPr txBox="1"/>
          <p:nvPr/>
        </p:nvSpPr>
        <p:spPr>
          <a:xfrm>
            <a:off x="5997551" y="2997169"/>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5</a:t>
            </a:r>
            <a:endParaRPr lang="ko-KR" altLang="en-US" sz="900" b="1" dirty="0">
              <a:solidFill>
                <a:srgbClr val="950B29"/>
              </a:solidFill>
              <a:latin typeface="Lato" panose="020F0502020204030203" pitchFamily="34" charset="0"/>
              <a:ea typeface="+mj-ea"/>
            </a:endParaRPr>
          </a:p>
        </p:txBody>
      </p:sp>
      <p:sp>
        <p:nvSpPr>
          <p:cNvPr id="34" name="TextBox 33">
            <a:extLst>
              <a:ext uri="{FF2B5EF4-FFF2-40B4-BE49-F238E27FC236}">
                <a16:creationId xmlns:a16="http://schemas.microsoft.com/office/drawing/2014/main" id="{6719D44D-6813-F08C-CE5A-6038DACFA94B}"/>
              </a:ext>
            </a:extLst>
          </p:cNvPr>
          <p:cNvSpPr txBox="1"/>
          <p:nvPr/>
        </p:nvSpPr>
        <p:spPr>
          <a:xfrm>
            <a:off x="6581255" y="2924147"/>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7</a:t>
            </a:r>
            <a:endParaRPr lang="ko-KR" altLang="en-US" sz="900" b="1" dirty="0">
              <a:solidFill>
                <a:srgbClr val="950B29"/>
              </a:solidFill>
              <a:latin typeface="Lato" panose="020F0502020204030203" pitchFamily="34" charset="0"/>
              <a:ea typeface="+mj-ea"/>
            </a:endParaRPr>
          </a:p>
        </p:txBody>
      </p:sp>
      <p:sp>
        <p:nvSpPr>
          <p:cNvPr id="35" name="TextBox 34">
            <a:extLst>
              <a:ext uri="{FF2B5EF4-FFF2-40B4-BE49-F238E27FC236}">
                <a16:creationId xmlns:a16="http://schemas.microsoft.com/office/drawing/2014/main" id="{2AD518B3-0788-31D5-77C4-91D5BCB1486D}"/>
              </a:ext>
            </a:extLst>
          </p:cNvPr>
          <p:cNvSpPr txBox="1"/>
          <p:nvPr/>
        </p:nvSpPr>
        <p:spPr>
          <a:xfrm>
            <a:off x="6668450" y="2769550"/>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11</a:t>
            </a:r>
            <a:endParaRPr lang="ko-KR" altLang="en-US" sz="900" b="1" dirty="0">
              <a:solidFill>
                <a:srgbClr val="67767F"/>
              </a:solidFill>
              <a:latin typeface="Lato" panose="020F0502020204030203" pitchFamily="34" charset="0"/>
              <a:ea typeface="+mj-ea"/>
            </a:endParaRPr>
          </a:p>
        </p:txBody>
      </p:sp>
      <p:sp>
        <p:nvSpPr>
          <p:cNvPr id="36" name="TextBox 35">
            <a:extLst>
              <a:ext uri="{FF2B5EF4-FFF2-40B4-BE49-F238E27FC236}">
                <a16:creationId xmlns:a16="http://schemas.microsoft.com/office/drawing/2014/main" id="{8E3951C1-ED4A-8F3D-3CF7-2C8F68826F4C}"/>
              </a:ext>
            </a:extLst>
          </p:cNvPr>
          <p:cNvSpPr txBox="1"/>
          <p:nvPr/>
        </p:nvSpPr>
        <p:spPr>
          <a:xfrm>
            <a:off x="6811983" y="2567205"/>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17</a:t>
            </a:r>
            <a:endParaRPr lang="ko-KR" altLang="en-US" sz="900" b="1" dirty="0">
              <a:solidFill>
                <a:srgbClr val="67767F"/>
              </a:solidFill>
              <a:latin typeface="Lato" panose="020F0502020204030203" pitchFamily="34" charset="0"/>
              <a:ea typeface="+mj-ea"/>
            </a:endParaRPr>
          </a:p>
        </p:txBody>
      </p:sp>
      <p:sp>
        <p:nvSpPr>
          <p:cNvPr id="37" name="TextBox 36">
            <a:extLst>
              <a:ext uri="{FF2B5EF4-FFF2-40B4-BE49-F238E27FC236}">
                <a16:creationId xmlns:a16="http://schemas.microsoft.com/office/drawing/2014/main" id="{A19D24C8-60C1-884C-D5F2-FDEB793E4690}"/>
              </a:ext>
            </a:extLst>
          </p:cNvPr>
          <p:cNvSpPr txBox="1"/>
          <p:nvPr/>
        </p:nvSpPr>
        <p:spPr>
          <a:xfrm>
            <a:off x="7164679" y="3013744"/>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5</a:t>
            </a:r>
            <a:endParaRPr lang="ko-KR" altLang="en-US" sz="900" b="1" dirty="0">
              <a:solidFill>
                <a:srgbClr val="950B29"/>
              </a:solidFill>
              <a:latin typeface="Lato" panose="020F0502020204030203" pitchFamily="34" charset="0"/>
              <a:ea typeface="+mj-ea"/>
            </a:endParaRPr>
          </a:p>
        </p:txBody>
      </p:sp>
      <p:sp>
        <p:nvSpPr>
          <p:cNvPr id="38" name="TextBox 37">
            <a:extLst>
              <a:ext uri="{FF2B5EF4-FFF2-40B4-BE49-F238E27FC236}">
                <a16:creationId xmlns:a16="http://schemas.microsoft.com/office/drawing/2014/main" id="{99B88092-F338-0C0F-C13D-A86A8F1C0F87}"/>
              </a:ext>
            </a:extLst>
          </p:cNvPr>
          <p:cNvSpPr txBox="1"/>
          <p:nvPr/>
        </p:nvSpPr>
        <p:spPr>
          <a:xfrm>
            <a:off x="7258076" y="2822563"/>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10</a:t>
            </a:r>
            <a:endParaRPr lang="ko-KR" altLang="en-US" sz="900" b="1" dirty="0">
              <a:solidFill>
                <a:srgbClr val="67767F"/>
              </a:solidFill>
              <a:latin typeface="Lato" panose="020F0502020204030203" pitchFamily="34" charset="0"/>
              <a:ea typeface="+mj-ea"/>
            </a:endParaRPr>
          </a:p>
        </p:txBody>
      </p:sp>
      <p:sp>
        <p:nvSpPr>
          <p:cNvPr id="39" name="TextBox 38">
            <a:extLst>
              <a:ext uri="{FF2B5EF4-FFF2-40B4-BE49-F238E27FC236}">
                <a16:creationId xmlns:a16="http://schemas.microsoft.com/office/drawing/2014/main" id="{EE6E0687-658C-B1E9-2EA9-C01705475D85}"/>
              </a:ext>
            </a:extLst>
          </p:cNvPr>
          <p:cNvSpPr txBox="1"/>
          <p:nvPr/>
        </p:nvSpPr>
        <p:spPr>
          <a:xfrm>
            <a:off x="7404977" y="2822563"/>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10</a:t>
            </a:r>
            <a:endParaRPr lang="ko-KR" altLang="en-US" sz="900" b="1" dirty="0">
              <a:solidFill>
                <a:srgbClr val="67767F"/>
              </a:solidFill>
              <a:latin typeface="Lato" panose="020F0502020204030203" pitchFamily="34" charset="0"/>
              <a:ea typeface="+mj-ea"/>
            </a:endParaRPr>
          </a:p>
        </p:txBody>
      </p:sp>
      <p:sp>
        <p:nvSpPr>
          <p:cNvPr id="40" name="TextBox 39">
            <a:extLst>
              <a:ext uri="{FF2B5EF4-FFF2-40B4-BE49-F238E27FC236}">
                <a16:creationId xmlns:a16="http://schemas.microsoft.com/office/drawing/2014/main" id="{0DDBBE9C-0A31-8EA6-17A5-02FB7B420435}"/>
              </a:ext>
            </a:extLst>
          </p:cNvPr>
          <p:cNvSpPr txBox="1"/>
          <p:nvPr/>
        </p:nvSpPr>
        <p:spPr>
          <a:xfrm>
            <a:off x="7767055" y="2969523"/>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6</a:t>
            </a:r>
            <a:endParaRPr lang="ko-KR" altLang="en-US" sz="900" b="1" dirty="0">
              <a:solidFill>
                <a:srgbClr val="950B29"/>
              </a:solidFill>
              <a:latin typeface="Lato" panose="020F0502020204030203" pitchFamily="34" charset="0"/>
              <a:ea typeface="+mj-ea"/>
            </a:endParaRPr>
          </a:p>
        </p:txBody>
      </p:sp>
      <p:sp>
        <p:nvSpPr>
          <p:cNvPr id="41" name="TextBox 40">
            <a:extLst>
              <a:ext uri="{FF2B5EF4-FFF2-40B4-BE49-F238E27FC236}">
                <a16:creationId xmlns:a16="http://schemas.microsoft.com/office/drawing/2014/main" id="{376F2070-E1BE-4728-73E0-D4FDC88D8FD2}"/>
              </a:ext>
            </a:extLst>
          </p:cNvPr>
          <p:cNvSpPr txBox="1"/>
          <p:nvPr/>
        </p:nvSpPr>
        <p:spPr>
          <a:xfrm>
            <a:off x="7904553" y="3093985"/>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3</a:t>
            </a:r>
            <a:endParaRPr lang="ko-KR" altLang="en-US" sz="900" b="1" dirty="0">
              <a:solidFill>
                <a:srgbClr val="67767F"/>
              </a:solidFill>
              <a:latin typeface="Lato" panose="020F0502020204030203" pitchFamily="34" charset="0"/>
              <a:ea typeface="+mj-ea"/>
            </a:endParaRPr>
          </a:p>
        </p:txBody>
      </p:sp>
      <p:sp>
        <p:nvSpPr>
          <p:cNvPr id="42" name="TextBox 41">
            <a:extLst>
              <a:ext uri="{FF2B5EF4-FFF2-40B4-BE49-F238E27FC236}">
                <a16:creationId xmlns:a16="http://schemas.microsoft.com/office/drawing/2014/main" id="{C35E48FD-1F50-88C9-EFB3-7943CC7D8C21}"/>
              </a:ext>
            </a:extLst>
          </p:cNvPr>
          <p:cNvSpPr txBox="1"/>
          <p:nvPr/>
        </p:nvSpPr>
        <p:spPr>
          <a:xfrm>
            <a:off x="8039431" y="3093985"/>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3</a:t>
            </a:r>
            <a:endParaRPr lang="ko-KR" altLang="en-US" sz="900" b="1" dirty="0">
              <a:solidFill>
                <a:srgbClr val="67767F"/>
              </a:solidFill>
              <a:latin typeface="Lato" panose="020F0502020204030203" pitchFamily="34" charset="0"/>
              <a:ea typeface="+mj-ea"/>
            </a:endParaRPr>
          </a:p>
        </p:txBody>
      </p:sp>
      <p:sp>
        <p:nvSpPr>
          <p:cNvPr id="43" name="TextBox 42">
            <a:extLst>
              <a:ext uri="{FF2B5EF4-FFF2-40B4-BE49-F238E27FC236}">
                <a16:creationId xmlns:a16="http://schemas.microsoft.com/office/drawing/2014/main" id="{036EC794-4C69-875F-2EC7-910BEA46CC13}"/>
              </a:ext>
            </a:extLst>
          </p:cNvPr>
          <p:cNvSpPr txBox="1"/>
          <p:nvPr/>
        </p:nvSpPr>
        <p:spPr>
          <a:xfrm>
            <a:off x="8328930" y="2374911"/>
            <a:ext cx="319318"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22</a:t>
            </a:r>
            <a:endParaRPr lang="ko-KR" altLang="en-US" sz="900" b="1" dirty="0">
              <a:solidFill>
                <a:srgbClr val="950B29"/>
              </a:solidFill>
              <a:latin typeface="Lato" panose="020F0502020204030203" pitchFamily="34" charset="0"/>
              <a:ea typeface="+mj-ea"/>
            </a:endParaRPr>
          </a:p>
        </p:txBody>
      </p:sp>
      <p:sp>
        <p:nvSpPr>
          <p:cNvPr id="44" name="TextBox 43">
            <a:extLst>
              <a:ext uri="{FF2B5EF4-FFF2-40B4-BE49-F238E27FC236}">
                <a16:creationId xmlns:a16="http://schemas.microsoft.com/office/drawing/2014/main" id="{DA073223-8A39-94D4-A01F-3B61C87CCA59}"/>
              </a:ext>
            </a:extLst>
          </p:cNvPr>
          <p:cNvSpPr txBox="1"/>
          <p:nvPr/>
        </p:nvSpPr>
        <p:spPr>
          <a:xfrm>
            <a:off x="8472186" y="2302208"/>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23</a:t>
            </a:r>
            <a:endParaRPr lang="ko-KR" altLang="en-US" sz="900" b="1" dirty="0">
              <a:solidFill>
                <a:srgbClr val="67767F"/>
              </a:solidFill>
              <a:latin typeface="Lato" panose="020F0502020204030203" pitchFamily="34" charset="0"/>
              <a:ea typeface="+mj-ea"/>
            </a:endParaRPr>
          </a:p>
        </p:txBody>
      </p:sp>
      <p:sp>
        <p:nvSpPr>
          <p:cNvPr id="45" name="TextBox 44">
            <a:extLst>
              <a:ext uri="{FF2B5EF4-FFF2-40B4-BE49-F238E27FC236}">
                <a16:creationId xmlns:a16="http://schemas.microsoft.com/office/drawing/2014/main" id="{D1E654D6-5473-47A9-8177-E236E0F3E26E}"/>
              </a:ext>
            </a:extLst>
          </p:cNvPr>
          <p:cNvSpPr txBox="1"/>
          <p:nvPr/>
        </p:nvSpPr>
        <p:spPr>
          <a:xfrm>
            <a:off x="8586844" y="2475740"/>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20</a:t>
            </a:r>
            <a:endParaRPr lang="ko-KR" altLang="en-US" sz="900" b="1" dirty="0">
              <a:solidFill>
                <a:srgbClr val="67767F"/>
              </a:solidFill>
              <a:latin typeface="Lato" panose="020F0502020204030203" pitchFamily="34" charset="0"/>
              <a:ea typeface="+mj-ea"/>
            </a:endParaRPr>
          </a:p>
        </p:txBody>
      </p:sp>
      <p:sp>
        <p:nvSpPr>
          <p:cNvPr id="46" name="TextBox 45">
            <a:extLst>
              <a:ext uri="{FF2B5EF4-FFF2-40B4-BE49-F238E27FC236}">
                <a16:creationId xmlns:a16="http://schemas.microsoft.com/office/drawing/2014/main" id="{B4747227-9405-A566-BAC5-D6B93444486B}"/>
              </a:ext>
            </a:extLst>
          </p:cNvPr>
          <p:cNvSpPr txBox="1"/>
          <p:nvPr/>
        </p:nvSpPr>
        <p:spPr>
          <a:xfrm>
            <a:off x="8932048" y="3049186"/>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4</a:t>
            </a:r>
            <a:endParaRPr lang="ko-KR" altLang="en-US" sz="900" b="1" dirty="0">
              <a:solidFill>
                <a:srgbClr val="950B29"/>
              </a:solidFill>
              <a:latin typeface="Lato" panose="020F0502020204030203" pitchFamily="34" charset="0"/>
              <a:ea typeface="+mj-ea"/>
            </a:endParaRPr>
          </a:p>
        </p:txBody>
      </p:sp>
      <p:sp>
        <p:nvSpPr>
          <p:cNvPr id="47" name="TextBox 46">
            <a:extLst>
              <a:ext uri="{FF2B5EF4-FFF2-40B4-BE49-F238E27FC236}">
                <a16:creationId xmlns:a16="http://schemas.microsoft.com/office/drawing/2014/main" id="{67849D3E-B316-434A-8FC4-99200986519E}"/>
              </a:ext>
            </a:extLst>
          </p:cNvPr>
          <p:cNvSpPr txBox="1"/>
          <p:nvPr/>
        </p:nvSpPr>
        <p:spPr>
          <a:xfrm>
            <a:off x="9077890" y="2987488"/>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5</a:t>
            </a:r>
            <a:endParaRPr lang="ko-KR" altLang="en-US" sz="900" b="1" dirty="0">
              <a:solidFill>
                <a:srgbClr val="67767F"/>
              </a:solidFill>
              <a:latin typeface="Lato" panose="020F0502020204030203" pitchFamily="34" charset="0"/>
              <a:ea typeface="+mj-ea"/>
            </a:endParaRPr>
          </a:p>
        </p:txBody>
      </p:sp>
      <p:sp>
        <p:nvSpPr>
          <p:cNvPr id="48" name="TextBox 47">
            <a:extLst>
              <a:ext uri="{FF2B5EF4-FFF2-40B4-BE49-F238E27FC236}">
                <a16:creationId xmlns:a16="http://schemas.microsoft.com/office/drawing/2014/main" id="{2F086732-4783-DC96-C234-F4B737421D85}"/>
              </a:ext>
            </a:extLst>
          </p:cNvPr>
          <p:cNvSpPr txBox="1"/>
          <p:nvPr/>
        </p:nvSpPr>
        <p:spPr>
          <a:xfrm>
            <a:off x="9210094" y="3099092"/>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3</a:t>
            </a:r>
            <a:endParaRPr lang="ko-KR" altLang="en-US" sz="900" b="1" dirty="0">
              <a:solidFill>
                <a:srgbClr val="67767F"/>
              </a:solidFill>
              <a:latin typeface="Lato" panose="020F0502020204030203" pitchFamily="34" charset="0"/>
              <a:ea typeface="+mj-ea"/>
            </a:endParaRPr>
          </a:p>
        </p:txBody>
      </p:sp>
      <p:sp>
        <p:nvSpPr>
          <p:cNvPr id="49" name="TextBox 48">
            <a:extLst>
              <a:ext uri="{FF2B5EF4-FFF2-40B4-BE49-F238E27FC236}">
                <a16:creationId xmlns:a16="http://schemas.microsoft.com/office/drawing/2014/main" id="{39DF6770-F26B-A8E3-DCB0-6CE0C1FF493D}"/>
              </a:ext>
            </a:extLst>
          </p:cNvPr>
          <p:cNvSpPr txBox="1"/>
          <p:nvPr/>
        </p:nvSpPr>
        <p:spPr>
          <a:xfrm>
            <a:off x="9522264" y="3017960"/>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5</a:t>
            </a:r>
            <a:endParaRPr lang="ko-KR" altLang="en-US" sz="900" b="1" dirty="0">
              <a:solidFill>
                <a:srgbClr val="950B29"/>
              </a:solidFill>
              <a:latin typeface="Lato" panose="020F0502020204030203" pitchFamily="34" charset="0"/>
              <a:ea typeface="+mj-ea"/>
            </a:endParaRPr>
          </a:p>
        </p:txBody>
      </p:sp>
      <p:sp>
        <p:nvSpPr>
          <p:cNvPr id="50" name="TextBox 49">
            <a:extLst>
              <a:ext uri="{FF2B5EF4-FFF2-40B4-BE49-F238E27FC236}">
                <a16:creationId xmlns:a16="http://schemas.microsoft.com/office/drawing/2014/main" id="{A65DB8F7-2A6C-41F0-D09E-E72B7FBE5E76}"/>
              </a:ext>
            </a:extLst>
          </p:cNvPr>
          <p:cNvSpPr txBox="1"/>
          <p:nvPr/>
        </p:nvSpPr>
        <p:spPr>
          <a:xfrm>
            <a:off x="9648606" y="2796078"/>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10</a:t>
            </a:r>
            <a:endParaRPr lang="ko-KR" altLang="en-US" sz="900" b="1" dirty="0">
              <a:solidFill>
                <a:srgbClr val="67767F"/>
              </a:solidFill>
              <a:latin typeface="Lato" panose="020F0502020204030203" pitchFamily="34" charset="0"/>
              <a:ea typeface="+mj-ea"/>
            </a:endParaRPr>
          </a:p>
        </p:txBody>
      </p:sp>
      <p:sp>
        <p:nvSpPr>
          <p:cNvPr id="51" name="TextBox 50">
            <a:extLst>
              <a:ext uri="{FF2B5EF4-FFF2-40B4-BE49-F238E27FC236}">
                <a16:creationId xmlns:a16="http://schemas.microsoft.com/office/drawing/2014/main" id="{46C388BD-B3C1-2110-2188-7F339A89C249}"/>
              </a:ext>
            </a:extLst>
          </p:cNvPr>
          <p:cNvSpPr txBox="1"/>
          <p:nvPr/>
        </p:nvSpPr>
        <p:spPr>
          <a:xfrm>
            <a:off x="9808265" y="2892202"/>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8</a:t>
            </a:r>
            <a:endParaRPr lang="ko-KR" altLang="en-US" sz="900" b="1" dirty="0">
              <a:solidFill>
                <a:srgbClr val="67767F"/>
              </a:solidFill>
              <a:latin typeface="Lato" panose="020F0502020204030203" pitchFamily="34" charset="0"/>
              <a:ea typeface="+mj-ea"/>
            </a:endParaRPr>
          </a:p>
        </p:txBody>
      </p:sp>
      <p:sp>
        <p:nvSpPr>
          <p:cNvPr id="52" name="TextBox 51">
            <a:extLst>
              <a:ext uri="{FF2B5EF4-FFF2-40B4-BE49-F238E27FC236}">
                <a16:creationId xmlns:a16="http://schemas.microsoft.com/office/drawing/2014/main" id="{C40F2173-0004-4506-545C-D6B8931BE137}"/>
              </a:ext>
            </a:extLst>
          </p:cNvPr>
          <p:cNvSpPr txBox="1"/>
          <p:nvPr/>
        </p:nvSpPr>
        <p:spPr>
          <a:xfrm>
            <a:off x="10101376" y="3165099"/>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1</a:t>
            </a:r>
            <a:endParaRPr lang="ko-KR" altLang="en-US" sz="900" b="1" dirty="0">
              <a:solidFill>
                <a:srgbClr val="950B29"/>
              </a:solidFill>
              <a:latin typeface="Lato" panose="020F0502020204030203" pitchFamily="34" charset="0"/>
              <a:ea typeface="+mj-ea"/>
            </a:endParaRPr>
          </a:p>
        </p:txBody>
      </p:sp>
      <p:sp>
        <p:nvSpPr>
          <p:cNvPr id="53" name="TextBox 52">
            <a:extLst>
              <a:ext uri="{FF2B5EF4-FFF2-40B4-BE49-F238E27FC236}">
                <a16:creationId xmlns:a16="http://schemas.microsoft.com/office/drawing/2014/main" id="{C6B8D130-7117-3FCE-0AEE-031C3BE34A06}"/>
              </a:ext>
            </a:extLst>
          </p:cNvPr>
          <p:cNvSpPr txBox="1"/>
          <p:nvPr/>
        </p:nvSpPr>
        <p:spPr>
          <a:xfrm>
            <a:off x="10247848" y="2921579"/>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7</a:t>
            </a:r>
            <a:endParaRPr lang="ko-KR" altLang="en-US" sz="900" b="1" dirty="0">
              <a:solidFill>
                <a:srgbClr val="67767F"/>
              </a:solidFill>
              <a:latin typeface="Lato" panose="020F0502020204030203" pitchFamily="34" charset="0"/>
              <a:ea typeface="+mj-ea"/>
            </a:endParaRPr>
          </a:p>
        </p:txBody>
      </p:sp>
      <p:sp>
        <p:nvSpPr>
          <p:cNvPr id="54" name="TextBox 53">
            <a:extLst>
              <a:ext uri="{FF2B5EF4-FFF2-40B4-BE49-F238E27FC236}">
                <a16:creationId xmlns:a16="http://schemas.microsoft.com/office/drawing/2014/main" id="{476FACE4-08A3-0777-178A-C71C437785D7}"/>
              </a:ext>
            </a:extLst>
          </p:cNvPr>
          <p:cNvSpPr txBox="1"/>
          <p:nvPr/>
        </p:nvSpPr>
        <p:spPr>
          <a:xfrm>
            <a:off x="10343444" y="2630564"/>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14</a:t>
            </a:r>
            <a:endParaRPr lang="ko-KR" altLang="en-US" sz="900" b="1" dirty="0">
              <a:solidFill>
                <a:srgbClr val="67767F"/>
              </a:solidFill>
              <a:latin typeface="Lato" panose="020F0502020204030203" pitchFamily="34" charset="0"/>
              <a:ea typeface="+mj-ea"/>
            </a:endParaRPr>
          </a:p>
        </p:txBody>
      </p:sp>
      <p:sp>
        <p:nvSpPr>
          <p:cNvPr id="55" name="TextBox 54">
            <a:extLst>
              <a:ext uri="{FF2B5EF4-FFF2-40B4-BE49-F238E27FC236}">
                <a16:creationId xmlns:a16="http://schemas.microsoft.com/office/drawing/2014/main" id="{1FD906D0-CCBA-5D33-8303-3F6E007ED78A}"/>
              </a:ext>
            </a:extLst>
          </p:cNvPr>
          <p:cNvSpPr txBox="1"/>
          <p:nvPr/>
        </p:nvSpPr>
        <p:spPr>
          <a:xfrm>
            <a:off x="10664307" y="2483697"/>
            <a:ext cx="319318"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19</a:t>
            </a:r>
            <a:endParaRPr lang="ko-KR" altLang="en-US" sz="900" b="1" dirty="0">
              <a:solidFill>
                <a:srgbClr val="950B29"/>
              </a:solidFill>
              <a:latin typeface="Lato" panose="020F0502020204030203" pitchFamily="34" charset="0"/>
              <a:ea typeface="+mj-ea"/>
            </a:endParaRPr>
          </a:p>
        </p:txBody>
      </p:sp>
      <p:sp>
        <p:nvSpPr>
          <p:cNvPr id="56" name="TextBox 55">
            <a:extLst>
              <a:ext uri="{FF2B5EF4-FFF2-40B4-BE49-F238E27FC236}">
                <a16:creationId xmlns:a16="http://schemas.microsoft.com/office/drawing/2014/main" id="{02737188-CBCA-D41E-5957-63F4C00B0611}"/>
              </a:ext>
            </a:extLst>
          </p:cNvPr>
          <p:cNvSpPr txBox="1"/>
          <p:nvPr/>
        </p:nvSpPr>
        <p:spPr>
          <a:xfrm>
            <a:off x="10845795" y="3047322"/>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4</a:t>
            </a:r>
            <a:endParaRPr lang="ko-KR" altLang="en-US" sz="900" b="1" dirty="0">
              <a:solidFill>
                <a:srgbClr val="67767F"/>
              </a:solidFill>
              <a:latin typeface="Lato" panose="020F0502020204030203" pitchFamily="34" charset="0"/>
              <a:ea typeface="+mj-ea"/>
            </a:endParaRPr>
          </a:p>
        </p:txBody>
      </p:sp>
      <p:sp>
        <p:nvSpPr>
          <p:cNvPr id="57" name="TextBox 56">
            <a:extLst>
              <a:ext uri="{FF2B5EF4-FFF2-40B4-BE49-F238E27FC236}">
                <a16:creationId xmlns:a16="http://schemas.microsoft.com/office/drawing/2014/main" id="{C3E4E82A-5AF4-30E4-A0CF-E86BFB067108}"/>
              </a:ext>
            </a:extLst>
          </p:cNvPr>
          <p:cNvSpPr txBox="1"/>
          <p:nvPr/>
        </p:nvSpPr>
        <p:spPr>
          <a:xfrm>
            <a:off x="10979310" y="3007618"/>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5</a:t>
            </a:r>
            <a:endParaRPr lang="ko-KR" altLang="en-US" sz="900" b="1" dirty="0">
              <a:solidFill>
                <a:srgbClr val="67767F"/>
              </a:solidFill>
              <a:latin typeface="Lato" panose="020F0502020204030203" pitchFamily="34" charset="0"/>
              <a:ea typeface="+mj-ea"/>
            </a:endParaRPr>
          </a:p>
        </p:txBody>
      </p:sp>
      <p:sp>
        <p:nvSpPr>
          <p:cNvPr id="58" name="TextBox 57">
            <a:extLst>
              <a:ext uri="{FF2B5EF4-FFF2-40B4-BE49-F238E27FC236}">
                <a16:creationId xmlns:a16="http://schemas.microsoft.com/office/drawing/2014/main" id="{CFBBEC8A-8E25-ED27-C099-8F08415E973C}"/>
              </a:ext>
            </a:extLst>
          </p:cNvPr>
          <p:cNvSpPr txBox="1"/>
          <p:nvPr/>
        </p:nvSpPr>
        <p:spPr>
          <a:xfrm>
            <a:off x="11303533" y="3051357"/>
            <a:ext cx="251992" cy="230832"/>
          </a:xfrm>
          <a:prstGeom prst="rect">
            <a:avLst/>
          </a:prstGeom>
          <a:noFill/>
        </p:spPr>
        <p:txBody>
          <a:bodyPr wrap="none" rtlCol="0">
            <a:spAutoFit/>
          </a:bodyPr>
          <a:lstStyle/>
          <a:p>
            <a:r>
              <a:rPr lang="en-US" altLang="ko-KR" sz="900" b="1" dirty="0">
                <a:solidFill>
                  <a:srgbClr val="950B29"/>
                </a:solidFill>
                <a:latin typeface="Lato" panose="020F0502020204030203" pitchFamily="34" charset="0"/>
                <a:ea typeface="+mj-ea"/>
              </a:rPr>
              <a:t>4</a:t>
            </a:r>
            <a:endParaRPr lang="ko-KR" altLang="en-US" sz="900" b="1" dirty="0">
              <a:solidFill>
                <a:srgbClr val="950B29"/>
              </a:solidFill>
              <a:latin typeface="Lato" panose="020F0502020204030203" pitchFamily="34" charset="0"/>
              <a:ea typeface="+mj-ea"/>
            </a:endParaRPr>
          </a:p>
        </p:txBody>
      </p:sp>
      <p:sp>
        <p:nvSpPr>
          <p:cNvPr id="59" name="TextBox 58">
            <a:extLst>
              <a:ext uri="{FF2B5EF4-FFF2-40B4-BE49-F238E27FC236}">
                <a16:creationId xmlns:a16="http://schemas.microsoft.com/office/drawing/2014/main" id="{414E9A7A-66DD-37B3-6FDC-ADA1C486E8E6}"/>
              </a:ext>
            </a:extLst>
          </p:cNvPr>
          <p:cNvSpPr txBox="1"/>
          <p:nvPr/>
        </p:nvSpPr>
        <p:spPr>
          <a:xfrm>
            <a:off x="11369722" y="2731220"/>
            <a:ext cx="319318"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12</a:t>
            </a:r>
            <a:endParaRPr lang="ko-KR" altLang="en-US" sz="900" b="1" dirty="0">
              <a:solidFill>
                <a:srgbClr val="67767F"/>
              </a:solidFill>
              <a:latin typeface="Lato" panose="020F0502020204030203" pitchFamily="34" charset="0"/>
              <a:ea typeface="+mj-ea"/>
            </a:endParaRPr>
          </a:p>
        </p:txBody>
      </p:sp>
      <p:sp>
        <p:nvSpPr>
          <p:cNvPr id="60" name="TextBox 59">
            <a:extLst>
              <a:ext uri="{FF2B5EF4-FFF2-40B4-BE49-F238E27FC236}">
                <a16:creationId xmlns:a16="http://schemas.microsoft.com/office/drawing/2014/main" id="{9927E2D8-87BD-7E0B-301C-3961BCFFE52F}"/>
              </a:ext>
            </a:extLst>
          </p:cNvPr>
          <p:cNvSpPr txBox="1"/>
          <p:nvPr/>
        </p:nvSpPr>
        <p:spPr>
          <a:xfrm>
            <a:off x="11563044" y="3036448"/>
            <a:ext cx="251992" cy="230832"/>
          </a:xfrm>
          <a:prstGeom prst="rect">
            <a:avLst/>
          </a:prstGeom>
          <a:noFill/>
        </p:spPr>
        <p:txBody>
          <a:bodyPr wrap="none" rtlCol="0">
            <a:spAutoFit/>
          </a:bodyPr>
          <a:lstStyle/>
          <a:p>
            <a:r>
              <a:rPr lang="en-US" altLang="ko-KR" sz="900" b="1" dirty="0">
                <a:solidFill>
                  <a:srgbClr val="67767F"/>
                </a:solidFill>
                <a:latin typeface="Lato" panose="020F0502020204030203" pitchFamily="34" charset="0"/>
                <a:ea typeface="+mj-ea"/>
              </a:rPr>
              <a:t>4</a:t>
            </a:r>
            <a:endParaRPr lang="ko-KR" altLang="en-US" sz="900" b="1" dirty="0">
              <a:solidFill>
                <a:srgbClr val="67767F"/>
              </a:solidFill>
              <a:latin typeface="Lato" panose="020F0502020204030203" pitchFamily="34" charset="0"/>
              <a:ea typeface="+mj-ea"/>
            </a:endParaRPr>
          </a:p>
        </p:txBody>
      </p:sp>
      <p:sp>
        <p:nvSpPr>
          <p:cNvPr id="61" name="직사각형 60">
            <a:extLst>
              <a:ext uri="{FF2B5EF4-FFF2-40B4-BE49-F238E27FC236}">
                <a16:creationId xmlns:a16="http://schemas.microsoft.com/office/drawing/2014/main" id="{2D089D5B-53D2-C01A-2936-39F27834FB10}"/>
              </a:ext>
            </a:extLst>
          </p:cNvPr>
          <p:cNvSpPr/>
          <p:nvPr/>
        </p:nvSpPr>
        <p:spPr>
          <a:xfrm>
            <a:off x="4811063" y="1648349"/>
            <a:ext cx="1604262" cy="1772122"/>
          </a:xfrm>
          <a:prstGeom prst="rect">
            <a:avLst/>
          </a:prstGeom>
          <a:noFill/>
          <a:ln w="19050">
            <a:solidFill>
              <a:srgbClr val="950B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endParaRPr>
          </a:p>
        </p:txBody>
      </p:sp>
      <p:sp>
        <p:nvSpPr>
          <p:cNvPr id="62" name="직사각형 61">
            <a:extLst>
              <a:ext uri="{FF2B5EF4-FFF2-40B4-BE49-F238E27FC236}">
                <a16:creationId xmlns:a16="http://schemas.microsoft.com/office/drawing/2014/main" id="{CCC2F8EE-B6F9-FF6E-CFC4-24CFD305B191}"/>
              </a:ext>
            </a:extLst>
          </p:cNvPr>
          <p:cNvSpPr/>
          <p:nvPr/>
        </p:nvSpPr>
        <p:spPr>
          <a:xfrm>
            <a:off x="1858881" y="2422687"/>
            <a:ext cx="1095889" cy="997784"/>
          </a:xfrm>
          <a:prstGeom prst="rect">
            <a:avLst/>
          </a:prstGeom>
          <a:noFill/>
          <a:ln w="19050">
            <a:solidFill>
              <a:srgbClr val="950B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직사각형 62">
            <a:extLst>
              <a:ext uri="{FF2B5EF4-FFF2-40B4-BE49-F238E27FC236}">
                <a16:creationId xmlns:a16="http://schemas.microsoft.com/office/drawing/2014/main" id="{722BA200-79EB-9922-22F1-70019574F2E8}"/>
              </a:ext>
            </a:extLst>
          </p:cNvPr>
          <p:cNvSpPr/>
          <p:nvPr/>
        </p:nvSpPr>
        <p:spPr>
          <a:xfrm>
            <a:off x="8336973" y="1648349"/>
            <a:ext cx="561670" cy="1764591"/>
          </a:xfrm>
          <a:prstGeom prst="rect">
            <a:avLst/>
          </a:prstGeom>
          <a:noFill/>
          <a:ln w="19050">
            <a:solidFill>
              <a:srgbClr val="950B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endParaRPr>
          </a:p>
        </p:txBody>
      </p:sp>
      <p:sp>
        <p:nvSpPr>
          <p:cNvPr id="64" name="직사각형 63">
            <a:extLst>
              <a:ext uri="{FF2B5EF4-FFF2-40B4-BE49-F238E27FC236}">
                <a16:creationId xmlns:a16="http://schemas.microsoft.com/office/drawing/2014/main" id="{3DABED95-6CB0-A0FA-6720-61156FE7B3D7}"/>
              </a:ext>
            </a:extLst>
          </p:cNvPr>
          <p:cNvSpPr/>
          <p:nvPr/>
        </p:nvSpPr>
        <p:spPr>
          <a:xfrm>
            <a:off x="10687431" y="2099508"/>
            <a:ext cx="543871" cy="1323341"/>
          </a:xfrm>
          <a:prstGeom prst="rect">
            <a:avLst/>
          </a:prstGeom>
          <a:noFill/>
          <a:ln w="19050">
            <a:solidFill>
              <a:srgbClr val="950B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endParaRPr>
          </a:p>
        </p:txBody>
      </p:sp>
      <p:sp>
        <p:nvSpPr>
          <p:cNvPr id="65" name="TextBox 64">
            <a:extLst>
              <a:ext uri="{FF2B5EF4-FFF2-40B4-BE49-F238E27FC236}">
                <a16:creationId xmlns:a16="http://schemas.microsoft.com/office/drawing/2014/main" id="{E1465224-F0FE-8876-22F1-A21D01BFCC86}"/>
              </a:ext>
            </a:extLst>
          </p:cNvPr>
          <p:cNvSpPr txBox="1"/>
          <p:nvPr/>
        </p:nvSpPr>
        <p:spPr>
          <a:xfrm>
            <a:off x="3199248" y="5123557"/>
            <a:ext cx="6703264" cy="1061829"/>
          </a:xfrm>
          <a:prstGeom prst="rect">
            <a:avLst/>
          </a:prstGeom>
          <a:noFill/>
        </p:spPr>
        <p:txBody>
          <a:bodyPr wrap="square" rtlCol="0">
            <a:spAutoFit/>
          </a:bodyPr>
          <a:lstStyle/>
          <a:p>
            <a:pPr marL="171450" indent="-171450">
              <a:lnSpc>
                <a:spcPct val="150000"/>
              </a:lnSpc>
              <a:buSzPct val="110000"/>
              <a:buFont typeface="Arial" panose="020B0604020202020204" pitchFamily="34" charset="0"/>
              <a:buChar char="•"/>
            </a:pPr>
            <a:r>
              <a:rPr lang="en-US" altLang="ko-KR" sz="1400" dirty="0">
                <a:latin typeface="Lato" panose="020F0502020204030203" pitchFamily="34" charset="0"/>
              </a:rPr>
              <a:t>Sales in the traditional medical market, including </a:t>
            </a:r>
            <a:r>
              <a:rPr lang="en-US" altLang="ko-KR" sz="1400" b="1" dirty="0">
                <a:solidFill>
                  <a:srgbClr val="A0112D"/>
                </a:solidFill>
                <a:latin typeface="Lato" panose="020F0502020204030203" pitchFamily="34" charset="0"/>
              </a:rPr>
              <a:t>Nephrology, Oncology, Internal Medicine, and Critical Care</a:t>
            </a:r>
            <a:r>
              <a:rPr lang="en-US" altLang="ko-KR" sz="1400" dirty="0">
                <a:latin typeface="Lato" panose="020F0502020204030203" pitchFamily="34" charset="0"/>
              </a:rPr>
              <a:t>, are particularly strong.</a:t>
            </a:r>
          </a:p>
          <a:p>
            <a:pPr marL="171450" indent="-171450">
              <a:lnSpc>
                <a:spcPct val="150000"/>
              </a:lnSpc>
              <a:buSzPct val="110000"/>
              <a:buFont typeface="Arial" panose="020B0604020202020204" pitchFamily="34" charset="0"/>
              <a:buChar char="•"/>
            </a:pPr>
            <a:r>
              <a:rPr lang="en-US" altLang="ko-KR" sz="1400" dirty="0">
                <a:latin typeface="Lato" panose="020F0502020204030203" pitchFamily="34" charset="0"/>
              </a:rPr>
              <a:t>Sales in the </a:t>
            </a:r>
            <a:r>
              <a:rPr lang="en-US" altLang="ko-KR" sz="1400" b="1" dirty="0">
                <a:solidFill>
                  <a:srgbClr val="A0112D"/>
                </a:solidFill>
                <a:latin typeface="Lato" panose="020F0502020204030203" pitchFamily="34" charset="0"/>
              </a:rPr>
              <a:t>Obesity and Plastic Surgery</a:t>
            </a:r>
            <a:r>
              <a:rPr lang="en-US" altLang="ko-KR" sz="1400" dirty="0">
                <a:solidFill>
                  <a:srgbClr val="A0112D"/>
                </a:solidFill>
                <a:latin typeface="Lato" panose="020F0502020204030203" pitchFamily="34" charset="0"/>
              </a:rPr>
              <a:t> </a:t>
            </a:r>
            <a:r>
              <a:rPr lang="en-US" altLang="ko-KR" sz="1400" dirty="0">
                <a:latin typeface="Lato" panose="020F0502020204030203" pitchFamily="34" charset="0"/>
              </a:rPr>
              <a:t>sector are also gradually increasing.</a:t>
            </a:r>
            <a:endParaRPr kumimoji="1" lang="en-US" altLang="ko-KR" sz="1400" spc="-150" dirty="0">
              <a:solidFill>
                <a:srgbClr val="3E3E3E"/>
              </a:solidFill>
              <a:latin typeface="Lato" panose="020F0502020204030203" pitchFamily="34" charset="0"/>
              <a:ea typeface="에스코어 드림 5 Medium" panose="020B0503030302020204" pitchFamily="34" charset="-127"/>
            </a:endParaRPr>
          </a:p>
        </p:txBody>
      </p:sp>
      <p:sp>
        <p:nvSpPr>
          <p:cNvPr id="66" name="직사각형 65">
            <a:extLst>
              <a:ext uri="{FF2B5EF4-FFF2-40B4-BE49-F238E27FC236}">
                <a16:creationId xmlns:a16="http://schemas.microsoft.com/office/drawing/2014/main" id="{722BA200-79EB-9922-22F1-70019574F2E8}"/>
              </a:ext>
            </a:extLst>
          </p:cNvPr>
          <p:cNvSpPr/>
          <p:nvPr/>
        </p:nvSpPr>
        <p:spPr>
          <a:xfrm>
            <a:off x="7762443" y="2883344"/>
            <a:ext cx="526434" cy="519687"/>
          </a:xfrm>
          <a:prstGeom prst="rect">
            <a:avLst/>
          </a:prstGeom>
          <a:noFill/>
          <a:ln w="19050">
            <a:solidFill>
              <a:srgbClr val="950B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endParaRPr>
          </a:p>
        </p:txBody>
      </p:sp>
      <p:grpSp>
        <p:nvGrpSpPr>
          <p:cNvPr id="67" name="그룹 66">
            <a:extLst>
              <a:ext uri="{FF2B5EF4-FFF2-40B4-BE49-F238E27FC236}">
                <a16:creationId xmlns:a16="http://schemas.microsoft.com/office/drawing/2014/main" id="{976A424B-5128-5FEC-035C-B2B0129DC638}"/>
              </a:ext>
            </a:extLst>
          </p:cNvPr>
          <p:cNvGrpSpPr/>
          <p:nvPr/>
        </p:nvGrpSpPr>
        <p:grpSpPr>
          <a:xfrm>
            <a:off x="5970006" y="4649041"/>
            <a:ext cx="238225" cy="215516"/>
            <a:chOff x="2061642" y="2996194"/>
            <a:chExt cx="369826" cy="334570"/>
          </a:xfrm>
        </p:grpSpPr>
        <p:sp>
          <p:nvSpPr>
            <p:cNvPr id="68" name="이등변 삼각형 34">
              <a:extLst>
                <a:ext uri="{FF2B5EF4-FFF2-40B4-BE49-F238E27FC236}">
                  <a16:creationId xmlns:a16="http://schemas.microsoft.com/office/drawing/2014/main" id="{6D021339-D344-2691-B92D-D579B1EFF915}"/>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latin typeface="Lato Black" panose="020F0502020204030203" pitchFamily="34" charset="0"/>
                <a:cs typeface="Lato Black" panose="020F0502020204030203" pitchFamily="34" charset="0"/>
              </a:endParaRPr>
            </a:p>
          </p:txBody>
        </p:sp>
        <p:sp>
          <p:nvSpPr>
            <p:cNvPr id="69" name="이등변 삼각형 34">
              <a:extLst>
                <a:ext uri="{FF2B5EF4-FFF2-40B4-BE49-F238E27FC236}">
                  <a16:creationId xmlns:a16="http://schemas.microsoft.com/office/drawing/2014/main" id="{1568B4DB-4FFD-1033-346E-1936FB9A25E3}"/>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latin typeface="Lato Black" panose="020F0502020204030203" pitchFamily="34" charset="0"/>
                <a:cs typeface="Lato Black" panose="020F0502020204030203" pitchFamily="34" charset="0"/>
              </a:endParaRPr>
            </a:p>
          </p:txBody>
        </p:sp>
      </p:grpSp>
      <p:sp>
        <p:nvSpPr>
          <p:cNvPr id="70" name="TextBox 69">
            <a:extLst>
              <a:ext uri="{FF2B5EF4-FFF2-40B4-BE49-F238E27FC236}">
                <a16:creationId xmlns:a16="http://schemas.microsoft.com/office/drawing/2014/main" id="{24C31E62-CE78-8243-AB22-9D4C1B89F17B}"/>
              </a:ext>
            </a:extLst>
          </p:cNvPr>
          <p:cNvSpPr txBox="1"/>
          <p:nvPr/>
        </p:nvSpPr>
        <p:spPr>
          <a:xfrm>
            <a:off x="650642" y="306181"/>
            <a:ext cx="3759579" cy="461665"/>
          </a:xfrm>
          <a:prstGeom prst="rect">
            <a:avLst/>
          </a:prstGeom>
          <a:noFill/>
        </p:spPr>
        <p:txBody>
          <a:bodyPr wrap="square" rtlCol="0">
            <a:spAutoFit/>
          </a:bodyPr>
          <a:lstStyle/>
          <a:p>
            <a:r>
              <a:rPr kumimoji="1" lang="en-US" altLang="ko-KR" sz="2400" spc="-30" dirty="0">
                <a:ln>
                  <a:solidFill>
                    <a:srgbClr val="7E8080">
                      <a:alpha val="0"/>
                    </a:srgbClr>
                  </a:solidFill>
                </a:ln>
                <a:solidFill>
                  <a:srgbClr val="3C3C3A"/>
                </a:solidFill>
                <a:latin typeface="Lato Black" panose="020F0A02020204030203" pitchFamily="34" charset="0"/>
                <a:ea typeface="에스코어 드림 6 Bold" panose="020B0703030302020204" pitchFamily="34" charset="-127"/>
              </a:rPr>
              <a:t>BWA Sales Status</a:t>
            </a:r>
          </a:p>
        </p:txBody>
      </p:sp>
      <p:sp>
        <p:nvSpPr>
          <p:cNvPr id="71" name="TextBox 70">
            <a:extLst>
              <a:ext uri="{FF2B5EF4-FFF2-40B4-BE49-F238E27FC236}">
                <a16:creationId xmlns:a16="http://schemas.microsoft.com/office/drawing/2014/main" id="{BA64EA59-04B7-DB39-2997-525DE49DF628}"/>
              </a:ext>
            </a:extLst>
          </p:cNvPr>
          <p:cNvSpPr txBox="1"/>
          <p:nvPr/>
        </p:nvSpPr>
        <p:spPr>
          <a:xfrm>
            <a:off x="6135664" y="3131284"/>
            <a:ext cx="251992" cy="230832"/>
          </a:xfrm>
          <a:prstGeom prst="rect">
            <a:avLst/>
          </a:prstGeom>
          <a:noFill/>
        </p:spPr>
        <p:txBody>
          <a:bodyPr wrap="none" rtlCol="0">
            <a:spAutoFit/>
          </a:bodyPr>
          <a:lstStyle/>
          <a:p>
            <a:r>
              <a:rPr lang="en-US" altLang="ko-KR" sz="900" b="1">
                <a:solidFill>
                  <a:srgbClr val="67767F"/>
                </a:solidFill>
                <a:latin typeface="Lato" panose="020F0502020204030203" pitchFamily="34" charset="0"/>
                <a:ea typeface="+mj-ea"/>
              </a:rPr>
              <a:t>2</a:t>
            </a:r>
            <a:endParaRPr lang="ko-KR" altLang="en-US" sz="900" b="1" dirty="0">
              <a:solidFill>
                <a:srgbClr val="67767F"/>
              </a:solidFill>
              <a:latin typeface="Lato" panose="020F0502020204030203" pitchFamily="34" charset="0"/>
              <a:ea typeface="+mj-ea"/>
            </a:endParaRPr>
          </a:p>
        </p:txBody>
      </p:sp>
    </p:spTree>
    <p:extLst>
      <p:ext uri="{BB962C8B-B14F-4D97-AF65-F5344CB8AC3E}">
        <p14:creationId xmlns:p14="http://schemas.microsoft.com/office/powerpoint/2010/main" val="1183577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모서리가 둥근 직사각형 5">
            <a:extLst>
              <a:ext uri="{FF2B5EF4-FFF2-40B4-BE49-F238E27FC236}">
                <a16:creationId xmlns:a16="http://schemas.microsoft.com/office/drawing/2014/main" id="{2459D066-816B-4511-2918-39E8A865DE6B}"/>
              </a:ext>
            </a:extLst>
          </p:cNvPr>
          <p:cNvSpPr/>
          <p:nvPr/>
        </p:nvSpPr>
        <p:spPr>
          <a:xfrm>
            <a:off x="742295" y="787096"/>
            <a:ext cx="1595956" cy="367485"/>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8" name="TextBox 7">
            <a:extLst>
              <a:ext uri="{FF2B5EF4-FFF2-40B4-BE49-F238E27FC236}">
                <a16:creationId xmlns:a16="http://schemas.microsoft.com/office/drawing/2014/main" id="{2EE92511-CDDE-6FCB-693B-BEFA373932E6}"/>
              </a:ext>
            </a:extLst>
          </p:cNvPr>
          <p:cNvSpPr txBox="1"/>
          <p:nvPr/>
        </p:nvSpPr>
        <p:spPr>
          <a:xfrm>
            <a:off x="786571" y="748763"/>
            <a:ext cx="1799875" cy="415498"/>
          </a:xfrm>
          <a:prstGeom prst="rect">
            <a:avLst/>
          </a:prstGeom>
          <a:noFill/>
        </p:spPr>
        <p:txBody>
          <a:bodyPr wrap="square" rtlCol="0">
            <a:spAutoFit/>
          </a:bodyPr>
          <a:lstStyle/>
          <a:p>
            <a:pPr>
              <a:lnSpc>
                <a:spcPct val="150000"/>
              </a:lnSpc>
            </a:pPr>
            <a:r>
              <a:rPr kumimoji="1" lang="en-US" altLang="ko-KR" sz="1400">
                <a:ln>
                  <a:solidFill>
                    <a:srgbClr val="7E8080">
                      <a:alpha val="0"/>
                    </a:srgbClr>
                  </a:solidFill>
                </a:ln>
                <a:solidFill>
                  <a:srgbClr val="656E7D"/>
                </a:solidFill>
                <a:latin typeface="Lato Bold" panose="020F0802020204030203" pitchFamily="34" charset="0"/>
                <a:ea typeface="에스코어 드림 5 Medium" panose="020B0503030302020204" pitchFamily="34" charset="-127"/>
              </a:rPr>
              <a:t>Key </a:t>
            </a:r>
            <a:r>
              <a:rPr kumimoji="1" lang="en-US" altLang="ko-KR" sz="1400" dirty="0">
                <a:ln>
                  <a:solidFill>
                    <a:srgbClr val="7E8080">
                      <a:alpha val="0"/>
                    </a:srgbClr>
                  </a:solidFill>
                </a:ln>
                <a:solidFill>
                  <a:srgbClr val="656E7D"/>
                </a:solidFill>
                <a:latin typeface="Lato Bold" panose="020F0802020204030203" pitchFamily="34" charset="0"/>
                <a:ea typeface="에스코어 드림 5 Medium" panose="020B0503030302020204" pitchFamily="34" charset="-127"/>
              </a:rPr>
              <a:t>Parameters</a:t>
            </a:r>
          </a:p>
        </p:txBody>
      </p:sp>
      <p:sp>
        <p:nvSpPr>
          <p:cNvPr id="9" name="직사각형 8">
            <a:extLst>
              <a:ext uri="{FF2B5EF4-FFF2-40B4-BE49-F238E27FC236}">
                <a16:creationId xmlns:a16="http://schemas.microsoft.com/office/drawing/2014/main" id="{5A309613-F32B-1261-D662-5B2FCC2DD765}"/>
              </a:ext>
            </a:extLst>
          </p:cNvPr>
          <p:cNvSpPr/>
          <p:nvPr/>
        </p:nvSpPr>
        <p:spPr>
          <a:xfrm>
            <a:off x="4547847" y="1675129"/>
            <a:ext cx="3044809" cy="4051721"/>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Lato Bold" panose="020F0802020204030203" pitchFamily="34" charset="0"/>
              <a:ea typeface="에스코어 드림 4 Regular" panose="020B0503030302020204" pitchFamily="34" charset="-127"/>
            </a:endParaRPr>
          </a:p>
        </p:txBody>
      </p:sp>
      <p:sp>
        <p:nvSpPr>
          <p:cNvPr id="10" name="직사각형 9">
            <a:extLst>
              <a:ext uri="{FF2B5EF4-FFF2-40B4-BE49-F238E27FC236}">
                <a16:creationId xmlns:a16="http://schemas.microsoft.com/office/drawing/2014/main" id="{D0816D3D-6882-DACC-ECF0-E62D103DB381}"/>
              </a:ext>
            </a:extLst>
          </p:cNvPr>
          <p:cNvSpPr/>
          <p:nvPr/>
        </p:nvSpPr>
        <p:spPr>
          <a:xfrm>
            <a:off x="4878495" y="1851051"/>
            <a:ext cx="2383514" cy="1236692"/>
          </a:xfrm>
          <a:prstGeom prst="rect">
            <a:avLst/>
          </a:prstGeom>
          <a:solidFill>
            <a:srgbClr val="DDE0E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600" b="1" u="sng"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rPr>
              <a:t>ECW Ratio</a:t>
            </a:r>
          </a:p>
          <a:p>
            <a:pPr algn="ctr"/>
            <a:endParaRPr lang="en-US" altLang="ko-KR" sz="14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endParaRPr>
          </a:p>
          <a:p>
            <a:pPr algn="ctr"/>
            <a:r>
              <a:rPr lang="en-US" altLang="ko-KR" sz="14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rPr>
              <a:t>Target Body Weight</a:t>
            </a:r>
          </a:p>
        </p:txBody>
      </p:sp>
      <p:sp>
        <p:nvSpPr>
          <p:cNvPr id="11" name="TextBox 10">
            <a:extLst>
              <a:ext uri="{FF2B5EF4-FFF2-40B4-BE49-F238E27FC236}">
                <a16:creationId xmlns:a16="http://schemas.microsoft.com/office/drawing/2014/main" id="{9CC4362D-9FEA-9D7F-5F99-016EF4796CF3}"/>
              </a:ext>
            </a:extLst>
          </p:cNvPr>
          <p:cNvSpPr txBox="1"/>
          <p:nvPr/>
        </p:nvSpPr>
        <p:spPr>
          <a:xfrm>
            <a:off x="4697534" y="3668018"/>
            <a:ext cx="2745436" cy="1354210"/>
          </a:xfrm>
          <a:prstGeom prst="rect">
            <a:avLst/>
          </a:prstGeom>
          <a:noFill/>
        </p:spPr>
        <p:txBody>
          <a:bodyPr wrap="square" rIns="0" rtlCol="0">
            <a:noAutofit/>
          </a:bodyPr>
          <a:lstStyle/>
          <a:p>
            <a:pPr marL="171450" indent="-171450" algn="l">
              <a:lnSpc>
                <a:spcPct val="150000"/>
              </a:lnSpc>
              <a:spcBef>
                <a:spcPts val="300"/>
              </a:spcBef>
              <a:buFont typeface="Arial" panose="020B0604020202020204" pitchFamily="34" charset="0"/>
              <a:buChar char="•"/>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Nephrology</a:t>
            </a:r>
            <a:r>
              <a:rPr lang="ko-KR" altLang="en-US"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a:t>
            </a: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Dry Weight Setting</a:t>
            </a:r>
          </a:p>
          <a:p>
            <a:pPr algn="l">
              <a:lnSpc>
                <a:spcPct val="150000"/>
              </a:lnSpc>
              <a:spcBef>
                <a:spcPts val="300"/>
              </a:spcBef>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(Dry Weight)</a:t>
            </a:r>
          </a:p>
          <a:p>
            <a:pPr marL="171450" indent="-171450" algn="l">
              <a:lnSpc>
                <a:spcPct val="150000"/>
              </a:lnSpc>
              <a:spcBef>
                <a:spcPts val="300"/>
              </a:spcBef>
              <a:buFont typeface="Arial" panose="020B0604020202020204" pitchFamily="34" charset="0"/>
              <a:buChar char="•"/>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Cardiology</a:t>
            </a:r>
            <a:r>
              <a:rPr lang="ko-KR" altLang="en-US"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a:t>
            </a: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Diuretic Dosage Setting</a:t>
            </a:r>
          </a:p>
          <a:p>
            <a:pPr marL="171450" indent="-171450" algn="l">
              <a:lnSpc>
                <a:spcPct val="150000"/>
              </a:lnSpc>
              <a:spcBef>
                <a:spcPts val="300"/>
              </a:spcBef>
              <a:buFont typeface="Arial" panose="020B0604020202020204" pitchFamily="34" charset="0"/>
              <a:buChar char="•"/>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Critical Care (Surgery)</a:t>
            </a:r>
            <a:r>
              <a:rPr lang="ko-KR" altLang="en-US"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a:t>
            </a: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 Target Weight Setting</a:t>
            </a:r>
            <a:endParaRPr lang="ko-KR" altLang="en-US"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endParaRPr>
          </a:p>
        </p:txBody>
      </p:sp>
      <p:cxnSp>
        <p:nvCxnSpPr>
          <p:cNvPr id="12" name="직선 연결선 11">
            <a:extLst>
              <a:ext uri="{FF2B5EF4-FFF2-40B4-BE49-F238E27FC236}">
                <a16:creationId xmlns:a16="http://schemas.microsoft.com/office/drawing/2014/main" id="{638A2C59-E4A7-1145-B61F-D16B728904BF}"/>
              </a:ext>
            </a:extLst>
          </p:cNvPr>
          <p:cNvCxnSpPr>
            <a:cxnSpLocks/>
          </p:cNvCxnSpPr>
          <p:nvPr/>
        </p:nvCxnSpPr>
        <p:spPr>
          <a:xfrm>
            <a:off x="4662928" y="3271104"/>
            <a:ext cx="2814647"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6BA4858-AE25-F3A0-E9CF-7AC52E9E2254}"/>
              </a:ext>
            </a:extLst>
          </p:cNvPr>
          <p:cNvSpPr txBox="1"/>
          <p:nvPr/>
        </p:nvSpPr>
        <p:spPr>
          <a:xfrm>
            <a:off x="5620933" y="3159637"/>
            <a:ext cx="898631" cy="229267"/>
          </a:xfrm>
          <a:prstGeom prst="rect">
            <a:avLst/>
          </a:prstGeom>
          <a:solidFill>
            <a:srgbClr val="9E0B28"/>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1E7678">
                      <a:alpha val="0"/>
                    </a:srgbClr>
                  </a:solidFill>
                </a:ln>
                <a:solidFill>
                  <a:schemeClr val="bg1"/>
                </a:solidFill>
                <a:latin typeface="Lato Bold" panose="020F0802020204030203" pitchFamily="34" charset="0"/>
                <a:ea typeface="에스코어 드림 5 Medium" panose="020B0503030302020204" pitchFamily="34" charset="-127"/>
                <a:cs typeface="Lato" panose="020F0502020204030203" pitchFamily="34" charset="0"/>
              </a:rPr>
              <a:t>Application</a:t>
            </a:r>
          </a:p>
        </p:txBody>
      </p:sp>
      <p:sp>
        <p:nvSpPr>
          <p:cNvPr id="14" name="직사각형 13">
            <a:extLst>
              <a:ext uri="{FF2B5EF4-FFF2-40B4-BE49-F238E27FC236}">
                <a16:creationId xmlns:a16="http://schemas.microsoft.com/office/drawing/2014/main" id="{F2259BBD-4D97-4247-5AE8-A73220C67FED}"/>
              </a:ext>
            </a:extLst>
          </p:cNvPr>
          <p:cNvSpPr/>
          <p:nvPr/>
        </p:nvSpPr>
        <p:spPr>
          <a:xfrm>
            <a:off x="1116182" y="1675131"/>
            <a:ext cx="3044808" cy="4051721"/>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Lato Bold" panose="020F0802020204030203" pitchFamily="34" charset="0"/>
              <a:ea typeface="에스코어 드림 4 Regular" panose="020B0503030302020204" pitchFamily="34" charset="-127"/>
            </a:endParaRPr>
          </a:p>
        </p:txBody>
      </p:sp>
      <p:sp>
        <p:nvSpPr>
          <p:cNvPr id="15" name="직사각형 14">
            <a:extLst>
              <a:ext uri="{FF2B5EF4-FFF2-40B4-BE49-F238E27FC236}">
                <a16:creationId xmlns:a16="http://schemas.microsoft.com/office/drawing/2014/main" id="{C1926A9A-8D21-01D6-F963-F233E502778D}"/>
              </a:ext>
            </a:extLst>
          </p:cNvPr>
          <p:cNvSpPr/>
          <p:nvPr/>
        </p:nvSpPr>
        <p:spPr>
          <a:xfrm>
            <a:off x="1446830" y="1852473"/>
            <a:ext cx="2383513" cy="1236692"/>
          </a:xfrm>
          <a:prstGeom prst="rect">
            <a:avLst/>
          </a:prstGeom>
          <a:solidFill>
            <a:srgbClr val="DDE0E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600" b="1" u="sng"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rPr>
              <a:t>SMI</a:t>
            </a:r>
          </a:p>
          <a:p>
            <a:pPr algn="ctr"/>
            <a:endParaRPr lang="en-US" altLang="ko-KR" sz="20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endParaRPr>
          </a:p>
          <a:p>
            <a:pPr algn="ctr"/>
            <a:r>
              <a:rPr lang="en-US" altLang="ko-KR" sz="14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rPr>
              <a:t>Sarcopenia Diagnosis</a:t>
            </a:r>
          </a:p>
        </p:txBody>
      </p:sp>
      <p:cxnSp>
        <p:nvCxnSpPr>
          <p:cNvPr id="16" name="직선 연결선 15">
            <a:extLst>
              <a:ext uri="{FF2B5EF4-FFF2-40B4-BE49-F238E27FC236}">
                <a16:creationId xmlns:a16="http://schemas.microsoft.com/office/drawing/2014/main" id="{5F7949C3-9CD4-A5C7-2474-0C3388E0454B}"/>
              </a:ext>
            </a:extLst>
          </p:cNvPr>
          <p:cNvCxnSpPr>
            <a:cxnSpLocks/>
          </p:cNvCxnSpPr>
          <p:nvPr/>
        </p:nvCxnSpPr>
        <p:spPr>
          <a:xfrm>
            <a:off x="1231263" y="3271106"/>
            <a:ext cx="2814647"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17" name="직사각형 16">
            <a:extLst>
              <a:ext uri="{FF2B5EF4-FFF2-40B4-BE49-F238E27FC236}">
                <a16:creationId xmlns:a16="http://schemas.microsoft.com/office/drawing/2014/main" id="{2EE01CF6-B1FE-39AD-09AC-465CBC7FC972}"/>
              </a:ext>
            </a:extLst>
          </p:cNvPr>
          <p:cNvSpPr/>
          <p:nvPr/>
        </p:nvSpPr>
        <p:spPr>
          <a:xfrm>
            <a:off x="7951407" y="1675131"/>
            <a:ext cx="3044809" cy="4051719"/>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Lato Bold" panose="020F0802020204030203" pitchFamily="34" charset="0"/>
              <a:ea typeface="에스코어 드림 4 Regular" panose="020B0503030302020204" pitchFamily="34" charset="-127"/>
            </a:endParaRPr>
          </a:p>
        </p:txBody>
      </p:sp>
      <p:sp>
        <p:nvSpPr>
          <p:cNvPr id="18" name="직사각형 17">
            <a:extLst>
              <a:ext uri="{FF2B5EF4-FFF2-40B4-BE49-F238E27FC236}">
                <a16:creationId xmlns:a16="http://schemas.microsoft.com/office/drawing/2014/main" id="{D6F7A874-DFB0-33DD-4A0D-F9D14B02EFFC}"/>
              </a:ext>
            </a:extLst>
          </p:cNvPr>
          <p:cNvSpPr/>
          <p:nvPr/>
        </p:nvSpPr>
        <p:spPr>
          <a:xfrm>
            <a:off x="8282055" y="1852473"/>
            <a:ext cx="2383515" cy="1236692"/>
          </a:xfrm>
          <a:prstGeom prst="rect">
            <a:avLst/>
          </a:prstGeom>
          <a:solidFill>
            <a:srgbClr val="DDE0E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600" b="1" u="sng" dirty="0" err="1">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rPr>
              <a:t>PhA</a:t>
            </a:r>
            <a:endParaRPr lang="en-US" altLang="ko-KR" sz="1600" b="1" u="sng"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endParaRPr>
          </a:p>
          <a:p>
            <a:pPr algn="ctr"/>
            <a:endParaRPr lang="en-US" altLang="ko-KR" sz="12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endParaRPr>
          </a:p>
          <a:p>
            <a:pPr algn="ctr"/>
            <a:endParaRPr lang="en-US" altLang="ko-KR" sz="12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endParaRPr>
          </a:p>
          <a:p>
            <a:pPr algn="ctr"/>
            <a:r>
              <a:rPr lang="en-US" altLang="ko-KR" sz="1200" b="1" dirty="0">
                <a:ln>
                  <a:solidFill>
                    <a:srgbClr val="1E7678">
                      <a:alpha val="0"/>
                    </a:srgbClr>
                  </a:solidFill>
                </a:ln>
                <a:solidFill>
                  <a:srgbClr val="4B4F5A"/>
                </a:solidFill>
                <a:latin typeface="Lato Bold" panose="020F0802020204030203" pitchFamily="34" charset="0"/>
                <a:ea typeface="에스코어 드림 5 Medium" panose="020B0503030302020204" pitchFamily="34" charset="-127"/>
                <a:cs typeface="Lato" panose="020F0502020204030203" pitchFamily="34" charset="0"/>
              </a:rPr>
              <a:t>Prediction: Complications, Mortality, Nutritional Status</a:t>
            </a:r>
          </a:p>
        </p:txBody>
      </p:sp>
      <p:cxnSp>
        <p:nvCxnSpPr>
          <p:cNvPr id="19" name="직선 연결선 18">
            <a:extLst>
              <a:ext uri="{FF2B5EF4-FFF2-40B4-BE49-F238E27FC236}">
                <a16:creationId xmlns:a16="http://schemas.microsoft.com/office/drawing/2014/main" id="{87481D68-53F0-5B00-3302-B98D53CF61C3}"/>
              </a:ext>
            </a:extLst>
          </p:cNvPr>
          <p:cNvCxnSpPr>
            <a:cxnSpLocks/>
          </p:cNvCxnSpPr>
          <p:nvPr/>
        </p:nvCxnSpPr>
        <p:spPr>
          <a:xfrm>
            <a:off x="8066488" y="3271105"/>
            <a:ext cx="2814648"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CC102A5-0F61-0021-4F2B-76C884063A14}"/>
              </a:ext>
            </a:extLst>
          </p:cNvPr>
          <p:cNvSpPr txBox="1"/>
          <p:nvPr/>
        </p:nvSpPr>
        <p:spPr>
          <a:xfrm>
            <a:off x="2189270" y="3159637"/>
            <a:ext cx="898631" cy="229267"/>
          </a:xfrm>
          <a:prstGeom prst="rect">
            <a:avLst/>
          </a:prstGeom>
          <a:solidFill>
            <a:srgbClr val="9E0B28"/>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1E7678">
                      <a:alpha val="0"/>
                    </a:srgbClr>
                  </a:solidFill>
                </a:ln>
                <a:solidFill>
                  <a:schemeClr val="bg1"/>
                </a:solidFill>
                <a:latin typeface="Lato Bold" panose="020F0802020204030203" pitchFamily="34" charset="0"/>
                <a:ea typeface="에스코어 드림 5 Medium" panose="020B0503030302020204" pitchFamily="34" charset="-127"/>
                <a:cs typeface="Lato" panose="020F0502020204030203" pitchFamily="34" charset="0"/>
              </a:rPr>
              <a:t>Application</a:t>
            </a:r>
          </a:p>
        </p:txBody>
      </p:sp>
      <p:sp>
        <p:nvSpPr>
          <p:cNvPr id="21" name="TextBox 20">
            <a:extLst>
              <a:ext uri="{FF2B5EF4-FFF2-40B4-BE49-F238E27FC236}">
                <a16:creationId xmlns:a16="http://schemas.microsoft.com/office/drawing/2014/main" id="{6E364D7A-D0C9-833A-1C0D-DC4E50CEA354}"/>
              </a:ext>
            </a:extLst>
          </p:cNvPr>
          <p:cNvSpPr txBox="1"/>
          <p:nvPr/>
        </p:nvSpPr>
        <p:spPr>
          <a:xfrm>
            <a:off x="1265867" y="3668018"/>
            <a:ext cx="2745436" cy="1354210"/>
          </a:xfrm>
          <a:prstGeom prst="rect">
            <a:avLst/>
          </a:prstGeom>
          <a:noFill/>
        </p:spPr>
        <p:txBody>
          <a:bodyPr wrap="square" rIns="0" rtlCol="0">
            <a:noAutofit/>
          </a:bodyPr>
          <a:lstStyle/>
          <a:p>
            <a:pPr marL="171450" indent="-171450" algn="l">
              <a:lnSpc>
                <a:spcPct val="150000"/>
              </a:lnSpc>
              <a:spcBef>
                <a:spcPts val="300"/>
              </a:spcBef>
              <a:buFont typeface="Arial" panose="020B0604020202020204" pitchFamily="34" charset="0"/>
              <a:buChar char="•"/>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Geriatrics, Orthopedics, Obstetrics and Gynecology (OB/GYN), Endocrinology, Oncology, Psychiatry, Neurology, Chronic Disease, </a:t>
            </a:r>
            <a:r>
              <a:rPr lang="en-US" altLang="ko-KR" sz="1100" kern="0" spc="-5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etc.</a:t>
            </a:r>
          </a:p>
          <a:p>
            <a:pPr marL="171450" indent="-171450" algn="l">
              <a:lnSpc>
                <a:spcPct val="150000"/>
              </a:lnSpc>
              <a:spcBef>
                <a:spcPts val="300"/>
              </a:spcBef>
              <a:buFont typeface="Arial" panose="020B0604020202020204" pitchFamily="34" charset="0"/>
              <a:buChar char="•"/>
            </a:pPr>
            <a:r>
              <a:rPr lang="en-US" altLang="ko-KR" sz="1100" kern="0" spc="-5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Nutrition </a:t>
            </a:r>
            <a:endParaRPr lang="ko-KR" altLang="en-US"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endParaRPr>
          </a:p>
        </p:txBody>
      </p:sp>
      <p:sp>
        <p:nvSpPr>
          <p:cNvPr id="22" name="TextBox 21">
            <a:extLst>
              <a:ext uri="{FF2B5EF4-FFF2-40B4-BE49-F238E27FC236}">
                <a16:creationId xmlns:a16="http://schemas.microsoft.com/office/drawing/2014/main" id="{773A70F0-59E0-EB58-7D0F-AC3AAB07BA24}"/>
              </a:ext>
            </a:extLst>
          </p:cNvPr>
          <p:cNvSpPr txBox="1"/>
          <p:nvPr/>
        </p:nvSpPr>
        <p:spPr>
          <a:xfrm>
            <a:off x="9024495" y="3159637"/>
            <a:ext cx="898631" cy="229267"/>
          </a:xfrm>
          <a:prstGeom prst="rect">
            <a:avLst/>
          </a:prstGeom>
          <a:solidFill>
            <a:srgbClr val="9E0B28"/>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1E7678">
                      <a:alpha val="0"/>
                    </a:srgbClr>
                  </a:solidFill>
                </a:ln>
                <a:solidFill>
                  <a:schemeClr val="bg1"/>
                </a:solidFill>
                <a:latin typeface="Lato Bold" panose="020F0802020204030203" pitchFamily="34" charset="0"/>
                <a:ea typeface="에스코어 드림 5 Medium" panose="020B0503030302020204" pitchFamily="34" charset="-127"/>
                <a:cs typeface="Lato" panose="020F0502020204030203" pitchFamily="34" charset="0"/>
              </a:rPr>
              <a:t>Application</a:t>
            </a:r>
          </a:p>
        </p:txBody>
      </p:sp>
      <p:sp>
        <p:nvSpPr>
          <p:cNvPr id="23" name="TextBox 22">
            <a:extLst>
              <a:ext uri="{FF2B5EF4-FFF2-40B4-BE49-F238E27FC236}">
                <a16:creationId xmlns:a16="http://schemas.microsoft.com/office/drawing/2014/main" id="{2C7A1395-025F-412C-E55C-9A892B780844}"/>
              </a:ext>
            </a:extLst>
          </p:cNvPr>
          <p:cNvSpPr txBox="1"/>
          <p:nvPr/>
        </p:nvSpPr>
        <p:spPr>
          <a:xfrm>
            <a:off x="8135700" y="3668018"/>
            <a:ext cx="2745436" cy="1354210"/>
          </a:xfrm>
          <a:prstGeom prst="rect">
            <a:avLst/>
          </a:prstGeom>
          <a:noFill/>
        </p:spPr>
        <p:txBody>
          <a:bodyPr wrap="square" rIns="0" rtlCol="0">
            <a:noAutofit/>
          </a:bodyPr>
          <a:lstStyle/>
          <a:p>
            <a:pPr marL="171450" indent="-171450" algn="l">
              <a:lnSpc>
                <a:spcPct val="150000"/>
              </a:lnSpc>
              <a:spcBef>
                <a:spcPts val="300"/>
              </a:spcBef>
              <a:buFont typeface="Arial" panose="020B0604020202020204" pitchFamily="34" charset="0"/>
              <a:buChar char="•"/>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Tertiary Medical Institution: Utilized as a research topic across all department</a:t>
            </a:r>
          </a:p>
          <a:p>
            <a:pPr marL="171450" indent="-171450" algn="l">
              <a:lnSpc>
                <a:spcPct val="150000"/>
              </a:lnSpc>
              <a:spcBef>
                <a:spcPts val="300"/>
              </a:spcBef>
              <a:buFont typeface="Arial" panose="020B0604020202020204" pitchFamily="34" charset="0"/>
              <a:buChar char="•"/>
            </a:pPr>
            <a:r>
              <a:rPr lang="en-US" altLang="ko-KR"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rPr>
              <a:t>Primary &amp; Secondary Medical Institutions: Prescribing IV therapy, supplements. (Aimed at expanding revenue in functional medicine, including chronic fatigue treatment.)</a:t>
            </a:r>
            <a:endParaRPr lang="ko-KR" altLang="en-US" sz="1100" kern="0" spc="-50" dirty="0">
              <a:ln>
                <a:solidFill>
                  <a:srgbClr val="1E7678">
                    <a:alpha val="0"/>
                  </a:srgbClr>
                </a:solidFill>
              </a:ln>
              <a:solidFill>
                <a:srgbClr val="3C3C3A"/>
              </a:solidFill>
              <a:latin typeface="Lato Bold" panose="020F0802020204030203" pitchFamily="34" charset="0"/>
              <a:ea typeface="에스코어 드림 5 Medium" panose="020B0503030302020204" pitchFamily="34" charset="-127"/>
            </a:endParaRPr>
          </a:p>
        </p:txBody>
      </p:sp>
      <p:sp>
        <p:nvSpPr>
          <p:cNvPr id="24" name="TextBox 23">
            <a:extLst>
              <a:ext uri="{FF2B5EF4-FFF2-40B4-BE49-F238E27FC236}">
                <a16:creationId xmlns:a16="http://schemas.microsoft.com/office/drawing/2014/main" id="{8D8F5F2D-91B3-E483-A680-B90F4CD5DDC1}"/>
              </a:ext>
            </a:extLst>
          </p:cNvPr>
          <p:cNvSpPr txBox="1"/>
          <p:nvPr/>
        </p:nvSpPr>
        <p:spPr>
          <a:xfrm>
            <a:off x="650642" y="306181"/>
            <a:ext cx="5355453" cy="461665"/>
          </a:xfrm>
          <a:prstGeom prst="rect">
            <a:avLst/>
          </a:prstGeom>
          <a:noFill/>
        </p:spPr>
        <p:txBody>
          <a:bodyPr wrap="square" rtlCol="0">
            <a:spAutoFit/>
          </a:bodyPr>
          <a:lstStyle/>
          <a:p>
            <a:r>
              <a:rPr kumimoji="1" lang="en-US" altLang="ko-KR" sz="2400" spc="-30" dirty="0">
                <a:ln>
                  <a:solidFill>
                    <a:srgbClr val="7E8080">
                      <a:alpha val="0"/>
                    </a:srgbClr>
                  </a:solidFill>
                </a:ln>
                <a:solidFill>
                  <a:srgbClr val="3C3C3A"/>
                </a:solidFill>
                <a:latin typeface="Lato Black" panose="020F0A02020204030203" pitchFamily="34" charset="0"/>
                <a:ea typeface="에스코어 드림 6 Bold" panose="020B0703030302020204" pitchFamily="34" charset="-127"/>
              </a:rPr>
              <a:t>Key Sales Points by Departments</a:t>
            </a:r>
          </a:p>
        </p:txBody>
      </p:sp>
      <p:sp>
        <p:nvSpPr>
          <p:cNvPr id="25" name="TextBox 24">
            <a:extLst>
              <a:ext uri="{FF2B5EF4-FFF2-40B4-BE49-F238E27FC236}">
                <a16:creationId xmlns:a16="http://schemas.microsoft.com/office/drawing/2014/main" id="{E9CEADCC-7620-AF7B-D7F0-711EA7D31A02}"/>
              </a:ext>
            </a:extLst>
          </p:cNvPr>
          <p:cNvSpPr txBox="1"/>
          <p:nvPr/>
        </p:nvSpPr>
        <p:spPr>
          <a:xfrm>
            <a:off x="170621" y="286931"/>
            <a:ext cx="704480" cy="461665"/>
          </a:xfrm>
          <a:prstGeom prst="rect">
            <a:avLst/>
          </a:prstGeom>
          <a:noFill/>
        </p:spPr>
        <p:txBody>
          <a:bodyPr wrap="square" rtlCol="0">
            <a:spAutoFit/>
          </a:bodyPr>
          <a:lstStyle/>
          <a:p>
            <a:r>
              <a:rPr lang="en-US" altLang="ko-KR" sz="24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4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Tree>
    <p:extLst>
      <p:ext uri="{BB962C8B-B14F-4D97-AF65-F5344CB8AC3E}">
        <p14:creationId xmlns:p14="http://schemas.microsoft.com/office/powerpoint/2010/main" val="295731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622178" y="1607426"/>
            <a:ext cx="2764971" cy="4542792"/>
          </a:xfrm>
          <a:prstGeom prst="rect">
            <a:avLst/>
          </a:prstGeom>
        </p:spPr>
      </p:pic>
      <p:sp>
        <p:nvSpPr>
          <p:cNvPr id="7" name="텍스트 개체 틀 4">
            <a:extLst>
              <a:ext uri="{FF2B5EF4-FFF2-40B4-BE49-F238E27FC236}">
                <a16:creationId xmlns:a16="http://schemas.microsoft.com/office/drawing/2014/main" id="{5CA2EDD0-D101-1ED9-3BFD-12C28B19165F}"/>
              </a:ext>
            </a:extLst>
          </p:cNvPr>
          <p:cNvSpPr>
            <a:spLocks noGrp="1"/>
          </p:cNvSpPr>
          <p:nvPr>
            <p:ph type="body" sz="quarter" idx="17"/>
          </p:nvPr>
        </p:nvSpPr>
        <p:spPr>
          <a:xfrm>
            <a:off x="630448" y="2622460"/>
            <a:ext cx="7057043" cy="2018993"/>
          </a:xfrm>
        </p:spPr>
        <p:txBody>
          <a:bodyPr>
            <a:noAutofit/>
          </a:bodyPr>
          <a:lstStyle/>
          <a:p>
            <a:pPr>
              <a:lnSpc>
                <a:spcPct val="100000"/>
              </a:lnSpc>
            </a:pPr>
            <a:r>
              <a:rPr lang="en-US" altLang="ko-KR" sz="6000" dirty="0">
                <a:solidFill>
                  <a:srgbClr val="67767F"/>
                </a:solidFill>
                <a:latin typeface="Lato Black" panose="020F0502020204030203" pitchFamily="34" charset="0"/>
                <a:ea typeface="Lato Black" panose="020F0502020204030203" pitchFamily="34" charset="0"/>
                <a:cs typeface="Lato Black" panose="020F0502020204030203" pitchFamily="34" charset="0"/>
              </a:rPr>
              <a:t>Nephrology &amp; Dialysis</a:t>
            </a:r>
          </a:p>
        </p:txBody>
      </p:sp>
      <p:pic>
        <p:nvPicPr>
          <p:cNvPr id="3" name="그림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5476" y="2150804"/>
            <a:ext cx="1843265" cy="384154"/>
          </a:xfrm>
          <a:prstGeom prst="rect">
            <a:avLst/>
          </a:prstGeom>
        </p:spPr>
      </p:pic>
    </p:spTree>
    <p:extLst>
      <p:ext uri="{BB962C8B-B14F-4D97-AF65-F5344CB8AC3E}">
        <p14:creationId xmlns:p14="http://schemas.microsoft.com/office/powerpoint/2010/main" val="465668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46F2BF8-6BAC-98A6-825D-868EB31B3467}"/>
              </a:ext>
            </a:extLst>
          </p:cNvPr>
          <p:cNvSpPr txBox="1"/>
          <p:nvPr/>
        </p:nvSpPr>
        <p:spPr>
          <a:xfrm>
            <a:off x="6654636" y="1756087"/>
            <a:ext cx="4174164" cy="400110"/>
          </a:xfrm>
          <a:prstGeom prst="rect">
            <a:avLst/>
          </a:prstGeom>
          <a:noFill/>
        </p:spPr>
        <p:txBody>
          <a:bodyPr wrap="square" rtlCol="0">
            <a:spAutoFit/>
          </a:bodyPr>
          <a:lstStyle/>
          <a:p>
            <a:pPr marL="0" algn="l" defTabSz="914400" rtl="0" eaLnBrk="1" latinLnBrk="0" hangingPunct="1"/>
            <a:r>
              <a:rPr kumimoji="1" lang="en-US" altLang="ko-KR" sz="20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rPr>
              <a:t>Hemodialysis &amp; Dialysis Centers</a:t>
            </a:r>
            <a:endParaRPr kumimoji="1" lang="ko-KR" altLang="en-US" sz="2000" b="0" kern="12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endParaRPr>
          </a:p>
        </p:txBody>
      </p:sp>
      <p:sp>
        <p:nvSpPr>
          <p:cNvPr id="7" name="TextBox 6">
            <a:extLst>
              <a:ext uri="{FF2B5EF4-FFF2-40B4-BE49-F238E27FC236}">
                <a16:creationId xmlns:a16="http://schemas.microsoft.com/office/drawing/2014/main" id="{13D96A0D-EE6D-84FA-3727-0B2A94E2D256}"/>
              </a:ext>
            </a:extLst>
          </p:cNvPr>
          <p:cNvSpPr txBox="1"/>
          <p:nvPr/>
        </p:nvSpPr>
        <p:spPr>
          <a:xfrm>
            <a:off x="5860502" y="1752913"/>
            <a:ext cx="1278329" cy="369332"/>
          </a:xfrm>
          <a:prstGeom prst="rect">
            <a:avLst/>
          </a:prstGeom>
          <a:noFill/>
        </p:spPr>
        <p:txBody>
          <a:bodyPr wrap="square" rtlCol="0">
            <a:spAutoFit/>
          </a:bodyPr>
          <a:lstStyle/>
          <a:p>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Part</a:t>
            </a:r>
            <a:r>
              <a:rPr lang="ko-KR" altLang="en-US" b="1" dirty="0">
                <a:ln>
                  <a:solidFill>
                    <a:schemeClr val="tx1">
                      <a:lumMod val="95000"/>
                      <a:lumOff val="5000"/>
                      <a:alpha val="0"/>
                    </a:schemeClr>
                  </a:solidFill>
                </a:ln>
                <a:solidFill>
                  <a:srgbClr val="9E0B28"/>
                </a:solidFill>
                <a:latin typeface="Lato" panose="020F0502020204030203" pitchFamily="34" charset="0"/>
                <a:ea typeface="맑은 고딕" panose="020B0400000000000000" pitchFamily="34" charset="-127"/>
                <a:cs typeface="Lato" panose="020F0502020204030203" pitchFamily="34" charset="0"/>
              </a:rPr>
              <a:t> </a:t>
            </a:r>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1</a:t>
            </a:r>
            <a:endParaRPr lang="ko-KR" altLang="en-US" b="1" dirty="0">
              <a:ln>
                <a:solidFill>
                  <a:schemeClr val="tx1">
                    <a:lumMod val="95000"/>
                    <a:lumOff val="5000"/>
                    <a:alpha val="0"/>
                  </a:schemeClr>
                </a:solidFill>
              </a:ln>
              <a:solidFill>
                <a:srgbClr val="9E0B28"/>
              </a:solidFill>
              <a:latin typeface="Lato" panose="020F0502020204030203" pitchFamily="34" charset="0"/>
              <a:ea typeface="맑은 고딕" panose="020B0400000000000000" pitchFamily="34" charset="-127"/>
              <a:cs typeface="Lato" panose="020F0502020204030203" pitchFamily="34" charset="0"/>
            </a:endParaRPr>
          </a:p>
        </p:txBody>
      </p:sp>
      <p:sp>
        <p:nvSpPr>
          <p:cNvPr id="8" name="타원 7">
            <a:extLst>
              <a:ext uri="{FF2B5EF4-FFF2-40B4-BE49-F238E27FC236}">
                <a16:creationId xmlns:a16="http://schemas.microsoft.com/office/drawing/2014/main" id="{5430FD08-F4A9-A30D-CC61-0825A29CF764}"/>
              </a:ext>
            </a:extLst>
          </p:cNvPr>
          <p:cNvSpPr/>
          <p:nvPr/>
        </p:nvSpPr>
        <p:spPr>
          <a:xfrm flipH="1">
            <a:off x="5749863" y="1904401"/>
            <a:ext cx="79058" cy="79058"/>
          </a:xfrm>
          <a:prstGeom prst="ellipse">
            <a:avLst/>
          </a:prstGeom>
          <a:solidFill>
            <a:srgbClr val="9E0B28"/>
          </a:solidFill>
          <a:ln>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chemeClr val="tx1">
                    <a:lumMod val="65000"/>
                    <a:lumOff val="35000"/>
                    <a:alpha val="0"/>
                  </a:schemeClr>
                </a:solidFill>
              </a:ln>
              <a:latin typeface="Lato" panose="020F0502020204030203" pitchFamily="34" charset="0"/>
              <a:cs typeface="Lato" panose="020F0502020204030203" pitchFamily="34" charset="0"/>
            </a:endParaRPr>
          </a:p>
        </p:txBody>
      </p:sp>
      <p:sp>
        <p:nvSpPr>
          <p:cNvPr id="17" name="TextBox 16">
            <a:extLst>
              <a:ext uri="{FF2B5EF4-FFF2-40B4-BE49-F238E27FC236}">
                <a16:creationId xmlns:a16="http://schemas.microsoft.com/office/drawing/2014/main" id="{0D1B0315-EA3C-24FE-FA2D-BFD3A7FFE5AB}"/>
              </a:ext>
            </a:extLst>
          </p:cNvPr>
          <p:cNvSpPr txBox="1"/>
          <p:nvPr/>
        </p:nvSpPr>
        <p:spPr>
          <a:xfrm>
            <a:off x="6654635" y="2463628"/>
            <a:ext cx="3542309" cy="400110"/>
          </a:xfrm>
          <a:prstGeom prst="rect">
            <a:avLst/>
          </a:prstGeom>
          <a:noFill/>
        </p:spPr>
        <p:txBody>
          <a:bodyPr wrap="square" rtlCol="0">
            <a:spAutoFit/>
          </a:bodyPr>
          <a:lstStyle/>
          <a:p>
            <a:pPr marL="0" algn="l" defTabSz="914400" rtl="0" eaLnBrk="1" latinLnBrk="0" hangingPunct="1"/>
            <a:r>
              <a:rPr kumimoji="1" lang="en-US" altLang="ko-KR" sz="20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rPr>
              <a:t>BWA2.0 in Dialysis Centers</a:t>
            </a:r>
            <a:endParaRPr kumimoji="1" lang="ko-KR" altLang="en-US" sz="2000" b="0" kern="12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endParaRPr>
          </a:p>
        </p:txBody>
      </p:sp>
      <p:sp>
        <p:nvSpPr>
          <p:cNvPr id="18" name="TextBox 17">
            <a:extLst>
              <a:ext uri="{FF2B5EF4-FFF2-40B4-BE49-F238E27FC236}">
                <a16:creationId xmlns:a16="http://schemas.microsoft.com/office/drawing/2014/main" id="{E0609CA7-BA3C-E202-B41B-1A8E40FCE646}"/>
              </a:ext>
            </a:extLst>
          </p:cNvPr>
          <p:cNvSpPr txBox="1"/>
          <p:nvPr/>
        </p:nvSpPr>
        <p:spPr>
          <a:xfrm>
            <a:off x="5860502" y="2460454"/>
            <a:ext cx="1278329" cy="369332"/>
          </a:xfrm>
          <a:prstGeom prst="rect">
            <a:avLst/>
          </a:prstGeom>
          <a:noFill/>
        </p:spPr>
        <p:txBody>
          <a:bodyPr wrap="square" rtlCol="0">
            <a:spAutoFit/>
          </a:bodyPr>
          <a:lstStyle/>
          <a:p>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Part</a:t>
            </a:r>
            <a:r>
              <a:rPr lang="ko-KR" altLang="en-US" b="1" dirty="0">
                <a:ln>
                  <a:solidFill>
                    <a:schemeClr val="tx1">
                      <a:lumMod val="95000"/>
                      <a:lumOff val="5000"/>
                      <a:alpha val="0"/>
                    </a:schemeClr>
                  </a:solidFill>
                </a:ln>
                <a:solidFill>
                  <a:srgbClr val="9E0B28"/>
                </a:solidFill>
                <a:latin typeface="Lato" panose="020F0502020204030203" pitchFamily="34" charset="0"/>
                <a:ea typeface="맑은 고딕" panose="020B0400000000000000" pitchFamily="34" charset="-127"/>
                <a:cs typeface="Lato" panose="020F0502020204030203" pitchFamily="34" charset="0"/>
              </a:rPr>
              <a:t> </a:t>
            </a:r>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2</a:t>
            </a:r>
            <a:endParaRPr lang="ko-KR" altLang="en-US" b="1" dirty="0">
              <a:ln>
                <a:solidFill>
                  <a:schemeClr val="tx1">
                    <a:lumMod val="95000"/>
                    <a:lumOff val="5000"/>
                    <a:alpha val="0"/>
                  </a:schemeClr>
                </a:solidFill>
              </a:ln>
              <a:solidFill>
                <a:srgbClr val="9E0B28"/>
              </a:solidFill>
              <a:latin typeface="Lato" panose="020F0502020204030203" pitchFamily="34" charset="0"/>
              <a:ea typeface="맑은 고딕" panose="020B0400000000000000" pitchFamily="34" charset="-127"/>
              <a:cs typeface="Lato" panose="020F0502020204030203" pitchFamily="34" charset="0"/>
            </a:endParaRPr>
          </a:p>
        </p:txBody>
      </p:sp>
      <p:sp>
        <p:nvSpPr>
          <p:cNvPr id="19" name="타원 18">
            <a:extLst>
              <a:ext uri="{FF2B5EF4-FFF2-40B4-BE49-F238E27FC236}">
                <a16:creationId xmlns:a16="http://schemas.microsoft.com/office/drawing/2014/main" id="{78613C74-BD2D-C04A-D766-6B9D40884180}"/>
              </a:ext>
            </a:extLst>
          </p:cNvPr>
          <p:cNvSpPr/>
          <p:nvPr/>
        </p:nvSpPr>
        <p:spPr>
          <a:xfrm flipH="1">
            <a:off x="5749863" y="2611942"/>
            <a:ext cx="79058" cy="79058"/>
          </a:xfrm>
          <a:prstGeom prst="ellipse">
            <a:avLst/>
          </a:prstGeom>
          <a:solidFill>
            <a:srgbClr val="9E0B28"/>
          </a:solidFill>
          <a:ln>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chemeClr val="tx1">
                    <a:lumMod val="65000"/>
                    <a:lumOff val="35000"/>
                    <a:alpha val="0"/>
                  </a:schemeClr>
                </a:solidFill>
              </a:ln>
              <a:latin typeface="Lato" panose="020F0502020204030203" pitchFamily="34" charset="0"/>
              <a:cs typeface="Lato" panose="020F0502020204030203" pitchFamily="34" charset="0"/>
            </a:endParaRPr>
          </a:p>
        </p:txBody>
      </p:sp>
      <p:sp>
        <p:nvSpPr>
          <p:cNvPr id="28" name="TextBox 27">
            <a:extLst>
              <a:ext uri="{FF2B5EF4-FFF2-40B4-BE49-F238E27FC236}">
                <a16:creationId xmlns:a16="http://schemas.microsoft.com/office/drawing/2014/main" id="{ED1FCBBD-85FD-1B69-45C3-9D0D169B1453}"/>
              </a:ext>
            </a:extLst>
          </p:cNvPr>
          <p:cNvSpPr txBox="1"/>
          <p:nvPr/>
        </p:nvSpPr>
        <p:spPr>
          <a:xfrm>
            <a:off x="6654636" y="3171169"/>
            <a:ext cx="2641253" cy="400110"/>
          </a:xfrm>
          <a:prstGeom prst="rect">
            <a:avLst/>
          </a:prstGeom>
          <a:noFill/>
        </p:spPr>
        <p:txBody>
          <a:bodyPr wrap="square" rtlCol="0">
            <a:spAutoFit/>
          </a:bodyPr>
          <a:lstStyle/>
          <a:p>
            <a:pPr latinLnBrk="0"/>
            <a:r>
              <a:rPr kumimoji="1" lang="en-US" altLang="ko-KR" sz="20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rPr>
              <a:t>Clinical Case Study</a:t>
            </a:r>
            <a:endParaRPr kumimoji="1" lang="ko-KR" altLang="en-US" sz="20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endParaRPr>
          </a:p>
        </p:txBody>
      </p:sp>
      <p:sp>
        <p:nvSpPr>
          <p:cNvPr id="29" name="TextBox 28">
            <a:extLst>
              <a:ext uri="{FF2B5EF4-FFF2-40B4-BE49-F238E27FC236}">
                <a16:creationId xmlns:a16="http://schemas.microsoft.com/office/drawing/2014/main" id="{82311C03-830D-2C15-BD61-EE13B1AE0736}"/>
              </a:ext>
            </a:extLst>
          </p:cNvPr>
          <p:cNvSpPr txBox="1"/>
          <p:nvPr/>
        </p:nvSpPr>
        <p:spPr>
          <a:xfrm>
            <a:off x="5860502" y="3167995"/>
            <a:ext cx="1278329" cy="369332"/>
          </a:xfrm>
          <a:prstGeom prst="rect">
            <a:avLst/>
          </a:prstGeom>
          <a:noFill/>
        </p:spPr>
        <p:txBody>
          <a:bodyPr wrap="square" rtlCol="0">
            <a:spAutoFit/>
          </a:bodyPr>
          <a:lstStyle/>
          <a:p>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Part</a:t>
            </a:r>
            <a:r>
              <a:rPr lang="ko-KR" altLang="en-US" b="1" dirty="0">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rPr>
              <a:t> </a:t>
            </a:r>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3</a:t>
            </a:r>
            <a:endParaRPr lang="ko-KR" altLang="en-US" b="1" dirty="0">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endParaRPr>
          </a:p>
        </p:txBody>
      </p:sp>
      <p:sp>
        <p:nvSpPr>
          <p:cNvPr id="30" name="타원 29">
            <a:extLst>
              <a:ext uri="{FF2B5EF4-FFF2-40B4-BE49-F238E27FC236}">
                <a16:creationId xmlns:a16="http://schemas.microsoft.com/office/drawing/2014/main" id="{5605060E-308C-6732-CA8F-7EDEDE14D1ED}"/>
              </a:ext>
            </a:extLst>
          </p:cNvPr>
          <p:cNvSpPr/>
          <p:nvPr/>
        </p:nvSpPr>
        <p:spPr>
          <a:xfrm flipH="1">
            <a:off x="5749863" y="3319483"/>
            <a:ext cx="79058" cy="79058"/>
          </a:xfrm>
          <a:prstGeom prst="ellipse">
            <a:avLst/>
          </a:prstGeom>
          <a:solidFill>
            <a:srgbClr val="9E0B28"/>
          </a:solidFill>
          <a:ln>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chemeClr val="tx1">
                    <a:lumMod val="65000"/>
                    <a:lumOff val="35000"/>
                    <a:alpha val="0"/>
                  </a:schemeClr>
                </a:solidFill>
              </a:ln>
              <a:latin typeface="Lato" panose="020F0502020204030203" pitchFamily="34" charset="0"/>
              <a:cs typeface="Lato" panose="020F0502020204030203" pitchFamily="34" charset="0"/>
            </a:endParaRPr>
          </a:p>
        </p:txBody>
      </p:sp>
      <p:grpSp>
        <p:nvGrpSpPr>
          <p:cNvPr id="38" name="그룹 37">
            <a:extLst>
              <a:ext uri="{FF2B5EF4-FFF2-40B4-BE49-F238E27FC236}">
                <a16:creationId xmlns:a16="http://schemas.microsoft.com/office/drawing/2014/main" id="{6BD26FC1-4C2C-440B-B625-074A2FBCF385}"/>
              </a:ext>
            </a:extLst>
          </p:cNvPr>
          <p:cNvGrpSpPr/>
          <p:nvPr/>
        </p:nvGrpSpPr>
        <p:grpSpPr>
          <a:xfrm>
            <a:off x="5749863" y="4583077"/>
            <a:ext cx="951384" cy="369332"/>
            <a:chOff x="1922445" y="1907815"/>
            <a:chExt cx="951384" cy="369332"/>
          </a:xfrm>
        </p:grpSpPr>
        <p:sp>
          <p:nvSpPr>
            <p:cNvPr id="40" name="TextBox 39">
              <a:extLst>
                <a:ext uri="{FF2B5EF4-FFF2-40B4-BE49-F238E27FC236}">
                  <a16:creationId xmlns:a16="http://schemas.microsoft.com/office/drawing/2014/main" id="{76742268-EEB0-DB84-D6FA-14FE68ED1C5A}"/>
                </a:ext>
              </a:extLst>
            </p:cNvPr>
            <p:cNvSpPr txBox="1"/>
            <p:nvPr/>
          </p:nvSpPr>
          <p:spPr>
            <a:xfrm>
              <a:off x="2033084" y="1907815"/>
              <a:ext cx="840745" cy="369332"/>
            </a:xfrm>
            <a:prstGeom prst="rect">
              <a:avLst/>
            </a:prstGeom>
            <a:noFill/>
          </p:spPr>
          <p:txBody>
            <a:bodyPr wrap="square" rtlCol="0">
              <a:spAutoFit/>
            </a:bodyPr>
            <a:lstStyle/>
            <a:p>
              <a:r>
                <a:rPr lang="en-US" altLang="ko-KR" b="1">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Part</a:t>
              </a:r>
              <a:r>
                <a:rPr lang="ko-KR" altLang="en-US" b="1">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rPr>
                <a:t> </a:t>
              </a:r>
              <a:r>
                <a:rPr lang="en-US" altLang="ko-KR" b="1">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5</a:t>
              </a:r>
              <a:endParaRPr lang="ko-KR" altLang="en-US" b="1" dirty="0">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endParaRPr>
            </a:p>
          </p:txBody>
        </p:sp>
        <p:sp>
          <p:nvSpPr>
            <p:cNvPr id="41" name="타원 40">
              <a:extLst>
                <a:ext uri="{FF2B5EF4-FFF2-40B4-BE49-F238E27FC236}">
                  <a16:creationId xmlns:a16="http://schemas.microsoft.com/office/drawing/2014/main" id="{949147BC-5BFC-75F4-9B7E-ECCE15AA4E47}"/>
                </a:ext>
              </a:extLst>
            </p:cNvPr>
            <p:cNvSpPr/>
            <p:nvPr/>
          </p:nvSpPr>
          <p:spPr>
            <a:xfrm flipH="1">
              <a:off x="1922445" y="2059303"/>
              <a:ext cx="79058" cy="79058"/>
            </a:xfrm>
            <a:prstGeom prst="ellipse">
              <a:avLst/>
            </a:prstGeom>
            <a:solidFill>
              <a:srgbClr val="9E0B28"/>
            </a:solidFill>
            <a:ln>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chemeClr val="tx1">
                      <a:lumMod val="65000"/>
                      <a:lumOff val="35000"/>
                      <a:alpha val="0"/>
                    </a:schemeClr>
                  </a:solidFill>
                </a:ln>
                <a:latin typeface="Lato" panose="020F0502020204030203" pitchFamily="34" charset="0"/>
                <a:cs typeface="Lato" panose="020F0502020204030203" pitchFamily="34" charset="0"/>
              </a:endParaRPr>
            </a:p>
          </p:txBody>
        </p:sp>
      </p:grpSp>
      <p:sp>
        <p:nvSpPr>
          <p:cNvPr id="61" name="TextBox 60">
            <a:extLst>
              <a:ext uri="{FF2B5EF4-FFF2-40B4-BE49-F238E27FC236}">
                <a16:creationId xmlns:a16="http://schemas.microsoft.com/office/drawing/2014/main" id="{340EFE95-9DA3-BE90-D745-838F2BEE5058}"/>
              </a:ext>
            </a:extLst>
          </p:cNvPr>
          <p:cNvSpPr txBox="1"/>
          <p:nvPr/>
        </p:nvSpPr>
        <p:spPr>
          <a:xfrm>
            <a:off x="6654636" y="3878710"/>
            <a:ext cx="4768437" cy="400110"/>
          </a:xfrm>
          <a:prstGeom prst="rect">
            <a:avLst/>
          </a:prstGeom>
          <a:noFill/>
        </p:spPr>
        <p:txBody>
          <a:bodyPr wrap="square" rtlCol="0">
            <a:spAutoFit/>
          </a:bodyPr>
          <a:lstStyle/>
          <a:p>
            <a:pPr marL="0" algn="l" defTabSz="914400" rtl="0" eaLnBrk="1" latinLnBrk="0" hangingPunct="1"/>
            <a:r>
              <a:rPr kumimoji="1" lang="en-US" altLang="ko-KR" sz="2000" b="0" kern="1200" dirty="0">
                <a:ln>
                  <a:solidFill>
                    <a:schemeClr val="tx1">
                      <a:lumMod val="95000"/>
                      <a:lumOff val="5000"/>
                      <a:alpha val="0"/>
                    </a:schemeClr>
                  </a:solidFill>
                </a:ln>
                <a:solidFill>
                  <a:srgbClr val="3C3C3A"/>
                </a:solidFill>
                <a:latin typeface="Lato" panose="020F0502020204030203" pitchFamily="34" charset="0"/>
                <a:ea typeface="Lato" panose="020F0502020204030203" pitchFamily="34" charset="0"/>
                <a:cs typeface="Lato" panose="020F0502020204030203" pitchFamily="34" charset="0"/>
              </a:rPr>
              <a:t>BWA2.0 Demonstration</a:t>
            </a:r>
            <a:endParaRPr kumimoji="1" lang="ko-KR" altLang="en-US" sz="2000" b="0" kern="12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endParaRPr>
          </a:p>
        </p:txBody>
      </p:sp>
      <p:sp>
        <p:nvSpPr>
          <p:cNvPr id="62" name="TextBox 61">
            <a:extLst>
              <a:ext uri="{FF2B5EF4-FFF2-40B4-BE49-F238E27FC236}">
                <a16:creationId xmlns:a16="http://schemas.microsoft.com/office/drawing/2014/main" id="{76742268-EEB0-DB84-D6FA-14FE68ED1C5A}"/>
              </a:ext>
            </a:extLst>
          </p:cNvPr>
          <p:cNvSpPr txBox="1"/>
          <p:nvPr/>
        </p:nvSpPr>
        <p:spPr>
          <a:xfrm>
            <a:off x="5860502" y="3875536"/>
            <a:ext cx="1278329" cy="369332"/>
          </a:xfrm>
          <a:prstGeom prst="rect">
            <a:avLst/>
          </a:prstGeom>
          <a:noFill/>
        </p:spPr>
        <p:txBody>
          <a:bodyPr wrap="square" rtlCol="0">
            <a:spAutoFit/>
          </a:bodyPr>
          <a:lstStyle/>
          <a:p>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Part</a:t>
            </a:r>
            <a:r>
              <a:rPr lang="ko-KR" altLang="en-US" b="1" dirty="0">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rPr>
              <a:t> </a:t>
            </a:r>
            <a:r>
              <a:rPr lang="en-US" altLang="ko-KR" b="1" dirty="0">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4</a:t>
            </a:r>
            <a:endParaRPr lang="ko-KR" altLang="en-US" b="1" dirty="0">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endParaRPr>
          </a:p>
        </p:txBody>
      </p:sp>
      <p:sp>
        <p:nvSpPr>
          <p:cNvPr id="63" name="타원 62">
            <a:extLst>
              <a:ext uri="{FF2B5EF4-FFF2-40B4-BE49-F238E27FC236}">
                <a16:creationId xmlns:a16="http://schemas.microsoft.com/office/drawing/2014/main" id="{949147BC-5BFC-75F4-9B7E-ECCE15AA4E47}"/>
              </a:ext>
            </a:extLst>
          </p:cNvPr>
          <p:cNvSpPr/>
          <p:nvPr/>
        </p:nvSpPr>
        <p:spPr>
          <a:xfrm flipH="1">
            <a:off x="5749863" y="4027024"/>
            <a:ext cx="79058" cy="79058"/>
          </a:xfrm>
          <a:prstGeom prst="ellipse">
            <a:avLst/>
          </a:prstGeom>
          <a:solidFill>
            <a:srgbClr val="9E0B28"/>
          </a:solidFill>
          <a:ln>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chemeClr val="tx1">
                    <a:lumMod val="65000"/>
                    <a:lumOff val="35000"/>
                    <a:alpha val="0"/>
                  </a:schemeClr>
                </a:solidFill>
              </a:ln>
              <a:latin typeface="Lato" panose="020F0502020204030203" pitchFamily="34" charset="0"/>
              <a:cs typeface="Lato" panose="020F0502020204030203" pitchFamily="34" charset="0"/>
            </a:endParaRPr>
          </a:p>
        </p:txBody>
      </p:sp>
      <p:grpSp>
        <p:nvGrpSpPr>
          <p:cNvPr id="66" name="그룹 65">
            <a:extLst>
              <a:ext uri="{FF2B5EF4-FFF2-40B4-BE49-F238E27FC236}">
                <a16:creationId xmlns:a16="http://schemas.microsoft.com/office/drawing/2014/main" id="{6BD26FC1-4C2C-440B-B625-074A2FBCF385}"/>
              </a:ext>
            </a:extLst>
          </p:cNvPr>
          <p:cNvGrpSpPr/>
          <p:nvPr/>
        </p:nvGrpSpPr>
        <p:grpSpPr>
          <a:xfrm>
            <a:off x="5749863" y="5290619"/>
            <a:ext cx="951384" cy="369332"/>
            <a:chOff x="1922445" y="1907815"/>
            <a:chExt cx="951384" cy="369332"/>
          </a:xfrm>
        </p:grpSpPr>
        <p:sp>
          <p:nvSpPr>
            <p:cNvPr id="68" name="TextBox 67">
              <a:extLst>
                <a:ext uri="{FF2B5EF4-FFF2-40B4-BE49-F238E27FC236}">
                  <a16:creationId xmlns:a16="http://schemas.microsoft.com/office/drawing/2014/main" id="{76742268-EEB0-DB84-D6FA-14FE68ED1C5A}"/>
                </a:ext>
              </a:extLst>
            </p:cNvPr>
            <p:cNvSpPr txBox="1"/>
            <p:nvPr/>
          </p:nvSpPr>
          <p:spPr>
            <a:xfrm>
              <a:off x="2033085" y="1907815"/>
              <a:ext cx="840744" cy="369332"/>
            </a:xfrm>
            <a:prstGeom prst="rect">
              <a:avLst/>
            </a:prstGeom>
            <a:noFill/>
          </p:spPr>
          <p:txBody>
            <a:bodyPr wrap="square" rtlCol="0">
              <a:spAutoFit/>
            </a:bodyPr>
            <a:lstStyle/>
            <a:p>
              <a:r>
                <a:rPr lang="en-US" altLang="ko-KR" b="1">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Part</a:t>
              </a:r>
              <a:r>
                <a:rPr lang="ko-KR" altLang="en-US" b="1">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rPr>
                <a:t> </a:t>
              </a:r>
              <a:r>
                <a:rPr lang="en-US" altLang="ko-KR" b="1">
                  <a:ln>
                    <a:solidFill>
                      <a:schemeClr val="tx1">
                        <a:lumMod val="95000"/>
                        <a:lumOff val="5000"/>
                        <a:alpha val="0"/>
                      </a:schemeClr>
                    </a:solidFill>
                  </a:ln>
                  <a:solidFill>
                    <a:srgbClr val="9E0B28"/>
                  </a:solidFill>
                  <a:latin typeface="Lato" panose="020F0502020204030203" pitchFamily="34" charset="0"/>
                  <a:ea typeface="Lato" panose="020F0502020204030203" pitchFamily="34" charset="0"/>
                  <a:cs typeface="Lato" panose="020F0502020204030203" pitchFamily="34" charset="0"/>
                </a:rPr>
                <a:t>6</a:t>
              </a:r>
              <a:endParaRPr lang="ko-KR" altLang="en-US" b="1" dirty="0">
                <a:ln>
                  <a:solidFill>
                    <a:schemeClr val="tx1">
                      <a:lumMod val="95000"/>
                      <a:lumOff val="5000"/>
                      <a:alpha val="0"/>
                    </a:schemeClr>
                  </a:solidFill>
                </a:ln>
                <a:solidFill>
                  <a:srgbClr val="9E0B28"/>
                </a:solidFill>
                <a:latin typeface="Lato" panose="020F0502020204030203" pitchFamily="34" charset="0"/>
                <a:cs typeface="Lato" panose="020F0502020204030203" pitchFamily="34" charset="0"/>
              </a:endParaRPr>
            </a:p>
          </p:txBody>
        </p:sp>
        <p:sp>
          <p:nvSpPr>
            <p:cNvPr id="69" name="타원 68">
              <a:extLst>
                <a:ext uri="{FF2B5EF4-FFF2-40B4-BE49-F238E27FC236}">
                  <a16:creationId xmlns:a16="http://schemas.microsoft.com/office/drawing/2014/main" id="{949147BC-5BFC-75F4-9B7E-ECCE15AA4E47}"/>
                </a:ext>
              </a:extLst>
            </p:cNvPr>
            <p:cNvSpPr/>
            <p:nvPr/>
          </p:nvSpPr>
          <p:spPr>
            <a:xfrm flipH="1">
              <a:off x="1922445" y="2059303"/>
              <a:ext cx="79058" cy="79058"/>
            </a:xfrm>
            <a:prstGeom prst="ellipse">
              <a:avLst/>
            </a:prstGeom>
            <a:solidFill>
              <a:srgbClr val="9E0B28"/>
            </a:solidFill>
            <a:ln>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chemeClr val="tx1">
                      <a:lumMod val="65000"/>
                      <a:lumOff val="35000"/>
                      <a:alpha val="0"/>
                    </a:schemeClr>
                  </a:solidFill>
                </a:ln>
                <a:latin typeface="Lato" panose="020F0502020204030203" pitchFamily="34" charset="0"/>
                <a:cs typeface="Lato" panose="020F0502020204030203" pitchFamily="34" charset="0"/>
              </a:endParaRPr>
            </a:p>
          </p:txBody>
        </p:sp>
      </p:grpSp>
      <p:sp>
        <p:nvSpPr>
          <p:cNvPr id="24" name="TextBox 23">
            <a:extLst>
              <a:ext uri="{FF2B5EF4-FFF2-40B4-BE49-F238E27FC236}">
                <a16:creationId xmlns:a16="http://schemas.microsoft.com/office/drawing/2014/main" id="{340EFE95-9DA3-BE90-D745-838F2BEE5058}"/>
              </a:ext>
            </a:extLst>
          </p:cNvPr>
          <p:cNvSpPr txBox="1"/>
          <p:nvPr/>
        </p:nvSpPr>
        <p:spPr>
          <a:xfrm>
            <a:off x="6654636" y="4600697"/>
            <a:ext cx="3445328" cy="400110"/>
          </a:xfrm>
          <a:prstGeom prst="rect">
            <a:avLst/>
          </a:prstGeom>
          <a:noFill/>
        </p:spPr>
        <p:txBody>
          <a:bodyPr wrap="square" rtlCol="0">
            <a:spAutoFit/>
          </a:bodyPr>
          <a:lstStyle/>
          <a:p>
            <a:pPr latinLnBrk="0"/>
            <a:r>
              <a:rPr kumimoji="1" lang="en-US" altLang="ko-KR" sz="2000" dirty="0">
                <a:ln>
                  <a:solidFill>
                    <a:schemeClr val="tx1">
                      <a:lumMod val="95000"/>
                      <a:lumOff val="5000"/>
                      <a:alpha val="0"/>
                    </a:schemeClr>
                  </a:solidFill>
                </a:ln>
                <a:solidFill>
                  <a:srgbClr val="3C3C3A"/>
                </a:solidFill>
                <a:latin typeface="Lato" panose="020F0502020204030203" pitchFamily="34" charset="0"/>
                <a:ea typeface="Lato" panose="020F0502020204030203" pitchFamily="34" charset="0"/>
                <a:cs typeface="Lato" panose="020F0502020204030203" pitchFamily="34" charset="0"/>
              </a:rPr>
              <a:t>BWA2.0 vs </a:t>
            </a:r>
            <a:r>
              <a:rPr kumimoji="1" lang="en-US" altLang="ko-KR" sz="2000" dirty="0" err="1">
                <a:ln>
                  <a:solidFill>
                    <a:schemeClr val="tx1">
                      <a:lumMod val="95000"/>
                      <a:lumOff val="5000"/>
                      <a:alpha val="0"/>
                    </a:schemeClr>
                  </a:solidFill>
                </a:ln>
                <a:solidFill>
                  <a:srgbClr val="3C3C3A"/>
                </a:solidFill>
                <a:latin typeface="Lato" panose="020F0502020204030203" pitchFamily="34" charset="0"/>
                <a:ea typeface="Lato" panose="020F0502020204030203" pitchFamily="34" charset="0"/>
                <a:cs typeface="Lato" panose="020F0502020204030203" pitchFamily="34" charset="0"/>
              </a:rPr>
              <a:t>InBody</a:t>
            </a:r>
            <a:r>
              <a:rPr kumimoji="1" lang="en-US" altLang="ko-KR" sz="2000" dirty="0">
                <a:ln>
                  <a:solidFill>
                    <a:schemeClr val="tx1">
                      <a:lumMod val="95000"/>
                      <a:lumOff val="5000"/>
                      <a:alpha val="0"/>
                    </a:schemeClr>
                  </a:solidFill>
                </a:ln>
                <a:solidFill>
                  <a:srgbClr val="3C3C3A"/>
                </a:solidFill>
                <a:latin typeface="Lato" panose="020F0502020204030203" pitchFamily="34" charset="0"/>
                <a:ea typeface="Lato" panose="020F0502020204030203" pitchFamily="34" charset="0"/>
                <a:cs typeface="Lato" panose="020F0502020204030203" pitchFamily="34" charset="0"/>
              </a:rPr>
              <a:t> S10</a:t>
            </a:r>
            <a:endParaRPr kumimoji="1" lang="ko-KR" altLang="en-US" sz="2000" b="0" kern="12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endParaRPr>
          </a:p>
        </p:txBody>
      </p:sp>
      <p:sp>
        <p:nvSpPr>
          <p:cNvPr id="25" name="TextBox 24">
            <a:extLst>
              <a:ext uri="{FF2B5EF4-FFF2-40B4-BE49-F238E27FC236}">
                <a16:creationId xmlns:a16="http://schemas.microsoft.com/office/drawing/2014/main" id="{340EFE95-9DA3-BE90-D745-838F2BEE5058}"/>
              </a:ext>
            </a:extLst>
          </p:cNvPr>
          <p:cNvSpPr txBox="1"/>
          <p:nvPr/>
        </p:nvSpPr>
        <p:spPr>
          <a:xfrm>
            <a:off x="6654636" y="5290305"/>
            <a:ext cx="2641253" cy="400110"/>
          </a:xfrm>
          <a:prstGeom prst="rect">
            <a:avLst/>
          </a:prstGeom>
          <a:noFill/>
        </p:spPr>
        <p:txBody>
          <a:bodyPr wrap="square" rtlCol="0">
            <a:spAutoFit/>
          </a:bodyPr>
          <a:lstStyle/>
          <a:p>
            <a:pPr marL="0" algn="l" defTabSz="914400" rtl="0" eaLnBrk="1" latinLnBrk="0" hangingPunct="1"/>
            <a:r>
              <a:rPr kumimoji="1" lang="en-US" altLang="ko-KR" sz="2000" dirty="0">
                <a:ln>
                  <a:solidFill>
                    <a:schemeClr val="tx1">
                      <a:lumMod val="95000"/>
                      <a:lumOff val="5000"/>
                      <a:alpha val="0"/>
                    </a:schemeClr>
                  </a:solidFill>
                </a:ln>
                <a:solidFill>
                  <a:srgbClr val="3C3C3A"/>
                </a:solidFill>
                <a:latin typeface="Lato" panose="020F0502020204030203" pitchFamily="34" charset="0"/>
                <a:ea typeface="Lato" panose="020F0502020204030203" pitchFamily="34" charset="0"/>
                <a:cs typeface="Lato" panose="020F0502020204030203" pitchFamily="34" charset="0"/>
              </a:rPr>
              <a:t>BWA2.0 vs BCM</a:t>
            </a:r>
            <a:endParaRPr kumimoji="1" lang="ko-KR" altLang="en-US" sz="2000" b="0" kern="1200" dirty="0">
              <a:ln>
                <a:solidFill>
                  <a:schemeClr val="tx1">
                    <a:lumMod val="95000"/>
                    <a:lumOff val="5000"/>
                    <a:alpha val="0"/>
                  </a:schemeClr>
                </a:solidFill>
              </a:ln>
              <a:solidFill>
                <a:srgbClr val="3C3C3A"/>
              </a:solidFill>
              <a:latin typeface="Lato" panose="020F0502020204030203" pitchFamily="34" charset="0"/>
              <a:ea typeface="에스코어 드림 6 Bold" panose="020B0703030302020204" pitchFamily="34" charset="-127"/>
              <a:cs typeface="Lato" panose="020F0502020204030203" pitchFamily="34" charset="0"/>
            </a:endParaRPr>
          </a:p>
        </p:txBody>
      </p:sp>
    </p:spTree>
    <p:extLst>
      <p:ext uri="{BB962C8B-B14F-4D97-AF65-F5344CB8AC3E}">
        <p14:creationId xmlns:p14="http://schemas.microsoft.com/office/powerpoint/2010/main" val="847317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50">
            <a:extLst>
              <a:ext uri="{FF2B5EF4-FFF2-40B4-BE49-F238E27FC236}">
                <a16:creationId xmlns:a16="http://schemas.microsoft.com/office/drawing/2014/main" id="{326D874F-1942-294B-90C5-320A68E69828}"/>
              </a:ext>
            </a:extLst>
          </p:cNvPr>
          <p:cNvSpPr txBox="1">
            <a:spLocks/>
          </p:cNvSpPr>
          <p:nvPr/>
        </p:nvSpPr>
        <p:spPr>
          <a:xfrm>
            <a:off x="4896975" y="2604924"/>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sz="1800" dirty="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Part</a:t>
            </a:r>
            <a:r>
              <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rPr>
              <a:t> </a:t>
            </a:r>
            <a:r>
              <a:rPr lang="en-US" altLang="ko-KR" sz="1800" dirty="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endParaRPr>
          </a:p>
        </p:txBody>
      </p:sp>
      <p:sp>
        <p:nvSpPr>
          <p:cNvPr id="4" name="텍스트 개체 틀 4">
            <a:extLst>
              <a:ext uri="{FF2B5EF4-FFF2-40B4-BE49-F238E27FC236}">
                <a16:creationId xmlns:a16="http://schemas.microsoft.com/office/drawing/2014/main" id="{467AFA88-CA99-3047-90FB-F4C2473E60C3}"/>
              </a:ext>
            </a:extLst>
          </p:cNvPr>
          <p:cNvSpPr txBox="1">
            <a:spLocks/>
          </p:cNvSpPr>
          <p:nvPr/>
        </p:nvSpPr>
        <p:spPr>
          <a:xfrm>
            <a:off x="3079718" y="3175051"/>
            <a:ext cx="6209755" cy="6059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3400" spc="-15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rPr>
              <a:t>Hemodialysis &amp; Dialysis Centers</a:t>
            </a:r>
            <a:endParaRPr lang="ko-KR" altLang="en-US" sz="3400" spc="-15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Tree>
    <p:extLst>
      <p:ext uri="{BB962C8B-B14F-4D97-AF65-F5344CB8AC3E}">
        <p14:creationId xmlns:p14="http://schemas.microsoft.com/office/powerpoint/2010/main" val="739271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942104" y="2009090"/>
            <a:ext cx="3161361" cy="3318612"/>
          </a:xfrm>
          <a:prstGeom prst="rect">
            <a:avLst/>
          </a:prstGeom>
          <a:solidFill>
            <a:srgbClr val="F4F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429228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Renal Failure &amp; Renal Replacement Therapy</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sp>
        <p:nvSpPr>
          <p:cNvPr id="34" name="자유형: 도형 99">
            <a:extLst>
              <a:ext uri="{FF2B5EF4-FFF2-40B4-BE49-F238E27FC236}">
                <a16:creationId xmlns:a16="http://schemas.microsoft.com/office/drawing/2014/main" id="{DF08B85D-E733-37BC-5306-F8DD078BE4FE}"/>
              </a:ext>
            </a:extLst>
          </p:cNvPr>
          <p:cNvSpPr/>
          <p:nvPr/>
        </p:nvSpPr>
        <p:spPr>
          <a:xfrm>
            <a:off x="942104" y="1642635"/>
            <a:ext cx="3161361" cy="163494"/>
          </a:xfrm>
          <a:custGeom>
            <a:avLst/>
            <a:gdLst>
              <a:gd name="connsiteX0" fmla="*/ 209296 w 4602646"/>
              <a:gd name="connsiteY0" fmla="*/ 0 h 206301"/>
              <a:gd name="connsiteX1" fmla="*/ 1276096 w 4602646"/>
              <a:gd name="connsiteY1" fmla="*/ 0 h 206301"/>
              <a:gd name="connsiteX2" fmla="*/ 1802007 w 4602646"/>
              <a:gd name="connsiteY2" fmla="*/ 0 h 206301"/>
              <a:gd name="connsiteX3" fmla="*/ 2800639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7" fmla="*/ 3078103 w 4602646"/>
              <a:gd name="connsiteY7" fmla="*/ 206301 h 206301"/>
              <a:gd name="connsiteX8" fmla="*/ 2591343 w 4602646"/>
              <a:gd name="connsiteY8" fmla="*/ 206301 h 206301"/>
              <a:gd name="connsiteX9" fmla="*/ 2011303 w 4602646"/>
              <a:gd name="connsiteY9" fmla="*/ 206301 h 206301"/>
              <a:gd name="connsiteX10" fmla="*/ 1066800 w 4602646"/>
              <a:gd name="connsiteY10" fmla="*/ 206301 h 206301"/>
              <a:gd name="connsiteX11" fmla="*/ 0 w 4602646"/>
              <a:gd name="connsiteY11" fmla="*/ 206301 h 206301"/>
              <a:gd name="connsiteX12" fmla="*/ 209296 w 4602646"/>
              <a:gd name="connsiteY12" fmla="*/ 0 h 206301"/>
              <a:gd name="connsiteX0" fmla="*/ 0 w 4602646"/>
              <a:gd name="connsiteY0" fmla="*/ 206301 h 297741"/>
              <a:gd name="connsiteX1" fmla="*/ 209296 w 4602646"/>
              <a:gd name="connsiteY1" fmla="*/ 0 h 297741"/>
              <a:gd name="connsiteX2" fmla="*/ 1276096 w 4602646"/>
              <a:gd name="connsiteY2" fmla="*/ 0 h 297741"/>
              <a:gd name="connsiteX3" fmla="*/ 1802007 w 4602646"/>
              <a:gd name="connsiteY3" fmla="*/ 0 h 297741"/>
              <a:gd name="connsiteX4" fmla="*/ 2800639 w 4602646"/>
              <a:gd name="connsiteY4" fmla="*/ 0 h 297741"/>
              <a:gd name="connsiteX5" fmla="*/ 2868807 w 4602646"/>
              <a:gd name="connsiteY5" fmla="*/ 0 h 297741"/>
              <a:gd name="connsiteX6" fmla="*/ 4393350 w 4602646"/>
              <a:gd name="connsiteY6" fmla="*/ 0 h 297741"/>
              <a:gd name="connsiteX7" fmla="*/ 4602646 w 4602646"/>
              <a:gd name="connsiteY7" fmla="*/ 206301 h 297741"/>
              <a:gd name="connsiteX8" fmla="*/ 3078103 w 4602646"/>
              <a:gd name="connsiteY8" fmla="*/ 206301 h 297741"/>
              <a:gd name="connsiteX9" fmla="*/ 2591343 w 4602646"/>
              <a:gd name="connsiteY9" fmla="*/ 206301 h 297741"/>
              <a:gd name="connsiteX10" fmla="*/ 2011303 w 4602646"/>
              <a:gd name="connsiteY10" fmla="*/ 206301 h 297741"/>
              <a:gd name="connsiteX11" fmla="*/ 1066800 w 4602646"/>
              <a:gd name="connsiteY11" fmla="*/ 206301 h 297741"/>
              <a:gd name="connsiteX12" fmla="*/ 91440 w 4602646"/>
              <a:gd name="connsiteY12" fmla="*/ 297741 h 29774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11" fmla="*/ 1066800 w 4602646"/>
              <a:gd name="connsiteY11"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34876 h 234876"/>
              <a:gd name="connsiteX1" fmla="*/ 209296 w 4602646"/>
              <a:gd name="connsiteY1" fmla="*/ 28575 h 234876"/>
              <a:gd name="connsiteX2" fmla="*/ 1276096 w 4602646"/>
              <a:gd name="connsiteY2" fmla="*/ 28575 h 234876"/>
              <a:gd name="connsiteX3" fmla="*/ 1802007 w 4602646"/>
              <a:gd name="connsiteY3" fmla="*/ 28575 h 234876"/>
              <a:gd name="connsiteX4" fmla="*/ 2868807 w 4602646"/>
              <a:gd name="connsiteY4" fmla="*/ 28575 h 234876"/>
              <a:gd name="connsiteX5" fmla="*/ 2916723 w 4602646"/>
              <a:gd name="connsiteY5" fmla="*/ 0 h 234876"/>
              <a:gd name="connsiteX6" fmla="*/ 4393350 w 4602646"/>
              <a:gd name="connsiteY6" fmla="*/ 28575 h 234876"/>
              <a:gd name="connsiteX7" fmla="*/ 4602646 w 4602646"/>
              <a:gd name="connsiteY7" fmla="*/ 234876 h 234876"/>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06301 h 206301"/>
              <a:gd name="connsiteX1" fmla="*/ 209296 w 4602646"/>
              <a:gd name="connsiteY1" fmla="*/ 0 h 206301"/>
              <a:gd name="connsiteX2" fmla="*/ 1276096 w 4602646"/>
              <a:gd name="connsiteY2" fmla="*/ 0 h 206301"/>
              <a:gd name="connsiteX3" fmla="*/ 2868807 w 4602646"/>
              <a:gd name="connsiteY3" fmla="*/ 0 h 206301"/>
              <a:gd name="connsiteX4" fmla="*/ 4393350 w 4602646"/>
              <a:gd name="connsiteY4" fmla="*/ 0 h 206301"/>
              <a:gd name="connsiteX5" fmla="*/ 4602646 w 4602646"/>
              <a:gd name="connsiteY5" fmla="*/ 206301 h 206301"/>
              <a:gd name="connsiteX0" fmla="*/ 0 w 4602646"/>
              <a:gd name="connsiteY0" fmla="*/ 206301 h 206301"/>
              <a:gd name="connsiteX1" fmla="*/ 209296 w 4602646"/>
              <a:gd name="connsiteY1" fmla="*/ 0 h 206301"/>
              <a:gd name="connsiteX2" fmla="*/ 1276096 w 4602646"/>
              <a:gd name="connsiteY2" fmla="*/ 0 h 206301"/>
              <a:gd name="connsiteX3" fmla="*/ 4393350 w 4602646"/>
              <a:gd name="connsiteY3" fmla="*/ 0 h 206301"/>
              <a:gd name="connsiteX4" fmla="*/ 4602646 w 4602646"/>
              <a:gd name="connsiteY4" fmla="*/ 206301 h 206301"/>
              <a:gd name="connsiteX0" fmla="*/ 0 w 4602646"/>
              <a:gd name="connsiteY0" fmla="*/ 206301 h 206301"/>
              <a:gd name="connsiteX1" fmla="*/ 209296 w 4602646"/>
              <a:gd name="connsiteY1" fmla="*/ 0 h 206301"/>
              <a:gd name="connsiteX2" fmla="*/ 4393350 w 4602646"/>
              <a:gd name="connsiteY2" fmla="*/ 0 h 206301"/>
              <a:gd name="connsiteX3" fmla="*/ 4602646 w 4602646"/>
              <a:gd name="connsiteY3" fmla="*/ 206301 h 206301"/>
            </a:gdLst>
            <a:ahLst/>
            <a:cxnLst>
              <a:cxn ang="0">
                <a:pos x="connsiteX0" y="connsiteY0"/>
              </a:cxn>
              <a:cxn ang="0">
                <a:pos x="connsiteX1" y="connsiteY1"/>
              </a:cxn>
              <a:cxn ang="0">
                <a:pos x="connsiteX2" y="connsiteY2"/>
              </a:cxn>
              <a:cxn ang="0">
                <a:pos x="connsiteX3" y="connsiteY3"/>
              </a:cxn>
            </a:cxnLst>
            <a:rect l="l" t="t" r="r" b="b"/>
            <a:pathLst>
              <a:path w="4602646" h="206301">
                <a:moveTo>
                  <a:pt x="0" y="206301"/>
                </a:moveTo>
                <a:cubicBezTo>
                  <a:pt x="0" y="92364"/>
                  <a:pt x="93705" y="0"/>
                  <a:pt x="209296" y="0"/>
                </a:cubicBezTo>
                <a:lnTo>
                  <a:pt x="4393350" y="0"/>
                </a:lnTo>
                <a:cubicBezTo>
                  <a:pt x="4508941" y="0"/>
                  <a:pt x="4602646" y="92364"/>
                  <a:pt x="4602646" y="206301"/>
                </a:cubicBezTo>
              </a:path>
            </a:pathLst>
          </a:custGeom>
          <a:noFill/>
          <a:ln w="12700">
            <a:solidFill>
              <a:srgbClr val="4B4F5A"/>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chorCtr="0">
            <a:noAutofit/>
          </a:bodyPr>
          <a:lstStyle/>
          <a:p>
            <a:pPr algn="ctr"/>
            <a:endParaRPr lang="ko-KR" altLang="en-US" sz="4000" dirty="0">
              <a:ln>
                <a:solidFill>
                  <a:srgbClr val="4FA6AE">
                    <a:alpha val="0"/>
                  </a:srgbClr>
                </a:solidFill>
              </a:ln>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37" name="TextBox 36">
            <a:extLst>
              <a:ext uri="{FF2B5EF4-FFF2-40B4-BE49-F238E27FC236}">
                <a16:creationId xmlns:a16="http://schemas.microsoft.com/office/drawing/2014/main" id="{B8271BDF-AC03-4748-8C05-1D490119D647}"/>
              </a:ext>
            </a:extLst>
          </p:cNvPr>
          <p:cNvSpPr txBox="1"/>
          <p:nvPr/>
        </p:nvSpPr>
        <p:spPr>
          <a:xfrm>
            <a:off x="1225072" y="1698522"/>
            <a:ext cx="2412841" cy="292388"/>
          </a:xfrm>
          <a:prstGeom prst="rect">
            <a:avLst/>
          </a:prstGeom>
          <a:noFill/>
        </p:spPr>
        <p:txBody>
          <a:bodyPr wrap="square" rtlCol="0">
            <a:spAutoFit/>
          </a:bodyPr>
          <a:lstStyle/>
          <a:p>
            <a:pPr algn="ct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Role of the Kidney</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2" name="자유형: 도형 99">
            <a:extLst>
              <a:ext uri="{FF2B5EF4-FFF2-40B4-BE49-F238E27FC236}">
                <a16:creationId xmlns:a16="http://schemas.microsoft.com/office/drawing/2014/main" id="{DF08B85D-E733-37BC-5306-F8DD078BE4FE}"/>
              </a:ext>
            </a:extLst>
          </p:cNvPr>
          <p:cNvSpPr/>
          <p:nvPr/>
        </p:nvSpPr>
        <p:spPr>
          <a:xfrm>
            <a:off x="4538683" y="1642635"/>
            <a:ext cx="3161361" cy="163494"/>
          </a:xfrm>
          <a:custGeom>
            <a:avLst/>
            <a:gdLst>
              <a:gd name="connsiteX0" fmla="*/ 209296 w 4602646"/>
              <a:gd name="connsiteY0" fmla="*/ 0 h 206301"/>
              <a:gd name="connsiteX1" fmla="*/ 1276096 w 4602646"/>
              <a:gd name="connsiteY1" fmla="*/ 0 h 206301"/>
              <a:gd name="connsiteX2" fmla="*/ 1802007 w 4602646"/>
              <a:gd name="connsiteY2" fmla="*/ 0 h 206301"/>
              <a:gd name="connsiteX3" fmla="*/ 2800639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7" fmla="*/ 3078103 w 4602646"/>
              <a:gd name="connsiteY7" fmla="*/ 206301 h 206301"/>
              <a:gd name="connsiteX8" fmla="*/ 2591343 w 4602646"/>
              <a:gd name="connsiteY8" fmla="*/ 206301 h 206301"/>
              <a:gd name="connsiteX9" fmla="*/ 2011303 w 4602646"/>
              <a:gd name="connsiteY9" fmla="*/ 206301 h 206301"/>
              <a:gd name="connsiteX10" fmla="*/ 1066800 w 4602646"/>
              <a:gd name="connsiteY10" fmla="*/ 206301 h 206301"/>
              <a:gd name="connsiteX11" fmla="*/ 0 w 4602646"/>
              <a:gd name="connsiteY11" fmla="*/ 206301 h 206301"/>
              <a:gd name="connsiteX12" fmla="*/ 209296 w 4602646"/>
              <a:gd name="connsiteY12" fmla="*/ 0 h 206301"/>
              <a:gd name="connsiteX0" fmla="*/ 0 w 4602646"/>
              <a:gd name="connsiteY0" fmla="*/ 206301 h 297741"/>
              <a:gd name="connsiteX1" fmla="*/ 209296 w 4602646"/>
              <a:gd name="connsiteY1" fmla="*/ 0 h 297741"/>
              <a:gd name="connsiteX2" fmla="*/ 1276096 w 4602646"/>
              <a:gd name="connsiteY2" fmla="*/ 0 h 297741"/>
              <a:gd name="connsiteX3" fmla="*/ 1802007 w 4602646"/>
              <a:gd name="connsiteY3" fmla="*/ 0 h 297741"/>
              <a:gd name="connsiteX4" fmla="*/ 2800639 w 4602646"/>
              <a:gd name="connsiteY4" fmla="*/ 0 h 297741"/>
              <a:gd name="connsiteX5" fmla="*/ 2868807 w 4602646"/>
              <a:gd name="connsiteY5" fmla="*/ 0 h 297741"/>
              <a:gd name="connsiteX6" fmla="*/ 4393350 w 4602646"/>
              <a:gd name="connsiteY6" fmla="*/ 0 h 297741"/>
              <a:gd name="connsiteX7" fmla="*/ 4602646 w 4602646"/>
              <a:gd name="connsiteY7" fmla="*/ 206301 h 297741"/>
              <a:gd name="connsiteX8" fmla="*/ 3078103 w 4602646"/>
              <a:gd name="connsiteY8" fmla="*/ 206301 h 297741"/>
              <a:gd name="connsiteX9" fmla="*/ 2591343 w 4602646"/>
              <a:gd name="connsiteY9" fmla="*/ 206301 h 297741"/>
              <a:gd name="connsiteX10" fmla="*/ 2011303 w 4602646"/>
              <a:gd name="connsiteY10" fmla="*/ 206301 h 297741"/>
              <a:gd name="connsiteX11" fmla="*/ 1066800 w 4602646"/>
              <a:gd name="connsiteY11" fmla="*/ 206301 h 297741"/>
              <a:gd name="connsiteX12" fmla="*/ 91440 w 4602646"/>
              <a:gd name="connsiteY12" fmla="*/ 297741 h 29774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11" fmla="*/ 1066800 w 4602646"/>
              <a:gd name="connsiteY11"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34876 h 234876"/>
              <a:gd name="connsiteX1" fmla="*/ 209296 w 4602646"/>
              <a:gd name="connsiteY1" fmla="*/ 28575 h 234876"/>
              <a:gd name="connsiteX2" fmla="*/ 1276096 w 4602646"/>
              <a:gd name="connsiteY2" fmla="*/ 28575 h 234876"/>
              <a:gd name="connsiteX3" fmla="*/ 1802007 w 4602646"/>
              <a:gd name="connsiteY3" fmla="*/ 28575 h 234876"/>
              <a:gd name="connsiteX4" fmla="*/ 2868807 w 4602646"/>
              <a:gd name="connsiteY4" fmla="*/ 28575 h 234876"/>
              <a:gd name="connsiteX5" fmla="*/ 2916723 w 4602646"/>
              <a:gd name="connsiteY5" fmla="*/ 0 h 234876"/>
              <a:gd name="connsiteX6" fmla="*/ 4393350 w 4602646"/>
              <a:gd name="connsiteY6" fmla="*/ 28575 h 234876"/>
              <a:gd name="connsiteX7" fmla="*/ 4602646 w 4602646"/>
              <a:gd name="connsiteY7" fmla="*/ 234876 h 234876"/>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06301 h 206301"/>
              <a:gd name="connsiteX1" fmla="*/ 209296 w 4602646"/>
              <a:gd name="connsiteY1" fmla="*/ 0 h 206301"/>
              <a:gd name="connsiteX2" fmla="*/ 1276096 w 4602646"/>
              <a:gd name="connsiteY2" fmla="*/ 0 h 206301"/>
              <a:gd name="connsiteX3" fmla="*/ 2868807 w 4602646"/>
              <a:gd name="connsiteY3" fmla="*/ 0 h 206301"/>
              <a:gd name="connsiteX4" fmla="*/ 4393350 w 4602646"/>
              <a:gd name="connsiteY4" fmla="*/ 0 h 206301"/>
              <a:gd name="connsiteX5" fmla="*/ 4602646 w 4602646"/>
              <a:gd name="connsiteY5" fmla="*/ 206301 h 206301"/>
              <a:gd name="connsiteX0" fmla="*/ 0 w 4602646"/>
              <a:gd name="connsiteY0" fmla="*/ 206301 h 206301"/>
              <a:gd name="connsiteX1" fmla="*/ 209296 w 4602646"/>
              <a:gd name="connsiteY1" fmla="*/ 0 h 206301"/>
              <a:gd name="connsiteX2" fmla="*/ 1276096 w 4602646"/>
              <a:gd name="connsiteY2" fmla="*/ 0 h 206301"/>
              <a:gd name="connsiteX3" fmla="*/ 4393350 w 4602646"/>
              <a:gd name="connsiteY3" fmla="*/ 0 h 206301"/>
              <a:gd name="connsiteX4" fmla="*/ 4602646 w 4602646"/>
              <a:gd name="connsiteY4" fmla="*/ 206301 h 206301"/>
              <a:gd name="connsiteX0" fmla="*/ 0 w 4602646"/>
              <a:gd name="connsiteY0" fmla="*/ 206301 h 206301"/>
              <a:gd name="connsiteX1" fmla="*/ 209296 w 4602646"/>
              <a:gd name="connsiteY1" fmla="*/ 0 h 206301"/>
              <a:gd name="connsiteX2" fmla="*/ 4393350 w 4602646"/>
              <a:gd name="connsiteY2" fmla="*/ 0 h 206301"/>
              <a:gd name="connsiteX3" fmla="*/ 4602646 w 4602646"/>
              <a:gd name="connsiteY3" fmla="*/ 206301 h 206301"/>
            </a:gdLst>
            <a:ahLst/>
            <a:cxnLst>
              <a:cxn ang="0">
                <a:pos x="connsiteX0" y="connsiteY0"/>
              </a:cxn>
              <a:cxn ang="0">
                <a:pos x="connsiteX1" y="connsiteY1"/>
              </a:cxn>
              <a:cxn ang="0">
                <a:pos x="connsiteX2" y="connsiteY2"/>
              </a:cxn>
              <a:cxn ang="0">
                <a:pos x="connsiteX3" y="connsiteY3"/>
              </a:cxn>
            </a:cxnLst>
            <a:rect l="l" t="t" r="r" b="b"/>
            <a:pathLst>
              <a:path w="4602646" h="206301">
                <a:moveTo>
                  <a:pt x="0" y="206301"/>
                </a:moveTo>
                <a:cubicBezTo>
                  <a:pt x="0" y="92364"/>
                  <a:pt x="93705" y="0"/>
                  <a:pt x="209296" y="0"/>
                </a:cubicBezTo>
                <a:lnTo>
                  <a:pt x="4393350" y="0"/>
                </a:lnTo>
                <a:cubicBezTo>
                  <a:pt x="4508941" y="0"/>
                  <a:pt x="4602646" y="92364"/>
                  <a:pt x="4602646" y="206301"/>
                </a:cubicBezTo>
              </a:path>
            </a:pathLst>
          </a:custGeom>
          <a:noFill/>
          <a:ln w="12700">
            <a:solidFill>
              <a:srgbClr val="4B4F5A"/>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chorCtr="0">
            <a:noAutofit/>
          </a:bodyPr>
          <a:lstStyle/>
          <a:p>
            <a:pPr algn="ctr"/>
            <a:endParaRPr lang="ko-KR" altLang="en-US" sz="4000" dirty="0">
              <a:ln>
                <a:solidFill>
                  <a:srgbClr val="4FA6AE">
                    <a:alpha val="0"/>
                  </a:srgbClr>
                </a:solidFill>
              </a:ln>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43" name="TextBox 42">
            <a:extLst>
              <a:ext uri="{FF2B5EF4-FFF2-40B4-BE49-F238E27FC236}">
                <a16:creationId xmlns:a16="http://schemas.microsoft.com/office/drawing/2014/main" id="{B8271BDF-AC03-4748-8C05-1D490119D647}"/>
              </a:ext>
            </a:extLst>
          </p:cNvPr>
          <p:cNvSpPr txBox="1"/>
          <p:nvPr/>
        </p:nvSpPr>
        <p:spPr>
          <a:xfrm>
            <a:off x="4862130" y="1698522"/>
            <a:ext cx="2412841" cy="292388"/>
          </a:xfrm>
          <a:prstGeom prst="rect">
            <a:avLst/>
          </a:prstGeom>
          <a:noFill/>
        </p:spPr>
        <p:txBody>
          <a:bodyPr wrap="square" rtlCol="0">
            <a:spAutoFit/>
          </a:bodyPr>
          <a:lstStyle/>
          <a:p>
            <a:pPr algn="ct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Chronic Kidney Failure</a:t>
            </a:r>
          </a:p>
        </p:txBody>
      </p:sp>
      <p:sp>
        <p:nvSpPr>
          <p:cNvPr id="44" name="자유형: 도형 99">
            <a:extLst>
              <a:ext uri="{FF2B5EF4-FFF2-40B4-BE49-F238E27FC236}">
                <a16:creationId xmlns:a16="http://schemas.microsoft.com/office/drawing/2014/main" id="{DF08B85D-E733-37BC-5306-F8DD078BE4FE}"/>
              </a:ext>
            </a:extLst>
          </p:cNvPr>
          <p:cNvSpPr/>
          <p:nvPr/>
        </p:nvSpPr>
        <p:spPr>
          <a:xfrm>
            <a:off x="8135262" y="1642635"/>
            <a:ext cx="3161361" cy="163494"/>
          </a:xfrm>
          <a:custGeom>
            <a:avLst/>
            <a:gdLst>
              <a:gd name="connsiteX0" fmla="*/ 209296 w 4602646"/>
              <a:gd name="connsiteY0" fmla="*/ 0 h 206301"/>
              <a:gd name="connsiteX1" fmla="*/ 1276096 w 4602646"/>
              <a:gd name="connsiteY1" fmla="*/ 0 h 206301"/>
              <a:gd name="connsiteX2" fmla="*/ 1802007 w 4602646"/>
              <a:gd name="connsiteY2" fmla="*/ 0 h 206301"/>
              <a:gd name="connsiteX3" fmla="*/ 2800639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7" fmla="*/ 3078103 w 4602646"/>
              <a:gd name="connsiteY7" fmla="*/ 206301 h 206301"/>
              <a:gd name="connsiteX8" fmla="*/ 2591343 w 4602646"/>
              <a:gd name="connsiteY8" fmla="*/ 206301 h 206301"/>
              <a:gd name="connsiteX9" fmla="*/ 2011303 w 4602646"/>
              <a:gd name="connsiteY9" fmla="*/ 206301 h 206301"/>
              <a:gd name="connsiteX10" fmla="*/ 1066800 w 4602646"/>
              <a:gd name="connsiteY10" fmla="*/ 206301 h 206301"/>
              <a:gd name="connsiteX11" fmla="*/ 0 w 4602646"/>
              <a:gd name="connsiteY11" fmla="*/ 206301 h 206301"/>
              <a:gd name="connsiteX12" fmla="*/ 209296 w 4602646"/>
              <a:gd name="connsiteY12" fmla="*/ 0 h 206301"/>
              <a:gd name="connsiteX0" fmla="*/ 0 w 4602646"/>
              <a:gd name="connsiteY0" fmla="*/ 206301 h 297741"/>
              <a:gd name="connsiteX1" fmla="*/ 209296 w 4602646"/>
              <a:gd name="connsiteY1" fmla="*/ 0 h 297741"/>
              <a:gd name="connsiteX2" fmla="*/ 1276096 w 4602646"/>
              <a:gd name="connsiteY2" fmla="*/ 0 h 297741"/>
              <a:gd name="connsiteX3" fmla="*/ 1802007 w 4602646"/>
              <a:gd name="connsiteY3" fmla="*/ 0 h 297741"/>
              <a:gd name="connsiteX4" fmla="*/ 2800639 w 4602646"/>
              <a:gd name="connsiteY4" fmla="*/ 0 h 297741"/>
              <a:gd name="connsiteX5" fmla="*/ 2868807 w 4602646"/>
              <a:gd name="connsiteY5" fmla="*/ 0 h 297741"/>
              <a:gd name="connsiteX6" fmla="*/ 4393350 w 4602646"/>
              <a:gd name="connsiteY6" fmla="*/ 0 h 297741"/>
              <a:gd name="connsiteX7" fmla="*/ 4602646 w 4602646"/>
              <a:gd name="connsiteY7" fmla="*/ 206301 h 297741"/>
              <a:gd name="connsiteX8" fmla="*/ 3078103 w 4602646"/>
              <a:gd name="connsiteY8" fmla="*/ 206301 h 297741"/>
              <a:gd name="connsiteX9" fmla="*/ 2591343 w 4602646"/>
              <a:gd name="connsiteY9" fmla="*/ 206301 h 297741"/>
              <a:gd name="connsiteX10" fmla="*/ 2011303 w 4602646"/>
              <a:gd name="connsiteY10" fmla="*/ 206301 h 297741"/>
              <a:gd name="connsiteX11" fmla="*/ 1066800 w 4602646"/>
              <a:gd name="connsiteY11" fmla="*/ 206301 h 297741"/>
              <a:gd name="connsiteX12" fmla="*/ 91440 w 4602646"/>
              <a:gd name="connsiteY12" fmla="*/ 297741 h 29774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11" fmla="*/ 1066800 w 4602646"/>
              <a:gd name="connsiteY11"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10" fmla="*/ 2011303 w 4602646"/>
              <a:gd name="connsiteY10"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9" fmla="*/ 2591343 w 4602646"/>
              <a:gd name="connsiteY9"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8" fmla="*/ 3078103 w 4602646"/>
              <a:gd name="connsiteY8"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00639 w 4602646"/>
              <a:gd name="connsiteY4" fmla="*/ 0 h 206301"/>
              <a:gd name="connsiteX5" fmla="*/ 2868807 w 4602646"/>
              <a:gd name="connsiteY5" fmla="*/ 0 h 206301"/>
              <a:gd name="connsiteX6" fmla="*/ 4393350 w 4602646"/>
              <a:gd name="connsiteY6" fmla="*/ 0 h 206301"/>
              <a:gd name="connsiteX7" fmla="*/ 4602646 w 4602646"/>
              <a:gd name="connsiteY7" fmla="*/ 206301 h 206301"/>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34876 h 234876"/>
              <a:gd name="connsiteX1" fmla="*/ 209296 w 4602646"/>
              <a:gd name="connsiteY1" fmla="*/ 28575 h 234876"/>
              <a:gd name="connsiteX2" fmla="*/ 1276096 w 4602646"/>
              <a:gd name="connsiteY2" fmla="*/ 28575 h 234876"/>
              <a:gd name="connsiteX3" fmla="*/ 1802007 w 4602646"/>
              <a:gd name="connsiteY3" fmla="*/ 28575 h 234876"/>
              <a:gd name="connsiteX4" fmla="*/ 2868807 w 4602646"/>
              <a:gd name="connsiteY4" fmla="*/ 28575 h 234876"/>
              <a:gd name="connsiteX5" fmla="*/ 2916723 w 4602646"/>
              <a:gd name="connsiteY5" fmla="*/ 0 h 234876"/>
              <a:gd name="connsiteX6" fmla="*/ 4393350 w 4602646"/>
              <a:gd name="connsiteY6" fmla="*/ 28575 h 234876"/>
              <a:gd name="connsiteX7" fmla="*/ 4602646 w 4602646"/>
              <a:gd name="connsiteY7" fmla="*/ 234876 h 234876"/>
              <a:gd name="connsiteX0" fmla="*/ 0 w 4602646"/>
              <a:gd name="connsiteY0" fmla="*/ 206301 h 206301"/>
              <a:gd name="connsiteX1" fmla="*/ 209296 w 4602646"/>
              <a:gd name="connsiteY1" fmla="*/ 0 h 206301"/>
              <a:gd name="connsiteX2" fmla="*/ 1276096 w 4602646"/>
              <a:gd name="connsiteY2" fmla="*/ 0 h 206301"/>
              <a:gd name="connsiteX3" fmla="*/ 1802007 w 4602646"/>
              <a:gd name="connsiteY3" fmla="*/ 0 h 206301"/>
              <a:gd name="connsiteX4" fmla="*/ 2868807 w 4602646"/>
              <a:gd name="connsiteY4" fmla="*/ 0 h 206301"/>
              <a:gd name="connsiteX5" fmla="*/ 4393350 w 4602646"/>
              <a:gd name="connsiteY5" fmla="*/ 0 h 206301"/>
              <a:gd name="connsiteX6" fmla="*/ 4602646 w 4602646"/>
              <a:gd name="connsiteY6" fmla="*/ 206301 h 206301"/>
              <a:gd name="connsiteX0" fmla="*/ 0 w 4602646"/>
              <a:gd name="connsiteY0" fmla="*/ 206301 h 206301"/>
              <a:gd name="connsiteX1" fmla="*/ 209296 w 4602646"/>
              <a:gd name="connsiteY1" fmla="*/ 0 h 206301"/>
              <a:gd name="connsiteX2" fmla="*/ 1276096 w 4602646"/>
              <a:gd name="connsiteY2" fmla="*/ 0 h 206301"/>
              <a:gd name="connsiteX3" fmla="*/ 2868807 w 4602646"/>
              <a:gd name="connsiteY3" fmla="*/ 0 h 206301"/>
              <a:gd name="connsiteX4" fmla="*/ 4393350 w 4602646"/>
              <a:gd name="connsiteY4" fmla="*/ 0 h 206301"/>
              <a:gd name="connsiteX5" fmla="*/ 4602646 w 4602646"/>
              <a:gd name="connsiteY5" fmla="*/ 206301 h 206301"/>
              <a:gd name="connsiteX0" fmla="*/ 0 w 4602646"/>
              <a:gd name="connsiteY0" fmla="*/ 206301 h 206301"/>
              <a:gd name="connsiteX1" fmla="*/ 209296 w 4602646"/>
              <a:gd name="connsiteY1" fmla="*/ 0 h 206301"/>
              <a:gd name="connsiteX2" fmla="*/ 1276096 w 4602646"/>
              <a:gd name="connsiteY2" fmla="*/ 0 h 206301"/>
              <a:gd name="connsiteX3" fmla="*/ 4393350 w 4602646"/>
              <a:gd name="connsiteY3" fmla="*/ 0 h 206301"/>
              <a:gd name="connsiteX4" fmla="*/ 4602646 w 4602646"/>
              <a:gd name="connsiteY4" fmla="*/ 206301 h 206301"/>
              <a:gd name="connsiteX0" fmla="*/ 0 w 4602646"/>
              <a:gd name="connsiteY0" fmla="*/ 206301 h 206301"/>
              <a:gd name="connsiteX1" fmla="*/ 209296 w 4602646"/>
              <a:gd name="connsiteY1" fmla="*/ 0 h 206301"/>
              <a:gd name="connsiteX2" fmla="*/ 4393350 w 4602646"/>
              <a:gd name="connsiteY2" fmla="*/ 0 h 206301"/>
              <a:gd name="connsiteX3" fmla="*/ 4602646 w 4602646"/>
              <a:gd name="connsiteY3" fmla="*/ 206301 h 206301"/>
            </a:gdLst>
            <a:ahLst/>
            <a:cxnLst>
              <a:cxn ang="0">
                <a:pos x="connsiteX0" y="connsiteY0"/>
              </a:cxn>
              <a:cxn ang="0">
                <a:pos x="connsiteX1" y="connsiteY1"/>
              </a:cxn>
              <a:cxn ang="0">
                <a:pos x="connsiteX2" y="connsiteY2"/>
              </a:cxn>
              <a:cxn ang="0">
                <a:pos x="connsiteX3" y="connsiteY3"/>
              </a:cxn>
            </a:cxnLst>
            <a:rect l="l" t="t" r="r" b="b"/>
            <a:pathLst>
              <a:path w="4602646" h="206301">
                <a:moveTo>
                  <a:pt x="0" y="206301"/>
                </a:moveTo>
                <a:cubicBezTo>
                  <a:pt x="0" y="92364"/>
                  <a:pt x="93705" y="0"/>
                  <a:pt x="209296" y="0"/>
                </a:cubicBezTo>
                <a:lnTo>
                  <a:pt x="4393350" y="0"/>
                </a:lnTo>
                <a:cubicBezTo>
                  <a:pt x="4508941" y="0"/>
                  <a:pt x="4602646" y="92364"/>
                  <a:pt x="4602646" y="206301"/>
                </a:cubicBezTo>
              </a:path>
            </a:pathLst>
          </a:custGeom>
          <a:noFill/>
          <a:ln w="12700">
            <a:solidFill>
              <a:srgbClr val="4B4F5A"/>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chorCtr="0">
            <a:noAutofit/>
          </a:bodyPr>
          <a:lstStyle/>
          <a:p>
            <a:pPr algn="ctr"/>
            <a:endParaRPr lang="ko-KR" altLang="en-US" sz="4000" dirty="0">
              <a:ln>
                <a:solidFill>
                  <a:srgbClr val="4FA6AE">
                    <a:alpha val="0"/>
                  </a:srgbClr>
                </a:solidFill>
              </a:ln>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45" name="TextBox 44">
            <a:extLst>
              <a:ext uri="{FF2B5EF4-FFF2-40B4-BE49-F238E27FC236}">
                <a16:creationId xmlns:a16="http://schemas.microsoft.com/office/drawing/2014/main" id="{B8271BDF-AC03-4748-8C05-1D490119D647}"/>
              </a:ext>
            </a:extLst>
          </p:cNvPr>
          <p:cNvSpPr txBox="1"/>
          <p:nvPr/>
        </p:nvSpPr>
        <p:spPr>
          <a:xfrm>
            <a:off x="8478686" y="1698522"/>
            <a:ext cx="2412841" cy="292388"/>
          </a:xfrm>
          <a:prstGeom prst="rect">
            <a:avLst/>
          </a:prstGeom>
          <a:noFill/>
        </p:spPr>
        <p:txBody>
          <a:bodyPr wrap="square" rtlCol="0">
            <a:spAutoFit/>
          </a:bodyPr>
          <a:lstStyle/>
          <a:p>
            <a:pPr algn="ct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Renal Replacement Therapy</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cxnSp>
        <p:nvCxnSpPr>
          <p:cNvPr id="46" name="직선 연결선 82">
            <a:extLst>
              <a:ext uri="{FF2B5EF4-FFF2-40B4-BE49-F238E27FC236}">
                <a16:creationId xmlns:a16="http://schemas.microsoft.com/office/drawing/2014/main" id="{0BFB65B4-613E-78C4-A574-49BF5A5B632A}"/>
              </a:ext>
            </a:extLst>
          </p:cNvPr>
          <p:cNvCxnSpPr>
            <a:cxnSpLocks/>
          </p:cNvCxnSpPr>
          <p:nvPr/>
        </p:nvCxnSpPr>
        <p:spPr>
          <a:xfrm>
            <a:off x="942104" y="2009090"/>
            <a:ext cx="3161361" cy="0"/>
          </a:xfrm>
          <a:prstGeom prst="line">
            <a:avLst/>
          </a:prstGeom>
          <a:ln w="6350">
            <a:solidFill>
              <a:schemeClr val="bg1">
                <a:lumMod val="75000"/>
                <a:alpha val="90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8271BDF-AC03-4748-8C05-1D490119D647}"/>
              </a:ext>
            </a:extLst>
          </p:cNvPr>
          <p:cNvSpPr txBox="1"/>
          <p:nvPr/>
        </p:nvSpPr>
        <p:spPr>
          <a:xfrm>
            <a:off x="942104" y="2137597"/>
            <a:ext cx="3041078" cy="30931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Removal of waste products from the blood</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Regulation of body water</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Promote red blood cell production</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Blood pressure regulation</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Maintenance of acid-base and electrolyte balance</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Activation of Vitamin D</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Maintenance of bone health (bone metabolism)</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0" name="직사각형 49"/>
          <p:cNvSpPr/>
          <p:nvPr/>
        </p:nvSpPr>
        <p:spPr>
          <a:xfrm>
            <a:off x="4538683" y="2009090"/>
            <a:ext cx="3161361" cy="3318612"/>
          </a:xfrm>
          <a:prstGeom prst="rect">
            <a:avLst/>
          </a:prstGeom>
          <a:solidFill>
            <a:srgbClr val="F4F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cxnSp>
        <p:nvCxnSpPr>
          <p:cNvPr id="51" name="직선 연결선 82">
            <a:extLst>
              <a:ext uri="{FF2B5EF4-FFF2-40B4-BE49-F238E27FC236}">
                <a16:creationId xmlns:a16="http://schemas.microsoft.com/office/drawing/2014/main" id="{0BFB65B4-613E-78C4-A574-49BF5A5B632A}"/>
              </a:ext>
            </a:extLst>
          </p:cNvPr>
          <p:cNvCxnSpPr>
            <a:cxnSpLocks/>
          </p:cNvCxnSpPr>
          <p:nvPr/>
        </p:nvCxnSpPr>
        <p:spPr>
          <a:xfrm>
            <a:off x="4538683" y="2009090"/>
            <a:ext cx="3161361" cy="0"/>
          </a:xfrm>
          <a:prstGeom prst="line">
            <a:avLst/>
          </a:prstGeom>
          <a:ln w="6350">
            <a:solidFill>
              <a:schemeClr val="bg1">
                <a:lumMod val="75000"/>
                <a:alpha val="90000"/>
              </a:schemeClr>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8271BDF-AC03-4748-8C05-1D490119D647}"/>
              </a:ext>
            </a:extLst>
          </p:cNvPr>
          <p:cNvSpPr txBox="1"/>
          <p:nvPr/>
        </p:nvSpPr>
        <p:spPr>
          <a:xfrm>
            <a:off x="4487869" y="2137597"/>
            <a:ext cx="3161361" cy="33932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Usual cause: Diabetes, hypertension, glomerulonephritis, etc. </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Decreased ability of the kidneys due to kidney damage</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Therapeutic interventions such as dietary changes, medication, and body water regulation</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When timely treatment is missed, it may progress to end-stage renal failure, which requires dialysis or kidney transplantation. </a:t>
            </a:r>
          </a:p>
        </p:txBody>
      </p:sp>
      <p:sp>
        <p:nvSpPr>
          <p:cNvPr id="53" name="직사각형 52"/>
          <p:cNvSpPr/>
          <p:nvPr/>
        </p:nvSpPr>
        <p:spPr>
          <a:xfrm>
            <a:off x="8145646" y="2009090"/>
            <a:ext cx="3161361" cy="3318612"/>
          </a:xfrm>
          <a:prstGeom prst="rect">
            <a:avLst/>
          </a:prstGeom>
          <a:solidFill>
            <a:srgbClr val="F4F4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cxnSp>
        <p:nvCxnSpPr>
          <p:cNvPr id="54" name="직선 연결선 82">
            <a:extLst>
              <a:ext uri="{FF2B5EF4-FFF2-40B4-BE49-F238E27FC236}">
                <a16:creationId xmlns:a16="http://schemas.microsoft.com/office/drawing/2014/main" id="{0BFB65B4-613E-78C4-A574-49BF5A5B632A}"/>
              </a:ext>
            </a:extLst>
          </p:cNvPr>
          <p:cNvCxnSpPr>
            <a:cxnSpLocks/>
          </p:cNvCxnSpPr>
          <p:nvPr/>
        </p:nvCxnSpPr>
        <p:spPr>
          <a:xfrm>
            <a:off x="8145646" y="2009090"/>
            <a:ext cx="3161361" cy="0"/>
          </a:xfrm>
          <a:prstGeom prst="line">
            <a:avLst/>
          </a:prstGeom>
          <a:ln w="6350">
            <a:solidFill>
              <a:schemeClr val="bg1">
                <a:lumMod val="75000"/>
                <a:alpha val="90000"/>
              </a:schemeClr>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8271BDF-AC03-4748-8C05-1D490119D647}"/>
              </a:ext>
            </a:extLst>
          </p:cNvPr>
          <p:cNvSpPr txBox="1"/>
          <p:nvPr/>
        </p:nvSpPr>
        <p:spPr>
          <a:xfrm>
            <a:off x="8402585" y="2299890"/>
            <a:ext cx="3161361" cy="2893100"/>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Kidney Transplantation</a:t>
            </a: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marL="285750" indent="-285750">
              <a:lnSpc>
                <a:spcPct val="200000"/>
              </a:lnSpc>
              <a:buFont typeface="Arial" panose="020B0604020202020204" pitchFamily="34" charset="0"/>
              <a:buChar char="•"/>
            </a:pP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marL="285750" indent="-285750">
              <a:lnSpc>
                <a:spcPct val="200000"/>
              </a:lnSpc>
              <a:buFont typeface="Arial" panose="020B0604020202020204" pitchFamily="34" charset="0"/>
              <a:buChar char="•"/>
            </a:pP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marL="285750" indent="-285750">
              <a:lnSpc>
                <a:spcPct val="200000"/>
              </a:lnSpc>
              <a:buFont typeface="Arial" panose="020B0604020202020204" pitchFamily="34" charset="0"/>
              <a:buChar char="•"/>
            </a:pP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Peritoneal Dialysis</a:t>
            </a: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marL="285750" indent="-285750">
              <a:lnSpc>
                <a:spcPct val="200000"/>
              </a:lnSpc>
              <a:buFont typeface="Arial" panose="020B0604020202020204" pitchFamily="34" charset="0"/>
              <a:buChar char="•"/>
            </a:pP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marL="285750" indent="-285750">
              <a:lnSpc>
                <a:spcPct val="200000"/>
              </a:lnSpc>
              <a:buFont typeface="Arial" panose="020B0604020202020204" pitchFamily="34" charset="0"/>
              <a:buChar char="•"/>
            </a:pP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marL="285750" indent="-285750">
              <a:lnSpc>
                <a:spcPct val="200000"/>
              </a:lnSpc>
              <a:buFont typeface="Arial" panose="020B0604020202020204" pitchFamily="34" charset="0"/>
              <a:buChar char="•"/>
            </a:pP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Hemodialysis</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7" name="그림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6225" y="1990910"/>
            <a:ext cx="1341563" cy="3282707"/>
          </a:xfrm>
          <a:prstGeom prst="rect">
            <a:avLst/>
          </a:prstGeom>
        </p:spPr>
      </p:pic>
    </p:spTree>
    <p:extLst>
      <p:ext uri="{BB962C8B-B14F-4D97-AF65-F5344CB8AC3E}">
        <p14:creationId xmlns:p14="http://schemas.microsoft.com/office/powerpoint/2010/main" val="2741771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What is Hemodialysis?</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pic>
        <p:nvPicPr>
          <p:cNvPr id="34" name="Picture 3"/>
          <p:cNvPicPr>
            <a:picLocks noChangeAspect="1" noChangeArrowheads="1"/>
          </p:cNvPicPr>
          <p:nvPr/>
        </p:nvPicPr>
        <p:blipFill>
          <a:blip r:embed="rId3"/>
          <a:srcRect b="20653"/>
          <a:stretch>
            <a:fillRect/>
          </a:stretch>
        </p:blipFill>
        <p:spPr bwMode="auto">
          <a:xfrm>
            <a:off x="5009145" y="4242275"/>
            <a:ext cx="2000264" cy="1285884"/>
          </a:xfrm>
          <a:prstGeom prst="rect">
            <a:avLst/>
          </a:prstGeom>
          <a:noFill/>
          <a:ln w="9525">
            <a:noFill/>
            <a:miter lim="800000"/>
            <a:headEnd/>
            <a:tailEnd/>
          </a:ln>
          <a:effectLst/>
        </p:spPr>
      </p:pic>
      <p:sp>
        <p:nvSpPr>
          <p:cNvPr id="42" name="TextBox 41"/>
          <p:cNvSpPr txBox="1"/>
          <p:nvPr/>
        </p:nvSpPr>
        <p:spPr>
          <a:xfrm>
            <a:off x="8012880" y="4003676"/>
            <a:ext cx="1928859" cy="1754326"/>
          </a:xfrm>
          <a:prstGeom prst="rect">
            <a:avLst/>
          </a:prstGeom>
          <a:noFill/>
        </p:spPr>
        <p:txBody>
          <a:bodyPr wrap="square">
            <a:spAutoFit/>
          </a:bodyPr>
          <a:lstStyle/>
          <a:p>
            <a:pPr marL="171450" indent="-171450" fontAlgn="auto">
              <a:lnSpc>
                <a:spcPct val="150000"/>
              </a:lnSpc>
              <a:spcBef>
                <a:spcPts val="0"/>
              </a:spcBef>
              <a:spcAft>
                <a:spcPts val="0"/>
              </a:spcAft>
              <a:buFontTx/>
              <a:buChar char="-"/>
              <a:defRPr/>
            </a:pPr>
            <a:r>
              <a:rPr kumimoji="0"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Performance of the dialyzer (membrane surface area) </a:t>
            </a:r>
          </a:p>
          <a:p>
            <a:pPr marL="171450" indent="-171450" fontAlgn="auto">
              <a:lnSpc>
                <a:spcPct val="150000"/>
              </a:lnSpc>
              <a:spcBef>
                <a:spcPts val="0"/>
              </a:spcBef>
              <a:spcAft>
                <a:spcPts val="0"/>
              </a:spcAft>
              <a:buFontTx/>
              <a:buChar char="-"/>
              <a:defRPr/>
            </a:pPr>
            <a:r>
              <a:rPr kumimoji="0" lang="en-US" altLang="ko-KR" sz="1200" dirty="0" err="1">
                <a:solidFill>
                  <a:srgbClr val="4B4F5A"/>
                </a:solidFill>
                <a:latin typeface="Lato Black" panose="020F0502020204030203" pitchFamily="34" charset="0"/>
                <a:ea typeface="Lato Black" panose="020F0502020204030203" pitchFamily="34" charset="0"/>
                <a:cs typeface="Lato Black" panose="020F0502020204030203" pitchFamily="34" charset="0"/>
              </a:rPr>
              <a:t>Durarion</a:t>
            </a:r>
            <a:endParaRPr kumimoji="0"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marL="171450" indent="-171450" fontAlgn="auto">
              <a:lnSpc>
                <a:spcPct val="150000"/>
              </a:lnSpc>
              <a:spcBef>
                <a:spcPts val="0"/>
              </a:spcBef>
              <a:spcAft>
                <a:spcPts val="0"/>
              </a:spcAft>
              <a:buFontTx/>
              <a:buChar char="-"/>
              <a:defRPr/>
            </a:pPr>
            <a:r>
              <a:rPr lang="en-US" altLang="ko-KR" sz="12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Blood flow rate</a:t>
            </a:r>
          </a:p>
          <a:p>
            <a:pPr marL="171450" indent="-171450" fontAlgn="auto">
              <a:lnSpc>
                <a:spcPct val="150000"/>
              </a:lnSpc>
              <a:spcBef>
                <a:spcPts val="0"/>
              </a:spcBef>
              <a:spcAft>
                <a:spcPts val="0"/>
              </a:spcAft>
              <a:buFontTx/>
              <a:buChar char="-"/>
              <a:defRPr/>
            </a:pPr>
            <a:r>
              <a:rPr kumimoji="0" lang="en-US" altLang="ko-KR" sz="12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Dialysate flow rate</a:t>
            </a:r>
            <a:endParaRPr kumimoji="0"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43" name="Picture 4"/>
          <p:cNvPicPr>
            <a:picLocks noChangeAspect="1" noChangeArrowheads="1"/>
          </p:cNvPicPr>
          <p:nvPr/>
        </p:nvPicPr>
        <p:blipFill>
          <a:blip r:embed="rId4"/>
          <a:srcRect/>
          <a:stretch>
            <a:fillRect/>
          </a:stretch>
        </p:blipFill>
        <p:spPr bwMode="auto">
          <a:xfrm>
            <a:off x="2232706" y="3885085"/>
            <a:ext cx="1990725" cy="1724025"/>
          </a:xfrm>
          <a:prstGeom prst="rect">
            <a:avLst/>
          </a:prstGeom>
          <a:noFill/>
          <a:ln w="9525">
            <a:noFill/>
            <a:miter lim="800000"/>
            <a:headEnd/>
            <a:tailEnd/>
          </a:ln>
          <a:effectLst/>
        </p:spPr>
      </p:pic>
      <p:sp>
        <p:nvSpPr>
          <p:cNvPr id="44" name="타원 43"/>
          <p:cNvSpPr/>
          <p:nvPr/>
        </p:nvSpPr>
        <p:spPr>
          <a:xfrm>
            <a:off x="2580357" y="4394664"/>
            <a:ext cx="714380" cy="428628"/>
          </a:xfrm>
          <a:prstGeom prst="ellipse">
            <a:avLst/>
          </a:prstGeom>
          <a:noFill/>
          <a:ln>
            <a:solidFill>
              <a:srgbClr val="9C1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8" name="TextBox 17"/>
          <p:cNvSpPr txBox="1"/>
          <p:nvPr/>
        </p:nvSpPr>
        <p:spPr>
          <a:xfrm>
            <a:off x="905608" y="1343983"/>
            <a:ext cx="9592215" cy="1038746"/>
          </a:xfrm>
          <a:prstGeom prst="rect">
            <a:avLst/>
          </a:prstGeom>
          <a:noFill/>
        </p:spPr>
        <p:txBody>
          <a:bodyPr wrap="square">
            <a:spAutoFit/>
          </a:bodyPr>
          <a:lstStyle/>
          <a:p>
            <a:pPr fontAlgn="auto">
              <a:lnSpc>
                <a:spcPct val="150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Using Dialyzers to remove excess water and waste products </a:t>
            </a:r>
            <a:endPar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Blood is drawn out of the body through a needle, passes through a specialized filter (dialyzer) for purification, and then returns back into the body.</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9" name="그룹 18">
            <a:extLst>
              <a:ext uri="{FF2B5EF4-FFF2-40B4-BE49-F238E27FC236}">
                <a16:creationId xmlns:a16="http://schemas.microsoft.com/office/drawing/2014/main" id="{04BBD52A-B00D-B52D-D2BE-7ED77E4B2731}"/>
              </a:ext>
            </a:extLst>
          </p:cNvPr>
          <p:cNvGrpSpPr/>
          <p:nvPr/>
        </p:nvGrpSpPr>
        <p:grpSpPr>
          <a:xfrm>
            <a:off x="671881" y="1445917"/>
            <a:ext cx="233727" cy="233726"/>
            <a:chOff x="2701227" y="-1816305"/>
            <a:chExt cx="7728206" cy="7728208"/>
          </a:xfrm>
        </p:grpSpPr>
        <p:sp>
          <p:nvSpPr>
            <p:cNvPr id="20"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1" name="타원 20">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2" name="TextBox 21"/>
          <p:cNvSpPr txBox="1"/>
          <p:nvPr/>
        </p:nvSpPr>
        <p:spPr>
          <a:xfrm>
            <a:off x="905608" y="2483374"/>
            <a:ext cx="9592215" cy="438582"/>
          </a:xfrm>
          <a:prstGeom prst="rect">
            <a:avLst/>
          </a:prstGeom>
          <a:noFill/>
        </p:spPr>
        <p:txBody>
          <a:bodyPr wrap="square">
            <a:spAutoFit/>
          </a:bodyPr>
          <a:lstStyle/>
          <a:p>
            <a:pPr fontAlgn="auto">
              <a:lnSpc>
                <a:spcPct val="150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Hemodialysis Prescription </a:t>
            </a:r>
            <a:r>
              <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 Determining how much ‘water’ and ‘waste’ to remove</a:t>
            </a:r>
            <a:endParaRPr kumimoji="0" lang="en-US" altLang="ko-KR" sz="15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23" name="그룹 22">
            <a:extLst>
              <a:ext uri="{FF2B5EF4-FFF2-40B4-BE49-F238E27FC236}">
                <a16:creationId xmlns:a16="http://schemas.microsoft.com/office/drawing/2014/main" id="{04BBD52A-B00D-B52D-D2BE-7ED77E4B2731}"/>
              </a:ext>
            </a:extLst>
          </p:cNvPr>
          <p:cNvGrpSpPr/>
          <p:nvPr/>
        </p:nvGrpSpPr>
        <p:grpSpPr>
          <a:xfrm>
            <a:off x="671881" y="2585308"/>
            <a:ext cx="233727" cy="233726"/>
            <a:chOff x="2701227" y="-1816305"/>
            <a:chExt cx="7728206" cy="7728208"/>
          </a:xfrm>
        </p:grpSpPr>
        <p:sp>
          <p:nvSpPr>
            <p:cNvPr id="24"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5" name="타원 24">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 name="모서리가 둥근 직사각형 1"/>
          <p:cNvSpPr/>
          <p:nvPr/>
        </p:nvSpPr>
        <p:spPr>
          <a:xfrm>
            <a:off x="8012879" y="3959881"/>
            <a:ext cx="2074095" cy="1897994"/>
          </a:xfrm>
          <a:prstGeom prst="roundRect">
            <a:avLst>
              <a:gd name="adj" fmla="val 8848"/>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nvGrpSpPr>
          <p:cNvPr id="26" name="그룹 25">
            <a:extLst>
              <a:ext uri="{FF2B5EF4-FFF2-40B4-BE49-F238E27FC236}">
                <a16:creationId xmlns:a16="http://schemas.microsoft.com/office/drawing/2014/main" id="{2F1A05A6-8D4D-A99A-FADA-5533987FA333}"/>
              </a:ext>
            </a:extLst>
          </p:cNvPr>
          <p:cNvGrpSpPr/>
          <p:nvPr/>
        </p:nvGrpSpPr>
        <p:grpSpPr>
          <a:xfrm rot="16200000">
            <a:off x="7168230" y="4765038"/>
            <a:ext cx="476201" cy="430805"/>
            <a:chOff x="2061642" y="2996194"/>
            <a:chExt cx="369826" cy="334570"/>
          </a:xfrm>
        </p:grpSpPr>
        <p:sp>
          <p:nvSpPr>
            <p:cNvPr id="27"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8"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29" name="그룹 28">
            <a:extLst>
              <a:ext uri="{FF2B5EF4-FFF2-40B4-BE49-F238E27FC236}">
                <a16:creationId xmlns:a16="http://schemas.microsoft.com/office/drawing/2014/main" id="{2F1A05A6-8D4D-A99A-FADA-5533987FA333}"/>
              </a:ext>
            </a:extLst>
          </p:cNvPr>
          <p:cNvGrpSpPr/>
          <p:nvPr/>
        </p:nvGrpSpPr>
        <p:grpSpPr>
          <a:xfrm rot="5400000">
            <a:off x="4393639" y="4765038"/>
            <a:ext cx="476201" cy="430805"/>
            <a:chOff x="2061642" y="2996194"/>
            <a:chExt cx="369826" cy="334570"/>
          </a:xfrm>
        </p:grpSpPr>
        <p:sp>
          <p:nvSpPr>
            <p:cNvPr id="30"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1"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1766775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blinds(horizontal)">
                                      <p:cBhvr>
                                        <p:cTn id="15" dur="500"/>
                                        <p:tgtEl>
                                          <p:spTgt spid="4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blinds(horizontal)">
                                      <p:cBhvr>
                                        <p:cTn id="1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What is Hemodialysis?</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pic>
        <p:nvPicPr>
          <p:cNvPr id="18" name="Picture 5"/>
          <p:cNvPicPr>
            <a:picLocks noChangeAspect="1" noChangeArrowheads="1"/>
          </p:cNvPicPr>
          <p:nvPr/>
        </p:nvPicPr>
        <p:blipFill>
          <a:blip r:embed="rId3"/>
          <a:srcRect t="3564"/>
          <a:stretch>
            <a:fillRect/>
          </a:stretch>
        </p:blipFill>
        <p:spPr bwMode="auto">
          <a:xfrm>
            <a:off x="2383968" y="926535"/>
            <a:ext cx="5267327" cy="3574162"/>
          </a:xfrm>
          <a:prstGeom prst="rect">
            <a:avLst/>
          </a:prstGeom>
          <a:noFill/>
          <a:ln w="9525">
            <a:noFill/>
            <a:miter lim="800000"/>
            <a:headEnd/>
            <a:tailEnd/>
          </a:ln>
          <a:effectLst/>
        </p:spPr>
      </p:pic>
      <p:sp>
        <p:nvSpPr>
          <p:cNvPr id="19" name="타원 18"/>
          <p:cNvSpPr/>
          <p:nvPr/>
        </p:nvSpPr>
        <p:spPr>
          <a:xfrm>
            <a:off x="3283890" y="2721293"/>
            <a:ext cx="1000132" cy="916168"/>
          </a:xfrm>
          <a:prstGeom prst="ellipse">
            <a:avLst/>
          </a:prstGeom>
          <a:noFill/>
          <a:ln>
            <a:solidFill>
              <a:srgbClr val="9C1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pic>
        <p:nvPicPr>
          <p:cNvPr id="20" name="Picture 2"/>
          <p:cNvPicPr>
            <a:picLocks noChangeAspect="1" noChangeArrowheads="1"/>
          </p:cNvPicPr>
          <p:nvPr/>
        </p:nvPicPr>
        <p:blipFill>
          <a:blip r:embed="rId4"/>
          <a:srcRect/>
          <a:stretch>
            <a:fillRect/>
          </a:stretch>
        </p:blipFill>
        <p:spPr bwMode="auto">
          <a:xfrm>
            <a:off x="3741288" y="4401946"/>
            <a:ext cx="3312752" cy="1917561"/>
          </a:xfrm>
          <a:prstGeom prst="rect">
            <a:avLst/>
          </a:prstGeom>
          <a:noFill/>
          <a:ln w="9525">
            <a:noFill/>
            <a:miter lim="800000"/>
            <a:headEnd/>
            <a:tailEnd/>
          </a:ln>
          <a:effectLst/>
        </p:spPr>
      </p:pic>
      <p:pic>
        <p:nvPicPr>
          <p:cNvPr id="21" name="Picture 2"/>
          <p:cNvPicPr>
            <a:picLocks noChangeAspect="1" noChangeArrowheads="1"/>
          </p:cNvPicPr>
          <p:nvPr/>
        </p:nvPicPr>
        <p:blipFill>
          <a:blip r:embed="rId5"/>
          <a:srcRect l="12528"/>
          <a:stretch>
            <a:fillRect/>
          </a:stretch>
        </p:blipFill>
        <p:spPr bwMode="auto">
          <a:xfrm rot="16200000">
            <a:off x="7252820" y="2915732"/>
            <a:ext cx="2992527" cy="2157407"/>
          </a:xfrm>
          <a:prstGeom prst="rect">
            <a:avLst/>
          </a:prstGeom>
          <a:noFill/>
          <a:ln w="9525">
            <a:noFill/>
            <a:miter lim="800000"/>
            <a:headEnd/>
            <a:tailEnd/>
          </a:ln>
          <a:effectLst/>
        </p:spPr>
      </p:pic>
      <p:sp>
        <p:nvSpPr>
          <p:cNvPr id="22" name="오른쪽으로 구부러진 화살표 21"/>
          <p:cNvSpPr/>
          <p:nvPr/>
        </p:nvSpPr>
        <p:spPr>
          <a:xfrm>
            <a:off x="2884032" y="3641179"/>
            <a:ext cx="571504" cy="1071570"/>
          </a:xfrm>
          <a:prstGeom prst="curv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Lato Black" panose="020F0502020204030203" pitchFamily="34" charset="0"/>
              <a:cs typeface="Lato Black" panose="020F0502020204030203" pitchFamily="34" charset="0"/>
            </a:endParaRPr>
          </a:p>
        </p:txBody>
      </p:sp>
      <p:sp>
        <p:nvSpPr>
          <p:cNvPr id="23" name="오른쪽 화살표 22"/>
          <p:cNvSpPr/>
          <p:nvPr/>
        </p:nvSpPr>
        <p:spPr>
          <a:xfrm>
            <a:off x="6398760" y="4712749"/>
            <a:ext cx="1071571" cy="21431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 name="직사각형 1"/>
          <p:cNvSpPr/>
          <p:nvPr/>
        </p:nvSpPr>
        <p:spPr>
          <a:xfrm>
            <a:off x="4132980" y="3006104"/>
            <a:ext cx="1101799" cy="346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Dialyzer</a:t>
            </a:r>
            <a:endParaRPr lang="ko-KR" altLang="en-US" dirty="0"/>
          </a:p>
        </p:txBody>
      </p:sp>
      <p:sp>
        <p:nvSpPr>
          <p:cNvPr id="12" name="직사각형 11"/>
          <p:cNvSpPr/>
          <p:nvPr/>
        </p:nvSpPr>
        <p:spPr>
          <a:xfrm>
            <a:off x="3115861" y="2019940"/>
            <a:ext cx="1101799" cy="49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Arterial Chamber</a:t>
            </a:r>
            <a:endParaRPr lang="ko-KR" altLang="en-US" sz="1200" dirty="0"/>
          </a:p>
        </p:txBody>
      </p:sp>
      <p:sp>
        <p:nvSpPr>
          <p:cNvPr id="13" name="직사각형 12">
            <a:extLst>
              <a:ext uri="{FF2B5EF4-FFF2-40B4-BE49-F238E27FC236}">
                <a16:creationId xmlns:a16="http://schemas.microsoft.com/office/drawing/2014/main" id="{6BD9DA48-FBCA-4019-8A67-C3A0B382C3A1}"/>
              </a:ext>
            </a:extLst>
          </p:cNvPr>
          <p:cNvSpPr/>
          <p:nvPr/>
        </p:nvSpPr>
        <p:spPr>
          <a:xfrm>
            <a:off x="4132979" y="1248401"/>
            <a:ext cx="1101799" cy="49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Arterial Blood circuit</a:t>
            </a:r>
            <a:endParaRPr lang="ko-KR" altLang="en-US" sz="1200" dirty="0"/>
          </a:p>
        </p:txBody>
      </p:sp>
      <p:sp>
        <p:nvSpPr>
          <p:cNvPr id="14" name="직사각형 13">
            <a:extLst>
              <a:ext uri="{FF2B5EF4-FFF2-40B4-BE49-F238E27FC236}">
                <a16:creationId xmlns:a16="http://schemas.microsoft.com/office/drawing/2014/main" id="{88565A10-3E5C-4ABF-A1AD-6F52DA3F44DB}"/>
              </a:ext>
            </a:extLst>
          </p:cNvPr>
          <p:cNvSpPr/>
          <p:nvPr/>
        </p:nvSpPr>
        <p:spPr>
          <a:xfrm>
            <a:off x="4832678" y="2064049"/>
            <a:ext cx="1101799" cy="49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Blood pump</a:t>
            </a:r>
            <a:endParaRPr lang="ko-KR" altLang="en-US" sz="1200" dirty="0"/>
          </a:p>
        </p:txBody>
      </p:sp>
      <p:sp>
        <p:nvSpPr>
          <p:cNvPr id="15" name="직사각형 14">
            <a:extLst>
              <a:ext uri="{FF2B5EF4-FFF2-40B4-BE49-F238E27FC236}">
                <a16:creationId xmlns:a16="http://schemas.microsoft.com/office/drawing/2014/main" id="{5BB82624-C324-42E2-8708-085E2A70B688}"/>
              </a:ext>
            </a:extLst>
          </p:cNvPr>
          <p:cNvSpPr/>
          <p:nvPr/>
        </p:nvSpPr>
        <p:spPr>
          <a:xfrm>
            <a:off x="1982162" y="2883710"/>
            <a:ext cx="1101799" cy="591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t>Dialysate supply</a:t>
            </a:r>
            <a:endParaRPr lang="ko-KR" altLang="en-US" sz="1400" dirty="0"/>
          </a:p>
        </p:txBody>
      </p:sp>
      <p:sp>
        <p:nvSpPr>
          <p:cNvPr id="24" name="직사각형 23">
            <a:extLst>
              <a:ext uri="{FF2B5EF4-FFF2-40B4-BE49-F238E27FC236}">
                <a16:creationId xmlns:a16="http://schemas.microsoft.com/office/drawing/2014/main" id="{F41CE0C6-452F-4D08-BFB1-646242BC2A14}"/>
              </a:ext>
            </a:extLst>
          </p:cNvPr>
          <p:cNvSpPr/>
          <p:nvPr/>
        </p:nvSpPr>
        <p:spPr>
          <a:xfrm>
            <a:off x="3730879" y="3845032"/>
            <a:ext cx="1101799" cy="49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Venous Chamber</a:t>
            </a:r>
            <a:endParaRPr lang="ko-KR" altLang="en-US" sz="1200" dirty="0"/>
          </a:p>
        </p:txBody>
      </p:sp>
      <p:sp>
        <p:nvSpPr>
          <p:cNvPr id="25" name="직사각형 24">
            <a:extLst>
              <a:ext uri="{FF2B5EF4-FFF2-40B4-BE49-F238E27FC236}">
                <a16:creationId xmlns:a16="http://schemas.microsoft.com/office/drawing/2014/main" id="{993161B3-6332-4500-9B19-BD164E1AFCBB}"/>
              </a:ext>
            </a:extLst>
          </p:cNvPr>
          <p:cNvSpPr/>
          <p:nvPr/>
        </p:nvSpPr>
        <p:spPr>
          <a:xfrm>
            <a:off x="6963739" y="3320305"/>
            <a:ext cx="1101799" cy="493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Venous Blood circuit</a:t>
            </a:r>
            <a:endParaRPr lang="ko-KR" altLang="en-US" sz="1200" dirty="0"/>
          </a:p>
        </p:txBody>
      </p:sp>
      <p:sp>
        <p:nvSpPr>
          <p:cNvPr id="26" name="직사각형 25">
            <a:extLst>
              <a:ext uri="{FF2B5EF4-FFF2-40B4-BE49-F238E27FC236}">
                <a16:creationId xmlns:a16="http://schemas.microsoft.com/office/drawing/2014/main" id="{8FAB9E33-7509-4921-84C2-9A5DD2987EBD}"/>
              </a:ext>
            </a:extLst>
          </p:cNvPr>
          <p:cNvSpPr/>
          <p:nvPr/>
        </p:nvSpPr>
        <p:spPr>
          <a:xfrm>
            <a:off x="7514638" y="4536572"/>
            <a:ext cx="927563"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Dialysate</a:t>
            </a:r>
            <a:endParaRPr lang="ko-KR" altLang="en-US" sz="1200" dirty="0"/>
          </a:p>
        </p:txBody>
      </p:sp>
      <p:sp>
        <p:nvSpPr>
          <p:cNvPr id="27" name="직사각형 26">
            <a:extLst>
              <a:ext uri="{FF2B5EF4-FFF2-40B4-BE49-F238E27FC236}">
                <a16:creationId xmlns:a16="http://schemas.microsoft.com/office/drawing/2014/main" id="{64FFBD6E-8822-40FE-96DF-74D3DF82926F}"/>
              </a:ext>
            </a:extLst>
          </p:cNvPr>
          <p:cNvSpPr/>
          <p:nvPr/>
        </p:nvSpPr>
        <p:spPr>
          <a:xfrm>
            <a:off x="9344250" y="4074447"/>
            <a:ext cx="927563"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Waste</a:t>
            </a:r>
            <a:endParaRPr lang="ko-KR" altLang="en-US" sz="1200" dirty="0"/>
          </a:p>
        </p:txBody>
      </p:sp>
      <p:sp>
        <p:nvSpPr>
          <p:cNvPr id="28" name="직사각형 27">
            <a:extLst>
              <a:ext uri="{FF2B5EF4-FFF2-40B4-BE49-F238E27FC236}">
                <a16:creationId xmlns:a16="http://schemas.microsoft.com/office/drawing/2014/main" id="{A1EF9B31-116B-4D12-B1D7-C0668CD57AB2}"/>
              </a:ext>
            </a:extLst>
          </p:cNvPr>
          <p:cNvSpPr/>
          <p:nvPr/>
        </p:nvSpPr>
        <p:spPr>
          <a:xfrm>
            <a:off x="9364005" y="3706930"/>
            <a:ext cx="927563"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Electrolyte</a:t>
            </a:r>
            <a:endParaRPr lang="ko-KR" altLang="en-US" sz="1200" dirty="0"/>
          </a:p>
        </p:txBody>
      </p:sp>
      <p:sp>
        <p:nvSpPr>
          <p:cNvPr id="29" name="직사각형 28">
            <a:extLst>
              <a:ext uri="{FF2B5EF4-FFF2-40B4-BE49-F238E27FC236}">
                <a16:creationId xmlns:a16="http://schemas.microsoft.com/office/drawing/2014/main" id="{3A999739-AAD5-4FE9-ADEE-0C2B616DD967}"/>
              </a:ext>
            </a:extLst>
          </p:cNvPr>
          <p:cNvSpPr/>
          <p:nvPr/>
        </p:nvSpPr>
        <p:spPr>
          <a:xfrm>
            <a:off x="9350516" y="3229964"/>
            <a:ext cx="1101799" cy="39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Removed water</a:t>
            </a:r>
            <a:endParaRPr lang="ko-KR" altLang="en-US" sz="1200" dirty="0"/>
          </a:p>
        </p:txBody>
      </p:sp>
      <p:sp>
        <p:nvSpPr>
          <p:cNvPr id="30" name="직사각형 29">
            <a:extLst>
              <a:ext uri="{FF2B5EF4-FFF2-40B4-BE49-F238E27FC236}">
                <a16:creationId xmlns:a16="http://schemas.microsoft.com/office/drawing/2014/main" id="{E90E1CA9-6AA8-42B9-8FA8-F674D6A42D05}"/>
              </a:ext>
            </a:extLst>
          </p:cNvPr>
          <p:cNvSpPr/>
          <p:nvPr/>
        </p:nvSpPr>
        <p:spPr>
          <a:xfrm>
            <a:off x="8459270" y="4978150"/>
            <a:ext cx="927563"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Protein</a:t>
            </a:r>
            <a:endParaRPr lang="ko-KR" altLang="en-US" sz="1200" dirty="0"/>
          </a:p>
        </p:txBody>
      </p:sp>
      <p:sp>
        <p:nvSpPr>
          <p:cNvPr id="31" name="직사각형 30">
            <a:extLst>
              <a:ext uri="{FF2B5EF4-FFF2-40B4-BE49-F238E27FC236}">
                <a16:creationId xmlns:a16="http://schemas.microsoft.com/office/drawing/2014/main" id="{2C05C51C-8C50-4ACE-9AD5-2DB21E031CA4}"/>
              </a:ext>
            </a:extLst>
          </p:cNvPr>
          <p:cNvSpPr/>
          <p:nvPr/>
        </p:nvSpPr>
        <p:spPr>
          <a:xfrm>
            <a:off x="8486508" y="4446283"/>
            <a:ext cx="1416166"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Red blood cell</a:t>
            </a:r>
            <a:endParaRPr lang="ko-KR" altLang="en-US" sz="1200" dirty="0"/>
          </a:p>
        </p:txBody>
      </p:sp>
      <p:sp>
        <p:nvSpPr>
          <p:cNvPr id="32" name="직사각형 31">
            <a:extLst>
              <a:ext uri="{FF2B5EF4-FFF2-40B4-BE49-F238E27FC236}">
                <a16:creationId xmlns:a16="http://schemas.microsoft.com/office/drawing/2014/main" id="{C6F275D0-13C4-4310-A573-241075E8EDF0}"/>
              </a:ext>
            </a:extLst>
          </p:cNvPr>
          <p:cNvSpPr/>
          <p:nvPr/>
        </p:nvSpPr>
        <p:spPr>
          <a:xfrm>
            <a:off x="8507749" y="3699278"/>
            <a:ext cx="686842" cy="2143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Blood</a:t>
            </a:r>
            <a:endParaRPr lang="ko-KR" altLang="en-US" sz="1200" dirty="0"/>
          </a:p>
        </p:txBody>
      </p:sp>
      <p:sp>
        <p:nvSpPr>
          <p:cNvPr id="33" name="직사각형 32">
            <a:extLst>
              <a:ext uri="{FF2B5EF4-FFF2-40B4-BE49-F238E27FC236}">
                <a16:creationId xmlns:a16="http://schemas.microsoft.com/office/drawing/2014/main" id="{CDE1E810-AB7A-4CFB-8D89-69EFEA52F7E5}"/>
              </a:ext>
            </a:extLst>
          </p:cNvPr>
          <p:cNvSpPr/>
          <p:nvPr/>
        </p:nvSpPr>
        <p:spPr>
          <a:xfrm>
            <a:off x="5609748" y="4066024"/>
            <a:ext cx="1116394" cy="646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Blood flow through in the middle</a:t>
            </a:r>
            <a:endParaRPr lang="ko-KR" altLang="en-US" sz="1200" dirty="0"/>
          </a:p>
        </p:txBody>
      </p:sp>
      <p:sp>
        <p:nvSpPr>
          <p:cNvPr id="34" name="직사각형 33">
            <a:extLst>
              <a:ext uri="{FF2B5EF4-FFF2-40B4-BE49-F238E27FC236}">
                <a16:creationId xmlns:a16="http://schemas.microsoft.com/office/drawing/2014/main" id="{74FD2695-B39B-4F60-8421-24CB0A06BD25}"/>
              </a:ext>
            </a:extLst>
          </p:cNvPr>
          <p:cNvSpPr/>
          <p:nvPr/>
        </p:nvSpPr>
        <p:spPr>
          <a:xfrm>
            <a:off x="3027355" y="5609599"/>
            <a:ext cx="1873919" cy="646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More than 10,000 thin hollow fiber tied in 1 dialyzer</a:t>
            </a:r>
            <a:endParaRPr lang="ko-KR" altLang="en-US" sz="1200" dirty="0"/>
          </a:p>
        </p:txBody>
      </p:sp>
      <p:sp>
        <p:nvSpPr>
          <p:cNvPr id="35" name="직사각형 34">
            <a:extLst>
              <a:ext uri="{FF2B5EF4-FFF2-40B4-BE49-F238E27FC236}">
                <a16:creationId xmlns:a16="http://schemas.microsoft.com/office/drawing/2014/main" id="{5C6E653F-1DCA-46A4-9EE1-417AEF34119F}"/>
              </a:ext>
            </a:extLst>
          </p:cNvPr>
          <p:cNvSpPr/>
          <p:nvPr/>
        </p:nvSpPr>
        <p:spPr>
          <a:xfrm>
            <a:off x="6353768" y="5602059"/>
            <a:ext cx="1873919" cy="92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t>Thin strands resembling threads with small holes, acting as semi-permeable membranes.</a:t>
            </a:r>
            <a:endParaRPr lang="ko-KR" altLang="en-US" sz="1200" dirty="0"/>
          </a:p>
        </p:txBody>
      </p:sp>
    </p:spTree>
    <p:extLst>
      <p:ext uri="{BB962C8B-B14F-4D97-AF65-F5344CB8AC3E}">
        <p14:creationId xmlns:p14="http://schemas.microsoft.com/office/powerpoint/2010/main" val="260148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ox(in)">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ox(in)">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Procedure of Hemodialysis</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pic>
        <p:nvPicPr>
          <p:cNvPr id="13" name="그림 12"/>
          <p:cNvPicPr>
            <a:picLocks noChangeAspect="1"/>
          </p:cNvPicPr>
          <p:nvPr/>
        </p:nvPicPr>
        <p:blipFill rotWithShape="1">
          <a:blip r:embed="rId3" cstate="print">
            <a:extLst>
              <a:ext uri="{28A0092B-C50C-407E-A947-70E740481C1C}">
                <a14:useLocalDpi xmlns:a14="http://schemas.microsoft.com/office/drawing/2010/main" val="0"/>
              </a:ext>
            </a:extLst>
          </a:blip>
          <a:srcRect l="33867"/>
          <a:stretch/>
        </p:blipFill>
        <p:spPr>
          <a:xfrm>
            <a:off x="695804" y="1288571"/>
            <a:ext cx="3076996" cy="4652740"/>
          </a:xfrm>
          <a:prstGeom prst="rect">
            <a:avLst/>
          </a:prstGeom>
        </p:spPr>
      </p:pic>
      <p:pic>
        <p:nvPicPr>
          <p:cNvPr id="14" name="그림 13"/>
          <p:cNvPicPr>
            <a:picLocks noChangeAspect="1"/>
          </p:cNvPicPr>
          <p:nvPr/>
        </p:nvPicPr>
        <p:blipFill rotWithShape="1">
          <a:blip r:embed="rId4" cstate="print">
            <a:extLst>
              <a:ext uri="{28A0092B-C50C-407E-A947-70E740481C1C}">
                <a14:useLocalDpi xmlns:a14="http://schemas.microsoft.com/office/drawing/2010/main" val="0"/>
              </a:ext>
            </a:extLst>
          </a:blip>
          <a:srcRect r="22818"/>
          <a:stretch/>
        </p:blipFill>
        <p:spPr>
          <a:xfrm>
            <a:off x="3856603" y="1288571"/>
            <a:ext cx="3562580" cy="4652740"/>
          </a:xfrm>
          <a:prstGeom prst="rect">
            <a:avLst/>
          </a:prstGeom>
        </p:spPr>
      </p:pic>
      <p:sp>
        <p:nvSpPr>
          <p:cNvPr id="5" name="모서리가 둥근 직사각형 4"/>
          <p:cNvSpPr/>
          <p:nvPr/>
        </p:nvSpPr>
        <p:spPr>
          <a:xfrm>
            <a:off x="187200" y="5090399"/>
            <a:ext cx="799200" cy="515943"/>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4" name="모서리가 둥근 직사각형 23"/>
          <p:cNvSpPr/>
          <p:nvPr/>
        </p:nvSpPr>
        <p:spPr>
          <a:xfrm>
            <a:off x="1834702" y="5090400"/>
            <a:ext cx="799200" cy="516778"/>
          </a:xfrm>
          <a:prstGeom prst="roundRect">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5" name="TextBox 24">
            <a:extLst>
              <a:ext uri="{FF2B5EF4-FFF2-40B4-BE49-F238E27FC236}">
                <a16:creationId xmlns:a16="http://schemas.microsoft.com/office/drawing/2014/main" id="{B8271BDF-AC03-4748-8C05-1D490119D647}"/>
              </a:ext>
            </a:extLst>
          </p:cNvPr>
          <p:cNvSpPr txBox="1"/>
          <p:nvPr/>
        </p:nvSpPr>
        <p:spPr>
          <a:xfrm>
            <a:off x="1857629" y="5048707"/>
            <a:ext cx="715129" cy="600164"/>
          </a:xfrm>
          <a:prstGeom prst="rect">
            <a:avLst/>
          </a:prstGeom>
          <a:noFill/>
        </p:spPr>
        <p:txBody>
          <a:bodyPr wrap="square" rtlCol="0">
            <a:spAutoFit/>
          </a:bodyPr>
          <a:lstStyle/>
          <a:p>
            <a:pPr algn="ctr">
              <a:lnSpc>
                <a:spcPct val="150000"/>
              </a:lnSpc>
            </a:pPr>
            <a:r>
              <a:rPr kumimoji="1" lang="en-US" altLang="ko-KR" sz="11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Arterial blood</a:t>
            </a:r>
            <a:endParaRPr kumimoji="1" lang="en-US" altLang="ko-KR" sz="11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6" name="TextBox 25">
            <a:extLst>
              <a:ext uri="{FF2B5EF4-FFF2-40B4-BE49-F238E27FC236}">
                <a16:creationId xmlns:a16="http://schemas.microsoft.com/office/drawing/2014/main" id="{B8271BDF-AC03-4748-8C05-1D490119D647}"/>
              </a:ext>
            </a:extLst>
          </p:cNvPr>
          <p:cNvSpPr txBox="1"/>
          <p:nvPr/>
        </p:nvSpPr>
        <p:spPr>
          <a:xfrm>
            <a:off x="82696" y="5024904"/>
            <a:ext cx="1008208" cy="600164"/>
          </a:xfrm>
          <a:prstGeom prst="rect">
            <a:avLst/>
          </a:prstGeom>
          <a:noFill/>
        </p:spPr>
        <p:txBody>
          <a:bodyPr wrap="square" rtlCol="0">
            <a:spAutoFit/>
          </a:bodyPr>
          <a:lstStyle/>
          <a:p>
            <a:pPr algn="ctr">
              <a:lnSpc>
                <a:spcPct val="150000"/>
              </a:lnSpc>
            </a:pPr>
            <a:r>
              <a:rPr kumimoji="1" lang="en-US" altLang="ko-KR" sz="11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Venous Injection</a:t>
            </a:r>
            <a:endParaRPr kumimoji="1" lang="en-US" altLang="ko-KR" sz="11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9" name="그룹 8"/>
          <p:cNvGrpSpPr/>
          <p:nvPr/>
        </p:nvGrpSpPr>
        <p:grpSpPr>
          <a:xfrm>
            <a:off x="7718400" y="1259771"/>
            <a:ext cx="3787200" cy="415498"/>
            <a:chOff x="7718400" y="1259771"/>
            <a:chExt cx="3787200" cy="415498"/>
          </a:xfrm>
        </p:grpSpPr>
        <p:sp>
          <p:nvSpPr>
            <p:cNvPr id="6" name="모서리가 둥근 직사각형 5"/>
            <p:cNvSpPr/>
            <p:nvPr/>
          </p:nvSpPr>
          <p:spPr>
            <a:xfrm>
              <a:off x="7718400" y="1288571"/>
              <a:ext cx="3787200" cy="360229"/>
            </a:xfrm>
            <a:prstGeom prst="roundRect">
              <a:avLst>
                <a:gd name="adj" fmla="val 12669"/>
              </a:avLst>
            </a:prstGeom>
            <a:solidFill>
              <a:srgbClr val="4B4F5A"/>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8070221" y="1259771"/>
              <a:ext cx="2939558" cy="415498"/>
            </a:xfrm>
            <a:prstGeom prst="rect">
              <a:avLst/>
            </a:prstGeom>
            <a:noFill/>
          </p:spPr>
          <p:txBody>
            <a:bodyPr wrap="square" rtlCol="0">
              <a:spAutoFit/>
            </a:bodyPr>
            <a:lstStyle/>
            <a:p>
              <a:pPr algn="ctr">
                <a:lnSpc>
                  <a:spcPct val="150000"/>
                </a:lnSpc>
              </a:pP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Arterial blood (Red)</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10" name="그룹 9"/>
          <p:cNvGrpSpPr/>
          <p:nvPr/>
        </p:nvGrpSpPr>
        <p:grpSpPr>
          <a:xfrm>
            <a:off x="7718400" y="1923593"/>
            <a:ext cx="3787200" cy="415498"/>
            <a:chOff x="7718400" y="2094971"/>
            <a:chExt cx="3787200" cy="415498"/>
          </a:xfrm>
        </p:grpSpPr>
        <p:sp>
          <p:nvSpPr>
            <p:cNvPr id="28" name="모서리가 둥근 직사각형 27"/>
            <p:cNvSpPr/>
            <p:nvPr/>
          </p:nvSpPr>
          <p:spPr>
            <a:xfrm>
              <a:off x="7718400" y="2123771"/>
              <a:ext cx="3787200" cy="360229"/>
            </a:xfrm>
            <a:prstGeom prst="roundRect">
              <a:avLst>
                <a:gd name="adj" fmla="val 12669"/>
              </a:avLst>
            </a:prstGeom>
            <a:solidFill>
              <a:srgbClr val="4B4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9" name="TextBox 28">
              <a:extLst>
                <a:ext uri="{FF2B5EF4-FFF2-40B4-BE49-F238E27FC236}">
                  <a16:creationId xmlns:a16="http://schemas.microsoft.com/office/drawing/2014/main" id="{B8271BDF-AC03-4748-8C05-1D490119D647}"/>
                </a:ext>
              </a:extLst>
            </p:cNvPr>
            <p:cNvSpPr txBox="1"/>
            <p:nvPr/>
          </p:nvSpPr>
          <p:spPr>
            <a:xfrm>
              <a:off x="8070221" y="2094971"/>
              <a:ext cx="2939558" cy="415498"/>
            </a:xfrm>
            <a:prstGeom prst="rect">
              <a:avLst/>
            </a:prstGeom>
            <a:noFill/>
          </p:spPr>
          <p:txBody>
            <a:bodyPr wrap="square" rtlCol="0">
              <a:spAutoFit/>
            </a:bodyPr>
            <a:lstStyle/>
            <a:p>
              <a:pPr algn="ctr">
                <a:lnSpc>
                  <a:spcPct val="150000"/>
                </a:lnSpc>
              </a:pP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Heparin injection</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12" name="그룹 11"/>
          <p:cNvGrpSpPr/>
          <p:nvPr/>
        </p:nvGrpSpPr>
        <p:grpSpPr>
          <a:xfrm>
            <a:off x="7718400" y="2613884"/>
            <a:ext cx="3787200" cy="389029"/>
            <a:chOff x="7718400" y="2683040"/>
            <a:chExt cx="3787200" cy="389029"/>
          </a:xfrm>
        </p:grpSpPr>
        <p:sp>
          <p:nvSpPr>
            <p:cNvPr id="30" name="모서리가 둥근 직사각형 29"/>
            <p:cNvSpPr/>
            <p:nvPr/>
          </p:nvSpPr>
          <p:spPr>
            <a:xfrm>
              <a:off x="7718400" y="2711840"/>
              <a:ext cx="3787200" cy="360229"/>
            </a:xfrm>
            <a:prstGeom prst="roundRect">
              <a:avLst>
                <a:gd name="adj" fmla="val 12669"/>
              </a:avLst>
            </a:prstGeom>
            <a:solidFill>
              <a:srgbClr val="4B4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1" name="TextBox 30">
              <a:extLst>
                <a:ext uri="{FF2B5EF4-FFF2-40B4-BE49-F238E27FC236}">
                  <a16:creationId xmlns:a16="http://schemas.microsoft.com/office/drawing/2014/main" id="{B8271BDF-AC03-4748-8C05-1D490119D647}"/>
                </a:ext>
              </a:extLst>
            </p:cNvPr>
            <p:cNvSpPr txBox="1"/>
            <p:nvPr/>
          </p:nvSpPr>
          <p:spPr>
            <a:xfrm>
              <a:off x="8070221" y="2683040"/>
              <a:ext cx="2939558" cy="372923"/>
            </a:xfrm>
            <a:prstGeom prst="rect">
              <a:avLst/>
            </a:prstGeom>
            <a:noFill/>
          </p:spPr>
          <p:txBody>
            <a:bodyPr wrap="square" rtlCol="0">
              <a:spAutoFit/>
            </a:bodyPr>
            <a:lstStyle/>
            <a:p>
              <a:pPr algn="ctr">
                <a:lnSpc>
                  <a:spcPct val="150000"/>
                </a:lnSpc>
              </a:pP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Arterial chamber</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15" name="그룹 14"/>
          <p:cNvGrpSpPr/>
          <p:nvPr/>
        </p:nvGrpSpPr>
        <p:grpSpPr>
          <a:xfrm>
            <a:off x="7718400" y="3304175"/>
            <a:ext cx="3787200" cy="415498"/>
            <a:chOff x="7718400" y="3292709"/>
            <a:chExt cx="3787200" cy="415498"/>
          </a:xfrm>
        </p:grpSpPr>
        <p:sp>
          <p:nvSpPr>
            <p:cNvPr id="32" name="모서리가 둥근 직사각형 31"/>
            <p:cNvSpPr/>
            <p:nvPr/>
          </p:nvSpPr>
          <p:spPr>
            <a:xfrm>
              <a:off x="7718400" y="3328709"/>
              <a:ext cx="3787200" cy="360229"/>
            </a:xfrm>
            <a:prstGeom prst="roundRect">
              <a:avLst>
                <a:gd name="adj" fmla="val 12669"/>
              </a:avLst>
            </a:prstGeom>
            <a:solidFill>
              <a:srgbClr val="4B4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3" name="TextBox 32">
              <a:extLst>
                <a:ext uri="{FF2B5EF4-FFF2-40B4-BE49-F238E27FC236}">
                  <a16:creationId xmlns:a16="http://schemas.microsoft.com/office/drawing/2014/main" id="{B8271BDF-AC03-4748-8C05-1D490119D647}"/>
                </a:ext>
              </a:extLst>
            </p:cNvPr>
            <p:cNvSpPr txBox="1"/>
            <p:nvPr/>
          </p:nvSpPr>
          <p:spPr>
            <a:xfrm>
              <a:off x="7845188" y="3292709"/>
              <a:ext cx="3491397" cy="415498"/>
            </a:xfrm>
            <a:prstGeom prst="rect">
              <a:avLst/>
            </a:prstGeom>
            <a:noFill/>
          </p:spPr>
          <p:txBody>
            <a:bodyPr wrap="square" rtlCol="0">
              <a:spAutoFit/>
            </a:bodyPr>
            <a:lstStyle/>
            <a:p>
              <a:pPr algn="ctr">
                <a:lnSpc>
                  <a:spcPct val="150000"/>
                </a:lnSpc>
              </a:pP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Passing through the dialyzer membrane</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56" name="그룹 55"/>
          <p:cNvGrpSpPr/>
          <p:nvPr/>
        </p:nvGrpSpPr>
        <p:grpSpPr>
          <a:xfrm>
            <a:off x="7718400" y="3994466"/>
            <a:ext cx="3787200" cy="580542"/>
            <a:chOff x="7718400" y="3945578"/>
            <a:chExt cx="3787200" cy="580542"/>
          </a:xfrm>
        </p:grpSpPr>
        <p:sp>
          <p:nvSpPr>
            <p:cNvPr id="34" name="모서리가 둥근 직사각형 33"/>
            <p:cNvSpPr/>
            <p:nvPr/>
          </p:nvSpPr>
          <p:spPr>
            <a:xfrm>
              <a:off x="7718400" y="3945578"/>
              <a:ext cx="3787200" cy="580542"/>
            </a:xfrm>
            <a:prstGeom prst="roundRect">
              <a:avLst>
                <a:gd name="adj" fmla="val 5569"/>
              </a:avLst>
            </a:prstGeom>
            <a:solidFill>
              <a:srgbClr val="4B4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5" name="TextBox 34">
              <a:extLst>
                <a:ext uri="{FF2B5EF4-FFF2-40B4-BE49-F238E27FC236}">
                  <a16:creationId xmlns:a16="http://schemas.microsoft.com/office/drawing/2014/main" id="{B8271BDF-AC03-4748-8C05-1D490119D647}"/>
                </a:ext>
              </a:extLst>
            </p:cNvPr>
            <p:cNvSpPr txBox="1"/>
            <p:nvPr/>
          </p:nvSpPr>
          <p:spPr>
            <a:xfrm>
              <a:off x="7718400" y="4002900"/>
              <a:ext cx="3744979" cy="307777"/>
            </a:xfrm>
            <a:prstGeom prst="rect">
              <a:avLst/>
            </a:prstGeom>
            <a:noFill/>
          </p:spPr>
          <p:txBody>
            <a:bodyPr wrap="square" rtlCol="0">
              <a:spAutoFit/>
            </a:bodyPr>
            <a:lstStyle/>
            <a:p>
              <a:pPr algn="ct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Dialysate</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57" name="그룹 56"/>
          <p:cNvGrpSpPr/>
          <p:nvPr/>
        </p:nvGrpSpPr>
        <p:grpSpPr>
          <a:xfrm>
            <a:off x="7718400" y="4849801"/>
            <a:ext cx="3787200" cy="415498"/>
            <a:chOff x="7718400" y="4753960"/>
            <a:chExt cx="3787200" cy="415498"/>
          </a:xfrm>
        </p:grpSpPr>
        <p:sp>
          <p:nvSpPr>
            <p:cNvPr id="36" name="모서리가 둥근 직사각형 35"/>
            <p:cNvSpPr/>
            <p:nvPr/>
          </p:nvSpPr>
          <p:spPr>
            <a:xfrm>
              <a:off x="7718400" y="4782760"/>
              <a:ext cx="3787200" cy="360229"/>
            </a:xfrm>
            <a:prstGeom prst="roundRect">
              <a:avLst>
                <a:gd name="adj" fmla="val 12669"/>
              </a:avLst>
            </a:prstGeom>
            <a:solidFill>
              <a:srgbClr val="4B4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TextBox 36">
              <a:extLst>
                <a:ext uri="{FF2B5EF4-FFF2-40B4-BE49-F238E27FC236}">
                  <a16:creationId xmlns:a16="http://schemas.microsoft.com/office/drawing/2014/main" id="{B8271BDF-AC03-4748-8C05-1D490119D647}"/>
                </a:ext>
              </a:extLst>
            </p:cNvPr>
            <p:cNvSpPr txBox="1"/>
            <p:nvPr/>
          </p:nvSpPr>
          <p:spPr>
            <a:xfrm>
              <a:off x="8070221" y="4753960"/>
              <a:ext cx="2939558" cy="415498"/>
            </a:xfrm>
            <a:prstGeom prst="rect">
              <a:avLst/>
            </a:prstGeom>
            <a:noFill/>
          </p:spPr>
          <p:txBody>
            <a:bodyPr wrap="square" rtlCol="0">
              <a:spAutoFit/>
            </a:bodyPr>
            <a:lstStyle/>
            <a:p>
              <a:pPr algn="ctr">
                <a:lnSpc>
                  <a:spcPct val="150000"/>
                </a:lnSpc>
              </a:pP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Venous Chamber</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58" name="그룹 57"/>
          <p:cNvGrpSpPr/>
          <p:nvPr/>
        </p:nvGrpSpPr>
        <p:grpSpPr>
          <a:xfrm>
            <a:off x="7718400" y="5540090"/>
            <a:ext cx="3787200" cy="415498"/>
            <a:chOff x="7718400" y="5540090"/>
            <a:chExt cx="3787200" cy="415498"/>
          </a:xfrm>
        </p:grpSpPr>
        <p:sp>
          <p:nvSpPr>
            <p:cNvPr id="38" name="모서리가 둥근 직사각형 37"/>
            <p:cNvSpPr/>
            <p:nvPr/>
          </p:nvSpPr>
          <p:spPr>
            <a:xfrm>
              <a:off x="7718400" y="5568890"/>
              <a:ext cx="3787200" cy="360229"/>
            </a:xfrm>
            <a:prstGeom prst="roundRect">
              <a:avLst>
                <a:gd name="adj" fmla="val 12669"/>
              </a:avLst>
            </a:prstGeom>
            <a:solidFill>
              <a:srgbClr val="4B4F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9" name="TextBox 38">
              <a:extLst>
                <a:ext uri="{FF2B5EF4-FFF2-40B4-BE49-F238E27FC236}">
                  <a16:creationId xmlns:a16="http://schemas.microsoft.com/office/drawing/2014/main" id="{B8271BDF-AC03-4748-8C05-1D490119D647}"/>
                </a:ext>
              </a:extLst>
            </p:cNvPr>
            <p:cNvSpPr txBox="1"/>
            <p:nvPr/>
          </p:nvSpPr>
          <p:spPr>
            <a:xfrm>
              <a:off x="8070221" y="5540090"/>
              <a:ext cx="2939558" cy="415498"/>
            </a:xfrm>
            <a:prstGeom prst="rect">
              <a:avLst/>
            </a:prstGeom>
            <a:noFill/>
          </p:spPr>
          <p:txBody>
            <a:bodyPr wrap="square" rtlCol="0">
              <a:spAutoFit/>
            </a:bodyPr>
            <a:lstStyle/>
            <a:p>
              <a:pPr algn="ctr">
                <a:lnSpc>
                  <a:spcPct val="150000"/>
                </a:lnSpc>
              </a:pPr>
              <a:r>
                <a:rPr kumimoji="1" lang="en-US" altLang="ko-KR" sz="1400" spc="-30" dirty="0">
                  <a:ln>
                    <a:solidFill>
                      <a:srgbClr val="7E8080">
                        <a:alpha val="0"/>
                      </a:srgbClr>
                    </a:solidFill>
                  </a:ln>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Venous Injection (Blue)</a:t>
              </a:r>
              <a:endParaRPr kumimoji="1" lang="en-US" altLang="ko-KR" sz="1400" spc="-3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grpSp>
        <p:nvGrpSpPr>
          <p:cNvPr id="53" name="그룹 52">
            <a:extLst>
              <a:ext uri="{FF2B5EF4-FFF2-40B4-BE49-F238E27FC236}">
                <a16:creationId xmlns:a16="http://schemas.microsoft.com/office/drawing/2014/main" id="{2F1A05A6-8D4D-A99A-FADA-5533987FA333}"/>
              </a:ext>
            </a:extLst>
          </p:cNvPr>
          <p:cNvGrpSpPr/>
          <p:nvPr/>
        </p:nvGrpSpPr>
        <p:grpSpPr>
          <a:xfrm>
            <a:off x="9427781" y="1698008"/>
            <a:ext cx="163108" cy="147559"/>
            <a:chOff x="2061642" y="2996194"/>
            <a:chExt cx="369826" cy="334570"/>
          </a:xfrm>
        </p:grpSpPr>
        <p:sp>
          <p:nvSpPr>
            <p:cNvPr id="54"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5"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59" name="그룹 58">
            <a:extLst>
              <a:ext uri="{FF2B5EF4-FFF2-40B4-BE49-F238E27FC236}">
                <a16:creationId xmlns:a16="http://schemas.microsoft.com/office/drawing/2014/main" id="{2F1A05A6-8D4D-A99A-FADA-5533987FA333}"/>
              </a:ext>
            </a:extLst>
          </p:cNvPr>
          <p:cNvGrpSpPr/>
          <p:nvPr/>
        </p:nvGrpSpPr>
        <p:grpSpPr>
          <a:xfrm>
            <a:off x="9427781" y="2400882"/>
            <a:ext cx="163108" cy="147559"/>
            <a:chOff x="2061642" y="2996194"/>
            <a:chExt cx="369826" cy="334570"/>
          </a:xfrm>
        </p:grpSpPr>
        <p:sp>
          <p:nvSpPr>
            <p:cNvPr id="60"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1"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62" name="그룹 61">
            <a:extLst>
              <a:ext uri="{FF2B5EF4-FFF2-40B4-BE49-F238E27FC236}">
                <a16:creationId xmlns:a16="http://schemas.microsoft.com/office/drawing/2014/main" id="{2F1A05A6-8D4D-A99A-FADA-5533987FA333}"/>
              </a:ext>
            </a:extLst>
          </p:cNvPr>
          <p:cNvGrpSpPr/>
          <p:nvPr/>
        </p:nvGrpSpPr>
        <p:grpSpPr>
          <a:xfrm>
            <a:off x="9427781" y="3079535"/>
            <a:ext cx="163108" cy="147559"/>
            <a:chOff x="2061642" y="2996194"/>
            <a:chExt cx="369826" cy="334570"/>
          </a:xfrm>
        </p:grpSpPr>
        <p:sp>
          <p:nvSpPr>
            <p:cNvPr id="63"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4"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65" name="그룹 64">
            <a:extLst>
              <a:ext uri="{FF2B5EF4-FFF2-40B4-BE49-F238E27FC236}">
                <a16:creationId xmlns:a16="http://schemas.microsoft.com/office/drawing/2014/main" id="{2F1A05A6-8D4D-A99A-FADA-5533987FA333}"/>
              </a:ext>
            </a:extLst>
          </p:cNvPr>
          <p:cNvGrpSpPr/>
          <p:nvPr/>
        </p:nvGrpSpPr>
        <p:grpSpPr>
          <a:xfrm>
            <a:off x="9427781" y="3759448"/>
            <a:ext cx="163108" cy="147559"/>
            <a:chOff x="2061642" y="2996194"/>
            <a:chExt cx="369826" cy="334570"/>
          </a:xfrm>
        </p:grpSpPr>
        <p:sp>
          <p:nvSpPr>
            <p:cNvPr id="66"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7"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68" name="그룹 67">
            <a:extLst>
              <a:ext uri="{FF2B5EF4-FFF2-40B4-BE49-F238E27FC236}">
                <a16:creationId xmlns:a16="http://schemas.microsoft.com/office/drawing/2014/main" id="{2F1A05A6-8D4D-A99A-FADA-5533987FA333}"/>
              </a:ext>
            </a:extLst>
          </p:cNvPr>
          <p:cNvGrpSpPr/>
          <p:nvPr/>
        </p:nvGrpSpPr>
        <p:grpSpPr>
          <a:xfrm>
            <a:off x="9427781" y="4637011"/>
            <a:ext cx="163108" cy="147559"/>
            <a:chOff x="2061642" y="2996194"/>
            <a:chExt cx="369826" cy="334570"/>
          </a:xfrm>
        </p:grpSpPr>
        <p:sp>
          <p:nvSpPr>
            <p:cNvPr id="69"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70"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71" name="그룹 70">
            <a:extLst>
              <a:ext uri="{FF2B5EF4-FFF2-40B4-BE49-F238E27FC236}">
                <a16:creationId xmlns:a16="http://schemas.microsoft.com/office/drawing/2014/main" id="{2F1A05A6-8D4D-A99A-FADA-5533987FA333}"/>
              </a:ext>
            </a:extLst>
          </p:cNvPr>
          <p:cNvGrpSpPr/>
          <p:nvPr/>
        </p:nvGrpSpPr>
        <p:grpSpPr>
          <a:xfrm>
            <a:off x="9427781" y="5324986"/>
            <a:ext cx="163108" cy="147559"/>
            <a:chOff x="2061642" y="2996194"/>
            <a:chExt cx="369826" cy="334570"/>
          </a:xfrm>
        </p:grpSpPr>
        <p:sp>
          <p:nvSpPr>
            <p:cNvPr id="72"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73"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283428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4428499"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Hemodialysis Prescription: Dialysis Dose</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sp>
        <p:nvSpPr>
          <p:cNvPr id="12" name="TextBox 11"/>
          <p:cNvSpPr txBox="1"/>
          <p:nvPr/>
        </p:nvSpPr>
        <p:spPr>
          <a:xfrm>
            <a:off x="905608" y="3710256"/>
            <a:ext cx="11402827" cy="1899494"/>
          </a:xfrm>
          <a:prstGeom prst="rect">
            <a:avLst/>
          </a:prstGeom>
          <a:noFill/>
        </p:spPr>
        <p:txBody>
          <a:bodyPr wrap="square">
            <a:spAutoFit/>
          </a:bodyPr>
          <a:lstStyle/>
          <a:p>
            <a:pPr fontAlgn="auto">
              <a:lnSpc>
                <a:spcPct val="150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Indicators of dialysis adequacy </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Indicators of dialysis adequacy are assessed based on the removal of uremic toxins, with creatinine and urea as representative substances. </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However, when evaluating dialysis adequacy, urea is typically used.</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① urea reduction ratio: URR</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② </a:t>
            </a:r>
            <a:r>
              <a:rPr kumimoji="0" lang="en-US" altLang="ko-KR" sz="13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fractional urea clearance: Kt/V</a:t>
            </a:r>
          </a:p>
          <a:p>
            <a:pPr fontAlgn="auto">
              <a:lnSpc>
                <a:spcPct val="150000"/>
              </a:lnSpc>
              <a:spcBef>
                <a:spcPts val="0"/>
              </a:spcBef>
              <a:spcAft>
                <a:spcPts val="0"/>
              </a:spcAft>
              <a:defRPr/>
            </a:pPr>
            <a:r>
              <a:rPr kumimoji="0" lang="en-US" altLang="ko-KR" sz="13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       K represents dialysis efficiency (ml/min), t represents dialysis time (min), V represents urea distribution volume (usually around 60% of body weight).</a:t>
            </a:r>
          </a:p>
        </p:txBody>
      </p:sp>
      <p:sp>
        <p:nvSpPr>
          <p:cNvPr id="7" name="TextBox 6"/>
          <p:cNvSpPr txBox="1"/>
          <p:nvPr/>
        </p:nvSpPr>
        <p:spPr>
          <a:xfrm>
            <a:off x="905608" y="1343983"/>
            <a:ext cx="9592215" cy="1899494"/>
          </a:xfrm>
          <a:prstGeom prst="rect">
            <a:avLst/>
          </a:prstGeom>
          <a:noFill/>
        </p:spPr>
        <p:txBody>
          <a:bodyPr wrap="square">
            <a:spAutoFit/>
          </a:bodyPr>
          <a:lstStyle/>
          <a:p>
            <a:pPr fontAlgn="auto">
              <a:lnSpc>
                <a:spcPct val="150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Factors determining dialysis efficiency</a:t>
            </a:r>
            <a:endPar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endParaRP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1. Dialyzer performance (mainly membrane area): Larger membrane area results in increased dialysis efficiency.</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2 Duration of dialysis: Typically 3-4 hours, but longer durations lead to increased dialysis efficiency.</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3. Blood flow rate: Higher blood flow rates result in increased dialysis efficiency (usually 150-250 ml/min in Japan, 350 ml/min in the United States).</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4. Dialysate flow rate: Higher dialysate flow rates also increase dialysis efficiency (typically 500 ml/min).</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8" name="그룹 7">
            <a:extLst>
              <a:ext uri="{FF2B5EF4-FFF2-40B4-BE49-F238E27FC236}">
                <a16:creationId xmlns:a16="http://schemas.microsoft.com/office/drawing/2014/main" id="{04BBD52A-B00D-B52D-D2BE-7ED77E4B2731}"/>
              </a:ext>
            </a:extLst>
          </p:cNvPr>
          <p:cNvGrpSpPr/>
          <p:nvPr/>
        </p:nvGrpSpPr>
        <p:grpSpPr>
          <a:xfrm>
            <a:off x="671881" y="1445917"/>
            <a:ext cx="233727" cy="233726"/>
            <a:chOff x="2701227" y="-1816305"/>
            <a:chExt cx="7728206" cy="7728208"/>
          </a:xfrm>
        </p:grpSpPr>
        <p:sp>
          <p:nvSpPr>
            <p:cNvPr id="9"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0" name="타원 9">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grpSp>
        <p:nvGrpSpPr>
          <p:cNvPr id="14" name="그룹 13">
            <a:extLst>
              <a:ext uri="{FF2B5EF4-FFF2-40B4-BE49-F238E27FC236}">
                <a16:creationId xmlns:a16="http://schemas.microsoft.com/office/drawing/2014/main" id="{04BBD52A-B00D-B52D-D2BE-7ED77E4B2731}"/>
              </a:ext>
            </a:extLst>
          </p:cNvPr>
          <p:cNvGrpSpPr/>
          <p:nvPr/>
        </p:nvGrpSpPr>
        <p:grpSpPr>
          <a:xfrm>
            <a:off x="671881" y="3815986"/>
            <a:ext cx="233727" cy="233726"/>
            <a:chOff x="2701227" y="-1816305"/>
            <a:chExt cx="7728206" cy="7728208"/>
          </a:xfrm>
        </p:grpSpPr>
        <p:sp>
          <p:nvSpPr>
            <p:cNvPr id="15"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8" name="타원 17">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Tree>
    <p:extLst>
      <p:ext uri="{BB962C8B-B14F-4D97-AF65-F5344CB8AC3E}">
        <p14:creationId xmlns:p14="http://schemas.microsoft.com/office/powerpoint/2010/main" val="2673070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4147626"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Hemodialysis Prescription: Dialysis Dose</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sp>
        <p:nvSpPr>
          <p:cNvPr id="7" name="TextBox 6"/>
          <p:cNvSpPr txBox="1"/>
          <p:nvPr/>
        </p:nvSpPr>
        <p:spPr>
          <a:xfrm>
            <a:off x="921940" y="1326461"/>
            <a:ext cx="11426239" cy="2135200"/>
          </a:xfrm>
          <a:prstGeom prst="rect">
            <a:avLst/>
          </a:prstGeom>
          <a:noFill/>
        </p:spPr>
        <p:txBody>
          <a:bodyPr wrap="square">
            <a:spAutoFit/>
          </a:bodyPr>
          <a:lstStyle/>
          <a:p>
            <a:pPr fontAlgn="auto">
              <a:lnSpc>
                <a:spcPct val="125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Determining Dialysis Dose</a:t>
            </a:r>
            <a:endPar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kumimoji="0" lang="ko-KR"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①</a:t>
            </a: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Amount increased from the Dry weight</a:t>
            </a:r>
            <a:b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br>
            <a:r>
              <a:rPr kumimoji="0"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 Dry weight: </a:t>
            </a:r>
            <a:r>
              <a:rPr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The appropriate weight after excess body water has been removed. </a:t>
            </a:r>
          </a:p>
          <a:p>
            <a:pPr fontAlgn="auto">
              <a:lnSpc>
                <a:spcPct val="150000"/>
              </a:lnSpc>
              <a:spcBef>
                <a:spcPts val="0"/>
              </a:spcBef>
              <a:spcAft>
                <a:spcPts val="0"/>
              </a:spcAft>
              <a:defRPr/>
            </a:pPr>
            <a:r>
              <a:rPr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In each dialysis session, the amount of fluid increased from the dry weight is removed.</a:t>
            </a:r>
          </a:p>
          <a:p>
            <a:pPr fontAlgn="auto">
              <a:lnSpc>
                <a:spcPct val="150000"/>
              </a:lnSpc>
              <a:spcBef>
                <a:spcPts val="0"/>
              </a:spcBef>
              <a:spcAft>
                <a:spcPts val="0"/>
              </a:spcAft>
              <a:defRPr/>
            </a:pPr>
            <a:r>
              <a:rPr kumimoji="0" lang="ko-KR"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②</a:t>
            </a: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kumimoji="0" lang="en-US" altLang="ko-KR" sz="13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No standardized criteria in determining Dry Weight – Trial and error</a:t>
            </a:r>
            <a:endParaRPr kumimoji="0" lang="en-US" altLang="ko-KR" sz="13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kumimoji="0" lang="ko-KR"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③</a:t>
            </a: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In unstable patients, the prescription is determined considering examination findings such as edema, blood pressure, </a:t>
            </a:r>
          </a:p>
          <a:p>
            <a:pPr fontAlgn="auto">
              <a:lnSpc>
                <a:spcPct val="150000"/>
              </a:lnSpc>
              <a:spcBef>
                <a:spcPts val="0"/>
              </a:spcBef>
              <a:spcAft>
                <a:spcPts val="0"/>
              </a:spcAft>
              <a:defRPr/>
            </a:pP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CTR (cardiothoracic ratio), and the diameter of the inferior vena cava.</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8" name="Picture 2"/>
          <p:cNvPicPr>
            <a:picLocks noChangeAspect="1" noChangeArrowheads="1"/>
          </p:cNvPicPr>
          <p:nvPr/>
        </p:nvPicPr>
        <p:blipFill>
          <a:blip r:embed="rId3"/>
          <a:srcRect/>
          <a:stretch>
            <a:fillRect/>
          </a:stretch>
        </p:blipFill>
        <p:spPr bwMode="auto">
          <a:xfrm>
            <a:off x="9975201" y="3889573"/>
            <a:ext cx="1474347" cy="1857388"/>
          </a:xfrm>
          <a:prstGeom prst="rect">
            <a:avLst/>
          </a:prstGeom>
          <a:noFill/>
          <a:ln w="9525">
            <a:noFill/>
            <a:miter lim="800000"/>
            <a:headEnd/>
            <a:tailEnd/>
          </a:ln>
          <a:effectLst/>
        </p:spPr>
      </p:pic>
      <p:grpSp>
        <p:nvGrpSpPr>
          <p:cNvPr id="9" name="그룹 8">
            <a:extLst>
              <a:ext uri="{FF2B5EF4-FFF2-40B4-BE49-F238E27FC236}">
                <a16:creationId xmlns:a16="http://schemas.microsoft.com/office/drawing/2014/main" id="{04BBD52A-B00D-B52D-D2BE-7ED77E4B2731}"/>
              </a:ext>
            </a:extLst>
          </p:cNvPr>
          <p:cNvGrpSpPr/>
          <p:nvPr/>
        </p:nvGrpSpPr>
        <p:grpSpPr>
          <a:xfrm>
            <a:off x="690503" y="1397928"/>
            <a:ext cx="233727" cy="233726"/>
            <a:chOff x="2701227" y="-1816305"/>
            <a:chExt cx="7728206" cy="7728208"/>
          </a:xfrm>
        </p:grpSpPr>
        <p:sp>
          <p:nvSpPr>
            <p:cNvPr id="10"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2" name="타원 11">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3" name="TextBox 12"/>
          <p:cNvSpPr txBox="1"/>
          <p:nvPr/>
        </p:nvSpPr>
        <p:spPr>
          <a:xfrm>
            <a:off x="921940" y="3821923"/>
            <a:ext cx="8893175" cy="2169825"/>
          </a:xfrm>
          <a:prstGeom prst="rect">
            <a:avLst/>
          </a:prstGeom>
          <a:noFill/>
        </p:spPr>
        <p:txBody>
          <a:bodyPr>
            <a:spAutoFit/>
          </a:bodyPr>
          <a:lstStyle/>
          <a:p>
            <a:pPr fontAlgn="auto">
              <a:lnSpc>
                <a:spcPct val="125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Indicators for determining prescription</a:t>
            </a:r>
            <a:endPar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① Clinical findings (such as edema) and blood pressure: crucial for determining dry weight.</a:t>
            </a:r>
          </a:p>
          <a:p>
            <a:pPr fontAlgn="auto">
              <a:lnSpc>
                <a:spcPct val="150000"/>
              </a:lnSpc>
              <a:spcBef>
                <a:spcPts val="0"/>
              </a:spcBef>
              <a:spcAft>
                <a:spcPts val="0"/>
              </a:spcAft>
              <a:defRPr/>
            </a:pP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② </a:t>
            </a: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Ca</a:t>
            </a:r>
            <a:r>
              <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rdiothoracic ration; CTR) = (A+B)/C</a:t>
            </a:r>
            <a:endPar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endParaRPr>
          </a:p>
          <a:p>
            <a:pPr marL="285750" indent="-285750" fontAlgn="auto">
              <a:lnSpc>
                <a:spcPct val="150000"/>
              </a:lnSpc>
              <a:spcBef>
                <a:spcPts val="0"/>
              </a:spcBef>
              <a:spcAft>
                <a:spcPts val="0"/>
              </a:spcAft>
              <a:buFontTx/>
              <a:buChar char="-"/>
              <a:defRPr/>
            </a:pP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Male: Lower than 50%</a:t>
            </a:r>
          </a:p>
          <a:p>
            <a:pPr marL="285750" indent="-285750" fontAlgn="auto">
              <a:lnSpc>
                <a:spcPct val="150000"/>
              </a:lnSpc>
              <a:spcBef>
                <a:spcPts val="0"/>
              </a:spcBef>
              <a:spcAft>
                <a:spcPts val="0"/>
              </a:spcAft>
              <a:buFontTx/>
              <a:buChar char="-"/>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Female: Lower than 55%</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kumimoji="0" lang="ko-KR"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③</a:t>
            </a: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 </a:t>
            </a: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Inferior vena cava diameter: Ultrasound-measured inferior vena cava diameter reflects accurate water volume</a:t>
            </a:r>
            <a:endParaRPr kumimoji="0" lang="en-US" altLang="ko-KR" sz="150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25000"/>
              </a:lnSpc>
              <a:spcBef>
                <a:spcPts val="0"/>
              </a:spcBef>
              <a:spcAft>
                <a:spcPts val="0"/>
              </a:spcAft>
              <a:defRPr/>
            </a:pPr>
            <a:endParaRPr kumimoji="0" lang="en-US" altLang="ko-KR" sz="150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4" name="그룹 13">
            <a:extLst>
              <a:ext uri="{FF2B5EF4-FFF2-40B4-BE49-F238E27FC236}">
                <a16:creationId xmlns:a16="http://schemas.microsoft.com/office/drawing/2014/main" id="{04BBD52A-B00D-B52D-D2BE-7ED77E4B2731}"/>
              </a:ext>
            </a:extLst>
          </p:cNvPr>
          <p:cNvGrpSpPr/>
          <p:nvPr/>
        </p:nvGrpSpPr>
        <p:grpSpPr>
          <a:xfrm>
            <a:off x="690503" y="3889573"/>
            <a:ext cx="233727" cy="233726"/>
            <a:chOff x="2701227" y="-1816305"/>
            <a:chExt cx="7728206" cy="7728208"/>
          </a:xfrm>
        </p:grpSpPr>
        <p:sp>
          <p:nvSpPr>
            <p:cNvPr id="15"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8" name="타원 17">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Tree>
    <p:extLst>
      <p:ext uri="{BB962C8B-B14F-4D97-AF65-F5344CB8AC3E}">
        <p14:creationId xmlns:p14="http://schemas.microsoft.com/office/powerpoint/2010/main" val="496858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Types of </a:t>
            </a:r>
            <a:r>
              <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Vascular Accesses</a:t>
            </a: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pic>
        <p:nvPicPr>
          <p:cNvPr id="10" name="Picture 5"/>
          <p:cNvPicPr>
            <a:picLocks noChangeAspect="1" noChangeArrowheads="1"/>
          </p:cNvPicPr>
          <p:nvPr/>
        </p:nvPicPr>
        <p:blipFill>
          <a:blip r:embed="rId3"/>
          <a:srcRect/>
          <a:stretch>
            <a:fillRect/>
          </a:stretch>
        </p:blipFill>
        <p:spPr bwMode="auto">
          <a:xfrm>
            <a:off x="8021205" y="2041449"/>
            <a:ext cx="2184415" cy="1143008"/>
          </a:xfrm>
          <a:prstGeom prst="rect">
            <a:avLst/>
          </a:prstGeom>
          <a:noFill/>
          <a:ln w="9525">
            <a:noFill/>
            <a:miter lim="800000"/>
            <a:headEnd/>
            <a:tailEnd/>
          </a:ln>
          <a:effectLst/>
        </p:spPr>
      </p:pic>
      <p:graphicFrame>
        <p:nvGraphicFramePr>
          <p:cNvPr id="12" name="표 11"/>
          <p:cNvGraphicFramePr>
            <a:graphicFrameLocks noGrp="1"/>
          </p:cNvGraphicFramePr>
          <p:nvPr>
            <p:extLst>
              <p:ext uri="{D42A27DB-BD31-4B8C-83A1-F6EECF244321}">
                <p14:modId xmlns:p14="http://schemas.microsoft.com/office/powerpoint/2010/main" val="1535812503"/>
              </p:ext>
            </p:extLst>
          </p:nvPr>
        </p:nvGraphicFramePr>
        <p:xfrm>
          <a:off x="1874479" y="1913689"/>
          <a:ext cx="8637342" cy="4000527"/>
        </p:xfrm>
        <a:graphic>
          <a:graphicData uri="http://schemas.openxmlformats.org/drawingml/2006/table">
            <a:tbl>
              <a:tblPr firstRow="1" bandRow="1">
                <a:tableStyleId>{5940675A-B579-460E-94D1-54222C63F5DA}</a:tableStyleId>
              </a:tblPr>
              <a:tblGrid>
                <a:gridCol w="2120076">
                  <a:extLst>
                    <a:ext uri="{9D8B030D-6E8A-4147-A177-3AD203B41FA5}">
                      <a16:colId xmlns:a16="http://schemas.microsoft.com/office/drawing/2014/main" val="20000"/>
                    </a:ext>
                  </a:extLst>
                </a:gridCol>
                <a:gridCol w="3690501">
                  <a:extLst>
                    <a:ext uri="{9D8B030D-6E8A-4147-A177-3AD203B41FA5}">
                      <a16:colId xmlns:a16="http://schemas.microsoft.com/office/drawing/2014/main" val="20001"/>
                    </a:ext>
                  </a:extLst>
                </a:gridCol>
                <a:gridCol w="2826765">
                  <a:extLst>
                    <a:ext uri="{9D8B030D-6E8A-4147-A177-3AD203B41FA5}">
                      <a16:colId xmlns:a16="http://schemas.microsoft.com/office/drawing/2014/main" val="20002"/>
                    </a:ext>
                  </a:extLst>
                </a:gridCol>
              </a:tblGrid>
              <a:tr h="1333509">
                <a:tc>
                  <a:txBody>
                    <a:bodyPr/>
                    <a:lstStyle/>
                    <a:p>
                      <a:pPr algn="ctr" latinLnBrk="1"/>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algn="ctr" latinLnBrk="1"/>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algn="ctr" latinLnBrk="1"/>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r>
                        <a:rPr kumimoji="0" lang="en-US" altLang="ko-KR" sz="1500" b="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Connection between</a:t>
                      </a:r>
                      <a:r>
                        <a:rPr kumimoji="0" lang="en-US" altLang="ko-KR" sz="1500" b="0" baseline="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 an artery and a vein</a:t>
                      </a:r>
                      <a:endParaRPr lang="ko-KR" altLang="en-US" sz="1500" b="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endParaRPr lang="ko-KR" altLang="en-US" sz="1500" b="0" dirty="0">
                        <a:latin typeface="Lato Black" panose="020F0502020204030203" pitchFamily="34" charset="0"/>
                        <a:ea typeface="에스코어 드림 5 Medium" panose="020B0503030302020204" pitchFamily="34" charset="-127"/>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133350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marL="0" marR="0" indent="0" algn="ctr" defTabSz="914400" rtl="0" eaLnBrk="1" fontAlgn="auto" latinLnBrk="1" hangingPunct="1">
                        <a:lnSpc>
                          <a:spcPct val="100000"/>
                        </a:lnSpc>
                        <a:spcBef>
                          <a:spcPts val="0"/>
                        </a:spcBef>
                        <a:spcAft>
                          <a:spcPts val="0"/>
                        </a:spcAft>
                        <a:buClrTx/>
                        <a:buSzTx/>
                        <a:buFontTx/>
                        <a:buNone/>
                        <a:tabLst/>
                        <a:defRPr/>
                      </a:pPr>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marL="0" marR="0" indent="0" algn="ctr" defTabSz="914400" rtl="0" eaLnBrk="1" fontAlgn="auto" latinLnBrk="1" hangingPunct="1">
                        <a:lnSpc>
                          <a:spcPct val="100000"/>
                        </a:lnSpc>
                        <a:spcBef>
                          <a:spcPts val="0"/>
                        </a:spcBef>
                        <a:spcAft>
                          <a:spcPts val="0"/>
                        </a:spcAft>
                        <a:buClrTx/>
                        <a:buSzTx/>
                        <a:buFontTx/>
                        <a:buNone/>
                        <a:tabLst/>
                        <a:defRPr/>
                      </a:pPr>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kumimoji="0" lang="en-US" altLang="ko-KR" sz="1500" b="0" dirty="0">
                          <a:solidFill>
                            <a:srgbClr val="4B4F5A"/>
                          </a:solidFill>
                          <a:latin typeface="Lato Black" panose="020F0502020204030203" pitchFamily="34" charset="0"/>
                          <a:ea typeface="Lato Black" panose="020F0502020204030203" pitchFamily="34" charset="0"/>
                          <a:cs typeface="Lato Black" panose="020F0502020204030203" pitchFamily="34" charset="0"/>
                        </a:rPr>
                        <a:t>Synthetic tube</a:t>
                      </a:r>
                      <a:r>
                        <a:rPr kumimoji="0" lang="en-US" altLang="ko-KR" sz="1500" b="0" baseline="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that connects an artery and a vein </a:t>
                      </a:r>
                      <a:endParaRPr lang="ko-KR" altLang="en-US" sz="1500" b="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endParaRPr lang="ko-KR" altLang="en-US" sz="1500" b="0" dirty="0">
                        <a:latin typeface="Lato Black" panose="020F0502020204030203" pitchFamily="34" charset="0"/>
                        <a:ea typeface="에스코어 드림 5 Medium" panose="020B0503030302020204" pitchFamily="34" charset="-127"/>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1333509">
                <a:tc>
                  <a:txBody>
                    <a:bodyPr/>
                    <a:lstStyle/>
                    <a:p>
                      <a:pPr algn="ctr" fontAlgn="auto">
                        <a:lnSpc>
                          <a:spcPct val="100000"/>
                        </a:lnSpc>
                        <a:spcBef>
                          <a:spcPts val="0"/>
                        </a:spcBef>
                        <a:spcAft>
                          <a:spcPts val="0"/>
                        </a:spcAft>
                        <a:buFontTx/>
                        <a:buNone/>
                        <a:defRPr/>
                      </a:pPr>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algn="ctr" fontAlgn="auto">
                        <a:lnSpc>
                          <a:spcPct val="100000"/>
                        </a:lnSpc>
                        <a:spcBef>
                          <a:spcPts val="0"/>
                        </a:spcBef>
                        <a:spcAft>
                          <a:spcPts val="0"/>
                        </a:spcAft>
                        <a:buFontTx/>
                        <a:buNone/>
                        <a:defRPr/>
                      </a:pPr>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p>
                      <a:pPr algn="ctr" fontAlgn="auto">
                        <a:lnSpc>
                          <a:spcPct val="100000"/>
                        </a:lnSpc>
                        <a:spcBef>
                          <a:spcPts val="0"/>
                        </a:spcBef>
                        <a:spcAft>
                          <a:spcPts val="0"/>
                        </a:spcAft>
                        <a:buFontTx/>
                        <a:buNone/>
                        <a:defRPr/>
                      </a:pPr>
                      <a:endParaRPr kumimoji="0" lang="en-US" altLang="ko-KR" sz="1100" b="0" dirty="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fontAlgn="auto">
                        <a:lnSpc>
                          <a:spcPct val="125000"/>
                        </a:lnSpc>
                        <a:spcBef>
                          <a:spcPts val="0"/>
                        </a:spcBef>
                        <a:spcAft>
                          <a:spcPts val="0"/>
                        </a:spcAft>
                        <a:buFontTx/>
                        <a:buNone/>
                        <a:defRPr/>
                      </a:pPr>
                      <a:r>
                        <a:rPr kumimoji="0" lang="en-US" altLang="ko-KR" sz="1500" b="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Catheter</a:t>
                      </a:r>
                      <a:r>
                        <a:rPr kumimoji="0" lang="en-US" altLang="ko-KR" sz="1500" b="0" baseline="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 placed into the blood vessel in the neck or upper chest</a:t>
                      </a:r>
                      <a:endParaRPr lang="ko-KR" altLang="en-US" sz="1500" b="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latinLnBrk="1"/>
                      <a:endParaRPr lang="ko-KR" altLang="en-US" sz="1500" b="0" dirty="0">
                        <a:latin typeface="Lato Black" panose="020F0502020204030203" pitchFamily="34" charset="0"/>
                        <a:ea typeface="에스코어 드림 5 Medium" panose="020B0503030302020204" pitchFamily="34" charset="-127"/>
                        <a:cs typeface="Lato Black" panose="020F0502020204030203" pitchFamily="34" charset="0"/>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13" name="Picture 6"/>
          <p:cNvPicPr>
            <a:picLocks noChangeAspect="1" noChangeArrowheads="1"/>
          </p:cNvPicPr>
          <p:nvPr/>
        </p:nvPicPr>
        <p:blipFill>
          <a:blip r:embed="rId4"/>
          <a:srcRect/>
          <a:stretch>
            <a:fillRect/>
          </a:stretch>
        </p:blipFill>
        <p:spPr bwMode="auto">
          <a:xfrm>
            <a:off x="7949766" y="3327333"/>
            <a:ext cx="2313839" cy="1214446"/>
          </a:xfrm>
          <a:prstGeom prst="rect">
            <a:avLst/>
          </a:prstGeom>
          <a:noFill/>
          <a:ln w="9525">
            <a:noFill/>
            <a:miter lim="800000"/>
            <a:headEnd/>
            <a:tailEnd/>
          </a:ln>
          <a:effectLst/>
        </p:spPr>
      </p:pic>
      <p:pic>
        <p:nvPicPr>
          <p:cNvPr id="14" name="Picture 7"/>
          <p:cNvPicPr>
            <a:picLocks noChangeAspect="1" noChangeArrowheads="1"/>
          </p:cNvPicPr>
          <p:nvPr/>
        </p:nvPicPr>
        <p:blipFill>
          <a:blip r:embed="rId5"/>
          <a:srcRect/>
          <a:stretch>
            <a:fillRect/>
          </a:stretch>
        </p:blipFill>
        <p:spPr bwMode="auto">
          <a:xfrm>
            <a:off x="7949765" y="4659604"/>
            <a:ext cx="2306756" cy="1175820"/>
          </a:xfrm>
          <a:prstGeom prst="rect">
            <a:avLst/>
          </a:prstGeom>
          <a:noFill/>
          <a:ln w="9525">
            <a:noFill/>
            <a:miter lim="800000"/>
            <a:headEnd/>
            <a:tailEnd/>
          </a:ln>
          <a:effectLst/>
        </p:spPr>
      </p:pic>
      <p:sp>
        <p:nvSpPr>
          <p:cNvPr id="15" name="TextBox 14">
            <a:extLst>
              <a:ext uri="{FF2B5EF4-FFF2-40B4-BE49-F238E27FC236}">
                <a16:creationId xmlns:a16="http://schemas.microsoft.com/office/drawing/2014/main" id="{B8271BDF-AC03-4748-8C05-1D490119D647}"/>
              </a:ext>
            </a:extLst>
          </p:cNvPr>
          <p:cNvSpPr txBox="1"/>
          <p:nvPr/>
        </p:nvSpPr>
        <p:spPr>
          <a:xfrm>
            <a:off x="597392" y="948034"/>
            <a:ext cx="5270008" cy="276999"/>
          </a:xfrm>
          <a:prstGeom prst="rect">
            <a:avLst/>
          </a:prstGeom>
          <a:noFill/>
        </p:spPr>
        <p:txBody>
          <a:bodyPr wrap="square" rtlCol="0">
            <a:spAutoFit/>
          </a:bodyPr>
          <a:lstStyle/>
          <a:p>
            <a:r>
              <a:rPr kumimoji="1" lang="en-US" altLang="ko-KR" sz="1200" spc="-30" dirty="0">
                <a:ln>
                  <a:solidFill>
                    <a:srgbClr val="7E8080">
                      <a:alpha val="0"/>
                    </a:srgbClr>
                  </a:solidFill>
                </a:ln>
                <a:solidFill>
                  <a:srgbClr val="656E7D"/>
                </a:solidFill>
                <a:latin typeface="Lato Black" panose="020F0502020204030203" pitchFamily="34" charset="0"/>
                <a:ea typeface="Lato Black" panose="020F0502020204030203" pitchFamily="34" charset="0"/>
                <a:cs typeface="Lato Black" panose="020F0502020204030203" pitchFamily="34" charset="0"/>
              </a:rPr>
              <a:t>: </a:t>
            </a:r>
            <a:r>
              <a:rPr kumimoji="1" lang="en-US" altLang="ko-KR" sz="1200" spc="-30" dirty="0">
                <a:ln>
                  <a:solidFill>
                    <a:srgbClr val="7E8080">
                      <a:alpha val="0"/>
                    </a:srgbClr>
                  </a:solidFill>
                </a:ln>
                <a:solidFill>
                  <a:srgbClr val="656E7D"/>
                </a:solidFill>
                <a:latin typeface="Lato Black" panose="020F0502020204030203" pitchFamily="34" charset="0"/>
                <a:ea typeface="에스코어 드림 5 Medium" panose="020B0503030302020204" pitchFamily="34" charset="-127"/>
                <a:cs typeface="Lato Black" panose="020F0502020204030203" pitchFamily="34" charset="0"/>
              </a:rPr>
              <a:t>To supply more than 250ml of blood per minute to the hemodialysis machine.</a:t>
            </a:r>
            <a:endParaRPr kumimoji="1" lang="en-US" altLang="ko-KR" sz="1200" spc="-30" dirty="0">
              <a:ln>
                <a:solidFill>
                  <a:srgbClr val="7E8080">
                    <a:alpha val="0"/>
                  </a:srgbClr>
                </a:solidFill>
              </a:ln>
              <a:solidFill>
                <a:srgbClr val="656E7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 name="모서리가 둥근 직사각형 1"/>
          <p:cNvSpPr/>
          <p:nvPr/>
        </p:nvSpPr>
        <p:spPr>
          <a:xfrm>
            <a:off x="2454797" y="2358337"/>
            <a:ext cx="968534" cy="279610"/>
          </a:xfrm>
          <a:prstGeom prst="roundRect">
            <a:avLst>
              <a:gd name="adj" fmla="val 50000"/>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 name="직사각형 2"/>
          <p:cNvSpPr/>
          <p:nvPr/>
        </p:nvSpPr>
        <p:spPr>
          <a:xfrm>
            <a:off x="2440917" y="2355053"/>
            <a:ext cx="1039067" cy="307777"/>
          </a:xfrm>
          <a:prstGeom prst="rect">
            <a:avLst/>
          </a:prstGeom>
        </p:spPr>
        <p:txBody>
          <a:bodyPr wrap="none">
            <a:spAutoFit/>
          </a:bodyPr>
          <a:lstStyle/>
          <a:p>
            <a:pPr algn="ctr"/>
            <a:r>
              <a:rPr lang="en-US" altLang="ko-KR" sz="1400" dirty="0">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AV Fistula</a:t>
            </a:r>
            <a:endParaRPr lang="en-US" altLang="ko-KR" sz="1400"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8" name="모서리가 둥근 직사각형 17"/>
          <p:cNvSpPr/>
          <p:nvPr/>
        </p:nvSpPr>
        <p:spPr>
          <a:xfrm>
            <a:off x="2430496" y="3696904"/>
            <a:ext cx="968534" cy="279610"/>
          </a:xfrm>
          <a:prstGeom prst="roundRect">
            <a:avLst>
              <a:gd name="adj" fmla="val 50000"/>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9" name="직사각형 18"/>
          <p:cNvSpPr/>
          <p:nvPr/>
        </p:nvSpPr>
        <p:spPr>
          <a:xfrm>
            <a:off x="2625807" y="3693620"/>
            <a:ext cx="620684" cy="307777"/>
          </a:xfrm>
          <a:prstGeom prst="rect">
            <a:avLst/>
          </a:prstGeom>
        </p:spPr>
        <p:txBody>
          <a:bodyPr wrap="none">
            <a:spAutoFit/>
          </a:bodyPr>
          <a:lstStyle/>
          <a:p>
            <a:pPr algn="ctr"/>
            <a:r>
              <a:rPr lang="en-US" altLang="ko-KR" sz="1400" dirty="0">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Graft</a:t>
            </a:r>
            <a:endParaRPr lang="en-US" altLang="ko-KR" sz="1400"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0" name="모서리가 둥근 직사각형 19"/>
          <p:cNvSpPr/>
          <p:nvPr/>
        </p:nvSpPr>
        <p:spPr>
          <a:xfrm>
            <a:off x="2454797" y="5032187"/>
            <a:ext cx="968534" cy="279610"/>
          </a:xfrm>
          <a:prstGeom prst="roundRect">
            <a:avLst>
              <a:gd name="adj" fmla="val 50000"/>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1" name="직사각형 20"/>
          <p:cNvSpPr/>
          <p:nvPr/>
        </p:nvSpPr>
        <p:spPr>
          <a:xfrm>
            <a:off x="2501830" y="5028903"/>
            <a:ext cx="917239" cy="307777"/>
          </a:xfrm>
          <a:prstGeom prst="rect">
            <a:avLst/>
          </a:prstGeom>
        </p:spPr>
        <p:txBody>
          <a:bodyPr wrap="none">
            <a:spAutoFit/>
          </a:bodyPr>
          <a:lstStyle/>
          <a:p>
            <a:pPr algn="ctr"/>
            <a:r>
              <a:rPr lang="en-US" altLang="ko-KR" sz="1400" dirty="0">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Catheter</a:t>
            </a:r>
            <a:endParaRPr lang="en-US" altLang="ko-KR" sz="1400"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2315785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B8271BDF-AC03-4748-8C05-1D490119D647}"/>
              </a:ext>
            </a:extLst>
          </p:cNvPr>
          <p:cNvSpPr txBox="1"/>
          <p:nvPr/>
        </p:nvSpPr>
        <p:spPr>
          <a:xfrm>
            <a:off x="569847" y="638381"/>
            <a:ext cx="4577117"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Hypotension during the Hemodialysis</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sp>
        <p:nvSpPr>
          <p:cNvPr id="15" name="TextBox 14"/>
          <p:cNvSpPr txBox="1"/>
          <p:nvPr/>
        </p:nvSpPr>
        <p:spPr>
          <a:xfrm>
            <a:off x="967300" y="2724836"/>
            <a:ext cx="11273370" cy="1892826"/>
          </a:xfrm>
          <a:prstGeom prst="rect">
            <a:avLst/>
          </a:prstGeom>
          <a:noFill/>
        </p:spPr>
        <p:txBody>
          <a:bodyPr wrap="square">
            <a:spAutoFit/>
          </a:bodyPr>
          <a:lstStyle/>
          <a:p>
            <a:pPr marL="285750" indent="-285750" fontAlgn="auto">
              <a:lnSpc>
                <a:spcPct val="150000"/>
              </a:lnSpc>
              <a:spcBef>
                <a:spcPts val="0"/>
              </a:spcBef>
              <a:spcAft>
                <a:spcPts val="0"/>
              </a:spcAft>
              <a:buFont typeface="Arial" panose="020B0604020202020204" pitchFamily="34" charset="0"/>
              <a:buChar char="•"/>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Restricting salt and water intake between dialysis sessions – minimizing weight gain </a:t>
            </a: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 less water to remove </a:t>
            </a:r>
          </a:p>
          <a:p>
            <a:pPr marL="285750" indent="-285750" fontAlgn="auto">
              <a:lnSpc>
                <a:spcPct val="150000"/>
              </a:lnSpc>
              <a:spcBef>
                <a:spcPts val="0"/>
              </a:spcBef>
              <a:spcAft>
                <a:spcPts val="0"/>
              </a:spcAft>
              <a:buFont typeface="Arial" panose="020B0604020202020204" pitchFamily="34" charset="0"/>
              <a:buChar char="•"/>
              <a:defRPr/>
            </a:pP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Extending water removal by extending the duration</a:t>
            </a:r>
          </a:p>
          <a:p>
            <a:pPr marL="285750" indent="-285750" fontAlgn="auto">
              <a:lnSpc>
                <a:spcPct val="150000"/>
              </a:lnSpc>
              <a:spcBef>
                <a:spcPts val="0"/>
              </a:spcBef>
              <a:spcAft>
                <a:spcPts val="0"/>
              </a:spcAft>
              <a:buFont typeface="Arial" panose="020B0604020202020204" pitchFamily="34" charset="0"/>
              <a:buChar char="•"/>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Reviewing whether dry weight is too low</a:t>
            </a:r>
          </a:p>
          <a:p>
            <a:pPr marL="285750" indent="-285750" fontAlgn="auto">
              <a:lnSpc>
                <a:spcPct val="150000"/>
              </a:lnSpc>
              <a:spcBef>
                <a:spcPts val="0"/>
              </a:spcBef>
              <a:spcAft>
                <a:spcPts val="0"/>
              </a:spcAft>
              <a:buFont typeface="Arial" panose="020B0604020202020204" pitchFamily="34" charset="0"/>
              <a:buChar char="•"/>
              <a:defRPr/>
            </a:pP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Discontinuing the antihypertensive medication before dialysis</a:t>
            </a:r>
          </a:p>
          <a:p>
            <a:pPr marL="285750" indent="-285750" fontAlgn="auto">
              <a:lnSpc>
                <a:spcPct val="150000"/>
              </a:lnSpc>
              <a:spcBef>
                <a:spcPts val="0"/>
              </a:spcBef>
              <a:spcAft>
                <a:spcPts val="0"/>
              </a:spcAft>
              <a:buFont typeface="Arial" panose="020B0604020202020204" pitchFamily="34" charset="0"/>
              <a:buChar char="•"/>
              <a:defRPr/>
            </a:pPr>
            <a:r>
              <a:rPr kumimoji="0"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Reducing food intake during the dialysis (Food intake  increased blood flow to the digestive tract  decreased circulation  hypotension</a:t>
            </a:r>
          </a:p>
          <a:p>
            <a:pPr marL="285750" indent="-285750" fontAlgn="auto">
              <a:lnSpc>
                <a:spcPct val="150000"/>
              </a:lnSpc>
              <a:spcBef>
                <a:spcPts val="0"/>
              </a:spcBef>
              <a:spcAft>
                <a:spcPts val="0"/>
              </a:spcAft>
              <a:buFont typeface="Arial" panose="020B0604020202020204" pitchFamily="34" charset="0"/>
              <a:buChar char="•"/>
              <a:defRPr/>
            </a:pP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Prescribing medication</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 name="TextBox 5"/>
          <p:cNvSpPr txBox="1"/>
          <p:nvPr/>
        </p:nvSpPr>
        <p:spPr>
          <a:xfrm>
            <a:off x="921940" y="1288676"/>
            <a:ext cx="9824149" cy="738664"/>
          </a:xfrm>
          <a:prstGeom prst="rect">
            <a:avLst/>
          </a:prstGeom>
          <a:noFill/>
        </p:spPr>
        <p:txBody>
          <a:bodyPr wrap="square">
            <a:spAutoFit/>
          </a:bodyPr>
          <a:lstStyle/>
          <a:p>
            <a:pPr fontAlgn="auto">
              <a:lnSpc>
                <a:spcPct val="150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Cause of Hypotension during the Hemodialysis</a:t>
            </a:r>
            <a:endPar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lang="en-US" altLang="ko-KR" sz="13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Too rapid water removal, excessively low dry weight, preexisting conditions such as diabetes and impaired cardiac function</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7" name="그룹 6">
            <a:extLst>
              <a:ext uri="{FF2B5EF4-FFF2-40B4-BE49-F238E27FC236}">
                <a16:creationId xmlns:a16="http://schemas.microsoft.com/office/drawing/2014/main" id="{04BBD52A-B00D-B52D-D2BE-7ED77E4B2731}"/>
              </a:ext>
            </a:extLst>
          </p:cNvPr>
          <p:cNvGrpSpPr/>
          <p:nvPr/>
        </p:nvGrpSpPr>
        <p:grpSpPr>
          <a:xfrm>
            <a:off x="690503" y="1397928"/>
            <a:ext cx="233727" cy="233726"/>
            <a:chOff x="2701227" y="-1816305"/>
            <a:chExt cx="7728206" cy="7728208"/>
          </a:xfrm>
        </p:grpSpPr>
        <p:sp>
          <p:nvSpPr>
            <p:cNvPr id="8"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9" name="타원 8">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0" name="TextBox 9"/>
          <p:cNvSpPr txBox="1"/>
          <p:nvPr/>
        </p:nvSpPr>
        <p:spPr>
          <a:xfrm>
            <a:off x="921940" y="2345401"/>
            <a:ext cx="9824149" cy="356764"/>
          </a:xfrm>
          <a:prstGeom prst="rect">
            <a:avLst/>
          </a:prstGeom>
          <a:noFill/>
        </p:spPr>
        <p:txBody>
          <a:bodyPr wrap="square">
            <a:spAutoFit/>
          </a:bodyPr>
          <a:lstStyle/>
          <a:p>
            <a:pPr fontAlgn="auto">
              <a:lnSpc>
                <a:spcPct val="125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Prevention of hypotension during the Hemodialysis</a:t>
            </a:r>
            <a:endPar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2" name="그룹 11">
            <a:extLst>
              <a:ext uri="{FF2B5EF4-FFF2-40B4-BE49-F238E27FC236}">
                <a16:creationId xmlns:a16="http://schemas.microsoft.com/office/drawing/2014/main" id="{04BBD52A-B00D-B52D-D2BE-7ED77E4B2731}"/>
              </a:ext>
            </a:extLst>
          </p:cNvPr>
          <p:cNvGrpSpPr/>
          <p:nvPr/>
        </p:nvGrpSpPr>
        <p:grpSpPr>
          <a:xfrm>
            <a:off x="690503" y="2416868"/>
            <a:ext cx="233727" cy="233726"/>
            <a:chOff x="2701227" y="-1816305"/>
            <a:chExt cx="7728206" cy="7728208"/>
          </a:xfrm>
        </p:grpSpPr>
        <p:sp>
          <p:nvSpPr>
            <p:cNvPr id="1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Tree>
    <p:extLst>
      <p:ext uri="{BB962C8B-B14F-4D97-AF65-F5344CB8AC3E}">
        <p14:creationId xmlns:p14="http://schemas.microsoft.com/office/powerpoint/2010/main" val="40511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sp>
        <p:nvSpPr>
          <p:cNvPr id="19" name="TextBox 18">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Dialysis Centers</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5" name="그림 4"/>
          <p:cNvPicPr>
            <a:picLocks noChangeAspect="1"/>
          </p:cNvPicPr>
          <p:nvPr/>
        </p:nvPicPr>
        <p:blipFill rotWithShape="1">
          <a:blip r:embed="rId3">
            <a:extLst>
              <a:ext uri="{28A0092B-C50C-407E-A947-70E740481C1C}">
                <a14:useLocalDpi xmlns:a14="http://schemas.microsoft.com/office/drawing/2010/main" val="0"/>
              </a:ext>
            </a:extLst>
          </a:blip>
          <a:srcRect l="12944"/>
          <a:stretch/>
        </p:blipFill>
        <p:spPr>
          <a:xfrm>
            <a:off x="5161448" y="1499854"/>
            <a:ext cx="6578590" cy="4053132"/>
          </a:xfrm>
          <a:prstGeom prst="rect">
            <a:avLst/>
          </a:prstGeom>
        </p:spPr>
      </p:pic>
      <p:sp>
        <p:nvSpPr>
          <p:cNvPr id="8" name="TextBox 7">
            <a:extLst>
              <a:ext uri="{FF2B5EF4-FFF2-40B4-BE49-F238E27FC236}">
                <a16:creationId xmlns:a16="http://schemas.microsoft.com/office/drawing/2014/main" id="{B8271BDF-AC03-4748-8C05-1D490119D647}"/>
              </a:ext>
            </a:extLst>
          </p:cNvPr>
          <p:cNvSpPr txBox="1"/>
          <p:nvPr/>
        </p:nvSpPr>
        <p:spPr>
          <a:xfrm>
            <a:off x="597391" y="1384955"/>
            <a:ext cx="3611871" cy="129266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3 Sessions / Week</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Nephrology nurse manages dialysis</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Doctors making rounds once in the morning, once in the afternoon</a:t>
            </a:r>
          </a:p>
        </p:txBody>
      </p:sp>
      <p:sp>
        <p:nvSpPr>
          <p:cNvPr id="9" name="TextBox 8">
            <a:extLst>
              <a:ext uri="{FF2B5EF4-FFF2-40B4-BE49-F238E27FC236}">
                <a16:creationId xmlns:a16="http://schemas.microsoft.com/office/drawing/2014/main" id="{B8271BDF-AC03-4748-8C05-1D490119D647}"/>
              </a:ext>
            </a:extLst>
          </p:cNvPr>
          <p:cNvSpPr txBox="1"/>
          <p:nvPr/>
        </p:nvSpPr>
        <p:spPr>
          <a:xfrm>
            <a:off x="597391" y="2894064"/>
            <a:ext cx="4168573" cy="159274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15-25 beds</a:t>
            </a:r>
          </a:p>
          <a:p>
            <a:pPr marL="742950" lvl="1"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Up to 3 patients per bed</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Monday, Wednesday, Friday: Morning, Afternoon, Night sessions</a:t>
            </a:r>
          </a:p>
          <a:p>
            <a:pPr marL="285750" indent="-285750">
              <a:lnSpc>
                <a:spcPct val="150000"/>
              </a:lnSpc>
              <a:buFont typeface="Arial" panose="020B0604020202020204" pitchFamily="34" charset="0"/>
              <a:buChar char="•"/>
            </a:pP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Tuesday and Thursday: Morning sessions</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1345095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Nephrology &amp; Dialysis</a:t>
            </a:r>
            <a:endParaRPr lang="ko-KR" altLang="en-US" sz="2000" dirty="0">
              <a:solidFill>
                <a:srgbClr val="3A3A38"/>
              </a:solidFill>
              <a:latin typeface="Lato Black" panose="020F0502020204030203" pitchFamily="34" charset="0"/>
              <a:ea typeface="에스코어 드림 6 Bold" panose="020B0703030302020204" pitchFamily="34" charset="-127"/>
              <a:cs typeface="Lato Black" panose="020F0502020204030203" pitchFamily="34" charset="0"/>
            </a:endParaRPr>
          </a:p>
        </p:txBody>
      </p:sp>
      <p:sp>
        <p:nvSpPr>
          <p:cNvPr id="8" name="TextBox 7">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Preparing for the Hemodialysis</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9" name="TextBox 8">
            <a:extLst>
              <a:ext uri="{FF2B5EF4-FFF2-40B4-BE49-F238E27FC236}">
                <a16:creationId xmlns:a16="http://schemas.microsoft.com/office/drawing/2014/main" id="{B8271BDF-AC03-4748-8C05-1D490119D647}"/>
              </a:ext>
            </a:extLst>
          </p:cNvPr>
          <p:cNvSpPr txBox="1"/>
          <p:nvPr/>
        </p:nvSpPr>
        <p:spPr>
          <a:xfrm>
            <a:off x="597392" y="1276955"/>
            <a:ext cx="7165864" cy="4093428"/>
          </a:xfrm>
          <a:prstGeom prst="rect">
            <a:avLst/>
          </a:prstGeom>
          <a:noFill/>
        </p:spPr>
        <p:txBody>
          <a:bodyPr wrap="square" rtlCol="0">
            <a:spAutoFit/>
          </a:bodyPr>
          <a:lstStyle/>
          <a:p>
            <a:pPr>
              <a:lnSpc>
                <a:spcPct val="200000"/>
              </a:lnSpc>
            </a:pP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① Pre-dialysis </a:t>
            </a: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Weighing</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a:lnSpc>
                <a:spcPct val="200000"/>
              </a:lnSpc>
            </a:pPr>
            <a:r>
              <a:rPr kumimoji="1" lang="ko-KR"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②</a:t>
            </a: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 Blood Pressure measurement</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a:lnSpc>
                <a:spcPct val="200000"/>
              </a:lnSpc>
            </a:pPr>
            <a:r>
              <a:rPr kumimoji="1" lang="ko-KR"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③</a:t>
            </a: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Inserting vascular access device</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a:lnSpc>
                <a:spcPct val="200000"/>
              </a:lnSpc>
            </a:pPr>
            <a:r>
              <a:rPr kumimoji="1" lang="ko-KR"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④</a:t>
            </a: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 Dialysis Machine set up (Dose, duration, blood flow rate, heparin flow, amount of dialysate, temperature of dialysate, blood pressure, body temperature)</a:t>
            </a:r>
          </a:p>
          <a:p>
            <a:pPr>
              <a:lnSpc>
                <a:spcPct val="200000"/>
              </a:lnSpc>
            </a:pP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⑤ </a:t>
            </a: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Hemodialysis</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a:lnSpc>
                <a:spcPct val="200000"/>
              </a:lnSpc>
            </a:pPr>
            <a:r>
              <a:rPr kumimoji="1" lang="ko-KR"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⑥</a:t>
            </a: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 Completion (Cleaning dialysis machine) </a:t>
            </a:r>
          </a:p>
          <a:p>
            <a:pPr>
              <a:lnSpc>
                <a:spcPct val="200000"/>
              </a:lnSpc>
            </a:pP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⑦ Post-dialysis Weighing</a:t>
            </a:r>
          </a:p>
          <a:p>
            <a:pPr>
              <a:lnSpc>
                <a:spcPct val="200000"/>
              </a:lnSpc>
            </a:pPr>
            <a:r>
              <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⑧ BWA </a:t>
            </a:r>
            <a:r>
              <a:rPr kumimoji="1" lang="en-US" altLang="ko-KR" sz="1300" spc="-3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2.0</a:t>
            </a:r>
            <a:endParaRPr kumimoji="1" lang="en-US" altLang="ko-KR" sz="13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a:lnSpc>
                <a:spcPct val="200000"/>
              </a:lnSpc>
            </a:pPr>
            <a:r>
              <a:rPr kumimoji="1" lang="ko-KR"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⑨</a:t>
            </a:r>
            <a:r>
              <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kumimoji="1" lang="en-US" altLang="ko-KR" sz="1300" spc="-30" dirty="0">
                <a:ln>
                  <a:solidFill>
                    <a:srgbClr val="7E8080">
                      <a:alpha val="0"/>
                    </a:srgbClr>
                  </a:solidFill>
                </a:ln>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Discharge</a:t>
            </a:r>
            <a:endParaRPr kumimoji="1" lang="en-US" altLang="ko-KR" sz="13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10" name="그림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80646" y="2751233"/>
            <a:ext cx="3960000" cy="3960000"/>
          </a:xfrm>
          <a:prstGeom prst="rect">
            <a:avLst/>
          </a:prstGeom>
        </p:spPr>
      </p:pic>
      <p:cxnSp>
        <p:nvCxnSpPr>
          <p:cNvPr id="12" name="직선 화살표 연결선 11"/>
          <p:cNvCxnSpPr/>
          <p:nvPr/>
        </p:nvCxnSpPr>
        <p:spPr>
          <a:xfrm>
            <a:off x="1694142" y="4731233"/>
            <a:ext cx="6220800" cy="0"/>
          </a:xfrm>
          <a:prstGeom prst="straightConnector1">
            <a:avLst/>
          </a:prstGeom>
          <a:ln>
            <a:solidFill>
              <a:srgbClr val="A0112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861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50">
            <a:extLst>
              <a:ext uri="{FF2B5EF4-FFF2-40B4-BE49-F238E27FC236}">
                <a16:creationId xmlns:a16="http://schemas.microsoft.com/office/drawing/2014/main" id="{326D874F-1942-294B-90C5-320A68E69828}"/>
              </a:ext>
            </a:extLst>
          </p:cNvPr>
          <p:cNvSpPr txBox="1">
            <a:spLocks/>
          </p:cNvSpPr>
          <p:nvPr/>
        </p:nvSpPr>
        <p:spPr>
          <a:xfrm>
            <a:off x="4896975" y="2604924"/>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Part</a:t>
            </a:r>
            <a:r>
              <a:rPr lang="ko-KR" altLang="en-US" sz="180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rPr>
              <a:t> </a:t>
            </a: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endParaRPr>
          </a:p>
        </p:txBody>
      </p:sp>
      <p:sp>
        <p:nvSpPr>
          <p:cNvPr id="4" name="텍스트 개체 틀 4">
            <a:extLst>
              <a:ext uri="{FF2B5EF4-FFF2-40B4-BE49-F238E27FC236}">
                <a16:creationId xmlns:a16="http://schemas.microsoft.com/office/drawing/2014/main" id="{467AFA88-CA99-3047-90FB-F4C2473E60C3}"/>
              </a:ext>
            </a:extLst>
          </p:cNvPr>
          <p:cNvSpPr txBox="1">
            <a:spLocks/>
          </p:cNvSpPr>
          <p:nvPr/>
        </p:nvSpPr>
        <p:spPr>
          <a:xfrm>
            <a:off x="2027465" y="3119633"/>
            <a:ext cx="8366215" cy="6059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3400" spc="-15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3400" spc="-15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Tree>
    <p:extLst>
      <p:ext uri="{BB962C8B-B14F-4D97-AF65-F5344CB8AC3E}">
        <p14:creationId xmlns:p14="http://schemas.microsoft.com/office/powerpoint/2010/main" val="3991106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50329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8" name="TextBox 7">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Sales Point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3" name="그림 2"/>
          <p:cNvPicPr>
            <a:picLocks noChangeAspect="1"/>
          </p:cNvPicPr>
          <p:nvPr/>
        </p:nvPicPr>
        <p:blipFill rotWithShape="1">
          <a:blip r:embed="rId3">
            <a:extLst>
              <a:ext uri="{28A0092B-C50C-407E-A947-70E740481C1C}">
                <a14:useLocalDpi xmlns:a14="http://schemas.microsoft.com/office/drawing/2010/main" val="0"/>
              </a:ext>
            </a:extLst>
          </a:blip>
          <a:srcRect r="83086"/>
          <a:stretch/>
        </p:blipFill>
        <p:spPr>
          <a:xfrm>
            <a:off x="580449" y="1421144"/>
            <a:ext cx="1838074" cy="5061028"/>
          </a:xfrm>
          <a:prstGeom prst="rect">
            <a:avLst/>
          </a:prstGeom>
        </p:spPr>
      </p:pic>
      <p:sp>
        <p:nvSpPr>
          <p:cNvPr id="4" name="TextBox 3"/>
          <p:cNvSpPr txBox="1"/>
          <p:nvPr/>
        </p:nvSpPr>
        <p:spPr>
          <a:xfrm>
            <a:off x="2625582" y="1174030"/>
            <a:ext cx="627479" cy="338554"/>
          </a:xfrm>
          <a:prstGeom prst="rect">
            <a:avLst/>
          </a:prstGeom>
          <a:noFill/>
        </p:spPr>
        <p:txBody>
          <a:bodyPr wrap="none" rtlCol="0">
            <a:spAutoFit/>
          </a:bodyPr>
          <a:lstStyle/>
          <a:p>
            <a:r>
              <a:rPr lang="en-US" altLang="ko-KR" sz="1600" u="sng">
                <a:latin typeface="Lato Black" panose="020F0502020204030203" pitchFamily="34" charset="0"/>
                <a:ea typeface="Lato Black" panose="020F0502020204030203" pitchFamily="34" charset="0"/>
                <a:cs typeface="Lato Black" panose="020F0502020204030203" pitchFamily="34" charset="0"/>
              </a:rPr>
              <a:t>Now</a:t>
            </a:r>
            <a:endParaRPr lang="ko-KR" altLang="en-US" sz="1600" u="sng">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47" name="TextBox 46">
            <a:extLst>
              <a:ext uri="{FF2B5EF4-FFF2-40B4-BE49-F238E27FC236}">
                <a16:creationId xmlns:a16="http://schemas.microsoft.com/office/drawing/2014/main" id="{B8271BDF-AC03-4748-8C05-1D490119D647}"/>
              </a:ext>
            </a:extLst>
          </p:cNvPr>
          <p:cNvSpPr txBox="1"/>
          <p:nvPr/>
        </p:nvSpPr>
        <p:spPr>
          <a:xfrm>
            <a:off x="2625582" y="1709679"/>
            <a:ext cx="3697353" cy="1019253"/>
          </a:xfrm>
          <a:prstGeom prst="rect">
            <a:avLst/>
          </a:prstGeom>
          <a:noFill/>
        </p:spPr>
        <p:txBody>
          <a:bodyPr wrap="square" rtlCol="0">
            <a:spAutoFit/>
          </a:bodyPr>
          <a:lstStyle/>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Experience Based</a:t>
            </a:r>
          </a:p>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Pitting Edema, X-ray</a:t>
            </a:r>
          </a:p>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Hard to change DW of a patient</a:t>
            </a:r>
            <a:endParaRPr kumimoji="1" lang="en-US" altLang="ko-KR" sz="14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8" name="TextBox 47"/>
          <p:cNvSpPr txBox="1"/>
          <p:nvPr/>
        </p:nvSpPr>
        <p:spPr>
          <a:xfrm>
            <a:off x="6322935" y="1174030"/>
            <a:ext cx="1281260" cy="338554"/>
          </a:xfrm>
          <a:prstGeom prst="rect">
            <a:avLst/>
          </a:prstGeom>
          <a:noFill/>
        </p:spPr>
        <p:txBody>
          <a:bodyPr wrap="square" rtlCol="0">
            <a:spAutoFit/>
          </a:bodyPr>
          <a:lstStyle/>
          <a:p>
            <a:r>
              <a:rPr lang="en-US" altLang="ko-KR" sz="1600" u="sng">
                <a:solidFill>
                  <a:srgbClr val="A0112D"/>
                </a:solidFill>
                <a:latin typeface="Lato Black" panose="020F0502020204030203" pitchFamily="34" charset="0"/>
                <a:ea typeface="Lato Black" panose="020F0502020204030203" pitchFamily="34" charset="0"/>
                <a:cs typeface="Lato Black" panose="020F0502020204030203" pitchFamily="34" charset="0"/>
              </a:rPr>
              <a:t>After BWA</a:t>
            </a:r>
            <a:endParaRPr lang="ko-KR" altLang="en-US" sz="1600" u="sng">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49" name="TextBox 48">
            <a:extLst>
              <a:ext uri="{FF2B5EF4-FFF2-40B4-BE49-F238E27FC236}">
                <a16:creationId xmlns:a16="http://schemas.microsoft.com/office/drawing/2014/main" id="{B8271BDF-AC03-4748-8C05-1D490119D647}"/>
              </a:ext>
            </a:extLst>
          </p:cNvPr>
          <p:cNvSpPr txBox="1"/>
          <p:nvPr/>
        </p:nvSpPr>
        <p:spPr>
          <a:xfrm>
            <a:off x="6322935" y="1709679"/>
            <a:ext cx="5715346" cy="1019253"/>
          </a:xfrm>
          <a:prstGeom prst="rect">
            <a:avLst/>
          </a:prstGeom>
          <a:noFill/>
        </p:spPr>
        <p:txBody>
          <a:bodyPr wrap="square" rtlCol="0">
            <a:spAutoFit/>
          </a:bodyPr>
          <a:lstStyle/>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Easy result </a:t>
            </a:r>
            <a:r>
              <a:rPr kumimoji="1" lang="en-US" altLang="ko-KR" sz="140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 Dry weight confirmation</a:t>
            </a:r>
          </a:p>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Easy communication </a:t>
            </a:r>
            <a:r>
              <a:rPr kumimoji="1" lang="en-US" altLang="ko-KR" sz="140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 Persuade patients to lower / increase DW</a:t>
            </a:r>
          </a:p>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Easy Mornitoring</a:t>
            </a:r>
            <a:endParaRPr kumimoji="1" lang="en-US" altLang="ko-KR" sz="140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0" name="TextBox 49">
            <a:extLst>
              <a:ext uri="{FF2B5EF4-FFF2-40B4-BE49-F238E27FC236}">
                <a16:creationId xmlns:a16="http://schemas.microsoft.com/office/drawing/2014/main" id="{B8271BDF-AC03-4748-8C05-1D490119D647}"/>
              </a:ext>
            </a:extLst>
          </p:cNvPr>
          <p:cNvSpPr txBox="1"/>
          <p:nvPr/>
        </p:nvSpPr>
        <p:spPr>
          <a:xfrm>
            <a:off x="2625582" y="3327842"/>
            <a:ext cx="3697353" cy="1019253"/>
          </a:xfrm>
          <a:prstGeom prst="rect">
            <a:avLst/>
          </a:prstGeom>
          <a:noFill/>
        </p:spPr>
        <p:txBody>
          <a:bodyPr wrap="square" rtlCol="0">
            <a:spAutoFit/>
          </a:bodyPr>
          <a:lstStyle/>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Many patients, No time</a:t>
            </a:r>
          </a:p>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Trial and Error for problems during dialysis</a:t>
            </a:r>
          </a:p>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Questions from the patients</a:t>
            </a:r>
            <a:endParaRPr kumimoji="1" lang="en-US" altLang="ko-KR" sz="14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1" name="TextBox 50">
            <a:extLst>
              <a:ext uri="{FF2B5EF4-FFF2-40B4-BE49-F238E27FC236}">
                <a16:creationId xmlns:a16="http://schemas.microsoft.com/office/drawing/2014/main" id="{B8271BDF-AC03-4748-8C05-1D490119D647}"/>
              </a:ext>
            </a:extLst>
          </p:cNvPr>
          <p:cNvSpPr txBox="1"/>
          <p:nvPr/>
        </p:nvSpPr>
        <p:spPr>
          <a:xfrm>
            <a:off x="6322935" y="3327842"/>
            <a:ext cx="5715346" cy="1019253"/>
          </a:xfrm>
          <a:prstGeom prst="rect">
            <a:avLst/>
          </a:prstGeom>
          <a:noFill/>
        </p:spPr>
        <p:txBody>
          <a:bodyPr wrap="square" rtlCol="0">
            <a:spAutoFit/>
          </a:bodyPr>
          <a:lstStyle/>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Focus on tricky patients</a:t>
            </a:r>
          </a:p>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Less dialysis Issues</a:t>
            </a:r>
          </a:p>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Distinguish the cause of the issue </a:t>
            </a:r>
            <a:r>
              <a:rPr kumimoji="1" lang="en-US" altLang="ko-KR" sz="100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(Too much dialysis? Heart Issue?)</a:t>
            </a:r>
            <a:endParaRPr kumimoji="1" lang="en-US" altLang="ko-KR" sz="100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2" name="TextBox 51">
            <a:extLst>
              <a:ext uri="{FF2B5EF4-FFF2-40B4-BE49-F238E27FC236}">
                <a16:creationId xmlns:a16="http://schemas.microsoft.com/office/drawing/2014/main" id="{B8271BDF-AC03-4748-8C05-1D490119D647}"/>
              </a:ext>
            </a:extLst>
          </p:cNvPr>
          <p:cNvSpPr txBox="1"/>
          <p:nvPr/>
        </p:nvSpPr>
        <p:spPr>
          <a:xfrm>
            <a:off x="2625582" y="5027102"/>
            <a:ext cx="3697353" cy="1019253"/>
          </a:xfrm>
          <a:prstGeom prst="rect">
            <a:avLst/>
          </a:prstGeom>
          <a:noFill/>
        </p:spPr>
        <p:txBody>
          <a:bodyPr wrap="square" rtlCol="0">
            <a:spAutoFit/>
          </a:bodyPr>
          <a:lstStyle/>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Afraid of weight gain</a:t>
            </a:r>
          </a:p>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Not eating well, lose musle</a:t>
            </a:r>
          </a:p>
          <a:p>
            <a:pPr>
              <a:lnSpc>
                <a:spcPct val="150000"/>
              </a:lnSpc>
            </a:pPr>
            <a:r>
              <a:rPr kumimoji="1" lang="en-US" altLang="ko-KR" sz="1400" spc="-3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Want to know about my status</a:t>
            </a:r>
            <a:endParaRPr kumimoji="1" lang="en-US" altLang="ko-KR" sz="1400" spc="-30" dirty="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3" name="TextBox 52">
            <a:extLst>
              <a:ext uri="{FF2B5EF4-FFF2-40B4-BE49-F238E27FC236}">
                <a16:creationId xmlns:a16="http://schemas.microsoft.com/office/drawing/2014/main" id="{B8271BDF-AC03-4748-8C05-1D490119D647}"/>
              </a:ext>
            </a:extLst>
          </p:cNvPr>
          <p:cNvSpPr txBox="1"/>
          <p:nvPr/>
        </p:nvSpPr>
        <p:spPr>
          <a:xfrm>
            <a:off x="6322935" y="5027102"/>
            <a:ext cx="5715346" cy="1384995"/>
          </a:xfrm>
          <a:prstGeom prst="rect">
            <a:avLst/>
          </a:prstGeom>
          <a:noFill/>
        </p:spPr>
        <p:txBody>
          <a:bodyPr wrap="square" rtlCol="0">
            <a:spAutoFit/>
          </a:bodyPr>
          <a:lstStyle/>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Distinguish real weight gain &amp; fluid accumulation</a:t>
            </a:r>
          </a:p>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See result by themselves</a:t>
            </a:r>
          </a:p>
          <a:p>
            <a:pPr>
              <a:lnSpc>
                <a:spcPct val="150000"/>
              </a:lnSpc>
            </a:pPr>
            <a:r>
              <a:rPr kumimoji="1" lang="en-US" altLang="ko-KR" sz="140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Better understaning and compliance </a:t>
            </a:r>
            <a:r>
              <a:rPr kumimoji="1" lang="en-US" altLang="ko-KR" sz="140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on necessity of fluid intake</a:t>
            </a:r>
          </a:p>
          <a:p>
            <a:pPr>
              <a:lnSpc>
                <a:spcPct val="150000"/>
              </a:lnSpc>
            </a:pPr>
            <a:r>
              <a:rPr kumimoji="1" lang="en-US" altLang="ko-KR" sz="1400">
                <a:ln>
                  <a:solidFill>
                    <a:srgbClr val="7E8080">
                      <a:alpha val="0"/>
                    </a:srgbClr>
                  </a:solidFill>
                </a:ln>
                <a:solidFill>
                  <a:srgbClr val="4B4F5A"/>
                </a:solidFill>
                <a:latin typeface="Lato Black" panose="020F0502020204030203" pitchFamily="34" charset="0"/>
                <a:ea typeface="Lato Black" panose="020F0502020204030203" pitchFamily="34" charset="0"/>
                <a:cs typeface="Lato Black" panose="020F0502020204030203" pitchFamily="34" charset="0"/>
              </a:rPr>
              <a:t>and diet control by taking results to home</a:t>
            </a:r>
          </a:p>
        </p:txBody>
      </p:sp>
    </p:spTree>
    <p:extLst>
      <p:ext uri="{BB962C8B-B14F-4D97-AF65-F5344CB8AC3E}">
        <p14:creationId xmlns:p14="http://schemas.microsoft.com/office/powerpoint/2010/main" val="2209664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8271BDF-AC03-4748-8C05-1D490119D647}"/>
              </a:ext>
            </a:extLst>
          </p:cNvPr>
          <p:cNvSpPr txBox="1"/>
          <p:nvPr/>
        </p:nvSpPr>
        <p:spPr>
          <a:xfrm>
            <a:off x="569847" y="638381"/>
            <a:ext cx="3697353"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Sales Point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cxnSp>
        <p:nvCxnSpPr>
          <p:cNvPr id="11" name="직선 연결선 10">
            <a:extLst>
              <a:ext uri="{FF2B5EF4-FFF2-40B4-BE49-F238E27FC236}">
                <a16:creationId xmlns:a16="http://schemas.microsoft.com/office/drawing/2014/main" id="{E1DAD475-3653-4274-AC92-62B3EDFE7277}"/>
              </a:ext>
            </a:extLst>
          </p:cNvPr>
          <p:cNvCxnSpPr>
            <a:cxnSpLocks/>
          </p:cNvCxnSpPr>
          <p:nvPr/>
        </p:nvCxnSpPr>
        <p:spPr>
          <a:xfrm flipH="1">
            <a:off x="-24811" y="3767607"/>
            <a:ext cx="12216811" cy="0"/>
          </a:xfrm>
          <a:prstGeom prst="line">
            <a:avLst/>
          </a:prstGeom>
          <a:solidFill>
            <a:schemeClr val="bg1"/>
          </a:solidFill>
          <a:ln w="9525">
            <a:solidFill>
              <a:srgbClr val="BDC2CD"/>
            </a:solidFill>
          </a:ln>
        </p:spPr>
        <p:style>
          <a:lnRef idx="2">
            <a:schemeClr val="accent1">
              <a:shade val="50000"/>
            </a:schemeClr>
          </a:lnRef>
          <a:fillRef idx="1">
            <a:schemeClr val="accent1"/>
          </a:fillRef>
          <a:effectRef idx="0">
            <a:schemeClr val="accent1"/>
          </a:effectRef>
          <a:fontRef idx="minor">
            <a:schemeClr val="lt1"/>
          </a:fontRef>
        </p:style>
      </p:cxnSp>
      <p:sp>
        <p:nvSpPr>
          <p:cNvPr id="13" name="타원 12">
            <a:extLst>
              <a:ext uri="{FF2B5EF4-FFF2-40B4-BE49-F238E27FC236}">
                <a16:creationId xmlns:a16="http://schemas.microsoft.com/office/drawing/2014/main" id="{15A63BE9-058C-7065-F2AA-EE44DDD4D352}"/>
              </a:ext>
            </a:extLst>
          </p:cNvPr>
          <p:cNvSpPr/>
          <p:nvPr/>
        </p:nvSpPr>
        <p:spPr>
          <a:xfrm>
            <a:off x="5814148" y="2049391"/>
            <a:ext cx="3308541" cy="3308539"/>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47776D26-4E03-8A57-CBC4-39E5576E1C47}"/>
              </a:ext>
            </a:extLst>
          </p:cNvPr>
          <p:cNvSpPr/>
          <p:nvPr/>
        </p:nvSpPr>
        <p:spPr>
          <a:xfrm>
            <a:off x="413452" y="2049391"/>
            <a:ext cx="3308541" cy="3308539"/>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5" name="타원 14">
            <a:extLst>
              <a:ext uri="{FF2B5EF4-FFF2-40B4-BE49-F238E27FC236}">
                <a16:creationId xmlns:a16="http://schemas.microsoft.com/office/drawing/2014/main" id="{D2520C14-8E3A-D9B5-94D2-1138DF43FD3F}"/>
              </a:ext>
            </a:extLst>
          </p:cNvPr>
          <p:cNvSpPr/>
          <p:nvPr/>
        </p:nvSpPr>
        <p:spPr>
          <a:xfrm>
            <a:off x="3113799" y="2049391"/>
            <a:ext cx="3308541" cy="3308539"/>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6" name="TextBox 15">
            <a:extLst>
              <a:ext uri="{FF2B5EF4-FFF2-40B4-BE49-F238E27FC236}">
                <a16:creationId xmlns:a16="http://schemas.microsoft.com/office/drawing/2014/main" id="{F696BDF8-7089-D342-980F-AE5F952A04B1}"/>
              </a:ext>
            </a:extLst>
          </p:cNvPr>
          <p:cNvSpPr txBox="1"/>
          <p:nvPr/>
        </p:nvSpPr>
        <p:spPr>
          <a:xfrm>
            <a:off x="3366094" y="4041963"/>
            <a:ext cx="2832810" cy="765273"/>
          </a:xfrm>
          <a:prstGeom prst="rect">
            <a:avLst/>
          </a:prstGeom>
          <a:noFill/>
        </p:spPr>
        <p:txBody>
          <a:bodyPr wrap="square" tIns="0" bIns="0" anchor="ctr" anchorCtr="0">
            <a:noAutofit/>
          </a:bodyPr>
          <a:lstStyle/>
          <a:p>
            <a:pPr algn="ctr">
              <a:spcBef>
                <a:spcPts val="500"/>
              </a:spcBef>
            </a:pPr>
            <a:r>
              <a:rPr kumimoji="1" lang="en-US" altLang="ko-KR" sz="14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Segmental</a:t>
            </a:r>
          </a:p>
          <a:p>
            <a:pPr algn="ctr">
              <a:spcBef>
                <a:spcPts val="500"/>
              </a:spcBef>
            </a:pPr>
            <a:r>
              <a:rPr kumimoji="1" lang="en-US" altLang="ko-KR" sz="14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ECW Ratio Analysis</a:t>
            </a:r>
          </a:p>
        </p:txBody>
      </p:sp>
      <p:sp>
        <p:nvSpPr>
          <p:cNvPr id="17" name="TextBox 16">
            <a:extLst>
              <a:ext uri="{FF2B5EF4-FFF2-40B4-BE49-F238E27FC236}">
                <a16:creationId xmlns:a16="http://schemas.microsoft.com/office/drawing/2014/main" id="{6E99B4DC-D034-7ECA-B8BA-1514CEA01A7B}"/>
              </a:ext>
            </a:extLst>
          </p:cNvPr>
          <p:cNvSpPr txBox="1"/>
          <p:nvPr/>
        </p:nvSpPr>
        <p:spPr>
          <a:xfrm>
            <a:off x="586605" y="4012610"/>
            <a:ext cx="2832810" cy="7824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0" rIns="35718" bIns="0" numCol="1" spcCol="38100" rtlCol="0" anchor="ctr" anchorCtr="0">
            <a:noAutofit/>
          </a:bodyPr>
          <a:lstStyle/>
          <a:p>
            <a:pPr algn="ctr">
              <a:spcBef>
                <a:spcPts val="500"/>
              </a:spcBef>
            </a:pPr>
            <a:r>
              <a:rPr kumimoji="1" lang="en-US" altLang="ko-KR" sz="14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Water control</a:t>
            </a:r>
          </a:p>
          <a:p>
            <a:pPr algn="ctr">
              <a:spcBef>
                <a:spcPts val="500"/>
              </a:spcBef>
            </a:pPr>
            <a:r>
              <a:rPr kumimoji="1" lang="en-US" altLang="ko-KR" sz="14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ECW Ratio Analysis</a:t>
            </a:r>
            <a:endParaRPr kumimoji="1" lang="ko-KR" altLang="en-US" sz="1400" dirty="0">
              <a:ln>
                <a:solidFill>
                  <a:srgbClr val="7E8080">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8" name="TextBox 17">
            <a:extLst>
              <a:ext uri="{FF2B5EF4-FFF2-40B4-BE49-F238E27FC236}">
                <a16:creationId xmlns:a16="http://schemas.microsoft.com/office/drawing/2014/main" id="{2C26F5FB-CC52-4F70-082B-9A66B899B8E5}"/>
              </a:ext>
            </a:extLst>
          </p:cNvPr>
          <p:cNvSpPr txBox="1"/>
          <p:nvPr/>
        </p:nvSpPr>
        <p:spPr>
          <a:xfrm>
            <a:off x="6004065" y="4033393"/>
            <a:ext cx="2832810" cy="7824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0" rIns="35718" bIns="0" numCol="1" spcCol="38100" rtlCol="0" anchor="ctr" anchorCtr="0">
            <a:noAutofit/>
          </a:bodyPr>
          <a:lstStyle/>
          <a:p>
            <a:pPr algn="ctr">
              <a:spcBef>
                <a:spcPts val="500"/>
              </a:spcBef>
            </a:pPr>
            <a:r>
              <a:rPr kumimoji="1" lang="en-US" altLang="ko-KR" sz="14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SMI</a:t>
            </a:r>
          </a:p>
          <a:p>
            <a:pPr algn="ctr">
              <a:spcBef>
                <a:spcPts val="500"/>
              </a:spcBef>
            </a:pPr>
            <a:r>
              <a:rPr kumimoji="1" lang="en-US" altLang="ko-KR" sz="12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(Skeletal Muscle mass Index)</a:t>
            </a:r>
            <a:endParaRPr kumimoji="1" lang="ko-KR" altLang="en-US" sz="1200" dirty="0">
              <a:ln>
                <a:solidFill>
                  <a:srgbClr val="7E8080">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9" name="TextBox 18">
            <a:extLst>
              <a:ext uri="{FF2B5EF4-FFF2-40B4-BE49-F238E27FC236}">
                <a16:creationId xmlns:a16="http://schemas.microsoft.com/office/drawing/2014/main" id="{1DDCEF2C-6690-EB8D-6B73-067FF895950A}"/>
              </a:ext>
            </a:extLst>
          </p:cNvPr>
          <p:cNvSpPr txBox="1"/>
          <p:nvPr/>
        </p:nvSpPr>
        <p:spPr bwMode="auto">
          <a:xfrm>
            <a:off x="938449" y="2958352"/>
            <a:ext cx="2248310" cy="430887"/>
          </a:xfrm>
          <a:prstGeom prst="rect">
            <a:avLst/>
          </a:prstGeom>
          <a:noFill/>
        </p:spPr>
        <p:txBody>
          <a:bodyPr wrap="square" anchor="ctr">
            <a:spAutoFit/>
          </a:bodyPr>
          <a:lstStyle/>
          <a:p>
            <a:pPr algn="ctr"/>
            <a:r>
              <a:rPr kumimoji="1" lang="en-US" altLang="ko-KR" sz="22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Dry Weight</a:t>
            </a:r>
            <a:endParaRPr kumimoji="1" lang="en-US" altLang="ko-KR" sz="220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0" name="TextBox 19">
            <a:extLst>
              <a:ext uri="{FF2B5EF4-FFF2-40B4-BE49-F238E27FC236}">
                <a16:creationId xmlns:a16="http://schemas.microsoft.com/office/drawing/2014/main" id="{1F9F103C-4B17-818A-9929-F7654C03391A}"/>
              </a:ext>
            </a:extLst>
          </p:cNvPr>
          <p:cNvSpPr txBox="1"/>
          <p:nvPr/>
        </p:nvSpPr>
        <p:spPr bwMode="auto">
          <a:xfrm>
            <a:off x="6261305" y="2789075"/>
            <a:ext cx="2483710" cy="769441"/>
          </a:xfrm>
          <a:prstGeom prst="rect">
            <a:avLst/>
          </a:prstGeom>
          <a:noFill/>
        </p:spPr>
        <p:txBody>
          <a:bodyPr wrap="square" anchor="ctr">
            <a:spAutoFit/>
          </a:bodyPr>
          <a:lstStyle/>
          <a:p>
            <a:pPr algn="ctr"/>
            <a:r>
              <a:rPr kumimoji="1" lang="en-US" altLang="ko-KR" sz="22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Nutrition Status</a:t>
            </a:r>
          </a:p>
          <a:p>
            <a:pPr algn="ctr"/>
            <a:r>
              <a:rPr kumimoji="1" lang="en-US" altLang="ko-KR" sz="22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&amp; PEW Check</a:t>
            </a:r>
            <a:endParaRPr kumimoji="1" lang="en-US" altLang="ko-KR" sz="220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1" name="TextBox 20">
            <a:extLst>
              <a:ext uri="{FF2B5EF4-FFF2-40B4-BE49-F238E27FC236}">
                <a16:creationId xmlns:a16="http://schemas.microsoft.com/office/drawing/2014/main" id="{97B5CA85-FFD1-5F28-9A84-FE9E80DC52DC}"/>
              </a:ext>
            </a:extLst>
          </p:cNvPr>
          <p:cNvSpPr txBox="1"/>
          <p:nvPr/>
        </p:nvSpPr>
        <p:spPr bwMode="auto">
          <a:xfrm>
            <a:off x="3806021" y="2777583"/>
            <a:ext cx="1823528" cy="792423"/>
          </a:xfrm>
          <a:prstGeom prst="rect">
            <a:avLst/>
          </a:prstGeom>
          <a:noFill/>
        </p:spPr>
        <p:txBody>
          <a:bodyPr wrap="square" anchor="ctr">
            <a:spAutoFit/>
          </a:bodyPr>
          <a:lstStyle/>
          <a:p>
            <a:pPr algn="ctr"/>
            <a:r>
              <a:rPr kumimoji="1" lang="en-US" altLang="ko-KR" sz="22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 Circulation</a:t>
            </a:r>
          </a:p>
          <a:p>
            <a:pPr algn="ctr"/>
            <a:r>
              <a:rPr kumimoji="1" lang="en-US" altLang="ko-KR" sz="22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Check</a:t>
            </a:r>
            <a:endParaRPr kumimoji="1" lang="en-US" altLang="ko-KR" sz="220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2" name="자유형: 도형 38">
            <a:extLst>
              <a:ext uri="{FF2B5EF4-FFF2-40B4-BE49-F238E27FC236}">
                <a16:creationId xmlns:a16="http://schemas.microsoft.com/office/drawing/2014/main" id="{83B38BD4-A8E6-EA5A-F8DC-DDA9BFEBB6AB}"/>
              </a:ext>
            </a:extLst>
          </p:cNvPr>
          <p:cNvSpPr/>
          <p:nvPr/>
        </p:nvSpPr>
        <p:spPr>
          <a:xfrm>
            <a:off x="3113799" y="2749892"/>
            <a:ext cx="608194" cy="1907535"/>
          </a:xfrm>
          <a:custGeom>
            <a:avLst/>
            <a:gdLst>
              <a:gd name="connsiteX0" fmla="*/ 313103 w 626206"/>
              <a:gd name="connsiteY0" fmla="*/ 0 h 1964029"/>
              <a:gd name="connsiteX1" fmla="*/ 335316 w 626206"/>
              <a:gd name="connsiteY1" fmla="*/ 29704 h 1964029"/>
              <a:gd name="connsiteX2" fmla="*/ 626206 w 626206"/>
              <a:gd name="connsiteY2" fmla="*/ 982014 h 1964029"/>
              <a:gd name="connsiteX3" fmla="*/ 335316 w 626206"/>
              <a:gd name="connsiteY3" fmla="*/ 1934325 h 1964029"/>
              <a:gd name="connsiteX4" fmla="*/ 313103 w 626206"/>
              <a:gd name="connsiteY4" fmla="*/ 1964029 h 1964029"/>
              <a:gd name="connsiteX5" fmla="*/ 290891 w 626206"/>
              <a:gd name="connsiteY5" fmla="*/ 1934325 h 1964029"/>
              <a:gd name="connsiteX6" fmla="*/ 0 w 626206"/>
              <a:gd name="connsiteY6" fmla="*/ 982014 h 1964029"/>
              <a:gd name="connsiteX7" fmla="*/ 290891 w 626206"/>
              <a:gd name="connsiteY7" fmla="*/ 29704 h 19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06" h="1964029">
                <a:moveTo>
                  <a:pt x="313103" y="0"/>
                </a:moveTo>
                <a:lnTo>
                  <a:pt x="335316" y="29704"/>
                </a:lnTo>
                <a:cubicBezTo>
                  <a:pt x="518969" y="301546"/>
                  <a:pt x="626206" y="629257"/>
                  <a:pt x="626206" y="982014"/>
                </a:cubicBezTo>
                <a:cubicBezTo>
                  <a:pt x="626206" y="1334772"/>
                  <a:pt x="518969" y="1662482"/>
                  <a:pt x="335316" y="1934325"/>
                </a:cubicBezTo>
                <a:lnTo>
                  <a:pt x="313103" y="1964029"/>
                </a:lnTo>
                <a:lnTo>
                  <a:pt x="290891" y="1934325"/>
                </a:lnTo>
                <a:cubicBezTo>
                  <a:pt x="107238" y="1662482"/>
                  <a:pt x="0" y="1334772"/>
                  <a:pt x="0" y="982014"/>
                </a:cubicBezTo>
                <a:cubicBezTo>
                  <a:pt x="0" y="629257"/>
                  <a:pt x="107238" y="301546"/>
                  <a:pt x="290891" y="29704"/>
                </a:cubicBezTo>
                <a:close/>
              </a:path>
            </a:pathLst>
          </a:custGeom>
          <a:solidFill>
            <a:srgbClr val="484F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3" name="자유형: 도형 39">
            <a:extLst>
              <a:ext uri="{FF2B5EF4-FFF2-40B4-BE49-F238E27FC236}">
                <a16:creationId xmlns:a16="http://schemas.microsoft.com/office/drawing/2014/main" id="{DCDA43B1-2364-3120-384C-77A641BB0474}"/>
              </a:ext>
            </a:extLst>
          </p:cNvPr>
          <p:cNvSpPr/>
          <p:nvPr/>
        </p:nvSpPr>
        <p:spPr>
          <a:xfrm>
            <a:off x="5814148" y="2749892"/>
            <a:ext cx="608194" cy="1907535"/>
          </a:xfrm>
          <a:custGeom>
            <a:avLst/>
            <a:gdLst>
              <a:gd name="connsiteX0" fmla="*/ 313103 w 626206"/>
              <a:gd name="connsiteY0" fmla="*/ 0 h 1964029"/>
              <a:gd name="connsiteX1" fmla="*/ 335316 w 626206"/>
              <a:gd name="connsiteY1" fmla="*/ 29704 h 1964029"/>
              <a:gd name="connsiteX2" fmla="*/ 626206 w 626206"/>
              <a:gd name="connsiteY2" fmla="*/ 982014 h 1964029"/>
              <a:gd name="connsiteX3" fmla="*/ 335316 w 626206"/>
              <a:gd name="connsiteY3" fmla="*/ 1934325 h 1964029"/>
              <a:gd name="connsiteX4" fmla="*/ 313103 w 626206"/>
              <a:gd name="connsiteY4" fmla="*/ 1964029 h 1964029"/>
              <a:gd name="connsiteX5" fmla="*/ 290891 w 626206"/>
              <a:gd name="connsiteY5" fmla="*/ 1934325 h 1964029"/>
              <a:gd name="connsiteX6" fmla="*/ 0 w 626206"/>
              <a:gd name="connsiteY6" fmla="*/ 982014 h 1964029"/>
              <a:gd name="connsiteX7" fmla="*/ 290891 w 626206"/>
              <a:gd name="connsiteY7" fmla="*/ 29704 h 19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06" h="1964029">
                <a:moveTo>
                  <a:pt x="313103" y="0"/>
                </a:moveTo>
                <a:lnTo>
                  <a:pt x="335316" y="29704"/>
                </a:lnTo>
                <a:cubicBezTo>
                  <a:pt x="518969" y="301546"/>
                  <a:pt x="626206" y="629257"/>
                  <a:pt x="626206" y="982014"/>
                </a:cubicBezTo>
                <a:cubicBezTo>
                  <a:pt x="626206" y="1334772"/>
                  <a:pt x="518969" y="1662482"/>
                  <a:pt x="335316" y="1934325"/>
                </a:cubicBezTo>
                <a:lnTo>
                  <a:pt x="313103" y="1964029"/>
                </a:lnTo>
                <a:lnTo>
                  <a:pt x="290891" y="1934325"/>
                </a:lnTo>
                <a:cubicBezTo>
                  <a:pt x="107238" y="1662482"/>
                  <a:pt x="0" y="1334772"/>
                  <a:pt x="0" y="982014"/>
                </a:cubicBezTo>
                <a:cubicBezTo>
                  <a:pt x="0" y="629257"/>
                  <a:pt x="107238" y="301546"/>
                  <a:pt x="290891" y="29704"/>
                </a:cubicBezTo>
                <a:close/>
              </a:path>
            </a:pathLst>
          </a:custGeom>
          <a:solidFill>
            <a:srgbClr val="484F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4" name="타원 23">
            <a:extLst>
              <a:ext uri="{FF2B5EF4-FFF2-40B4-BE49-F238E27FC236}">
                <a16:creationId xmlns:a16="http://schemas.microsoft.com/office/drawing/2014/main" id="{15A63BE9-058C-7065-F2AA-EE44DDD4D352}"/>
              </a:ext>
            </a:extLst>
          </p:cNvPr>
          <p:cNvSpPr/>
          <p:nvPr/>
        </p:nvSpPr>
        <p:spPr>
          <a:xfrm>
            <a:off x="8514496" y="2049391"/>
            <a:ext cx="3308541" cy="3308539"/>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5" name="TextBox 24">
            <a:extLst>
              <a:ext uri="{FF2B5EF4-FFF2-40B4-BE49-F238E27FC236}">
                <a16:creationId xmlns:a16="http://schemas.microsoft.com/office/drawing/2014/main" id="{F696BDF8-7089-D342-980F-AE5F952A04B1}"/>
              </a:ext>
            </a:extLst>
          </p:cNvPr>
          <p:cNvSpPr txBox="1"/>
          <p:nvPr/>
        </p:nvSpPr>
        <p:spPr>
          <a:xfrm>
            <a:off x="8817073" y="4041963"/>
            <a:ext cx="2832810" cy="765273"/>
          </a:xfrm>
          <a:prstGeom prst="rect">
            <a:avLst/>
          </a:prstGeom>
          <a:noFill/>
        </p:spPr>
        <p:txBody>
          <a:bodyPr wrap="square" tIns="0" bIns="0" anchor="ctr" anchorCtr="0">
            <a:noAutofit/>
          </a:bodyPr>
          <a:lstStyle/>
          <a:p>
            <a:pPr algn="ctr">
              <a:spcBef>
                <a:spcPts val="500"/>
              </a:spcBef>
            </a:pPr>
            <a:r>
              <a:rPr kumimoji="1" lang="en-US" altLang="ko-KR" sz="140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Phase Angle</a:t>
            </a:r>
          </a:p>
        </p:txBody>
      </p:sp>
      <p:sp>
        <p:nvSpPr>
          <p:cNvPr id="26" name="TextBox 25">
            <a:extLst>
              <a:ext uri="{FF2B5EF4-FFF2-40B4-BE49-F238E27FC236}">
                <a16:creationId xmlns:a16="http://schemas.microsoft.com/office/drawing/2014/main" id="{97B5CA85-FFD1-5F28-9A84-FE9E80DC52DC}"/>
              </a:ext>
            </a:extLst>
          </p:cNvPr>
          <p:cNvSpPr txBox="1"/>
          <p:nvPr/>
        </p:nvSpPr>
        <p:spPr bwMode="auto">
          <a:xfrm>
            <a:off x="8972325" y="2958351"/>
            <a:ext cx="2392883" cy="430887"/>
          </a:xfrm>
          <a:prstGeom prst="rect">
            <a:avLst/>
          </a:prstGeom>
          <a:noFill/>
        </p:spPr>
        <p:txBody>
          <a:bodyPr wrap="square" anchor="ctr">
            <a:spAutoFit/>
          </a:bodyPr>
          <a:lstStyle/>
          <a:p>
            <a:pPr algn="ctr"/>
            <a:r>
              <a:rPr kumimoji="1" lang="en-US" altLang="ko-KR" sz="2200" b="1" spc="-15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2200" b="1" spc="-150" dirty="0">
              <a:ln>
                <a:solidFill>
                  <a:srgbClr val="7E8080">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7" name="자유형: 도형 39">
            <a:extLst>
              <a:ext uri="{FF2B5EF4-FFF2-40B4-BE49-F238E27FC236}">
                <a16:creationId xmlns:a16="http://schemas.microsoft.com/office/drawing/2014/main" id="{DCDA43B1-2364-3120-384C-77A641BB0474}"/>
              </a:ext>
            </a:extLst>
          </p:cNvPr>
          <p:cNvSpPr/>
          <p:nvPr/>
        </p:nvSpPr>
        <p:spPr>
          <a:xfrm>
            <a:off x="8514496" y="2749892"/>
            <a:ext cx="608194" cy="1907535"/>
          </a:xfrm>
          <a:custGeom>
            <a:avLst/>
            <a:gdLst>
              <a:gd name="connsiteX0" fmla="*/ 313103 w 626206"/>
              <a:gd name="connsiteY0" fmla="*/ 0 h 1964029"/>
              <a:gd name="connsiteX1" fmla="*/ 335316 w 626206"/>
              <a:gd name="connsiteY1" fmla="*/ 29704 h 1964029"/>
              <a:gd name="connsiteX2" fmla="*/ 626206 w 626206"/>
              <a:gd name="connsiteY2" fmla="*/ 982014 h 1964029"/>
              <a:gd name="connsiteX3" fmla="*/ 335316 w 626206"/>
              <a:gd name="connsiteY3" fmla="*/ 1934325 h 1964029"/>
              <a:gd name="connsiteX4" fmla="*/ 313103 w 626206"/>
              <a:gd name="connsiteY4" fmla="*/ 1964029 h 1964029"/>
              <a:gd name="connsiteX5" fmla="*/ 290891 w 626206"/>
              <a:gd name="connsiteY5" fmla="*/ 1934325 h 1964029"/>
              <a:gd name="connsiteX6" fmla="*/ 0 w 626206"/>
              <a:gd name="connsiteY6" fmla="*/ 982014 h 1964029"/>
              <a:gd name="connsiteX7" fmla="*/ 290891 w 626206"/>
              <a:gd name="connsiteY7" fmla="*/ 29704 h 19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06" h="1964029">
                <a:moveTo>
                  <a:pt x="313103" y="0"/>
                </a:moveTo>
                <a:lnTo>
                  <a:pt x="335316" y="29704"/>
                </a:lnTo>
                <a:cubicBezTo>
                  <a:pt x="518969" y="301546"/>
                  <a:pt x="626206" y="629257"/>
                  <a:pt x="626206" y="982014"/>
                </a:cubicBezTo>
                <a:cubicBezTo>
                  <a:pt x="626206" y="1334772"/>
                  <a:pt x="518969" y="1662482"/>
                  <a:pt x="335316" y="1934325"/>
                </a:cubicBezTo>
                <a:lnTo>
                  <a:pt x="313103" y="1964029"/>
                </a:lnTo>
                <a:lnTo>
                  <a:pt x="290891" y="1934325"/>
                </a:lnTo>
                <a:cubicBezTo>
                  <a:pt x="107238" y="1662482"/>
                  <a:pt x="0" y="1334772"/>
                  <a:pt x="0" y="982014"/>
                </a:cubicBezTo>
                <a:cubicBezTo>
                  <a:pt x="0" y="629257"/>
                  <a:pt x="107238" y="301546"/>
                  <a:pt x="290891" y="29704"/>
                </a:cubicBezTo>
                <a:close/>
              </a:path>
            </a:pathLst>
          </a:custGeom>
          <a:solidFill>
            <a:srgbClr val="484F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8" name="사각형: 둥근 모서리 166">
            <a:extLst>
              <a:ext uri="{FF2B5EF4-FFF2-40B4-BE49-F238E27FC236}">
                <a16:creationId xmlns:a16="http://schemas.microsoft.com/office/drawing/2014/main" id="{4EDEA093-D6D2-98F7-AE94-60FAC29EFB6C}"/>
              </a:ext>
            </a:extLst>
          </p:cNvPr>
          <p:cNvSpPr/>
          <p:nvPr/>
        </p:nvSpPr>
        <p:spPr bwMode="auto">
          <a:xfrm>
            <a:off x="1790089" y="2373762"/>
            <a:ext cx="456858" cy="244179"/>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9" name="사각형: 둥근 모서리 166">
            <a:extLst>
              <a:ext uri="{FF2B5EF4-FFF2-40B4-BE49-F238E27FC236}">
                <a16:creationId xmlns:a16="http://schemas.microsoft.com/office/drawing/2014/main" id="{4EDEA093-D6D2-98F7-AE94-60FAC29EFB6C}"/>
              </a:ext>
            </a:extLst>
          </p:cNvPr>
          <p:cNvSpPr/>
          <p:nvPr/>
        </p:nvSpPr>
        <p:spPr bwMode="auto">
          <a:xfrm>
            <a:off x="4513700" y="2373762"/>
            <a:ext cx="456858" cy="244179"/>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0" name="사각형: 둥근 모서리 166">
            <a:extLst>
              <a:ext uri="{FF2B5EF4-FFF2-40B4-BE49-F238E27FC236}">
                <a16:creationId xmlns:a16="http://schemas.microsoft.com/office/drawing/2014/main" id="{4EDEA093-D6D2-98F7-AE94-60FAC29EFB6C}"/>
              </a:ext>
            </a:extLst>
          </p:cNvPr>
          <p:cNvSpPr/>
          <p:nvPr/>
        </p:nvSpPr>
        <p:spPr bwMode="auto">
          <a:xfrm>
            <a:off x="7190784" y="2373762"/>
            <a:ext cx="456858" cy="244179"/>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1" name="사각형: 둥근 모서리 166">
            <a:extLst>
              <a:ext uri="{FF2B5EF4-FFF2-40B4-BE49-F238E27FC236}">
                <a16:creationId xmlns:a16="http://schemas.microsoft.com/office/drawing/2014/main" id="{4EDEA093-D6D2-98F7-AE94-60FAC29EFB6C}"/>
              </a:ext>
            </a:extLst>
          </p:cNvPr>
          <p:cNvSpPr/>
          <p:nvPr/>
        </p:nvSpPr>
        <p:spPr bwMode="auto">
          <a:xfrm>
            <a:off x="9887016" y="2373762"/>
            <a:ext cx="456858" cy="244179"/>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2" name="TextBox 3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3" name="TextBox 32">
            <a:extLst>
              <a:ext uri="{FF2B5EF4-FFF2-40B4-BE49-F238E27FC236}">
                <a16:creationId xmlns:a16="http://schemas.microsoft.com/office/drawing/2014/main" id="{24C31E62-CE78-8243-AB22-9D4C1B89F17B}"/>
              </a:ext>
            </a:extLst>
          </p:cNvPr>
          <p:cNvSpPr txBox="1"/>
          <p:nvPr/>
        </p:nvSpPr>
        <p:spPr>
          <a:xfrm>
            <a:off x="569846" y="222320"/>
            <a:ext cx="577761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Tree>
    <p:extLst>
      <p:ext uri="{BB962C8B-B14F-4D97-AF65-F5344CB8AC3E}">
        <p14:creationId xmlns:p14="http://schemas.microsoft.com/office/powerpoint/2010/main" val="3434735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CC953ED0-EAC7-5743-93B8-9869B6375DF9}"/>
              </a:ext>
            </a:extLst>
          </p:cNvPr>
          <p:cNvGrpSpPr/>
          <p:nvPr/>
        </p:nvGrpSpPr>
        <p:grpSpPr>
          <a:xfrm>
            <a:off x="724007" y="1620567"/>
            <a:ext cx="4798737" cy="4601662"/>
            <a:chOff x="332135" y="1240338"/>
            <a:chExt cx="5176350" cy="4963768"/>
          </a:xfrm>
        </p:grpSpPr>
        <p:sp>
          <p:nvSpPr>
            <p:cNvPr id="153" name="자유형: 도형 152">
              <a:extLst>
                <a:ext uri="{FF2B5EF4-FFF2-40B4-BE49-F238E27FC236}">
                  <a16:creationId xmlns:a16="http://schemas.microsoft.com/office/drawing/2014/main" id="{8B08C7F7-29AF-DCFF-B67A-C270D395420E}"/>
                </a:ext>
              </a:extLst>
            </p:cNvPr>
            <p:cNvSpPr/>
            <p:nvPr/>
          </p:nvSpPr>
          <p:spPr>
            <a:xfrm>
              <a:off x="332135" y="1240338"/>
              <a:ext cx="5176350" cy="4963768"/>
            </a:xfrm>
            <a:custGeom>
              <a:avLst/>
              <a:gdLst>
                <a:gd name="connsiteX0" fmla="*/ 2588175 w 5176350"/>
                <a:gd name="connsiteY0" fmla="*/ 0 h 4963768"/>
                <a:gd name="connsiteX1" fmla="*/ 5176350 w 5176350"/>
                <a:gd name="connsiteY1" fmla="*/ 2589756 h 4963768"/>
                <a:gd name="connsiteX2" fmla="*/ 3821853 w 5176350"/>
                <a:gd name="connsiteY2" fmla="*/ 4866943 h 4963768"/>
                <a:gd name="connsiteX3" fmla="*/ 3620978 w 5176350"/>
                <a:gd name="connsiteY3" fmla="*/ 4963768 h 4963768"/>
                <a:gd name="connsiteX4" fmla="*/ 1555372 w 5176350"/>
                <a:gd name="connsiteY4" fmla="*/ 4963768 h 4963768"/>
                <a:gd name="connsiteX5" fmla="*/ 1354497 w 5176350"/>
                <a:gd name="connsiteY5" fmla="*/ 4866943 h 4963768"/>
                <a:gd name="connsiteX6" fmla="*/ 0 w 5176350"/>
                <a:gd name="connsiteY6" fmla="*/ 2589756 h 4963768"/>
                <a:gd name="connsiteX7" fmla="*/ 2588175 w 5176350"/>
                <a:gd name="connsiteY7" fmla="*/ 0 h 4963768"/>
                <a:gd name="connsiteX0" fmla="*/ 1555372 w 5176350"/>
                <a:gd name="connsiteY0" fmla="*/ 4963768 h 5055208"/>
                <a:gd name="connsiteX1" fmla="*/ 1354497 w 5176350"/>
                <a:gd name="connsiteY1" fmla="*/ 4866943 h 5055208"/>
                <a:gd name="connsiteX2" fmla="*/ 0 w 5176350"/>
                <a:gd name="connsiteY2" fmla="*/ 2589756 h 5055208"/>
                <a:gd name="connsiteX3" fmla="*/ 2588175 w 5176350"/>
                <a:gd name="connsiteY3" fmla="*/ 0 h 5055208"/>
                <a:gd name="connsiteX4" fmla="*/ 5176350 w 5176350"/>
                <a:gd name="connsiteY4" fmla="*/ 2589756 h 5055208"/>
                <a:gd name="connsiteX5" fmla="*/ 3821853 w 5176350"/>
                <a:gd name="connsiteY5" fmla="*/ 4866943 h 5055208"/>
                <a:gd name="connsiteX6" fmla="*/ 3620978 w 5176350"/>
                <a:gd name="connsiteY6" fmla="*/ 4963768 h 5055208"/>
                <a:gd name="connsiteX7" fmla="*/ 1646812 w 5176350"/>
                <a:gd name="connsiteY7" fmla="*/ 5055208 h 5055208"/>
                <a:gd name="connsiteX0" fmla="*/ 1555372 w 5176350"/>
                <a:gd name="connsiteY0" fmla="*/ 4963768 h 4963768"/>
                <a:gd name="connsiteX1" fmla="*/ 1354497 w 5176350"/>
                <a:gd name="connsiteY1" fmla="*/ 4866943 h 4963768"/>
                <a:gd name="connsiteX2" fmla="*/ 0 w 5176350"/>
                <a:gd name="connsiteY2" fmla="*/ 2589756 h 4963768"/>
                <a:gd name="connsiteX3" fmla="*/ 2588175 w 5176350"/>
                <a:gd name="connsiteY3" fmla="*/ 0 h 4963768"/>
                <a:gd name="connsiteX4" fmla="*/ 5176350 w 5176350"/>
                <a:gd name="connsiteY4" fmla="*/ 2589756 h 4963768"/>
                <a:gd name="connsiteX5" fmla="*/ 3821853 w 5176350"/>
                <a:gd name="connsiteY5" fmla="*/ 4866943 h 4963768"/>
                <a:gd name="connsiteX6" fmla="*/ 3620978 w 5176350"/>
                <a:gd name="connsiteY6" fmla="*/ 4963768 h 496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76350" h="4963768">
                  <a:moveTo>
                    <a:pt x="1555372" y="4963768"/>
                  </a:moveTo>
                  <a:lnTo>
                    <a:pt x="1354497" y="4866943"/>
                  </a:lnTo>
                  <a:cubicBezTo>
                    <a:pt x="547698" y="4428395"/>
                    <a:pt x="0" y="3573076"/>
                    <a:pt x="0" y="2589756"/>
                  </a:cubicBezTo>
                  <a:cubicBezTo>
                    <a:pt x="0" y="1159473"/>
                    <a:pt x="1158765" y="0"/>
                    <a:pt x="2588175" y="0"/>
                  </a:cubicBezTo>
                  <a:cubicBezTo>
                    <a:pt x="4017585" y="0"/>
                    <a:pt x="5176350" y="1159473"/>
                    <a:pt x="5176350" y="2589756"/>
                  </a:cubicBezTo>
                  <a:cubicBezTo>
                    <a:pt x="5176350" y="3573076"/>
                    <a:pt x="4628653" y="4428395"/>
                    <a:pt x="3821853" y="4866943"/>
                  </a:cubicBezTo>
                  <a:lnTo>
                    <a:pt x="3620978" y="4963768"/>
                  </a:lnTo>
                </a:path>
              </a:pathLst>
            </a:custGeom>
            <a:noFill/>
            <a:ln w="9525">
              <a:solidFill>
                <a:srgbClr val="9097A7">
                  <a:alpha val="60000"/>
                </a:srgb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grpSp>
          <p:nvGrpSpPr>
            <p:cNvPr id="106" name="그룹 105">
              <a:extLst>
                <a:ext uri="{FF2B5EF4-FFF2-40B4-BE49-F238E27FC236}">
                  <a16:creationId xmlns:a16="http://schemas.microsoft.com/office/drawing/2014/main" id="{C310C86C-C737-4154-9840-0669A9313576}"/>
                </a:ext>
              </a:extLst>
            </p:cNvPr>
            <p:cNvGrpSpPr/>
            <p:nvPr/>
          </p:nvGrpSpPr>
          <p:grpSpPr>
            <a:xfrm>
              <a:off x="1058258" y="1966904"/>
              <a:ext cx="3724105" cy="3726380"/>
              <a:chOff x="524046" y="2309804"/>
              <a:chExt cx="3724105" cy="3726380"/>
            </a:xfrm>
          </p:grpSpPr>
          <p:sp>
            <p:nvSpPr>
              <p:cNvPr id="141" name="자유형: 도형 44">
                <a:extLst>
                  <a:ext uri="{FF2B5EF4-FFF2-40B4-BE49-F238E27FC236}">
                    <a16:creationId xmlns:a16="http://schemas.microsoft.com/office/drawing/2014/main" id="{CF04495E-679B-6356-D483-2C196C2B2C98}"/>
                  </a:ext>
                </a:extLst>
              </p:cNvPr>
              <p:cNvSpPr/>
              <p:nvPr/>
            </p:nvSpPr>
            <p:spPr>
              <a:xfrm>
                <a:off x="524047" y="2309804"/>
                <a:ext cx="3724104" cy="3726380"/>
              </a:xfrm>
              <a:prstGeom prst="ellipse">
                <a:avLst/>
              </a:prstGeom>
              <a:solidFill>
                <a:srgbClr val="EEEF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sp>
            <p:nvSpPr>
              <p:cNvPr id="64" name="자유형: 도형 44">
                <a:extLst>
                  <a:ext uri="{FF2B5EF4-FFF2-40B4-BE49-F238E27FC236}">
                    <a16:creationId xmlns:a16="http://schemas.microsoft.com/office/drawing/2014/main" id="{70D75861-CEEE-A3E9-1CC1-609D725CE4ED}"/>
                  </a:ext>
                </a:extLst>
              </p:cNvPr>
              <p:cNvSpPr/>
              <p:nvPr/>
            </p:nvSpPr>
            <p:spPr>
              <a:xfrm>
                <a:off x="524046" y="2309804"/>
                <a:ext cx="3724104" cy="3726380"/>
              </a:xfrm>
              <a:prstGeom prst="arc">
                <a:avLst>
                  <a:gd name="adj1" fmla="val 17539042"/>
                  <a:gd name="adj2" fmla="val 2226102"/>
                </a:avLst>
              </a:prstGeom>
              <a:noFill/>
              <a:ln>
                <a:solidFill>
                  <a:srgbClr val="9097A7"/>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pic>
            <p:nvPicPr>
              <p:cNvPr id="88" name="그림 87">
                <a:extLst>
                  <a:ext uri="{FF2B5EF4-FFF2-40B4-BE49-F238E27FC236}">
                    <a16:creationId xmlns:a16="http://schemas.microsoft.com/office/drawing/2014/main" id="{61A0BB80-CCA3-65F4-3193-037AAAA7E548}"/>
                  </a:ext>
                </a:extLst>
              </p:cNvPr>
              <p:cNvPicPr>
                <a:picLocks noChangeAspect="1"/>
              </p:cNvPicPr>
              <p:nvPr/>
            </p:nvPicPr>
            <p:blipFill>
              <a:blip r:embed="rId3"/>
              <a:stretch>
                <a:fillRect/>
              </a:stretch>
            </p:blipFill>
            <p:spPr>
              <a:xfrm>
                <a:off x="1757737" y="3816779"/>
                <a:ext cx="1256721" cy="359063"/>
              </a:xfrm>
              <a:prstGeom prst="rect">
                <a:avLst/>
              </a:prstGeom>
            </p:spPr>
          </p:pic>
        </p:grpSp>
        <p:cxnSp>
          <p:nvCxnSpPr>
            <p:cNvPr id="112" name="직선 연결선 111">
              <a:extLst>
                <a:ext uri="{FF2B5EF4-FFF2-40B4-BE49-F238E27FC236}">
                  <a16:creationId xmlns:a16="http://schemas.microsoft.com/office/drawing/2014/main" id="{0E39F16D-961A-9B2A-0650-D00118A9BC9E}"/>
                </a:ext>
              </a:extLst>
            </p:cNvPr>
            <p:cNvCxnSpPr>
              <a:cxnSpLocks/>
            </p:cNvCxnSpPr>
            <p:nvPr/>
          </p:nvCxnSpPr>
          <p:spPr>
            <a:xfrm flipV="1">
              <a:off x="3668466" y="1574503"/>
              <a:ext cx="322946" cy="550766"/>
            </a:xfrm>
            <a:prstGeom prst="line">
              <a:avLst/>
            </a:prstGeom>
            <a:ln>
              <a:solidFill>
                <a:srgbClr val="9097A7">
                  <a:alpha val="50000"/>
                </a:srgbClr>
              </a:solidFill>
              <a:prstDash val="solid"/>
              <a:headEnd type="oval" w="sm" len="sm"/>
            </a:ln>
          </p:spPr>
          <p:style>
            <a:lnRef idx="1">
              <a:schemeClr val="accent1"/>
            </a:lnRef>
            <a:fillRef idx="0">
              <a:schemeClr val="accent1"/>
            </a:fillRef>
            <a:effectRef idx="0">
              <a:schemeClr val="accent1"/>
            </a:effectRef>
            <a:fontRef idx="minor">
              <a:schemeClr val="tx1"/>
            </a:fontRef>
          </p:style>
        </p:cxnSp>
        <p:cxnSp>
          <p:nvCxnSpPr>
            <p:cNvPr id="122" name="직선 연결선 121">
              <a:extLst>
                <a:ext uri="{FF2B5EF4-FFF2-40B4-BE49-F238E27FC236}">
                  <a16:creationId xmlns:a16="http://schemas.microsoft.com/office/drawing/2014/main" id="{98F4AECB-AB5D-B09C-D72F-DC125FA2DDF6}"/>
                </a:ext>
              </a:extLst>
            </p:cNvPr>
            <p:cNvCxnSpPr>
              <a:cxnSpLocks/>
            </p:cNvCxnSpPr>
            <p:nvPr/>
          </p:nvCxnSpPr>
          <p:spPr>
            <a:xfrm flipV="1">
              <a:off x="4572499" y="2702005"/>
              <a:ext cx="655240" cy="279794"/>
            </a:xfrm>
            <a:prstGeom prst="line">
              <a:avLst/>
            </a:prstGeom>
            <a:ln>
              <a:solidFill>
                <a:srgbClr val="9097A7">
                  <a:alpha val="50000"/>
                </a:srgbClr>
              </a:solidFill>
              <a:prstDash val="solid"/>
              <a:headEnd type="oval" w="sm" len="sm"/>
            </a:ln>
          </p:spPr>
          <p:style>
            <a:lnRef idx="1">
              <a:schemeClr val="accent1"/>
            </a:lnRef>
            <a:fillRef idx="0">
              <a:schemeClr val="accent1"/>
            </a:fillRef>
            <a:effectRef idx="0">
              <a:schemeClr val="accent1"/>
            </a:effectRef>
            <a:fontRef idx="minor">
              <a:schemeClr val="tx1"/>
            </a:fontRef>
          </p:style>
        </p:cxnSp>
        <p:cxnSp>
          <p:nvCxnSpPr>
            <p:cNvPr id="131" name="직선 연결선 130">
              <a:extLst>
                <a:ext uri="{FF2B5EF4-FFF2-40B4-BE49-F238E27FC236}">
                  <a16:creationId xmlns:a16="http://schemas.microsoft.com/office/drawing/2014/main" id="{1787480D-A944-E45C-27A2-99296B59AE70}"/>
                </a:ext>
              </a:extLst>
            </p:cNvPr>
            <p:cNvCxnSpPr>
              <a:cxnSpLocks/>
            </p:cNvCxnSpPr>
            <p:nvPr/>
          </p:nvCxnSpPr>
          <p:spPr>
            <a:xfrm>
              <a:off x="4419611" y="4938275"/>
              <a:ext cx="585439" cy="315555"/>
            </a:xfrm>
            <a:prstGeom prst="line">
              <a:avLst/>
            </a:prstGeom>
            <a:ln>
              <a:solidFill>
                <a:srgbClr val="9097A7">
                  <a:alpha val="50000"/>
                </a:srgbClr>
              </a:solidFill>
              <a:prstDash val="solid"/>
              <a:headEnd type="oval" w="sm" len="sm"/>
            </a:ln>
          </p:spPr>
          <p:style>
            <a:lnRef idx="1">
              <a:schemeClr val="accent1"/>
            </a:lnRef>
            <a:fillRef idx="0">
              <a:schemeClr val="accent1"/>
            </a:fillRef>
            <a:effectRef idx="0">
              <a:schemeClr val="accent1"/>
            </a:effectRef>
            <a:fontRef idx="minor">
              <a:schemeClr val="tx1"/>
            </a:fontRef>
          </p:style>
        </p:cxnSp>
        <p:cxnSp>
          <p:nvCxnSpPr>
            <p:cNvPr id="133" name="직선 화살표 연결선 132">
              <a:extLst>
                <a:ext uri="{FF2B5EF4-FFF2-40B4-BE49-F238E27FC236}">
                  <a16:creationId xmlns:a16="http://schemas.microsoft.com/office/drawing/2014/main" id="{C48D2259-3540-9515-1337-97623764C619}"/>
                </a:ext>
              </a:extLst>
            </p:cNvPr>
            <p:cNvCxnSpPr>
              <a:cxnSpLocks/>
            </p:cNvCxnSpPr>
            <p:nvPr/>
          </p:nvCxnSpPr>
          <p:spPr>
            <a:xfrm>
              <a:off x="4775581" y="3979297"/>
              <a:ext cx="664530" cy="17982"/>
            </a:xfrm>
            <a:prstGeom prst="straightConnector1">
              <a:avLst/>
            </a:prstGeom>
            <a:ln>
              <a:solidFill>
                <a:srgbClr val="9097A7">
                  <a:alpha val="50000"/>
                </a:srgbClr>
              </a:solidFill>
              <a:prstDash val="solid"/>
              <a:headEnd type="oval" w="sm" len="sm"/>
            </a:ln>
          </p:spPr>
          <p:style>
            <a:lnRef idx="1">
              <a:schemeClr val="accent1"/>
            </a:lnRef>
            <a:fillRef idx="0">
              <a:schemeClr val="accent1"/>
            </a:fillRef>
            <a:effectRef idx="0">
              <a:schemeClr val="accent1"/>
            </a:effectRef>
            <a:fontRef idx="minor">
              <a:schemeClr val="tx1"/>
            </a:fontRef>
          </p:style>
        </p:cxnSp>
        <p:sp>
          <p:nvSpPr>
            <p:cNvPr id="136" name="타원 135">
              <a:extLst>
                <a:ext uri="{FF2B5EF4-FFF2-40B4-BE49-F238E27FC236}">
                  <a16:creationId xmlns:a16="http://schemas.microsoft.com/office/drawing/2014/main" id="{0516E785-2B47-FCB1-6D9F-48AB8F14C775}"/>
                </a:ext>
              </a:extLst>
            </p:cNvPr>
            <p:cNvSpPr/>
            <p:nvPr/>
          </p:nvSpPr>
          <p:spPr>
            <a:xfrm>
              <a:off x="4544261" y="2948707"/>
              <a:ext cx="66184" cy="66184"/>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sp>
          <p:nvSpPr>
            <p:cNvPr id="137" name="타원 136">
              <a:extLst>
                <a:ext uri="{FF2B5EF4-FFF2-40B4-BE49-F238E27FC236}">
                  <a16:creationId xmlns:a16="http://schemas.microsoft.com/office/drawing/2014/main" id="{C19528B1-3CA7-87D9-81E2-A8EF8ACB224C}"/>
                </a:ext>
              </a:extLst>
            </p:cNvPr>
            <p:cNvSpPr/>
            <p:nvPr/>
          </p:nvSpPr>
          <p:spPr>
            <a:xfrm>
              <a:off x="3635374" y="2093535"/>
              <a:ext cx="66184" cy="66184"/>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sp>
          <p:nvSpPr>
            <p:cNvPr id="138" name="타원 137">
              <a:extLst>
                <a:ext uri="{FF2B5EF4-FFF2-40B4-BE49-F238E27FC236}">
                  <a16:creationId xmlns:a16="http://schemas.microsoft.com/office/drawing/2014/main" id="{739118C6-F407-B97F-B924-E6BD5C111370}"/>
                </a:ext>
              </a:extLst>
            </p:cNvPr>
            <p:cNvSpPr/>
            <p:nvPr/>
          </p:nvSpPr>
          <p:spPr>
            <a:xfrm>
              <a:off x="4392611" y="4899442"/>
              <a:ext cx="66184" cy="66184"/>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sp>
          <p:nvSpPr>
            <p:cNvPr id="139" name="타원 138">
              <a:extLst>
                <a:ext uri="{FF2B5EF4-FFF2-40B4-BE49-F238E27FC236}">
                  <a16:creationId xmlns:a16="http://schemas.microsoft.com/office/drawing/2014/main" id="{5F210658-3866-FB11-E5AF-0E1722BADFAF}"/>
                </a:ext>
              </a:extLst>
            </p:cNvPr>
            <p:cNvSpPr/>
            <p:nvPr/>
          </p:nvSpPr>
          <p:spPr>
            <a:xfrm>
              <a:off x="4743804" y="3946204"/>
              <a:ext cx="66184" cy="66184"/>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latin typeface="에스코어 드림 5 Medium" panose="020B0503030302020204" pitchFamily="34" charset="-127"/>
                <a:ea typeface="에스코어 드림 5 Medium" panose="020B0503030302020204" pitchFamily="34" charset="-127"/>
              </a:endParaRPr>
            </a:p>
          </p:txBody>
        </p:sp>
        <p:sp>
          <p:nvSpPr>
            <p:cNvPr id="5" name="직사각형 4">
              <a:extLst>
                <a:ext uri="{FF2B5EF4-FFF2-40B4-BE49-F238E27FC236}">
                  <a16:creationId xmlns:a16="http://schemas.microsoft.com/office/drawing/2014/main" id="{0F12C919-D74B-DAC2-5572-4CE626A5F3CE}"/>
                </a:ext>
              </a:extLst>
            </p:cNvPr>
            <p:cNvSpPr/>
            <p:nvPr/>
          </p:nvSpPr>
          <p:spPr>
            <a:xfrm>
              <a:off x="1933823" y="3988020"/>
              <a:ext cx="1972974" cy="390094"/>
            </a:xfrm>
            <a:prstGeom prst="rect">
              <a:avLst/>
            </a:prstGeom>
          </p:spPr>
          <p:txBody>
            <a:bodyPr wrap="square" anchor="ctr">
              <a:spAutoFit/>
            </a:bodyPr>
            <a:lstStyle/>
            <a:p>
              <a:pPr algn="ctr">
                <a:lnSpc>
                  <a:spcPts val="2080"/>
                </a:lnSpc>
              </a:pPr>
              <a:r>
                <a:rPr lang="en-US" altLang="ko-KR" b="1" dirty="0">
                  <a:ln>
                    <a:solidFill>
                      <a:srgbClr val="9E0B28">
                        <a:alpha val="0"/>
                      </a:srgbClr>
                    </a:solidFill>
                  </a:ln>
                  <a:solidFill>
                    <a:srgbClr val="656E7D"/>
                  </a:solidFill>
                  <a:latin typeface="Lato Black" panose="020F0502020204030203" pitchFamily="34" charset="0"/>
                  <a:ea typeface="Lato Black" panose="020F0502020204030203" pitchFamily="34" charset="0"/>
                  <a:cs typeface="Lato Black" panose="020F0502020204030203" pitchFamily="34" charset="0"/>
                </a:rPr>
                <a:t>Non-Clinical</a:t>
              </a:r>
            </a:p>
          </p:txBody>
        </p:sp>
      </p:grpSp>
      <p:sp>
        <p:nvSpPr>
          <p:cNvPr id="51" name="자유형: 도형 44">
            <a:extLst>
              <a:ext uri="{FF2B5EF4-FFF2-40B4-BE49-F238E27FC236}">
                <a16:creationId xmlns:a16="http://schemas.microsoft.com/office/drawing/2014/main" id="{70D75861-CEEE-A3E9-1CC1-609D725CE4ED}"/>
              </a:ext>
            </a:extLst>
          </p:cNvPr>
          <p:cNvSpPr/>
          <p:nvPr/>
        </p:nvSpPr>
        <p:spPr>
          <a:xfrm>
            <a:off x="700194" y="1627516"/>
            <a:ext cx="4813314" cy="4816255"/>
          </a:xfrm>
          <a:prstGeom prst="arc">
            <a:avLst>
              <a:gd name="adj1" fmla="val 17706714"/>
              <a:gd name="adj2" fmla="val 1934228"/>
            </a:avLst>
          </a:prstGeom>
          <a:noFill/>
          <a:ln w="28575">
            <a:solidFill>
              <a:srgbClr val="9E0B28"/>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ln>
                <a:solidFill>
                  <a:srgbClr val="9E0B28">
                    <a:alpha val="0"/>
                  </a:srgbClr>
                </a:solidFill>
              </a:ln>
              <a:solidFill>
                <a:srgbClr val="9E0B28"/>
              </a:solidFill>
              <a:latin typeface="에스코어 드림 5 Medium" panose="020B0503030302020204" pitchFamily="34" charset="-127"/>
              <a:ea typeface="에스코어 드림 5 Medium" panose="020B0503030302020204" pitchFamily="34" charset="-127"/>
            </a:endParaRPr>
          </a:p>
        </p:txBody>
      </p:sp>
      <p:grpSp>
        <p:nvGrpSpPr>
          <p:cNvPr id="91" name="그룹 90">
            <a:extLst>
              <a:ext uri="{FF2B5EF4-FFF2-40B4-BE49-F238E27FC236}">
                <a16:creationId xmlns:a16="http://schemas.microsoft.com/office/drawing/2014/main" id="{C62B3081-5738-253A-ADF0-5FD6EF477451}"/>
              </a:ext>
            </a:extLst>
          </p:cNvPr>
          <p:cNvGrpSpPr/>
          <p:nvPr/>
        </p:nvGrpSpPr>
        <p:grpSpPr>
          <a:xfrm>
            <a:off x="5158660" y="2606190"/>
            <a:ext cx="6719209" cy="1018330"/>
            <a:chOff x="5484097" y="2695643"/>
            <a:chExt cx="6719209" cy="1018330"/>
          </a:xfrm>
        </p:grpSpPr>
        <p:grpSp>
          <p:nvGrpSpPr>
            <p:cNvPr id="77" name="그룹 76">
              <a:extLst>
                <a:ext uri="{FF2B5EF4-FFF2-40B4-BE49-F238E27FC236}">
                  <a16:creationId xmlns:a16="http://schemas.microsoft.com/office/drawing/2014/main" id="{F6C537FF-35C3-18FB-9AD9-61E0E8E890E2}"/>
                </a:ext>
              </a:extLst>
            </p:cNvPr>
            <p:cNvGrpSpPr/>
            <p:nvPr/>
          </p:nvGrpSpPr>
          <p:grpSpPr>
            <a:xfrm>
              <a:off x="6215900" y="2695643"/>
              <a:ext cx="5987406" cy="1018330"/>
              <a:chOff x="5142323" y="3340748"/>
              <a:chExt cx="5537019" cy="844619"/>
            </a:xfrm>
          </p:grpSpPr>
          <p:sp>
            <p:nvSpPr>
              <p:cNvPr id="84" name="Текст 2">
                <a:extLst>
                  <a:ext uri="{FF2B5EF4-FFF2-40B4-BE49-F238E27FC236}">
                    <a16:creationId xmlns:a16="http://schemas.microsoft.com/office/drawing/2014/main" id="{F0C4FEE5-76A6-919C-6044-3FEAF2782D7A}"/>
                  </a:ext>
                </a:extLst>
              </p:cNvPr>
              <p:cNvSpPr txBox="1">
                <a:spLocks/>
              </p:cNvSpPr>
              <p:nvPr/>
            </p:nvSpPr>
            <p:spPr>
              <a:xfrm>
                <a:off x="5142325" y="3608871"/>
                <a:ext cx="5537017" cy="576496"/>
              </a:xfrm>
              <a:prstGeom prst="rect">
                <a:avLst/>
              </a:prstGeom>
            </p:spPr>
            <p:txBody>
              <a:bodyPr wrap="square" numCol="1" spcCol="900000" anchor="t"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Creating Additional Revenue Streams Through Extra Services</a:t>
                </a:r>
              </a:p>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Proposing Integrated Solutions: Nutritional Management, IVNT, etc. </a:t>
                </a:r>
              </a:p>
            </p:txBody>
          </p:sp>
          <p:sp>
            <p:nvSpPr>
              <p:cNvPr id="85" name="Текст 2">
                <a:extLst>
                  <a:ext uri="{FF2B5EF4-FFF2-40B4-BE49-F238E27FC236}">
                    <a16:creationId xmlns:a16="http://schemas.microsoft.com/office/drawing/2014/main" id="{13D8C78D-5D5E-57CA-E50A-4FB7E6E415CB}"/>
                  </a:ext>
                </a:extLst>
              </p:cNvPr>
              <p:cNvSpPr txBox="1">
                <a:spLocks/>
              </p:cNvSpPr>
              <p:nvPr/>
            </p:nvSpPr>
            <p:spPr>
              <a:xfrm>
                <a:off x="5142323" y="3340748"/>
                <a:ext cx="3462925" cy="299948"/>
              </a:xfrm>
              <a:prstGeom prst="rect">
                <a:avLst/>
              </a:prstGeom>
            </p:spPr>
            <p:txBody>
              <a:bodyPr wrap="square" numCol="1" spcCol="900000" anchor="ctr"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lnSpc>
                    <a:spcPts val="2080"/>
                  </a:lnSpc>
                  <a:buNone/>
                </a:pPr>
                <a:r>
                  <a:rPr lang="en-US" altLang="ko-KR"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Additional</a:t>
                </a:r>
                <a:r>
                  <a:rPr lang="ko-KR" altLang="en-US"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Income</a:t>
                </a:r>
              </a:p>
            </p:txBody>
          </p:sp>
        </p:grpSp>
        <p:grpSp>
          <p:nvGrpSpPr>
            <p:cNvPr id="65" name="그룹 64">
              <a:extLst>
                <a:ext uri="{FF2B5EF4-FFF2-40B4-BE49-F238E27FC236}">
                  <a16:creationId xmlns:a16="http://schemas.microsoft.com/office/drawing/2014/main" id="{E6B55400-447D-82CF-B007-1C7F1BD7E80B}"/>
                </a:ext>
              </a:extLst>
            </p:cNvPr>
            <p:cNvGrpSpPr/>
            <p:nvPr/>
          </p:nvGrpSpPr>
          <p:grpSpPr>
            <a:xfrm>
              <a:off x="5484097" y="2942699"/>
              <a:ext cx="243731" cy="243731"/>
              <a:chOff x="4797381" y="1675355"/>
              <a:chExt cx="210309" cy="210309"/>
            </a:xfrm>
          </p:grpSpPr>
          <p:sp>
            <p:nvSpPr>
              <p:cNvPr id="75" name="타원 74">
                <a:extLst>
                  <a:ext uri="{FF2B5EF4-FFF2-40B4-BE49-F238E27FC236}">
                    <a16:creationId xmlns:a16="http://schemas.microsoft.com/office/drawing/2014/main" id="{66631297-3F28-2323-6877-8C664AE22646}"/>
                  </a:ext>
                </a:extLst>
              </p:cNvPr>
              <p:cNvSpPr/>
              <p:nvPr/>
            </p:nvSpPr>
            <p:spPr>
              <a:xfrm>
                <a:off x="4797381" y="1675355"/>
                <a:ext cx="210309" cy="210309"/>
              </a:xfrm>
              <a:prstGeom prst="ellipse">
                <a:avLst/>
              </a:prstGeom>
              <a:solidFill>
                <a:schemeClr val="bg1"/>
              </a:solidFill>
              <a:ln w="19050">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sp>
            <p:nvSpPr>
              <p:cNvPr id="76" name="타원 75">
                <a:extLst>
                  <a:ext uri="{FF2B5EF4-FFF2-40B4-BE49-F238E27FC236}">
                    <a16:creationId xmlns:a16="http://schemas.microsoft.com/office/drawing/2014/main" id="{7CD3AA75-5B0B-A2D0-E618-357B5114B475}"/>
                  </a:ext>
                </a:extLst>
              </p:cNvPr>
              <p:cNvSpPr/>
              <p:nvPr/>
            </p:nvSpPr>
            <p:spPr>
              <a:xfrm>
                <a:off x="4849270" y="1727234"/>
                <a:ext cx="106560" cy="106560"/>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grpSp>
      </p:grpSp>
      <p:grpSp>
        <p:nvGrpSpPr>
          <p:cNvPr id="93" name="그룹 92">
            <a:extLst>
              <a:ext uri="{FF2B5EF4-FFF2-40B4-BE49-F238E27FC236}">
                <a16:creationId xmlns:a16="http://schemas.microsoft.com/office/drawing/2014/main" id="{FBE76F12-5F27-9728-2D62-4618E125318D}"/>
              </a:ext>
            </a:extLst>
          </p:cNvPr>
          <p:cNvGrpSpPr/>
          <p:nvPr/>
        </p:nvGrpSpPr>
        <p:grpSpPr>
          <a:xfrm>
            <a:off x="4046365" y="1402540"/>
            <a:ext cx="6851954" cy="990175"/>
            <a:chOff x="3977654" y="1245573"/>
            <a:chExt cx="6851954" cy="990175"/>
          </a:xfrm>
        </p:grpSpPr>
        <p:grpSp>
          <p:nvGrpSpPr>
            <p:cNvPr id="78" name="그룹 77">
              <a:extLst>
                <a:ext uri="{FF2B5EF4-FFF2-40B4-BE49-F238E27FC236}">
                  <a16:creationId xmlns:a16="http://schemas.microsoft.com/office/drawing/2014/main" id="{F4624296-0F2A-C0B5-EAE7-690519D42498}"/>
                </a:ext>
              </a:extLst>
            </p:cNvPr>
            <p:cNvGrpSpPr/>
            <p:nvPr/>
          </p:nvGrpSpPr>
          <p:grpSpPr>
            <a:xfrm>
              <a:off x="5429607" y="1245573"/>
              <a:ext cx="5400001" cy="990175"/>
              <a:chOff x="4303486" y="1641441"/>
              <a:chExt cx="5195233" cy="854396"/>
            </a:xfrm>
          </p:grpSpPr>
          <p:sp>
            <p:nvSpPr>
              <p:cNvPr id="82" name="Текст 2">
                <a:extLst>
                  <a:ext uri="{FF2B5EF4-FFF2-40B4-BE49-F238E27FC236}">
                    <a16:creationId xmlns:a16="http://schemas.microsoft.com/office/drawing/2014/main" id="{CBF997D3-E68A-2615-C768-FB9D3A9B7260}"/>
                  </a:ext>
                </a:extLst>
              </p:cNvPr>
              <p:cNvSpPr txBox="1">
                <a:spLocks/>
              </p:cNvSpPr>
              <p:nvPr/>
            </p:nvSpPr>
            <p:spPr>
              <a:xfrm>
                <a:off x="4303486" y="1920374"/>
                <a:ext cx="5195233" cy="575463"/>
              </a:xfrm>
              <a:prstGeom prst="rect">
                <a:avLst/>
              </a:prstGeom>
            </p:spPr>
            <p:txBody>
              <a:bodyPr wrap="square" numCol="1" spcCol="900000" anchor="t"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Identifying Research of University Hospitals and Researchers</a:t>
                </a:r>
              </a:p>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Introducing</a:t>
                </a:r>
                <a:r>
                  <a:rPr lang="ko-KR" altLang="en-US"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 </a:t>
                </a: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Applied</a:t>
                </a:r>
                <a:r>
                  <a:rPr lang="ko-KR" altLang="en-US"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 </a:t>
                </a: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Research and Key Researchers</a:t>
                </a:r>
              </a:p>
            </p:txBody>
          </p:sp>
          <p:sp>
            <p:nvSpPr>
              <p:cNvPr id="83" name="Текст 2">
                <a:extLst>
                  <a:ext uri="{FF2B5EF4-FFF2-40B4-BE49-F238E27FC236}">
                    <a16:creationId xmlns:a16="http://schemas.microsoft.com/office/drawing/2014/main" id="{82615FC1-76CF-06AE-9F60-4E60BA9CF51E}"/>
                  </a:ext>
                </a:extLst>
              </p:cNvPr>
              <p:cNvSpPr txBox="1">
                <a:spLocks/>
              </p:cNvSpPr>
              <p:nvPr/>
            </p:nvSpPr>
            <p:spPr>
              <a:xfrm>
                <a:off x="4303488" y="1641441"/>
                <a:ext cx="2916884" cy="312047"/>
              </a:xfrm>
              <a:prstGeom prst="rect">
                <a:avLst/>
              </a:prstGeom>
            </p:spPr>
            <p:txBody>
              <a:bodyPr wrap="square" numCol="1" spcCol="900000" anchor="ctr"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lnSpc>
                    <a:spcPts val="2080"/>
                  </a:lnSpc>
                  <a:buNone/>
                </a:pPr>
                <a:r>
                  <a:rPr lang="en-US" altLang="ko-KR"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Research</a:t>
                </a:r>
              </a:p>
            </p:txBody>
          </p:sp>
        </p:grpSp>
        <p:grpSp>
          <p:nvGrpSpPr>
            <p:cNvPr id="66" name="그룹 65">
              <a:extLst>
                <a:ext uri="{FF2B5EF4-FFF2-40B4-BE49-F238E27FC236}">
                  <a16:creationId xmlns:a16="http://schemas.microsoft.com/office/drawing/2014/main" id="{FA614A00-0DBE-AB5C-0243-CC0E40DC6E6C}"/>
                </a:ext>
              </a:extLst>
            </p:cNvPr>
            <p:cNvGrpSpPr/>
            <p:nvPr/>
          </p:nvGrpSpPr>
          <p:grpSpPr>
            <a:xfrm>
              <a:off x="3977654" y="1604541"/>
              <a:ext cx="243731" cy="243731"/>
              <a:chOff x="4784561" y="1625959"/>
              <a:chExt cx="210309" cy="210309"/>
            </a:xfrm>
          </p:grpSpPr>
          <p:sp>
            <p:nvSpPr>
              <p:cNvPr id="73" name="타원 72">
                <a:extLst>
                  <a:ext uri="{FF2B5EF4-FFF2-40B4-BE49-F238E27FC236}">
                    <a16:creationId xmlns:a16="http://schemas.microsoft.com/office/drawing/2014/main" id="{36D5B470-939E-C459-B12A-49C80F8BF230}"/>
                  </a:ext>
                </a:extLst>
              </p:cNvPr>
              <p:cNvSpPr/>
              <p:nvPr/>
            </p:nvSpPr>
            <p:spPr>
              <a:xfrm>
                <a:off x="4784561" y="1625959"/>
                <a:ext cx="210309" cy="210309"/>
              </a:xfrm>
              <a:prstGeom prst="ellipse">
                <a:avLst/>
              </a:prstGeom>
              <a:solidFill>
                <a:schemeClr val="bg1"/>
              </a:solidFill>
              <a:ln w="19050">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sp>
            <p:nvSpPr>
              <p:cNvPr id="74" name="타원 73">
                <a:extLst>
                  <a:ext uri="{FF2B5EF4-FFF2-40B4-BE49-F238E27FC236}">
                    <a16:creationId xmlns:a16="http://schemas.microsoft.com/office/drawing/2014/main" id="{9DA5560A-C251-43F9-0546-5177180B9129}"/>
                  </a:ext>
                </a:extLst>
              </p:cNvPr>
              <p:cNvSpPr/>
              <p:nvPr/>
            </p:nvSpPr>
            <p:spPr>
              <a:xfrm>
                <a:off x="4836446" y="1677838"/>
                <a:ext cx="106560" cy="106560"/>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grpSp>
      </p:grpSp>
      <p:grpSp>
        <p:nvGrpSpPr>
          <p:cNvPr id="92" name="그룹 91">
            <a:extLst>
              <a:ext uri="{FF2B5EF4-FFF2-40B4-BE49-F238E27FC236}">
                <a16:creationId xmlns:a16="http://schemas.microsoft.com/office/drawing/2014/main" id="{589855E8-E9E9-ED1C-3170-55F2512304C0}"/>
              </a:ext>
            </a:extLst>
          </p:cNvPr>
          <p:cNvGrpSpPr/>
          <p:nvPr/>
        </p:nvGrpSpPr>
        <p:grpSpPr>
          <a:xfrm>
            <a:off x="4984564" y="5013514"/>
            <a:ext cx="6118755" cy="990179"/>
            <a:chOff x="5571622" y="4756172"/>
            <a:chExt cx="6118755" cy="990179"/>
          </a:xfrm>
        </p:grpSpPr>
        <p:grpSp>
          <p:nvGrpSpPr>
            <p:cNvPr id="79" name="그룹 78">
              <a:extLst>
                <a:ext uri="{FF2B5EF4-FFF2-40B4-BE49-F238E27FC236}">
                  <a16:creationId xmlns:a16="http://schemas.microsoft.com/office/drawing/2014/main" id="{67C487E3-D879-F211-8DCA-44FDB9990D23}"/>
                </a:ext>
              </a:extLst>
            </p:cNvPr>
            <p:cNvGrpSpPr/>
            <p:nvPr/>
          </p:nvGrpSpPr>
          <p:grpSpPr>
            <a:xfrm>
              <a:off x="6290377" y="4756172"/>
              <a:ext cx="5400000" cy="990179"/>
              <a:chOff x="5273190" y="5049771"/>
              <a:chExt cx="4993799" cy="821269"/>
            </a:xfrm>
          </p:grpSpPr>
          <p:sp>
            <p:nvSpPr>
              <p:cNvPr id="80" name="Текст 2">
                <a:extLst>
                  <a:ext uri="{FF2B5EF4-FFF2-40B4-BE49-F238E27FC236}">
                    <a16:creationId xmlns:a16="http://schemas.microsoft.com/office/drawing/2014/main" id="{98029B2E-669A-E9EB-B8C8-CDCD96C2A63B}"/>
                  </a:ext>
                </a:extLst>
              </p:cNvPr>
              <p:cNvSpPr txBox="1">
                <a:spLocks/>
              </p:cNvSpPr>
              <p:nvPr/>
            </p:nvSpPr>
            <p:spPr>
              <a:xfrm>
                <a:off x="5273191" y="5049771"/>
                <a:ext cx="4567735" cy="299947"/>
              </a:xfrm>
              <a:prstGeom prst="rect">
                <a:avLst/>
              </a:prstGeom>
            </p:spPr>
            <p:txBody>
              <a:bodyPr wrap="square" numCol="1" spcCol="900000" anchor="ctr"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lnSpc>
                    <a:spcPts val="2080"/>
                  </a:lnSpc>
                  <a:buNone/>
                </a:pPr>
                <a:r>
                  <a:rPr lang="en-US" altLang="ko-KR"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ETC.</a:t>
                </a:r>
                <a:r>
                  <a:rPr lang="ko-KR" altLang="en-US"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 </a:t>
                </a:r>
                <a:endParaRPr lang="en-US" altLang="ko-KR"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81" name="Текст 2">
                <a:extLst>
                  <a:ext uri="{FF2B5EF4-FFF2-40B4-BE49-F238E27FC236}">
                    <a16:creationId xmlns:a16="http://schemas.microsoft.com/office/drawing/2014/main" id="{C024D5A8-B6A3-7272-7E2A-48F0335F176E}"/>
                  </a:ext>
                </a:extLst>
              </p:cNvPr>
              <p:cNvSpPr txBox="1">
                <a:spLocks/>
              </p:cNvSpPr>
              <p:nvPr/>
            </p:nvSpPr>
            <p:spPr>
              <a:xfrm>
                <a:off x="5273190" y="5317892"/>
                <a:ext cx="4993799" cy="553148"/>
              </a:xfrm>
              <a:prstGeom prst="rect">
                <a:avLst/>
              </a:prstGeom>
            </p:spPr>
            <p:txBody>
              <a:bodyPr wrap="square" numCol="1" spcCol="900000" anchor="t"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Tax benefits, Research Fundings, etc. </a:t>
                </a:r>
              </a:p>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Understand Customers’ Needs + Effective Communication</a:t>
                </a:r>
              </a:p>
            </p:txBody>
          </p:sp>
        </p:grpSp>
        <p:grpSp>
          <p:nvGrpSpPr>
            <p:cNvPr id="67" name="그룹 66">
              <a:extLst>
                <a:ext uri="{FF2B5EF4-FFF2-40B4-BE49-F238E27FC236}">
                  <a16:creationId xmlns:a16="http://schemas.microsoft.com/office/drawing/2014/main" id="{2459E2CE-0861-613F-B79C-D8D5567FE892}"/>
                </a:ext>
              </a:extLst>
            </p:cNvPr>
            <p:cNvGrpSpPr/>
            <p:nvPr/>
          </p:nvGrpSpPr>
          <p:grpSpPr>
            <a:xfrm>
              <a:off x="5571622" y="5000831"/>
              <a:ext cx="243731" cy="243731"/>
              <a:chOff x="4784561" y="1625959"/>
              <a:chExt cx="210309" cy="210309"/>
            </a:xfrm>
          </p:grpSpPr>
          <p:sp>
            <p:nvSpPr>
              <p:cNvPr id="71" name="타원 70">
                <a:extLst>
                  <a:ext uri="{FF2B5EF4-FFF2-40B4-BE49-F238E27FC236}">
                    <a16:creationId xmlns:a16="http://schemas.microsoft.com/office/drawing/2014/main" id="{5F3069C1-8DDF-9D67-ED73-E211702CBA65}"/>
                  </a:ext>
                </a:extLst>
              </p:cNvPr>
              <p:cNvSpPr/>
              <p:nvPr/>
            </p:nvSpPr>
            <p:spPr>
              <a:xfrm>
                <a:off x="4784561" y="1625959"/>
                <a:ext cx="210309" cy="210309"/>
              </a:xfrm>
              <a:prstGeom prst="ellipse">
                <a:avLst/>
              </a:prstGeom>
              <a:solidFill>
                <a:schemeClr val="bg1"/>
              </a:solidFill>
              <a:ln w="19050">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sp>
            <p:nvSpPr>
              <p:cNvPr id="72" name="타원 71">
                <a:extLst>
                  <a:ext uri="{FF2B5EF4-FFF2-40B4-BE49-F238E27FC236}">
                    <a16:creationId xmlns:a16="http://schemas.microsoft.com/office/drawing/2014/main" id="{DEE23FE1-1D14-A7CC-ECE1-A81DDD98FF52}"/>
                  </a:ext>
                </a:extLst>
              </p:cNvPr>
              <p:cNvSpPr/>
              <p:nvPr/>
            </p:nvSpPr>
            <p:spPr>
              <a:xfrm>
                <a:off x="4836446" y="1677838"/>
                <a:ext cx="106560" cy="106560"/>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grpSp>
      </p:grpSp>
      <p:grpSp>
        <p:nvGrpSpPr>
          <p:cNvPr id="95" name="그룹 94">
            <a:extLst>
              <a:ext uri="{FF2B5EF4-FFF2-40B4-BE49-F238E27FC236}">
                <a16:creationId xmlns:a16="http://schemas.microsoft.com/office/drawing/2014/main" id="{898F63E6-F252-5AE4-35E2-6CE17144380F}"/>
              </a:ext>
            </a:extLst>
          </p:cNvPr>
          <p:cNvGrpSpPr/>
          <p:nvPr/>
        </p:nvGrpSpPr>
        <p:grpSpPr>
          <a:xfrm>
            <a:off x="5389699" y="3809856"/>
            <a:ext cx="6031242" cy="990179"/>
            <a:chOff x="5484097" y="2695655"/>
            <a:chExt cx="6031242" cy="990179"/>
          </a:xfrm>
        </p:grpSpPr>
        <p:grpSp>
          <p:nvGrpSpPr>
            <p:cNvPr id="96" name="그룹 95">
              <a:extLst>
                <a:ext uri="{FF2B5EF4-FFF2-40B4-BE49-F238E27FC236}">
                  <a16:creationId xmlns:a16="http://schemas.microsoft.com/office/drawing/2014/main" id="{62991CEE-A119-A5D6-DFC3-1BED38921407}"/>
                </a:ext>
              </a:extLst>
            </p:cNvPr>
            <p:cNvGrpSpPr/>
            <p:nvPr/>
          </p:nvGrpSpPr>
          <p:grpSpPr>
            <a:xfrm>
              <a:off x="6115337" y="2695655"/>
              <a:ext cx="5400002" cy="990179"/>
              <a:chOff x="5049325" y="3340748"/>
              <a:chExt cx="4993802" cy="821268"/>
            </a:xfrm>
          </p:grpSpPr>
          <p:sp>
            <p:nvSpPr>
              <p:cNvPr id="100" name="Текст 2">
                <a:extLst>
                  <a:ext uri="{FF2B5EF4-FFF2-40B4-BE49-F238E27FC236}">
                    <a16:creationId xmlns:a16="http://schemas.microsoft.com/office/drawing/2014/main" id="{24969080-3FE1-737A-EB8B-58A6D1A0CC84}"/>
                  </a:ext>
                </a:extLst>
              </p:cNvPr>
              <p:cNvSpPr txBox="1">
                <a:spLocks/>
              </p:cNvSpPr>
              <p:nvPr/>
            </p:nvSpPr>
            <p:spPr>
              <a:xfrm>
                <a:off x="5049327" y="3608868"/>
                <a:ext cx="4993800" cy="553148"/>
              </a:xfrm>
              <a:prstGeom prst="rect">
                <a:avLst/>
              </a:prstGeom>
            </p:spPr>
            <p:txBody>
              <a:bodyPr wrap="square" numCol="1" spcCol="900000" anchor="t"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Differentiation from Others, Promotional Contents</a:t>
                </a:r>
              </a:p>
              <a:p>
                <a:pPr marL="0" indent="0" defTabSz="2438645">
                  <a:lnSpc>
                    <a:spcPts val="2080"/>
                  </a:lnSpc>
                  <a:spcBef>
                    <a:spcPts val="500"/>
                  </a:spcBef>
                  <a:buClr>
                    <a:srgbClr val="D6E5EE"/>
                  </a:buClr>
                  <a:buNone/>
                  <a:defRPr/>
                </a:pPr>
                <a:r>
                  <a:rPr lang="en-US" altLang="ko-KR" sz="1400" spc="-30" dirty="0">
                    <a:ln>
                      <a:solidFill>
                        <a:srgbClr val="9E0B28">
                          <a:alpha val="0"/>
                        </a:srgbClr>
                      </a:solidFill>
                    </a:ln>
                    <a:solidFill>
                      <a:srgbClr val="3C3C3A"/>
                    </a:solidFill>
                    <a:latin typeface="에스코어 드림 4 Regular" panose="020B0503030302020204" pitchFamily="34" charset="-127"/>
                    <a:ea typeface="에스코어 드림 4 Regular" panose="020B0503030302020204" pitchFamily="34" charset="-127"/>
                  </a:rPr>
                  <a:t>Showcasing Nearby Use Cases and Examples</a:t>
                </a:r>
              </a:p>
            </p:txBody>
          </p:sp>
          <p:sp>
            <p:nvSpPr>
              <p:cNvPr id="101" name="Текст 2">
                <a:extLst>
                  <a:ext uri="{FF2B5EF4-FFF2-40B4-BE49-F238E27FC236}">
                    <a16:creationId xmlns:a16="http://schemas.microsoft.com/office/drawing/2014/main" id="{E79932A1-4DF4-5CBC-3CA9-AB38137A8E65}"/>
                  </a:ext>
                </a:extLst>
              </p:cNvPr>
              <p:cNvSpPr txBox="1">
                <a:spLocks/>
              </p:cNvSpPr>
              <p:nvPr/>
            </p:nvSpPr>
            <p:spPr>
              <a:xfrm>
                <a:off x="5049325" y="3340748"/>
                <a:ext cx="3907596" cy="299947"/>
              </a:xfrm>
              <a:prstGeom prst="rect">
                <a:avLst/>
              </a:prstGeom>
            </p:spPr>
            <p:txBody>
              <a:bodyPr wrap="square" numCol="1" spcCol="900000" anchor="ctr" anchorCtr="0">
                <a:spAutoFit/>
              </a:bodyPr>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lnSpc>
                    <a:spcPts val="2080"/>
                  </a:lnSpc>
                  <a:buNone/>
                </a:pPr>
                <a:r>
                  <a:rPr lang="en-US" altLang="ko-KR" sz="1800" b="1" dirty="0">
                    <a:ln>
                      <a:solidFill>
                        <a:srgbClr val="9E0B28">
                          <a:alpha val="0"/>
                        </a:srgbClr>
                      </a:solidFill>
                    </a:ln>
                    <a:solidFill>
                      <a:srgbClr val="961A2F"/>
                    </a:solidFill>
                    <a:latin typeface="Lato Black" panose="020F0502020204030203" pitchFamily="34" charset="0"/>
                    <a:ea typeface="Lato Black" panose="020F0502020204030203" pitchFamily="34" charset="0"/>
                    <a:cs typeface="Lato Black" panose="020F0502020204030203" pitchFamily="34" charset="0"/>
                  </a:rPr>
                  <a:t>Advertisement </a:t>
                </a:r>
              </a:p>
            </p:txBody>
          </p:sp>
        </p:grpSp>
        <p:grpSp>
          <p:nvGrpSpPr>
            <p:cNvPr id="97" name="그룹 96">
              <a:extLst>
                <a:ext uri="{FF2B5EF4-FFF2-40B4-BE49-F238E27FC236}">
                  <a16:creationId xmlns:a16="http://schemas.microsoft.com/office/drawing/2014/main" id="{63D8BB6D-0DF3-82E6-FA88-61A7CB58567D}"/>
                </a:ext>
              </a:extLst>
            </p:cNvPr>
            <p:cNvGrpSpPr/>
            <p:nvPr/>
          </p:nvGrpSpPr>
          <p:grpSpPr>
            <a:xfrm>
              <a:off x="5484097" y="2940317"/>
              <a:ext cx="243731" cy="243731"/>
              <a:chOff x="4797381" y="1673300"/>
              <a:chExt cx="210309" cy="210309"/>
            </a:xfrm>
          </p:grpSpPr>
          <p:sp>
            <p:nvSpPr>
              <p:cNvPr id="98" name="타원 97">
                <a:extLst>
                  <a:ext uri="{FF2B5EF4-FFF2-40B4-BE49-F238E27FC236}">
                    <a16:creationId xmlns:a16="http://schemas.microsoft.com/office/drawing/2014/main" id="{B8F4F880-7922-87A6-8A04-E329FD77EC1C}"/>
                  </a:ext>
                </a:extLst>
              </p:cNvPr>
              <p:cNvSpPr/>
              <p:nvPr/>
            </p:nvSpPr>
            <p:spPr>
              <a:xfrm>
                <a:off x="4797381" y="1673300"/>
                <a:ext cx="210309" cy="210309"/>
              </a:xfrm>
              <a:prstGeom prst="ellipse">
                <a:avLst/>
              </a:prstGeom>
              <a:solidFill>
                <a:schemeClr val="bg1"/>
              </a:solidFill>
              <a:ln w="19050">
                <a:solidFill>
                  <a:srgbClr val="9E0B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sp>
            <p:nvSpPr>
              <p:cNvPr id="99" name="타원 98">
                <a:extLst>
                  <a:ext uri="{FF2B5EF4-FFF2-40B4-BE49-F238E27FC236}">
                    <a16:creationId xmlns:a16="http://schemas.microsoft.com/office/drawing/2014/main" id="{85653D90-C2C3-E150-C351-FCC0AB759B96}"/>
                  </a:ext>
                </a:extLst>
              </p:cNvPr>
              <p:cNvSpPr/>
              <p:nvPr/>
            </p:nvSpPr>
            <p:spPr>
              <a:xfrm>
                <a:off x="4849270" y="1725179"/>
                <a:ext cx="106560" cy="106560"/>
              </a:xfrm>
              <a:prstGeom prst="ellipse">
                <a:avLst/>
              </a:prstGeom>
              <a:solidFill>
                <a:srgbClr val="9E0B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n>
                    <a:solidFill>
                      <a:srgbClr val="9E0B28">
                        <a:alpha val="0"/>
                      </a:srgbClr>
                    </a:solidFill>
                  </a:ln>
                </a:endParaRPr>
              </a:p>
            </p:txBody>
          </p:sp>
        </p:grpSp>
      </p:grpSp>
      <p:sp>
        <p:nvSpPr>
          <p:cNvPr id="57" name="TextBox 56">
            <a:extLst>
              <a:ext uri="{FF2B5EF4-FFF2-40B4-BE49-F238E27FC236}">
                <a16:creationId xmlns:a16="http://schemas.microsoft.com/office/drawing/2014/main" id="{253C3BC0-AB32-7647-B543-F7F89B7548E8}"/>
              </a:ext>
            </a:extLst>
          </p:cNvPr>
          <p:cNvSpPr txBox="1"/>
          <p:nvPr/>
        </p:nvSpPr>
        <p:spPr>
          <a:xfrm>
            <a:off x="811508" y="543248"/>
            <a:ext cx="5284491" cy="461665"/>
          </a:xfrm>
          <a:prstGeom prst="rect">
            <a:avLst/>
          </a:prstGeom>
          <a:noFill/>
        </p:spPr>
        <p:txBody>
          <a:bodyPr wrap="square" rtlCol="0">
            <a:spAutoFit/>
          </a:bodyPr>
          <a:lstStyle/>
          <a:p>
            <a:r>
              <a:rPr kumimoji="1" lang="en-US" altLang="ko-KR" sz="2400" b="1" spc="-30" dirty="0">
                <a:ln>
                  <a:solidFill>
                    <a:srgbClr val="7E8080">
                      <a:alpha val="0"/>
                    </a:srgbClr>
                  </a:solidFill>
                </a:ln>
                <a:solidFill>
                  <a:srgbClr val="3C3C3A"/>
                </a:solidFill>
                <a:latin typeface="에스코어 드림 6 Bold" panose="020B0703030302020204" pitchFamily="34" charset="-127"/>
                <a:ea typeface="에스코어 드림 6 Bold" panose="020B0703030302020204" pitchFamily="34" charset="-127"/>
              </a:rPr>
              <a:t>Key Sales Points</a:t>
            </a:r>
          </a:p>
        </p:txBody>
      </p:sp>
      <p:sp>
        <p:nvSpPr>
          <p:cNvPr id="68" name="TextBox 67">
            <a:extLst>
              <a:ext uri="{FF2B5EF4-FFF2-40B4-BE49-F238E27FC236}">
                <a16:creationId xmlns:a16="http://schemas.microsoft.com/office/drawing/2014/main" id="{615657FC-E7F8-0149-88F2-5B70F9F406F3}"/>
              </a:ext>
            </a:extLst>
          </p:cNvPr>
          <p:cNvSpPr txBox="1"/>
          <p:nvPr/>
        </p:nvSpPr>
        <p:spPr>
          <a:xfrm>
            <a:off x="825991" y="985663"/>
            <a:ext cx="5270007"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Non-Clinical Sales Points</a:t>
            </a:r>
          </a:p>
        </p:txBody>
      </p:sp>
      <p:sp>
        <p:nvSpPr>
          <p:cNvPr id="54" name="TextBox 53">
            <a:extLst>
              <a:ext uri="{FF2B5EF4-FFF2-40B4-BE49-F238E27FC236}">
                <a16:creationId xmlns:a16="http://schemas.microsoft.com/office/drawing/2014/main" id="{8597C287-48D7-42DB-B9C6-A8CC1D111EA4}"/>
              </a:ext>
            </a:extLst>
          </p:cNvPr>
          <p:cNvSpPr txBox="1"/>
          <p:nvPr/>
        </p:nvSpPr>
        <p:spPr>
          <a:xfrm>
            <a:off x="331487" y="523998"/>
            <a:ext cx="704480" cy="461665"/>
          </a:xfrm>
          <a:prstGeom prst="rect">
            <a:avLst/>
          </a:prstGeom>
          <a:noFill/>
        </p:spPr>
        <p:txBody>
          <a:bodyPr wrap="square" rtlCol="0">
            <a:spAutoFit/>
          </a:bodyPr>
          <a:lstStyle/>
          <a:p>
            <a:r>
              <a:rPr lang="en-US" altLang="ko-KR" sz="24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4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55" name="바닥글 개체 틀 2">
            <a:extLst>
              <a:ext uri="{FF2B5EF4-FFF2-40B4-BE49-F238E27FC236}">
                <a16:creationId xmlns:a16="http://schemas.microsoft.com/office/drawing/2014/main" id="{2B913BD4-38F7-4A4D-9E10-75474FA34FF0}"/>
              </a:ext>
            </a:extLst>
          </p:cNvPr>
          <p:cNvSpPr txBox="1">
            <a:spLocks/>
          </p:cNvSpPr>
          <p:nvPr/>
        </p:nvSpPr>
        <p:spPr>
          <a:xfrm>
            <a:off x="6943725" y="6356350"/>
            <a:ext cx="4114800" cy="365125"/>
          </a:xfrm>
          <a:prstGeom prst="rect">
            <a:avLst/>
          </a:prstGeom>
        </p:spPr>
        <p:txBody>
          <a:bodyPr vert="horz" lIns="91440" tIns="45720" rIns="91440" bIns="45720" rtlCol="0" anchor="ctr"/>
          <a:lstStyle>
            <a:defPPr>
              <a:defRPr lang="x-none"/>
            </a:defPPr>
            <a:lvl1pPr marL="0" algn="ctr" defTabSz="914400" rtl="0" eaLnBrk="1" latinLnBrk="0" hangingPunct="1">
              <a:defRPr sz="800" kern="1200">
                <a:solidFill>
                  <a:srgbClr val="656E7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gn="r">
              <a:lnSpc>
                <a:spcPct val="90000"/>
              </a:lnSpc>
              <a:spcBef>
                <a:spcPts val="1000"/>
              </a:spcBef>
              <a:buFont typeface="Arial" panose="020B0604020202020204" pitchFamily="34" charset="0"/>
              <a:buNone/>
            </a:pPr>
            <a:r>
              <a:rPr lang="en-US" altLang="ko-KR" b="1" dirty="0">
                <a:ln>
                  <a:solidFill>
                    <a:schemeClr val="tx1">
                      <a:lumMod val="65000"/>
                      <a:lumOff val="35000"/>
                      <a:alpha val="0"/>
                    </a:schemeClr>
                  </a:solidFill>
                </a:ln>
                <a:latin typeface="에스코어 드림 4 Regular" panose="020B0503030302020204" pitchFamily="34" charset="-127"/>
                <a:ea typeface="에스코어 드림 4 Regular" panose="020B0503030302020204" pitchFamily="34" charset="-127"/>
              </a:rPr>
              <a:t>Nephrology / Dialysis Center Clinical Sales – Alice Jung</a:t>
            </a:r>
            <a:endParaRPr lang="ko-KR" altLang="en-US" b="1" dirty="0">
              <a:ln>
                <a:solidFill>
                  <a:schemeClr val="tx1">
                    <a:lumMod val="65000"/>
                    <a:lumOff val="35000"/>
                    <a:alpha val="0"/>
                  </a:schemeClr>
                </a:solidFill>
              </a:ln>
              <a:latin typeface="에스코어 드림 4 Regular" panose="020B0503030302020204" pitchFamily="34" charset="-127"/>
              <a:ea typeface="에스코어 드림 4 Regular" panose="020B0503030302020204" pitchFamily="34" charset="-127"/>
            </a:endParaRPr>
          </a:p>
        </p:txBody>
      </p:sp>
    </p:spTree>
    <p:extLst>
      <p:ext uri="{BB962C8B-B14F-4D97-AF65-F5344CB8AC3E}">
        <p14:creationId xmlns:p14="http://schemas.microsoft.com/office/powerpoint/2010/main" val="2456502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8271BDF-AC03-4748-8C05-1D490119D647}"/>
              </a:ext>
            </a:extLst>
          </p:cNvPr>
          <p:cNvSpPr txBox="1"/>
          <p:nvPr/>
        </p:nvSpPr>
        <p:spPr>
          <a:xfrm>
            <a:off x="903259" y="64756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Target Dry Weight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모서리가 둥근 직사각형 4"/>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8" name="TextBox 17">
            <a:extLst>
              <a:ext uri="{FF2B5EF4-FFF2-40B4-BE49-F238E27FC236}">
                <a16:creationId xmlns:a16="http://schemas.microsoft.com/office/drawing/2014/main" id="{04D80936-435F-FEF9-F29E-88F333DAF5CA}"/>
              </a:ext>
            </a:extLst>
          </p:cNvPr>
          <p:cNvSpPr txBox="1"/>
          <p:nvPr/>
        </p:nvSpPr>
        <p:spPr>
          <a:xfrm>
            <a:off x="5639106" y="2644784"/>
            <a:ext cx="4864635" cy="3795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panose="020B0604020202020204" pitchFamily="34" charset="0"/>
              <a:buChar char="•"/>
            </a:pPr>
            <a:r>
              <a:rPr lang="en-US" altLang="ko-KR" sz="14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Normal Range</a:t>
            </a:r>
            <a:r>
              <a:rPr lang="ko-KR" altLang="en-US" sz="14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rPr>
              <a:t> </a:t>
            </a: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Below 0.390</a:t>
            </a:r>
            <a:endParaRPr lang="ko-KR" altLang="en-US" sz="1400" dirty="0">
              <a:solidFill>
                <a:srgbClr val="4B4F5A"/>
              </a:solidFill>
              <a:latin typeface="Lato Black" panose="020F0502020204030203" pitchFamily="34" charset="0"/>
              <a:ea typeface="에스코어 드림 5 Medium" panose="020B0503030302020204" pitchFamily="34" charset="-127"/>
              <a:cs typeface="Lato Black" panose="020F0502020204030203" pitchFamily="34" charset="0"/>
            </a:endParaRPr>
          </a:p>
        </p:txBody>
      </p:sp>
      <p:pic>
        <p:nvPicPr>
          <p:cNvPr id="19" name="그림 18"/>
          <p:cNvPicPr>
            <a:picLocks noChangeAspect="1"/>
          </p:cNvPicPr>
          <p:nvPr/>
        </p:nvPicPr>
        <p:blipFill rotWithShape="1">
          <a:blip r:embed="rId3" cstate="print">
            <a:extLst>
              <a:ext uri="{28A0092B-C50C-407E-A947-70E740481C1C}">
                <a14:useLocalDpi xmlns:a14="http://schemas.microsoft.com/office/drawing/2010/main" val="0"/>
              </a:ext>
            </a:extLst>
          </a:blip>
          <a:srcRect l="4141" t="71137" r="36835" b="21085"/>
          <a:stretch/>
        </p:blipFill>
        <p:spPr>
          <a:xfrm>
            <a:off x="6014706" y="3052808"/>
            <a:ext cx="3820855" cy="709444"/>
          </a:xfrm>
          <a:prstGeom prst="rect">
            <a:avLst/>
          </a:prstGeom>
        </p:spPr>
      </p:pic>
      <p:sp>
        <p:nvSpPr>
          <p:cNvPr id="21" name="TextBox 20"/>
          <p:cNvSpPr txBox="1"/>
          <p:nvPr/>
        </p:nvSpPr>
        <p:spPr>
          <a:xfrm>
            <a:off x="5473718" y="1177736"/>
            <a:ext cx="6043234" cy="748346"/>
          </a:xfrm>
          <a:prstGeom prst="rect">
            <a:avLst/>
          </a:prstGeom>
          <a:noFill/>
        </p:spPr>
        <p:txBody>
          <a:bodyPr wrap="square" rtlCol="0">
            <a:spAutoFit/>
          </a:bodyPr>
          <a:lstStyle/>
          <a:p>
            <a:pPr>
              <a:lnSpc>
                <a:spcPct val="150000"/>
              </a:lnSpc>
            </a:pPr>
            <a:r>
              <a:rPr lang="en-US" altLang="ko-KR" dirty="0">
                <a:latin typeface="Lato Black" panose="020F0502020204030203" pitchFamily="34" charset="0"/>
                <a:ea typeface="에스코어 드림 5 Medium" panose="020B0503030302020204" pitchFamily="34" charset="-127"/>
                <a:cs typeface="Lato Black" panose="020F0502020204030203" pitchFamily="34" charset="0"/>
              </a:rPr>
              <a:t>proportion of extracellular water to total body water.</a:t>
            </a:r>
          </a:p>
          <a:p>
            <a:pPr>
              <a:lnSpc>
                <a:spcPct val="150000"/>
              </a:lnSpc>
            </a:pPr>
            <a:r>
              <a:rPr lang="en-US" altLang="ko-KR" sz="1200" dirty="0">
                <a:solidFill>
                  <a:srgbClr val="981010"/>
                </a:solidFill>
                <a:latin typeface="Lato Black" panose="020F0502020204030203" pitchFamily="34" charset="0"/>
                <a:ea typeface="에스코어 드림 5 Medium" panose="020B0503030302020204" pitchFamily="34" charset="-127"/>
                <a:cs typeface="Lato Black" panose="020F0502020204030203" pitchFamily="34" charset="0"/>
              </a:rPr>
              <a:t>Extracellular Water (ECW) </a:t>
            </a:r>
            <a:r>
              <a:rPr lang="en-US" altLang="ko-KR" sz="1200" dirty="0">
                <a:solidFill>
                  <a:srgbClr val="981010"/>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200" dirty="0">
                <a:solidFill>
                  <a:srgbClr val="981010"/>
                </a:solidFill>
                <a:latin typeface="Lato Black" panose="020F0502020204030203" pitchFamily="34" charset="0"/>
                <a:ea typeface="에스코어 드림 5 Medium" panose="020B0503030302020204" pitchFamily="34" charset="-127"/>
                <a:cs typeface="Lato Black" panose="020F0502020204030203" pitchFamily="34" charset="0"/>
              </a:rPr>
              <a:t>Total Body Water </a:t>
            </a:r>
            <a:r>
              <a:rPr lang="en-US" altLang="ko-KR" sz="1200" dirty="0">
                <a:solidFill>
                  <a:srgbClr val="981010"/>
                </a:solidFill>
                <a:latin typeface="Lato Black" panose="020F0502020204030203" pitchFamily="34" charset="0"/>
                <a:ea typeface="Lato Black" panose="020F0502020204030203" pitchFamily="34" charset="0"/>
                <a:cs typeface="Lato Black" panose="020F0502020204030203" pitchFamily="34" charset="0"/>
              </a:rPr>
              <a:t>(TBW)</a:t>
            </a:r>
            <a:endParaRPr lang="ko-KR" altLang="en-US" sz="1200" dirty="0">
              <a:solidFill>
                <a:srgbClr val="981010"/>
              </a:solidFill>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22" name="TextBox 21"/>
          <p:cNvSpPr txBox="1"/>
          <p:nvPr/>
        </p:nvSpPr>
        <p:spPr>
          <a:xfrm>
            <a:off x="3282700" y="1210422"/>
            <a:ext cx="2136859" cy="461665"/>
          </a:xfrm>
          <a:prstGeom prst="rect">
            <a:avLst/>
          </a:prstGeom>
          <a:noFill/>
        </p:spPr>
        <p:txBody>
          <a:bodyPr wrap="square" rtlCol="0">
            <a:spAutoFit/>
          </a:bodyPr>
          <a:lstStyle/>
          <a:p>
            <a:pPr algn="r"/>
            <a:r>
              <a:rPr lang="en-US" altLang="ko-KR" sz="2400" dirty="0">
                <a:solidFill>
                  <a:srgbClr val="90001F"/>
                </a:solidFill>
                <a:latin typeface="Lato Black" panose="020F0502020204030203" pitchFamily="34" charset="0"/>
                <a:ea typeface="에스코어 드림 5 Medium" panose="020B0503030302020204" pitchFamily="34" charset="-127"/>
                <a:cs typeface="Lato Black" panose="020F0502020204030203" pitchFamily="34" charset="0"/>
              </a:rPr>
              <a:t>ECW Ratio</a:t>
            </a:r>
            <a:endParaRPr lang="ko-KR" altLang="en-US" sz="2400" dirty="0">
              <a:solidFill>
                <a:srgbClr val="90001F"/>
              </a:solidFill>
              <a:latin typeface="Lato Black" panose="020F0502020204030203" pitchFamily="34" charset="0"/>
              <a:ea typeface="에스코어 드림 5 Medium" panose="020B0503030302020204" pitchFamily="34" charset="-127"/>
              <a:cs typeface="Lato Black" panose="020F0502020204030203" pitchFamily="34" charset="0"/>
            </a:endParaRPr>
          </a:p>
        </p:txBody>
      </p:sp>
      <p:cxnSp>
        <p:nvCxnSpPr>
          <p:cNvPr id="24" name="직선 연결선 23"/>
          <p:cNvCxnSpPr/>
          <p:nvPr/>
        </p:nvCxnSpPr>
        <p:spPr>
          <a:xfrm>
            <a:off x="5420911" y="1260684"/>
            <a:ext cx="0" cy="594843"/>
          </a:xfrm>
          <a:prstGeom prst="line">
            <a:avLst/>
          </a:prstGeom>
          <a:ln w="19050">
            <a:solidFill>
              <a:srgbClr val="921F36"/>
            </a:solidFill>
          </a:ln>
        </p:spPr>
        <p:style>
          <a:lnRef idx="1">
            <a:schemeClr val="accent1"/>
          </a:lnRef>
          <a:fillRef idx="0">
            <a:schemeClr val="accent1"/>
          </a:fillRef>
          <a:effectRef idx="0">
            <a:schemeClr val="accent1"/>
          </a:effectRef>
          <a:fontRef idx="minor">
            <a:schemeClr val="tx1"/>
          </a:fontRef>
        </p:style>
      </p:cxnSp>
      <p:sp>
        <p:nvSpPr>
          <p:cNvPr id="26" name="직사각형 25"/>
          <p:cNvSpPr/>
          <p:nvPr/>
        </p:nvSpPr>
        <p:spPr>
          <a:xfrm>
            <a:off x="6289638" y="3997887"/>
            <a:ext cx="4907869" cy="960584"/>
          </a:xfrm>
          <a:prstGeom prst="rect">
            <a:avLst/>
          </a:prstGeom>
        </p:spPr>
        <p:txBody>
          <a:bodyPr wrap="square">
            <a:spAutoFit/>
          </a:bodyPr>
          <a:lstStyle/>
          <a:p>
            <a:pPr algn="just">
              <a:lnSpc>
                <a:spcPct val="150000"/>
              </a:lnSpc>
            </a:pPr>
            <a:r>
              <a:rPr lang="en-US" altLang="ko-KR" sz="1500" dirty="0">
                <a:solidFill>
                  <a:srgbClr val="90001F"/>
                </a:solidFill>
                <a:latin typeface="Lato Black" panose="020F0502020204030203" pitchFamily="34" charset="0"/>
                <a:ea typeface="Lato Black" panose="020F0502020204030203" pitchFamily="34" charset="0"/>
                <a:cs typeface="Lato Black" panose="020F0502020204030203" pitchFamily="34" charset="0"/>
                <a:sym typeface="Wingdings" panose="05000000000000000000" pitchFamily="2" charset="2"/>
              </a:rPr>
              <a:t>When ICW is sufficient, </a:t>
            </a:r>
          </a:p>
          <a:p>
            <a:pPr algn="just">
              <a:lnSpc>
                <a:spcPct val="150000"/>
              </a:lnSpc>
            </a:pPr>
            <a:r>
              <a:rPr lang="en-US" altLang="ko-KR" sz="1200" dirty="0">
                <a:solidFill>
                  <a:schemeClr val="tx1">
                    <a:lumMod val="65000"/>
                    <a:lumOff val="35000"/>
                  </a:schemeClr>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Adequate nutrients can be transported into cells which can support cellular metabolism, aiding in energy production.</a:t>
            </a:r>
            <a:endParaRPr lang="en-US" altLang="ko-KR" sz="1200" dirty="0">
              <a:solidFill>
                <a:schemeClr val="tx1">
                  <a:lumMod val="65000"/>
                  <a:lumOff val="35000"/>
                </a:schemeClr>
              </a:solidFill>
              <a:latin typeface="Lato Black" panose="020F0502020204030203" pitchFamily="34" charset="0"/>
              <a:ea typeface="Lato Black" panose="020F0502020204030203" pitchFamily="34" charset="0"/>
              <a:cs typeface="Lato Black" panose="020F0502020204030203" pitchFamily="34" charset="0"/>
              <a:sym typeface="Wingdings" panose="05000000000000000000" pitchFamily="2" charset="2"/>
            </a:endParaRPr>
          </a:p>
        </p:txBody>
      </p:sp>
      <p:sp>
        <p:nvSpPr>
          <p:cNvPr id="27" name="직사각형 26"/>
          <p:cNvSpPr/>
          <p:nvPr/>
        </p:nvSpPr>
        <p:spPr>
          <a:xfrm>
            <a:off x="6289637" y="5076796"/>
            <a:ext cx="4907870" cy="956096"/>
          </a:xfrm>
          <a:prstGeom prst="rect">
            <a:avLst/>
          </a:prstGeom>
        </p:spPr>
        <p:txBody>
          <a:bodyPr wrap="square">
            <a:spAutoFit/>
          </a:bodyPr>
          <a:lstStyle/>
          <a:p>
            <a:pPr algn="just">
              <a:lnSpc>
                <a:spcPct val="150000"/>
              </a:lnSpc>
            </a:pPr>
            <a:r>
              <a:rPr lang="en-US" altLang="ko-KR" sz="1500" dirty="0">
                <a:solidFill>
                  <a:srgbClr val="90001F"/>
                </a:solidFill>
                <a:latin typeface="Lato Black" panose="020F0502020204030203" pitchFamily="34" charset="0"/>
                <a:ea typeface="Lato Black" panose="020F0502020204030203" pitchFamily="34" charset="0"/>
                <a:cs typeface="Lato Black" panose="020F0502020204030203" pitchFamily="34" charset="0"/>
                <a:sym typeface="Wingdings" panose="05000000000000000000" pitchFamily="2" charset="2"/>
              </a:rPr>
              <a:t>Higher proportion of ECW compared to ICW, </a:t>
            </a:r>
          </a:p>
          <a:p>
            <a:pPr algn="just">
              <a:lnSpc>
                <a:spcPct val="150000"/>
              </a:lnSpc>
            </a:pPr>
            <a:r>
              <a:rPr lang="en-US" altLang="ko-KR" sz="1200" dirty="0">
                <a:solidFill>
                  <a:schemeClr val="tx1">
                    <a:lumMod val="65000"/>
                    <a:lumOff val="35000"/>
                  </a:schemeClr>
                </a:solidFill>
                <a:latin typeface="Lato Black" panose="020F0502020204030203" pitchFamily="34" charset="0"/>
                <a:ea typeface="에스코어 드림 5 Medium" panose="020B0503030302020204" pitchFamily="34" charset="-127"/>
                <a:cs typeface="Lato Black" panose="020F0502020204030203" pitchFamily="34" charset="0"/>
                <a:sym typeface="Wingdings" panose="05000000000000000000" pitchFamily="2" charset="2"/>
              </a:rPr>
              <a:t>it may indicate potential health issues such as hormonal imbalances, excessive salt intake, or a high level of toxins in the body.</a:t>
            </a:r>
            <a:endParaRPr lang="en-US" altLang="ko-KR" sz="1200" dirty="0">
              <a:solidFill>
                <a:schemeClr val="tx1">
                  <a:lumMod val="65000"/>
                  <a:lumOff val="35000"/>
                </a:schemeClr>
              </a:solidFill>
              <a:latin typeface="Lato Black" panose="020F0502020204030203" pitchFamily="34" charset="0"/>
              <a:ea typeface="Lato Black" panose="020F0502020204030203" pitchFamily="34" charset="0"/>
              <a:cs typeface="Lato Black" panose="020F0502020204030203" pitchFamily="34" charset="0"/>
              <a:sym typeface="Wingdings" panose="05000000000000000000" pitchFamily="2" charset="2"/>
            </a:endParaRPr>
          </a:p>
        </p:txBody>
      </p:sp>
      <p:grpSp>
        <p:nvGrpSpPr>
          <p:cNvPr id="28" name="그룹 27">
            <a:extLst>
              <a:ext uri="{FF2B5EF4-FFF2-40B4-BE49-F238E27FC236}">
                <a16:creationId xmlns:a16="http://schemas.microsoft.com/office/drawing/2014/main" id="{04BBD52A-B00D-B52D-D2BE-7ED77E4B2731}"/>
              </a:ext>
            </a:extLst>
          </p:cNvPr>
          <p:cNvGrpSpPr/>
          <p:nvPr/>
        </p:nvGrpSpPr>
        <p:grpSpPr>
          <a:xfrm>
            <a:off x="6057826" y="4126192"/>
            <a:ext cx="233727" cy="233726"/>
            <a:chOff x="2701227" y="-1816305"/>
            <a:chExt cx="7728206" cy="7728208"/>
          </a:xfrm>
        </p:grpSpPr>
        <p:sp>
          <p:nvSpPr>
            <p:cNvPr id="29"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0" name="타원 29">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grpSp>
        <p:nvGrpSpPr>
          <p:cNvPr id="31" name="그룹 30">
            <a:extLst>
              <a:ext uri="{FF2B5EF4-FFF2-40B4-BE49-F238E27FC236}">
                <a16:creationId xmlns:a16="http://schemas.microsoft.com/office/drawing/2014/main" id="{04BBD52A-B00D-B52D-D2BE-7ED77E4B2731}"/>
              </a:ext>
            </a:extLst>
          </p:cNvPr>
          <p:cNvGrpSpPr/>
          <p:nvPr/>
        </p:nvGrpSpPr>
        <p:grpSpPr>
          <a:xfrm>
            <a:off x="6057826" y="5182052"/>
            <a:ext cx="233727" cy="233726"/>
            <a:chOff x="2701227" y="-1816305"/>
            <a:chExt cx="7728206" cy="7728208"/>
          </a:xfrm>
        </p:grpSpPr>
        <p:sp>
          <p:nvSpPr>
            <p:cNvPr id="3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4" name="타원 3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grpSp>
        <p:nvGrpSpPr>
          <p:cNvPr id="114" name="그룹 113"/>
          <p:cNvGrpSpPr/>
          <p:nvPr/>
        </p:nvGrpSpPr>
        <p:grpSpPr>
          <a:xfrm>
            <a:off x="1830049" y="2904917"/>
            <a:ext cx="3425991" cy="2807211"/>
            <a:chOff x="369757" y="4395548"/>
            <a:chExt cx="2682922" cy="2198351"/>
          </a:xfrm>
        </p:grpSpPr>
        <p:sp>
          <p:nvSpPr>
            <p:cNvPr id="115" name="직사각형 114"/>
            <p:cNvSpPr/>
            <p:nvPr/>
          </p:nvSpPr>
          <p:spPr>
            <a:xfrm>
              <a:off x="1513404" y="5700777"/>
              <a:ext cx="647700" cy="759312"/>
            </a:xfrm>
            <a:prstGeom prst="rect">
              <a:avLst/>
            </a:prstGeom>
            <a:solidFill>
              <a:srgbClr val="FFBD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116" name="직사각형 115"/>
            <p:cNvSpPr/>
            <p:nvPr/>
          </p:nvSpPr>
          <p:spPr>
            <a:xfrm>
              <a:off x="1513404" y="4585439"/>
              <a:ext cx="647700" cy="1115338"/>
            </a:xfrm>
            <a:prstGeom prst="rect">
              <a:avLst/>
            </a:prstGeom>
            <a:solidFill>
              <a:srgbClr val="BE92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117" name="직사각형 116"/>
            <p:cNvSpPr/>
            <p:nvPr/>
          </p:nvSpPr>
          <p:spPr>
            <a:xfrm>
              <a:off x="1513404" y="4407639"/>
              <a:ext cx="647700" cy="177800"/>
            </a:xfrm>
            <a:prstGeom prst="rect">
              <a:avLst/>
            </a:prstGeom>
            <a:solidFill>
              <a:srgbClr val="44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118" name="TextBox 117"/>
            <p:cNvSpPr txBox="1"/>
            <p:nvPr/>
          </p:nvSpPr>
          <p:spPr>
            <a:xfrm>
              <a:off x="369757" y="5083955"/>
              <a:ext cx="474764" cy="578454"/>
            </a:xfrm>
            <a:prstGeom prst="rect">
              <a:avLst/>
            </a:prstGeom>
            <a:noFill/>
          </p:spPr>
          <p:txBody>
            <a:bodyPr wrap="none" rtlCol="0">
              <a:spAutoFit/>
            </a:bodyPr>
            <a:lstStyle/>
            <a:p>
              <a:r>
                <a:rPr lang="en-US" altLang="ko-KR" sz="14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Total</a:t>
              </a:r>
            </a:p>
            <a:p>
              <a:r>
                <a:rPr lang="en-US" altLang="ko-KR" sz="14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Body</a:t>
              </a:r>
            </a:p>
            <a:p>
              <a:r>
                <a:rPr lang="en-US" altLang="ko-KR" sz="14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Fluid</a:t>
              </a:r>
            </a:p>
          </p:txBody>
        </p:sp>
        <p:cxnSp>
          <p:nvCxnSpPr>
            <p:cNvPr id="119" name="직선 연결선 118"/>
            <p:cNvCxnSpPr/>
            <p:nvPr/>
          </p:nvCxnSpPr>
          <p:spPr>
            <a:xfrm>
              <a:off x="535133" y="4407639"/>
              <a:ext cx="1302121"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cxnSp>
          <p:nvCxnSpPr>
            <p:cNvPr id="120" name="직선 연결선 119"/>
            <p:cNvCxnSpPr/>
            <p:nvPr/>
          </p:nvCxnSpPr>
          <p:spPr>
            <a:xfrm>
              <a:off x="535133" y="6538977"/>
              <a:ext cx="978271"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cxnSp>
          <p:nvCxnSpPr>
            <p:cNvPr id="121" name="직선 화살표 연결선 120"/>
            <p:cNvCxnSpPr/>
            <p:nvPr/>
          </p:nvCxnSpPr>
          <p:spPr>
            <a:xfrm>
              <a:off x="640949" y="5875393"/>
              <a:ext cx="0" cy="660409"/>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직선 화살표 연결선 121"/>
            <p:cNvCxnSpPr/>
            <p:nvPr/>
          </p:nvCxnSpPr>
          <p:spPr>
            <a:xfrm flipV="1">
              <a:off x="640949" y="4407639"/>
              <a:ext cx="0" cy="647700"/>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직선 연결선 122"/>
            <p:cNvCxnSpPr/>
            <p:nvPr/>
          </p:nvCxnSpPr>
          <p:spPr>
            <a:xfrm>
              <a:off x="1088506" y="5691252"/>
              <a:ext cx="424898"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1046237" y="4985109"/>
              <a:ext cx="369317" cy="241023"/>
            </a:xfrm>
            <a:prstGeom prst="rect">
              <a:avLst/>
            </a:prstGeom>
            <a:noFill/>
          </p:spPr>
          <p:txBody>
            <a:bodyPr wrap="none" rtlCol="0">
              <a:spAutoFit/>
            </a:bodyPr>
            <a:lstStyle/>
            <a:p>
              <a:r>
                <a:rPr lang="en-US" altLang="ko-KR" sz="14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ICF</a:t>
              </a:r>
            </a:p>
          </p:txBody>
        </p:sp>
        <p:sp>
          <p:nvSpPr>
            <p:cNvPr id="125" name="TextBox 124"/>
            <p:cNvSpPr txBox="1"/>
            <p:nvPr/>
          </p:nvSpPr>
          <p:spPr>
            <a:xfrm>
              <a:off x="1046237" y="5972134"/>
              <a:ext cx="396934" cy="241023"/>
            </a:xfrm>
            <a:prstGeom prst="rect">
              <a:avLst/>
            </a:prstGeom>
            <a:noFill/>
          </p:spPr>
          <p:txBody>
            <a:bodyPr wrap="none" rtlCol="0">
              <a:spAutoFit/>
            </a:bodyPr>
            <a:lstStyle/>
            <a:p>
              <a:r>
                <a:rPr lang="en-US" altLang="ko-KR" sz="14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ECF</a:t>
              </a:r>
            </a:p>
          </p:txBody>
        </p:sp>
        <p:cxnSp>
          <p:nvCxnSpPr>
            <p:cNvPr id="126" name="직선 화살표 연결선 125"/>
            <p:cNvCxnSpPr/>
            <p:nvPr/>
          </p:nvCxnSpPr>
          <p:spPr>
            <a:xfrm flipV="1">
              <a:off x="1262094" y="4407639"/>
              <a:ext cx="0" cy="542012"/>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직선 화살표 연결선 126"/>
            <p:cNvCxnSpPr/>
            <p:nvPr/>
          </p:nvCxnSpPr>
          <p:spPr>
            <a:xfrm>
              <a:off x="1262094" y="5292886"/>
              <a:ext cx="0" cy="398366"/>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직선 화살표 연결선 127"/>
            <p:cNvCxnSpPr/>
            <p:nvPr/>
          </p:nvCxnSpPr>
          <p:spPr>
            <a:xfrm flipV="1">
              <a:off x="1262094" y="5700777"/>
              <a:ext cx="0" cy="277574"/>
            </a:xfrm>
            <a:prstGeom prst="straightConnector1">
              <a:avLst/>
            </a:prstGeom>
            <a:ln>
              <a:solidFill>
                <a:srgbClr val="444A55"/>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직선 화살표 연결선 128"/>
            <p:cNvCxnSpPr/>
            <p:nvPr/>
          </p:nvCxnSpPr>
          <p:spPr>
            <a:xfrm>
              <a:off x="1262094" y="6243697"/>
              <a:ext cx="0" cy="273497"/>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a:off x="2161104" y="4585439"/>
              <a:ext cx="311702"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p:nvPr/>
          </p:nvCxnSpPr>
          <p:spPr>
            <a:xfrm>
              <a:off x="2161104" y="6460089"/>
              <a:ext cx="311702"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sp>
          <p:nvSpPr>
            <p:cNvPr id="132" name="직사각형 131"/>
            <p:cNvSpPr/>
            <p:nvPr/>
          </p:nvSpPr>
          <p:spPr>
            <a:xfrm>
              <a:off x="1513404" y="6460089"/>
              <a:ext cx="647700" cy="91179"/>
            </a:xfrm>
            <a:prstGeom prst="rect">
              <a:avLst/>
            </a:prstGeom>
            <a:solidFill>
              <a:srgbClr val="44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ea typeface="에스코어 드림 5 Medium" panose="020B0503030302020204" pitchFamily="34" charset="-127"/>
                <a:cs typeface="Lato Black" panose="020F0502020204030203" pitchFamily="34" charset="0"/>
              </a:endParaRPr>
            </a:p>
          </p:txBody>
        </p:sp>
        <p:cxnSp>
          <p:nvCxnSpPr>
            <p:cNvPr id="133" name="직선 화살표 연결선 132"/>
            <p:cNvCxnSpPr/>
            <p:nvPr/>
          </p:nvCxnSpPr>
          <p:spPr>
            <a:xfrm flipV="1">
              <a:off x="2328894" y="4585439"/>
              <a:ext cx="0" cy="835938"/>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sp>
          <p:nvSpPr>
            <p:cNvPr id="134" name="TextBox 133"/>
            <p:cNvSpPr txBox="1"/>
            <p:nvPr/>
          </p:nvSpPr>
          <p:spPr>
            <a:xfrm>
              <a:off x="2118541" y="5416375"/>
              <a:ext cx="476973" cy="241023"/>
            </a:xfrm>
            <a:prstGeom prst="rect">
              <a:avLst/>
            </a:prstGeom>
            <a:noFill/>
          </p:spPr>
          <p:txBody>
            <a:bodyPr wrap="none" rtlCol="0">
              <a:spAutoFit/>
            </a:bodyPr>
            <a:lstStyle/>
            <a:p>
              <a:r>
                <a:rPr lang="en-US" altLang="ko-KR" sz="14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TBW</a:t>
              </a:r>
            </a:p>
          </p:txBody>
        </p:sp>
        <p:cxnSp>
          <p:nvCxnSpPr>
            <p:cNvPr id="135" name="직선 화살표 연결선 134"/>
            <p:cNvCxnSpPr/>
            <p:nvPr/>
          </p:nvCxnSpPr>
          <p:spPr>
            <a:xfrm>
              <a:off x="2328894" y="5691252"/>
              <a:ext cx="0" cy="768837"/>
            </a:xfrm>
            <a:prstGeom prst="straightConnector1">
              <a:avLst/>
            </a:prstGeom>
            <a:ln>
              <a:solidFill>
                <a:srgbClr val="6D6E71"/>
              </a:solidFill>
              <a:tailEnd type="triangle"/>
            </a:ln>
          </p:spPr>
          <p:style>
            <a:lnRef idx="1">
              <a:schemeClr val="accent1"/>
            </a:lnRef>
            <a:fillRef idx="0">
              <a:schemeClr val="accent1"/>
            </a:fillRef>
            <a:effectRef idx="0">
              <a:schemeClr val="accent1"/>
            </a:effectRef>
            <a:fontRef idx="minor">
              <a:schemeClr val="tx1"/>
            </a:fontRef>
          </p:style>
        </p:cxnSp>
        <p:sp>
          <p:nvSpPr>
            <p:cNvPr id="136" name="TextBox 135"/>
            <p:cNvSpPr txBox="1"/>
            <p:nvPr/>
          </p:nvSpPr>
          <p:spPr>
            <a:xfrm>
              <a:off x="1706817" y="4395548"/>
              <a:ext cx="236253" cy="192818"/>
            </a:xfrm>
            <a:prstGeom prst="rect">
              <a:avLst/>
            </a:prstGeom>
            <a:noFill/>
          </p:spPr>
          <p:txBody>
            <a:bodyPr wrap="none" rtlCol="0">
              <a:spAutoFit/>
            </a:bodyPr>
            <a:lstStyle/>
            <a:p>
              <a:r>
                <a:rPr lang="en-US" altLang="ko-KR" sz="1000" dirty="0" err="1">
                  <a:solidFill>
                    <a:schemeClr val="bg1"/>
                  </a:solidFill>
                  <a:latin typeface="Lato Black" panose="020F0502020204030203" pitchFamily="34" charset="0"/>
                  <a:ea typeface="Lato Black" panose="020F0502020204030203" pitchFamily="34" charset="0"/>
                  <a:cs typeface="Lato Black" panose="020F0502020204030203" pitchFamily="34" charset="0"/>
                </a:rPr>
                <a:t>Ri</a:t>
              </a:r>
              <a:endParaRPr lang="en-US" altLang="ko-KR" sz="1000"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37" name="TextBox 136"/>
            <p:cNvSpPr txBox="1"/>
            <p:nvPr/>
          </p:nvSpPr>
          <p:spPr>
            <a:xfrm>
              <a:off x="1702181" y="6401081"/>
              <a:ext cx="270146" cy="192818"/>
            </a:xfrm>
            <a:prstGeom prst="rect">
              <a:avLst/>
            </a:prstGeom>
            <a:noFill/>
          </p:spPr>
          <p:txBody>
            <a:bodyPr wrap="none" rtlCol="0">
              <a:spAutoFit/>
            </a:bodyPr>
            <a:lstStyle/>
            <a:p>
              <a:r>
                <a:rPr lang="en-US" altLang="ko-KR" sz="1000" dirty="0">
                  <a:solidFill>
                    <a:schemeClr val="bg1"/>
                  </a:solidFill>
                  <a:latin typeface="Lato Black" panose="020F0502020204030203" pitchFamily="34" charset="0"/>
                  <a:ea typeface="Lato Black" panose="020F0502020204030203" pitchFamily="34" charset="0"/>
                  <a:cs typeface="Lato Black" panose="020F0502020204030203" pitchFamily="34" charset="0"/>
                </a:rPr>
                <a:t>Re</a:t>
              </a:r>
            </a:p>
          </p:txBody>
        </p:sp>
        <p:sp>
          <p:nvSpPr>
            <p:cNvPr id="138" name="TextBox 137"/>
            <p:cNvSpPr txBox="1"/>
            <p:nvPr/>
          </p:nvSpPr>
          <p:spPr>
            <a:xfrm>
              <a:off x="1612903" y="4853049"/>
              <a:ext cx="345465" cy="192818"/>
            </a:xfrm>
            <a:prstGeom prst="rect">
              <a:avLst/>
            </a:prstGeom>
            <a:noFill/>
          </p:spPr>
          <p:txBody>
            <a:bodyPr wrap="none" rtlCol="0">
              <a:spAutoFit/>
            </a:bodyPr>
            <a:lstStyle/>
            <a:p>
              <a:r>
                <a:rPr lang="en-US" altLang="ko-KR" sz="1000" dirty="0">
                  <a:solidFill>
                    <a:schemeClr val="bg1"/>
                  </a:solidFill>
                  <a:latin typeface="Lato Black" panose="020F0502020204030203" pitchFamily="34" charset="0"/>
                  <a:ea typeface="Lato Black" panose="020F0502020204030203" pitchFamily="34" charset="0"/>
                  <a:cs typeface="Lato Black" panose="020F0502020204030203" pitchFamily="34" charset="0"/>
                </a:rPr>
                <a:t>ICW</a:t>
              </a:r>
            </a:p>
          </p:txBody>
        </p:sp>
        <p:sp>
          <p:nvSpPr>
            <p:cNvPr id="139" name="TextBox 138"/>
            <p:cNvSpPr txBox="1"/>
            <p:nvPr/>
          </p:nvSpPr>
          <p:spPr>
            <a:xfrm>
              <a:off x="1612903" y="5791386"/>
              <a:ext cx="379360" cy="192818"/>
            </a:xfrm>
            <a:prstGeom prst="rect">
              <a:avLst/>
            </a:prstGeom>
            <a:noFill/>
          </p:spPr>
          <p:txBody>
            <a:bodyPr wrap="none" rtlCol="0">
              <a:spAutoFit/>
            </a:bodyPr>
            <a:lstStyle/>
            <a:p>
              <a:r>
                <a:rPr lang="en-US" altLang="ko-KR" sz="1000" dirty="0">
                  <a:solidFill>
                    <a:schemeClr val="bg1"/>
                  </a:solidFill>
                  <a:latin typeface="Lato Black" panose="020F0502020204030203" pitchFamily="34" charset="0"/>
                  <a:ea typeface="Lato Black" panose="020F0502020204030203" pitchFamily="34" charset="0"/>
                  <a:cs typeface="Lato Black" panose="020F0502020204030203" pitchFamily="34" charset="0"/>
                </a:rPr>
                <a:t>ECW</a:t>
              </a:r>
            </a:p>
          </p:txBody>
        </p:sp>
        <p:sp>
          <p:nvSpPr>
            <p:cNvPr id="140" name="TextBox 139"/>
            <p:cNvSpPr txBox="1"/>
            <p:nvPr/>
          </p:nvSpPr>
          <p:spPr>
            <a:xfrm>
              <a:off x="1598476" y="5029779"/>
              <a:ext cx="378104" cy="313330"/>
            </a:xfrm>
            <a:prstGeom prst="rect">
              <a:avLst/>
            </a:prstGeom>
            <a:noFill/>
          </p:spPr>
          <p:txBody>
            <a:bodyPr wrap="none" rtlCol="0">
              <a:spAutoFit/>
            </a:bodyPr>
            <a:lstStyle/>
            <a:p>
              <a:r>
                <a:rPr lang="en-US" altLang="ko-KR" sz="20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62</a:t>
              </a:r>
            </a:p>
          </p:txBody>
        </p:sp>
        <p:sp>
          <p:nvSpPr>
            <p:cNvPr id="141" name="TextBox 140"/>
            <p:cNvSpPr txBox="1"/>
            <p:nvPr/>
          </p:nvSpPr>
          <p:spPr>
            <a:xfrm>
              <a:off x="1598476" y="5978351"/>
              <a:ext cx="378104" cy="313330"/>
            </a:xfrm>
            <a:prstGeom prst="rect">
              <a:avLst/>
            </a:prstGeom>
            <a:noFill/>
          </p:spPr>
          <p:txBody>
            <a:bodyPr wrap="none" rtlCol="0">
              <a:spAutoFit/>
            </a:bodyPr>
            <a:lstStyle/>
            <a:p>
              <a:r>
                <a:rPr lang="en-US" altLang="ko-KR" sz="20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38</a:t>
              </a:r>
            </a:p>
          </p:txBody>
        </p:sp>
        <p:sp>
          <p:nvSpPr>
            <p:cNvPr id="142" name="TextBox 141"/>
            <p:cNvSpPr txBox="1"/>
            <p:nvPr/>
          </p:nvSpPr>
          <p:spPr>
            <a:xfrm>
              <a:off x="2557830" y="5370208"/>
              <a:ext cx="494849" cy="313330"/>
            </a:xfrm>
            <a:prstGeom prst="rect">
              <a:avLst/>
            </a:prstGeom>
            <a:noFill/>
          </p:spPr>
          <p:txBody>
            <a:bodyPr wrap="none" rtlCol="0">
              <a:spAutoFit/>
            </a:bodyPr>
            <a:lstStyle/>
            <a:p>
              <a:r>
                <a:rPr lang="en-US" altLang="ko-KR" sz="20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100</a:t>
              </a:r>
            </a:p>
          </p:txBody>
        </p:sp>
      </p:grpSp>
      <p:sp>
        <p:nvSpPr>
          <p:cNvPr id="144" name="타원 143">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147" name="TextBox 146">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48" name="TextBox 147">
            <a:extLst>
              <a:ext uri="{FF2B5EF4-FFF2-40B4-BE49-F238E27FC236}">
                <a16:creationId xmlns:a16="http://schemas.microsoft.com/office/drawing/2014/main" id="{24C31E62-CE78-8243-AB22-9D4C1B89F17B}"/>
              </a:ext>
            </a:extLst>
          </p:cNvPr>
          <p:cNvSpPr txBox="1"/>
          <p:nvPr/>
        </p:nvSpPr>
        <p:spPr>
          <a:xfrm>
            <a:off x="569846" y="222320"/>
            <a:ext cx="550048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10" name="TextBox 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2076090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4959438" y="2858951"/>
            <a:ext cx="6935319" cy="1438855"/>
          </a:xfrm>
          <a:prstGeom prst="rect">
            <a:avLst/>
          </a:prstGeom>
          <a:noFill/>
        </p:spPr>
        <p:txBody>
          <a:bodyPr wrap="square" rtlCol="0">
            <a:spAutoFit/>
          </a:bodyPr>
          <a:lstStyle/>
          <a:p>
            <a:pPr>
              <a:lnSpc>
                <a:spcPct val="125000"/>
              </a:lnSpc>
            </a:pPr>
            <a:r>
              <a:rPr lang="en-US" altLang="ko-KR" sz="1400">
                <a:solidFill>
                  <a:srgbClr val="4B4F5A"/>
                </a:solidFill>
                <a:latin typeface="Lato Black" panose="020F0502020204030203" pitchFamily="34" charset="0"/>
                <a:ea typeface="Lato Black" panose="020F0502020204030203" pitchFamily="34" charset="0"/>
                <a:cs typeface="Lato Black" panose="020F0502020204030203" pitchFamily="34" charset="0"/>
              </a:rPr>
              <a:t>ECW Ratio for average person is approximately 0.38</a:t>
            </a:r>
          </a:p>
          <a:p>
            <a:pPr>
              <a:lnSpc>
                <a:spcPct val="125000"/>
              </a:lnSpc>
            </a:pPr>
            <a:r>
              <a:rPr lang="en-US" altLang="ko-KR" sz="1400" b="1">
                <a:solidFill>
                  <a:srgbClr val="4B4F5A"/>
                </a:solidFill>
                <a:latin typeface="Lato Black" panose="020F0502020204030203" pitchFamily="34" charset="0"/>
                <a:ea typeface="Lato Black" panose="020F0502020204030203" pitchFamily="34" charset="0"/>
                <a:cs typeface="Lato Black" panose="020F0502020204030203" pitchFamily="34" charset="0"/>
              </a:rPr>
              <a:t>:</a:t>
            </a:r>
            <a:r>
              <a:rPr lang="en-US" altLang="ko-KR" sz="1400" b="1">
                <a:latin typeface="Lato Black" panose="020F0502020204030203" pitchFamily="34" charset="0"/>
                <a:ea typeface="Lato Black" panose="020F0502020204030203" pitchFamily="34" charset="0"/>
                <a:cs typeface="Lato Black" panose="020F0502020204030203" pitchFamily="34" charset="0"/>
              </a:rPr>
              <a:t> </a:t>
            </a:r>
            <a:r>
              <a:rPr lang="en-US" altLang="ko-KR" sz="1400" b="1">
                <a:solidFill>
                  <a:srgbClr val="A0112D"/>
                </a:solidFill>
                <a:latin typeface="Lato Black" panose="020F0502020204030203" pitchFamily="34" charset="0"/>
                <a:ea typeface="Lato Black" panose="020F0502020204030203" pitchFamily="34" charset="0"/>
                <a:cs typeface="Lato Black" panose="020F0502020204030203" pitchFamily="34" charset="0"/>
              </a:rPr>
              <a:t>Average person </a:t>
            </a:r>
            <a:r>
              <a:rPr lang="ko-KR" altLang="en-US" sz="1400" b="1">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 </a:t>
            </a:r>
            <a:r>
              <a:rPr lang="en-US" altLang="ko-KR" sz="1400" b="1">
                <a:solidFill>
                  <a:srgbClr val="A0112D"/>
                </a:solidFill>
                <a:latin typeface="Lato Black" panose="020F0502020204030203" pitchFamily="34" charset="0"/>
                <a:ea typeface="Lato Black" panose="020F0502020204030203" pitchFamily="34" charset="0"/>
                <a:cs typeface="Lato Black" panose="020F0502020204030203" pitchFamily="34" charset="0"/>
              </a:rPr>
              <a:t>Extra Cellular Water/Total Body Water</a:t>
            </a:r>
            <a:r>
              <a:rPr lang="ko-KR" altLang="en-US" sz="1400" b="1">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 ≒ </a:t>
            </a:r>
            <a:r>
              <a:rPr lang="en-US" altLang="ko-KR" sz="1400" b="1">
                <a:solidFill>
                  <a:srgbClr val="A0112D"/>
                </a:solidFill>
                <a:latin typeface="Lato Black" panose="020F0502020204030203" pitchFamily="34" charset="0"/>
                <a:ea typeface="Lato Black" panose="020F0502020204030203" pitchFamily="34" charset="0"/>
                <a:cs typeface="Lato Black" panose="020F0502020204030203" pitchFamily="34" charset="0"/>
              </a:rPr>
              <a:t>0.38</a:t>
            </a:r>
          </a:p>
          <a:p>
            <a:pPr>
              <a:lnSpc>
                <a:spcPct val="125000"/>
              </a:lnSpc>
            </a:pPr>
            <a:endParaRPr lang="en-US" altLang="ko-KR" sz="1400">
              <a:latin typeface="Lato Black" panose="020F0502020204030203" pitchFamily="34" charset="0"/>
              <a:ea typeface="Lato Black" panose="020F0502020204030203" pitchFamily="34" charset="0"/>
              <a:cs typeface="Lato Black" panose="020F0502020204030203" pitchFamily="34" charset="0"/>
            </a:endParaRPr>
          </a:p>
          <a:p>
            <a:pPr>
              <a:lnSpc>
                <a:spcPct val="125000"/>
              </a:lnSpc>
            </a:pPr>
            <a:r>
              <a:rPr lang="en-US" altLang="ko-KR" sz="1400">
                <a:solidFill>
                  <a:srgbClr val="4B4F5A"/>
                </a:solidFill>
                <a:latin typeface="Lato Black" panose="020F0502020204030203" pitchFamily="34" charset="0"/>
                <a:ea typeface="Lato Black" panose="020F0502020204030203" pitchFamily="34" charset="0"/>
                <a:cs typeface="Lato Black" panose="020F0502020204030203" pitchFamily="34" charset="0"/>
              </a:rPr>
              <a:t>Dialysis patients have higher ECW ratio due to increased extra cellular water</a:t>
            </a:r>
          </a:p>
          <a:p>
            <a:pPr>
              <a:lnSpc>
                <a:spcPct val="125000"/>
              </a:lnSpc>
            </a:pPr>
            <a:r>
              <a:rPr lang="en-US" altLang="ko-KR" sz="1400" b="1">
                <a:solidFill>
                  <a:srgbClr val="4B4F5A"/>
                </a:solidFill>
                <a:latin typeface="Lato Black" panose="020F0502020204030203" pitchFamily="34" charset="0"/>
                <a:ea typeface="Lato Black" panose="020F0502020204030203" pitchFamily="34" charset="0"/>
                <a:cs typeface="Lato Black" panose="020F0502020204030203" pitchFamily="34" charset="0"/>
              </a:rPr>
              <a:t>:</a:t>
            </a:r>
            <a:r>
              <a:rPr lang="en-US" altLang="ko-KR" sz="1400" b="1">
                <a:latin typeface="Lato Black" panose="020F0502020204030203" pitchFamily="34" charset="0"/>
                <a:ea typeface="Lato Black" panose="020F0502020204030203" pitchFamily="34" charset="0"/>
                <a:cs typeface="Lato Black" panose="020F0502020204030203" pitchFamily="34" charset="0"/>
              </a:rPr>
              <a:t> </a:t>
            </a:r>
            <a:r>
              <a:rPr lang="en-US" altLang="ko-KR" sz="1400" b="1">
                <a:solidFill>
                  <a:srgbClr val="A0112D"/>
                </a:solidFill>
                <a:latin typeface="Lato Black" panose="020F0502020204030203" pitchFamily="34" charset="0"/>
                <a:ea typeface="Lato Black" panose="020F0502020204030203" pitchFamily="34" charset="0"/>
                <a:cs typeface="Lato Black" panose="020F0502020204030203" pitchFamily="34" charset="0"/>
              </a:rPr>
              <a:t>Dialysis patient</a:t>
            </a:r>
            <a:r>
              <a:rPr lang="ko-KR" altLang="en-US" sz="1400" b="1">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 </a:t>
            </a:r>
            <a:r>
              <a:rPr lang="en-US" altLang="ko-KR" sz="1400" b="1">
                <a:solidFill>
                  <a:srgbClr val="A0112D"/>
                </a:solidFill>
                <a:latin typeface="Lato Black" panose="020F0502020204030203" pitchFamily="34" charset="0"/>
                <a:ea typeface="Lato Black" panose="020F0502020204030203" pitchFamily="34" charset="0"/>
                <a:cs typeface="Lato Black" panose="020F0502020204030203" pitchFamily="34" charset="0"/>
              </a:rPr>
              <a:t>Increased Extra Cellular water/Total Body Water= 0.418</a:t>
            </a:r>
            <a:endParaRPr lang="en-US" altLang="ko-KR" sz="1400" b="1"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2" name="그룹 1"/>
          <p:cNvGrpSpPr/>
          <p:nvPr/>
        </p:nvGrpSpPr>
        <p:grpSpPr>
          <a:xfrm>
            <a:off x="358250" y="2055147"/>
            <a:ext cx="4038807" cy="3520095"/>
            <a:chOff x="902666" y="2055147"/>
            <a:chExt cx="3214611" cy="2801753"/>
          </a:xfrm>
        </p:grpSpPr>
        <p:pic>
          <p:nvPicPr>
            <p:cNvPr id="30" name="그림 29"/>
            <p:cNvPicPr>
              <a:picLocks noChangeAspect="1"/>
            </p:cNvPicPr>
            <p:nvPr/>
          </p:nvPicPr>
          <p:blipFill rotWithShape="1">
            <a:blip r:embed="rId3" cstate="print">
              <a:extLst>
                <a:ext uri="{28A0092B-C50C-407E-A947-70E740481C1C}">
                  <a14:useLocalDpi xmlns:a14="http://schemas.microsoft.com/office/drawing/2010/main" val="0"/>
                </a:ext>
              </a:extLst>
            </a:blip>
            <a:srcRect l="57543"/>
            <a:stretch/>
          </p:blipFill>
          <p:spPr>
            <a:xfrm>
              <a:off x="2078067" y="2123512"/>
              <a:ext cx="672934" cy="1964520"/>
            </a:xfrm>
            <a:prstGeom prst="rect">
              <a:avLst/>
            </a:prstGeom>
          </p:spPr>
        </p:pic>
        <p:pic>
          <p:nvPicPr>
            <p:cNvPr id="31" name="그림 30"/>
            <p:cNvPicPr>
              <a:picLocks noChangeAspect="1"/>
            </p:cNvPicPr>
            <p:nvPr/>
          </p:nvPicPr>
          <p:blipFill rotWithShape="1">
            <a:blip r:embed="rId3" cstate="print">
              <a:extLst>
                <a:ext uri="{28A0092B-C50C-407E-A947-70E740481C1C}">
                  <a14:useLocalDpi xmlns:a14="http://schemas.microsoft.com/office/drawing/2010/main" val="0"/>
                </a:ext>
              </a:extLst>
            </a:blip>
            <a:srcRect r="57119"/>
            <a:stretch/>
          </p:blipFill>
          <p:spPr>
            <a:xfrm>
              <a:off x="1200705" y="2123512"/>
              <a:ext cx="679647" cy="1964520"/>
            </a:xfrm>
            <a:prstGeom prst="rect">
              <a:avLst/>
            </a:prstGeom>
          </p:spPr>
        </p:pic>
        <p:sp>
          <p:nvSpPr>
            <p:cNvPr id="32" name="TextBox 31"/>
            <p:cNvSpPr txBox="1"/>
            <p:nvPr/>
          </p:nvSpPr>
          <p:spPr>
            <a:xfrm>
              <a:off x="1230419" y="2160340"/>
              <a:ext cx="351122" cy="195975"/>
            </a:xfrm>
            <a:prstGeom prst="rect">
              <a:avLst/>
            </a:prstGeom>
            <a:noFill/>
          </p:spPr>
          <p:txBody>
            <a:bodyPr wrap="none" rtlCol="0">
              <a:spAutoFit/>
            </a:bodyPr>
            <a:lstStyle/>
            <a:p>
              <a:r>
                <a:rPr lang="en-US" altLang="ko-KR" sz="1000" dirty="0">
                  <a:solidFill>
                    <a:schemeClr val="bg1"/>
                  </a:solidFill>
                  <a:latin typeface="Lato Black" panose="020F0502020204030203" pitchFamily="34" charset="0"/>
                  <a:ea typeface="Lato Black" panose="020F0502020204030203" pitchFamily="34" charset="0"/>
                  <a:cs typeface="Lato Black" panose="020F0502020204030203" pitchFamily="34" charset="0"/>
                </a:rPr>
                <a:t>ICW</a:t>
              </a:r>
            </a:p>
          </p:txBody>
        </p:sp>
        <p:sp>
          <p:nvSpPr>
            <p:cNvPr id="33" name="TextBox 32"/>
            <p:cNvSpPr txBox="1"/>
            <p:nvPr/>
          </p:nvSpPr>
          <p:spPr>
            <a:xfrm>
              <a:off x="1251870" y="2337070"/>
              <a:ext cx="462124" cy="293963"/>
            </a:xfrm>
            <a:prstGeom prst="rect">
              <a:avLst/>
            </a:prstGeom>
            <a:noFill/>
          </p:spPr>
          <p:txBody>
            <a:bodyPr wrap="none" rtlCol="0">
              <a:spAutoFit/>
            </a:bodyPr>
            <a:lstStyle/>
            <a:p>
              <a:r>
                <a:rPr lang="en-US" altLang="ko-KR" b="1" dirty="0">
                  <a:solidFill>
                    <a:srgbClr val="444A55"/>
                  </a:solidFill>
                  <a:latin typeface="Lato Black" panose="020F0502020204030203" pitchFamily="34" charset="0"/>
                  <a:ea typeface="Lato Black" panose="020F0502020204030203" pitchFamily="34" charset="0"/>
                  <a:cs typeface="Lato Black" panose="020F0502020204030203" pitchFamily="34" charset="0"/>
                </a:rPr>
                <a:t>38</a:t>
              </a:r>
              <a:r>
                <a:rPr lang="en-US" altLang="ko-KR" sz="1200" b="1" dirty="0">
                  <a:solidFill>
                    <a:srgbClr val="444A55"/>
                  </a:solidFill>
                  <a:latin typeface="Lato Black" panose="020F0502020204030203" pitchFamily="34" charset="0"/>
                  <a:ea typeface="Lato Black" panose="020F0502020204030203" pitchFamily="34" charset="0"/>
                  <a:cs typeface="Lato Black" panose="020F0502020204030203" pitchFamily="34" charset="0"/>
                </a:rPr>
                <a:t>%</a:t>
              </a:r>
            </a:p>
          </p:txBody>
        </p:sp>
        <p:sp>
          <p:nvSpPr>
            <p:cNvPr id="34" name="TextBox 33"/>
            <p:cNvSpPr txBox="1"/>
            <p:nvPr/>
          </p:nvSpPr>
          <p:spPr>
            <a:xfrm>
              <a:off x="1261263" y="2816353"/>
              <a:ext cx="431911" cy="220472"/>
            </a:xfrm>
            <a:prstGeom prst="rect">
              <a:avLst/>
            </a:prstGeom>
            <a:noFill/>
          </p:spPr>
          <p:txBody>
            <a:bodyPr wrap="none" rtlCol="0">
              <a:spAutoFit/>
            </a:bodyPr>
            <a:lstStyle/>
            <a:p>
              <a:r>
                <a:rPr lang="en-US" altLang="ko-KR" sz="12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ECW</a:t>
              </a:r>
            </a:p>
          </p:txBody>
        </p:sp>
        <p:sp>
          <p:nvSpPr>
            <p:cNvPr id="35" name="TextBox 34"/>
            <p:cNvSpPr txBox="1"/>
            <p:nvPr/>
          </p:nvSpPr>
          <p:spPr>
            <a:xfrm>
              <a:off x="1261263" y="3605577"/>
              <a:ext cx="391083" cy="220472"/>
            </a:xfrm>
            <a:prstGeom prst="rect">
              <a:avLst/>
            </a:prstGeom>
            <a:noFill/>
          </p:spPr>
          <p:txBody>
            <a:bodyPr wrap="none" rtlCol="0">
              <a:spAutoFit/>
            </a:bodyPr>
            <a:lstStyle/>
            <a:p>
              <a:r>
                <a:rPr lang="en-US" altLang="ko-KR" sz="12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ICW</a:t>
              </a:r>
            </a:p>
          </p:txBody>
        </p:sp>
        <p:sp>
          <p:nvSpPr>
            <p:cNvPr id="36" name="TextBox 35"/>
            <p:cNvSpPr txBox="1"/>
            <p:nvPr/>
          </p:nvSpPr>
          <p:spPr>
            <a:xfrm>
              <a:off x="1180855" y="4100401"/>
              <a:ext cx="562918" cy="367454"/>
            </a:xfrm>
            <a:prstGeom prst="rect">
              <a:avLst/>
            </a:prstGeom>
            <a:noFill/>
          </p:spPr>
          <p:txBody>
            <a:bodyPr wrap="none" rtlCol="0">
              <a:spAutoFit/>
            </a:bodyPr>
            <a:lstStyle/>
            <a:p>
              <a:pPr algn="ctr"/>
              <a:r>
                <a:rPr lang="en-US" altLang="ko-KR" sz="1200" b="1" dirty="0">
                  <a:solidFill>
                    <a:srgbClr val="B02A29"/>
                  </a:solidFill>
                  <a:latin typeface="Lato Black" panose="020F0502020204030203" pitchFamily="34" charset="0"/>
                  <a:ea typeface="Lato Black" panose="020F0502020204030203" pitchFamily="34" charset="0"/>
                  <a:cs typeface="Lato Black" panose="020F0502020204030203" pitchFamily="34" charset="0"/>
                </a:rPr>
                <a:t>38/100</a:t>
              </a:r>
            </a:p>
            <a:p>
              <a:pPr algn="ctr"/>
              <a:r>
                <a:rPr lang="en-US" altLang="ko-KR" sz="1200" b="1" dirty="0">
                  <a:solidFill>
                    <a:srgbClr val="B02A29"/>
                  </a:solidFill>
                  <a:latin typeface="Lato Black" panose="020F0502020204030203" pitchFamily="34" charset="0"/>
                  <a:ea typeface="Lato Black" panose="020F0502020204030203" pitchFamily="34" charset="0"/>
                  <a:cs typeface="Lato Black" panose="020F0502020204030203" pitchFamily="34" charset="0"/>
                </a:rPr>
                <a:t>= 0.380</a:t>
              </a:r>
            </a:p>
          </p:txBody>
        </p:sp>
        <p:sp>
          <p:nvSpPr>
            <p:cNvPr id="37" name="TextBox 36"/>
            <p:cNvSpPr txBox="1"/>
            <p:nvPr/>
          </p:nvSpPr>
          <p:spPr>
            <a:xfrm>
              <a:off x="2250969" y="4100401"/>
              <a:ext cx="562918" cy="367454"/>
            </a:xfrm>
            <a:prstGeom prst="rect">
              <a:avLst/>
            </a:prstGeom>
            <a:noFill/>
          </p:spPr>
          <p:txBody>
            <a:bodyPr wrap="none" rtlCol="0">
              <a:spAutoFit/>
            </a:bodyPr>
            <a:lstStyle/>
            <a:p>
              <a:pPr algn="ctr"/>
              <a:r>
                <a:rPr lang="en-US" altLang="ko-KR" sz="1200" b="1" dirty="0">
                  <a:solidFill>
                    <a:srgbClr val="B02A29"/>
                  </a:solidFill>
                  <a:latin typeface="Lato Black" panose="020F0502020204030203" pitchFamily="34" charset="0"/>
                  <a:ea typeface="Lato Black" panose="020F0502020204030203" pitchFamily="34" charset="0"/>
                  <a:cs typeface="Lato Black" panose="020F0502020204030203" pitchFamily="34" charset="0"/>
                </a:rPr>
                <a:t>39/100</a:t>
              </a:r>
            </a:p>
            <a:p>
              <a:pPr algn="ctr"/>
              <a:r>
                <a:rPr lang="en-US" altLang="ko-KR" sz="1200" b="1" dirty="0">
                  <a:solidFill>
                    <a:srgbClr val="B02A29"/>
                  </a:solidFill>
                  <a:latin typeface="Lato Black" panose="020F0502020204030203" pitchFamily="34" charset="0"/>
                  <a:ea typeface="Lato Black" panose="020F0502020204030203" pitchFamily="34" charset="0"/>
                  <a:cs typeface="Lato Black" panose="020F0502020204030203" pitchFamily="34" charset="0"/>
                </a:rPr>
                <a:t>= 0.390</a:t>
              </a:r>
            </a:p>
          </p:txBody>
        </p:sp>
        <p:sp>
          <p:nvSpPr>
            <p:cNvPr id="38" name="TextBox 37"/>
            <p:cNvSpPr txBox="1"/>
            <p:nvPr/>
          </p:nvSpPr>
          <p:spPr>
            <a:xfrm>
              <a:off x="2300133" y="2822368"/>
              <a:ext cx="431911" cy="220472"/>
            </a:xfrm>
            <a:prstGeom prst="rect">
              <a:avLst/>
            </a:prstGeom>
            <a:noFill/>
          </p:spPr>
          <p:txBody>
            <a:bodyPr wrap="none" rtlCol="0">
              <a:spAutoFit/>
            </a:bodyPr>
            <a:lstStyle/>
            <a:p>
              <a:r>
                <a:rPr lang="en-US" altLang="ko-KR" sz="12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ECW</a:t>
              </a:r>
            </a:p>
          </p:txBody>
        </p:sp>
        <p:sp>
          <p:nvSpPr>
            <p:cNvPr id="39" name="TextBox 38"/>
            <p:cNvSpPr txBox="1"/>
            <p:nvPr/>
          </p:nvSpPr>
          <p:spPr>
            <a:xfrm>
              <a:off x="2300133" y="3611592"/>
              <a:ext cx="391083" cy="220472"/>
            </a:xfrm>
            <a:prstGeom prst="rect">
              <a:avLst/>
            </a:prstGeom>
            <a:noFill/>
          </p:spPr>
          <p:txBody>
            <a:bodyPr wrap="none" rtlCol="0">
              <a:spAutoFit/>
            </a:bodyPr>
            <a:lstStyle/>
            <a:p>
              <a:r>
                <a:rPr lang="en-US" altLang="ko-KR" sz="1200">
                  <a:solidFill>
                    <a:srgbClr val="444A55"/>
                  </a:solidFill>
                  <a:latin typeface="Lato Black" panose="020F0502020204030203" pitchFamily="34" charset="0"/>
                  <a:ea typeface="Lato Black" panose="020F0502020204030203" pitchFamily="34" charset="0"/>
                  <a:cs typeface="Lato Black" panose="020F0502020204030203" pitchFamily="34" charset="0"/>
                </a:rPr>
                <a:t>ICW</a:t>
              </a:r>
              <a:endParaRPr lang="en-US" altLang="ko-KR" sz="1200" dirty="0">
                <a:solidFill>
                  <a:srgbClr val="444A55"/>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0" name="TextBox 39"/>
            <p:cNvSpPr txBox="1"/>
            <p:nvPr/>
          </p:nvSpPr>
          <p:spPr>
            <a:xfrm>
              <a:off x="2270238" y="2055147"/>
              <a:ext cx="496573" cy="440944"/>
            </a:xfrm>
            <a:prstGeom prst="rect">
              <a:avLst/>
            </a:prstGeom>
            <a:noFill/>
          </p:spPr>
          <p:txBody>
            <a:bodyPr wrap="none" rtlCol="0">
              <a:spAutoFit/>
            </a:bodyPr>
            <a:lstStyle/>
            <a:p>
              <a:r>
                <a:rPr lang="en-US" altLang="ko-KR"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39</a:t>
              </a:r>
              <a:r>
                <a:rPr lang="en-US" altLang="ko-KR" sz="12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a:t>
              </a:r>
            </a:p>
            <a:p>
              <a:r>
                <a:rPr lang="en-US" altLang="ko-KR" sz="12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OVER</a:t>
              </a:r>
            </a:p>
          </p:txBody>
        </p:sp>
        <p:sp>
          <p:nvSpPr>
            <p:cNvPr id="41" name="TextBox 40"/>
            <p:cNvSpPr txBox="1"/>
            <p:nvPr/>
          </p:nvSpPr>
          <p:spPr>
            <a:xfrm>
              <a:off x="902666" y="4513944"/>
              <a:ext cx="1094960" cy="342956"/>
            </a:xfrm>
            <a:prstGeom prst="rect">
              <a:avLst/>
            </a:prstGeom>
            <a:noFill/>
          </p:spPr>
          <p:txBody>
            <a:bodyPr wrap="none" rtlCol="0">
              <a:spAutoFit/>
            </a:bodyPr>
            <a:lstStyle/>
            <a:p>
              <a:pPr algn="ctr"/>
              <a:r>
                <a:rPr lang="en-US" altLang="ko-KR" sz="11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General People</a:t>
              </a:r>
            </a:p>
            <a:p>
              <a:pPr algn="ctr"/>
              <a:r>
                <a:rPr lang="en-US" altLang="ko-KR" sz="11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ECW/TBW=0.380</a:t>
              </a:r>
            </a:p>
          </p:txBody>
        </p:sp>
        <p:sp>
          <p:nvSpPr>
            <p:cNvPr id="45" name="TextBox 44"/>
            <p:cNvSpPr txBox="1"/>
            <p:nvPr/>
          </p:nvSpPr>
          <p:spPr>
            <a:xfrm>
              <a:off x="2013804" y="4513944"/>
              <a:ext cx="1093684" cy="342956"/>
            </a:xfrm>
            <a:prstGeom prst="rect">
              <a:avLst/>
            </a:prstGeom>
            <a:noFill/>
          </p:spPr>
          <p:txBody>
            <a:bodyPr wrap="none" rtlCol="0">
              <a:spAutoFit/>
            </a:bodyPr>
            <a:lstStyle/>
            <a:p>
              <a:pPr algn="ctr"/>
              <a:r>
                <a:rPr lang="en-US" altLang="ko-KR" sz="11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HD Patients</a:t>
              </a:r>
            </a:p>
            <a:p>
              <a:pPr algn="ctr"/>
              <a:r>
                <a:rPr lang="en-US" altLang="ko-KR" sz="1100" dirty="0">
                  <a:solidFill>
                    <a:srgbClr val="6D6E71"/>
                  </a:solidFill>
                  <a:latin typeface="Lato Black" panose="020F0502020204030203" pitchFamily="34" charset="0"/>
                  <a:ea typeface="Lato Black" panose="020F0502020204030203" pitchFamily="34" charset="0"/>
                  <a:cs typeface="Lato Black" panose="020F0502020204030203" pitchFamily="34" charset="0"/>
                </a:rPr>
                <a:t>ECW/TBW&gt;0.390</a:t>
              </a:r>
            </a:p>
          </p:txBody>
        </p:sp>
        <p:cxnSp>
          <p:nvCxnSpPr>
            <p:cNvPr id="46" name="직선 연결선 45"/>
            <p:cNvCxnSpPr/>
            <p:nvPr/>
          </p:nvCxnSpPr>
          <p:spPr>
            <a:xfrm>
              <a:off x="2832763" y="2244569"/>
              <a:ext cx="164536"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cxnSp>
          <p:nvCxnSpPr>
            <p:cNvPr id="47" name="직선 연결선 46"/>
            <p:cNvCxnSpPr/>
            <p:nvPr/>
          </p:nvCxnSpPr>
          <p:spPr>
            <a:xfrm>
              <a:off x="2832763" y="2459424"/>
              <a:ext cx="164536"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cxnSp>
          <p:nvCxnSpPr>
            <p:cNvPr id="48" name="직선 연결선 47"/>
            <p:cNvCxnSpPr/>
            <p:nvPr/>
          </p:nvCxnSpPr>
          <p:spPr>
            <a:xfrm>
              <a:off x="2832763" y="3136922"/>
              <a:ext cx="164536"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cxnSp>
          <p:nvCxnSpPr>
            <p:cNvPr id="49" name="직선 연결선 48"/>
            <p:cNvCxnSpPr/>
            <p:nvPr/>
          </p:nvCxnSpPr>
          <p:spPr>
            <a:xfrm>
              <a:off x="2832763" y="3985534"/>
              <a:ext cx="164536" cy="0"/>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022317" y="2157417"/>
              <a:ext cx="1094960" cy="342956"/>
            </a:xfrm>
            <a:prstGeom prst="rect">
              <a:avLst/>
            </a:prstGeom>
            <a:noFill/>
          </p:spPr>
          <p:txBody>
            <a:bodyPr wrap="none" rtlCol="0">
              <a:spAutoFit/>
            </a:bodyPr>
            <a:lstStyle/>
            <a:p>
              <a:r>
                <a:rPr lang="en-US" altLang="ko-KR" sz="11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Over-hydrated</a:t>
              </a:r>
            </a:p>
            <a:p>
              <a:r>
                <a:rPr lang="en-US" altLang="ko-KR" sz="11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Extracellular water</a:t>
              </a:r>
            </a:p>
          </p:txBody>
        </p:sp>
        <p:sp>
          <p:nvSpPr>
            <p:cNvPr id="51" name="TextBox 50"/>
            <p:cNvSpPr txBox="1"/>
            <p:nvPr/>
          </p:nvSpPr>
          <p:spPr>
            <a:xfrm>
              <a:off x="3022317" y="2632824"/>
              <a:ext cx="1094960" cy="342956"/>
            </a:xfrm>
            <a:prstGeom prst="rect">
              <a:avLst/>
            </a:prstGeom>
            <a:noFill/>
          </p:spPr>
          <p:txBody>
            <a:bodyPr wrap="none" rtlCol="0">
              <a:spAutoFit/>
            </a:bodyPr>
            <a:lstStyle/>
            <a:p>
              <a:r>
                <a:rPr lang="en-US" altLang="ko-KR" sz="11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Normal</a:t>
              </a:r>
            </a:p>
            <a:p>
              <a:r>
                <a:rPr lang="en-US" altLang="ko-KR" sz="11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Extracellular water</a:t>
              </a:r>
            </a:p>
          </p:txBody>
        </p:sp>
        <p:sp>
          <p:nvSpPr>
            <p:cNvPr id="52" name="TextBox 51"/>
            <p:cNvSpPr txBox="1"/>
            <p:nvPr/>
          </p:nvSpPr>
          <p:spPr>
            <a:xfrm>
              <a:off x="3022317" y="3497193"/>
              <a:ext cx="1068166" cy="342956"/>
            </a:xfrm>
            <a:prstGeom prst="rect">
              <a:avLst/>
            </a:prstGeom>
            <a:noFill/>
          </p:spPr>
          <p:txBody>
            <a:bodyPr wrap="none" rtlCol="0">
              <a:spAutoFit/>
            </a:bodyPr>
            <a:lstStyle/>
            <a:p>
              <a:r>
                <a:rPr lang="en-US" altLang="ko-KR" sz="11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Normal</a:t>
              </a:r>
            </a:p>
            <a:p>
              <a:r>
                <a:rPr lang="en-US" altLang="ko-KR" sz="1100" dirty="0">
                  <a:solidFill>
                    <a:srgbClr val="444A55"/>
                  </a:solidFill>
                  <a:latin typeface="Lato Black" panose="020F0502020204030203" pitchFamily="34" charset="0"/>
                  <a:ea typeface="Lato Black" panose="020F0502020204030203" pitchFamily="34" charset="0"/>
                  <a:cs typeface="Lato Black" panose="020F0502020204030203" pitchFamily="34" charset="0"/>
                </a:rPr>
                <a:t>Intracellular water</a:t>
              </a:r>
            </a:p>
          </p:txBody>
        </p:sp>
        <p:cxnSp>
          <p:nvCxnSpPr>
            <p:cNvPr id="53" name="직선 연결선 52"/>
            <p:cNvCxnSpPr/>
            <p:nvPr/>
          </p:nvCxnSpPr>
          <p:spPr>
            <a:xfrm>
              <a:off x="2915031" y="2244569"/>
              <a:ext cx="0" cy="1740965"/>
            </a:xfrm>
            <a:prstGeom prst="line">
              <a:avLst/>
            </a:prstGeom>
            <a:ln>
              <a:solidFill>
                <a:srgbClr val="6D6E71"/>
              </a:solidFill>
            </a:ln>
          </p:spPr>
          <p:style>
            <a:lnRef idx="1">
              <a:schemeClr val="accent1"/>
            </a:lnRef>
            <a:fillRef idx="0">
              <a:schemeClr val="accent1"/>
            </a:fillRef>
            <a:effectRef idx="0">
              <a:schemeClr val="accent1"/>
            </a:effectRef>
            <a:fontRef idx="minor">
              <a:schemeClr val="tx1"/>
            </a:fontRef>
          </p:style>
        </p:cxnSp>
      </p:grpSp>
      <p:sp>
        <p:nvSpPr>
          <p:cNvPr id="91" name="TextBox 90">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92" name="TextBox 91">
            <a:extLst>
              <a:ext uri="{FF2B5EF4-FFF2-40B4-BE49-F238E27FC236}">
                <a16:creationId xmlns:a16="http://schemas.microsoft.com/office/drawing/2014/main" id="{24C31E62-CE78-8243-AB22-9D4C1B89F17B}"/>
              </a:ext>
            </a:extLst>
          </p:cNvPr>
          <p:cNvSpPr txBox="1"/>
          <p:nvPr/>
        </p:nvSpPr>
        <p:spPr>
          <a:xfrm>
            <a:off x="569846" y="222320"/>
            <a:ext cx="533565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98" name="TextBox 97">
            <a:extLst>
              <a:ext uri="{FF2B5EF4-FFF2-40B4-BE49-F238E27FC236}">
                <a16:creationId xmlns:a16="http://schemas.microsoft.com/office/drawing/2014/main" id="{B8271BDF-AC03-4748-8C05-1D490119D647}"/>
              </a:ext>
            </a:extLst>
          </p:cNvPr>
          <p:cNvSpPr txBox="1"/>
          <p:nvPr/>
        </p:nvSpPr>
        <p:spPr>
          <a:xfrm>
            <a:off x="903259" y="64756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Target Dry Weight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99" name="모서리가 둥근 직사각형 98"/>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00" name="타원 99">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101" name="TextBox 100"/>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3250964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모서리가 둥근 직사각형 2"/>
          <p:cNvSpPr/>
          <p:nvPr/>
        </p:nvSpPr>
        <p:spPr>
          <a:xfrm>
            <a:off x="5337604" y="4396136"/>
            <a:ext cx="5733437" cy="1112935"/>
          </a:xfrm>
          <a:prstGeom prst="roundRect">
            <a:avLst>
              <a:gd name="adj" fmla="val 3145"/>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84" name="직사각형 83"/>
          <p:cNvSpPr/>
          <p:nvPr/>
        </p:nvSpPr>
        <p:spPr>
          <a:xfrm>
            <a:off x="1029819" y="2262547"/>
            <a:ext cx="3781017" cy="3808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85" name="TextBox 84"/>
          <p:cNvSpPr txBox="1"/>
          <p:nvPr/>
        </p:nvSpPr>
        <p:spPr>
          <a:xfrm>
            <a:off x="5337604" y="2552718"/>
            <a:ext cx="5653862" cy="805926"/>
          </a:xfrm>
          <a:prstGeom prst="rect">
            <a:avLst/>
          </a:prstGeom>
          <a:noFill/>
        </p:spPr>
        <p:txBody>
          <a:bodyPr wrap="square" rtlCol="0">
            <a:spAutoFit/>
          </a:bodyPr>
          <a:lstStyle/>
          <a:p>
            <a:pPr algn="ctr">
              <a:lnSpc>
                <a:spcPct val="114000"/>
              </a:lnSpc>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A study that calculated Body Water before and after dialysis with InBodyS20 in  order to study it’s viability in dialysis patient water management compared to other parameters.</a:t>
            </a:r>
          </a:p>
        </p:txBody>
      </p:sp>
      <p:pic>
        <p:nvPicPr>
          <p:cNvPr id="86" name="그림 5" descr="relationship between the BIA-DW and the cDW_title.JPG"/>
          <p:cNvPicPr>
            <a:picLocks noChangeAspect="1"/>
          </p:cNvPicPr>
          <p:nvPr/>
        </p:nvPicPr>
        <p:blipFill>
          <a:blip r:embed="rId3" cstate="print"/>
          <a:srcRect/>
          <a:stretch>
            <a:fillRect/>
          </a:stretch>
        </p:blipFill>
        <p:spPr bwMode="auto">
          <a:xfrm>
            <a:off x="976987" y="2262547"/>
            <a:ext cx="3781017" cy="1844504"/>
          </a:xfrm>
          <a:prstGeom prst="rect">
            <a:avLst/>
          </a:prstGeom>
          <a:noFill/>
          <a:ln w="9525">
            <a:noFill/>
            <a:miter lim="800000"/>
            <a:headEnd/>
            <a:tailEnd/>
          </a:ln>
        </p:spPr>
      </p:pic>
      <p:pic>
        <p:nvPicPr>
          <p:cNvPr id="87" name="그림 6" descr="relationship between the BIA-DW and the cDW.JPG"/>
          <p:cNvPicPr>
            <a:picLocks noChangeAspect="1"/>
          </p:cNvPicPr>
          <p:nvPr/>
        </p:nvPicPr>
        <p:blipFill>
          <a:blip r:embed="rId4" cstate="print"/>
          <a:srcRect b="28819"/>
          <a:stretch>
            <a:fillRect/>
          </a:stretch>
        </p:blipFill>
        <p:spPr bwMode="auto">
          <a:xfrm>
            <a:off x="1838593" y="4194443"/>
            <a:ext cx="2199554" cy="1876554"/>
          </a:xfrm>
          <a:prstGeom prst="rect">
            <a:avLst/>
          </a:prstGeom>
          <a:noFill/>
          <a:ln w="9525">
            <a:noFill/>
            <a:miter lim="800000"/>
            <a:headEnd/>
            <a:tailEnd/>
          </a:ln>
        </p:spPr>
      </p:pic>
      <p:sp>
        <p:nvSpPr>
          <p:cNvPr id="89" name="TextBox 88"/>
          <p:cNvSpPr txBox="1"/>
          <p:nvPr/>
        </p:nvSpPr>
        <p:spPr>
          <a:xfrm>
            <a:off x="5377389" y="4534575"/>
            <a:ext cx="5653862" cy="812530"/>
          </a:xfrm>
          <a:prstGeom prst="rect">
            <a:avLst/>
          </a:prstGeom>
          <a:noFill/>
        </p:spPr>
        <p:txBody>
          <a:bodyPr wrap="square" rtlCol="0">
            <a:spAutoFit/>
          </a:bodyPr>
          <a:lstStyle/>
          <a:p>
            <a:pPr algn="ctr">
              <a:lnSpc>
                <a:spcPct val="114000"/>
              </a:lnSpc>
            </a:pPr>
            <a:r>
              <a:rPr lang="en-US" altLang="ko-KR" sz="1400">
                <a:solidFill>
                  <a:schemeClr val="bg1"/>
                </a:solidFill>
                <a:latin typeface="Lato Black" panose="020F0502020204030203" pitchFamily="34" charset="0"/>
                <a:ea typeface="Lato Black" panose="020F0502020204030203" pitchFamily="34" charset="0"/>
                <a:cs typeface="Lato Black" panose="020F0502020204030203" pitchFamily="34" charset="0"/>
              </a:rPr>
              <a:t>Dry weight measured with InBodyS20 (BIA-DW) and clinical dry weight measured  with CTR, hANP, IVC (cDW) </a:t>
            </a:r>
            <a:r>
              <a:rPr lang="en-US" altLang="ko-KR" sz="1400" u="sng">
                <a:solidFill>
                  <a:schemeClr val="bg1"/>
                </a:solidFill>
                <a:latin typeface="Lato Black" panose="020F0502020204030203" pitchFamily="34" charset="0"/>
                <a:ea typeface="Lato Black" panose="020F0502020204030203" pitchFamily="34" charset="0"/>
                <a:cs typeface="Lato Black" panose="020F0502020204030203" pitchFamily="34" charset="0"/>
              </a:rPr>
              <a:t>showed high correlation after dialysis. </a:t>
            </a:r>
            <a:r>
              <a:rPr lang="en-US" altLang="ko-KR" sz="1400">
                <a:solidFill>
                  <a:schemeClr val="bg1"/>
                </a:solidFill>
                <a:latin typeface="Lato Black" panose="020F0502020204030203" pitchFamily="34" charset="0"/>
                <a:ea typeface="Lato Black" panose="020F0502020204030203" pitchFamily="34" charset="0"/>
                <a:cs typeface="Lato Black" panose="020F0502020204030203" pitchFamily="34" charset="0"/>
              </a:rPr>
              <a:t>(r=0.99, p&lt;0.001)</a:t>
            </a:r>
            <a:endParaRPr lang="en-US" altLang="ko-KR" sz="1400"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02" name="TextBox 10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03" name="TextBox 102">
            <a:extLst>
              <a:ext uri="{FF2B5EF4-FFF2-40B4-BE49-F238E27FC236}">
                <a16:creationId xmlns:a16="http://schemas.microsoft.com/office/drawing/2014/main" id="{24C31E62-CE78-8243-AB22-9D4C1B89F17B}"/>
              </a:ext>
            </a:extLst>
          </p:cNvPr>
          <p:cNvSpPr txBox="1"/>
          <p:nvPr/>
        </p:nvSpPr>
        <p:spPr>
          <a:xfrm>
            <a:off x="569846" y="222320"/>
            <a:ext cx="525183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grpSp>
        <p:nvGrpSpPr>
          <p:cNvPr id="104" name="그룹 103">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105"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06" name="타원 105">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 name="직사각형 1"/>
          <p:cNvSpPr/>
          <p:nvPr/>
        </p:nvSpPr>
        <p:spPr>
          <a:xfrm>
            <a:off x="1241910" y="1193463"/>
            <a:ext cx="10569719" cy="366895"/>
          </a:xfrm>
          <a:prstGeom prst="rect">
            <a:avLst/>
          </a:prstGeom>
        </p:spPr>
        <p:txBody>
          <a:bodyPr wrap="square">
            <a:spAutoFit/>
          </a:bodyPr>
          <a:lstStyle/>
          <a:p>
            <a:pPr>
              <a:lnSpc>
                <a:spcPct val="125000"/>
              </a:lnSpc>
            </a:pPr>
            <a:r>
              <a:rPr lang="en-US" altLang="ko-KR" sz="1600">
                <a:solidFill>
                  <a:srgbClr val="A0112D"/>
                </a:solidFill>
                <a:latin typeface="Lato Black" panose="020F0502020204030203" pitchFamily="34" charset="0"/>
                <a:ea typeface="Lato Black" panose="020F0502020204030203" pitchFamily="34" charset="0"/>
                <a:cs typeface="Lato Black" panose="020F0502020204030203" pitchFamily="34" charset="0"/>
              </a:rPr>
              <a:t>Dry weight measurement using average (ECW/TBW) has high correlation with clinical dry weight</a:t>
            </a:r>
            <a:endPar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07" name="그룹 106">
            <a:extLst>
              <a:ext uri="{FF2B5EF4-FFF2-40B4-BE49-F238E27FC236}">
                <a16:creationId xmlns:a16="http://schemas.microsoft.com/office/drawing/2014/main" id="{2F1A05A6-8D4D-A99A-FADA-5533987FA333}"/>
              </a:ext>
            </a:extLst>
          </p:cNvPr>
          <p:cNvGrpSpPr/>
          <p:nvPr/>
        </p:nvGrpSpPr>
        <p:grpSpPr>
          <a:xfrm>
            <a:off x="8017480" y="3679451"/>
            <a:ext cx="373680" cy="338057"/>
            <a:chOff x="2061642" y="2996194"/>
            <a:chExt cx="369826" cy="334570"/>
          </a:xfrm>
        </p:grpSpPr>
        <p:sp>
          <p:nvSpPr>
            <p:cNvPr id="108"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09"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116" name="TextBox 115">
            <a:extLst>
              <a:ext uri="{FF2B5EF4-FFF2-40B4-BE49-F238E27FC236}">
                <a16:creationId xmlns:a16="http://schemas.microsoft.com/office/drawing/2014/main" id="{B8271BDF-AC03-4748-8C05-1D490119D647}"/>
              </a:ext>
            </a:extLst>
          </p:cNvPr>
          <p:cNvSpPr txBox="1"/>
          <p:nvPr/>
        </p:nvSpPr>
        <p:spPr>
          <a:xfrm>
            <a:off x="903259" y="64756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Target Dry Weight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17" name="모서리가 둥근 직사각형 116"/>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18" name="타원 117">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119" name="TextBox 118"/>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1365815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모서리가 둥근 직사각형 56"/>
          <p:cNvSpPr/>
          <p:nvPr/>
        </p:nvSpPr>
        <p:spPr>
          <a:xfrm>
            <a:off x="5404452" y="4741230"/>
            <a:ext cx="6251359" cy="764626"/>
          </a:xfrm>
          <a:prstGeom prst="roundRect">
            <a:avLst>
              <a:gd name="adj" fmla="val 3145"/>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7" name="직사각형 26"/>
          <p:cNvSpPr/>
          <p:nvPr/>
        </p:nvSpPr>
        <p:spPr>
          <a:xfrm>
            <a:off x="1160353" y="2470132"/>
            <a:ext cx="3838891" cy="3741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TextBox 36"/>
          <p:cNvSpPr txBox="1"/>
          <p:nvPr/>
        </p:nvSpPr>
        <p:spPr>
          <a:xfrm>
            <a:off x="5538259" y="2852190"/>
            <a:ext cx="5653862" cy="841512"/>
          </a:xfrm>
          <a:prstGeom prst="rect">
            <a:avLst/>
          </a:prstGeom>
          <a:noFill/>
        </p:spPr>
        <p:txBody>
          <a:bodyPr wrap="square" rtlCol="0">
            <a:spAutoFit/>
          </a:bodyPr>
          <a:lstStyle/>
          <a:p>
            <a:pPr algn="ctr">
              <a:lnSpc>
                <a:spcPct val="120000"/>
              </a:lnSpc>
              <a:spcBef>
                <a:spcPct val="50000"/>
              </a:spcBef>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Average person has ECW Ratio of approximately 0.380 but according to 2008 Japanese Dialysis Journal, adequate ECW Ratio differs depending on what other complications the patient suffers.</a:t>
            </a:r>
          </a:p>
        </p:txBody>
      </p:sp>
      <p:sp>
        <p:nvSpPr>
          <p:cNvPr id="38" name="TextBox 37"/>
          <p:cNvSpPr txBox="1"/>
          <p:nvPr/>
        </p:nvSpPr>
        <p:spPr>
          <a:xfrm>
            <a:off x="5397690" y="4780720"/>
            <a:ext cx="6251359" cy="357662"/>
          </a:xfrm>
          <a:prstGeom prst="rect">
            <a:avLst/>
          </a:prstGeom>
          <a:noFill/>
        </p:spPr>
        <p:txBody>
          <a:bodyPr wrap="square" rtlCol="0">
            <a:spAutoFit/>
          </a:bodyPr>
          <a:lstStyle/>
          <a:p>
            <a:pPr algn="ctr">
              <a:lnSpc>
                <a:spcPct val="120000"/>
              </a:lnSpc>
              <a:spcBef>
                <a:spcPct val="50000"/>
              </a:spcBef>
            </a:pPr>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Set different dry weight according to patient’s other complications.</a:t>
            </a:r>
          </a:p>
        </p:txBody>
      </p:sp>
      <p:pic>
        <p:nvPicPr>
          <p:cNvPr id="39" name="그림 8" descr="DW level title.JPG"/>
          <p:cNvPicPr>
            <a:picLocks noChangeAspect="1"/>
          </p:cNvPicPr>
          <p:nvPr/>
        </p:nvPicPr>
        <p:blipFill>
          <a:blip r:embed="rId3" cstate="print"/>
          <a:srcRect/>
          <a:stretch>
            <a:fillRect/>
          </a:stretch>
        </p:blipFill>
        <p:spPr bwMode="auto">
          <a:xfrm>
            <a:off x="1160353" y="2470132"/>
            <a:ext cx="3838891" cy="1658555"/>
          </a:xfrm>
          <a:prstGeom prst="rect">
            <a:avLst/>
          </a:prstGeom>
          <a:noFill/>
          <a:ln w="9525">
            <a:noFill/>
            <a:miter lim="800000"/>
            <a:headEnd/>
            <a:tailEnd/>
          </a:ln>
        </p:spPr>
      </p:pic>
      <p:pic>
        <p:nvPicPr>
          <p:cNvPr id="40" name="그림 10" descr="DW level.JPG"/>
          <p:cNvPicPr>
            <a:picLocks noChangeAspect="1"/>
          </p:cNvPicPr>
          <p:nvPr/>
        </p:nvPicPr>
        <p:blipFill>
          <a:blip r:embed="rId4" cstate="print"/>
          <a:srcRect/>
          <a:stretch>
            <a:fillRect/>
          </a:stretch>
        </p:blipFill>
        <p:spPr bwMode="auto">
          <a:xfrm>
            <a:off x="1842952" y="4067600"/>
            <a:ext cx="2473691" cy="2071702"/>
          </a:xfrm>
          <a:prstGeom prst="rect">
            <a:avLst/>
          </a:prstGeom>
          <a:noFill/>
          <a:ln w="9525">
            <a:noFill/>
            <a:miter lim="800000"/>
            <a:headEnd/>
            <a:tailEnd/>
          </a:ln>
        </p:spPr>
      </p:pic>
      <p:sp>
        <p:nvSpPr>
          <p:cNvPr id="48" name="TextBox 47">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49" name="TextBox 48">
            <a:extLst>
              <a:ext uri="{FF2B5EF4-FFF2-40B4-BE49-F238E27FC236}">
                <a16:creationId xmlns:a16="http://schemas.microsoft.com/office/drawing/2014/main" id="{24C31E62-CE78-8243-AB22-9D4C1B89F17B}"/>
              </a:ext>
            </a:extLst>
          </p:cNvPr>
          <p:cNvSpPr txBox="1"/>
          <p:nvPr/>
        </p:nvSpPr>
        <p:spPr>
          <a:xfrm>
            <a:off x="569846" y="222320"/>
            <a:ext cx="538137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grpSp>
        <p:nvGrpSpPr>
          <p:cNvPr id="50" name="그룹 49">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51"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52" name="타원 51">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53" name="직사각형 52"/>
          <p:cNvSpPr/>
          <p:nvPr/>
        </p:nvSpPr>
        <p:spPr>
          <a:xfrm>
            <a:off x="1241910" y="1193463"/>
            <a:ext cx="10569719" cy="674672"/>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Patients suffering from edema related diseases such as diabetes and hypoalbuminemia need to have higher ECW ratio. </a:t>
            </a:r>
          </a:p>
        </p:txBody>
      </p:sp>
      <p:grpSp>
        <p:nvGrpSpPr>
          <p:cNvPr id="54" name="그룹 53">
            <a:extLst>
              <a:ext uri="{FF2B5EF4-FFF2-40B4-BE49-F238E27FC236}">
                <a16:creationId xmlns:a16="http://schemas.microsoft.com/office/drawing/2014/main" id="{2F1A05A6-8D4D-A99A-FADA-5533987FA333}"/>
              </a:ext>
            </a:extLst>
          </p:cNvPr>
          <p:cNvGrpSpPr/>
          <p:nvPr/>
        </p:nvGrpSpPr>
        <p:grpSpPr>
          <a:xfrm>
            <a:off x="8156456" y="3998271"/>
            <a:ext cx="373680" cy="338057"/>
            <a:chOff x="2061642" y="2996194"/>
            <a:chExt cx="369826" cy="334570"/>
          </a:xfrm>
        </p:grpSpPr>
        <p:sp>
          <p:nvSpPr>
            <p:cNvPr id="55"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6"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63" name="TextBox 62">
            <a:extLst>
              <a:ext uri="{FF2B5EF4-FFF2-40B4-BE49-F238E27FC236}">
                <a16:creationId xmlns:a16="http://schemas.microsoft.com/office/drawing/2014/main" id="{B8271BDF-AC03-4748-8C05-1D490119D647}"/>
              </a:ext>
            </a:extLst>
          </p:cNvPr>
          <p:cNvSpPr txBox="1"/>
          <p:nvPr/>
        </p:nvSpPr>
        <p:spPr>
          <a:xfrm>
            <a:off x="903259" y="64756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Target Dry Weight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4" name="모서리가 둥근 직사각형 63"/>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5" name="타원 64">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66" name="TextBox 65"/>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516437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49317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pic>
        <p:nvPicPr>
          <p:cNvPr id="28" name="그림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3095" y="3208137"/>
            <a:ext cx="2026920" cy="2618232"/>
          </a:xfrm>
          <a:prstGeom prst="rect">
            <a:avLst/>
          </a:prstGeom>
        </p:spPr>
      </p:pic>
      <p:pic>
        <p:nvPicPr>
          <p:cNvPr id="29" name="그림 28">
            <a:extLst>
              <a:ext uri="{FF2B5EF4-FFF2-40B4-BE49-F238E27FC236}">
                <a16:creationId xmlns:a16="http://schemas.microsoft.com/office/drawing/2014/main" id="{F03D8156-8EBB-4D23-BB61-D0A5139730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3160" y="1482490"/>
            <a:ext cx="7188590" cy="4343879"/>
          </a:xfrm>
          <a:prstGeom prst="rect">
            <a:avLst/>
          </a:prstGeom>
        </p:spPr>
      </p:pic>
      <p:sp>
        <p:nvSpPr>
          <p:cNvPr id="30" name="직사각형 29"/>
          <p:cNvSpPr/>
          <p:nvPr/>
        </p:nvSpPr>
        <p:spPr>
          <a:xfrm>
            <a:off x="8587824" y="4052609"/>
            <a:ext cx="1882880" cy="887594"/>
          </a:xfrm>
          <a:prstGeom prst="rect">
            <a:avLst/>
          </a:prstGeom>
          <a:noFill/>
          <a:ln w="25400">
            <a:solidFill>
              <a:srgbClr val="9000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1" name="TextBox 30"/>
          <p:cNvSpPr txBox="1"/>
          <p:nvPr/>
        </p:nvSpPr>
        <p:spPr>
          <a:xfrm>
            <a:off x="2542747" y="4346310"/>
            <a:ext cx="590550"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0.400</a:t>
            </a:r>
            <a:endParaRPr lang="ko-KR" altLang="en-US" sz="11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3" name="TextBox 32"/>
          <p:cNvSpPr txBox="1"/>
          <p:nvPr/>
        </p:nvSpPr>
        <p:spPr>
          <a:xfrm>
            <a:off x="2542747" y="4705863"/>
            <a:ext cx="590550"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0.405</a:t>
            </a:r>
            <a:endParaRPr lang="ko-KR" altLang="en-US" sz="11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4" name="TextBox 33"/>
          <p:cNvSpPr txBox="1"/>
          <p:nvPr/>
        </p:nvSpPr>
        <p:spPr>
          <a:xfrm>
            <a:off x="2551983" y="5007347"/>
            <a:ext cx="590550"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-1.0 </a:t>
            </a:r>
            <a:r>
              <a:rPr lang="en-US" altLang="ko-KR" sz="1000" dirty="0">
                <a:latin typeface="Lato Black" panose="020F0502020204030203" pitchFamily="34" charset="0"/>
                <a:ea typeface="Lato Black" panose="020F0502020204030203" pitchFamily="34" charset="0"/>
                <a:cs typeface="Lato Black" panose="020F0502020204030203" pitchFamily="34" charset="0"/>
              </a:rPr>
              <a:t>L</a:t>
            </a:r>
            <a:endParaRPr lang="ko-KR" altLang="en-US" sz="10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5" name="TextBox 34"/>
          <p:cNvSpPr txBox="1"/>
          <p:nvPr/>
        </p:nvSpPr>
        <p:spPr>
          <a:xfrm>
            <a:off x="2215879" y="5212973"/>
            <a:ext cx="917418" cy="218525"/>
          </a:xfrm>
          <a:prstGeom prst="rect">
            <a:avLst/>
          </a:prstGeom>
          <a:solidFill>
            <a:schemeClr val="bg1"/>
          </a:solidFill>
        </p:spPr>
        <p:txBody>
          <a:bodyPr wrap="square" rtlCol="0">
            <a:spAutoFit/>
          </a:bodyPr>
          <a:lstStyle/>
          <a:p>
            <a:pPr algn="ctr"/>
            <a:r>
              <a:rPr lang="en-US" altLang="ko-KR" sz="800" dirty="0">
                <a:latin typeface="Lato Black" panose="020F0502020204030203" pitchFamily="34" charset="0"/>
                <a:ea typeface="Lato Black" panose="020F0502020204030203" pitchFamily="34" charset="0"/>
                <a:cs typeface="Lato Black" panose="020F0502020204030203" pitchFamily="34" charset="0"/>
              </a:rPr>
              <a:t>  (+0.90~+1.10)</a:t>
            </a:r>
            <a:endParaRPr lang="ko-KR" altLang="en-US" sz="8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6" name="TextBox 35"/>
          <p:cNvSpPr txBox="1"/>
          <p:nvPr/>
        </p:nvSpPr>
        <p:spPr>
          <a:xfrm>
            <a:off x="2444179" y="5383652"/>
            <a:ext cx="689118"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63.0 </a:t>
            </a:r>
            <a:r>
              <a:rPr lang="en-US" altLang="ko-KR" sz="1000" dirty="0">
                <a:latin typeface="Lato Black" panose="020F0502020204030203" pitchFamily="34" charset="0"/>
                <a:ea typeface="Lato Black" panose="020F0502020204030203" pitchFamily="34" charset="0"/>
                <a:cs typeface="Lato Black" panose="020F0502020204030203" pitchFamily="34" charset="0"/>
              </a:rPr>
              <a:t>kg</a:t>
            </a:r>
            <a:endParaRPr lang="ko-KR" altLang="en-US" sz="10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8" name="TextBox 37"/>
          <p:cNvSpPr txBox="1"/>
          <p:nvPr/>
        </p:nvSpPr>
        <p:spPr>
          <a:xfrm>
            <a:off x="9932120" y="4600344"/>
            <a:ext cx="475675" cy="215444"/>
          </a:xfrm>
          <a:prstGeom prst="rect">
            <a:avLst/>
          </a:prstGeom>
          <a:solidFill>
            <a:schemeClr val="bg1"/>
          </a:solidFill>
        </p:spPr>
        <p:txBody>
          <a:bodyPr wrap="square" rtlCol="0">
            <a:spAutoFit/>
          </a:bodyPr>
          <a:lstStyle/>
          <a:p>
            <a:pPr algn="ctr"/>
            <a:r>
              <a:rPr lang="en-US" altLang="ko-KR" sz="800" b="1" dirty="0">
                <a:solidFill>
                  <a:schemeClr val="tx1">
                    <a:lumMod val="85000"/>
                    <a:lumOff val="15000"/>
                  </a:schemeClr>
                </a:solidFill>
                <a:latin typeface="Lato Black" panose="020F0502020204030203" pitchFamily="34" charset="0"/>
                <a:ea typeface="Lato Black" panose="020F0502020204030203" pitchFamily="34" charset="0"/>
                <a:cs typeface="Lato Black" panose="020F0502020204030203" pitchFamily="34" charset="0"/>
              </a:rPr>
              <a:t>63.0</a:t>
            </a:r>
            <a:endParaRPr lang="ko-KR" altLang="en-US" sz="800" b="1" dirty="0">
              <a:solidFill>
                <a:schemeClr val="tx1">
                  <a:lumMod val="85000"/>
                  <a:lumOff val="15000"/>
                </a:schemeClr>
              </a:solidFill>
              <a:latin typeface="Lato Black" panose="020F0502020204030203" pitchFamily="34" charset="0"/>
              <a:ea typeface="HY견고딕" panose="02030600000101010101" pitchFamily="18" charset="-127"/>
              <a:cs typeface="Lato Black" panose="020F0502020204030203" pitchFamily="34" charset="0"/>
            </a:endParaRPr>
          </a:p>
        </p:txBody>
      </p:sp>
      <p:sp>
        <p:nvSpPr>
          <p:cNvPr id="39" name="모서리가 둥근 직사각형 38"/>
          <p:cNvSpPr/>
          <p:nvPr/>
        </p:nvSpPr>
        <p:spPr>
          <a:xfrm>
            <a:off x="9899100" y="1686756"/>
            <a:ext cx="859028" cy="304800"/>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317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Lato Black" panose="020F0502020204030203" pitchFamily="34" charset="0"/>
                <a:ea typeface="Lato Black" panose="020F0502020204030203" pitchFamily="34" charset="0"/>
                <a:cs typeface="Lato Black" panose="020F0502020204030203" pitchFamily="34" charset="0"/>
              </a:rPr>
              <a:t>Exit</a:t>
            </a:r>
            <a:endParaRPr lang="ko-KR" altLang="en-US" sz="1600">
              <a:solidFill>
                <a:schemeClr val="tx1"/>
              </a:solidFill>
              <a:latin typeface="Lato Black" panose="020F0502020204030203" pitchFamily="34" charset="0"/>
              <a:cs typeface="Lato Black" panose="020F0502020204030203" pitchFamily="34" charset="0"/>
            </a:endParaRPr>
          </a:p>
        </p:txBody>
      </p:sp>
      <p:sp>
        <p:nvSpPr>
          <p:cNvPr id="41" name="TextBox 40">
            <a:extLst>
              <a:ext uri="{FF2B5EF4-FFF2-40B4-BE49-F238E27FC236}">
                <a16:creationId xmlns:a16="http://schemas.microsoft.com/office/drawing/2014/main" id="{B8271BDF-AC03-4748-8C05-1D490119D647}"/>
              </a:ext>
            </a:extLst>
          </p:cNvPr>
          <p:cNvSpPr txBox="1"/>
          <p:nvPr/>
        </p:nvSpPr>
        <p:spPr>
          <a:xfrm>
            <a:off x="903259" y="64756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Target Dry Weight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2" name="모서리가 둥근 직사각형 41"/>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43" name="타원 42">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4" name="TextBox 43"/>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2847187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498513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pic>
        <p:nvPicPr>
          <p:cNvPr id="37" name="그림 36"/>
          <p:cNvPicPr>
            <a:picLocks noChangeAspect="1"/>
          </p:cNvPicPr>
          <p:nvPr/>
        </p:nvPicPr>
        <p:blipFill rotWithShape="1">
          <a:blip r:embed="rId3" cstate="print">
            <a:extLst>
              <a:ext uri="{28A0092B-C50C-407E-A947-70E740481C1C}">
                <a14:useLocalDpi xmlns:a14="http://schemas.microsoft.com/office/drawing/2010/main" val="0"/>
              </a:ext>
            </a:extLst>
          </a:blip>
          <a:srcRect l="64088" t="22332" r="6356" b="70286"/>
          <a:stretch/>
        </p:blipFill>
        <p:spPr>
          <a:xfrm>
            <a:off x="7629528" y="1874051"/>
            <a:ext cx="3426002" cy="1205345"/>
          </a:xfrm>
          <a:prstGeom prst="rect">
            <a:avLst/>
          </a:prstGeom>
        </p:spPr>
      </p:pic>
      <p:grpSp>
        <p:nvGrpSpPr>
          <p:cNvPr id="66" name="그룹 65"/>
          <p:cNvGrpSpPr/>
          <p:nvPr/>
        </p:nvGrpSpPr>
        <p:grpSpPr>
          <a:xfrm>
            <a:off x="1885240" y="1201703"/>
            <a:ext cx="4043922" cy="5499390"/>
            <a:chOff x="1069098" y="1201567"/>
            <a:chExt cx="3948766" cy="5369986"/>
          </a:xfrm>
        </p:grpSpPr>
        <p:grpSp>
          <p:nvGrpSpPr>
            <p:cNvPr id="9" name="그룹 8"/>
            <p:cNvGrpSpPr/>
            <p:nvPr/>
          </p:nvGrpSpPr>
          <p:grpSpPr>
            <a:xfrm>
              <a:off x="1069098" y="1201567"/>
              <a:ext cx="3948766" cy="5369986"/>
              <a:chOff x="1487195" y="1443392"/>
              <a:chExt cx="3762078" cy="5116106"/>
            </a:xfrm>
          </p:grpSpPr>
          <p:pic>
            <p:nvPicPr>
              <p:cNvPr id="32" name="그림 31"/>
              <p:cNvPicPr>
                <a:picLocks noChangeAspect="1"/>
              </p:cNvPicPr>
              <p:nvPr/>
            </p:nvPicPr>
            <p:blipFill rotWithShape="1">
              <a:blip r:embed="rId3" cstate="print">
                <a:extLst>
                  <a:ext uri="{28A0092B-C50C-407E-A947-70E740481C1C}">
                    <a14:useLocalDpi xmlns:a14="http://schemas.microsoft.com/office/drawing/2010/main" val="0"/>
                  </a:ext>
                </a:extLst>
              </a:blip>
              <a:srcRect b="3452"/>
              <a:stretch/>
            </p:blipFill>
            <p:spPr>
              <a:xfrm>
                <a:off x="1487195" y="1443392"/>
                <a:ext cx="3762078" cy="5116106"/>
              </a:xfrm>
              <a:prstGeom prst="rect">
                <a:avLst/>
              </a:prstGeom>
            </p:spPr>
          </p:pic>
          <p:sp>
            <p:nvSpPr>
              <p:cNvPr id="2" name="직사각형 1"/>
              <p:cNvSpPr/>
              <p:nvPr/>
            </p:nvSpPr>
            <p:spPr>
              <a:xfrm>
                <a:off x="1626499" y="1911355"/>
                <a:ext cx="646065" cy="129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4" name="직사각형 3"/>
            <p:cNvSpPr/>
            <p:nvPr/>
          </p:nvSpPr>
          <p:spPr>
            <a:xfrm>
              <a:off x="1215315" y="2607174"/>
              <a:ext cx="2306259" cy="408079"/>
            </a:xfrm>
            <a:prstGeom prst="rect">
              <a:avLst/>
            </a:prstGeom>
            <a:noFill/>
            <a:ln w="12700">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45" name="직사각형 44"/>
            <p:cNvSpPr/>
            <p:nvPr/>
          </p:nvSpPr>
          <p:spPr>
            <a:xfrm>
              <a:off x="3603443" y="2446586"/>
              <a:ext cx="1180154" cy="425084"/>
            </a:xfrm>
            <a:prstGeom prst="rect">
              <a:avLst/>
            </a:prstGeom>
            <a:noFill/>
            <a:ln w="12700">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grpSp>
        <p:nvGrpSpPr>
          <p:cNvPr id="46" name="그룹 45">
            <a:extLst>
              <a:ext uri="{FF2B5EF4-FFF2-40B4-BE49-F238E27FC236}">
                <a16:creationId xmlns:a16="http://schemas.microsoft.com/office/drawing/2014/main" id="{2F1A05A6-8D4D-A99A-FADA-5533987FA333}"/>
              </a:ext>
            </a:extLst>
          </p:cNvPr>
          <p:cNvGrpSpPr/>
          <p:nvPr/>
        </p:nvGrpSpPr>
        <p:grpSpPr>
          <a:xfrm rot="16200000">
            <a:off x="6067547" y="2581508"/>
            <a:ext cx="238225" cy="215515"/>
            <a:chOff x="2061642" y="2996194"/>
            <a:chExt cx="369826" cy="334570"/>
          </a:xfrm>
        </p:grpSpPr>
        <p:sp>
          <p:nvSpPr>
            <p:cNvPr id="47"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48"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10" name="타원 9"/>
          <p:cNvSpPr/>
          <p:nvPr/>
        </p:nvSpPr>
        <p:spPr>
          <a:xfrm>
            <a:off x="6684659" y="2312359"/>
            <a:ext cx="60457" cy="60457"/>
          </a:xfrm>
          <a:prstGeom prst="ellipse">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7" name="타원 56"/>
          <p:cNvSpPr/>
          <p:nvPr/>
        </p:nvSpPr>
        <p:spPr>
          <a:xfrm>
            <a:off x="6684659" y="2635030"/>
            <a:ext cx="60457" cy="60457"/>
          </a:xfrm>
          <a:prstGeom prst="ellipse">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8" name="타원 57"/>
          <p:cNvSpPr/>
          <p:nvPr/>
        </p:nvSpPr>
        <p:spPr>
          <a:xfrm>
            <a:off x="6684659" y="2957702"/>
            <a:ext cx="60457" cy="60457"/>
          </a:xfrm>
          <a:prstGeom prst="ellipse">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9" name="TextBox 58">
            <a:extLst>
              <a:ext uri="{FF2B5EF4-FFF2-40B4-BE49-F238E27FC236}">
                <a16:creationId xmlns:a16="http://schemas.microsoft.com/office/drawing/2014/main" id="{B8271BDF-AC03-4748-8C05-1D490119D647}"/>
              </a:ext>
            </a:extLst>
          </p:cNvPr>
          <p:cNvSpPr txBox="1"/>
          <p:nvPr/>
        </p:nvSpPr>
        <p:spPr>
          <a:xfrm>
            <a:off x="6745116" y="2140826"/>
            <a:ext cx="1382074" cy="338491"/>
          </a:xfrm>
          <a:prstGeom prst="rect">
            <a:avLst/>
          </a:prstGeom>
          <a:noFill/>
        </p:spPr>
        <p:txBody>
          <a:bodyPr wrap="square" rtlCol="0">
            <a:spAutoFit/>
          </a:bodyPr>
          <a:lstStyle/>
          <a:p>
            <a:pPr>
              <a:lnSpc>
                <a:spcPct val="150000"/>
              </a:lnSpc>
            </a:pPr>
            <a:r>
              <a:rPr kumimoji="1" lang="en-US" altLang="ko-KR" sz="12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Normal</a:t>
            </a:r>
          </a:p>
        </p:txBody>
      </p:sp>
      <p:sp>
        <p:nvSpPr>
          <p:cNvPr id="61" name="TextBox 60">
            <a:extLst>
              <a:ext uri="{FF2B5EF4-FFF2-40B4-BE49-F238E27FC236}">
                <a16:creationId xmlns:a16="http://schemas.microsoft.com/office/drawing/2014/main" id="{B8271BDF-AC03-4748-8C05-1D490119D647}"/>
              </a:ext>
            </a:extLst>
          </p:cNvPr>
          <p:cNvSpPr txBox="1"/>
          <p:nvPr/>
        </p:nvSpPr>
        <p:spPr>
          <a:xfrm>
            <a:off x="6745116" y="2465784"/>
            <a:ext cx="1382074" cy="338491"/>
          </a:xfrm>
          <a:prstGeom prst="rect">
            <a:avLst/>
          </a:prstGeom>
          <a:noFill/>
        </p:spPr>
        <p:txBody>
          <a:bodyPr wrap="square" rtlCol="0">
            <a:spAutoFit/>
          </a:bodyPr>
          <a:lstStyle/>
          <a:p>
            <a:pPr>
              <a:lnSpc>
                <a:spcPct val="150000"/>
              </a:lnSpc>
            </a:pPr>
            <a:r>
              <a:rPr kumimoji="1" lang="en-US" altLang="ko-KR" sz="12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DM or Alb-</a:t>
            </a:r>
          </a:p>
        </p:txBody>
      </p:sp>
      <p:sp>
        <p:nvSpPr>
          <p:cNvPr id="62" name="TextBox 61">
            <a:extLst>
              <a:ext uri="{FF2B5EF4-FFF2-40B4-BE49-F238E27FC236}">
                <a16:creationId xmlns:a16="http://schemas.microsoft.com/office/drawing/2014/main" id="{B8271BDF-AC03-4748-8C05-1D490119D647}"/>
              </a:ext>
            </a:extLst>
          </p:cNvPr>
          <p:cNvSpPr txBox="1"/>
          <p:nvPr/>
        </p:nvSpPr>
        <p:spPr>
          <a:xfrm>
            <a:off x="6745116" y="2777425"/>
            <a:ext cx="1382074" cy="338491"/>
          </a:xfrm>
          <a:prstGeom prst="rect">
            <a:avLst/>
          </a:prstGeom>
          <a:noFill/>
        </p:spPr>
        <p:txBody>
          <a:bodyPr wrap="square" rtlCol="0">
            <a:spAutoFit/>
          </a:bodyPr>
          <a:lstStyle/>
          <a:p>
            <a:pPr>
              <a:lnSpc>
                <a:spcPct val="150000"/>
              </a:lnSpc>
            </a:pPr>
            <a:r>
              <a:rPr kumimoji="1" lang="en-US" altLang="ko-KR" sz="12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DM &amp; Alb-</a:t>
            </a:r>
            <a:endParaRPr kumimoji="1" lang="en-US" altLang="ko-KR" sz="12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cxnSp>
        <p:nvCxnSpPr>
          <p:cNvPr id="63" name="직선 연결선 62"/>
          <p:cNvCxnSpPr/>
          <p:nvPr/>
        </p:nvCxnSpPr>
        <p:spPr>
          <a:xfrm>
            <a:off x="8599630" y="2476724"/>
            <a:ext cx="480060" cy="0"/>
          </a:xfrm>
          <a:prstGeom prst="line">
            <a:avLst/>
          </a:prstGeom>
          <a:ln>
            <a:solidFill>
              <a:srgbClr val="A0112D"/>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599630" y="2797221"/>
            <a:ext cx="480060" cy="0"/>
          </a:xfrm>
          <a:prstGeom prst="line">
            <a:avLst/>
          </a:prstGeom>
          <a:ln>
            <a:solidFill>
              <a:srgbClr val="A0112D"/>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a:off x="8599630" y="3072799"/>
            <a:ext cx="480060" cy="0"/>
          </a:xfrm>
          <a:prstGeom prst="line">
            <a:avLst/>
          </a:prstGeom>
          <a:ln>
            <a:solidFill>
              <a:srgbClr val="A0112D"/>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B8271BDF-AC03-4748-8C05-1D490119D647}"/>
              </a:ext>
            </a:extLst>
          </p:cNvPr>
          <p:cNvSpPr txBox="1"/>
          <p:nvPr/>
        </p:nvSpPr>
        <p:spPr>
          <a:xfrm>
            <a:off x="903259" y="64756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Target Dry Weight</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8" name="모서리가 둥근 직사각형 67"/>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9" name="타원 68">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70" name="TextBox 6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1</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931728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7"/>
          </p:nvPr>
        </p:nvSpPr>
        <p:spPr/>
        <p:txBody>
          <a:bodyPr/>
          <a:lstStyle/>
          <a:p>
            <a:r>
              <a:rPr lang="en-US" altLang="ko-KR" dirty="0"/>
              <a:t>02</a:t>
            </a:r>
            <a:endParaRPr lang="ko-KR" altLang="en-US" dirty="0"/>
          </a:p>
          <a:p>
            <a:endParaRPr lang="ko-KR" altLang="en-US" dirty="0"/>
          </a:p>
        </p:txBody>
      </p:sp>
      <p:sp>
        <p:nvSpPr>
          <p:cNvPr id="13" name="텍스트 개체 틀 12"/>
          <p:cNvSpPr>
            <a:spLocks noGrp="1"/>
          </p:cNvSpPr>
          <p:nvPr>
            <p:ph type="body" sz="quarter" idx="18"/>
          </p:nvPr>
        </p:nvSpPr>
        <p:spPr>
          <a:xfrm>
            <a:off x="811508" y="568692"/>
            <a:ext cx="6229372" cy="446199"/>
          </a:xfrm>
        </p:spPr>
        <p:txBody>
          <a:bodyPr>
            <a:normAutofit/>
          </a:bodyPr>
          <a:lstStyle/>
          <a:p>
            <a:r>
              <a:rPr lang="en-US" altLang="ko-KR" dirty="0"/>
              <a:t>Target Dry Weight</a:t>
            </a:r>
            <a:endParaRPr lang="ko-KR" altLang="en-US" dirty="0"/>
          </a:p>
        </p:txBody>
      </p:sp>
      <p:sp>
        <p:nvSpPr>
          <p:cNvPr id="11" name="텍스트 개체 틀 10"/>
          <p:cNvSpPr>
            <a:spLocks noGrp="1"/>
          </p:cNvSpPr>
          <p:nvPr>
            <p:ph type="body" sz="quarter" idx="12"/>
          </p:nvPr>
        </p:nvSpPr>
        <p:spPr>
          <a:xfrm>
            <a:off x="811508" y="975511"/>
            <a:ext cx="2454836" cy="313932"/>
          </a:xfrm>
        </p:spPr>
        <p:txBody>
          <a:bodyPr/>
          <a:lstStyle/>
          <a:p>
            <a:r>
              <a:rPr lang="en-US" altLang="ko-KR" dirty="0">
                <a:ln>
                  <a:solidFill>
                    <a:srgbClr val="7E8080">
                      <a:alpha val="0"/>
                    </a:srgbClr>
                  </a:solidFill>
                </a:ln>
                <a:latin typeface="Lato" panose="020F0502020204030203" pitchFamily="34" charset="0"/>
                <a:ea typeface="에스코어 드림 5 Medium" panose="020B0503030302020204" pitchFamily="34" charset="-127"/>
                <a:cs typeface="Lato Black" panose="020F0502020204030203" pitchFamily="34" charset="0"/>
              </a:rPr>
              <a:t>For Nephrology</a:t>
            </a:r>
          </a:p>
        </p:txBody>
      </p:sp>
      <p:sp>
        <p:nvSpPr>
          <p:cNvPr id="29" name="TextBox 28"/>
          <p:cNvSpPr txBox="1"/>
          <p:nvPr/>
        </p:nvSpPr>
        <p:spPr>
          <a:xfrm>
            <a:off x="905608" y="1383110"/>
            <a:ext cx="9592215" cy="807913"/>
          </a:xfrm>
          <a:prstGeom prst="rect">
            <a:avLst/>
          </a:prstGeom>
          <a:noFill/>
        </p:spPr>
        <p:txBody>
          <a:bodyPr wrap="square">
            <a:spAutoFit/>
          </a:bodyPr>
          <a:lstStyle/>
          <a:p>
            <a:pPr fontAlgn="auto">
              <a:lnSpc>
                <a:spcPct val="150000"/>
              </a:lnSpc>
              <a:spcBef>
                <a:spcPts val="0"/>
              </a:spcBef>
              <a:spcAft>
                <a:spcPts val="0"/>
              </a:spcAft>
              <a:defRPr/>
            </a:pPr>
            <a:r>
              <a:rPr lang="en-US" altLang="ko-KR" b="1" dirty="0">
                <a:solidFill>
                  <a:srgbClr val="4B4F5A"/>
                </a:solidFill>
                <a:latin typeface="Lato Black" panose="020F0502020204030203" pitchFamily="34" charset="0"/>
                <a:ea typeface="Lato Black" panose="020F0502020204030203" pitchFamily="34" charset="0"/>
                <a:cs typeface="Lato Black" panose="020F0502020204030203" pitchFamily="34" charset="0"/>
              </a:rPr>
              <a:t>Categorize the “Water Control”</a:t>
            </a:r>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 by patient’s background and mark any issues.</a:t>
            </a:r>
          </a:p>
          <a:p>
            <a:pPr marL="342900" indent="-342900" fontAlgn="auto">
              <a:lnSpc>
                <a:spcPct val="150000"/>
              </a:lnSpc>
              <a:spcBef>
                <a:spcPts val="0"/>
              </a:spcBef>
              <a:spcAft>
                <a:spcPts val="0"/>
              </a:spcAft>
              <a:buAutoNum type="arabicPeriod"/>
              <a:defRPr/>
            </a:pP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30" name="그룹 29">
            <a:extLst>
              <a:ext uri="{FF2B5EF4-FFF2-40B4-BE49-F238E27FC236}">
                <a16:creationId xmlns:a16="http://schemas.microsoft.com/office/drawing/2014/main" id="{04BBD52A-B00D-B52D-D2BE-7ED77E4B2731}"/>
              </a:ext>
            </a:extLst>
          </p:cNvPr>
          <p:cNvGrpSpPr/>
          <p:nvPr/>
        </p:nvGrpSpPr>
        <p:grpSpPr>
          <a:xfrm>
            <a:off x="671881" y="1539636"/>
            <a:ext cx="233727" cy="233726"/>
            <a:chOff x="2701227" y="-1816305"/>
            <a:chExt cx="7728206" cy="7728208"/>
          </a:xfrm>
        </p:grpSpPr>
        <p:sp>
          <p:nvSpPr>
            <p:cNvPr id="31"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3" name="타원 32">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4" name="TextBox 13"/>
          <p:cNvSpPr txBox="1"/>
          <p:nvPr/>
        </p:nvSpPr>
        <p:spPr>
          <a:xfrm>
            <a:off x="951518" y="1880481"/>
            <a:ext cx="10707082" cy="738664"/>
          </a:xfrm>
          <a:prstGeom prst="rect">
            <a:avLst/>
          </a:prstGeom>
          <a:noFill/>
        </p:spPr>
        <p:txBody>
          <a:bodyPr wrap="square">
            <a:spAutoFit/>
          </a:bodyPr>
          <a:lstStyle/>
          <a:p>
            <a:pPr fontAlgn="auto">
              <a:lnSpc>
                <a:spcPct val="150000"/>
              </a:lnSpc>
              <a:spcBef>
                <a:spcPts val="0"/>
              </a:spcBef>
              <a:spcAft>
                <a:spcPts val="0"/>
              </a:spcAft>
              <a:defRPr/>
            </a:pP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The target Dry Weight may vary depending on the patient’s condition. (No </a:t>
            </a:r>
            <a:r>
              <a:rPr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DM &amp; Alb-</a:t>
            </a:r>
            <a:r>
              <a:rPr kumimoji="0" lang="en-US" altLang="ko-KR" sz="15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 / DM or Alb- / DM &amp; Alb-)</a:t>
            </a:r>
            <a:endParaRPr kumimoji="0" lang="en-US" altLang="ko-KR" sz="15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a:p>
            <a:pPr fontAlgn="auto">
              <a:lnSpc>
                <a:spcPct val="150000"/>
              </a:lnSpc>
              <a:spcBef>
                <a:spcPts val="0"/>
              </a:spcBef>
              <a:spcAft>
                <a:spcPts val="0"/>
              </a:spcAft>
              <a:defRPr/>
            </a:pP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By categorizing based on the corresponding Dry Weight using </a:t>
            </a:r>
            <a:r>
              <a:rPr lang="en-US" altLang="ko-KR" sz="1300" b="1" dirty="0">
                <a:solidFill>
                  <a:srgbClr val="4B4F5A"/>
                </a:solidFill>
                <a:latin typeface="Lato Black" panose="020F0502020204030203" pitchFamily="34" charset="0"/>
                <a:ea typeface="Lato Black" panose="020F0502020204030203" pitchFamily="34" charset="0"/>
                <a:cs typeface="Lato Black" panose="020F0502020204030203" pitchFamily="34" charset="0"/>
              </a:rPr>
              <a:t>red, yellow, and blue </a:t>
            </a: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highlighters, it becomes easier to understand the result sheet</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8" name="TextBox 17"/>
          <p:cNvSpPr txBox="1"/>
          <p:nvPr/>
        </p:nvSpPr>
        <p:spPr>
          <a:xfrm>
            <a:off x="1154897" y="3402243"/>
            <a:ext cx="10707082" cy="415498"/>
          </a:xfrm>
          <a:prstGeom prst="rect">
            <a:avLst/>
          </a:prstGeom>
          <a:noFill/>
        </p:spPr>
        <p:txBody>
          <a:bodyPr wrap="square">
            <a:spAutoFit/>
          </a:bodyPr>
          <a:lstStyle/>
          <a:p>
            <a:pPr fontAlgn="auto">
              <a:lnSpc>
                <a:spcPct val="150000"/>
              </a:lnSpc>
              <a:spcBef>
                <a:spcPts val="0"/>
              </a:spcBef>
              <a:spcAft>
                <a:spcPts val="0"/>
              </a:spcAft>
              <a:defRPr/>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Showing less fluid removal compared to target DW </a:t>
            </a:r>
            <a:r>
              <a:rPr lang="ko-KR" altLang="en-US"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400" b="1" dirty="0">
                <a:solidFill>
                  <a:srgbClr val="AC2F48"/>
                </a:solidFill>
                <a:latin typeface="Lato Black" panose="020F0502020204030203" pitchFamily="34" charset="0"/>
                <a:ea typeface="Lato Black" panose="020F0502020204030203" pitchFamily="34" charset="0"/>
                <a:cs typeface="Lato Black" panose="020F0502020204030203" pitchFamily="34" charset="0"/>
              </a:rPr>
              <a:t>Requiring check ICW </a:t>
            </a: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and evaluation for potential additional fluid removal.</a:t>
            </a:r>
            <a:r>
              <a:rPr lang="ko-KR" altLang="en-US" sz="1400" dirty="0"/>
              <a:t> </a:t>
            </a:r>
            <a:endParaRPr kumimoji="0"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9" name="TextBox 18"/>
          <p:cNvSpPr txBox="1"/>
          <p:nvPr/>
        </p:nvSpPr>
        <p:spPr>
          <a:xfrm>
            <a:off x="1154897" y="4466778"/>
            <a:ext cx="10707082" cy="415498"/>
          </a:xfrm>
          <a:prstGeom prst="rect">
            <a:avLst/>
          </a:prstGeom>
          <a:noFill/>
        </p:spPr>
        <p:txBody>
          <a:bodyPr wrap="square">
            <a:spAutoFit/>
          </a:bodyPr>
          <a:lstStyle/>
          <a:p>
            <a:pPr fontAlgn="auto">
              <a:lnSpc>
                <a:spcPct val="150000"/>
              </a:lnSpc>
              <a:spcBef>
                <a:spcPts val="0"/>
              </a:spcBef>
              <a:spcAft>
                <a:spcPts val="0"/>
              </a:spcAft>
              <a:defRPr/>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Post-dialysis results are similar to target DW</a:t>
            </a:r>
            <a:endParaRPr kumimoji="0"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0" name="TextBox 19"/>
          <p:cNvSpPr txBox="1"/>
          <p:nvPr/>
        </p:nvSpPr>
        <p:spPr>
          <a:xfrm>
            <a:off x="1154897" y="5506978"/>
            <a:ext cx="10707082" cy="415498"/>
          </a:xfrm>
          <a:prstGeom prst="rect">
            <a:avLst/>
          </a:prstGeom>
          <a:noFill/>
        </p:spPr>
        <p:txBody>
          <a:bodyPr wrap="square">
            <a:spAutoFit/>
          </a:bodyPr>
          <a:lstStyle/>
          <a:p>
            <a:pPr fontAlgn="auto">
              <a:lnSpc>
                <a:spcPct val="150000"/>
              </a:lnSpc>
              <a:spcBef>
                <a:spcPts val="0"/>
              </a:spcBef>
              <a:spcAft>
                <a:spcPts val="0"/>
              </a:spcAft>
              <a:defRPr/>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Showing excessive fluid removal compared to target DW </a:t>
            </a:r>
            <a:r>
              <a:rPr lang="ko-KR" altLang="en-US"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Check for possible side effects</a:t>
            </a:r>
            <a:endParaRPr kumimoji="0"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7" name="그룹 16"/>
          <p:cNvGrpSpPr>
            <a:grpSpLocks noChangeAspect="1"/>
          </p:cNvGrpSpPr>
          <p:nvPr/>
        </p:nvGrpSpPr>
        <p:grpSpPr>
          <a:xfrm>
            <a:off x="6520288" y="4024157"/>
            <a:ext cx="5289153" cy="1298957"/>
            <a:chOff x="4705351" y="3669531"/>
            <a:chExt cx="7114251" cy="1747180"/>
          </a:xfrm>
        </p:grpSpPr>
        <p:sp>
          <p:nvSpPr>
            <p:cNvPr id="21" name="TextBox 20"/>
            <p:cNvSpPr txBox="1"/>
            <p:nvPr/>
          </p:nvSpPr>
          <p:spPr>
            <a:xfrm>
              <a:off x="8073359" y="3679055"/>
              <a:ext cx="426783" cy="579232"/>
            </a:xfrm>
            <a:prstGeom prst="rect">
              <a:avLst/>
            </a:prstGeom>
            <a:noFill/>
          </p:spPr>
          <p:txBody>
            <a:bodyPr wrap="none" rtlCol="0">
              <a:spAutoFit/>
            </a:bodyPr>
            <a:lstStyle/>
            <a:p>
              <a:pPr algn="ctr"/>
              <a:r>
                <a:rPr lang="en-US" altLang="ko-KR" sz="2400" b="1" dirty="0"/>
                <a:t>0</a:t>
              </a:r>
              <a:endParaRPr lang="ko-KR" altLang="en-US" sz="2400" b="1" dirty="0"/>
            </a:p>
          </p:txBody>
        </p:sp>
        <p:cxnSp>
          <p:nvCxnSpPr>
            <p:cNvPr id="22" name="직선 연결선 21"/>
            <p:cNvCxnSpPr/>
            <p:nvPr/>
          </p:nvCxnSpPr>
          <p:spPr>
            <a:xfrm>
              <a:off x="7393246"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875155" y="3669531"/>
              <a:ext cx="1036184" cy="579232"/>
            </a:xfrm>
            <a:prstGeom prst="rect">
              <a:avLst/>
            </a:prstGeom>
            <a:noFill/>
          </p:spPr>
          <p:txBody>
            <a:bodyPr wrap="none" rtlCol="0">
              <a:spAutoFit/>
            </a:bodyPr>
            <a:lstStyle/>
            <a:p>
              <a:pPr algn="ctr"/>
              <a:r>
                <a:rPr lang="en-US" altLang="ko-KR" sz="2400" b="1" dirty="0"/>
                <a:t>&lt;-0.2</a:t>
              </a:r>
              <a:endParaRPr lang="ko-KR" altLang="en-US" sz="2400" b="1" dirty="0"/>
            </a:p>
          </p:txBody>
        </p:sp>
        <p:cxnSp>
          <p:nvCxnSpPr>
            <p:cNvPr id="24" name="직선 연결선 23"/>
            <p:cNvCxnSpPr/>
            <p:nvPr/>
          </p:nvCxnSpPr>
          <p:spPr>
            <a:xfrm>
              <a:off x="91249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666191" y="3679055"/>
              <a:ext cx="917520" cy="579232"/>
            </a:xfrm>
            <a:prstGeom prst="rect">
              <a:avLst/>
            </a:prstGeom>
            <a:noFill/>
          </p:spPr>
          <p:txBody>
            <a:bodyPr wrap="none" rtlCol="0">
              <a:spAutoFit/>
            </a:bodyPr>
            <a:lstStyle/>
            <a:p>
              <a:pPr algn="ctr"/>
              <a:r>
                <a:rPr lang="en-US" altLang="ko-KR" sz="2400" b="1" dirty="0"/>
                <a:t>&gt;0.2</a:t>
              </a:r>
              <a:endParaRPr lang="ko-KR" altLang="en-US" sz="2400" b="1" dirty="0"/>
            </a:p>
          </p:txBody>
        </p:sp>
        <p:sp>
          <p:nvSpPr>
            <p:cNvPr id="26" name="오른쪽 화살표 25"/>
            <p:cNvSpPr/>
            <p:nvPr/>
          </p:nvSpPr>
          <p:spPr>
            <a:xfrm rot="10800000">
              <a:off x="4705351" y="4130836"/>
              <a:ext cx="2667000" cy="1285875"/>
            </a:xfrm>
            <a:prstGeom prst="rightArrow">
              <a:avLst/>
            </a:prstGeom>
            <a:solidFill>
              <a:srgbClr val="B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오른쪽 화살표 26"/>
            <p:cNvSpPr/>
            <p:nvPr/>
          </p:nvSpPr>
          <p:spPr>
            <a:xfrm>
              <a:off x="9152602" y="4127467"/>
              <a:ext cx="2667000" cy="128587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7419289" y="4459449"/>
              <a:ext cx="1677774" cy="62865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2" name="직선 연결선 31"/>
            <p:cNvCxnSpPr/>
            <p:nvPr/>
          </p:nvCxnSpPr>
          <p:spPr>
            <a:xfrm>
              <a:off x="82867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a:stCxn id="26" idx="3"/>
              <a:endCxn id="27" idx="3"/>
            </p:cNvCxnSpPr>
            <p:nvPr/>
          </p:nvCxnSpPr>
          <p:spPr>
            <a:xfrm flipV="1">
              <a:off x="4705351" y="4770405"/>
              <a:ext cx="7114251" cy="3368"/>
            </a:xfrm>
            <a:prstGeom prst="line">
              <a:avLst/>
            </a:prstGeom>
            <a:ln w="38100">
              <a:solidFill>
                <a:srgbClr val="424242"/>
              </a:solidFill>
              <a:prstDash val="sysDash"/>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10DD440D-C363-4325-92F2-53B2A89A30A0}"/>
              </a:ext>
            </a:extLst>
          </p:cNvPr>
          <p:cNvSpPr txBox="1"/>
          <p:nvPr/>
        </p:nvSpPr>
        <p:spPr>
          <a:xfrm>
            <a:off x="1154897" y="2854727"/>
            <a:ext cx="1634807" cy="461665"/>
          </a:xfrm>
          <a:prstGeom prst="rect">
            <a:avLst/>
          </a:prstGeom>
          <a:solidFill>
            <a:srgbClr val="BB162B"/>
          </a:solidFill>
        </p:spPr>
        <p:txBody>
          <a:bodyPr wrap="none" rtlCol="0">
            <a:spAutoFit/>
          </a:bodyPr>
          <a:lstStyle/>
          <a:p>
            <a:pPr algn="ctr"/>
            <a:r>
              <a:rPr lang="en-US"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Red &lt;-0.2 L </a:t>
            </a:r>
          </a:p>
        </p:txBody>
      </p:sp>
      <p:sp>
        <p:nvSpPr>
          <p:cNvPr id="36" name="TextBox 35">
            <a:extLst>
              <a:ext uri="{FF2B5EF4-FFF2-40B4-BE49-F238E27FC236}">
                <a16:creationId xmlns:a16="http://schemas.microsoft.com/office/drawing/2014/main" id="{10DD440D-C363-4325-92F2-53B2A89A30A0}"/>
              </a:ext>
            </a:extLst>
          </p:cNvPr>
          <p:cNvSpPr txBox="1"/>
          <p:nvPr/>
        </p:nvSpPr>
        <p:spPr>
          <a:xfrm>
            <a:off x="1154897" y="3924102"/>
            <a:ext cx="1860509" cy="461665"/>
          </a:xfrm>
          <a:prstGeom prst="rect">
            <a:avLst/>
          </a:prstGeom>
          <a:solidFill>
            <a:schemeClr val="accent4">
              <a:lumMod val="60000"/>
              <a:lumOff val="40000"/>
            </a:schemeClr>
          </a:solidFill>
        </p:spPr>
        <p:txBody>
          <a:bodyPr wrap="none" rtlCol="0">
            <a:spAutoFit/>
          </a:bodyPr>
          <a:lstStyle/>
          <a:p>
            <a:pPr algn="ctr"/>
            <a:r>
              <a:rPr lang="en-US" altLang="ko-KR"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Yellow</a:t>
            </a:r>
            <a:r>
              <a:rPr lang="en-US" altLang="ko-KR" sz="2400" dirty="0">
                <a:solidFill>
                  <a:schemeClr val="bg1"/>
                </a:solidFill>
              </a:rPr>
              <a:t>±</a:t>
            </a:r>
            <a:r>
              <a:rPr lang="en-US" altLang="ko-KR"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0.2 L </a:t>
            </a:r>
          </a:p>
        </p:txBody>
      </p:sp>
      <p:sp>
        <p:nvSpPr>
          <p:cNvPr id="37" name="TextBox 36">
            <a:extLst>
              <a:ext uri="{FF2B5EF4-FFF2-40B4-BE49-F238E27FC236}">
                <a16:creationId xmlns:a16="http://schemas.microsoft.com/office/drawing/2014/main" id="{10DD440D-C363-4325-92F2-53B2A89A30A0}"/>
              </a:ext>
            </a:extLst>
          </p:cNvPr>
          <p:cNvSpPr txBox="1"/>
          <p:nvPr/>
        </p:nvSpPr>
        <p:spPr>
          <a:xfrm>
            <a:off x="1154897" y="4952129"/>
            <a:ext cx="1547218" cy="461665"/>
          </a:xfrm>
          <a:prstGeom prst="rect">
            <a:avLst/>
          </a:prstGeom>
          <a:solidFill>
            <a:srgbClr val="0070C0"/>
          </a:solidFill>
        </p:spPr>
        <p:txBody>
          <a:bodyPr wrap="none" rtlCol="0">
            <a:spAutoFit/>
          </a:bodyPr>
          <a:lstStyle/>
          <a:p>
            <a:pPr algn="ctr"/>
            <a:r>
              <a:rPr lang="en-US" altLang="ko-KR"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Blue &gt;0.2 L</a:t>
            </a:r>
          </a:p>
        </p:txBody>
      </p:sp>
    </p:spTree>
    <p:extLst>
      <p:ext uri="{BB962C8B-B14F-4D97-AF65-F5344CB8AC3E}">
        <p14:creationId xmlns:p14="http://schemas.microsoft.com/office/powerpoint/2010/main" val="33988075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7"/>
          </p:nvPr>
        </p:nvSpPr>
        <p:spPr/>
        <p:txBody>
          <a:bodyPr/>
          <a:lstStyle/>
          <a:p>
            <a:r>
              <a:rPr lang="en-US" altLang="ko-KR" dirty="0"/>
              <a:t>02</a:t>
            </a:r>
            <a:endParaRPr lang="ko-KR" altLang="en-US" dirty="0"/>
          </a:p>
          <a:p>
            <a:endParaRPr lang="ko-KR" altLang="en-US" dirty="0"/>
          </a:p>
        </p:txBody>
      </p:sp>
      <p:sp>
        <p:nvSpPr>
          <p:cNvPr id="13" name="텍스트 개체 틀 12"/>
          <p:cNvSpPr>
            <a:spLocks noGrp="1"/>
          </p:cNvSpPr>
          <p:nvPr>
            <p:ph type="body" sz="quarter" idx="18"/>
          </p:nvPr>
        </p:nvSpPr>
        <p:spPr>
          <a:xfrm>
            <a:off x="811508" y="568692"/>
            <a:ext cx="6229372" cy="446199"/>
          </a:xfrm>
        </p:spPr>
        <p:txBody>
          <a:bodyPr>
            <a:normAutofit/>
          </a:bodyPr>
          <a:lstStyle/>
          <a:p>
            <a:r>
              <a:rPr lang="en-US" altLang="ko-KR" dirty="0"/>
              <a:t>Target Dry Weight</a:t>
            </a:r>
            <a:endParaRPr lang="ko-KR" altLang="en-US" dirty="0"/>
          </a:p>
        </p:txBody>
      </p:sp>
      <p:sp>
        <p:nvSpPr>
          <p:cNvPr id="11" name="텍스트 개체 틀 10"/>
          <p:cNvSpPr>
            <a:spLocks noGrp="1"/>
          </p:cNvSpPr>
          <p:nvPr>
            <p:ph type="body" sz="quarter" idx="12"/>
          </p:nvPr>
        </p:nvSpPr>
        <p:spPr>
          <a:xfrm>
            <a:off x="811508" y="975511"/>
            <a:ext cx="2454836" cy="313932"/>
          </a:xfrm>
        </p:spPr>
        <p:txBody>
          <a:bodyPr/>
          <a:lstStyle/>
          <a:p>
            <a:r>
              <a:rPr lang="en-US" altLang="ko-KR" dirty="0">
                <a:ln>
                  <a:solidFill>
                    <a:srgbClr val="7E8080">
                      <a:alpha val="0"/>
                    </a:srgbClr>
                  </a:solidFill>
                </a:ln>
                <a:latin typeface="Lato" panose="020F0502020204030203" pitchFamily="34" charset="0"/>
                <a:ea typeface="에스코어 드림 5 Medium" panose="020B0503030302020204" pitchFamily="34" charset="-127"/>
                <a:cs typeface="Lato Black" panose="020F0502020204030203" pitchFamily="34" charset="0"/>
              </a:rPr>
              <a:t>Water Control</a:t>
            </a:r>
          </a:p>
        </p:txBody>
      </p:sp>
      <p:grpSp>
        <p:nvGrpSpPr>
          <p:cNvPr id="30" name="그룹 29">
            <a:extLst>
              <a:ext uri="{FF2B5EF4-FFF2-40B4-BE49-F238E27FC236}">
                <a16:creationId xmlns:a16="http://schemas.microsoft.com/office/drawing/2014/main" id="{04BBD52A-B00D-B52D-D2BE-7ED77E4B2731}"/>
              </a:ext>
            </a:extLst>
          </p:cNvPr>
          <p:cNvGrpSpPr/>
          <p:nvPr/>
        </p:nvGrpSpPr>
        <p:grpSpPr>
          <a:xfrm>
            <a:off x="671881" y="1539636"/>
            <a:ext cx="233727" cy="233726"/>
            <a:chOff x="2701227" y="-1816305"/>
            <a:chExt cx="7728206" cy="7728208"/>
          </a:xfrm>
        </p:grpSpPr>
        <p:sp>
          <p:nvSpPr>
            <p:cNvPr id="31"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3" name="타원 32">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8" name="TextBox 17"/>
          <p:cNvSpPr txBox="1"/>
          <p:nvPr/>
        </p:nvSpPr>
        <p:spPr>
          <a:xfrm>
            <a:off x="1154897" y="2002397"/>
            <a:ext cx="10707082" cy="415498"/>
          </a:xfrm>
          <a:prstGeom prst="rect">
            <a:avLst/>
          </a:prstGeom>
          <a:noFill/>
        </p:spPr>
        <p:txBody>
          <a:bodyPr wrap="square">
            <a:spAutoFit/>
          </a:bodyPr>
          <a:lstStyle/>
          <a:p>
            <a:pPr fontAlgn="auto">
              <a:lnSpc>
                <a:spcPct val="150000"/>
              </a:lnSpc>
              <a:spcBef>
                <a:spcPts val="0"/>
              </a:spcBef>
              <a:spcAft>
                <a:spcPts val="0"/>
              </a:spcAft>
              <a:defRPr/>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Showing less fluid removal compared to target DW </a:t>
            </a:r>
            <a:r>
              <a:rPr lang="ko-KR" altLang="en-US"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400" b="1" dirty="0">
                <a:solidFill>
                  <a:srgbClr val="AC2F48"/>
                </a:solidFill>
                <a:latin typeface="Lato Black" panose="020F0502020204030203" pitchFamily="34" charset="0"/>
                <a:ea typeface="Lato Black" panose="020F0502020204030203" pitchFamily="34" charset="0"/>
                <a:cs typeface="Lato Black" panose="020F0502020204030203" pitchFamily="34" charset="0"/>
              </a:rPr>
              <a:t>Requiring check ICW </a:t>
            </a: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and evaluation for potential additional fluid removal.</a:t>
            </a:r>
            <a:r>
              <a:rPr lang="ko-KR" altLang="en-US" sz="1400" dirty="0"/>
              <a:t> </a:t>
            </a:r>
            <a:endParaRPr kumimoji="0"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6" name="그룹 5"/>
          <p:cNvGrpSpPr/>
          <p:nvPr/>
        </p:nvGrpSpPr>
        <p:grpSpPr>
          <a:xfrm>
            <a:off x="1095085" y="4512295"/>
            <a:ext cx="4740491" cy="1436006"/>
            <a:chOff x="951518" y="4487274"/>
            <a:chExt cx="4740491" cy="1436006"/>
          </a:xfrm>
        </p:grpSpPr>
        <p:pic>
          <p:nvPicPr>
            <p:cNvPr id="17" name="그림 16">
              <a:extLst>
                <a:ext uri="{FF2B5EF4-FFF2-40B4-BE49-F238E27FC236}">
                  <a16:creationId xmlns:a16="http://schemas.microsoft.com/office/drawing/2014/main" id="{D3F88599-F099-5C50-AC2C-ADB725DF4AC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390" b="67104"/>
            <a:stretch/>
          </p:blipFill>
          <p:spPr>
            <a:xfrm>
              <a:off x="951518" y="4487274"/>
              <a:ext cx="4740491" cy="1436006"/>
            </a:xfrm>
            <a:prstGeom prst="rect">
              <a:avLst/>
            </a:prstGeom>
          </p:spPr>
        </p:pic>
        <p:sp>
          <p:nvSpPr>
            <p:cNvPr id="21" name="직사각형 20"/>
            <p:cNvSpPr/>
            <p:nvPr/>
          </p:nvSpPr>
          <p:spPr>
            <a:xfrm>
              <a:off x="1154897" y="4931344"/>
              <a:ext cx="1032718" cy="170642"/>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TextBox 21"/>
          <p:cNvSpPr txBox="1"/>
          <p:nvPr/>
        </p:nvSpPr>
        <p:spPr>
          <a:xfrm>
            <a:off x="1337514" y="2578015"/>
            <a:ext cx="10707082" cy="1323439"/>
          </a:xfrm>
          <a:prstGeom prst="rect">
            <a:avLst/>
          </a:prstGeom>
          <a:noFill/>
        </p:spPr>
        <p:txBody>
          <a:bodyPr wrap="square">
            <a:spAutoFit/>
          </a:bodyPr>
          <a:lstStyle/>
          <a:p>
            <a:pPr fontAlgn="auto">
              <a:spcBef>
                <a:spcPts val="0"/>
              </a:spcBef>
              <a:spcAft>
                <a:spcPts val="0"/>
              </a:spcAft>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Patients whose </a:t>
            </a:r>
            <a:r>
              <a:rPr lang="en-US" altLang="ko-KR" sz="1600" dirty="0" err="1">
                <a:solidFill>
                  <a:srgbClr val="4B4F5A"/>
                </a:solidFill>
                <a:latin typeface="Lato Black" panose="020F0502020204030203" pitchFamily="34" charset="0"/>
                <a:ea typeface="Lato Black" panose="020F0502020204030203" pitchFamily="34" charset="0"/>
                <a:cs typeface="Lato Black" panose="020F0502020204030203" pitchFamily="34" charset="0"/>
              </a:rPr>
              <a:t>InBody</a:t>
            </a: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DW is lower than the physician-set DW.</a:t>
            </a:r>
          </a:p>
          <a:p>
            <a:pPr fontAlgn="auto">
              <a:spcBef>
                <a:spcPts val="0"/>
              </a:spcBef>
              <a:spcAft>
                <a:spcPts val="0"/>
              </a:spcAft>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It is important to identify those who may have difficulty tolerating further removal.</a:t>
            </a:r>
          </a:p>
          <a:p>
            <a:pPr fontAlgn="auto">
              <a:lnSpc>
                <a:spcPct val="150000"/>
              </a:lnSpc>
              <a:spcBef>
                <a:spcPts val="0"/>
              </a:spcBef>
              <a:spcAft>
                <a:spcPts val="0"/>
              </a:spcAft>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&gt;&gt; </a:t>
            </a:r>
            <a:r>
              <a:rPr lang="en-US" altLang="ko-KR" sz="1600" b="1" dirty="0">
                <a:solidFill>
                  <a:srgbClr val="4B4F5A"/>
                </a:solidFill>
                <a:latin typeface="Lato Black" panose="020F0502020204030203" pitchFamily="34" charset="0"/>
                <a:ea typeface="Lato Black" panose="020F0502020204030203" pitchFamily="34" charset="0"/>
                <a:cs typeface="Lato Black" panose="020F0502020204030203" pitchFamily="34" charset="0"/>
              </a:rPr>
              <a:t>If ICW is within the normal range</a:t>
            </a: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 additional fluid removal may possible.</a:t>
            </a:r>
          </a:p>
          <a:p>
            <a:pPr fontAlgn="auto">
              <a:lnSpc>
                <a:spcPct val="150000"/>
              </a:lnSpc>
              <a:spcBef>
                <a:spcPts val="0"/>
              </a:spcBef>
              <a:spcAft>
                <a:spcPts val="0"/>
              </a:spcAft>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&gt;&gt; </a:t>
            </a:r>
            <a:r>
              <a:rPr lang="en-US" altLang="ko-KR" sz="1600" b="1" dirty="0">
                <a:solidFill>
                  <a:srgbClr val="4B4F5A"/>
                </a:solidFill>
                <a:latin typeface="Lato Black" panose="020F0502020204030203" pitchFamily="34" charset="0"/>
                <a:ea typeface="Lato Black" panose="020F0502020204030203" pitchFamily="34" charset="0"/>
                <a:cs typeface="Lato Black" panose="020F0502020204030203" pitchFamily="34" charset="0"/>
              </a:rPr>
              <a:t>If ICW is low </a:t>
            </a: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additional fluid removal may difficult. </a:t>
            </a:r>
            <a:r>
              <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(may require dialysis temperature/concentration adjustment or CRRT)</a:t>
            </a:r>
          </a:p>
        </p:txBody>
      </p:sp>
      <p:sp>
        <p:nvSpPr>
          <p:cNvPr id="23" name="TextBox 22"/>
          <p:cNvSpPr txBox="1"/>
          <p:nvPr/>
        </p:nvSpPr>
        <p:spPr>
          <a:xfrm>
            <a:off x="8532046" y="5867619"/>
            <a:ext cx="4672965" cy="276999"/>
          </a:xfrm>
          <a:prstGeom prst="rect">
            <a:avLst/>
          </a:prstGeom>
          <a:noFill/>
        </p:spPr>
        <p:txBody>
          <a:bodyPr wrap="square">
            <a:spAutoFit/>
          </a:bodyPr>
          <a:lstStyle/>
          <a:p>
            <a:pPr fontAlgn="auto">
              <a:spcBef>
                <a:spcPts val="0"/>
              </a:spcBef>
              <a:spcAft>
                <a:spcPts val="0"/>
              </a:spcAft>
              <a:defRPr/>
            </a:pPr>
            <a:r>
              <a:rPr lang="en-US" altLang="ko-KR" sz="12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*CRRT – Continuous Renal Replacement Therapy</a:t>
            </a:r>
          </a:p>
        </p:txBody>
      </p:sp>
      <p:grpSp>
        <p:nvGrpSpPr>
          <p:cNvPr id="16" name="그룹 15"/>
          <p:cNvGrpSpPr>
            <a:grpSpLocks noChangeAspect="1"/>
          </p:cNvGrpSpPr>
          <p:nvPr/>
        </p:nvGrpSpPr>
        <p:grpSpPr>
          <a:xfrm>
            <a:off x="6520288" y="4024157"/>
            <a:ext cx="5289153" cy="1298957"/>
            <a:chOff x="4705351" y="3669531"/>
            <a:chExt cx="7114251" cy="1747180"/>
          </a:xfrm>
        </p:grpSpPr>
        <p:sp>
          <p:nvSpPr>
            <p:cNvPr id="19" name="TextBox 18"/>
            <p:cNvSpPr txBox="1"/>
            <p:nvPr/>
          </p:nvSpPr>
          <p:spPr>
            <a:xfrm>
              <a:off x="8073359" y="3679055"/>
              <a:ext cx="426783" cy="579232"/>
            </a:xfrm>
            <a:prstGeom prst="rect">
              <a:avLst/>
            </a:prstGeom>
            <a:noFill/>
          </p:spPr>
          <p:txBody>
            <a:bodyPr wrap="none" rtlCol="0">
              <a:spAutoFit/>
            </a:bodyPr>
            <a:lstStyle/>
            <a:p>
              <a:pPr algn="ctr"/>
              <a:r>
                <a:rPr lang="en-US" altLang="ko-KR" sz="2400" b="1" dirty="0"/>
                <a:t>0</a:t>
              </a:r>
              <a:endParaRPr lang="ko-KR" altLang="en-US" sz="2400" b="1" dirty="0"/>
            </a:p>
          </p:txBody>
        </p:sp>
        <p:cxnSp>
          <p:nvCxnSpPr>
            <p:cNvPr id="20" name="직선 연결선 19"/>
            <p:cNvCxnSpPr/>
            <p:nvPr/>
          </p:nvCxnSpPr>
          <p:spPr>
            <a:xfrm>
              <a:off x="7393246"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875155" y="3669531"/>
              <a:ext cx="1036184" cy="579232"/>
            </a:xfrm>
            <a:prstGeom prst="rect">
              <a:avLst/>
            </a:prstGeom>
            <a:noFill/>
          </p:spPr>
          <p:txBody>
            <a:bodyPr wrap="none" rtlCol="0">
              <a:spAutoFit/>
            </a:bodyPr>
            <a:lstStyle/>
            <a:p>
              <a:pPr algn="ctr"/>
              <a:r>
                <a:rPr lang="en-US" altLang="ko-KR" sz="2400" b="1" dirty="0"/>
                <a:t>&lt;-0.2</a:t>
              </a:r>
              <a:endParaRPr lang="ko-KR" altLang="en-US" sz="2400" b="1" dirty="0"/>
            </a:p>
          </p:txBody>
        </p:sp>
        <p:cxnSp>
          <p:nvCxnSpPr>
            <p:cNvPr id="25" name="직선 연결선 24"/>
            <p:cNvCxnSpPr/>
            <p:nvPr/>
          </p:nvCxnSpPr>
          <p:spPr>
            <a:xfrm>
              <a:off x="91249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666191" y="3679055"/>
              <a:ext cx="917520" cy="579232"/>
            </a:xfrm>
            <a:prstGeom prst="rect">
              <a:avLst/>
            </a:prstGeom>
            <a:noFill/>
          </p:spPr>
          <p:txBody>
            <a:bodyPr wrap="none" rtlCol="0">
              <a:spAutoFit/>
            </a:bodyPr>
            <a:lstStyle/>
            <a:p>
              <a:pPr algn="ctr"/>
              <a:r>
                <a:rPr lang="en-US" altLang="ko-KR" sz="2400" b="1" dirty="0"/>
                <a:t>&gt;0.2</a:t>
              </a:r>
              <a:endParaRPr lang="ko-KR" altLang="en-US" sz="2400" b="1" dirty="0"/>
            </a:p>
          </p:txBody>
        </p:sp>
        <p:sp>
          <p:nvSpPr>
            <p:cNvPr id="27" name="오른쪽 화살표 26"/>
            <p:cNvSpPr/>
            <p:nvPr/>
          </p:nvSpPr>
          <p:spPr>
            <a:xfrm rot="10800000">
              <a:off x="4705351" y="4130836"/>
              <a:ext cx="2667000" cy="1285875"/>
            </a:xfrm>
            <a:prstGeom prst="rightArrow">
              <a:avLst/>
            </a:prstGeom>
            <a:solidFill>
              <a:srgbClr val="B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오른쪽 화살표 27"/>
            <p:cNvSpPr/>
            <p:nvPr/>
          </p:nvSpPr>
          <p:spPr>
            <a:xfrm>
              <a:off x="9152602" y="4127467"/>
              <a:ext cx="2667000" cy="128587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p:cNvSpPr/>
            <p:nvPr/>
          </p:nvSpPr>
          <p:spPr>
            <a:xfrm>
              <a:off x="7419289" y="4459449"/>
              <a:ext cx="1677774" cy="62865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2" name="직선 연결선 31"/>
            <p:cNvCxnSpPr/>
            <p:nvPr/>
          </p:nvCxnSpPr>
          <p:spPr>
            <a:xfrm>
              <a:off x="82867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a:stCxn id="27" idx="3"/>
              <a:endCxn id="28" idx="3"/>
            </p:cNvCxnSpPr>
            <p:nvPr/>
          </p:nvCxnSpPr>
          <p:spPr>
            <a:xfrm flipV="1">
              <a:off x="4705351" y="4770405"/>
              <a:ext cx="7114251" cy="3368"/>
            </a:xfrm>
            <a:prstGeom prst="line">
              <a:avLst/>
            </a:prstGeom>
            <a:ln w="38100">
              <a:solidFill>
                <a:srgbClr val="424242"/>
              </a:solidFill>
              <a:prstDash val="sysDash"/>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10DD440D-C363-4325-92F2-53B2A89A30A0}"/>
              </a:ext>
            </a:extLst>
          </p:cNvPr>
          <p:cNvSpPr txBox="1"/>
          <p:nvPr/>
        </p:nvSpPr>
        <p:spPr>
          <a:xfrm>
            <a:off x="1154897" y="1549530"/>
            <a:ext cx="1634807" cy="461665"/>
          </a:xfrm>
          <a:prstGeom prst="rect">
            <a:avLst/>
          </a:prstGeom>
          <a:solidFill>
            <a:srgbClr val="BB162B"/>
          </a:solidFill>
        </p:spPr>
        <p:txBody>
          <a:bodyPr wrap="none" rtlCol="0">
            <a:spAutoFit/>
          </a:bodyPr>
          <a:lstStyle/>
          <a:p>
            <a:pPr algn="ctr"/>
            <a:r>
              <a:rPr lang="en-US"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Red &lt;-0.2 L </a:t>
            </a:r>
          </a:p>
        </p:txBody>
      </p:sp>
    </p:spTree>
    <p:extLst>
      <p:ext uri="{BB962C8B-B14F-4D97-AF65-F5344CB8AC3E}">
        <p14:creationId xmlns:p14="http://schemas.microsoft.com/office/powerpoint/2010/main" val="4052876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48A376CD-E813-7F79-210E-E309828C5A5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24435"/>
          <a:stretch/>
        </p:blipFill>
        <p:spPr>
          <a:xfrm>
            <a:off x="5704647" y="794983"/>
            <a:ext cx="5484120" cy="5837088"/>
          </a:xfrm>
          <a:prstGeom prst="rect">
            <a:avLst/>
          </a:prstGeom>
        </p:spPr>
      </p:pic>
      <p:pic>
        <p:nvPicPr>
          <p:cNvPr id="3" name="그림 2">
            <a:extLst>
              <a:ext uri="{FF2B5EF4-FFF2-40B4-BE49-F238E27FC236}">
                <a16:creationId xmlns:a16="http://schemas.microsoft.com/office/drawing/2014/main" id="{2EF6AB82-FE99-68DD-75E8-290F8C854E5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4468" t="46774" r="5620" b="45687"/>
          <a:stretch/>
        </p:blipFill>
        <p:spPr>
          <a:xfrm>
            <a:off x="1356598" y="3111088"/>
            <a:ext cx="3393730" cy="1204879"/>
          </a:xfrm>
          <a:prstGeom prst="rect">
            <a:avLst/>
          </a:prstGeom>
          <a:ln w="12700">
            <a:solidFill>
              <a:srgbClr val="A0112D"/>
            </a:solidFill>
          </a:ln>
        </p:spPr>
      </p:pic>
      <p:sp>
        <p:nvSpPr>
          <p:cNvPr id="4" name="직사각형 3">
            <a:extLst>
              <a:ext uri="{FF2B5EF4-FFF2-40B4-BE49-F238E27FC236}">
                <a16:creationId xmlns:a16="http://schemas.microsoft.com/office/drawing/2014/main" id="{C43C9E47-5446-78EF-3898-F26C04C3F521}"/>
              </a:ext>
            </a:extLst>
          </p:cNvPr>
          <p:cNvSpPr/>
          <p:nvPr/>
        </p:nvSpPr>
        <p:spPr>
          <a:xfrm>
            <a:off x="1420606" y="3411337"/>
            <a:ext cx="3246723" cy="283902"/>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41691D5B-A57F-54E7-7752-AB0E8D463AA1}"/>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6" name="TextBox 5">
            <a:extLst>
              <a:ext uri="{FF2B5EF4-FFF2-40B4-BE49-F238E27FC236}">
                <a16:creationId xmlns:a16="http://schemas.microsoft.com/office/drawing/2014/main" id="{FBC5C924-639F-3C35-31F9-5F6F8ADFC1FF}"/>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DA2BE989-44F5-967D-5938-9B964FC39E94}"/>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8" name="모서리가 둥근 직사각형 31">
            <a:extLst>
              <a:ext uri="{FF2B5EF4-FFF2-40B4-BE49-F238E27FC236}">
                <a16:creationId xmlns:a16="http://schemas.microsoft.com/office/drawing/2014/main" id="{EA4340CE-E97D-10DE-B488-9E5868690239}"/>
              </a:ext>
            </a:extLst>
          </p:cNvPr>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9" name="타원 8">
            <a:extLst>
              <a:ext uri="{FF2B5EF4-FFF2-40B4-BE49-F238E27FC236}">
                <a16:creationId xmlns:a16="http://schemas.microsoft.com/office/drawing/2014/main" id="{CFA6423D-265E-E459-68B1-0F1BE17E12B0}"/>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10" name="TextBox 9">
            <a:extLst>
              <a:ext uri="{FF2B5EF4-FFF2-40B4-BE49-F238E27FC236}">
                <a16:creationId xmlns:a16="http://schemas.microsoft.com/office/drawing/2014/main" id="{1978D345-DDF7-B85E-AFF7-F31BC13554BF}"/>
              </a:ext>
            </a:extLst>
          </p:cNvPr>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11" name="그룹 10">
            <a:extLst>
              <a:ext uri="{FF2B5EF4-FFF2-40B4-BE49-F238E27FC236}">
                <a16:creationId xmlns:a16="http://schemas.microsoft.com/office/drawing/2014/main" id="{9771DA2D-9883-CC9F-7546-CEF27B5D8156}"/>
              </a:ext>
            </a:extLst>
          </p:cNvPr>
          <p:cNvGrpSpPr/>
          <p:nvPr/>
        </p:nvGrpSpPr>
        <p:grpSpPr>
          <a:xfrm>
            <a:off x="1003233" y="1274399"/>
            <a:ext cx="233727" cy="233726"/>
            <a:chOff x="2701227" y="-1816305"/>
            <a:chExt cx="7728206" cy="7728208"/>
          </a:xfrm>
        </p:grpSpPr>
        <p:sp>
          <p:nvSpPr>
            <p:cNvPr id="12" name="자유형: 도형 22">
              <a:extLst>
                <a:ext uri="{FF2B5EF4-FFF2-40B4-BE49-F238E27FC236}">
                  <a16:creationId xmlns:a16="http://schemas.microsoft.com/office/drawing/2014/main" id="{4DE017D8-9D08-1629-B391-5294FA604048}"/>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3" name="타원 12">
              <a:extLst>
                <a:ext uri="{FF2B5EF4-FFF2-40B4-BE49-F238E27FC236}">
                  <a16:creationId xmlns:a16="http://schemas.microsoft.com/office/drawing/2014/main" id="{4166D1F7-35ED-148D-2EDB-7B4BADEB815A}"/>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4" name="직사각형 13">
            <a:extLst>
              <a:ext uri="{FF2B5EF4-FFF2-40B4-BE49-F238E27FC236}">
                <a16:creationId xmlns:a16="http://schemas.microsoft.com/office/drawing/2014/main" id="{4B9B2152-BE0D-8A9E-4F6F-0B511DCFAC7B}"/>
              </a:ext>
            </a:extLst>
          </p:cNvPr>
          <p:cNvSpPr/>
          <p:nvPr/>
        </p:nvSpPr>
        <p:spPr>
          <a:xfrm>
            <a:off x="1241910" y="1193463"/>
            <a:ext cx="4121307" cy="366895"/>
          </a:xfrm>
          <a:prstGeom prst="rect">
            <a:avLst/>
          </a:prstGeom>
        </p:spPr>
        <p:txBody>
          <a:bodyPr wrap="square">
            <a:spAutoFit/>
          </a:bodyPr>
          <a:lstStyle/>
          <a:p>
            <a:pPr>
              <a:lnSpc>
                <a:spcPct val="125000"/>
              </a:lnSpc>
            </a:pPr>
            <a:r>
              <a:rPr lang="en-US" altLang="ko-KR" sz="1600" dirty="0">
                <a:solidFill>
                  <a:srgbClr val="A0112D"/>
                </a:solidFill>
                <a:latin typeface="Lato" panose="020F0502020204030203" pitchFamily="34" charset="0"/>
                <a:ea typeface="Lato Black" panose="020F0502020204030203" pitchFamily="34" charset="0"/>
                <a:cs typeface="Lato" panose="020F0502020204030203" pitchFamily="34" charset="0"/>
              </a:rPr>
              <a:t>Patient applicable to try lower dry weight</a:t>
            </a:r>
            <a:endPar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endParaRPr>
          </a:p>
        </p:txBody>
      </p:sp>
      <p:sp>
        <p:nvSpPr>
          <p:cNvPr id="15" name="직사각형 14">
            <a:extLst>
              <a:ext uri="{FF2B5EF4-FFF2-40B4-BE49-F238E27FC236}">
                <a16:creationId xmlns:a16="http://schemas.microsoft.com/office/drawing/2014/main" id="{F4B30FBB-578B-FB14-B31B-E4D78290CC55}"/>
              </a:ext>
            </a:extLst>
          </p:cNvPr>
          <p:cNvSpPr/>
          <p:nvPr/>
        </p:nvSpPr>
        <p:spPr>
          <a:xfrm>
            <a:off x="5943600" y="2176272"/>
            <a:ext cx="1783080" cy="256032"/>
          </a:xfrm>
          <a:prstGeom prst="rect">
            <a:avLst/>
          </a:prstGeom>
          <a:noFill/>
          <a:ln w="19050">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DB75AD8A-B19D-90CF-644D-77785DEA1FAE}"/>
              </a:ext>
            </a:extLst>
          </p:cNvPr>
          <p:cNvGrpSpPr/>
          <p:nvPr/>
        </p:nvGrpSpPr>
        <p:grpSpPr>
          <a:xfrm rot="16200000">
            <a:off x="5077456" y="3542687"/>
            <a:ext cx="300064" cy="271459"/>
            <a:chOff x="2061642" y="2996194"/>
            <a:chExt cx="369826" cy="334570"/>
          </a:xfrm>
        </p:grpSpPr>
        <p:sp>
          <p:nvSpPr>
            <p:cNvPr id="17" name="이등변 삼각형 34">
              <a:extLst>
                <a:ext uri="{FF2B5EF4-FFF2-40B4-BE49-F238E27FC236}">
                  <a16:creationId xmlns:a16="http://schemas.microsoft.com/office/drawing/2014/main" id="{C1845529-660E-9DC4-1FB4-06045470AAB6}"/>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이등변 삼각형 34">
              <a:extLst>
                <a:ext uri="{FF2B5EF4-FFF2-40B4-BE49-F238E27FC236}">
                  <a16:creationId xmlns:a16="http://schemas.microsoft.com/office/drawing/2014/main" id="{AAC111BF-89B5-CD68-953E-8B117CD8B27A}"/>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73100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4" name="그룹 3">
            <a:extLst>
              <a:ext uri="{FF2B5EF4-FFF2-40B4-BE49-F238E27FC236}">
                <a16:creationId xmlns:a16="http://schemas.microsoft.com/office/drawing/2014/main" id="{53D4F32C-B720-0C59-55EF-1BC409922A0A}"/>
              </a:ext>
            </a:extLst>
          </p:cNvPr>
          <p:cNvGrpSpPr/>
          <p:nvPr/>
        </p:nvGrpSpPr>
        <p:grpSpPr>
          <a:xfrm>
            <a:off x="5692139" y="850392"/>
            <a:ext cx="5167503" cy="5404103"/>
            <a:chOff x="3984241" y="278576"/>
            <a:chExt cx="4631697" cy="4843764"/>
          </a:xfrm>
        </p:grpSpPr>
        <p:pic>
          <p:nvPicPr>
            <p:cNvPr id="16" name="그림 15">
              <a:extLst>
                <a:ext uri="{FF2B5EF4-FFF2-40B4-BE49-F238E27FC236}">
                  <a16:creationId xmlns:a16="http://schemas.microsoft.com/office/drawing/2014/main" id="{46627889-B644-8499-8326-E76C8554F01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25754"/>
            <a:stretch/>
          </p:blipFill>
          <p:spPr>
            <a:xfrm>
              <a:off x="3984241" y="278576"/>
              <a:ext cx="4631697" cy="4843764"/>
            </a:xfrm>
            <a:prstGeom prst="rect">
              <a:avLst/>
            </a:prstGeom>
          </p:spPr>
        </p:pic>
        <p:sp>
          <p:nvSpPr>
            <p:cNvPr id="17" name="직사각형 16">
              <a:extLst>
                <a:ext uri="{FF2B5EF4-FFF2-40B4-BE49-F238E27FC236}">
                  <a16:creationId xmlns:a16="http://schemas.microsoft.com/office/drawing/2014/main" id="{7EC488B9-4B19-9844-E9D2-8558ADDE281C}"/>
                </a:ext>
              </a:extLst>
            </p:cNvPr>
            <p:cNvSpPr/>
            <p:nvPr/>
          </p:nvSpPr>
          <p:spPr>
            <a:xfrm>
              <a:off x="4110239" y="850779"/>
              <a:ext cx="786713" cy="154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9" name="그림 18">
            <a:extLst>
              <a:ext uri="{FF2B5EF4-FFF2-40B4-BE49-F238E27FC236}">
                <a16:creationId xmlns:a16="http://schemas.microsoft.com/office/drawing/2014/main" id="{C7384187-9B72-EDAB-FF06-EAB6952752D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4101" t="22719" r="5877" b="69983"/>
          <a:stretch/>
        </p:blipFill>
        <p:spPr>
          <a:xfrm>
            <a:off x="1769887" y="3038378"/>
            <a:ext cx="3222414" cy="1103325"/>
          </a:xfrm>
          <a:prstGeom prst="rect">
            <a:avLst/>
          </a:prstGeom>
          <a:ln>
            <a:solidFill>
              <a:srgbClr val="A0112D"/>
            </a:solidFill>
          </a:ln>
        </p:spPr>
      </p:pic>
      <p:grpSp>
        <p:nvGrpSpPr>
          <p:cNvPr id="20" name="그룹 19">
            <a:extLst>
              <a:ext uri="{FF2B5EF4-FFF2-40B4-BE49-F238E27FC236}">
                <a16:creationId xmlns:a16="http://schemas.microsoft.com/office/drawing/2014/main" id="{FBAD3E36-B70D-9F31-0286-3AD42B2B66A0}"/>
              </a:ext>
            </a:extLst>
          </p:cNvPr>
          <p:cNvGrpSpPr/>
          <p:nvPr/>
        </p:nvGrpSpPr>
        <p:grpSpPr>
          <a:xfrm rot="16200000">
            <a:off x="5252965" y="3542687"/>
            <a:ext cx="300064" cy="271459"/>
            <a:chOff x="2061642" y="2996194"/>
            <a:chExt cx="369826" cy="334570"/>
          </a:xfrm>
        </p:grpSpPr>
        <p:sp>
          <p:nvSpPr>
            <p:cNvPr id="21" name="이등변 삼각형 34">
              <a:extLst>
                <a:ext uri="{FF2B5EF4-FFF2-40B4-BE49-F238E27FC236}">
                  <a16:creationId xmlns:a16="http://schemas.microsoft.com/office/drawing/2014/main" id="{363379E5-2BEC-91DD-C466-BD0D6E05F396}"/>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34">
              <a:extLst>
                <a:ext uri="{FF2B5EF4-FFF2-40B4-BE49-F238E27FC236}">
                  <a16:creationId xmlns:a16="http://schemas.microsoft.com/office/drawing/2014/main" id="{C65F6F77-DB1A-A6C4-5402-49F995B89CE7}"/>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3" name="직사각형 22">
            <a:extLst>
              <a:ext uri="{FF2B5EF4-FFF2-40B4-BE49-F238E27FC236}">
                <a16:creationId xmlns:a16="http://schemas.microsoft.com/office/drawing/2014/main" id="{C5AA42D9-6806-EC6E-A9BE-17D6A8389823}"/>
              </a:ext>
            </a:extLst>
          </p:cNvPr>
          <p:cNvSpPr/>
          <p:nvPr/>
        </p:nvSpPr>
        <p:spPr>
          <a:xfrm>
            <a:off x="1822786" y="3290778"/>
            <a:ext cx="3084383" cy="282587"/>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B0175AF4-B2B7-CBB3-2937-2587AE6D05C6}"/>
              </a:ext>
            </a:extLst>
          </p:cNvPr>
          <p:cNvSpPr/>
          <p:nvPr/>
        </p:nvSpPr>
        <p:spPr>
          <a:xfrm>
            <a:off x="5909201" y="2148840"/>
            <a:ext cx="2999232" cy="246888"/>
          </a:xfrm>
          <a:prstGeom prst="rect">
            <a:avLst/>
          </a:prstGeom>
          <a:noFill/>
          <a:ln w="19050">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5" name="그룹 24">
            <a:extLst>
              <a:ext uri="{FF2B5EF4-FFF2-40B4-BE49-F238E27FC236}">
                <a16:creationId xmlns:a16="http://schemas.microsoft.com/office/drawing/2014/main" id="{319D7A85-5E32-0591-FB2F-76E99DA0F008}"/>
              </a:ext>
            </a:extLst>
          </p:cNvPr>
          <p:cNvGrpSpPr/>
          <p:nvPr/>
        </p:nvGrpSpPr>
        <p:grpSpPr>
          <a:xfrm>
            <a:off x="1003233" y="1274399"/>
            <a:ext cx="233727" cy="233726"/>
            <a:chOff x="2701227" y="-1816305"/>
            <a:chExt cx="7728206" cy="7728208"/>
          </a:xfrm>
        </p:grpSpPr>
        <p:sp>
          <p:nvSpPr>
            <p:cNvPr id="26" name="자유형: 도형 22">
              <a:extLst>
                <a:ext uri="{FF2B5EF4-FFF2-40B4-BE49-F238E27FC236}">
                  <a16:creationId xmlns:a16="http://schemas.microsoft.com/office/drawing/2014/main" id="{BD9B8970-EAFA-D719-A69E-275838D1D4C2}"/>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8" name="타원 27">
              <a:extLst>
                <a:ext uri="{FF2B5EF4-FFF2-40B4-BE49-F238E27FC236}">
                  <a16:creationId xmlns:a16="http://schemas.microsoft.com/office/drawing/2014/main" id="{B5AF4AA9-4A0F-F1FC-2AE0-4C545B3DA20F}"/>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9" name="직사각형 28">
            <a:extLst>
              <a:ext uri="{FF2B5EF4-FFF2-40B4-BE49-F238E27FC236}">
                <a16:creationId xmlns:a16="http://schemas.microsoft.com/office/drawing/2014/main" id="{AB11F622-3033-DB41-936D-A3237DC4F8A3}"/>
              </a:ext>
            </a:extLst>
          </p:cNvPr>
          <p:cNvSpPr/>
          <p:nvPr/>
        </p:nvSpPr>
        <p:spPr>
          <a:xfrm>
            <a:off x="1241910" y="1193463"/>
            <a:ext cx="4155443" cy="674672"/>
          </a:xfrm>
          <a:prstGeom prst="rect">
            <a:avLst/>
          </a:prstGeom>
        </p:spPr>
        <p:txBody>
          <a:bodyPr wrap="square">
            <a:spAutoFit/>
          </a:bodyPr>
          <a:lstStyle/>
          <a:p>
            <a:pPr>
              <a:lnSpc>
                <a:spcPct val="125000"/>
              </a:lnSpc>
            </a:pPr>
            <a:r>
              <a:rPr lang="en-US" altLang="ko-KR" sz="1600" dirty="0">
                <a:solidFill>
                  <a:srgbClr val="A0112D"/>
                </a:solidFill>
                <a:latin typeface="Lato" panose="020F0502020204030203" pitchFamily="34" charset="0"/>
                <a:ea typeface="Lato Black" panose="020F0502020204030203" pitchFamily="34" charset="0"/>
                <a:cs typeface="Lato" panose="020F0502020204030203" pitchFamily="34" charset="0"/>
              </a:rPr>
              <a:t>Patient predicted to be not applicable for the lower dry weight</a:t>
            </a:r>
            <a:endPar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933761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7"/>
          </p:nvPr>
        </p:nvSpPr>
        <p:spPr/>
        <p:txBody>
          <a:bodyPr/>
          <a:lstStyle/>
          <a:p>
            <a:r>
              <a:rPr lang="en-US" altLang="ko-KR" dirty="0"/>
              <a:t>02</a:t>
            </a:r>
            <a:endParaRPr lang="ko-KR" altLang="en-US" dirty="0"/>
          </a:p>
          <a:p>
            <a:endParaRPr lang="ko-KR" altLang="en-US" dirty="0"/>
          </a:p>
        </p:txBody>
      </p:sp>
      <p:sp>
        <p:nvSpPr>
          <p:cNvPr id="13" name="텍스트 개체 틀 12"/>
          <p:cNvSpPr>
            <a:spLocks noGrp="1"/>
          </p:cNvSpPr>
          <p:nvPr>
            <p:ph type="body" sz="quarter" idx="18"/>
          </p:nvPr>
        </p:nvSpPr>
        <p:spPr>
          <a:xfrm>
            <a:off x="811508" y="568692"/>
            <a:ext cx="6229372" cy="446199"/>
          </a:xfrm>
        </p:spPr>
        <p:txBody>
          <a:bodyPr>
            <a:normAutofit/>
          </a:bodyPr>
          <a:lstStyle/>
          <a:p>
            <a:r>
              <a:rPr lang="en-US" altLang="ko-KR" dirty="0"/>
              <a:t>Target Dry Weight</a:t>
            </a:r>
            <a:endParaRPr lang="ko-KR" altLang="en-US" dirty="0"/>
          </a:p>
        </p:txBody>
      </p:sp>
      <p:sp>
        <p:nvSpPr>
          <p:cNvPr id="11" name="텍스트 개체 틀 10"/>
          <p:cNvSpPr>
            <a:spLocks noGrp="1"/>
          </p:cNvSpPr>
          <p:nvPr>
            <p:ph type="body" sz="quarter" idx="12"/>
          </p:nvPr>
        </p:nvSpPr>
        <p:spPr>
          <a:xfrm>
            <a:off x="811508" y="975511"/>
            <a:ext cx="2454836" cy="313932"/>
          </a:xfrm>
        </p:spPr>
        <p:txBody>
          <a:bodyPr/>
          <a:lstStyle/>
          <a:p>
            <a:r>
              <a:rPr lang="en-US" altLang="ko-KR" dirty="0">
                <a:ln>
                  <a:solidFill>
                    <a:srgbClr val="7E8080">
                      <a:alpha val="0"/>
                    </a:srgbClr>
                  </a:solidFill>
                </a:ln>
                <a:latin typeface="Lato" panose="020F0502020204030203" pitchFamily="34" charset="0"/>
                <a:ea typeface="에스코어 드림 5 Medium" panose="020B0503030302020204" pitchFamily="34" charset="-127"/>
                <a:cs typeface="Lato Black" panose="020F0502020204030203" pitchFamily="34" charset="0"/>
              </a:rPr>
              <a:t>Water Control</a:t>
            </a:r>
          </a:p>
        </p:txBody>
      </p:sp>
      <p:grpSp>
        <p:nvGrpSpPr>
          <p:cNvPr id="30" name="그룹 29">
            <a:extLst>
              <a:ext uri="{FF2B5EF4-FFF2-40B4-BE49-F238E27FC236}">
                <a16:creationId xmlns:a16="http://schemas.microsoft.com/office/drawing/2014/main" id="{04BBD52A-B00D-B52D-D2BE-7ED77E4B2731}"/>
              </a:ext>
            </a:extLst>
          </p:cNvPr>
          <p:cNvGrpSpPr/>
          <p:nvPr/>
        </p:nvGrpSpPr>
        <p:grpSpPr>
          <a:xfrm>
            <a:off x="671881" y="1539636"/>
            <a:ext cx="233727" cy="233726"/>
            <a:chOff x="2701227" y="-1816305"/>
            <a:chExt cx="7728206" cy="7728208"/>
          </a:xfrm>
        </p:grpSpPr>
        <p:sp>
          <p:nvSpPr>
            <p:cNvPr id="31"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3" name="타원 32">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9" name="TextBox 18"/>
          <p:cNvSpPr txBox="1"/>
          <p:nvPr/>
        </p:nvSpPr>
        <p:spPr>
          <a:xfrm>
            <a:off x="1139769" y="1988482"/>
            <a:ext cx="10707082" cy="415498"/>
          </a:xfrm>
          <a:prstGeom prst="rect">
            <a:avLst/>
          </a:prstGeom>
          <a:noFill/>
        </p:spPr>
        <p:txBody>
          <a:bodyPr wrap="square">
            <a:spAutoFit/>
          </a:bodyPr>
          <a:lstStyle/>
          <a:p>
            <a:pPr fontAlgn="auto">
              <a:lnSpc>
                <a:spcPct val="150000"/>
              </a:lnSpc>
              <a:spcBef>
                <a:spcPts val="0"/>
              </a:spcBef>
              <a:spcAft>
                <a:spcPts val="0"/>
              </a:spcAft>
              <a:defRPr/>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Post-dialysis results are similar to target DW</a:t>
            </a:r>
            <a:endParaRPr kumimoji="0"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4" name="그룹 13"/>
          <p:cNvGrpSpPr>
            <a:grpSpLocks noChangeAspect="1"/>
          </p:cNvGrpSpPr>
          <p:nvPr/>
        </p:nvGrpSpPr>
        <p:grpSpPr>
          <a:xfrm>
            <a:off x="6520288" y="4024157"/>
            <a:ext cx="5289153" cy="1298957"/>
            <a:chOff x="4705351" y="3669531"/>
            <a:chExt cx="7114251" cy="1747180"/>
          </a:xfrm>
        </p:grpSpPr>
        <p:sp>
          <p:nvSpPr>
            <p:cNvPr id="15" name="TextBox 14"/>
            <p:cNvSpPr txBox="1"/>
            <p:nvPr/>
          </p:nvSpPr>
          <p:spPr>
            <a:xfrm>
              <a:off x="8073359" y="3679055"/>
              <a:ext cx="426783" cy="579232"/>
            </a:xfrm>
            <a:prstGeom prst="rect">
              <a:avLst/>
            </a:prstGeom>
            <a:noFill/>
          </p:spPr>
          <p:txBody>
            <a:bodyPr wrap="none" rtlCol="0">
              <a:spAutoFit/>
            </a:bodyPr>
            <a:lstStyle/>
            <a:p>
              <a:pPr algn="ctr"/>
              <a:r>
                <a:rPr lang="en-US" altLang="ko-KR" sz="2400" b="1" dirty="0"/>
                <a:t>0</a:t>
              </a:r>
              <a:endParaRPr lang="ko-KR" altLang="en-US" sz="2400" b="1" dirty="0"/>
            </a:p>
          </p:txBody>
        </p:sp>
        <p:cxnSp>
          <p:nvCxnSpPr>
            <p:cNvPr id="16" name="직선 연결선 15"/>
            <p:cNvCxnSpPr/>
            <p:nvPr/>
          </p:nvCxnSpPr>
          <p:spPr>
            <a:xfrm>
              <a:off x="7393246"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875155" y="3669531"/>
              <a:ext cx="1036184" cy="579232"/>
            </a:xfrm>
            <a:prstGeom prst="rect">
              <a:avLst/>
            </a:prstGeom>
            <a:noFill/>
          </p:spPr>
          <p:txBody>
            <a:bodyPr wrap="none" rtlCol="0">
              <a:spAutoFit/>
            </a:bodyPr>
            <a:lstStyle/>
            <a:p>
              <a:pPr algn="ctr"/>
              <a:r>
                <a:rPr lang="en-US" altLang="ko-KR" sz="2400" b="1" dirty="0"/>
                <a:t>&lt;-0.2</a:t>
              </a:r>
              <a:endParaRPr lang="ko-KR" altLang="en-US" sz="2400" b="1" dirty="0"/>
            </a:p>
          </p:txBody>
        </p:sp>
        <p:cxnSp>
          <p:nvCxnSpPr>
            <p:cNvPr id="18" name="직선 연결선 17"/>
            <p:cNvCxnSpPr/>
            <p:nvPr/>
          </p:nvCxnSpPr>
          <p:spPr>
            <a:xfrm>
              <a:off x="91249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666191" y="3679055"/>
              <a:ext cx="917520" cy="579232"/>
            </a:xfrm>
            <a:prstGeom prst="rect">
              <a:avLst/>
            </a:prstGeom>
            <a:noFill/>
          </p:spPr>
          <p:txBody>
            <a:bodyPr wrap="none" rtlCol="0">
              <a:spAutoFit/>
            </a:bodyPr>
            <a:lstStyle/>
            <a:p>
              <a:pPr algn="ctr"/>
              <a:r>
                <a:rPr lang="en-US" altLang="ko-KR" sz="2400" b="1" dirty="0"/>
                <a:t>&gt;0.2</a:t>
              </a:r>
              <a:endParaRPr lang="ko-KR" altLang="en-US" sz="2400" b="1" dirty="0"/>
            </a:p>
          </p:txBody>
        </p:sp>
        <p:sp>
          <p:nvSpPr>
            <p:cNvPr id="21" name="오른쪽 화살표 20"/>
            <p:cNvSpPr/>
            <p:nvPr/>
          </p:nvSpPr>
          <p:spPr>
            <a:xfrm rot="10800000">
              <a:off x="4705351" y="4130836"/>
              <a:ext cx="2667000" cy="1285875"/>
            </a:xfrm>
            <a:prstGeom prst="rightArrow">
              <a:avLst/>
            </a:prstGeom>
            <a:solidFill>
              <a:srgbClr val="B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오른쪽 화살표 21"/>
            <p:cNvSpPr/>
            <p:nvPr/>
          </p:nvSpPr>
          <p:spPr>
            <a:xfrm>
              <a:off x="9152602" y="4127467"/>
              <a:ext cx="2667000" cy="128587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p:cNvSpPr/>
            <p:nvPr/>
          </p:nvSpPr>
          <p:spPr>
            <a:xfrm>
              <a:off x="7419289" y="4459449"/>
              <a:ext cx="1677774" cy="62865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직선 연결선 23"/>
            <p:cNvCxnSpPr/>
            <p:nvPr/>
          </p:nvCxnSpPr>
          <p:spPr>
            <a:xfrm>
              <a:off x="82867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cxnSp>
          <p:nvCxnSpPr>
            <p:cNvPr id="25" name="직선 연결선 24"/>
            <p:cNvCxnSpPr>
              <a:stCxn id="21" idx="3"/>
              <a:endCxn id="22" idx="3"/>
            </p:cNvCxnSpPr>
            <p:nvPr/>
          </p:nvCxnSpPr>
          <p:spPr>
            <a:xfrm flipV="1">
              <a:off x="4705351" y="4770405"/>
              <a:ext cx="7114251" cy="3368"/>
            </a:xfrm>
            <a:prstGeom prst="line">
              <a:avLst/>
            </a:prstGeom>
            <a:ln w="38100">
              <a:solidFill>
                <a:srgbClr val="424242"/>
              </a:solidFill>
              <a:prstDash val="sysDash"/>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10DD440D-C363-4325-92F2-53B2A89A30A0}"/>
              </a:ext>
            </a:extLst>
          </p:cNvPr>
          <p:cNvSpPr txBox="1"/>
          <p:nvPr/>
        </p:nvSpPr>
        <p:spPr>
          <a:xfrm>
            <a:off x="1139769" y="1533542"/>
            <a:ext cx="1860509" cy="461665"/>
          </a:xfrm>
          <a:prstGeom prst="rect">
            <a:avLst/>
          </a:prstGeom>
          <a:solidFill>
            <a:schemeClr val="accent4">
              <a:lumMod val="60000"/>
              <a:lumOff val="40000"/>
            </a:schemeClr>
          </a:solidFill>
        </p:spPr>
        <p:txBody>
          <a:bodyPr wrap="none" rtlCol="0">
            <a:spAutoFit/>
          </a:bodyPr>
          <a:lstStyle/>
          <a:p>
            <a:pPr algn="ctr"/>
            <a:r>
              <a:rPr lang="en-US" altLang="ko-KR"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Yellow</a:t>
            </a:r>
            <a:r>
              <a:rPr lang="en-US" altLang="ko-KR" sz="2400" dirty="0">
                <a:solidFill>
                  <a:schemeClr val="bg1"/>
                </a:solidFill>
              </a:rPr>
              <a:t>±</a:t>
            </a:r>
            <a:r>
              <a:rPr lang="en-US" altLang="ko-KR"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0.2 L </a:t>
            </a:r>
          </a:p>
        </p:txBody>
      </p:sp>
    </p:spTree>
    <p:extLst>
      <p:ext uri="{BB962C8B-B14F-4D97-AF65-F5344CB8AC3E}">
        <p14:creationId xmlns:p14="http://schemas.microsoft.com/office/powerpoint/2010/main" val="2680000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7"/>
          </p:nvPr>
        </p:nvSpPr>
        <p:spPr/>
        <p:txBody>
          <a:bodyPr/>
          <a:lstStyle/>
          <a:p>
            <a:r>
              <a:rPr lang="en-US" altLang="ko-KR" dirty="0"/>
              <a:t>02</a:t>
            </a:r>
            <a:endParaRPr lang="ko-KR" altLang="en-US" dirty="0"/>
          </a:p>
          <a:p>
            <a:endParaRPr lang="ko-KR" altLang="en-US" dirty="0"/>
          </a:p>
        </p:txBody>
      </p:sp>
      <p:sp>
        <p:nvSpPr>
          <p:cNvPr id="13" name="텍스트 개체 틀 12"/>
          <p:cNvSpPr>
            <a:spLocks noGrp="1"/>
          </p:cNvSpPr>
          <p:nvPr>
            <p:ph type="body" sz="quarter" idx="18"/>
          </p:nvPr>
        </p:nvSpPr>
        <p:spPr>
          <a:xfrm>
            <a:off x="811508" y="568692"/>
            <a:ext cx="6229372" cy="446199"/>
          </a:xfrm>
        </p:spPr>
        <p:txBody>
          <a:bodyPr>
            <a:normAutofit/>
          </a:bodyPr>
          <a:lstStyle/>
          <a:p>
            <a:r>
              <a:rPr lang="en-US" altLang="ko-KR" dirty="0"/>
              <a:t>Target Dry Weight</a:t>
            </a:r>
            <a:endParaRPr lang="ko-KR" altLang="en-US" dirty="0"/>
          </a:p>
        </p:txBody>
      </p:sp>
      <p:sp>
        <p:nvSpPr>
          <p:cNvPr id="11" name="텍스트 개체 틀 10"/>
          <p:cNvSpPr>
            <a:spLocks noGrp="1"/>
          </p:cNvSpPr>
          <p:nvPr>
            <p:ph type="body" sz="quarter" idx="12"/>
          </p:nvPr>
        </p:nvSpPr>
        <p:spPr>
          <a:xfrm>
            <a:off x="811508" y="975511"/>
            <a:ext cx="2454836" cy="313932"/>
          </a:xfrm>
        </p:spPr>
        <p:txBody>
          <a:bodyPr/>
          <a:lstStyle/>
          <a:p>
            <a:r>
              <a:rPr lang="en-US" altLang="ko-KR" dirty="0">
                <a:ln>
                  <a:solidFill>
                    <a:srgbClr val="7E8080">
                      <a:alpha val="0"/>
                    </a:srgbClr>
                  </a:solidFill>
                </a:ln>
                <a:latin typeface="Lato" panose="020F0502020204030203" pitchFamily="34" charset="0"/>
                <a:ea typeface="에스코어 드림 5 Medium" panose="020B0503030302020204" pitchFamily="34" charset="-127"/>
                <a:cs typeface="Lato Black" panose="020F0502020204030203" pitchFamily="34" charset="0"/>
              </a:rPr>
              <a:t>Water Control</a:t>
            </a:r>
          </a:p>
        </p:txBody>
      </p:sp>
      <p:grpSp>
        <p:nvGrpSpPr>
          <p:cNvPr id="30" name="그룹 29">
            <a:extLst>
              <a:ext uri="{FF2B5EF4-FFF2-40B4-BE49-F238E27FC236}">
                <a16:creationId xmlns:a16="http://schemas.microsoft.com/office/drawing/2014/main" id="{04BBD52A-B00D-B52D-D2BE-7ED77E4B2731}"/>
              </a:ext>
            </a:extLst>
          </p:cNvPr>
          <p:cNvGrpSpPr/>
          <p:nvPr/>
        </p:nvGrpSpPr>
        <p:grpSpPr>
          <a:xfrm>
            <a:off x="671881" y="1539636"/>
            <a:ext cx="233727" cy="233726"/>
            <a:chOff x="2701227" y="-1816305"/>
            <a:chExt cx="7728206" cy="7728208"/>
          </a:xfrm>
        </p:grpSpPr>
        <p:sp>
          <p:nvSpPr>
            <p:cNvPr id="31"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3" name="타원 32">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8" name="TextBox 17"/>
          <p:cNvSpPr txBox="1"/>
          <p:nvPr/>
        </p:nvSpPr>
        <p:spPr>
          <a:xfrm>
            <a:off x="1154897" y="1988950"/>
            <a:ext cx="10707082" cy="382092"/>
          </a:xfrm>
          <a:prstGeom prst="rect">
            <a:avLst/>
          </a:prstGeom>
          <a:noFill/>
        </p:spPr>
        <p:txBody>
          <a:bodyPr wrap="square">
            <a:spAutoFit/>
          </a:bodyPr>
          <a:lstStyle/>
          <a:p>
            <a:pPr fontAlgn="auto">
              <a:lnSpc>
                <a:spcPct val="150000"/>
              </a:lnSpc>
              <a:spcBef>
                <a:spcPts val="0"/>
              </a:spcBef>
              <a:spcAft>
                <a:spcPts val="0"/>
              </a:spcAft>
              <a:defRPr/>
            </a:pP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Showing excessive fluid removal compared to target DW </a:t>
            </a:r>
            <a:r>
              <a:rPr lang="ko-KR" altLang="en-US"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a:t>
            </a:r>
            <a:r>
              <a:rPr lang="en-US" altLang="ko-KR" sz="14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Check for possible </a:t>
            </a:r>
            <a:r>
              <a:rPr lang="en-US" altLang="ko-KR" sz="1400" b="1" dirty="0">
                <a:solidFill>
                  <a:srgbClr val="AC2F48"/>
                </a:solidFill>
                <a:latin typeface="Lato Black" panose="020F0502020204030203" pitchFamily="34" charset="0"/>
                <a:ea typeface="Lato Black" panose="020F0502020204030203" pitchFamily="34" charset="0"/>
                <a:cs typeface="Lato Black" panose="020F0502020204030203" pitchFamily="34" charset="0"/>
              </a:rPr>
              <a:t>side effects</a:t>
            </a:r>
          </a:p>
        </p:txBody>
      </p:sp>
      <p:sp>
        <p:nvSpPr>
          <p:cNvPr id="15" name="TextBox 14"/>
          <p:cNvSpPr txBox="1"/>
          <p:nvPr/>
        </p:nvSpPr>
        <p:spPr>
          <a:xfrm>
            <a:off x="1337514" y="2578015"/>
            <a:ext cx="10707082" cy="1569660"/>
          </a:xfrm>
          <a:prstGeom prst="rect">
            <a:avLst/>
          </a:prstGeom>
          <a:noFill/>
        </p:spPr>
        <p:txBody>
          <a:bodyPr wrap="square">
            <a:spAutoFit/>
          </a:bodyPr>
          <a:lstStyle/>
          <a:p>
            <a:pPr>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Recommending slightly less fluid removal on </a:t>
            </a:r>
            <a:r>
              <a:rPr lang="en-US" altLang="ko-KR" sz="1600" dirty="0" err="1">
                <a:solidFill>
                  <a:srgbClr val="4B4F5A"/>
                </a:solidFill>
                <a:latin typeface="Lato Black" panose="020F0502020204030203" pitchFamily="34" charset="0"/>
                <a:ea typeface="Lato Black" panose="020F0502020204030203" pitchFamily="34" charset="0"/>
                <a:cs typeface="Lato Black" panose="020F0502020204030203" pitchFamily="34" charset="0"/>
              </a:rPr>
              <a:t>InBody</a:t>
            </a: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DW compared to the physician-set DW.</a:t>
            </a:r>
            <a:b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br>
            <a:endPar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a:p>
            <a:pPr>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&gt;&gt; </a:t>
            </a:r>
            <a:r>
              <a:rPr lang="en-US" altLang="ko-KR" sz="1600" b="1" dirty="0">
                <a:solidFill>
                  <a:srgbClr val="4B4F5A"/>
                </a:solidFill>
                <a:latin typeface="Lato Black" panose="020F0502020204030203" pitchFamily="34" charset="0"/>
                <a:ea typeface="Lato Black" panose="020F0502020204030203" pitchFamily="34" charset="0"/>
                <a:cs typeface="Lato Black" panose="020F0502020204030203" pitchFamily="34" charset="0"/>
              </a:rPr>
              <a:t>If patient condition is overall fine </a:t>
            </a: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maintaining the DW is acceptable. </a:t>
            </a:r>
            <a:b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b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(muscle mass, blood pressure, age etc.)  </a:t>
            </a:r>
          </a:p>
          <a:p>
            <a:pPr>
              <a:defRPr/>
            </a:pP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&gt;&gt; </a:t>
            </a:r>
            <a:r>
              <a:rPr lang="en-US" altLang="ko-KR" sz="1600" b="1" dirty="0">
                <a:solidFill>
                  <a:srgbClr val="4B4F5A"/>
                </a:solidFill>
                <a:latin typeface="Lato Black" panose="020F0502020204030203" pitchFamily="34" charset="0"/>
                <a:ea typeface="Lato Black" panose="020F0502020204030203" pitchFamily="34" charset="0"/>
                <a:cs typeface="Lato Black" panose="020F0502020204030203" pitchFamily="34" charset="0"/>
              </a:rPr>
              <a:t>If any abnormalities are observed </a:t>
            </a: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it is recommended to gradually increases the DW (0.2 - 0.3 at a time)</a:t>
            </a:r>
            <a:b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br>
            <a:r>
              <a:rPr lang="en-US" altLang="ko-KR" sz="1600" dirty="0">
                <a:solidFill>
                  <a:srgbClr val="4B4F5A"/>
                </a:solidFill>
                <a:latin typeface="Lato Black" panose="020F0502020204030203" pitchFamily="34" charset="0"/>
                <a:ea typeface="Lato Black" panose="020F0502020204030203" pitchFamily="34" charset="0"/>
                <a:cs typeface="Lato Black" panose="020F0502020204030203" pitchFamily="34" charset="0"/>
              </a:rPr>
              <a:t>    (typically assessed through blood pressure)</a:t>
            </a:r>
            <a:endParaRPr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4" name="그룹 13"/>
          <p:cNvGrpSpPr>
            <a:grpSpLocks noChangeAspect="1"/>
          </p:cNvGrpSpPr>
          <p:nvPr/>
        </p:nvGrpSpPr>
        <p:grpSpPr>
          <a:xfrm>
            <a:off x="6520288" y="4024157"/>
            <a:ext cx="5289153" cy="1298957"/>
            <a:chOff x="4705351" y="3669531"/>
            <a:chExt cx="7114251" cy="1747180"/>
          </a:xfrm>
        </p:grpSpPr>
        <p:sp>
          <p:nvSpPr>
            <p:cNvPr id="16" name="TextBox 15"/>
            <p:cNvSpPr txBox="1"/>
            <p:nvPr/>
          </p:nvSpPr>
          <p:spPr>
            <a:xfrm>
              <a:off x="8073359" y="3679055"/>
              <a:ext cx="426783" cy="579232"/>
            </a:xfrm>
            <a:prstGeom prst="rect">
              <a:avLst/>
            </a:prstGeom>
            <a:noFill/>
          </p:spPr>
          <p:txBody>
            <a:bodyPr wrap="none" rtlCol="0">
              <a:spAutoFit/>
            </a:bodyPr>
            <a:lstStyle/>
            <a:p>
              <a:pPr algn="ctr"/>
              <a:r>
                <a:rPr lang="en-US" altLang="ko-KR" sz="2400" b="1" dirty="0"/>
                <a:t>0</a:t>
              </a:r>
              <a:endParaRPr lang="ko-KR" altLang="en-US" sz="2400" b="1" dirty="0"/>
            </a:p>
          </p:txBody>
        </p:sp>
        <p:cxnSp>
          <p:nvCxnSpPr>
            <p:cNvPr id="17" name="직선 연결선 16"/>
            <p:cNvCxnSpPr/>
            <p:nvPr/>
          </p:nvCxnSpPr>
          <p:spPr>
            <a:xfrm>
              <a:off x="7393246"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875155" y="3669531"/>
              <a:ext cx="1036184" cy="579232"/>
            </a:xfrm>
            <a:prstGeom prst="rect">
              <a:avLst/>
            </a:prstGeom>
            <a:noFill/>
          </p:spPr>
          <p:txBody>
            <a:bodyPr wrap="none" rtlCol="0">
              <a:spAutoFit/>
            </a:bodyPr>
            <a:lstStyle/>
            <a:p>
              <a:pPr algn="ctr"/>
              <a:r>
                <a:rPr lang="en-US" altLang="ko-KR" sz="2400" b="1" dirty="0"/>
                <a:t>&lt;-0.2</a:t>
              </a:r>
              <a:endParaRPr lang="ko-KR" altLang="en-US" sz="2400" b="1" dirty="0"/>
            </a:p>
          </p:txBody>
        </p:sp>
        <p:cxnSp>
          <p:nvCxnSpPr>
            <p:cNvPr id="20" name="직선 연결선 19"/>
            <p:cNvCxnSpPr/>
            <p:nvPr/>
          </p:nvCxnSpPr>
          <p:spPr>
            <a:xfrm>
              <a:off x="91249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666191" y="3679055"/>
              <a:ext cx="917520" cy="579232"/>
            </a:xfrm>
            <a:prstGeom prst="rect">
              <a:avLst/>
            </a:prstGeom>
            <a:noFill/>
          </p:spPr>
          <p:txBody>
            <a:bodyPr wrap="none" rtlCol="0">
              <a:spAutoFit/>
            </a:bodyPr>
            <a:lstStyle/>
            <a:p>
              <a:pPr algn="ctr"/>
              <a:r>
                <a:rPr lang="en-US" altLang="ko-KR" sz="2400" b="1" dirty="0"/>
                <a:t>&gt;0.2</a:t>
              </a:r>
              <a:endParaRPr lang="ko-KR" altLang="en-US" sz="2400" b="1" dirty="0"/>
            </a:p>
          </p:txBody>
        </p:sp>
        <p:sp>
          <p:nvSpPr>
            <p:cNvPr id="22" name="오른쪽 화살표 21"/>
            <p:cNvSpPr/>
            <p:nvPr/>
          </p:nvSpPr>
          <p:spPr>
            <a:xfrm rot="10800000">
              <a:off x="4705351" y="4130836"/>
              <a:ext cx="2667000" cy="1285875"/>
            </a:xfrm>
            <a:prstGeom prst="rightArrow">
              <a:avLst/>
            </a:prstGeom>
            <a:solidFill>
              <a:srgbClr val="BB1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오른쪽 화살표 22"/>
            <p:cNvSpPr/>
            <p:nvPr/>
          </p:nvSpPr>
          <p:spPr>
            <a:xfrm>
              <a:off x="9152602" y="4127467"/>
              <a:ext cx="2667000" cy="128587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p:cNvSpPr/>
            <p:nvPr/>
          </p:nvSpPr>
          <p:spPr>
            <a:xfrm>
              <a:off x="7419289" y="4459449"/>
              <a:ext cx="1677774" cy="62865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5" name="직선 연결선 24"/>
            <p:cNvCxnSpPr/>
            <p:nvPr/>
          </p:nvCxnSpPr>
          <p:spPr>
            <a:xfrm>
              <a:off x="8286750" y="4259424"/>
              <a:ext cx="0" cy="1066800"/>
            </a:xfrm>
            <a:prstGeom prst="line">
              <a:avLst/>
            </a:prstGeom>
            <a:ln w="57150">
              <a:solidFill>
                <a:srgbClr val="424242"/>
              </a:solidFill>
            </a:ln>
          </p:spPr>
          <p:style>
            <a:lnRef idx="1">
              <a:schemeClr val="accent1"/>
            </a:lnRef>
            <a:fillRef idx="0">
              <a:schemeClr val="accent1"/>
            </a:fillRef>
            <a:effectRef idx="0">
              <a:schemeClr val="accent1"/>
            </a:effectRef>
            <a:fontRef idx="minor">
              <a:schemeClr val="tx1"/>
            </a:fontRef>
          </p:style>
        </p:cxnSp>
        <p:cxnSp>
          <p:nvCxnSpPr>
            <p:cNvPr id="26" name="직선 연결선 25"/>
            <p:cNvCxnSpPr>
              <a:stCxn id="22" idx="3"/>
              <a:endCxn id="23" idx="3"/>
            </p:cNvCxnSpPr>
            <p:nvPr/>
          </p:nvCxnSpPr>
          <p:spPr>
            <a:xfrm flipV="1">
              <a:off x="4705351" y="4770405"/>
              <a:ext cx="7114251" cy="3368"/>
            </a:xfrm>
            <a:prstGeom prst="line">
              <a:avLst/>
            </a:prstGeom>
            <a:ln w="38100">
              <a:solidFill>
                <a:srgbClr val="424242"/>
              </a:solidFill>
              <a:prstDash val="sysDash"/>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10DD440D-C363-4325-92F2-53B2A89A30A0}"/>
              </a:ext>
            </a:extLst>
          </p:cNvPr>
          <p:cNvSpPr txBox="1"/>
          <p:nvPr/>
        </p:nvSpPr>
        <p:spPr>
          <a:xfrm>
            <a:off x="1154897" y="1538674"/>
            <a:ext cx="1547218" cy="461665"/>
          </a:xfrm>
          <a:prstGeom prst="rect">
            <a:avLst/>
          </a:prstGeom>
          <a:solidFill>
            <a:srgbClr val="0070C0"/>
          </a:solidFill>
        </p:spPr>
        <p:txBody>
          <a:bodyPr wrap="none" rtlCol="0">
            <a:spAutoFit/>
          </a:bodyPr>
          <a:lstStyle/>
          <a:p>
            <a:pPr algn="ctr"/>
            <a:r>
              <a:rPr lang="en-US" altLang="ko-KR" sz="2400" dirty="0">
                <a:solidFill>
                  <a:schemeClr val="bg1"/>
                </a:solidFill>
                <a:latin typeface="Lato Light" panose="020F0502020204030203" pitchFamily="34" charset="0"/>
                <a:ea typeface="Lato Light" panose="020F0502020204030203" pitchFamily="34" charset="0"/>
                <a:cs typeface="Lato Light" panose="020F0502020204030203" pitchFamily="34" charset="0"/>
              </a:rPr>
              <a:t>Blue &gt;0.2 L</a:t>
            </a:r>
          </a:p>
        </p:txBody>
      </p:sp>
    </p:spTree>
    <p:extLst>
      <p:ext uri="{BB962C8B-B14F-4D97-AF65-F5344CB8AC3E}">
        <p14:creationId xmlns:p14="http://schemas.microsoft.com/office/powerpoint/2010/main" val="3193540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7"/>
          </p:nvPr>
        </p:nvSpPr>
        <p:spPr/>
        <p:txBody>
          <a:bodyPr/>
          <a:lstStyle/>
          <a:p>
            <a:r>
              <a:rPr lang="en-US" altLang="ko-KR" dirty="0"/>
              <a:t>02</a:t>
            </a:r>
            <a:endParaRPr lang="ko-KR" altLang="en-US" dirty="0"/>
          </a:p>
          <a:p>
            <a:endParaRPr lang="ko-KR" altLang="en-US" dirty="0"/>
          </a:p>
        </p:txBody>
      </p:sp>
      <p:sp>
        <p:nvSpPr>
          <p:cNvPr id="13" name="텍스트 개체 틀 12"/>
          <p:cNvSpPr>
            <a:spLocks noGrp="1"/>
          </p:cNvSpPr>
          <p:nvPr>
            <p:ph type="body" sz="quarter" idx="18"/>
          </p:nvPr>
        </p:nvSpPr>
        <p:spPr>
          <a:xfrm>
            <a:off x="811508" y="568692"/>
            <a:ext cx="6229372" cy="446199"/>
          </a:xfrm>
        </p:spPr>
        <p:txBody>
          <a:bodyPr>
            <a:normAutofit/>
          </a:bodyPr>
          <a:lstStyle/>
          <a:p>
            <a:r>
              <a:rPr lang="en-US" altLang="ko-KR" dirty="0"/>
              <a:t>Target Dry Weight</a:t>
            </a:r>
            <a:endParaRPr lang="ko-KR" altLang="en-US" dirty="0"/>
          </a:p>
        </p:txBody>
      </p:sp>
      <p:sp>
        <p:nvSpPr>
          <p:cNvPr id="11" name="텍스트 개체 틀 10"/>
          <p:cNvSpPr>
            <a:spLocks noGrp="1"/>
          </p:cNvSpPr>
          <p:nvPr>
            <p:ph type="body" sz="quarter" idx="12"/>
          </p:nvPr>
        </p:nvSpPr>
        <p:spPr>
          <a:xfrm>
            <a:off x="811508" y="975511"/>
            <a:ext cx="2454836" cy="313932"/>
          </a:xfrm>
        </p:spPr>
        <p:txBody>
          <a:bodyPr/>
          <a:lstStyle/>
          <a:p>
            <a:r>
              <a:rPr lang="en-US" altLang="ko-KR" dirty="0">
                <a:ln>
                  <a:solidFill>
                    <a:srgbClr val="7E8080">
                      <a:alpha val="0"/>
                    </a:srgbClr>
                  </a:solidFill>
                </a:ln>
                <a:latin typeface="Lato" panose="020F0502020204030203" pitchFamily="34" charset="0"/>
                <a:ea typeface="에스코어 드림 5 Medium" panose="020B0503030302020204" pitchFamily="34" charset="-127"/>
                <a:cs typeface="Lato Black" panose="020F0502020204030203" pitchFamily="34" charset="0"/>
              </a:rPr>
              <a:t>Water Control</a:t>
            </a:r>
          </a:p>
        </p:txBody>
      </p:sp>
      <p:pic>
        <p:nvPicPr>
          <p:cNvPr id="2" name="그림 1"/>
          <p:cNvPicPr>
            <a:picLocks noChangeAspect="1"/>
          </p:cNvPicPr>
          <p:nvPr/>
        </p:nvPicPr>
        <p:blipFill rotWithShape="1">
          <a:blip r:embed="rId3" cstate="print">
            <a:extLst>
              <a:ext uri="{28A0092B-C50C-407E-A947-70E740481C1C}">
                <a14:useLocalDpi xmlns:a14="http://schemas.microsoft.com/office/drawing/2010/main" val="0"/>
              </a:ext>
            </a:extLst>
          </a:blip>
          <a:srcRect l="64426" t="33236" r="2913" b="48213"/>
          <a:stretch/>
        </p:blipFill>
        <p:spPr>
          <a:xfrm>
            <a:off x="4166365" y="2468943"/>
            <a:ext cx="3797531" cy="3038026"/>
          </a:xfrm>
          <a:prstGeom prst="rect">
            <a:avLst/>
          </a:prstGeom>
        </p:spPr>
      </p:pic>
      <p:pic>
        <p:nvPicPr>
          <p:cNvPr id="3" name="그림 2"/>
          <p:cNvPicPr>
            <a:picLocks noChangeAspect="1"/>
          </p:cNvPicPr>
          <p:nvPr/>
        </p:nvPicPr>
        <p:blipFill rotWithShape="1">
          <a:blip r:embed="rId4" cstate="print">
            <a:extLst>
              <a:ext uri="{28A0092B-C50C-407E-A947-70E740481C1C}">
                <a14:useLocalDpi xmlns:a14="http://schemas.microsoft.com/office/drawing/2010/main" val="0"/>
              </a:ext>
            </a:extLst>
          </a:blip>
          <a:srcRect l="63609" t="33816" r="1279" b="48599"/>
          <a:stretch/>
        </p:blipFill>
        <p:spPr>
          <a:xfrm>
            <a:off x="8033627" y="2468943"/>
            <a:ext cx="4082343" cy="2879794"/>
          </a:xfrm>
          <a:prstGeom prst="rect">
            <a:avLst/>
          </a:prstGeom>
        </p:spPr>
      </p:pic>
      <p:pic>
        <p:nvPicPr>
          <p:cNvPr id="4" name="그림 3"/>
          <p:cNvPicPr>
            <a:picLocks noChangeAspect="1"/>
          </p:cNvPicPr>
          <p:nvPr/>
        </p:nvPicPr>
        <p:blipFill rotWithShape="1">
          <a:blip r:embed="rId5" cstate="print">
            <a:extLst>
              <a:ext uri="{28A0092B-C50C-407E-A947-70E740481C1C}">
                <a14:useLocalDpi xmlns:a14="http://schemas.microsoft.com/office/drawing/2010/main" val="0"/>
              </a:ext>
            </a:extLst>
          </a:blip>
          <a:srcRect l="63119" t="33430" r="3131" b="48792"/>
          <a:stretch/>
        </p:blipFill>
        <p:spPr>
          <a:xfrm>
            <a:off x="162299" y="2468943"/>
            <a:ext cx="3924114" cy="2911440"/>
          </a:xfrm>
          <a:prstGeom prst="rect">
            <a:avLst/>
          </a:prstGeom>
        </p:spPr>
      </p:pic>
      <p:sp>
        <p:nvSpPr>
          <p:cNvPr id="5" name="직사각형 4"/>
          <p:cNvSpPr/>
          <p:nvPr/>
        </p:nvSpPr>
        <p:spPr>
          <a:xfrm>
            <a:off x="1662530" y="1556027"/>
            <a:ext cx="923651" cy="646331"/>
          </a:xfrm>
          <a:prstGeom prst="rect">
            <a:avLst/>
          </a:prstGeom>
        </p:spPr>
        <p:txBody>
          <a:bodyPr wrap="none">
            <a:spAutoFit/>
          </a:bodyPr>
          <a:lstStyle/>
          <a:p>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DM +</a:t>
            </a:r>
          </a:p>
          <a:p>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Alb 4.2</a:t>
            </a:r>
            <a:endParaRPr lang="ko-KR" altLang="en-US" dirty="0"/>
          </a:p>
        </p:txBody>
      </p:sp>
      <p:sp>
        <p:nvSpPr>
          <p:cNvPr id="28" name="직사각형 27"/>
          <p:cNvSpPr/>
          <p:nvPr/>
        </p:nvSpPr>
        <p:spPr>
          <a:xfrm>
            <a:off x="5890242" y="1556027"/>
            <a:ext cx="349776" cy="369332"/>
          </a:xfrm>
          <a:prstGeom prst="rect">
            <a:avLst/>
          </a:prstGeom>
        </p:spPr>
        <p:txBody>
          <a:bodyPr wrap="none">
            <a:spAutoFit/>
          </a:bodyPr>
          <a:lstStyle/>
          <a:p>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X</a:t>
            </a:r>
            <a:endParaRPr lang="ko-KR" altLang="en-US" dirty="0"/>
          </a:p>
        </p:txBody>
      </p:sp>
      <p:sp>
        <p:nvSpPr>
          <p:cNvPr id="29" name="직사각형 28"/>
          <p:cNvSpPr/>
          <p:nvPr/>
        </p:nvSpPr>
        <p:spPr>
          <a:xfrm>
            <a:off x="9612972" y="1573937"/>
            <a:ext cx="923651" cy="646331"/>
          </a:xfrm>
          <a:prstGeom prst="rect">
            <a:avLst/>
          </a:prstGeom>
        </p:spPr>
        <p:txBody>
          <a:bodyPr wrap="none">
            <a:spAutoFit/>
          </a:bodyPr>
          <a:lstStyle/>
          <a:p>
            <a:r>
              <a:rPr lang="en-US" altLang="ko-KR" dirty="0">
                <a:solidFill>
                  <a:srgbClr val="4B4F5A"/>
                </a:solidFill>
                <a:latin typeface="Lato Black" panose="020F0502020204030203" pitchFamily="34" charset="0"/>
              </a:rPr>
              <a:t>DM+</a:t>
            </a:r>
          </a:p>
          <a:p>
            <a:r>
              <a:rPr lang="en-US" altLang="ko-KR" dirty="0">
                <a:solidFill>
                  <a:srgbClr val="4B4F5A"/>
                </a:solidFill>
                <a:latin typeface="Lato Black" panose="020F0502020204030203" pitchFamily="34" charset="0"/>
              </a:rPr>
              <a:t>Alb 2.2</a:t>
            </a:r>
            <a:endParaRPr lang="ko-KR" altLang="en-US" dirty="0"/>
          </a:p>
        </p:txBody>
      </p:sp>
    </p:spTree>
    <p:extLst>
      <p:ext uri="{BB962C8B-B14F-4D97-AF65-F5344CB8AC3E}">
        <p14:creationId xmlns:p14="http://schemas.microsoft.com/office/powerpoint/2010/main" val="1515506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텍스트 개체 틀 11"/>
          <p:cNvSpPr>
            <a:spLocks noGrp="1"/>
          </p:cNvSpPr>
          <p:nvPr>
            <p:ph type="body" sz="quarter" idx="17"/>
          </p:nvPr>
        </p:nvSpPr>
        <p:spPr/>
        <p:txBody>
          <a:bodyPr/>
          <a:lstStyle/>
          <a:p>
            <a:r>
              <a:rPr lang="en-US" altLang="ko-KR" dirty="0"/>
              <a:t>02</a:t>
            </a:r>
            <a:endParaRPr lang="ko-KR" altLang="en-US" dirty="0"/>
          </a:p>
          <a:p>
            <a:endParaRPr lang="ko-KR" altLang="en-US" dirty="0"/>
          </a:p>
        </p:txBody>
      </p:sp>
      <p:sp>
        <p:nvSpPr>
          <p:cNvPr id="13" name="텍스트 개체 틀 12"/>
          <p:cNvSpPr>
            <a:spLocks noGrp="1"/>
          </p:cNvSpPr>
          <p:nvPr>
            <p:ph type="body" sz="quarter" idx="18"/>
          </p:nvPr>
        </p:nvSpPr>
        <p:spPr>
          <a:xfrm>
            <a:off x="811508" y="568692"/>
            <a:ext cx="6229372" cy="446199"/>
          </a:xfrm>
        </p:spPr>
        <p:txBody>
          <a:bodyPr>
            <a:normAutofit/>
          </a:bodyPr>
          <a:lstStyle/>
          <a:p>
            <a:r>
              <a:rPr lang="en-US" altLang="ko-KR" dirty="0"/>
              <a:t>Target Dry Weight</a:t>
            </a:r>
            <a:endParaRPr lang="ko-KR" altLang="en-US" dirty="0"/>
          </a:p>
        </p:txBody>
      </p:sp>
      <p:sp>
        <p:nvSpPr>
          <p:cNvPr id="11" name="텍스트 개체 틀 10"/>
          <p:cNvSpPr>
            <a:spLocks noGrp="1"/>
          </p:cNvSpPr>
          <p:nvPr>
            <p:ph type="body" sz="quarter" idx="12"/>
          </p:nvPr>
        </p:nvSpPr>
        <p:spPr>
          <a:xfrm>
            <a:off x="811508" y="975511"/>
            <a:ext cx="2454836" cy="313932"/>
          </a:xfrm>
        </p:spPr>
        <p:txBody>
          <a:bodyPr/>
          <a:lstStyle/>
          <a:p>
            <a:r>
              <a:rPr lang="en-US" altLang="ko-KR" dirty="0">
                <a:ln>
                  <a:solidFill>
                    <a:srgbClr val="7E8080">
                      <a:alpha val="0"/>
                    </a:srgbClr>
                  </a:solidFill>
                </a:ln>
                <a:latin typeface="Lato" panose="020F0502020204030203" pitchFamily="34" charset="0"/>
                <a:ea typeface="에스코어 드림 5 Medium" panose="020B0503030302020204" pitchFamily="34" charset="-127"/>
                <a:cs typeface="Lato Black" panose="020F0502020204030203" pitchFamily="34" charset="0"/>
              </a:rPr>
              <a:t>Water Control</a:t>
            </a:r>
          </a:p>
        </p:txBody>
      </p:sp>
      <p:pic>
        <p:nvPicPr>
          <p:cNvPr id="2" name="그림 1"/>
          <p:cNvPicPr>
            <a:picLocks noChangeAspect="1"/>
          </p:cNvPicPr>
          <p:nvPr/>
        </p:nvPicPr>
        <p:blipFill rotWithShape="1">
          <a:blip r:embed="rId3" cstate="print">
            <a:extLst>
              <a:ext uri="{28A0092B-C50C-407E-A947-70E740481C1C}">
                <a14:useLocalDpi xmlns:a14="http://schemas.microsoft.com/office/drawing/2010/main" val="0"/>
              </a:ext>
            </a:extLst>
          </a:blip>
          <a:srcRect l="64426" t="33236" r="2913" b="48213"/>
          <a:stretch/>
        </p:blipFill>
        <p:spPr>
          <a:xfrm>
            <a:off x="4166365" y="2468943"/>
            <a:ext cx="3797531" cy="3038026"/>
          </a:xfrm>
          <a:prstGeom prst="rect">
            <a:avLst/>
          </a:prstGeom>
        </p:spPr>
      </p:pic>
      <p:pic>
        <p:nvPicPr>
          <p:cNvPr id="3" name="그림 2"/>
          <p:cNvPicPr>
            <a:picLocks noChangeAspect="1"/>
          </p:cNvPicPr>
          <p:nvPr/>
        </p:nvPicPr>
        <p:blipFill rotWithShape="1">
          <a:blip r:embed="rId4" cstate="print">
            <a:extLst>
              <a:ext uri="{28A0092B-C50C-407E-A947-70E740481C1C}">
                <a14:useLocalDpi xmlns:a14="http://schemas.microsoft.com/office/drawing/2010/main" val="0"/>
              </a:ext>
            </a:extLst>
          </a:blip>
          <a:srcRect l="63609" t="33816" r="1279" b="48599"/>
          <a:stretch/>
        </p:blipFill>
        <p:spPr>
          <a:xfrm>
            <a:off x="7947358" y="2627175"/>
            <a:ext cx="4082343" cy="2879794"/>
          </a:xfrm>
          <a:prstGeom prst="rect">
            <a:avLst/>
          </a:prstGeom>
        </p:spPr>
      </p:pic>
      <p:pic>
        <p:nvPicPr>
          <p:cNvPr id="4" name="그림 3"/>
          <p:cNvPicPr>
            <a:picLocks noChangeAspect="1"/>
          </p:cNvPicPr>
          <p:nvPr/>
        </p:nvPicPr>
        <p:blipFill rotWithShape="1">
          <a:blip r:embed="rId5" cstate="print">
            <a:extLst>
              <a:ext uri="{28A0092B-C50C-407E-A947-70E740481C1C}">
                <a14:useLocalDpi xmlns:a14="http://schemas.microsoft.com/office/drawing/2010/main" val="0"/>
              </a:ext>
            </a:extLst>
          </a:blip>
          <a:srcRect l="63119" t="33430" r="3131" b="48792"/>
          <a:stretch/>
        </p:blipFill>
        <p:spPr>
          <a:xfrm>
            <a:off x="162299" y="2468943"/>
            <a:ext cx="3924114" cy="2911440"/>
          </a:xfrm>
          <a:prstGeom prst="rect">
            <a:avLst/>
          </a:prstGeom>
        </p:spPr>
      </p:pic>
      <p:sp>
        <p:nvSpPr>
          <p:cNvPr id="5" name="직사각형 4"/>
          <p:cNvSpPr/>
          <p:nvPr/>
        </p:nvSpPr>
        <p:spPr>
          <a:xfrm>
            <a:off x="1662530" y="1556027"/>
            <a:ext cx="923651" cy="646331"/>
          </a:xfrm>
          <a:prstGeom prst="rect">
            <a:avLst/>
          </a:prstGeom>
        </p:spPr>
        <p:txBody>
          <a:bodyPr wrap="none">
            <a:spAutoFit/>
          </a:bodyPr>
          <a:lstStyle/>
          <a:p>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DM +</a:t>
            </a:r>
          </a:p>
          <a:p>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Alb 4.2</a:t>
            </a:r>
            <a:endParaRPr lang="ko-KR" altLang="en-US" dirty="0"/>
          </a:p>
        </p:txBody>
      </p:sp>
      <p:sp>
        <p:nvSpPr>
          <p:cNvPr id="28" name="직사각형 27"/>
          <p:cNvSpPr/>
          <p:nvPr/>
        </p:nvSpPr>
        <p:spPr>
          <a:xfrm>
            <a:off x="5890242" y="1556027"/>
            <a:ext cx="349776" cy="369332"/>
          </a:xfrm>
          <a:prstGeom prst="rect">
            <a:avLst/>
          </a:prstGeom>
        </p:spPr>
        <p:txBody>
          <a:bodyPr wrap="none">
            <a:spAutoFit/>
          </a:bodyPr>
          <a:lstStyle/>
          <a:p>
            <a:r>
              <a:rPr lang="en-US" altLang="ko-KR" dirty="0">
                <a:solidFill>
                  <a:srgbClr val="4B4F5A"/>
                </a:solidFill>
                <a:latin typeface="Lato Black" panose="020F0502020204030203" pitchFamily="34" charset="0"/>
                <a:ea typeface="Lato Black" panose="020F0502020204030203" pitchFamily="34" charset="0"/>
                <a:cs typeface="Lato Black" panose="020F0502020204030203" pitchFamily="34" charset="0"/>
              </a:rPr>
              <a:t>X</a:t>
            </a:r>
            <a:endParaRPr lang="ko-KR" altLang="en-US" dirty="0"/>
          </a:p>
        </p:txBody>
      </p:sp>
      <p:sp>
        <p:nvSpPr>
          <p:cNvPr id="29" name="직사각형 28"/>
          <p:cNvSpPr/>
          <p:nvPr/>
        </p:nvSpPr>
        <p:spPr>
          <a:xfrm>
            <a:off x="9612972" y="1573937"/>
            <a:ext cx="923651" cy="646331"/>
          </a:xfrm>
          <a:prstGeom prst="rect">
            <a:avLst/>
          </a:prstGeom>
        </p:spPr>
        <p:txBody>
          <a:bodyPr wrap="none">
            <a:spAutoFit/>
          </a:bodyPr>
          <a:lstStyle/>
          <a:p>
            <a:r>
              <a:rPr lang="en-US" altLang="ko-KR" dirty="0">
                <a:solidFill>
                  <a:srgbClr val="4B4F5A"/>
                </a:solidFill>
                <a:latin typeface="Lato Black" panose="020F0502020204030203" pitchFamily="34" charset="0"/>
              </a:rPr>
              <a:t>DM+</a:t>
            </a:r>
          </a:p>
          <a:p>
            <a:r>
              <a:rPr lang="en-US" altLang="ko-KR" dirty="0">
                <a:solidFill>
                  <a:srgbClr val="4B4F5A"/>
                </a:solidFill>
                <a:latin typeface="Lato Black" panose="020F0502020204030203" pitchFamily="34" charset="0"/>
              </a:rPr>
              <a:t>Alb 2.2</a:t>
            </a:r>
            <a:endParaRPr lang="ko-KR" altLang="en-US" dirty="0"/>
          </a:p>
        </p:txBody>
      </p:sp>
      <p:sp>
        <p:nvSpPr>
          <p:cNvPr id="6" name="직사각형 5"/>
          <p:cNvSpPr/>
          <p:nvPr/>
        </p:nvSpPr>
        <p:spPr>
          <a:xfrm>
            <a:off x="356235" y="3193774"/>
            <a:ext cx="3274861" cy="238539"/>
          </a:xfrm>
          <a:prstGeom prst="rect">
            <a:avLst/>
          </a:prstGeom>
          <a:solidFill>
            <a:schemeClr val="accent4">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p:cNvSpPr/>
          <p:nvPr/>
        </p:nvSpPr>
        <p:spPr>
          <a:xfrm>
            <a:off x="4253845" y="2902227"/>
            <a:ext cx="3274861" cy="238539"/>
          </a:xfrm>
          <a:prstGeom prst="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p:cNvSpPr/>
          <p:nvPr/>
        </p:nvSpPr>
        <p:spPr>
          <a:xfrm>
            <a:off x="8217716" y="3432313"/>
            <a:ext cx="3274861" cy="23853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220168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7" y="222320"/>
            <a:ext cx="5213504"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grpSp>
        <p:nvGrpSpPr>
          <p:cNvPr id="3" name="그룹 2"/>
          <p:cNvGrpSpPr/>
          <p:nvPr/>
        </p:nvGrpSpPr>
        <p:grpSpPr>
          <a:xfrm>
            <a:off x="1003233" y="2164606"/>
            <a:ext cx="4272851" cy="3819797"/>
            <a:chOff x="728993" y="2264025"/>
            <a:chExt cx="4476432" cy="4001792"/>
          </a:xfrm>
        </p:grpSpPr>
        <p:pic>
          <p:nvPicPr>
            <p:cNvPr id="21" name="Picture 7"/>
            <p:cNvPicPr>
              <a:picLocks noChangeAspect="1" noChangeArrowheads="1"/>
            </p:cNvPicPr>
            <p:nvPr/>
          </p:nvPicPr>
          <p:blipFill>
            <a:blip r:embed="rId3" cstate="print"/>
            <a:srcRect/>
            <a:stretch>
              <a:fillRect/>
            </a:stretch>
          </p:blipFill>
          <p:spPr bwMode="auto">
            <a:xfrm>
              <a:off x="728993" y="2264025"/>
              <a:ext cx="4476432" cy="1246791"/>
            </a:xfrm>
            <a:prstGeom prst="rect">
              <a:avLst/>
            </a:prstGeom>
            <a:noFill/>
            <a:ln w="9525">
              <a:noFill/>
              <a:miter lim="800000"/>
              <a:headEnd/>
              <a:tailEnd/>
            </a:ln>
            <a:effectLst/>
          </p:spPr>
        </p:pic>
        <p:pic>
          <p:nvPicPr>
            <p:cNvPr id="22" name="Picture 8"/>
            <p:cNvPicPr>
              <a:picLocks noChangeAspect="1" noChangeArrowheads="1"/>
            </p:cNvPicPr>
            <p:nvPr/>
          </p:nvPicPr>
          <p:blipFill>
            <a:blip r:embed="rId4" cstate="print"/>
            <a:srcRect/>
            <a:stretch>
              <a:fillRect/>
            </a:stretch>
          </p:blipFill>
          <p:spPr bwMode="auto">
            <a:xfrm>
              <a:off x="728993" y="3510816"/>
              <a:ext cx="4475055" cy="2755001"/>
            </a:xfrm>
            <a:prstGeom prst="rect">
              <a:avLst/>
            </a:prstGeom>
            <a:noFill/>
            <a:ln w="9525">
              <a:noFill/>
              <a:miter lim="800000"/>
              <a:headEnd/>
              <a:tailEnd/>
            </a:ln>
            <a:effectLst/>
          </p:spPr>
        </p:pic>
      </p:grpSp>
      <p:grpSp>
        <p:nvGrpSpPr>
          <p:cNvPr id="23" name="그룹 22">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24"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5" name="타원 24">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6" name="직사각형 25"/>
          <p:cNvSpPr/>
          <p:nvPr/>
        </p:nvSpPr>
        <p:spPr>
          <a:xfrm>
            <a:off x="1241910" y="1193463"/>
            <a:ext cx="10569719" cy="366895"/>
          </a:xfrm>
          <a:prstGeom prst="rect">
            <a:avLst/>
          </a:prstGeom>
        </p:spPr>
        <p:txBody>
          <a:bodyPr wrap="square">
            <a:spAutoFit/>
          </a:bodyPr>
          <a:lstStyle/>
          <a:p>
            <a:pPr>
              <a:lnSpc>
                <a:spcPct val="125000"/>
              </a:lnSpc>
            </a:pPr>
            <a:r>
              <a:rPr lang="en-US" altLang="ko-KR" sz="1600">
                <a:solidFill>
                  <a:srgbClr val="A0112D"/>
                </a:solidFill>
                <a:latin typeface="Lato Black" panose="020F0502020204030203" pitchFamily="34" charset="0"/>
                <a:ea typeface="Lato Black" panose="020F0502020204030203" pitchFamily="34" charset="0"/>
                <a:cs typeface="Lato Black" panose="020F0502020204030203" pitchFamily="34" charset="0"/>
              </a:rPr>
              <a:t>For dialysis patients, maintaining healthy vein is crucial.  Early detection is particularly important.</a:t>
            </a:r>
            <a:endPar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7" name="TextBox 26"/>
          <p:cNvSpPr txBox="1"/>
          <p:nvPr/>
        </p:nvSpPr>
        <p:spPr>
          <a:xfrm>
            <a:off x="6327238" y="3338012"/>
            <a:ext cx="5406539" cy="1200329"/>
          </a:xfrm>
          <a:prstGeom prst="rect">
            <a:avLst/>
          </a:prstGeom>
          <a:noFill/>
        </p:spPr>
        <p:txBody>
          <a:bodyPr wrap="square" rtlCol="0">
            <a:spAutoFit/>
          </a:bodyPr>
          <a:lstStyle/>
          <a:p>
            <a:pPr algn="just">
              <a:lnSpc>
                <a:spcPct val="150000"/>
              </a:lnSpc>
            </a:pPr>
            <a:r>
              <a:rPr lang="en-US" altLang="ko-KR" sz="1200" dirty="0">
                <a:latin typeface="Lato Black" panose="020F0502020204030203" pitchFamily="34" charset="0"/>
                <a:ea typeface="Lato Black" panose="020F0502020204030203" pitchFamily="34" charset="0"/>
                <a:cs typeface="Lato Black" panose="020F0502020204030203" pitchFamily="34" charset="0"/>
              </a:rPr>
              <a:t>Early detection of blood clot could prevent further problems, but failed to detect in early stages, it could cause blood vessel occlusion so that </a:t>
            </a:r>
            <a:r>
              <a:rPr lang="en-US" altLang="ko-KR" sz="12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it needs to be cut out inserted artificial blood vessel which will them need large scale surgery.</a:t>
            </a:r>
          </a:p>
        </p:txBody>
      </p:sp>
      <p:grpSp>
        <p:nvGrpSpPr>
          <p:cNvPr id="28" name="그룹 27">
            <a:extLst>
              <a:ext uri="{FF2B5EF4-FFF2-40B4-BE49-F238E27FC236}">
                <a16:creationId xmlns:a16="http://schemas.microsoft.com/office/drawing/2014/main" id="{2F1A05A6-8D4D-A99A-FADA-5533987FA333}"/>
              </a:ext>
            </a:extLst>
          </p:cNvPr>
          <p:cNvGrpSpPr/>
          <p:nvPr/>
        </p:nvGrpSpPr>
        <p:grpSpPr>
          <a:xfrm rot="16200000">
            <a:off x="5614164" y="3769149"/>
            <a:ext cx="373680" cy="338057"/>
            <a:chOff x="2061642" y="2996194"/>
            <a:chExt cx="369826" cy="334570"/>
          </a:xfrm>
        </p:grpSpPr>
        <p:sp>
          <p:nvSpPr>
            <p:cNvPr id="29"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0"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34" name="TextBox 33">
            <a:extLst>
              <a:ext uri="{FF2B5EF4-FFF2-40B4-BE49-F238E27FC236}">
                <a16:creationId xmlns:a16="http://schemas.microsoft.com/office/drawing/2014/main" id="{B8271BDF-AC03-4748-8C05-1D490119D647}"/>
              </a:ext>
            </a:extLst>
          </p:cNvPr>
          <p:cNvSpPr txBox="1"/>
          <p:nvPr/>
        </p:nvSpPr>
        <p:spPr>
          <a:xfrm>
            <a:off x="935857" y="65518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Circulation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5" name="모서리가 둥근 직사각형 34"/>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6" name="타원 3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37" name="TextBox 3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19062509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5277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52" name="TextBox 51">
            <a:extLst>
              <a:ext uri="{FF2B5EF4-FFF2-40B4-BE49-F238E27FC236}">
                <a16:creationId xmlns:a16="http://schemas.microsoft.com/office/drawing/2014/main" id="{B8271BDF-AC03-4748-8C05-1D490119D647}"/>
              </a:ext>
            </a:extLst>
          </p:cNvPr>
          <p:cNvSpPr txBox="1"/>
          <p:nvPr/>
        </p:nvSpPr>
        <p:spPr>
          <a:xfrm>
            <a:off x="935857" y="65518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Circulation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12" name="図 37">
            <a:extLst>
              <a:ext uri="{FF2B5EF4-FFF2-40B4-BE49-F238E27FC236}">
                <a16:creationId xmlns:a16="http://schemas.microsoft.com/office/drawing/2014/main" id="{A1463BBA-0AC1-4E0D-9124-0A6721C08D65}"/>
              </a:ext>
            </a:extLst>
          </p:cNvPr>
          <p:cNvPicPr>
            <a:picLocks noChangeAspect="1"/>
          </p:cNvPicPr>
          <p:nvPr/>
        </p:nvPicPr>
        <p:blipFill>
          <a:blip r:embed="rId3"/>
          <a:stretch>
            <a:fillRect/>
          </a:stretch>
        </p:blipFill>
        <p:spPr>
          <a:xfrm>
            <a:off x="1387480" y="2788852"/>
            <a:ext cx="9415823" cy="3106840"/>
          </a:xfrm>
          <a:prstGeom prst="rect">
            <a:avLst/>
          </a:prstGeom>
        </p:spPr>
      </p:pic>
      <p:pic>
        <p:nvPicPr>
          <p:cNvPr id="14" name="Picture 3">
            <a:extLst>
              <a:ext uri="{FF2B5EF4-FFF2-40B4-BE49-F238E27FC236}">
                <a16:creationId xmlns:a16="http://schemas.microsoft.com/office/drawing/2014/main" id="{9D92B1DA-82B2-411D-8B07-F2971BB7CF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6236" y="1529788"/>
            <a:ext cx="7368517" cy="5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4">
            <a:extLst>
              <a:ext uri="{FF2B5EF4-FFF2-40B4-BE49-F238E27FC236}">
                <a16:creationId xmlns:a16="http://schemas.microsoft.com/office/drawing/2014/main" id="{9E9F4C5D-D1B0-4F48-8E4F-BBC7B83FE0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6236" y="2149179"/>
            <a:ext cx="5372765" cy="58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모서리가 둥근 직사각형 16"/>
          <p:cNvSpPr/>
          <p:nvPr/>
        </p:nvSpPr>
        <p:spPr>
          <a:xfrm>
            <a:off x="7090205" y="2951164"/>
            <a:ext cx="4106617" cy="1501208"/>
          </a:xfrm>
          <a:prstGeom prst="roundRect">
            <a:avLst>
              <a:gd name="adj" fmla="val 3145"/>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6" name="正方形/長方形 38">
            <a:extLst>
              <a:ext uri="{FF2B5EF4-FFF2-40B4-BE49-F238E27FC236}">
                <a16:creationId xmlns:a16="http://schemas.microsoft.com/office/drawing/2014/main" id="{60CA6675-EA1D-42E3-8856-C7B7DA94D792}"/>
              </a:ext>
            </a:extLst>
          </p:cNvPr>
          <p:cNvSpPr/>
          <p:nvPr/>
        </p:nvSpPr>
        <p:spPr>
          <a:xfrm>
            <a:off x="7194044" y="3094427"/>
            <a:ext cx="4663256" cy="1261884"/>
          </a:xfrm>
          <a:prstGeom prst="rect">
            <a:avLst/>
          </a:prstGeom>
          <a:noFill/>
        </p:spPr>
        <p:txBody>
          <a:bodyPr wrap="square">
            <a:spAutoFit/>
          </a:bodyPr>
          <a:lstStyle/>
          <a:p>
            <a:pPr latinLnBrk="1"/>
            <a:r>
              <a:rPr lang="en-US" altLang="ja-JP" sz="1600" u="sng" dirty="0">
                <a:solidFill>
                  <a:schemeClr val="bg1"/>
                </a:solidFill>
                <a:latin typeface="Lato Black" panose="020F0502020204030203" pitchFamily="34" charset="0"/>
                <a:ea typeface="Lato Black" panose="020F0502020204030203" pitchFamily="34" charset="0"/>
                <a:cs typeface="Lato Black" panose="020F0502020204030203" pitchFamily="34" charset="0"/>
              </a:rPr>
              <a:t>Dialysis access point</a:t>
            </a:r>
          </a:p>
          <a:p>
            <a:pPr latinLnBrk="1"/>
            <a:endParaRPr lang="en-US" altLang="ja-JP" sz="1200">
              <a:solidFill>
                <a:schemeClr val="bg1"/>
              </a:solidFill>
              <a:latin typeface="Lato Black" panose="020F0502020204030203" pitchFamily="34" charset="0"/>
              <a:ea typeface="Lato Black" panose="020F0502020204030203" pitchFamily="34" charset="0"/>
              <a:cs typeface="Lato Black" panose="020F0502020204030203" pitchFamily="34" charset="0"/>
            </a:endParaRPr>
          </a:p>
          <a:p>
            <a:pPr latinLnBrk="1"/>
            <a:r>
              <a:rPr lang="en-US" altLang="ja-JP" sz="1200">
                <a:solidFill>
                  <a:schemeClr val="bg1"/>
                </a:solidFill>
                <a:latin typeface="Lato Black" panose="020F0502020204030203" pitchFamily="34" charset="0"/>
                <a:ea typeface="Lato Black" panose="020F0502020204030203" pitchFamily="34" charset="0"/>
                <a:cs typeface="Lato Black" panose="020F0502020204030203" pitchFamily="34" charset="0"/>
              </a:rPr>
              <a:t>①</a:t>
            </a:r>
            <a:r>
              <a:rPr lang="ja-JP" altLang="en-US" sz="1200">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 </a:t>
            </a:r>
            <a:r>
              <a:rPr lang="en-US" altLang="ja-JP" sz="1200" dirty="0">
                <a:solidFill>
                  <a:schemeClr val="bg1"/>
                </a:solidFill>
                <a:latin typeface="Lato Black" panose="020F0502020204030203" pitchFamily="34" charset="0"/>
                <a:ea typeface="Lato Black" panose="020F0502020204030203" pitchFamily="34" charset="0"/>
                <a:cs typeface="Lato Black" panose="020F0502020204030203" pitchFamily="34" charset="0"/>
              </a:rPr>
              <a:t>TBW increases by ECW over</a:t>
            </a:r>
          </a:p>
          <a:p>
            <a:pPr latinLnBrk="1"/>
            <a:r>
              <a:rPr lang="en-US" altLang="ja-JP" sz="1200">
                <a:solidFill>
                  <a:schemeClr val="bg1"/>
                </a:solidFill>
                <a:latin typeface="Lato Black" panose="020F0502020204030203" pitchFamily="34" charset="0"/>
                <a:ea typeface="Lato Black" panose="020F0502020204030203" pitchFamily="34" charset="0"/>
                <a:cs typeface="Lato Black" panose="020F0502020204030203" pitchFamily="34" charset="0"/>
              </a:rPr>
              <a:t>② ECW/TBW</a:t>
            </a:r>
            <a:r>
              <a:rPr lang="ko-KR" altLang="en-US" sz="1200">
                <a:solidFill>
                  <a:schemeClr val="bg1"/>
                </a:solidFill>
                <a:latin typeface="Lato Black" panose="020F0502020204030203" pitchFamily="34" charset="0"/>
                <a:ea typeface="에스코어 드림 5 Medium" panose="020B0503030302020204" pitchFamily="34" charset="-127"/>
                <a:cs typeface="Lato Black" panose="020F0502020204030203" pitchFamily="34" charset="0"/>
              </a:rPr>
              <a:t> </a:t>
            </a:r>
            <a:r>
              <a:rPr lang="en-US" altLang="ko-KR" sz="1200" dirty="0">
                <a:solidFill>
                  <a:schemeClr val="bg1"/>
                </a:solidFill>
                <a:latin typeface="Lato Black" panose="020F0502020204030203" pitchFamily="34" charset="0"/>
                <a:ea typeface="Lato Black" panose="020F0502020204030203" pitchFamily="34" charset="0"/>
                <a:cs typeface="Lato Black" panose="020F0502020204030203" pitchFamily="34" charset="0"/>
              </a:rPr>
              <a:t>increased</a:t>
            </a:r>
          </a:p>
          <a:p>
            <a:pPr latinLnBrk="1"/>
            <a:r>
              <a:rPr lang="en-US" altLang="ja-JP" sz="1200">
                <a:solidFill>
                  <a:schemeClr val="bg1"/>
                </a:solidFill>
                <a:latin typeface="Lato Black" panose="020F0502020204030203" pitchFamily="34" charset="0"/>
                <a:ea typeface="Lato Black" panose="020F0502020204030203" pitchFamily="34" charset="0"/>
                <a:cs typeface="Lato Black" panose="020F0502020204030203" pitchFamily="34" charset="0"/>
              </a:rPr>
              <a:t>③ Stenosis </a:t>
            </a:r>
            <a:r>
              <a:rPr lang="en-US" altLang="ja-JP" sz="1200" dirty="0">
                <a:solidFill>
                  <a:schemeClr val="bg1"/>
                </a:solidFill>
                <a:latin typeface="Lato Black" panose="020F0502020204030203" pitchFamily="34" charset="0"/>
                <a:ea typeface="Lato Black" panose="020F0502020204030203" pitchFamily="34" charset="0"/>
                <a:cs typeface="Lato Black" panose="020F0502020204030203" pitchFamily="34" charset="0"/>
              </a:rPr>
              <a:t>occurs  when </a:t>
            </a:r>
            <a:r>
              <a:rPr lang="en-US" altLang="ja-JP" sz="1200">
                <a:solidFill>
                  <a:schemeClr val="bg1"/>
                </a:solidFill>
                <a:latin typeface="Lato Black" panose="020F0502020204030203" pitchFamily="34" charset="0"/>
                <a:ea typeface="Lato Black" panose="020F0502020204030203" pitchFamily="34" charset="0"/>
                <a:cs typeface="Lato Black" panose="020F0502020204030203" pitchFamily="34" charset="0"/>
              </a:rPr>
              <a:t>fistula </a:t>
            </a:r>
            <a:r>
              <a:rPr lang="en-US" altLang="ko-KR" sz="1200">
                <a:solidFill>
                  <a:schemeClr val="bg1"/>
                </a:solidFill>
                <a:latin typeface="Lato Black" panose="020F0502020204030203" pitchFamily="34" charset="0"/>
                <a:ea typeface="Lato Black" panose="020F0502020204030203" pitchFamily="34" charset="0"/>
                <a:cs typeface="Lato Black" panose="020F0502020204030203" pitchFamily="34" charset="0"/>
              </a:rPr>
              <a:t>exists</a:t>
            </a:r>
          </a:p>
          <a:p>
            <a:pPr latinLnBrk="1"/>
            <a:r>
              <a:rPr lang="en-US" altLang="ko-KR" sz="1200">
                <a:solidFill>
                  <a:schemeClr val="bg1"/>
                </a:solidFill>
                <a:latin typeface="Lato Black" panose="020F0502020204030203" pitchFamily="34" charset="0"/>
                <a:ea typeface="Lato Black" panose="020F0502020204030203" pitchFamily="34" charset="0"/>
                <a:cs typeface="Lato Black" panose="020F0502020204030203" pitchFamily="34" charset="0"/>
              </a:rPr>
              <a:t>    ; fluids remained </a:t>
            </a:r>
            <a:r>
              <a:rPr lang="en-US" altLang="ko-KR" sz="1200" dirty="0">
                <a:solidFill>
                  <a:schemeClr val="bg1"/>
                </a:solidFill>
                <a:latin typeface="Lato Black" panose="020F0502020204030203" pitchFamily="34" charset="0"/>
                <a:ea typeface="Lato Black" panose="020F0502020204030203" pitchFamily="34" charset="0"/>
                <a:cs typeface="Lato Black" panose="020F0502020204030203" pitchFamily="34" charset="0"/>
              </a:rPr>
              <a:t>on the part of stenosis</a:t>
            </a:r>
            <a:endParaRPr lang="en-US" altLang="ja-JP" sz="1200"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grpSp>
        <p:nvGrpSpPr>
          <p:cNvPr id="18" name="그룹 17">
            <a:extLst>
              <a:ext uri="{FF2B5EF4-FFF2-40B4-BE49-F238E27FC236}">
                <a16:creationId xmlns:a16="http://schemas.microsoft.com/office/drawing/2014/main" id="{2F1A05A6-8D4D-A99A-FADA-5533987FA333}"/>
              </a:ext>
            </a:extLst>
          </p:cNvPr>
          <p:cNvGrpSpPr/>
          <p:nvPr/>
        </p:nvGrpSpPr>
        <p:grpSpPr>
          <a:xfrm rot="16200000">
            <a:off x="6180999" y="3598460"/>
            <a:ext cx="373680" cy="338057"/>
            <a:chOff x="2061642" y="2996194"/>
            <a:chExt cx="369826" cy="334570"/>
          </a:xfrm>
        </p:grpSpPr>
        <p:sp>
          <p:nvSpPr>
            <p:cNvPr id="19"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0"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2" name="직사각형 1"/>
          <p:cNvSpPr/>
          <p:nvPr/>
        </p:nvSpPr>
        <p:spPr>
          <a:xfrm>
            <a:off x="8905026" y="5950282"/>
            <a:ext cx="2058577" cy="215444"/>
          </a:xfrm>
          <a:prstGeom prst="rect">
            <a:avLst/>
          </a:prstGeom>
        </p:spPr>
        <p:txBody>
          <a:bodyPr wrap="none">
            <a:spAutoFit/>
          </a:bodyPr>
          <a:lstStyle/>
          <a:p>
            <a:r>
              <a:rPr lang="en-US" altLang="ja-JP" sz="800" i="1" dirty="0">
                <a:latin typeface="Lato Black" panose="020F0502020204030203" pitchFamily="34" charset="0"/>
                <a:ea typeface="Lato Black" panose="020F0502020204030203" pitchFamily="34" charset="0"/>
                <a:cs typeface="Lato Black" panose="020F0502020204030203" pitchFamily="34" charset="0"/>
              </a:rPr>
              <a:t>Nephrol Dial Transplant 2011;26</a:t>
            </a:r>
            <a:r>
              <a:rPr lang="de-DE" altLang="ja-JP" sz="800" i="1" dirty="0">
                <a:latin typeface="Lato Black" panose="020F0502020204030203" pitchFamily="34" charset="0"/>
                <a:ea typeface="Lato Black" panose="020F0502020204030203" pitchFamily="34" charset="0"/>
                <a:cs typeface="Lato Black" panose="020F0502020204030203" pitchFamily="34" charset="0"/>
              </a:rPr>
              <a:t>:227-231</a:t>
            </a:r>
            <a:endParaRPr lang="ja-JP" altLang="en-US" sz="800" i="1" dirty="0">
              <a:latin typeface="Lato Black" panose="020F0502020204030203" pitchFamily="34" charset="0"/>
              <a:ea typeface="에스코어 드림 5 Medium" panose="020B0503030302020204" pitchFamily="34" charset="-127"/>
              <a:cs typeface="Lato Black" panose="020F0502020204030203" pitchFamily="34" charset="0"/>
            </a:endParaRPr>
          </a:p>
        </p:txBody>
      </p:sp>
      <p:sp>
        <p:nvSpPr>
          <p:cNvPr id="24" name="모서리가 둥근 직사각형 23"/>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6" name="타원 2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27" name="TextBox 2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3036309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7" y="222320"/>
            <a:ext cx="5222938"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grpSp>
        <p:nvGrpSpPr>
          <p:cNvPr id="23" name="그룹 22">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24"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5" name="타원 24">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6" name="직사각형 25"/>
          <p:cNvSpPr/>
          <p:nvPr/>
        </p:nvSpPr>
        <p:spPr>
          <a:xfrm>
            <a:off x="1241910" y="1221985"/>
            <a:ext cx="10569719" cy="338554"/>
          </a:xfrm>
          <a:prstGeom prst="rect">
            <a:avLst/>
          </a:prstGeom>
        </p:spPr>
        <p:txBody>
          <a:bodyPr wrap="square">
            <a:spAutoFit/>
          </a:bodyPr>
          <a:lstStyle/>
          <a:p>
            <a:r>
              <a:rPr lang="en-US" altLang="ko-KR" sz="1600">
                <a:solidFill>
                  <a:srgbClr val="A0112D"/>
                </a:solidFill>
                <a:latin typeface="Lato Black" panose="020F0502020204030203" pitchFamily="34" charset="0"/>
                <a:ea typeface="Lato Black" panose="020F0502020204030203" pitchFamily="34" charset="0"/>
                <a:cs typeface="Lato Black" panose="020F0502020204030203" pitchFamily="34" charset="0"/>
              </a:rPr>
              <a:t>Proof that InBody results can be used for central early detection.</a:t>
            </a:r>
            <a:endParaRPr lang="ko-KR" altLang="en-US" sz="160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endParaRPr>
          </a:p>
        </p:txBody>
      </p:sp>
      <p:grpSp>
        <p:nvGrpSpPr>
          <p:cNvPr id="20" name="그룹 19"/>
          <p:cNvGrpSpPr/>
          <p:nvPr/>
        </p:nvGrpSpPr>
        <p:grpSpPr>
          <a:xfrm>
            <a:off x="2264393" y="1874566"/>
            <a:ext cx="7920880" cy="4886678"/>
            <a:chOff x="467544" y="1556792"/>
            <a:chExt cx="7920880" cy="4886678"/>
          </a:xfrm>
        </p:grpSpPr>
        <p:pic>
          <p:nvPicPr>
            <p:cNvPr id="31" name="Picture 2">
              <a:extLst>
                <a:ext uri="{FF2B5EF4-FFF2-40B4-BE49-F238E27FC236}">
                  <a16:creationId xmlns:a16="http://schemas.microsoft.com/office/drawing/2014/main" id="{041C1505-5944-4C5A-AC7D-F7B6ECAF387D}"/>
                </a:ext>
              </a:extLst>
            </p:cNvPr>
            <p:cNvPicPr>
              <a:picLocks noChangeAspect="1" noChangeArrowheads="1"/>
            </p:cNvPicPr>
            <p:nvPr/>
          </p:nvPicPr>
          <p:blipFill>
            <a:blip r:embed="rId3" cstate="print"/>
            <a:srcRect l="6250" t="31121" r="25000" b="18249"/>
            <a:stretch>
              <a:fillRect/>
            </a:stretch>
          </p:blipFill>
          <p:spPr bwMode="auto">
            <a:xfrm>
              <a:off x="467544" y="3244567"/>
              <a:ext cx="7920880" cy="3198903"/>
            </a:xfrm>
            <a:prstGeom prst="rect">
              <a:avLst/>
            </a:prstGeom>
            <a:noFill/>
            <a:ln w="9525">
              <a:noFill/>
              <a:miter lim="800000"/>
              <a:headEnd/>
              <a:tailEnd/>
            </a:ln>
            <a:effectLst/>
          </p:spPr>
        </p:pic>
        <p:pic>
          <p:nvPicPr>
            <p:cNvPr id="32" name="Picture 4">
              <a:extLst>
                <a:ext uri="{FF2B5EF4-FFF2-40B4-BE49-F238E27FC236}">
                  <a16:creationId xmlns:a16="http://schemas.microsoft.com/office/drawing/2014/main" id="{63C5C82E-BC04-4003-BAF4-5CABC2DE752F}"/>
                </a:ext>
              </a:extLst>
            </p:cNvPr>
            <p:cNvPicPr>
              <a:picLocks noChangeAspect="1" noChangeArrowheads="1"/>
            </p:cNvPicPr>
            <p:nvPr/>
          </p:nvPicPr>
          <p:blipFill>
            <a:blip r:embed="rId4" cstate="print"/>
            <a:srcRect l="16667" t="13100" r="18750" b="34554"/>
            <a:stretch>
              <a:fillRect/>
            </a:stretch>
          </p:blipFill>
          <p:spPr bwMode="auto">
            <a:xfrm>
              <a:off x="602550" y="1556792"/>
              <a:ext cx="3393386" cy="1669327"/>
            </a:xfrm>
            <a:prstGeom prst="rect">
              <a:avLst/>
            </a:prstGeom>
            <a:noFill/>
            <a:ln w="9525">
              <a:noFill/>
              <a:miter lim="800000"/>
              <a:headEnd/>
              <a:tailEnd/>
            </a:ln>
            <a:effectLst/>
          </p:spPr>
        </p:pic>
        <p:pic>
          <p:nvPicPr>
            <p:cNvPr id="33" name="그림 24" descr="Cephalic Vein.jpg">
              <a:extLst>
                <a:ext uri="{FF2B5EF4-FFF2-40B4-BE49-F238E27FC236}">
                  <a16:creationId xmlns:a16="http://schemas.microsoft.com/office/drawing/2014/main" id="{705A122B-5BB3-43BF-BF70-81B8C2EC807C}"/>
                </a:ext>
              </a:extLst>
            </p:cNvPr>
            <p:cNvPicPr>
              <a:picLocks noChangeAspect="1"/>
            </p:cNvPicPr>
            <p:nvPr/>
          </p:nvPicPr>
          <p:blipFill>
            <a:blip r:embed="rId5" cstate="print"/>
            <a:srcRect l="20046" t="16134" b="8986"/>
            <a:stretch>
              <a:fillRect/>
            </a:stretch>
          </p:blipFill>
          <p:spPr>
            <a:xfrm>
              <a:off x="5364586" y="1556792"/>
              <a:ext cx="2951830" cy="2687518"/>
            </a:xfrm>
            <a:prstGeom prst="rect">
              <a:avLst/>
            </a:prstGeom>
          </p:spPr>
        </p:pic>
        <p:cxnSp>
          <p:nvCxnSpPr>
            <p:cNvPr id="34" name="직선 연결선 2">
              <a:extLst>
                <a:ext uri="{FF2B5EF4-FFF2-40B4-BE49-F238E27FC236}">
                  <a16:creationId xmlns:a16="http://schemas.microsoft.com/office/drawing/2014/main" id="{C4D552D6-113D-4AAF-BEB8-C3B53A50BFA4}"/>
                </a:ext>
              </a:extLst>
            </p:cNvPr>
            <p:cNvCxnSpPr/>
            <p:nvPr/>
          </p:nvCxnSpPr>
          <p:spPr>
            <a:xfrm>
              <a:off x="3335662" y="6334720"/>
              <a:ext cx="295183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직선 연결선 2">
              <a:extLst>
                <a:ext uri="{FF2B5EF4-FFF2-40B4-BE49-F238E27FC236}">
                  <a16:creationId xmlns:a16="http://schemas.microsoft.com/office/drawing/2014/main" id="{2ACEBFED-ED1A-4C63-AF2C-F9089CC3E90D}"/>
                </a:ext>
              </a:extLst>
            </p:cNvPr>
            <p:cNvCxnSpPr>
              <a:cxnSpLocks/>
            </p:cNvCxnSpPr>
            <p:nvPr/>
          </p:nvCxnSpPr>
          <p:spPr>
            <a:xfrm>
              <a:off x="4499992" y="5627340"/>
              <a:ext cx="2016224"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직선 연결선 2">
              <a:extLst>
                <a:ext uri="{FF2B5EF4-FFF2-40B4-BE49-F238E27FC236}">
                  <a16:creationId xmlns:a16="http://schemas.microsoft.com/office/drawing/2014/main" id="{32DC6BB7-7758-4622-BBDD-8DC7900142FF}"/>
                </a:ext>
              </a:extLst>
            </p:cNvPr>
            <p:cNvCxnSpPr>
              <a:cxnSpLocks/>
            </p:cNvCxnSpPr>
            <p:nvPr/>
          </p:nvCxnSpPr>
          <p:spPr>
            <a:xfrm>
              <a:off x="1475656" y="5877272"/>
              <a:ext cx="186000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7" name="正方形/長方形 5">
              <a:extLst>
                <a:ext uri="{FF2B5EF4-FFF2-40B4-BE49-F238E27FC236}">
                  <a16:creationId xmlns:a16="http://schemas.microsoft.com/office/drawing/2014/main" id="{82DF5F20-C450-47DE-A06A-01F0EF0C79A4}"/>
                </a:ext>
              </a:extLst>
            </p:cNvPr>
            <p:cNvSpPr/>
            <p:nvPr/>
          </p:nvSpPr>
          <p:spPr>
            <a:xfrm>
              <a:off x="5364586" y="4941168"/>
              <a:ext cx="2356867" cy="523220"/>
            </a:xfrm>
            <a:prstGeom prst="rect">
              <a:avLst/>
            </a:prstGeom>
          </p:spPr>
          <p:txBody>
            <a:bodyPr wrap="square">
              <a:spAutoFit/>
            </a:bodyPr>
            <a:lstStyle/>
            <a:p>
              <a:pPr algn="ctr"/>
              <a:r>
                <a:rPr lang="en-US" altLang="ko-KR" sz="14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1</a:t>
              </a:r>
              <a:r>
                <a:rPr lang="en-US" altLang="ko-KR" sz="1400" baseline="300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st</a:t>
              </a:r>
              <a:r>
                <a:rPr lang="en-US" altLang="ko-KR" sz="14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 Result </a:t>
              </a:r>
            </a:p>
            <a:p>
              <a:pPr algn="ctr"/>
              <a:r>
                <a:rPr lang="en-US" altLang="ko-KR" sz="14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0.020 difference</a:t>
              </a:r>
            </a:p>
          </p:txBody>
        </p:sp>
        <p:sp>
          <p:nvSpPr>
            <p:cNvPr id="38" name="正方形/長方形 38">
              <a:extLst>
                <a:ext uri="{FF2B5EF4-FFF2-40B4-BE49-F238E27FC236}">
                  <a16:creationId xmlns:a16="http://schemas.microsoft.com/office/drawing/2014/main" id="{90DF02A4-A035-48AB-8107-114167068F6D}"/>
                </a:ext>
              </a:extLst>
            </p:cNvPr>
            <p:cNvSpPr/>
            <p:nvPr/>
          </p:nvSpPr>
          <p:spPr>
            <a:xfrm>
              <a:off x="1115616" y="5085184"/>
              <a:ext cx="2356867" cy="523220"/>
            </a:xfrm>
            <a:prstGeom prst="rect">
              <a:avLst/>
            </a:prstGeom>
          </p:spPr>
          <p:txBody>
            <a:bodyPr wrap="square">
              <a:spAutoFit/>
            </a:bodyPr>
            <a:lstStyle/>
            <a:p>
              <a:pPr algn="ctr"/>
              <a:r>
                <a:rPr lang="en-US" altLang="ko-KR" sz="14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2</a:t>
              </a:r>
              <a:r>
                <a:rPr lang="en-US" altLang="ko-KR" sz="1400" baseline="300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nd</a:t>
              </a:r>
              <a:r>
                <a:rPr lang="en-US" altLang="ko-KR" sz="14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 Result</a:t>
              </a:r>
            </a:p>
            <a:p>
              <a:pPr algn="ctr"/>
              <a:r>
                <a:rPr lang="en-US" altLang="ko-KR" sz="1400" dirty="0">
                  <a:highlight>
                    <a:srgbClr val="FFFF00"/>
                  </a:highlight>
                  <a:latin typeface="Lato Black" panose="020F0502020204030203" pitchFamily="34" charset="0"/>
                  <a:ea typeface="Lato Black" panose="020F0502020204030203" pitchFamily="34" charset="0"/>
                  <a:cs typeface="Lato Black" panose="020F0502020204030203" pitchFamily="34" charset="0"/>
                </a:rPr>
                <a:t>0.024 difference</a:t>
              </a:r>
            </a:p>
          </p:txBody>
        </p:sp>
      </p:grpSp>
      <p:sp>
        <p:nvSpPr>
          <p:cNvPr id="39" name="TextBox 38">
            <a:extLst>
              <a:ext uri="{FF2B5EF4-FFF2-40B4-BE49-F238E27FC236}">
                <a16:creationId xmlns:a16="http://schemas.microsoft.com/office/drawing/2014/main" id="{B8271BDF-AC03-4748-8C05-1D490119D647}"/>
              </a:ext>
            </a:extLst>
          </p:cNvPr>
          <p:cNvSpPr txBox="1"/>
          <p:nvPr/>
        </p:nvSpPr>
        <p:spPr>
          <a:xfrm>
            <a:off x="935857" y="65518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Circulation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40" name="모서리가 둥근 직사각형 39"/>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41" name="타원 40">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2" name="TextBox 41"/>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4056314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991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18" name="TextBox 17">
            <a:extLst>
              <a:ext uri="{FF2B5EF4-FFF2-40B4-BE49-F238E27FC236}">
                <a16:creationId xmlns:a16="http://schemas.microsoft.com/office/drawing/2014/main" id="{B8271BDF-AC03-4748-8C05-1D490119D647}"/>
              </a:ext>
            </a:extLst>
          </p:cNvPr>
          <p:cNvSpPr txBox="1"/>
          <p:nvPr/>
        </p:nvSpPr>
        <p:spPr>
          <a:xfrm>
            <a:off x="935857" y="65518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Circulation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9" name="모서리가 둥근 직사각형 18"/>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0" name="타원 19">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21" name="TextBox 20"/>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pic>
        <p:nvPicPr>
          <p:cNvPr id="2" name="그림 1">
            <a:extLst>
              <a:ext uri="{FF2B5EF4-FFF2-40B4-BE49-F238E27FC236}">
                <a16:creationId xmlns:a16="http://schemas.microsoft.com/office/drawing/2014/main" id="{33700D0F-7FD2-2396-018E-A30FAE25BE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0675" y="1071418"/>
            <a:ext cx="4108223" cy="5786582"/>
          </a:xfrm>
          <a:prstGeom prst="rect">
            <a:avLst/>
          </a:prstGeom>
        </p:spPr>
      </p:pic>
      <p:pic>
        <p:nvPicPr>
          <p:cNvPr id="4" name="그림 3">
            <a:extLst>
              <a:ext uri="{FF2B5EF4-FFF2-40B4-BE49-F238E27FC236}">
                <a16:creationId xmlns:a16="http://schemas.microsoft.com/office/drawing/2014/main" id="{6E373C49-AEF6-8242-9F23-75EF7E24A2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93217" y="1071418"/>
            <a:ext cx="4108223" cy="5786582"/>
          </a:xfrm>
          <a:prstGeom prst="rect">
            <a:avLst/>
          </a:prstGeom>
        </p:spPr>
      </p:pic>
      <p:sp>
        <p:nvSpPr>
          <p:cNvPr id="5" name="직사각형 4">
            <a:extLst>
              <a:ext uri="{FF2B5EF4-FFF2-40B4-BE49-F238E27FC236}">
                <a16:creationId xmlns:a16="http://schemas.microsoft.com/office/drawing/2014/main" id="{FCA6F0BC-D1D4-6870-E912-8875395FC599}"/>
              </a:ext>
            </a:extLst>
          </p:cNvPr>
          <p:cNvSpPr/>
          <p:nvPr/>
        </p:nvSpPr>
        <p:spPr>
          <a:xfrm>
            <a:off x="7719983" y="4340860"/>
            <a:ext cx="398782" cy="1025467"/>
          </a:xfrm>
          <a:prstGeom prst="rect">
            <a:avLst/>
          </a:prstGeom>
          <a:noFill/>
          <a:ln w="12700">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8" name="직사각형 7">
            <a:extLst>
              <a:ext uri="{FF2B5EF4-FFF2-40B4-BE49-F238E27FC236}">
                <a16:creationId xmlns:a16="http://schemas.microsoft.com/office/drawing/2014/main" id="{BE5EC3F4-A71D-E154-FCC8-DE245395B4E6}"/>
              </a:ext>
            </a:extLst>
          </p:cNvPr>
          <p:cNvSpPr/>
          <p:nvPr/>
        </p:nvSpPr>
        <p:spPr>
          <a:xfrm>
            <a:off x="3165493" y="4340860"/>
            <a:ext cx="398782" cy="1025467"/>
          </a:xfrm>
          <a:prstGeom prst="rect">
            <a:avLst/>
          </a:prstGeom>
          <a:noFill/>
          <a:ln w="12700">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nvGrpSpPr>
          <p:cNvPr id="9" name="그룹 8">
            <a:extLst>
              <a:ext uri="{FF2B5EF4-FFF2-40B4-BE49-F238E27FC236}">
                <a16:creationId xmlns:a16="http://schemas.microsoft.com/office/drawing/2014/main" id="{6CFACA96-3AB1-DC58-DE52-A5BB7A9A8EB0}"/>
              </a:ext>
            </a:extLst>
          </p:cNvPr>
          <p:cNvGrpSpPr/>
          <p:nvPr/>
        </p:nvGrpSpPr>
        <p:grpSpPr>
          <a:xfrm rot="16200000">
            <a:off x="6189218" y="3722968"/>
            <a:ext cx="373680" cy="338057"/>
            <a:chOff x="2061642" y="2996194"/>
            <a:chExt cx="369826" cy="334570"/>
          </a:xfrm>
        </p:grpSpPr>
        <p:sp>
          <p:nvSpPr>
            <p:cNvPr id="10" name="이등변 삼각형 34">
              <a:extLst>
                <a:ext uri="{FF2B5EF4-FFF2-40B4-BE49-F238E27FC236}">
                  <a16:creationId xmlns:a16="http://schemas.microsoft.com/office/drawing/2014/main" id="{97A7B020-32FC-3A45-128D-451AA5CDDE29}"/>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11" name="이등변 삼각형 34">
              <a:extLst>
                <a:ext uri="{FF2B5EF4-FFF2-40B4-BE49-F238E27FC236}">
                  <a16:creationId xmlns:a16="http://schemas.microsoft.com/office/drawing/2014/main" id="{293FBA10-4521-9997-F071-9F7BE14E556D}"/>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
        <p:nvSpPr>
          <p:cNvPr id="15" name="모서리가 둥근 직사각형 25">
            <a:extLst>
              <a:ext uri="{FF2B5EF4-FFF2-40B4-BE49-F238E27FC236}">
                <a16:creationId xmlns:a16="http://schemas.microsoft.com/office/drawing/2014/main" id="{9112D474-3BD9-1030-1BBC-0D7A985F919B}"/>
              </a:ext>
            </a:extLst>
          </p:cNvPr>
          <p:cNvSpPr/>
          <p:nvPr/>
        </p:nvSpPr>
        <p:spPr>
          <a:xfrm>
            <a:off x="4848040" y="1424178"/>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TextBox 21">
            <a:extLst>
              <a:ext uri="{FF2B5EF4-FFF2-40B4-BE49-F238E27FC236}">
                <a16:creationId xmlns:a16="http://schemas.microsoft.com/office/drawing/2014/main" id="{71A91E2E-CE4F-AAB4-A3E2-04CB0D679A1B}"/>
              </a:ext>
            </a:extLst>
          </p:cNvPr>
          <p:cNvSpPr txBox="1"/>
          <p:nvPr/>
        </p:nvSpPr>
        <p:spPr>
          <a:xfrm>
            <a:off x="4855282" y="1417251"/>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2021.11.17</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23" name="모서리가 둥근 직사각형 27">
            <a:extLst>
              <a:ext uri="{FF2B5EF4-FFF2-40B4-BE49-F238E27FC236}">
                <a16:creationId xmlns:a16="http://schemas.microsoft.com/office/drawing/2014/main" id="{9E696084-7D3E-802D-3A08-6AC11AB5539B}"/>
              </a:ext>
            </a:extLst>
          </p:cNvPr>
          <p:cNvSpPr/>
          <p:nvPr/>
        </p:nvSpPr>
        <p:spPr>
          <a:xfrm>
            <a:off x="9272259" y="1424178"/>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TextBox 23">
            <a:extLst>
              <a:ext uri="{FF2B5EF4-FFF2-40B4-BE49-F238E27FC236}">
                <a16:creationId xmlns:a16="http://schemas.microsoft.com/office/drawing/2014/main" id="{ABAADA97-0D43-98DB-D15C-10C6CFF012D7}"/>
              </a:ext>
            </a:extLst>
          </p:cNvPr>
          <p:cNvSpPr txBox="1"/>
          <p:nvPr/>
        </p:nvSpPr>
        <p:spPr>
          <a:xfrm>
            <a:off x="9279501" y="1417251"/>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2024.04.22</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Tree>
    <p:extLst>
      <p:ext uri="{BB962C8B-B14F-4D97-AF65-F5344CB8AC3E}">
        <p14:creationId xmlns:p14="http://schemas.microsoft.com/office/powerpoint/2010/main" val="785883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44233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pic>
        <p:nvPicPr>
          <p:cNvPr id="22" name="그림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7801" y="1176008"/>
            <a:ext cx="4033439" cy="5681246"/>
          </a:xfrm>
          <a:prstGeom prst="rect">
            <a:avLst/>
          </a:prstGeom>
        </p:spPr>
      </p:pic>
      <p:pic>
        <p:nvPicPr>
          <p:cNvPr id="25" name="그림 24"/>
          <p:cNvPicPr>
            <a:picLocks noChangeAspect="1"/>
          </p:cNvPicPr>
          <p:nvPr/>
        </p:nvPicPr>
        <p:blipFill rotWithShape="1">
          <a:blip r:embed="rId4" cstate="print">
            <a:extLst>
              <a:ext uri="{28A0092B-C50C-407E-A947-70E740481C1C}">
                <a14:useLocalDpi xmlns:a14="http://schemas.microsoft.com/office/drawing/2010/main" val="0"/>
              </a:ext>
            </a:extLst>
          </a:blip>
          <a:srcRect l="3381" t="53919" r="36157" b="25204"/>
          <a:stretch/>
        </p:blipFill>
        <p:spPr>
          <a:xfrm>
            <a:off x="6445156" y="2872740"/>
            <a:ext cx="4355729" cy="2118360"/>
          </a:xfrm>
          <a:prstGeom prst="rect">
            <a:avLst/>
          </a:prstGeom>
        </p:spPr>
      </p:pic>
      <p:sp>
        <p:nvSpPr>
          <p:cNvPr id="2" name="직사각형 1"/>
          <p:cNvSpPr/>
          <p:nvPr/>
        </p:nvSpPr>
        <p:spPr>
          <a:xfrm>
            <a:off x="10043160" y="3063240"/>
            <a:ext cx="579120" cy="1851660"/>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7" y="65518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Circulation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191996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44233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pic>
        <p:nvPicPr>
          <p:cNvPr id="22" name="그림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7801" y="1176008"/>
            <a:ext cx="4033439" cy="5681246"/>
          </a:xfrm>
          <a:prstGeom prst="rect">
            <a:avLst/>
          </a:prstGeom>
        </p:spPr>
      </p:pic>
      <p:pic>
        <p:nvPicPr>
          <p:cNvPr id="25" name="그림 24"/>
          <p:cNvPicPr>
            <a:picLocks noChangeAspect="1"/>
          </p:cNvPicPr>
          <p:nvPr/>
        </p:nvPicPr>
        <p:blipFill rotWithShape="1">
          <a:blip r:embed="rId4" cstate="print">
            <a:extLst>
              <a:ext uri="{28A0092B-C50C-407E-A947-70E740481C1C}">
                <a14:useLocalDpi xmlns:a14="http://schemas.microsoft.com/office/drawing/2010/main" val="0"/>
              </a:ext>
            </a:extLst>
          </a:blip>
          <a:srcRect l="3381" t="53919" r="36157" b="25204"/>
          <a:stretch/>
        </p:blipFill>
        <p:spPr>
          <a:xfrm>
            <a:off x="6445156" y="2872740"/>
            <a:ext cx="4355729" cy="2118360"/>
          </a:xfrm>
          <a:prstGeom prst="rect">
            <a:avLst/>
          </a:prstGeom>
        </p:spPr>
      </p:pic>
      <p:sp>
        <p:nvSpPr>
          <p:cNvPr id="2" name="직사각형 1"/>
          <p:cNvSpPr/>
          <p:nvPr/>
        </p:nvSpPr>
        <p:spPr>
          <a:xfrm>
            <a:off x="10043160" y="3063240"/>
            <a:ext cx="579120" cy="1851660"/>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7" y="655181"/>
            <a:ext cx="2229636"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Circulation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640968"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2</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pic>
        <p:nvPicPr>
          <p:cNvPr id="11" name="그림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30201" y="1328408"/>
            <a:ext cx="4033439" cy="5681246"/>
          </a:xfrm>
          <a:prstGeom prst="rect">
            <a:avLst/>
          </a:prstGeom>
        </p:spPr>
      </p:pic>
    </p:spTree>
    <p:extLst>
      <p:ext uri="{BB962C8B-B14F-4D97-AF65-F5344CB8AC3E}">
        <p14:creationId xmlns:p14="http://schemas.microsoft.com/office/powerpoint/2010/main" val="3747691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pic>
        <p:nvPicPr>
          <p:cNvPr id="3" name="그림 2" descr="텍스트, 세면용품, 피부 관리, 스킨 크림이(가) 표시된 사진&#10;&#10;자동 생성된 설명">
            <a:extLst>
              <a:ext uri="{FF2B5EF4-FFF2-40B4-BE49-F238E27FC236}">
                <a16:creationId xmlns:a16="http://schemas.microsoft.com/office/drawing/2014/main" id="{6C59D5C8-4323-A75F-C0EB-A00931F84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238" y="1727454"/>
            <a:ext cx="5715000" cy="3695700"/>
          </a:xfrm>
          <a:prstGeom prst="rect">
            <a:avLst/>
          </a:prstGeom>
        </p:spPr>
      </p:pic>
      <p:pic>
        <p:nvPicPr>
          <p:cNvPr id="8" name="그림 7" descr="텍스트이(가) 표시된 사진&#10;&#10;자동 생성된 설명">
            <a:extLst>
              <a:ext uri="{FF2B5EF4-FFF2-40B4-BE49-F238E27FC236}">
                <a16:creationId xmlns:a16="http://schemas.microsoft.com/office/drawing/2014/main" id="{E88CFEFC-9D98-F370-E175-C7F7F5C67E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3217" y="719124"/>
            <a:ext cx="2842329" cy="4915557"/>
          </a:xfrm>
          <a:prstGeom prst="rect">
            <a:avLst/>
          </a:prstGeom>
        </p:spPr>
      </p:pic>
      <p:sp>
        <p:nvSpPr>
          <p:cNvPr id="2" name="직사각형 1"/>
          <p:cNvSpPr/>
          <p:nvPr/>
        </p:nvSpPr>
        <p:spPr>
          <a:xfrm>
            <a:off x="2400391" y="5842750"/>
            <a:ext cx="2841675" cy="369332"/>
          </a:xfrm>
          <a:prstGeom prst="rect">
            <a:avLst/>
          </a:prstGeom>
        </p:spPr>
        <p:txBody>
          <a:bodyPr wrap="none">
            <a:spAutoFit/>
          </a:bodyPr>
          <a:lstStyle/>
          <a:p>
            <a:r>
              <a:rPr lang="en-US" altLang="ko-KR" dirty="0"/>
              <a:t>Enteral Nutrition Formula</a:t>
            </a:r>
            <a:endParaRPr lang="ko-KR" altLang="en-US" dirty="0"/>
          </a:p>
        </p:txBody>
      </p:sp>
      <p:sp>
        <p:nvSpPr>
          <p:cNvPr id="4" name="직사각형 3"/>
          <p:cNvSpPr/>
          <p:nvPr/>
        </p:nvSpPr>
        <p:spPr>
          <a:xfrm>
            <a:off x="7174781" y="5842750"/>
            <a:ext cx="4099199" cy="369332"/>
          </a:xfrm>
          <a:prstGeom prst="rect">
            <a:avLst/>
          </a:prstGeom>
        </p:spPr>
        <p:txBody>
          <a:bodyPr wrap="none">
            <a:spAutoFit/>
          </a:bodyPr>
          <a:lstStyle/>
          <a:p>
            <a:r>
              <a:rPr lang="en-US" altLang="ko-KR" dirty="0"/>
              <a:t>IV Nutrition, Amino Acid Supplement</a:t>
            </a:r>
            <a:endParaRPr lang="ko-KR" altLang="en-US" dirty="0"/>
          </a:p>
        </p:txBody>
      </p:sp>
    </p:spTree>
    <p:extLst>
      <p:ext uri="{BB962C8B-B14F-4D97-AF65-F5344CB8AC3E}">
        <p14:creationId xmlns:p14="http://schemas.microsoft.com/office/powerpoint/2010/main" val="35481487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12" name="그룹 11">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1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5" name="직사각형 14"/>
          <p:cNvSpPr/>
          <p:nvPr/>
        </p:nvSpPr>
        <p:spPr>
          <a:xfrm>
            <a:off x="1241911" y="1193463"/>
            <a:ext cx="2704448" cy="707886"/>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Sarcopenia in Dialysis Patients</a:t>
            </a:r>
            <a:endPar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7687" y="1391262"/>
            <a:ext cx="5858521" cy="4466398"/>
          </a:xfrm>
          <a:prstGeom prst="rect">
            <a:avLst/>
          </a:prstGeom>
        </p:spPr>
      </p:pic>
      <p:sp>
        <p:nvSpPr>
          <p:cNvPr id="16" name="직사각형 15"/>
          <p:cNvSpPr/>
          <p:nvPr/>
        </p:nvSpPr>
        <p:spPr>
          <a:xfrm>
            <a:off x="7818309" y="6124294"/>
            <a:ext cx="2727029" cy="215444"/>
          </a:xfrm>
          <a:prstGeom prst="rect">
            <a:avLst/>
          </a:prstGeom>
        </p:spPr>
        <p:txBody>
          <a:bodyPr wrap="none">
            <a:spAutoFit/>
          </a:bodyPr>
          <a:lstStyle/>
          <a:p>
            <a:r>
              <a:rPr lang="en-US" altLang="ko-KR" sz="800" i="1">
                <a:latin typeface="Lato Black" panose="020F0502020204030203" pitchFamily="34" charset="0"/>
                <a:ea typeface="Lato Black" panose="020F0502020204030203" pitchFamily="34" charset="0"/>
                <a:cs typeface="Lato Black" panose="020F0502020204030203" pitchFamily="34" charset="0"/>
              </a:rPr>
              <a:t>Diabetes research and clinical practice, 2021 (InBody S10)</a:t>
            </a:r>
            <a:endParaRPr lang="ko-KR" altLang="en-US" sz="800" i="1">
              <a:solidFill>
                <a:schemeClr val="tx1">
                  <a:lumMod val="50000"/>
                  <a:lumOff val="50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1286221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12" name="그룹 11">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1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5" name="직사각형 14"/>
          <p:cNvSpPr/>
          <p:nvPr/>
        </p:nvSpPr>
        <p:spPr>
          <a:xfrm>
            <a:off x="1241911" y="1193463"/>
            <a:ext cx="2704448" cy="707886"/>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Sarcopenia in Dialysis Patients</a:t>
            </a:r>
            <a:endPar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0585" y="1391261"/>
            <a:ext cx="5483430" cy="4678031"/>
          </a:xfrm>
          <a:prstGeom prst="rect">
            <a:avLst/>
          </a:prstGeom>
        </p:spPr>
      </p:pic>
      <p:sp>
        <p:nvSpPr>
          <p:cNvPr id="5" name="직사각형 4"/>
          <p:cNvSpPr/>
          <p:nvPr/>
        </p:nvSpPr>
        <p:spPr>
          <a:xfrm>
            <a:off x="8042822" y="6131169"/>
            <a:ext cx="1654620" cy="215444"/>
          </a:xfrm>
          <a:prstGeom prst="rect">
            <a:avLst/>
          </a:prstGeom>
        </p:spPr>
        <p:txBody>
          <a:bodyPr wrap="none">
            <a:spAutoFit/>
          </a:bodyPr>
          <a:lstStyle/>
          <a:p>
            <a:r>
              <a:rPr lang="en-US" altLang="ko-KR" sz="800" i="1">
                <a:solidFill>
                  <a:schemeClr val="tx1">
                    <a:lumMod val="75000"/>
                    <a:lumOff val="25000"/>
                  </a:schemeClr>
                </a:solidFill>
                <a:latin typeface="Lato Black" panose="020F0502020204030203" pitchFamily="34" charset="0"/>
                <a:ea typeface="Lato Black" panose="020F0502020204030203" pitchFamily="34" charset="0"/>
                <a:cs typeface="Lato Black" panose="020F0502020204030203" pitchFamily="34" charset="0"/>
              </a:rPr>
              <a:t>Nursing Open, 2022 (InBody S10)</a:t>
            </a:r>
            <a:endParaRPr lang="ko-KR" altLang="en-US" sz="800" i="1">
              <a:solidFill>
                <a:schemeClr val="tx1">
                  <a:lumMod val="75000"/>
                  <a:lumOff val="25000"/>
                </a:schemeClr>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2542957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12" name="그룹 11">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1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5" name="직사각형 14"/>
          <p:cNvSpPr/>
          <p:nvPr/>
        </p:nvSpPr>
        <p:spPr>
          <a:xfrm>
            <a:off x="1241911" y="1193463"/>
            <a:ext cx="5846408" cy="374398"/>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PEW(Protein Energy Wasting) in Dialysis Patients</a:t>
            </a:r>
          </a:p>
        </p:txBody>
      </p:sp>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6960" y="1788789"/>
            <a:ext cx="4617555" cy="1848495"/>
          </a:xfrm>
          <a:prstGeom prst="rect">
            <a:avLst/>
          </a:prstGeom>
        </p:spPr>
      </p:pic>
      <p:pic>
        <p:nvPicPr>
          <p:cNvPr id="3" name="그림 2"/>
          <p:cNvPicPr>
            <a:picLocks noChangeAspect="1"/>
          </p:cNvPicPr>
          <p:nvPr/>
        </p:nvPicPr>
        <p:blipFill rotWithShape="1">
          <a:blip r:embed="rId4">
            <a:extLst>
              <a:ext uri="{28A0092B-C50C-407E-A947-70E740481C1C}">
                <a14:useLocalDpi xmlns:a14="http://schemas.microsoft.com/office/drawing/2010/main" val="0"/>
              </a:ext>
            </a:extLst>
          </a:blip>
          <a:srcRect l="34449"/>
          <a:stretch/>
        </p:blipFill>
        <p:spPr>
          <a:xfrm>
            <a:off x="5995164" y="1788789"/>
            <a:ext cx="6057040" cy="4241518"/>
          </a:xfrm>
          <a:prstGeom prst="rect">
            <a:avLst/>
          </a:prstGeom>
        </p:spPr>
      </p:pic>
      <p:pic>
        <p:nvPicPr>
          <p:cNvPr id="18" name="그림 17"/>
          <p:cNvPicPr>
            <a:picLocks noChangeAspect="1"/>
          </p:cNvPicPr>
          <p:nvPr/>
        </p:nvPicPr>
        <p:blipFill rotWithShape="1">
          <a:blip r:embed="rId5" cstate="print">
            <a:extLst>
              <a:ext uri="{28A0092B-C50C-407E-A947-70E740481C1C}">
                <a14:useLocalDpi xmlns:a14="http://schemas.microsoft.com/office/drawing/2010/main" val="0"/>
              </a:ext>
            </a:extLst>
          </a:blip>
          <a:srcRect t="75519" r="66220"/>
          <a:stretch/>
        </p:blipFill>
        <p:spPr>
          <a:xfrm>
            <a:off x="4268932" y="5366681"/>
            <a:ext cx="1726232" cy="574250"/>
          </a:xfrm>
          <a:prstGeom prst="rect">
            <a:avLst/>
          </a:prstGeom>
        </p:spPr>
      </p:pic>
      <p:sp>
        <p:nvSpPr>
          <p:cNvPr id="4" name="직사각형 3"/>
          <p:cNvSpPr/>
          <p:nvPr/>
        </p:nvSpPr>
        <p:spPr>
          <a:xfrm>
            <a:off x="11171835" y="5996700"/>
            <a:ext cx="934871" cy="215444"/>
          </a:xfrm>
          <a:prstGeom prst="rect">
            <a:avLst/>
          </a:prstGeom>
        </p:spPr>
        <p:txBody>
          <a:bodyPr wrap="none">
            <a:spAutoFit/>
          </a:bodyPr>
          <a:lstStyle/>
          <a:p>
            <a:r>
              <a:rPr lang="ko-KR" altLang="en-US" sz="800" i="1">
                <a:latin typeface="Lato Black" panose="020F0502020204030203" pitchFamily="34" charset="0"/>
                <a:cs typeface="Lato Black" panose="020F0502020204030203" pitchFamily="34" charset="0"/>
              </a:rPr>
              <a:t>Blood Purif 2020</a:t>
            </a:r>
          </a:p>
        </p:txBody>
      </p:sp>
    </p:spTree>
    <p:extLst>
      <p:ext uri="{BB962C8B-B14F-4D97-AF65-F5344CB8AC3E}">
        <p14:creationId xmlns:p14="http://schemas.microsoft.com/office/powerpoint/2010/main" val="11980742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12" name="그룹 11">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1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5" name="직사각형 14"/>
          <p:cNvSpPr/>
          <p:nvPr/>
        </p:nvSpPr>
        <p:spPr>
          <a:xfrm>
            <a:off x="1241911" y="1193463"/>
            <a:ext cx="5846408" cy="366895"/>
          </a:xfrm>
          <a:prstGeom prst="rect">
            <a:avLst/>
          </a:prstGeom>
        </p:spPr>
        <p:txBody>
          <a:bodyPr wrap="square">
            <a:spAutoFit/>
          </a:bodyPr>
          <a:lstStyle/>
          <a:p>
            <a:pPr>
              <a:lnSpc>
                <a:spcPct val="125000"/>
              </a:lnSpc>
            </a:pPr>
            <a:r>
              <a:rPr lang="en-US" altLang="ko-KR" sz="1600">
                <a:solidFill>
                  <a:srgbClr val="A0112D"/>
                </a:solidFill>
                <a:latin typeface="Lato Black" panose="020F0502020204030203" pitchFamily="34" charset="0"/>
                <a:ea typeface="Lato Black" panose="020F0502020204030203" pitchFamily="34" charset="0"/>
                <a:cs typeface="Lato Black" panose="020F0502020204030203" pitchFamily="34" charset="0"/>
              </a:rPr>
              <a:t>Sarcopenia to volume related comlications</a:t>
            </a:r>
            <a:endPar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6" name="TextBox 15"/>
          <p:cNvSpPr txBox="1"/>
          <p:nvPr/>
        </p:nvSpPr>
        <p:spPr>
          <a:xfrm>
            <a:off x="1236960" y="1874237"/>
            <a:ext cx="6607629" cy="1292662"/>
          </a:xfrm>
          <a:prstGeom prst="rect">
            <a:avLst/>
          </a:prstGeom>
          <a:noFill/>
        </p:spPr>
        <p:txBody>
          <a:bodyPr wrap="square">
            <a:spAutoFit/>
          </a:bodyPr>
          <a:lstStyle/>
          <a:p>
            <a:pPr marL="285750" indent="-285750" fontAlgn="auto">
              <a:lnSpc>
                <a:spcPct val="150000"/>
              </a:lnSpc>
              <a:spcBef>
                <a:spcPts val="0"/>
              </a:spcBef>
              <a:spcAft>
                <a:spcPts val="0"/>
              </a:spcAft>
              <a:buFont typeface="Arial" panose="020B0604020202020204" pitchFamily="34" charset="0"/>
              <a:buChar char="•"/>
              <a:defRPr/>
            </a:pPr>
            <a:r>
              <a:rPr lang="en-US" altLang="ko-KR" sz="1300">
                <a:solidFill>
                  <a:srgbClr val="4B4F5A"/>
                </a:solidFill>
                <a:latin typeface="Lato Black" panose="020F0502020204030203" pitchFamily="34" charset="0"/>
                <a:ea typeface="Lato Black" panose="020F0502020204030203" pitchFamily="34" charset="0"/>
                <a:cs typeface="Lato Black" panose="020F0502020204030203" pitchFamily="34" charset="0"/>
              </a:rPr>
              <a:t>Reduced muscle pump function (decreased venous return)</a:t>
            </a:r>
          </a:p>
          <a:p>
            <a:pPr marL="285750" indent="-285750" fontAlgn="auto">
              <a:lnSpc>
                <a:spcPct val="150000"/>
              </a:lnSpc>
              <a:spcBef>
                <a:spcPts val="0"/>
              </a:spcBef>
              <a:spcAft>
                <a:spcPts val="0"/>
              </a:spcAft>
              <a:buFont typeface="Arial" panose="020B0604020202020204" pitchFamily="34" charset="0"/>
              <a:buChar char="•"/>
              <a:defRPr/>
            </a:pPr>
            <a:r>
              <a:rPr kumimoji="0" lang="en-US" altLang="ko-KR" sz="1300">
                <a:solidFill>
                  <a:srgbClr val="4B4F5A"/>
                </a:solidFill>
                <a:latin typeface="Lato Black" panose="020F0502020204030203" pitchFamily="34" charset="0"/>
                <a:ea typeface="Lato Black" panose="020F0502020204030203" pitchFamily="34" charset="0"/>
                <a:cs typeface="Lato Black" panose="020F0502020204030203" pitchFamily="34" charset="0"/>
              </a:rPr>
              <a:t>Impaired physical activity (sedentary life style, venous insufficiency)</a:t>
            </a:r>
          </a:p>
          <a:p>
            <a:pPr marL="285750" indent="-285750" fontAlgn="auto">
              <a:lnSpc>
                <a:spcPct val="150000"/>
              </a:lnSpc>
              <a:spcBef>
                <a:spcPts val="0"/>
              </a:spcBef>
              <a:spcAft>
                <a:spcPts val="0"/>
              </a:spcAft>
              <a:buFont typeface="Arial" panose="020B0604020202020204" pitchFamily="34" charset="0"/>
              <a:buChar char="•"/>
              <a:defRPr/>
            </a:pPr>
            <a:r>
              <a:rPr lang="en-US" altLang="ko-KR" sz="1300">
                <a:solidFill>
                  <a:srgbClr val="4B4F5A"/>
                </a:solidFill>
                <a:latin typeface="Lato Black" panose="020F0502020204030203" pitchFamily="34" charset="0"/>
                <a:ea typeface="Lato Black" panose="020F0502020204030203" pitchFamily="34" charset="0"/>
                <a:cs typeface="Lato Black" panose="020F0502020204030203" pitchFamily="34" charset="0"/>
              </a:rPr>
              <a:t>Hight fat mass (imflammation, insulin resistance...)</a:t>
            </a:r>
          </a:p>
          <a:p>
            <a:pPr marL="285750" indent="-285750" fontAlgn="auto">
              <a:lnSpc>
                <a:spcPct val="150000"/>
              </a:lnSpc>
              <a:spcBef>
                <a:spcPts val="0"/>
              </a:spcBef>
              <a:spcAft>
                <a:spcPts val="0"/>
              </a:spcAft>
              <a:buFont typeface="Arial" panose="020B0604020202020204" pitchFamily="34" charset="0"/>
              <a:buChar char="•"/>
              <a:defRPr/>
            </a:pPr>
            <a:r>
              <a:rPr kumimoji="0" lang="en-US" altLang="ko-KR" sz="1300">
                <a:solidFill>
                  <a:srgbClr val="4B4F5A"/>
                </a:solidFill>
                <a:latin typeface="Lato Black" panose="020F0502020204030203" pitchFamily="34" charset="0"/>
                <a:ea typeface="Lato Black" panose="020F0502020204030203" pitchFamily="34" charset="0"/>
                <a:cs typeface="Lato Black" panose="020F0502020204030203" pitchFamily="34" charset="0"/>
              </a:rPr>
              <a:t>Age related changes (hormonal changes, drugs...)</a:t>
            </a:r>
            <a:endParaRPr kumimoji="0" lang="en-US" altLang="ko-KR" sz="1300" dirty="0">
              <a:solidFill>
                <a:srgbClr val="4B4F5A"/>
              </a:solidFill>
              <a:latin typeface="Lato Black" panose="020F0502020204030203" pitchFamily="34" charset="0"/>
              <a:ea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863686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12" name="그룹 11">
            <a:extLst>
              <a:ext uri="{FF2B5EF4-FFF2-40B4-BE49-F238E27FC236}">
                <a16:creationId xmlns:a16="http://schemas.microsoft.com/office/drawing/2014/main" id="{04BBD52A-B00D-B52D-D2BE-7ED77E4B2731}"/>
              </a:ext>
            </a:extLst>
          </p:cNvPr>
          <p:cNvGrpSpPr/>
          <p:nvPr/>
        </p:nvGrpSpPr>
        <p:grpSpPr>
          <a:xfrm>
            <a:off x="1003233" y="1274399"/>
            <a:ext cx="233727" cy="233726"/>
            <a:chOff x="2701227" y="-1816305"/>
            <a:chExt cx="7728206" cy="7728208"/>
          </a:xfrm>
        </p:grpSpPr>
        <p:sp>
          <p:nvSpPr>
            <p:cNvPr id="13" name="자유형: 도형 22">
              <a:extLst>
                <a:ext uri="{FF2B5EF4-FFF2-40B4-BE49-F238E27FC236}">
                  <a16:creationId xmlns:a16="http://schemas.microsoft.com/office/drawing/2014/main" id="{18BCC82E-B031-4F40-50F4-15921D50349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4" name="타원 13">
              <a:extLst>
                <a:ext uri="{FF2B5EF4-FFF2-40B4-BE49-F238E27FC236}">
                  <a16:creationId xmlns:a16="http://schemas.microsoft.com/office/drawing/2014/main" id="{65BDDE59-BE37-2A17-1C75-140BA1D1139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15" name="직사각형 14"/>
          <p:cNvSpPr/>
          <p:nvPr/>
        </p:nvSpPr>
        <p:spPr>
          <a:xfrm>
            <a:off x="1241911" y="1193463"/>
            <a:ext cx="2704448" cy="372859"/>
          </a:xfrm>
          <a:prstGeom prst="rect">
            <a:avLst/>
          </a:prstGeom>
        </p:spPr>
        <p:txBody>
          <a:bodyPr wrap="square">
            <a:spAutoFit/>
          </a:bodyPr>
          <a:lstStyle/>
          <a:p>
            <a:pPr>
              <a:lnSpc>
                <a:spcPct val="125000"/>
              </a:lnSpc>
            </a:pPr>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EWGSOP2 / AWGS2019</a:t>
            </a:r>
          </a:p>
        </p:txBody>
      </p:sp>
      <p:grpSp>
        <p:nvGrpSpPr>
          <p:cNvPr id="8" name="그룹 7">
            <a:extLst>
              <a:ext uri="{FF2B5EF4-FFF2-40B4-BE49-F238E27FC236}">
                <a16:creationId xmlns:a16="http://schemas.microsoft.com/office/drawing/2014/main" id="{5B4EDCE9-A1B9-FBBD-9633-4449474655DF}"/>
              </a:ext>
            </a:extLst>
          </p:cNvPr>
          <p:cNvGrpSpPr/>
          <p:nvPr/>
        </p:nvGrpSpPr>
        <p:grpSpPr>
          <a:xfrm>
            <a:off x="4576747" y="1884544"/>
            <a:ext cx="7414199" cy="4905529"/>
            <a:chOff x="4576747" y="1884544"/>
            <a:chExt cx="7414199" cy="4905529"/>
          </a:xfrm>
        </p:grpSpPr>
        <p:pic>
          <p:nvPicPr>
            <p:cNvPr id="4" name="그림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6747" y="1884544"/>
              <a:ext cx="7414199" cy="4905529"/>
            </a:xfrm>
            <a:prstGeom prst="rect">
              <a:avLst/>
            </a:prstGeom>
          </p:spPr>
        </p:pic>
        <p:sp>
          <p:nvSpPr>
            <p:cNvPr id="2" name="직사각형 1"/>
            <p:cNvSpPr/>
            <p:nvPr/>
          </p:nvSpPr>
          <p:spPr>
            <a:xfrm>
              <a:off x="9227121" y="5380660"/>
              <a:ext cx="2598821" cy="137503"/>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pic>
        <p:nvPicPr>
          <p:cNvPr id="5" name="그림 4" descr="텍스트, 스크린샷, 폰트, 디자인이(가) 표시된 사진&#10;&#10;자동 생성된 설명">
            <a:extLst>
              <a:ext uri="{FF2B5EF4-FFF2-40B4-BE49-F238E27FC236}">
                <a16:creationId xmlns:a16="http://schemas.microsoft.com/office/drawing/2014/main" id="{78F93121-8C6A-9E2E-E51A-6ECA610521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0096" y="1763699"/>
            <a:ext cx="3187184" cy="4736224"/>
          </a:xfrm>
          <a:prstGeom prst="rect">
            <a:avLst/>
          </a:prstGeom>
        </p:spPr>
      </p:pic>
    </p:spTree>
    <p:extLst>
      <p:ext uri="{BB962C8B-B14F-4D97-AF65-F5344CB8AC3E}">
        <p14:creationId xmlns:p14="http://schemas.microsoft.com/office/powerpoint/2010/main" val="287042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사각형: 둥근 모서리 32">
            <a:extLst>
              <a:ext uri="{FF2B5EF4-FFF2-40B4-BE49-F238E27FC236}">
                <a16:creationId xmlns:a16="http://schemas.microsoft.com/office/drawing/2014/main" id="{3A0957FE-323D-6729-9356-5A2E961C64FC}"/>
              </a:ext>
            </a:extLst>
          </p:cNvPr>
          <p:cNvSpPr/>
          <p:nvPr/>
        </p:nvSpPr>
        <p:spPr>
          <a:xfrm>
            <a:off x="3570333" y="1935588"/>
            <a:ext cx="2398285" cy="299086"/>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8" name="正方形/長方形 1">
            <a:extLst>
              <a:ext uri="{FF2B5EF4-FFF2-40B4-BE49-F238E27FC236}">
                <a16:creationId xmlns:a16="http://schemas.microsoft.com/office/drawing/2014/main" id="{536ECAA9-1CA5-191F-D318-B3FD6A4310FA}"/>
              </a:ext>
            </a:extLst>
          </p:cNvPr>
          <p:cNvSpPr/>
          <p:nvPr/>
        </p:nvSpPr>
        <p:spPr>
          <a:xfrm>
            <a:off x="3365749" y="4871925"/>
            <a:ext cx="3605829" cy="369332"/>
          </a:xfrm>
          <a:prstGeom prst="rect">
            <a:avLst/>
          </a:prstGeom>
        </p:spPr>
        <p:txBody>
          <a:bodyPr wrap="square">
            <a:spAutoFit/>
          </a:bodyPr>
          <a:lstStyle/>
          <a:p>
            <a:r>
              <a:rPr lang="en-US" altLang="ko-KR" b="1" dirty="0">
                <a:latin typeface="Lato Black" panose="020F0502020204030203" pitchFamily="34" charset="0"/>
                <a:ea typeface="Lato Black" panose="020F0502020204030203" pitchFamily="34" charset="0"/>
                <a:cs typeface="Lato Black" panose="020F0502020204030203" pitchFamily="34" charset="0"/>
              </a:rPr>
              <a:t>Limb SMM </a:t>
            </a:r>
            <a:r>
              <a:rPr lang="en-US" altLang="ja-JP" b="1" dirty="0">
                <a:latin typeface="Lato Black" panose="020F0502020204030203" pitchFamily="34" charset="0"/>
                <a:ea typeface="Lato Black" panose="020F0502020204030203" pitchFamily="34" charset="0"/>
                <a:cs typeface="Lato Black" panose="020F0502020204030203" pitchFamily="34" charset="0"/>
              </a:rPr>
              <a:t>÷ height squared</a:t>
            </a:r>
          </a:p>
        </p:txBody>
      </p:sp>
      <p:sp>
        <p:nvSpPr>
          <p:cNvPr id="9" name="テキスト ボックス 29">
            <a:extLst>
              <a:ext uri="{FF2B5EF4-FFF2-40B4-BE49-F238E27FC236}">
                <a16:creationId xmlns:a16="http://schemas.microsoft.com/office/drawing/2014/main" id="{2CE67712-1189-1B0A-6B4C-3D52BFD445D4}"/>
              </a:ext>
            </a:extLst>
          </p:cNvPr>
          <p:cNvSpPr txBox="1"/>
          <p:nvPr/>
        </p:nvSpPr>
        <p:spPr>
          <a:xfrm>
            <a:off x="3723891" y="5608351"/>
            <a:ext cx="2926261" cy="646331"/>
          </a:xfrm>
          <a:prstGeom prst="rect">
            <a:avLst/>
          </a:prstGeom>
          <a:noFill/>
        </p:spPr>
        <p:txBody>
          <a:bodyPr wrap="square" rtlCol="0">
            <a:spAutoFit/>
          </a:bodyPr>
          <a:lstStyle/>
          <a:p>
            <a:r>
              <a:rPr lang="en-US" altLang="ja-JP" b="1" dirty="0">
                <a:latin typeface="Lato Black" panose="020F0502020204030203" pitchFamily="34" charset="0"/>
                <a:ea typeface="Lato Black" panose="020F0502020204030203" pitchFamily="34" charset="0"/>
                <a:cs typeface="Lato Black" panose="020F0502020204030203" pitchFamily="34" charset="0"/>
              </a:rPr>
              <a:t>(2.50 + 2.61 + 6.45 + 6.43)</a:t>
            </a:r>
            <a:r>
              <a:rPr lang="ja-JP" altLang="en-US" b="1" dirty="0">
                <a:latin typeface="Lato Black" panose="020F0502020204030203" pitchFamily="34" charset="0"/>
                <a:ea typeface="メイリオ" panose="020B0604030504040204" pitchFamily="50" charset="-128"/>
                <a:cs typeface="Lato Black" panose="020F0502020204030203" pitchFamily="34" charset="0"/>
              </a:rPr>
              <a:t> </a:t>
            </a:r>
            <a:r>
              <a:rPr lang="en-US" altLang="ja-JP" b="1" dirty="0">
                <a:latin typeface="Lato Black" panose="020F0502020204030203" pitchFamily="34" charset="0"/>
                <a:ea typeface="Lato Black" panose="020F0502020204030203" pitchFamily="34" charset="0"/>
                <a:cs typeface="Lato Black" panose="020F0502020204030203" pitchFamily="34" charset="0"/>
              </a:rPr>
              <a:t>÷</a:t>
            </a:r>
            <a:r>
              <a:rPr lang="ja-JP" altLang="en-US" b="1" dirty="0">
                <a:latin typeface="Lato Black" panose="020F0502020204030203" pitchFamily="34" charset="0"/>
                <a:ea typeface="メイリオ" panose="020B0604030504040204" pitchFamily="50" charset="-128"/>
                <a:cs typeface="Lato Black" panose="020F0502020204030203" pitchFamily="34" charset="0"/>
              </a:rPr>
              <a:t> </a:t>
            </a:r>
            <a:r>
              <a:rPr lang="en-US" altLang="ja-JP" b="1" dirty="0">
                <a:latin typeface="Lato Black" panose="020F0502020204030203" pitchFamily="34" charset="0"/>
                <a:ea typeface="Lato Black" panose="020F0502020204030203" pitchFamily="34" charset="0"/>
                <a:cs typeface="Lato Black" panose="020F0502020204030203" pitchFamily="34" charset="0"/>
              </a:rPr>
              <a:t>2.99</a:t>
            </a:r>
            <a:r>
              <a:rPr lang="ja-JP" altLang="en-US" b="1" dirty="0">
                <a:latin typeface="Lato Black" panose="020F0502020204030203" pitchFamily="34" charset="0"/>
                <a:ea typeface="メイリオ" panose="020B0604030504040204" pitchFamily="50" charset="-128"/>
                <a:cs typeface="Lato Black" panose="020F0502020204030203" pitchFamily="34" charset="0"/>
              </a:rPr>
              <a:t> </a:t>
            </a:r>
            <a:r>
              <a:rPr lang="en-US" altLang="ja-JP" b="1" dirty="0">
                <a:latin typeface="Lato Black" panose="020F0502020204030203" pitchFamily="34" charset="0"/>
                <a:ea typeface="Lato Black" panose="020F0502020204030203" pitchFamily="34" charset="0"/>
                <a:cs typeface="Lato Black" panose="020F0502020204030203" pitchFamily="34" charset="0"/>
              </a:rPr>
              <a:t>=</a:t>
            </a:r>
            <a:r>
              <a:rPr lang="ja-JP" altLang="en-US" b="1" dirty="0">
                <a:latin typeface="Lato Black" panose="020F0502020204030203" pitchFamily="34" charset="0"/>
                <a:ea typeface="メイリオ" panose="020B0604030504040204" pitchFamily="50" charset="-128"/>
                <a:cs typeface="Lato Black" panose="020F0502020204030203" pitchFamily="34" charset="0"/>
              </a:rPr>
              <a:t> </a:t>
            </a:r>
            <a:r>
              <a:rPr lang="en-US" altLang="ja-JP" b="1" dirty="0">
                <a:solidFill>
                  <a:srgbClr val="A0112D"/>
                </a:solidFill>
                <a:latin typeface="Lato Black" panose="020F0502020204030203" pitchFamily="34" charset="0"/>
                <a:ea typeface="Lato Black" panose="020F0502020204030203" pitchFamily="34" charset="0"/>
                <a:cs typeface="Lato Black" panose="020F0502020204030203" pitchFamily="34" charset="0"/>
              </a:rPr>
              <a:t>6.01</a:t>
            </a:r>
          </a:p>
        </p:txBody>
      </p:sp>
      <p:cxnSp>
        <p:nvCxnSpPr>
          <p:cNvPr id="11" name="直線コネクタ 40">
            <a:extLst>
              <a:ext uri="{FF2B5EF4-FFF2-40B4-BE49-F238E27FC236}">
                <a16:creationId xmlns:a16="http://schemas.microsoft.com/office/drawing/2014/main" id="{30BF1E1D-4614-E4F7-C4EE-08E813F7BB48}"/>
              </a:ext>
            </a:extLst>
          </p:cNvPr>
          <p:cNvCxnSpPr/>
          <p:nvPr/>
        </p:nvCxnSpPr>
        <p:spPr>
          <a:xfrm>
            <a:off x="4166384" y="5217203"/>
            <a:ext cx="0" cy="389758"/>
          </a:xfrm>
          <a:prstGeom prst="line">
            <a:avLst/>
          </a:prstGeom>
          <a:ln>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直線コネクタ 42">
            <a:extLst>
              <a:ext uri="{FF2B5EF4-FFF2-40B4-BE49-F238E27FC236}">
                <a16:creationId xmlns:a16="http://schemas.microsoft.com/office/drawing/2014/main" id="{BCB36554-E9D9-126A-FF3D-29EB361BA67A}"/>
              </a:ext>
            </a:extLst>
          </p:cNvPr>
          <p:cNvCxnSpPr/>
          <p:nvPr/>
        </p:nvCxnSpPr>
        <p:spPr>
          <a:xfrm>
            <a:off x="5090782" y="5384211"/>
            <a:ext cx="0" cy="237987"/>
          </a:xfrm>
          <a:prstGeom prst="line">
            <a:avLst/>
          </a:prstGeom>
          <a:ln>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直線コネクタ 43">
            <a:extLst>
              <a:ext uri="{FF2B5EF4-FFF2-40B4-BE49-F238E27FC236}">
                <a16:creationId xmlns:a16="http://schemas.microsoft.com/office/drawing/2014/main" id="{F0F16AD7-0116-9A16-4B67-5F4484B7B394}"/>
              </a:ext>
            </a:extLst>
          </p:cNvPr>
          <p:cNvCxnSpPr/>
          <p:nvPr/>
        </p:nvCxnSpPr>
        <p:spPr>
          <a:xfrm flipV="1">
            <a:off x="5721282" y="5225575"/>
            <a:ext cx="0" cy="15863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45">
            <a:extLst>
              <a:ext uri="{FF2B5EF4-FFF2-40B4-BE49-F238E27FC236}">
                <a16:creationId xmlns:a16="http://schemas.microsoft.com/office/drawing/2014/main" id="{987B2E95-C4F4-2149-C583-7E2AB9590C94}"/>
              </a:ext>
            </a:extLst>
          </p:cNvPr>
          <p:cNvCxnSpPr/>
          <p:nvPr/>
        </p:nvCxnSpPr>
        <p:spPr>
          <a:xfrm>
            <a:off x="5095079" y="5384211"/>
            <a:ext cx="623908"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7" name="그림 16" descr="텍스트, 번호, 스크린샷, 폰트이(가) 표시된 사진&#10;&#10;자동 생성된 설명">
            <a:extLst>
              <a:ext uri="{FF2B5EF4-FFF2-40B4-BE49-F238E27FC236}">
                <a16:creationId xmlns:a16="http://schemas.microsoft.com/office/drawing/2014/main" id="{3B72B797-A8A4-FE29-8491-0934BB6874E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194" t="51067" r="35988" b="28533"/>
          <a:stretch/>
        </p:blipFill>
        <p:spPr>
          <a:xfrm>
            <a:off x="2636376" y="2439168"/>
            <a:ext cx="4666080" cy="2212741"/>
          </a:xfrm>
          <a:prstGeom prst="rect">
            <a:avLst/>
          </a:prstGeom>
        </p:spPr>
      </p:pic>
      <p:sp>
        <p:nvSpPr>
          <p:cNvPr id="18" name="직사각형 17">
            <a:extLst>
              <a:ext uri="{FF2B5EF4-FFF2-40B4-BE49-F238E27FC236}">
                <a16:creationId xmlns:a16="http://schemas.microsoft.com/office/drawing/2014/main" id="{2E429370-463C-E7A0-82D1-4F2790818FB4}"/>
              </a:ext>
            </a:extLst>
          </p:cNvPr>
          <p:cNvSpPr/>
          <p:nvPr/>
        </p:nvSpPr>
        <p:spPr>
          <a:xfrm>
            <a:off x="2756445" y="2808688"/>
            <a:ext cx="3836329" cy="696810"/>
          </a:xfrm>
          <a:prstGeom prst="rect">
            <a:avLst/>
          </a:prstGeom>
          <a:noFill/>
          <a:ln w="19050">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E1A20296-A850-408E-0ACA-30D87BAC29ED}"/>
              </a:ext>
            </a:extLst>
          </p:cNvPr>
          <p:cNvSpPr/>
          <p:nvPr/>
        </p:nvSpPr>
        <p:spPr>
          <a:xfrm>
            <a:off x="2756445" y="3840307"/>
            <a:ext cx="3836329" cy="696809"/>
          </a:xfrm>
          <a:prstGeom prst="rect">
            <a:avLst/>
          </a:prstGeom>
          <a:noFill/>
          <a:ln w="19050">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descr="텍스트, 도표, 평행, 번호이(가) 표시된 사진&#10;&#10;자동 생성된 설명">
            <a:extLst>
              <a:ext uri="{FF2B5EF4-FFF2-40B4-BE49-F238E27FC236}">
                <a16:creationId xmlns:a16="http://schemas.microsoft.com/office/drawing/2014/main" id="{1DCE4DC5-7097-1A7F-899A-A41216EAC6A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868" t="55333" r="50753" b="4267"/>
          <a:stretch/>
        </p:blipFill>
        <p:spPr>
          <a:xfrm>
            <a:off x="7422525" y="1600356"/>
            <a:ext cx="3778873" cy="4654326"/>
          </a:xfrm>
          <a:prstGeom prst="rect">
            <a:avLst/>
          </a:prstGeom>
        </p:spPr>
      </p:pic>
      <p:sp>
        <p:nvSpPr>
          <p:cNvPr id="22" name="타원 21">
            <a:extLst>
              <a:ext uri="{FF2B5EF4-FFF2-40B4-BE49-F238E27FC236}">
                <a16:creationId xmlns:a16="http://schemas.microsoft.com/office/drawing/2014/main" id="{BDF2B331-7945-8877-A196-BBB06D824CA9}"/>
              </a:ext>
            </a:extLst>
          </p:cNvPr>
          <p:cNvSpPr/>
          <p:nvPr/>
        </p:nvSpPr>
        <p:spPr>
          <a:xfrm>
            <a:off x="7744909" y="5654323"/>
            <a:ext cx="542418" cy="542418"/>
          </a:xfrm>
          <a:prstGeom prst="ellipse">
            <a:avLst/>
          </a:prstGeom>
          <a:noFill/>
          <a:ln>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5" name="그룹 24">
            <a:extLst>
              <a:ext uri="{FF2B5EF4-FFF2-40B4-BE49-F238E27FC236}">
                <a16:creationId xmlns:a16="http://schemas.microsoft.com/office/drawing/2014/main" id="{1EEA1E74-DA7E-95AB-A422-B23BD98790D5}"/>
              </a:ext>
            </a:extLst>
          </p:cNvPr>
          <p:cNvGrpSpPr/>
          <p:nvPr/>
        </p:nvGrpSpPr>
        <p:grpSpPr>
          <a:xfrm>
            <a:off x="1003233" y="1274399"/>
            <a:ext cx="233727" cy="233726"/>
            <a:chOff x="2701227" y="-1816305"/>
            <a:chExt cx="7728206" cy="7728208"/>
          </a:xfrm>
        </p:grpSpPr>
        <p:sp>
          <p:nvSpPr>
            <p:cNvPr id="26" name="자유형: 도형 22">
              <a:extLst>
                <a:ext uri="{FF2B5EF4-FFF2-40B4-BE49-F238E27FC236}">
                  <a16:creationId xmlns:a16="http://schemas.microsoft.com/office/drawing/2014/main" id="{B675AC97-6AC7-7B37-76BC-90955124A2E5}"/>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8" name="타원 27">
              <a:extLst>
                <a:ext uri="{FF2B5EF4-FFF2-40B4-BE49-F238E27FC236}">
                  <a16:creationId xmlns:a16="http://schemas.microsoft.com/office/drawing/2014/main" id="{7F6CBEE9-4549-248E-A7A4-343DF067796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9" name="직사각형 28">
            <a:extLst>
              <a:ext uri="{FF2B5EF4-FFF2-40B4-BE49-F238E27FC236}">
                <a16:creationId xmlns:a16="http://schemas.microsoft.com/office/drawing/2014/main" id="{2D1572DC-B093-8C8A-BFEC-DBCC418D14FB}"/>
              </a:ext>
            </a:extLst>
          </p:cNvPr>
          <p:cNvSpPr/>
          <p:nvPr/>
        </p:nvSpPr>
        <p:spPr>
          <a:xfrm>
            <a:off x="1241911" y="1193463"/>
            <a:ext cx="3778874" cy="674672"/>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SMI(Skeletal Muscle mass Index)</a:t>
            </a:r>
            <a:endParaRPr lang="ko-KR" altLang="en-US" sz="1600" b="1" spc="-150" dirty="0">
              <a:solidFill>
                <a:srgbClr val="4B4F5A"/>
              </a:solidFill>
              <a:latin typeface="+mj-ea"/>
              <a:ea typeface="+mj-ea"/>
            </a:endParaRPr>
          </a:p>
          <a:p>
            <a:pPr>
              <a:lnSpc>
                <a:spcPct val="125000"/>
              </a:lnSpc>
            </a:pPr>
            <a:endParaRPr lang="en-US" altLang="ko-KR" sz="1600" dirty="0">
              <a:solidFill>
                <a:srgbClr val="4B4F5A"/>
              </a:solidFill>
              <a:latin typeface="Lato" panose="020F0502020204030203" pitchFamily="34" charset="0"/>
              <a:ea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FE6A8AE0-891A-4163-0BC7-09D9EB648727}"/>
              </a:ext>
            </a:extLst>
          </p:cNvPr>
          <p:cNvSpPr txBox="1"/>
          <p:nvPr/>
        </p:nvSpPr>
        <p:spPr>
          <a:xfrm>
            <a:off x="3719347" y="1899828"/>
            <a:ext cx="2100255" cy="338554"/>
          </a:xfrm>
          <a:prstGeom prst="rect">
            <a:avLst/>
          </a:prstGeom>
          <a:noFill/>
        </p:spPr>
        <p:txBody>
          <a:bodyPr wrap="none" rtlCol="0">
            <a:spAutoFit/>
          </a:bodyPr>
          <a:lstStyle/>
          <a:p>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Age 41, 173cm, 64kg</a:t>
            </a:r>
            <a:endParaRPr lang="ko-KR" altLang="en-US" sz="1600" dirty="0">
              <a:solidFill>
                <a:schemeClr val="bg1"/>
              </a:solidFill>
              <a:latin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10857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27" name="TextBox 26">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2" name="모서리가 둥근 직사각형 31"/>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7" name="타원 36">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40" name="TextBox 39"/>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pic>
        <p:nvPicPr>
          <p:cNvPr id="18" name="그림 17" descr="텍스트, 스크린샷, 도표, 라인이(가) 표시된 사진&#10;&#10;자동 생성된 설명">
            <a:extLst>
              <a:ext uri="{FF2B5EF4-FFF2-40B4-BE49-F238E27FC236}">
                <a16:creationId xmlns:a16="http://schemas.microsoft.com/office/drawing/2014/main" id="{3A1C79DB-8070-0CE8-121A-C3EA7A13AE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5741" y="2456575"/>
            <a:ext cx="5535168" cy="3459480"/>
          </a:xfrm>
          <a:prstGeom prst="rect">
            <a:avLst/>
          </a:prstGeom>
        </p:spPr>
      </p:pic>
      <p:pic>
        <p:nvPicPr>
          <p:cNvPr id="21" name="그림 20" descr="텍스트, 폰트, 스크린샷, 라인이(가) 표시된 사진&#10;&#10;자동 생성된 설명">
            <a:extLst>
              <a:ext uri="{FF2B5EF4-FFF2-40B4-BE49-F238E27FC236}">
                <a16:creationId xmlns:a16="http://schemas.microsoft.com/office/drawing/2014/main" id="{C1E315E7-54E0-C868-581B-2BDC312311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8145" y="3737060"/>
            <a:ext cx="3534268" cy="657317"/>
          </a:xfrm>
          <a:prstGeom prst="rect">
            <a:avLst/>
          </a:prstGeom>
        </p:spPr>
      </p:pic>
      <p:grpSp>
        <p:nvGrpSpPr>
          <p:cNvPr id="22" name="그룹 21">
            <a:extLst>
              <a:ext uri="{FF2B5EF4-FFF2-40B4-BE49-F238E27FC236}">
                <a16:creationId xmlns:a16="http://schemas.microsoft.com/office/drawing/2014/main" id="{00C4F255-71C2-C02C-85B8-BD62BDF611A1}"/>
              </a:ext>
            </a:extLst>
          </p:cNvPr>
          <p:cNvGrpSpPr/>
          <p:nvPr/>
        </p:nvGrpSpPr>
        <p:grpSpPr>
          <a:xfrm rot="16200000">
            <a:off x="7038206" y="3929988"/>
            <a:ext cx="300064" cy="271459"/>
            <a:chOff x="2061642" y="2996194"/>
            <a:chExt cx="369826" cy="334570"/>
          </a:xfrm>
        </p:grpSpPr>
        <p:sp>
          <p:nvSpPr>
            <p:cNvPr id="23" name="이등변 삼각형 34">
              <a:extLst>
                <a:ext uri="{FF2B5EF4-FFF2-40B4-BE49-F238E27FC236}">
                  <a16:creationId xmlns:a16="http://schemas.microsoft.com/office/drawing/2014/main" id="{2B196AE8-8D93-890E-298E-23BCDB6B0FA5}"/>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이등변 삼각형 34">
              <a:extLst>
                <a:ext uri="{FF2B5EF4-FFF2-40B4-BE49-F238E27FC236}">
                  <a16:creationId xmlns:a16="http://schemas.microsoft.com/office/drawing/2014/main" id="{357DFB7B-15B9-948C-7C23-27B688D7D3F2}"/>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D1822927-DE67-0F5C-DC3E-2636A0756896}"/>
              </a:ext>
            </a:extLst>
          </p:cNvPr>
          <p:cNvGrpSpPr/>
          <p:nvPr/>
        </p:nvGrpSpPr>
        <p:grpSpPr>
          <a:xfrm>
            <a:off x="1003233" y="1274399"/>
            <a:ext cx="233727" cy="233726"/>
            <a:chOff x="2701227" y="-1816305"/>
            <a:chExt cx="7728206" cy="7728208"/>
          </a:xfrm>
        </p:grpSpPr>
        <p:sp>
          <p:nvSpPr>
            <p:cNvPr id="26" name="자유형: 도형 22">
              <a:extLst>
                <a:ext uri="{FF2B5EF4-FFF2-40B4-BE49-F238E27FC236}">
                  <a16:creationId xmlns:a16="http://schemas.microsoft.com/office/drawing/2014/main" id="{D3279209-574E-C769-743C-C9F3FD7AC5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8" name="타원 27">
              <a:extLst>
                <a:ext uri="{FF2B5EF4-FFF2-40B4-BE49-F238E27FC236}">
                  <a16:creationId xmlns:a16="http://schemas.microsoft.com/office/drawing/2014/main" id="{D2121D39-D72C-5CB1-5546-C607037108FC}"/>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9" name="직사각형 28">
            <a:extLst>
              <a:ext uri="{FF2B5EF4-FFF2-40B4-BE49-F238E27FC236}">
                <a16:creationId xmlns:a16="http://schemas.microsoft.com/office/drawing/2014/main" id="{5C14C04B-55A9-D6EB-9F75-A45D5ED5B8EC}"/>
              </a:ext>
            </a:extLst>
          </p:cNvPr>
          <p:cNvSpPr/>
          <p:nvPr/>
        </p:nvSpPr>
        <p:spPr>
          <a:xfrm>
            <a:off x="1241910" y="1193463"/>
            <a:ext cx="10547971" cy="674672"/>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Adjusted SMI : </a:t>
            </a:r>
            <a:r>
              <a:rPr lang="en-US" altLang="ko-KR" sz="1600" b="1" dirty="0">
                <a:solidFill>
                  <a:srgbClr val="4B4F5A"/>
                </a:solidFill>
                <a:latin typeface="+mj-ea"/>
                <a:ea typeface="+mj-ea"/>
              </a:rPr>
              <a:t>a muscle index that removed excess ECW based on age-specific average ECW ratio.</a:t>
            </a:r>
            <a:endParaRPr lang="ko-KR" altLang="en-US" sz="1600" b="1" spc="-150" dirty="0">
              <a:solidFill>
                <a:srgbClr val="4B4F5A"/>
              </a:solidFill>
              <a:latin typeface="+mj-ea"/>
              <a:ea typeface="+mj-ea"/>
            </a:endParaRPr>
          </a:p>
          <a:p>
            <a:pPr>
              <a:lnSpc>
                <a:spcPct val="125000"/>
              </a:lnSpc>
            </a:pPr>
            <a:endParaRPr lang="en-US" altLang="ko-KR" sz="1600" dirty="0">
              <a:solidFill>
                <a:srgbClr val="4B4F5A"/>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7172257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9594DCCA-0575-E483-5381-C420BB32FFC8}"/>
              </a:ext>
            </a:extLst>
          </p:cNvPr>
          <p:cNvSpPr/>
          <p:nvPr/>
        </p:nvSpPr>
        <p:spPr>
          <a:xfrm>
            <a:off x="5564462" y="2419519"/>
            <a:ext cx="4905055" cy="276999"/>
          </a:xfrm>
          <a:prstGeom prst="rect">
            <a:avLst/>
          </a:prstGeom>
        </p:spPr>
        <p:txBody>
          <a:bodyPr wrap="square">
            <a:spAutoFit/>
          </a:bodyPr>
          <a:lstStyle/>
          <a:p>
            <a:pPr algn="ctr"/>
            <a:r>
              <a:rPr lang="en-US" altLang="ko-KR" sz="1200"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[58 years old hemodialysis patient’s</a:t>
            </a:r>
            <a:r>
              <a:rPr lang="ko-KR" altLang="en-US" sz="1200" dirty="0">
                <a:solidFill>
                  <a:schemeClr val="tx1">
                    <a:lumMod val="65000"/>
                    <a:lumOff val="35000"/>
                  </a:schemeClr>
                </a:solidFill>
                <a:latin typeface="Lato" panose="020F0502020204030203" pitchFamily="34" charset="0"/>
                <a:cs typeface="Lato" panose="020F0502020204030203" pitchFamily="34" charset="0"/>
              </a:rPr>
              <a:t> </a:t>
            </a:r>
            <a:r>
              <a:rPr lang="en-US" altLang="ko-KR" sz="1200" dirty="0">
                <a:solidFill>
                  <a:schemeClr val="tx1">
                    <a:lumMod val="65000"/>
                    <a:lumOff val="35000"/>
                  </a:schemeClr>
                </a:solidFill>
                <a:latin typeface="Lato" panose="020F0502020204030203" pitchFamily="34" charset="0"/>
                <a:ea typeface="Lato" panose="020F0502020204030203" pitchFamily="34" charset="0"/>
                <a:cs typeface="Lato" panose="020F0502020204030203" pitchFamily="34" charset="0"/>
              </a:rPr>
              <a:t>adjusted SMI Calculation]</a:t>
            </a:r>
          </a:p>
        </p:txBody>
      </p:sp>
      <p:grpSp>
        <p:nvGrpSpPr>
          <p:cNvPr id="5" name="그룹 4">
            <a:extLst>
              <a:ext uri="{FF2B5EF4-FFF2-40B4-BE49-F238E27FC236}">
                <a16:creationId xmlns:a16="http://schemas.microsoft.com/office/drawing/2014/main" id="{C5942830-5D28-691C-13F3-0BA72AED25F5}"/>
              </a:ext>
            </a:extLst>
          </p:cNvPr>
          <p:cNvGrpSpPr/>
          <p:nvPr/>
        </p:nvGrpSpPr>
        <p:grpSpPr>
          <a:xfrm>
            <a:off x="9218709" y="5054690"/>
            <a:ext cx="4511004" cy="609847"/>
            <a:chOff x="9651855" y="4390277"/>
            <a:chExt cx="2675340" cy="609847"/>
          </a:xfrm>
        </p:grpSpPr>
        <p:sp>
          <p:nvSpPr>
            <p:cNvPr id="6" name="직사각형 5">
              <a:extLst>
                <a:ext uri="{FF2B5EF4-FFF2-40B4-BE49-F238E27FC236}">
                  <a16:creationId xmlns:a16="http://schemas.microsoft.com/office/drawing/2014/main" id="{A4709636-0E08-307A-03A2-2030CEF6F91E}"/>
                </a:ext>
              </a:extLst>
            </p:cNvPr>
            <p:cNvSpPr/>
            <p:nvPr/>
          </p:nvSpPr>
          <p:spPr>
            <a:xfrm>
              <a:off x="9651855" y="4459553"/>
              <a:ext cx="1950448" cy="253867"/>
            </a:xfrm>
            <a:prstGeom prst="rect">
              <a:avLst/>
            </a:prstGeom>
            <a:solidFill>
              <a:srgbClr val="9D1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cs typeface="Lato" panose="020F0502020204030203" pitchFamily="34" charset="0"/>
              </a:endParaRPr>
            </a:p>
          </p:txBody>
        </p:sp>
        <p:sp>
          <p:nvSpPr>
            <p:cNvPr id="7" name="직사각형 6">
              <a:extLst>
                <a:ext uri="{FF2B5EF4-FFF2-40B4-BE49-F238E27FC236}">
                  <a16:creationId xmlns:a16="http://schemas.microsoft.com/office/drawing/2014/main" id="{979370D9-76D6-9C98-21DE-D8968AC47B17}"/>
                </a:ext>
              </a:extLst>
            </p:cNvPr>
            <p:cNvSpPr/>
            <p:nvPr/>
          </p:nvSpPr>
          <p:spPr>
            <a:xfrm>
              <a:off x="9651856" y="4746257"/>
              <a:ext cx="1169398" cy="253867"/>
            </a:xfrm>
            <a:prstGeom prst="rect">
              <a:avLst/>
            </a:prstGeom>
            <a:solidFill>
              <a:srgbClr val="9D1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cs typeface="Lato" panose="020F0502020204030203" pitchFamily="34" charset="0"/>
              </a:endParaRPr>
            </a:p>
          </p:txBody>
        </p:sp>
        <p:sp>
          <p:nvSpPr>
            <p:cNvPr id="8" name="TextBox 7">
              <a:extLst>
                <a:ext uri="{FF2B5EF4-FFF2-40B4-BE49-F238E27FC236}">
                  <a16:creationId xmlns:a16="http://schemas.microsoft.com/office/drawing/2014/main" id="{FD7F3919-465C-7289-FE0D-5CF7B98C800F}"/>
                </a:ext>
              </a:extLst>
            </p:cNvPr>
            <p:cNvSpPr txBox="1"/>
            <p:nvPr/>
          </p:nvSpPr>
          <p:spPr>
            <a:xfrm>
              <a:off x="9651855" y="4390277"/>
              <a:ext cx="2675340" cy="609847"/>
            </a:xfrm>
            <a:prstGeom prst="rect">
              <a:avLst/>
            </a:prstGeom>
            <a:noFill/>
          </p:spPr>
          <p:txBody>
            <a:bodyPr wrap="square" rtlCol="0">
              <a:spAutoFit/>
            </a:bodyPr>
            <a:lstStyle/>
            <a:p>
              <a:pPr>
                <a:lnSpc>
                  <a:spcPct val="150000"/>
                </a:lnSpc>
              </a:pPr>
              <a:r>
                <a:rPr lang="en-US" altLang="ko-KR" sz="1200" b="1" dirty="0">
                  <a:solidFill>
                    <a:schemeClr val="bg1"/>
                  </a:solidFill>
                  <a:latin typeface="Lato" panose="020F0502020204030203" pitchFamily="34" charset="0"/>
                  <a:ea typeface="Lato" panose="020F0502020204030203" pitchFamily="34" charset="0"/>
                  <a:cs typeface="Lato" panose="020F0502020204030203" pitchFamily="34" charset="0"/>
                </a:rPr>
                <a:t>Based on 50s average ECW Ratio</a:t>
              </a:r>
            </a:p>
            <a:p>
              <a:pPr>
                <a:lnSpc>
                  <a:spcPct val="150000"/>
                </a:lnSpc>
              </a:pPr>
              <a:r>
                <a:rPr lang="en-US" altLang="ko-KR" sz="1200" b="1" dirty="0">
                  <a:solidFill>
                    <a:schemeClr val="bg1"/>
                  </a:solidFill>
                  <a:latin typeface="Lato" panose="020F0502020204030203" pitchFamily="34" charset="0"/>
                  <a:cs typeface="Lato" panose="020F0502020204030203" pitchFamily="34" charset="0"/>
                </a:rPr>
                <a:t>Removal of Excessive ECW</a:t>
              </a:r>
              <a:endParaRPr lang="ko-KR" altLang="en-US" sz="1200" b="1" dirty="0">
                <a:solidFill>
                  <a:schemeClr val="bg1"/>
                </a:solidFill>
                <a:latin typeface="Lato" panose="020F0502020204030203" pitchFamily="34" charset="0"/>
                <a:cs typeface="Lato" panose="020F0502020204030203" pitchFamily="34" charset="0"/>
              </a:endParaRPr>
            </a:p>
          </p:txBody>
        </p:sp>
      </p:grpSp>
      <p:grpSp>
        <p:nvGrpSpPr>
          <p:cNvPr id="9" name="그룹 8">
            <a:extLst>
              <a:ext uri="{FF2B5EF4-FFF2-40B4-BE49-F238E27FC236}">
                <a16:creationId xmlns:a16="http://schemas.microsoft.com/office/drawing/2014/main" id="{97C882DB-C3FC-225D-5160-6AB3E9E6C50F}"/>
              </a:ext>
            </a:extLst>
          </p:cNvPr>
          <p:cNvGrpSpPr/>
          <p:nvPr/>
        </p:nvGrpSpPr>
        <p:grpSpPr>
          <a:xfrm>
            <a:off x="4548849" y="5084128"/>
            <a:ext cx="4511003" cy="621014"/>
            <a:chOff x="5061949" y="3202824"/>
            <a:chExt cx="2160255" cy="621014"/>
          </a:xfrm>
        </p:grpSpPr>
        <p:sp>
          <p:nvSpPr>
            <p:cNvPr id="10" name="직사각형 9">
              <a:extLst>
                <a:ext uri="{FF2B5EF4-FFF2-40B4-BE49-F238E27FC236}">
                  <a16:creationId xmlns:a16="http://schemas.microsoft.com/office/drawing/2014/main" id="{EFAA60F8-DF4E-0984-F45A-13283CC8BBC6}"/>
                </a:ext>
              </a:extLst>
            </p:cNvPr>
            <p:cNvSpPr/>
            <p:nvPr/>
          </p:nvSpPr>
          <p:spPr>
            <a:xfrm>
              <a:off x="5400675" y="3283267"/>
              <a:ext cx="1533525" cy="253867"/>
            </a:xfrm>
            <a:prstGeom prst="rect">
              <a:avLst/>
            </a:prstGeom>
            <a:solidFill>
              <a:srgbClr val="9D1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cs typeface="Lato" panose="020F0502020204030203" pitchFamily="34" charset="0"/>
              </a:endParaRPr>
            </a:p>
          </p:txBody>
        </p:sp>
        <p:sp>
          <p:nvSpPr>
            <p:cNvPr id="11" name="직사각형 10">
              <a:extLst>
                <a:ext uri="{FF2B5EF4-FFF2-40B4-BE49-F238E27FC236}">
                  <a16:creationId xmlns:a16="http://schemas.microsoft.com/office/drawing/2014/main" id="{0AAC7E69-0DE7-8005-0AF1-BCA6A68C2012}"/>
                </a:ext>
              </a:extLst>
            </p:cNvPr>
            <p:cNvSpPr/>
            <p:nvPr/>
          </p:nvSpPr>
          <p:spPr>
            <a:xfrm>
              <a:off x="5715000" y="3569971"/>
              <a:ext cx="847725" cy="253867"/>
            </a:xfrm>
            <a:prstGeom prst="rect">
              <a:avLst/>
            </a:prstGeom>
            <a:solidFill>
              <a:srgbClr val="9D1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cs typeface="Lato" panose="020F0502020204030203" pitchFamily="34" charset="0"/>
              </a:endParaRPr>
            </a:p>
          </p:txBody>
        </p:sp>
        <p:sp>
          <p:nvSpPr>
            <p:cNvPr id="12" name="TextBox 11">
              <a:extLst>
                <a:ext uri="{FF2B5EF4-FFF2-40B4-BE49-F238E27FC236}">
                  <a16:creationId xmlns:a16="http://schemas.microsoft.com/office/drawing/2014/main" id="{E6B739DB-0EBE-0EB7-BD3F-EFF4717AA0EC}"/>
                </a:ext>
              </a:extLst>
            </p:cNvPr>
            <p:cNvSpPr txBox="1"/>
            <p:nvPr/>
          </p:nvSpPr>
          <p:spPr>
            <a:xfrm>
              <a:off x="5061949" y="3202824"/>
              <a:ext cx="2160255" cy="609847"/>
            </a:xfrm>
            <a:prstGeom prst="rect">
              <a:avLst/>
            </a:prstGeom>
            <a:noFill/>
          </p:spPr>
          <p:txBody>
            <a:bodyPr wrap="square" rtlCol="0">
              <a:spAutoFit/>
            </a:bodyPr>
            <a:lstStyle/>
            <a:p>
              <a:pPr algn="ctr">
                <a:lnSpc>
                  <a:spcPct val="150000"/>
                </a:lnSpc>
              </a:pPr>
              <a:r>
                <a:rPr lang="en-US" altLang="ko-KR" sz="1200" b="1" dirty="0">
                  <a:solidFill>
                    <a:schemeClr val="bg1"/>
                  </a:solidFill>
                  <a:latin typeface="Lato" panose="020F0502020204030203" pitchFamily="34" charset="0"/>
                  <a:cs typeface="Lato" panose="020F0502020204030203" pitchFamily="34" charset="0"/>
                </a:rPr>
                <a:t>Overestimated muscle mass </a:t>
              </a:r>
            </a:p>
            <a:p>
              <a:pPr algn="ctr">
                <a:lnSpc>
                  <a:spcPct val="150000"/>
                </a:lnSpc>
              </a:pPr>
              <a:r>
                <a:rPr lang="en-US" altLang="ko-KR" sz="1200" b="1" dirty="0">
                  <a:solidFill>
                    <a:schemeClr val="bg1"/>
                  </a:solidFill>
                  <a:latin typeface="Lato" panose="020F0502020204030203" pitchFamily="34" charset="0"/>
                  <a:cs typeface="Lato" panose="020F0502020204030203" pitchFamily="34" charset="0"/>
                </a:rPr>
                <a:t>due to excessive water</a:t>
              </a:r>
              <a:endParaRPr lang="ko-KR" altLang="en-US" sz="1200" b="1" dirty="0">
                <a:solidFill>
                  <a:schemeClr val="bg1"/>
                </a:solidFill>
                <a:latin typeface="Lato" panose="020F0502020204030203" pitchFamily="34" charset="0"/>
                <a:cs typeface="Lato" panose="020F0502020204030203" pitchFamily="34" charset="0"/>
              </a:endParaRPr>
            </a:p>
          </p:txBody>
        </p:sp>
      </p:grpSp>
      <p:grpSp>
        <p:nvGrpSpPr>
          <p:cNvPr id="13" name="그룹 12">
            <a:extLst>
              <a:ext uri="{FF2B5EF4-FFF2-40B4-BE49-F238E27FC236}">
                <a16:creationId xmlns:a16="http://schemas.microsoft.com/office/drawing/2014/main" id="{CBF04F4E-7A42-84C8-6252-B71A4B403159}"/>
              </a:ext>
            </a:extLst>
          </p:cNvPr>
          <p:cNvGrpSpPr/>
          <p:nvPr/>
        </p:nvGrpSpPr>
        <p:grpSpPr>
          <a:xfrm>
            <a:off x="1479689" y="2240502"/>
            <a:ext cx="3120386" cy="4395178"/>
            <a:chOff x="1539793" y="2015454"/>
            <a:chExt cx="3120386" cy="4395178"/>
          </a:xfrm>
        </p:grpSpPr>
        <p:pic>
          <p:nvPicPr>
            <p:cNvPr id="14" name="그림 13">
              <a:extLst>
                <a:ext uri="{FF2B5EF4-FFF2-40B4-BE49-F238E27FC236}">
                  <a16:creationId xmlns:a16="http://schemas.microsoft.com/office/drawing/2014/main" id="{B0E8FBF0-A45B-ADDD-2D9E-110F7C7A0A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9793" y="2015454"/>
              <a:ext cx="3120386" cy="4395178"/>
            </a:xfrm>
            <a:prstGeom prst="rect">
              <a:avLst/>
            </a:prstGeom>
          </p:spPr>
        </p:pic>
        <p:sp>
          <p:nvSpPr>
            <p:cNvPr id="15" name="직사각형 14">
              <a:extLst>
                <a:ext uri="{FF2B5EF4-FFF2-40B4-BE49-F238E27FC236}">
                  <a16:creationId xmlns:a16="http://schemas.microsoft.com/office/drawing/2014/main" id="{951C6687-9518-E2C9-A4F8-2272E77BE123}"/>
                </a:ext>
              </a:extLst>
            </p:cNvPr>
            <p:cNvSpPr/>
            <p:nvPr/>
          </p:nvSpPr>
          <p:spPr>
            <a:xfrm>
              <a:off x="1548585" y="4347141"/>
              <a:ext cx="121953" cy="138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0AA927C8-69EC-3FF2-8BAB-684AE3A3B979}"/>
                </a:ext>
              </a:extLst>
            </p:cNvPr>
            <p:cNvSpPr/>
            <p:nvPr/>
          </p:nvSpPr>
          <p:spPr>
            <a:xfrm>
              <a:off x="1551519" y="4789686"/>
              <a:ext cx="121953" cy="138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5B3221C-1CAF-5D7E-AD86-141840715811}"/>
                </a:ext>
              </a:extLst>
            </p:cNvPr>
            <p:cNvSpPr/>
            <p:nvPr/>
          </p:nvSpPr>
          <p:spPr>
            <a:xfrm>
              <a:off x="2003590" y="5115366"/>
              <a:ext cx="6000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 name="그룹 17">
            <a:extLst>
              <a:ext uri="{FF2B5EF4-FFF2-40B4-BE49-F238E27FC236}">
                <a16:creationId xmlns:a16="http://schemas.microsoft.com/office/drawing/2014/main" id="{64A1F364-2310-114A-FAA8-DB819D049335}"/>
              </a:ext>
            </a:extLst>
          </p:cNvPr>
          <p:cNvGrpSpPr/>
          <p:nvPr/>
        </p:nvGrpSpPr>
        <p:grpSpPr>
          <a:xfrm>
            <a:off x="558491" y="4077350"/>
            <a:ext cx="4632129" cy="1371285"/>
            <a:chOff x="153719" y="3852302"/>
            <a:chExt cx="4632129" cy="1371285"/>
          </a:xfrm>
        </p:grpSpPr>
        <p:grpSp>
          <p:nvGrpSpPr>
            <p:cNvPr id="19" name="그룹 18">
              <a:extLst>
                <a:ext uri="{FF2B5EF4-FFF2-40B4-BE49-F238E27FC236}">
                  <a16:creationId xmlns:a16="http://schemas.microsoft.com/office/drawing/2014/main" id="{A14517DE-B14F-6ED4-95AD-F063CAE71963}"/>
                </a:ext>
              </a:extLst>
            </p:cNvPr>
            <p:cNvGrpSpPr/>
            <p:nvPr/>
          </p:nvGrpSpPr>
          <p:grpSpPr>
            <a:xfrm>
              <a:off x="153719" y="3852302"/>
              <a:ext cx="4292258" cy="1371285"/>
              <a:chOff x="879857" y="4694643"/>
              <a:chExt cx="4292258" cy="1371285"/>
            </a:xfrm>
          </p:grpSpPr>
          <p:grpSp>
            <p:nvGrpSpPr>
              <p:cNvPr id="21" name="그룹 20">
                <a:extLst>
                  <a:ext uri="{FF2B5EF4-FFF2-40B4-BE49-F238E27FC236}">
                    <a16:creationId xmlns:a16="http://schemas.microsoft.com/office/drawing/2014/main" id="{B06317D7-57F1-AD10-B807-D67B74B95F4A}"/>
                  </a:ext>
                </a:extLst>
              </p:cNvPr>
              <p:cNvGrpSpPr/>
              <p:nvPr/>
            </p:nvGrpSpPr>
            <p:grpSpPr>
              <a:xfrm>
                <a:off x="879857" y="4694643"/>
                <a:ext cx="4292258" cy="1371285"/>
                <a:chOff x="466290" y="3427575"/>
                <a:chExt cx="4292258" cy="1371285"/>
              </a:xfrm>
            </p:grpSpPr>
            <p:pic>
              <p:nvPicPr>
                <p:cNvPr id="25" name="그림 24">
                  <a:extLst>
                    <a:ext uri="{FF2B5EF4-FFF2-40B4-BE49-F238E27FC236}">
                      <a16:creationId xmlns:a16="http://schemas.microsoft.com/office/drawing/2014/main" id="{20C2390C-4032-4DD2-10BF-2EA8065C107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3512" t="56557" r="13371" b="41098"/>
                <a:stretch/>
              </p:blipFill>
              <p:spPr>
                <a:xfrm>
                  <a:off x="3367038" y="4066538"/>
                  <a:ext cx="1391510" cy="198787"/>
                </a:xfrm>
                <a:prstGeom prst="rect">
                  <a:avLst/>
                </a:prstGeom>
                <a:effectLst>
                  <a:outerShdw blurRad="50800" dist="38100" dir="2700000" algn="tl" rotWithShape="0">
                    <a:prstClr val="black">
                      <a:alpha val="40000"/>
                    </a:prstClr>
                  </a:outerShdw>
                </a:effectLst>
              </p:spPr>
            </p:pic>
            <p:pic>
              <p:nvPicPr>
                <p:cNvPr id="26" name="그림 25">
                  <a:extLst>
                    <a:ext uri="{FF2B5EF4-FFF2-40B4-BE49-F238E27FC236}">
                      <a16:creationId xmlns:a16="http://schemas.microsoft.com/office/drawing/2014/main" id="{76C8CA49-B46F-1088-96BC-956E3494287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07" t="50394" r="37923" b="28647"/>
                <a:stretch/>
              </p:blipFill>
              <p:spPr>
                <a:xfrm>
                  <a:off x="466290" y="3427575"/>
                  <a:ext cx="2864600" cy="1371285"/>
                </a:xfrm>
                <a:prstGeom prst="rect">
                  <a:avLst/>
                </a:prstGeom>
                <a:ln w="28575">
                  <a:noFill/>
                </a:ln>
                <a:effectLst>
                  <a:outerShdw blurRad="50800" dist="38100" dir="2700000" algn="tl" rotWithShape="0">
                    <a:prstClr val="black">
                      <a:alpha val="40000"/>
                    </a:prstClr>
                  </a:outerShdw>
                </a:effectLst>
              </p:spPr>
            </p:pic>
          </p:grpSp>
          <p:sp>
            <p:nvSpPr>
              <p:cNvPr id="22" name="직사각형 21">
                <a:extLst>
                  <a:ext uri="{FF2B5EF4-FFF2-40B4-BE49-F238E27FC236}">
                    <a16:creationId xmlns:a16="http://schemas.microsoft.com/office/drawing/2014/main" id="{F27AB99A-1E5A-8422-48E0-6F576EAB46A8}"/>
                  </a:ext>
                </a:extLst>
              </p:cNvPr>
              <p:cNvSpPr/>
              <p:nvPr/>
            </p:nvSpPr>
            <p:spPr>
              <a:xfrm>
                <a:off x="937319" y="4974706"/>
                <a:ext cx="121953" cy="138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62EE8975-FC00-BAFC-FD98-9B64FE04F104}"/>
                  </a:ext>
                </a:extLst>
              </p:cNvPr>
              <p:cNvSpPr/>
              <p:nvPr/>
            </p:nvSpPr>
            <p:spPr>
              <a:xfrm>
                <a:off x="934940" y="5589106"/>
                <a:ext cx="121953" cy="138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D94DA3C4-D1A3-C96E-D1E6-7E7DD0B2E47E}"/>
                  </a:ext>
                </a:extLst>
              </p:cNvPr>
              <p:cNvSpPr/>
              <p:nvPr/>
            </p:nvSpPr>
            <p:spPr>
              <a:xfrm>
                <a:off x="1609561" y="6019512"/>
                <a:ext cx="46124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0" name="타원 19">
              <a:extLst>
                <a:ext uri="{FF2B5EF4-FFF2-40B4-BE49-F238E27FC236}">
                  <a16:creationId xmlns:a16="http://schemas.microsoft.com/office/drawing/2014/main" id="{024752A0-8217-F28D-FA6B-A086DCCFD9AB}"/>
                </a:ext>
              </a:extLst>
            </p:cNvPr>
            <p:cNvSpPr/>
            <p:nvPr/>
          </p:nvSpPr>
          <p:spPr>
            <a:xfrm>
              <a:off x="3588709" y="4386681"/>
              <a:ext cx="1197139" cy="359576"/>
            </a:xfrm>
            <a:prstGeom prst="ellipse">
              <a:avLst/>
            </a:prstGeom>
            <a:noFill/>
            <a:ln w="19050">
              <a:solidFill>
                <a:srgbClr val="9D1F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7" name="TextBox 26">
            <a:extLst>
              <a:ext uri="{FF2B5EF4-FFF2-40B4-BE49-F238E27FC236}">
                <a16:creationId xmlns:a16="http://schemas.microsoft.com/office/drawing/2014/main" id="{2044CC91-61A2-2E71-F3B7-6228CCA5F385}"/>
              </a:ext>
            </a:extLst>
          </p:cNvPr>
          <p:cNvSpPr txBox="1"/>
          <p:nvPr/>
        </p:nvSpPr>
        <p:spPr>
          <a:xfrm>
            <a:off x="5134317" y="2974305"/>
            <a:ext cx="3712627" cy="2077492"/>
          </a:xfrm>
          <a:prstGeom prst="rect">
            <a:avLst/>
          </a:prstGeom>
          <a:noFill/>
        </p:spPr>
        <p:txBody>
          <a:bodyPr wrap="square" rtlCol="0">
            <a:spAutoFit/>
          </a:bodyPr>
          <a:lstStyle/>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Right arm 2.27 kg</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Left arm 2.78 kg</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Right leg 8.83 kg</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Left leg 7.88 kg </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SMI = </a:t>
            </a:r>
            <a:r>
              <a:rPr lang="en-US" altLang="ko-KR" sz="1600" b="1" dirty="0">
                <a:latin typeface="Lato" panose="020F0502020204030203" pitchFamily="34" charset="0"/>
                <a:ea typeface="Lato" panose="020F0502020204030203" pitchFamily="34" charset="0"/>
                <a:cs typeface="Lato" panose="020F0502020204030203" pitchFamily="34" charset="0"/>
              </a:rPr>
              <a:t>8.7 kg/m</a:t>
            </a:r>
            <a:r>
              <a:rPr lang="en-US" altLang="ko-KR" sz="1600" b="1" baseline="30000" dirty="0">
                <a:latin typeface="Lato" panose="020F0502020204030203" pitchFamily="34" charset="0"/>
                <a:ea typeface="Lato" panose="020F0502020204030203" pitchFamily="34" charset="0"/>
                <a:cs typeface="Lato" panose="020F0502020204030203" pitchFamily="34" charset="0"/>
              </a:rPr>
              <a:t>2</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      = (2.27+2.78+8.83+7.88) / (1.58 ×1.58)    </a:t>
            </a:r>
            <a:endParaRPr lang="ko-KR" altLang="en-US" sz="1400" dirty="0">
              <a:latin typeface="Lato" panose="020F0502020204030203" pitchFamily="34" charset="0"/>
              <a:cs typeface="Lato" panose="020F0502020204030203" pitchFamily="34" charset="0"/>
            </a:endParaRPr>
          </a:p>
        </p:txBody>
      </p:sp>
      <p:sp>
        <p:nvSpPr>
          <p:cNvPr id="28" name="오른쪽 화살표 42">
            <a:extLst>
              <a:ext uri="{FF2B5EF4-FFF2-40B4-BE49-F238E27FC236}">
                <a16:creationId xmlns:a16="http://schemas.microsoft.com/office/drawing/2014/main" id="{5F4184B2-1292-02F4-3B95-E1D0C0BD7EB0}"/>
              </a:ext>
            </a:extLst>
          </p:cNvPr>
          <p:cNvSpPr/>
          <p:nvPr/>
        </p:nvSpPr>
        <p:spPr>
          <a:xfrm>
            <a:off x="7954282" y="3671572"/>
            <a:ext cx="668344" cy="636792"/>
          </a:xfrm>
          <a:prstGeom prst="rightArrow">
            <a:avLst>
              <a:gd name="adj1" fmla="val 50000"/>
              <a:gd name="adj2" fmla="val 73341"/>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panose="020F0502020204030203" pitchFamily="34" charset="0"/>
              <a:cs typeface="Lato" panose="020F0502020204030203" pitchFamily="34" charset="0"/>
            </a:endParaRPr>
          </a:p>
        </p:txBody>
      </p:sp>
      <p:sp>
        <p:nvSpPr>
          <p:cNvPr id="29" name="TextBox 28">
            <a:extLst>
              <a:ext uri="{FF2B5EF4-FFF2-40B4-BE49-F238E27FC236}">
                <a16:creationId xmlns:a16="http://schemas.microsoft.com/office/drawing/2014/main" id="{408C46DE-1138-D767-B2DA-DD9C63752898}"/>
              </a:ext>
            </a:extLst>
          </p:cNvPr>
          <p:cNvSpPr txBox="1"/>
          <p:nvPr/>
        </p:nvSpPr>
        <p:spPr>
          <a:xfrm>
            <a:off x="8846944" y="2974305"/>
            <a:ext cx="3183588" cy="1754326"/>
          </a:xfrm>
          <a:prstGeom prst="rect">
            <a:avLst/>
          </a:prstGeom>
          <a:noFill/>
        </p:spPr>
        <p:txBody>
          <a:bodyPr wrap="square" rtlCol="0">
            <a:spAutoFit/>
          </a:bodyPr>
          <a:lstStyle/>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Right arm 2.27 kg – excessive ECW</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Left arm 2.78 kg – excessive ECW</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Right leg 8.83 kg – excessive ECW</a:t>
            </a:r>
          </a:p>
          <a:p>
            <a:pPr>
              <a:lnSpc>
                <a:spcPct val="150000"/>
              </a:lnSpc>
            </a:pPr>
            <a:r>
              <a:rPr lang="en-US" altLang="ko-KR" sz="1400" dirty="0">
                <a:latin typeface="Lato" panose="020F0502020204030203" pitchFamily="34" charset="0"/>
                <a:ea typeface="Lato" panose="020F0502020204030203" pitchFamily="34" charset="0"/>
                <a:cs typeface="Lato" panose="020F0502020204030203" pitchFamily="34" charset="0"/>
              </a:rPr>
              <a:t>Left leg 7.88 kg – excessive ECW</a:t>
            </a:r>
          </a:p>
          <a:p>
            <a:pPr>
              <a:lnSpc>
                <a:spcPct val="150000"/>
              </a:lnSpc>
            </a:pPr>
            <a:r>
              <a:rPr lang="en-US" altLang="ko-KR" sz="1400" b="1" dirty="0">
                <a:latin typeface="Lato" panose="020F0502020204030203" pitchFamily="34" charset="0"/>
                <a:ea typeface="Lato" panose="020F0502020204030203" pitchFamily="34" charset="0"/>
                <a:cs typeface="Lato" panose="020F0502020204030203" pitchFamily="34" charset="0"/>
              </a:rPr>
              <a:t>Adjusted SMI </a:t>
            </a:r>
            <a:r>
              <a:rPr lang="en-US" altLang="ko-KR" sz="1400" dirty="0">
                <a:latin typeface="Lato" panose="020F0502020204030203" pitchFamily="34" charset="0"/>
                <a:ea typeface="Lato" panose="020F0502020204030203" pitchFamily="34" charset="0"/>
                <a:cs typeface="Lato" panose="020F0502020204030203" pitchFamily="34" charset="0"/>
              </a:rPr>
              <a:t>= </a:t>
            </a:r>
            <a:r>
              <a:rPr lang="en-US" altLang="ko-KR" sz="1600" b="1" dirty="0">
                <a:latin typeface="Lato" panose="020F0502020204030203" pitchFamily="34" charset="0"/>
                <a:ea typeface="Lato" panose="020F0502020204030203" pitchFamily="34" charset="0"/>
                <a:cs typeface="Lato" panose="020F0502020204030203" pitchFamily="34" charset="0"/>
              </a:rPr>
              <a:t>7.7 kg/m</a:t>
            </a:r>
            <a:r>
              <a:rPr lang="en-US" altLang="ko-KR" sz="1600" b="1" baseline="30000" dirty="0">
                <a:latin typeface="Lato" panose="020F0502020204030203" pitchFamily="34" charset="0"/>
                <a:ea typeface="Lato" panose="020F0502020204030203" pitchFamily="34" charset="0"/>
                <a:cs typeface="Lato" panose="020F0502020204030203" pitchFamily="34" charset="0"/>
              </a:rPr>
              <a:t>2</a:t>
            </a:r>
            <a:endParaRPr lang="ko-KR" altLang="en-US" sz="1400" b="1" baseline="30000" dirty="0">
              <a:latin typeface="Lato" panose="020F0502020204030203" pitchFamily="34" charset="0"/>
              <a:cs typeface="Lato" panose="020F0502020204030203" pitchFamily="34" charset="0"/>
            </a:endParaRPr>
          </a:p>
        </p:txBody>
      </p:sp>
      <p:sp>
        <p:nvSpPr>
          <p:cNvPr id="30" name="TextBox 29">
            <a:extLst>
              <a:ext uri="{FF2B5EF4-FFF2-40B4-BE49-F238E27FC236}">
                <a16:creationId xmlns:a16="http://schemas.microsoft.com/office/drawing/2014/main" id="{78A676FE-B85F-B9A7-E146-0F2AD9C04FE7}"/>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1" name="TextBox 30">
            <a:extLst>
              <a:ext uri="{FF2B5EF4-FFF2-40B4-BE49-F238E27FC236}">
                <a16:creationId xmlns:a16="http://schemas.microsoft.com/office/drawing/2014/main" id="{5F1C9F48-2201-A45A-2846-CF3E0A7A25A1}"/>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32" name="TextBox 31">
            <a:extLst>
              <a:ext uri="{FF2B5EF4-FFF2-40B4-BE49-F238E27FC236}">
                <a16:creationId xmlns:a16="http://schemas.microsoft.com/office/drawing/2014/main" id="{C67B5C4F-FC63-9F28-FC74-6BC1C5C6F171}"/>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Nutrition Status &amp; PEW</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33" name="모서리가 둥근 직사각형 31">
            <a:extLst>
              <a:ext uri="{FF2B5EF4-FFF2-40B4-BE49-F238E27FC236}">
                <a16:creationId xmlns:a16="http://schemas.microsoft.com/office/drawing/2014/main" id="{8C48D3D7-ECD7-F457-1317-7BA6BAD9A649}"/>
              </a:ext>
            </a:extLst>
          </p:cNvPr>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4" name="타원 33">
            <a:extLst>
              <a:ext uri="{FF2B5EF4-FFF2-40B4-BE49-F238E27FC236}">
                <a16:creationId xmlns:a16="http://schemas.microsoft.com/office/drawing/2014/main" id="{9069480F-2C1E-A773-EA77-41C2BDF2F91E}"/>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35" name="TextBox 34">
            <a:extLst>
              <a:ext uri="{FF2B5EF4-FFF2-40B4-BE49-F238E27FC236}">
                <a16:creationId xmlns:a16="http://schemas.microsoft.com/office/drawing/2014/main" id="{9D052561-1E1D-2411-E551-1D1969B030CC}"/>
              </a:ext>
            </a:extLst>
          </p:cNvPr>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grpSp>
        <p:nvGrpSpPr>
          <p:cNvPr id="36" name="그룹 35">
            <a:extLst>
              <a:ext uri="{FF2B5EF4-FFF2-40B4-BE49-F238E27FC236}">
                <a16:creationId xmlns:a16="http://schemas.microsoft.com/office/drawing/2014/main" id="{3492F1C5-E8A6-C110-07E7-57BB72DFCC03}"/>
              </a:ext>
            </a:extLst>
          </p:cNvPr>
          <p:cNvGrpSpPr/>
          <p:nvPr/>
        </p:nvGrpSpPr>
        <p:grpSpPr>
          <a:xfrm>
            <a:off x="1003233" y="1274399"/>
            <a:ext cx="233727" cy="233726"/>
            <a:chOff x="2701227" y="-1816305"/>
            <a:chExt cx="7728206" cy="7728208"/>
          </a:xfrm>
        </p:grpSpPr>
        <p:sp>
          <p:nvSpPr>
            <p:cNvPr id="37" name="자유형: 도형 22">
              <a:extLst>
                <a:ext uri="{FF2B5EF4-FFF2-40B4-BE49-F238E27FC236}">
                  <a16:creationId xmlns:a16="http://schemas.microsoft.com/office/drawing/2014/main" id="{08066F49-D5E5-B5B0-401E-5643432A2876}"/>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8" name="타원 37">
              <a:extLst>
                <a:ext uri="{FF2B5EF4-FFF2-40B4-BE49-F238E27FC236}">
                  <a16:creationId xmlns:a16="http://schemas.microsoft.com/office/drawing/2014/main" id="{81405EAF-5DB9-DB4D-2508-4BB28EC78B97}"/>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39" name="직사각형 38">
            <a:extLst>
              <a:ext uri="{FF2B5EF4-FFF2-40B4-BE49-F238E27FC236}">
                <a16:creationId xmlns:a16="http://schemas.microsoft.com/office/drawing/2014/main" id="{4D1CFE55-7DBB-821F-AF11-99D2745CC94E}"/>
              </a:ext>
            </a:extLst>
          </p:cNvPr>
          <p:cNvSpPr/>
          <p:nvPr/>
        </p:nvSpPr>
        <p:spPr>
          <a:xfrm>
            <a:off x="1241910" y="1193463"/>
            <a:ext cx="10547971" cy="982448"/>
          </a:xfrm>
          <a:prstGeom prst="rect">
            <a:avLst/>
          </a:prstGeom>
        </p:spPr>
        <p:txBody>
          <a:bodyPr wrap="square">
            <a:spAutoFit/>
          </a:bodyPr>
          <a:lstStyle/>
          <a:p>
            <a:pPr>
              <a:lnSpc>
                <a:spcPct val="125000"/>
              </a:lnSpc>
            </a:pPr>
            <a:r>
              <a:rPr lang="en-US" altLang="ko-KR" sz="16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Adjusted SMI : </a:t>
            </a:r>
            <a:r>
              <a:rPr lang="en-US" altLang="ko-KR" sz="1600" b="1" dirty="0">
                <a:solidFill>
                  <a:srgbClr val="4B4F5A"/>
                </a:solidFill>
                <a:latin typeface="+mj-ea"/>
                <a:ea typeface="+mj-ea"/>
              </a:rPr>
              <a:t>a muscle index that removed excess ECW based on age-specific average ECW ratio.</a:t>
            </a:r>
            <a:endParaRPr lang="ko-KR" altLang="en-US" sz="1600" b="1" spc="-150" dirty="0">
              <a:solidFill>
                <a:srgbClr val="4B4F5A"/>
              </a:solidFill>
              <a:latin typeface="+mj-ea"/>
              <a:ea typeface="+mj-ea"/>
            </a:endParaRPr>
          </a:p>
          <a:p>
            <a:pPr>
              <a:lnSpc>
                <a:spcPct val="125000"/>
              </a:lnSpc>
            </a:pPr>
            <a:endParaRPr lang="ko-KR" altLang="en-US" sz="1600" b="1" spc="-150" dirty="0">
              <a:solidFill>
                <a:srgbClr val="4B4F5A"/>
              </a:solidFill>
              <a:latin typeface="+mj-ea"/>
              <a:ea typeface="+mj-ea"/>
            </a:endParaRPr>
          </a:p>
          <a:p>
            <a:pPr>
              <a:lnSpc>
                <a:spcPct val="125000"/>
              </a:lnSpc>
            </a:pPr>
            <a:endParaRPr lang="en-US" altLang="ko-KR" sz="1600" dirty="0">
              <a:solidFill>
                <a:srgbClr val="4B4F5A"/>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08199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4" name="TextBox 3">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모서리가 둥근 직사각형 4"/>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 name="타원 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7" name="TextBox 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11" name="직사각형 10">
            <a:extLst>
              <a:ext uri="{FF2B5EF4-FFF2-40B4-BE49-F238E27FC236}">
                <a16:creationId xmlns:a16="http://schemas.microsoft.com/office/drawing/2014/main" id="{D17220AE-0618-086C-6C9A-B3731E51121D}"/>
              </a:ext>
            </a:extLst>
          </p:cNvPr>
          <p:cNvSpPr/>
          <p:nvPr/>
        </p:nvSpPr>
        <p:spPr>
          <a:xfrm>
            <a:off x="1189881" y="1139399"/>
            <a:ext cx="9686606" cy="1477071"/>
          </a:xfrm>
          <a:prstGeom prst="rect">
            <a:avLst/>
          </a:prstGeom>
        </p:spPr>
        <p:txBody>
          <a:bodyPr wrap="square">
            <a:spAutoFit/>
          </a:bodyPr>
          <a:lstStyle/>
          <a:p>
            <a:pPr algn="just">
              <a:lnSpc>
                <a:spcPts val="2800"/>
              </a:lnSpc>
            </a:pPr>
            <a:r>
              <a:rPr lang="en-US" altLang="ko-KR" sz="1400" b="1" dirty="0">
                <a:solidFill>
                  <a:srgbClr val="4B4F5A"/>
                </a:solidFill>
                <a:latin typeface="Lato" panose="020F0502020204030203" pitchFamily="34" charset="0"/>
                <a:ea typeface="+mj-ea"/>
                <a:cs typeface="Lato" panose="020F0502020204030203" pitchFamily="34" charset="0"/>
              </a:rPr>
              <a:t>In the human body, the cell membrane consists of two layers of lipoproteins. Inside, there's a lipid layer, while the outer layers on both sides are composed of water-friendly protein layers, serving as a scaffold. </a:t>
            </a:r>
            <a:r>
              <a:rPr lang="en-US" altLang="ko-KR" sz="1400" b="1" dirty="0" err="1">
                <a:solidFill>
                  <a:srgbClr val="4B4F5A"/>
                </a:solidFill>
                <a:latin typeface="Lato" panose="020F0502020204030203" pitchFamily="34" charset="0"/>
                <a:ea typeface="+mj-ea"/>
                <a:cs typeface="Lato" panose="020F0502020204030203" pitchFamily="34" charset="0"/>
              </a:rPr>
              <a:t>Xc</a:t>
            </a:r>
            <a:r>
              <a:rPr lang="en-US" altLang="ko-KR" sz="1400" b="1" dirty="0">
                <a:solidFill>
                  <a:srgbClr val="4B4F5A"/>
                </a:solidFill>
                <a:latin typeface="Lato" panose="020F0502020204030203" pitchFamily="34" charset="0"/>
                <a:ea typeface="+mj-ea"/>
                <a:cs typeface="Lato" panose="020F0502020204030203" pitchFamily="34" charset="0"/>
              </a:rPr>
              <a:t> represents the resistance component generated in the scaffold-like cell membrane, and </a:t>
            </a:r>
            <a:r>
              <a:rPr lang="en-US" altLang="ko-KR" sz="1400" b="1" dirty="0" err="1">
                <a:solidFill>
                  <a:srgbClr val="4B4F5A"/>
                </a:solidFill>
                <a:latin typeface="Lato" panose="020F0502020204030203" pitchFamily="34" charset="0"/>
                <a:ea typeface="+mj-ea"/>
                <a:cs typeface="Lato" panose="020F0502020204030203" pitchFamily="34" charset="0"/>
              </a:rPr>
              <a:t>PhA</a:t>
            </a:r>
            <a:r>
              <a:rPr lang="en-US" altLang="ko-KR" sz="1400" b="1" dirty="0">
                <a:solidFill>
                  <a:srgbClr val="4B4F5A"/>
                </a:solidFill>
                <a:latin typeface="Lato" panose="020F0502020204030203" pitchFamily="34" charset="0"/>
                <a:ea typeface="+mj-ea"/>
                <a:cs typeface="Lato" panose="020F0502020204030203" pitchFamily="34" charset="0"/>
              </a:rPr>
              <a:t> is proportional to </a:t>
            </a:r>
            <a:r>
              <a:rPr lang="en-US" altLang="ko-KR" sz="1400" b="1" dirty="0" err="1">
                <a:solidFill>
                  <a:srgbClr val="4B4F5A"/>
                </a:solidFill>
                <a:latin typeface="Lato" panose="020F0502020204030203" pitchFamily="34" charset="0"/>
                <a:ea typeface="+mj-ea"/>
                <a:cs typeface="Lato" panose="020F0502020204030203" pitchFamily="34" charset="0"/>
              </a:rPr>
              <a:t>Xc</a:t>
            </a:r>
            <a:r>
              <a:rPr lang="en-US" altLang="ko-KR" sz="1400" b="1" dirty="0">
                <a:solidFill>
                  <a:srgbClr val="4B4F5A"/>
                </a:solidFill>
                <a:latin typeface="Lato" panose="020F0502020204030203" pitchFamily="34" charset="0"/>
                <a:ea typeface="+mj-ea"/>
                <a:cs typeface="Lato" panose="020F0502020204030203" pitchFamily="34" charset="0"/>
              </a:rPr>
              <a:t>. </a:t>
            </a:r>
            <a:r>
              <a:rPr lang="en-US" altLang="ko-KR" sz="1400" b="1" dirty="0" err="1">
                <a:solidFill>
                  <a:srgbClr val="4B4F5A"/>
                </a:solidFill>
                <a:latin typeface="Lato" panose="020F0502020204030203" pitchFamily="34" charset="0"/>
                <a:ea typeface="+mj-ea"/>
                <a:cs typeface="Lato" panose="020F0502020204030203" pitchFamily="34" charset="0"/>
              </a:rPr>
              <a:t>PhA</a:t>
            </a:r>
            <a:r>
              <a:rPr lang="en-US" altLang="ko-KR" sz="1400" b="1" dirty="0">
                <a:solidFill>
                  <a:srgbClr val="4B4F5A"/>
                </a:solidFill>
                <a:latin typeface="Lato" panose="020F0502020204030203" pitchFamily="34" charset="0"/>
                <a:ea typeface="+mj-ea"/>
                <a:cs typeface="Lato" panose="020F0502020204030203" pitchFamily="34" charset="0"/>
              </a:rPr>
              <a:t> is correlated with cell/cellular membrane health.</a:t>
            </a:r>
            <a:endParaRPr lang="en-US" altLang="ko-KR" sz="1400" b="1" dirty="0">
              <a:solidFill>
                <a:srgbClr val="A0112D"/>
              </a:solidFill>
              <a:latin typeface="Lato" panose="020F0502020204030203" pitchFamily="34" charset="0"/>
              <a:ea typeface="Lato" panose="020F0502020204030203" pitchFamily="34" charset="0"/>
              <a:cs typeface="Lato" panose="020F0502020204030203" pitchFamily="34" charset="0"/>
            </a:endParaRPr>
          </a:p>
        </p:txBody>
      </p:sp>
      <p:grpSp>
        <p:nvGrpSpPr>
          <p:cNvPr id="15" name="그룹 14">
            <a:extLst>
              <a:ext uri="{FF2B5EF4-FFF2-40B4-BE49-F238E27FC236}">
                <a16:creationId xmlns:a16="http://schemas.microsoft.com/office/drawing/2014/main" id="{617341FD-5CB6-FD6B-EC53-DDC188C48602}"/>
              </a:ext>
            </a:extLst>
          </p:cNvPr>
          <p:cNvGrpSpPr/>
          <p:nvPr/>
        </p:nvGrpSpPr>
        <p:grpSpPr>
          <a:xfrm>
            <a:off x="2010570" y="2808837"/>
            <a:ext cx="7931655" cy="3862000"/>
            <a:chOff x="2751910" y="2414975"/>
            <a:chExt cx="6552728" cy="3190587"/>
          </a:xfrm>
        </p:grpSpPr>
        <p:pic>
          <p:nvPicPr>
            <p:cNvPr id="16" name="그림 15">
              <a:extLst>
                <a:ext uri="{FF2B5EF4-FFF2-40B4-BE49-F238E27FC236}">
                  <a16:creationId xmlns:a16="http://schemas.microsoft.com/office/drawing/2014/main" id="{8F335677-44F6-C409-B650-9C236F2173A5}"/>
                </a:ext>
              </a:extLst>
            </p:cNvPr>
            <p:cNvPicPr>
              <a:picLocks noChangeAspect="1"/>
            </p:cNvPicPr>
            <p:nvPr/>
          </p:nvPicPr>
          <p:blipFill rotWithShape="1">
            <a:blip r:embed="rId2"/>
            <a:srcRect b="54832"/>
            <a:stretch/>
          </p:blipFill>
          <p:spPr>
            <a:xfrm>
              <a:off x="2751910" y="2414975"/>
              <a:ext cx="6078369" cy="1656505"/>
            </a:xfrm>
            <a:prstGeom prst="rect">
              <a:avLst/>
            </a:prstGeom>
          </p:spPr>
        </p:pic>
        <p:pic>
          <p:nvPicPr>
            <p:cNvPr id="17" name="그림 16">
              <a:extLst>
                <a:ext uri="{FF2B5EF4-FFF2-40B4-BE49-F238E27FC236}">
                  <a16:creationId xmlns:a16="http://schemas.microsoft.com/office/drawing/2014/main" id="{C17491BA-ECA6-555B-3FD7-04B30B6B2574}"/>
                </a:ext>
              </a:extLst>
            </p:cNvPr>
            <p:cNvPicPr>
              <a:picLocks noChangeAspect="1"/>
            </p:cNvPicPr>
            <p:nvPr/>
          </p:nvPicPr>
          <p:blipFill rotWithShape="1">
            <a:blip r:embed="rId2"/>
            <a:srcRect t="47262" r="54309"/>
            <a:stretch/>
          </p:blipFill>
          <p:spPr>
            <a:xfrm>
              <a:off x="2756058" y="4257855"/>
              <a:ext cx="1900763" cy="1323716"/>
            </a:xfrm>
            <a:prstGeom prst="rect">
              <a:avLst/>
            </a:prstGeom>
          </p:spPr>
        </p:pic>
        <p:pic>
          <p:nvPicPr>
            <p:cNvPr id="18" name="그림 17" descr="화면 캡처">
              <a:extLst>
                <a:ext uri="{FF2B5EF4-FFF2-40B4-BE49-F238E27FC236}">
                  <a16:creationId xmlns:a16="http://schemas.microsoft.com/office/drawing/2014/main" id="{D5F00E56-EF10-EDFE-07BC-87B2A9C51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8134" y="4230613"/>
              <a:ext cx="4536504" cy="1374949"/>
            </a:xfrm>
            <a:prstGeom prst="rect">
              <a:avLst/>
            </a:prstGeom>
          </p:spPr>
        </p:pic>
      </p:grpSp>
      <p:sp>
        <p:nvSpPr>
          <p:cNvPr id="19" name="TextBox 18">
            <a:extLst>
              <a:ext uri="{FF2B5EF4-FFF2-40B4-BE49-F238E27FC236}">
                <a16:creationId xmlns:a16="http://schemas.microsoft.com/office/drawing/2014/main" id="{4A944FE9-CE0F-80A5-6E19-951ED4E1F009}"/>
              </a:ext>
            </a:extLst>
          </p:cNvPr>
          <p:cNvSpPr txBox="1"/>
          <p:nvPr/>
        </p:nvSpPr>
        <p:spPr>
          <a:xfrm>
            <a:off x="10013181" y="6222976"/>
            <a:ext cx="1875835" cy="215444"/>
          </a:xfrm>
          <a:prstGeom prst="rect">
            <a:avLst/>
          </a:prstGeom>
          <a:noFill/>
        </p:spPr>
        <p:txBody>
          <a:bodyPr wrap="none">
            <a:spAutoFit/>
          </a:bodyPr>
          <a:lstStyle/>
          <a:p>
            <a:pPr algn="r"/>
            <a:r>
              <a:rPr lang="en-US" altLang="ko-KR" sz="800" i="1" dirty="0"/>
              <a:t>Clinical Nutrition 2004;23:1226-1243</a:t>
            </a:r>
            <a:endParaRPr lang="ko-KR" altLang="en-US" sz="800" i="1" dirty="0"/>
          </a:p>
        </p:txBody>
      </p:sp>
      <p:grpSp>
        <p:nvGrpSpPr>
          <p:cNvPr id="20" name="그룹 19">
            <a:extLst>
              <a:ext uri="{FF2B5EF4-FFF2-40B4-BE49-F238E27FC236}">
                <a16:creationId xmlns:a16="http://schemas.microsoft.com/office/drawing/2014/main" id="{F34CD576-A5E6-9BA7-52ED-749152BFF4DE}"/>
              </a:ext>
            </a:extLst>
          </p:cNvPr>
          <p:cNvGrpSpPr/>
          <p:nvPr/>
        </p:nvGrpSpPr>
        <p:grpSpPr>
          <a:xfrm>
            <a:off x="1003233" y="1274399"/>
            <a:ext cx="233727" cy="233726"/>
            <a:chOff x="2701227" y="-1816305"/>
            <a:chExt cx="7728206" cy="7728208"/>
          </a:xfrm>
        </p:grpSpPr>
        <p:sp>
          <p:nvSpPr>
            <p:cNvPr id="21" name="자유형: 도형 22">
              <a:extLst>
                <a:ext uri="{FF2B5EF4-FFF2-40B4-BE49-F238E27FC236}">
                  <a16:creationId xmlns:a16="http://schemas.microsoft.com/office/drawing/2014/main" id="{0D17F2DD-3F7A-3CB2-6958-68DD373F3DB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510E3BDE-301A-A129-3D2C-6D440451936D}"/>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Tree>
    <p:extLst>
      <p:ext uri="{BB962C8B-B14F-4D97-AF65-F5344CB8AC3E}">
        <p14:creationId xmlns:p14="http://schemas.microsoft.com/office/powerpoint/2010/main" val="7784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4" name="TextBox 3">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모서리가 둥근 직사각형 4"/>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 name="타원 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7" name="TextBox 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11" name="직사각형 10">
            <a:extLst>
              <a:ext uri="{FF2B5EF4-FFF2-40B4-BE49-F238E27FC236}">
                <a16:creationId xmlns:a16="http://schemas.microsoft.com/office/drawing/2014/main" id="{D17220AE-0618-086C-6C9A-B3731E51121D}"/>
              </a:ext>
            </a:extLst>
          </p:cNvPr>
          <p:cNvSpPr/>
          <p:nvPr/>
        </p:nvSpPr>
        <p:spPr>
          <a:xfrm>
            <a:off x="1189881" y="1139399"/>
            <a:ext cx="9686606" cy="1117998"/>
          </a:xfrm>
          <a:prstGeom prst="rect">
            <a:avLst/>
          </a:prstGeom>
        </p:spPr>
        <p:txBody>
          <a:bodyPr wrap="square">
            <a:spAutoFit/>
          </a:bodyPr>
          <a:lstStyle/>
          <a:p>
            <a:pPr algn="just">
              <a:lnSpc>
                <a:spcPts val="2800"/>
              </a:lnSpc>
            </a:pP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Using the BIA method, sending alternating current through the human body yields impedance (Z) values, which can be distinguished into resistance (R) and reactance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Xc</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Since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PhA</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represents the relative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Xc</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value to R,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PhA</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increases as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Xc</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increases, and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PhA</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decreases proportionally as </a:t>
            </a:r>
            <a:r>
              <a:rPr lang="en-US" altLang="ko-KR" sz="1400" b="1" dirty="0" err="1">
                <a:solidFill>
                  <a:srgbClr val="4B4F5A"/>
                </a:solidFill>
                <a:latin typeface="Lato" panose="020F0502020204030203" pitchFamily="34" charset="0"/>
                <a:ea typeface="Lato" panose="020F0502020204030203" pitchFamily="34" charset="0"/>
                <a:cs typeface="Lato" panose="020F0502020204030203" pitchFamily="34" charset="0"/>
              </a:rPr>
              <a:t>Xc</a:t>
            </a:r>
            <a:r>
              <a:rPr lang="en-US" altLang="ko-KR" sz="1400" b="1" dirty="0">
                <a:solidFill>
                  <a:srgbClr val="4B4F5A"/>
                </a:solidFill>
                <a:latin typeface="Lato" panose="020F0502020204030203" pitchFamily="34" charset="0"/>
                <a:ea typeface="Lato" panose="020F0502020204030203" pitchFamily="34" charset="0"/>
                <a:cs typeface="Lato" panose="020F0502020204030203" pitchFamily="34" charset="0"/>
              </a:rPr>
              <a:t> decreases.</a:t>
            </a:r>
            <a:endParaRPr lang="en-US" altLang="ko-KR" sz="1400" b="1" dirty="0">
              <a:solidFill>
                <a:srgbClr val="A0112D"/>
              </a:solidFill>
              <a:latin typeface="Lato" panose="020F0502020204030203" pitchFamily="34" charset="0"/>
              <a:ea typeface="Lato" panose="020F0502020204030203" pitchFamily="34" charset="0"/>
              <a:cs typeface="Lato" panose="020F0502020204030203" pitchFamily="34" charset="0"/>
            </a:endParaRPr>
          </a:p>
        </p:txBody>
      </p:sp>
      <p:sp>
        <p:nvSpPr>
          <p:cNvPr id="14" name="TextBox 13">
            <a:extLst>
              <a:ext uri="{FF2B5EF4-FFF2-40B4-BE49-F238E27FC236}">
                <a16:creationId xmlns:a16="http://schemas.microsoft.com/office/drawing/2014/main" id="{5654383A-F5D0-4782-7C72-9229A907BAFA}"/>
              </a:ext>
            </a:extLst>
          </p:cNvPr>
          <p:cNvSpPr txBox="1"/>
          <p:nvPr/>
        </p:nvSpPr>
        <p:spPr>
          <a:xfrm>
            <a:off x="9830591" y="5923432"/>
            <a:ext cx="1875835" cy="215444"/>
          </a:xfrm>
          <a:prstGeom prst="rect">
            <a:avLst/>
          </a:prstGeom>
          <a:noFill/>
        </p:spPr>
        <p:txBody>
          <a:bodyPr wrap="none">
            <a:spAutoFit/>
          </a:bodyPr>
          <a:lstStyle/>
          <a:p>
            <a:pPr algn="r"/>
            <a:r>
              <a:rPr lang="en-US" altLang="ko-KR" sz="800" i="1" dirty="0"/>
              <a:t>Clinical Nutrition 2004;23:1226-1243</a:t>
            </a:r>
            <a:endParaRPr lang="ko-KR" altLang="en-US" sz="800" i="1" dirty="0"/>
          </a:p>
        </p:txBody>
      </p:sp>
      <p:grpSp>
        <p:nvGrpSpPr>
          <p:cNvPr id="23" name="그룹 22">
            <a:extLst>
              <a:ext uri="{FF2B5EF4-FFF2-40B4-BE49-F238E27FC236}">
                <a16:creationId xmlns:a16="http://schemas.microsoft.com/office/drawing/2014/main" id="{470B3D17-378B-5B31-BA0E-681E32D51101}"/>
              </a:ext>
            </a:extLst>
          </p:cNvPr>
          <p:cNvGrpSpPr/>
          <p:nvPr/>
        </p:nvGrpSpPr>
        <p:grpSpPr>
          <a:xfrm>
            <a:off x="6359892" y="2387046"/>
            <a:ext cx="5009468" cy="3182792"/>
            <a:chOff x="3740394" y="3200928"/>
            <a:chExt cx="5395036" cy="3283863"/>
          </a:xfrm>
        </p:grpSpPr>
        <p:pic>
          <p:nvPicPr>
            <p:cNvPr id="24" name="그림 23">
              <a:extLst>
                <a:ext uri="{FF2B5EF4-FFF2-40B4-BE49-F238E27FC236}">
                  <a16:creationId xmlns:a16="http://schemas.microsoft.com/office/drawing/2014/main" id="{44767465-14DE-5307-D2F5-996D4673966C}"/>
                </a:ext>
              </a:extLst>
            </p:cNvPr>
            <p:cNvPicPr>
              <a:picLocks noChangeAspect="1"/>
            </p:cNvPicPr>
            <p:nvPr/>
          </p:nvPicPr>
          <p:blipFill rotWithShape="1">
            <a:blip r:embed="rId2"/>
            <a:srcRect l="48855" t="47262" b="16244"/>
            <a:stretch/>
          </p:blipFill>
          <p:spPr>
            <a:xfrm>
              <a:off x="3740394" y="3200928"/>
              <a:ext cx="5395036" cy="2390980"/>
            </a:xfrm>
            <a:prstGeom prst="rect">
              <a:avLst/>
            </a:prstGeom>
          </p:spPr>
        </p:pic>
        <p:pic>
          <p:nvPicPr>
            <p:cNvPr id="25" name="그림 24">
              <a:extLst>
                <a:ext uri="{FF2B5EF4-FFF2-40B4-BE49-F238E27FC236}">
                  <a16:creationId xmlns:a16="http://schemas.microsoft.com/office/drawing/2014/main" id="{4F77E958-E9B4-D6F5-74BC-B2B9BF87566A}"/>
                </a:ext>
              </a:extLst>
            </p:cNvPr>
            <p:cNvPicPr>
              <a:picLocks noChangeAspect="1"/>
            </p:cNvPicPr>
            <p:nvPr/>
          </p:nvPicPr>
          <p:blipFill rotWithShape="1">
            <a:blip r:embed="rId2"/>
            <a:srcRect l="48856" t="84281" r="6490" b="1786"/>
            <a:stretch/>
          </p:blipFill>
          <p:spPr>
            <a:xfrm>
              <a:off x="4332927" y="5714302"/>
              <a:ext cx="3975804" cy="770489"/>
            </a:xfrm>
            <a:prstGeom prst="rect">
              <a:avLst/>
            </a:prstGeom>
          </p:spPr>
        </p:pic>
        <p:sp>
          <p:nvSpPr>
            <p:cNvPr id="26" name="직사각형 25">
              <a:extLst>
                <a:ext uri="{FF2B5EF4-FFF2-40B4-BE49-F238E27FC236}">
                  <a16:creationId xmlns:a16="http://schemas.microsoft.com/office/drawing/2014/main" id="{37730AF8-B4F1-F7F7-2911-81412CA18DD7}"/>
                </a:ext>
              </a:extLst>
            </p:cNvPr>
            <p:cNvSpPr/>
            <p:nvPr/>
          </p:nvSpPr>
          <p:spPr>
            <a:xfrm>
              <a:off x="6717323" y="6365631"/>
              <a:ext cx="1591408" cy="119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7" name="그림 26">
            <a:extLst>
              <a:ext uri="{FF2B5EF4-FFF2-40B4-BE49-F238E27FC236}">
                <a16:creationId xmlns:a16="http://schemas.microsoft.com/office/drawing/2014/main" id="{2074B77C-C42E-7E38-3242-46F35FA12A12}"/>
              </a:ext>
            </a:extLst>
          </p:cNvPr>
          <p:cNvPicPr>
            <a:picLocks noChangeAspect="1"/>
          </p:cNvPicPr>
          <p:nvPr/>
        </p:nvPicPr>
        <p:blipFill>
          <a:blip r:embed="rId3"/>
          <a:stretch>
            <a:fillRect/>
          </a:stretch>
        </p:blipFill>
        <p:spPr>
          <a:xfrm>
            <a:off x="637860" y="2590593"/>
            <a:ext cx="5543550" cy="3009900"/>
          </a:xfrm>
          <a:prstGeom prst="rect">
            <a:avLst/>
          </a:prstGeom>
        </p:spPr>
      </p:pic>
      <p:grpSp>
        <p:nvGrpSpPr>
          <p:cNvPr id="28" name="그룹 27">
            <a:extLst>
              <a:ext uri="{FF2B5EF4-FFF2-40B4-BE49-F238E27FC236}">
                <a16:creationId xmlns:a16="http://schemas.microsoft.com/office/drawing/2014/main" id="{DE5C3A09-BC8F-0340-AD45-38939ED9A7A2}"/>
              </a:ext>
            </a:extLst>
          </p:cNvPr>
          <p:cNvGrpSpPr/>
          <p:nvPr/>
        </p:nvGrpSpPr>
        <p:grpSpPr>
          <a:xfrm>
            <a:off x="1003233" y="1274399"/>
            <a:ext cx="233727" cy="233726"/>
            <a:chOff x="2701227" y="-1816305"/>
            <a:chExt cx="7728206" cy="7728208"/>
          </a:xfrm>
        </p:grpSpPr>
        <p:sp>
          <p:nvSpPr>
            <p:cNvPr id="29" name="자유형: 도형 22">
              <a:extLst>
                <a:ext uri="{FF2B5EF4-FFF2-40B4-BE49-F238E27FC236}">
                  <a16:creationId xmlns:a16="http://schemas.microsoft.com/office/drawing/2014/main" id="{60FB04CC-7B0D-E185-8E4F-773822F081E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0" name="타원 29">
              <a:extLst>
                <a:ext uri="{FF2B5EF4-FFF2-40B4-BE49-F238E27FC236}">
                  <a16:creationId xmlns:a16="http://schemas.microsoft.com/office/drawing/2014/main" id="{4FAE18E7-DB43-7D5E-E3CD-AFC50CFCE214}"/>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Tree>
    <p:extLst>
      <p:ext uri="{BB962C8B-B14F-4D97-AF65-F5344CB8AC3E}">
        <p14:creationId xmlns:p14="http://schemas.microsoft.com/office/powerpoint/2010/main" val="3594304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직사각형 47">
            <a:extLst>
              <a:ext uri="{FF2B5EF4-FFF2-40B4-BE49-F238E27FC236}">
                <a16:creationId xmlns:a16="http://schemas.microsoft.com/office/drawing/2014/main" id="{D6D50E1B-1CB0-89AC-1745-65978E86E2BD}"/>
              </a:ext>
            </a:extLst>
          </p:cNvPr>
          <p:cNvSpPr/>
          <p:nvPr/>
        </p:nvSpPr>
        <p:spPr>
          <a:xfrm>
            <a:off x="8013552" y="5701649"/>
            <a:ext cx="2221992" cy="307237"/>
          </a:xfrm>
          <a:prstGeom prst="rect">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9330FCA7-E093-3C89-B7FF-82D85A03C9F7}"/>
              </a:ext>
            </a:extLst>
          </p:cNvPr>
          <p:cNvSpPr/>
          <p:nvPr/>
        </p:nvSpPr>
        <p:spPr>
          <a:xfrm>
            <a:off x="7653528" y="5340163"/>
            <a:ext cx="2221992" cy="307237"/>
          </a:xfrm>
          <a:prstGeom prst="rect">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4" name="TextBox 3">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모서리가 둥근 직사각형 4"/>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 name="타원 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7" name="TextBox 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11" name="직사각형 10">
            <a:extLst>
              <a:ext uri="{FF2B5EF4-FFF2-40B4-BE49-F238E27FC236}">
                <a16:creationId xmlns:a16="http://schemas.microsoft.com/office/drawing/2014/main" id="{D17220AE-0618-086C-6C9A-B3731E51121D}"/>
              </a:ext>
            </a:extLst>
          </p:cNvPr>
          <p:cNvSpPr/>
          <p:nvPr/>
        </p:nvSpPr>
        <p:spPr>
          <a:xfrm>
            <a:off x="1236960" y="1206710"/>
            <a:ext cx="10761327" cy="332527"/>
          </a:xfrm>
          <a:prstGeom prst="rect">
            <a:avLst/>
          </a:prstGeom>
        </p:spPr>
        <p:txBody>
          <a:bodyPr wrap="square">
            <a:spAutoFit/>
          </a:bodyPr>
          <a:lstStyle/>
          <a:p>
            <a:pPr>
              <a:lnSpc>
                <a:spcPct val="125000"/>
              </a:lnSpc>
            </a:pPr>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Phase angle represents structural integrity and physiological functionality of the cells Used for nutritional assessment.</a:t>
            </a:r>
          </a:p>
        </p:txBody>
      </p:sp>
      <p:grpSp>
        <p:nvGrpSpPr>
          <p:cNvPr id="28" name="그룹 27">
            <a:extLst>
              <a:ext uri="{FF2B5EF4-FFF2-40B4-BE49-F238E27FC236}">
                <a16:creationId xmlns:a16="http://schemas.microsoft.com/office/drawing/2014/main" id="{DE5C3A09-BC8F-0340-AD45-38939ED9A7A2}"/>
              </a:ext>
            </a:extLst>
          </p:cNvPr>
          <p:cNvGrpSpPr/>
          <p:nvPr/>
        </p:nvGrpSpPr>
        <p:grpSpPr>
          <a:xfrm>
            <a:off x="1003233" y="1274399"/>
            <a:ext cx="233727" cy="233726"/>
            <a:chOff x="2701227" y="-1816305"/>
            <a:chExt cx="7728206" cy="7728208"/>
          </a:xfrm>
        </p:grpSpPr>
        <p:sp>
          <p:nvSpPr>
            <p:cNvPr id="29" name="자유형: 도형 22">
              <a:extLst>
                <a:ext uri="{FF2B5EF4-FFF2-40B4-BE49-F238E27FC236}">
                  <a16:creationId xmlns:a16="http://schemas.microsoft.com/office/drawing/2014/main" id="{60FB04CC-7B0D-E185-8E4F-773822F081E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0" name="타원 29">
              <a:extLst>
                <a:ext uri="{FF2B5EF4-FFF2-40B4-BE49-F238E27FC236}">
                  <a16:creationId xmlns:a16="http://schemas.microsoft.com/office/drawing/2014/main" id="{4FAE18E7-DB43-7D5E-E3CD-AFC50CFCE214}"/>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8" name="TextBox 7">
            <a:extLst>
              <a:ext uri="{FF2B5EF4-FFF2-40B4-BE49-F238E27FC236}">
                <a16:creationId xmlns:a16="http://schemas.microsoft.com/office/drawing/2014/main" id="{AF2444CA-BE42-CF18-EEE1-A4C3FE0443AF}"/>
              </a:ext>
            </a:extLst>
          </p:cNvPr>
          <p:cNvSpPr txBox="1"/>
          <p:nvPr/>
        </p:nvSpPr>
        <p:spPr>
          <a:xfrm>
            <a:off x="1563116" y="5276155"/>
            <a:ext cx="9065767" cy="750270"/>
          </a:xfrm>
          <a:prstGeom prst="rect">
            <a:avLst/>
          </a:prstGeom>
          <a:noFill/>
        </p:spPr>
        <p:txBody>
          <a:bodyPr wrap="square" rtlCol="0">
            <a:spAutoFit/>
          </a:bodyPr>
          <a:lstStyle/>
          <a:p>
            <a:pPr algn="ctr">
              <a:lnSpc>
                <a:spcPct val="125000"/>
              </a:lnSpc>
            </a:pPr>
            <a:r>
              <a:rPr lang="en-US" altLang="ko-KR" dirty="0">
                <a:latin typeface="Lato" panose="020F0502020204030203" pitchFamily="34" charset="0"/>
                <a:ea typeface="Lato" panose="020F0502020204030203" pitchFamily="34" charset="0"/>
                <a:cs typeface="Lato" panose="020F0502020204030203" pitchFamily="34" charset="0"/>
              </a:rPr>
              <a:t>Improvements in cell membrane and functionality </a:t>
            </a:r>
            <a:r>
              <a:rPr lang="en-US" altLang="ko-KR" dirty="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 </a:t>
            </a:r>
            <a:r>
              <a:rPr lang="en-US" altLang="ko-KR" dirty="0">
                <a:solidFill>
                  <a:schemeClr val="bg1"/>
                </a:solidFill>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Phase angle increase</a:t>
            </a:r>
          </a:p>
          <a:p>
            <a:pPr algn="ctr">
              <a:lnSpc>
                <a:spcPct val="125000"/>
              </a:lnSpc>
            </a:pPr>
            <a:r>
              <a:rPr lang="en-US" altLang="ko-KR" dirty="0">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Deterioration cellular integrity and selective permeability  </a:t>
            </a:r>
            <a:r>
              <a:rPr lang="en-US" altLang="ko-KR" dirty="0">
                <a:solidFill>
                  <a:schemeClr val="bg1"/>
                </a:solidFill>
                <a:latin typeface="Lato" panose="020F0502020204030203" pitchFamily="34" charset="0"/>
                <a:ea typeface="Lato" panose="020F0502020204030203" pitchFamily="34" charset="0"/>
                <a:cs typeface="Lato" panose="020F0502020204030203" pitchFamily="34" charset="0"/>
                <a:sym typeface="Wingdings" panose="05000000000000000000" pitchFamily="2" charset="2"/>
              </a:rPr>
              <a:t>Phase angle decrease</a:t>
            </a:r>
            <a:endParaRPr lang="en-US" altLang="ko-KR"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9" name="직사각형 8">
            <a:extLst>
              <a:ext uri="{FF2B5EF4-FFF2-40B4-BE49-F238E27FC236}">
                <a16:creationId xmlns:a16="http://schemas.microsoft.com/office/drawing/2014/main" id="{3F429B97-38CE-2666-FA5F-FCE8A07CCF8B}"/>
              </a:ext>
            </a:extLst>
          </p:cNvPr>
          <p:cNvSpPr/>
          <p:nvPr/>
        </p:nvSpPr>
        <p:spPr>
          <a:xfrm>
            <a:off x="2125938" y="2759086"/>
            <a:ext cx="580608" cy="246221"/>
          </a:xfrm>
          <a:prstGeom prst="rect">
            <a:avLst/>
          </a:prstGeom>
        </p:spPr>
        <p:txBody>
          <a:bodyPr wrap="none">
            <a:spAutoFit/>
          </a:bodyPr>
          <a:lstStyle/>
          <a:p>
            <a:r>
              <a:rPr lang="en-US" altLang="ko-KR" sz="10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50KHz</a:t>
            </a:r>
          </a:p>
        </p:txBody>
      </p:sp>
      <p:pic>
        <p:nvPicPr>
          <p:cNvPr id="10" name="그림 9">
            <a:extLst>
              <a:ext uri="{FF2B5EF4-FFF2-40B4-BE49-F238E27FC236}">
                <a16:creationId xmlns:a16="http://schemas.microsoft.com/office/drawing/2014/main" id="{8E8E051F-C40B-D4F2-69E0-B12AE28C484C}"/>
              </a:ext>
            </a:extLst>
          </p:cNvPr>
          <p:cNvPicPr>
            <a:picLocks noChangeAspect="1"/>
          </p:cNvPicPr>
          <p:nvPr/>
        </p:nvPicPr>
        <p:blipFill rotWithShape="1">
          <a:blip r:embed="rId2"/>
          <a:srcRect b="54026"/>
          <a:stretch/>
        </p:blipFill>
        <p:spPr>
          <a:xfrm>
            <a:off x="2423921" y="2669709"/>
            <a:ext cx="3210764" cy="1093420"/>
          </a:xfrm>
          <a:prstGeom prst="rect">
            <a:avLst/>
          </a:prstGeom>
        </p:spPr>
      </p:pic>
      <p:sp>
        <p:nvSpPr>
          <p:cNvPr id="12" name="직사각형 11">
            <a:extLst>
              <a:ext uri="{FF2B5EF4-FFF2-40B4-BE49-F238E27FC236}">
                <a16:creationId xmlns:a16="http://schemas.microsoft.com/office/drawing/2014/main" id="{3894D00B-0C41-60AE-B75F-0282A838A37A}"/>
              </a:ext>
            </a:extLst>
          </p:cNvPr>
          <p:cNvSpPr/>
          <p:nvPr/>
        </p:nvSpPr>
        <p:spPr>
          <a:xfrm>
            <a:off x="3268753" y="2132416"/>
            <a:ext cx="1366080" cy="338554"/>
          </a:xfrm>
          <a:prstGeom prst="rect">
            <a:avLst/>
          </a:prstGeom>
        </p:spPr>
        <p:txBody>
          <a:bodyPr wrap="none">
            <a:spAutoFit/>
          </a:bodyPr>
          <a:lstStyle/>
          <a:p>
            <a:pPr algn="ctr"/>
            <a:r>
              <a:rPr lang="en-US" altLang="ko-KR" sz="1600" b="1" dirty="0">
                <a:solidFill>
                  <a:srgbClr val="90001F"/>
                </a:solidFill>
                <a:latin typeface="Lato Black" panose="020F0502020204030203" pitchFamily="34" charset="0"/>
                <a:ea typeface="Lato Black" panose="020F0502020204030203" pitchFamily="34" charset="0"/>
                <a:cs typeface="Lato Black" panose="020F0502020204030203" pitchFamily="34" charset="0"/>
              </a:rPr>
              <a:t>Healthy Cell</a:t>
            </a:r>
          </a:p>
        </p:txBody>
      </p:sp>
      <p:sp>
        <p:nvSpPr>
          <p:cNvPr id="13" name="직사각형 12">
            <a:extLst>
              <a:ext uri="{FF2B5EF4-FFF2-40B4-BE49-F238E27FC236}">
                <a16:creationId xmlns:a16="http://schemas.microsoft.com/office/drawing/2014/main" id="{754C7316-4642-C310-7AC3-71F20A154695}"/>
              </a:ext>
            </a:extLst>
          </p:cNvPr>
          <p:cNvSpPr/>
          <p:nvPr/>
        </p:nvSpPr>
        <p:spPr>
          <a:xfrm>
            <a:off x="2587859" y="2461964"/>
            <a:ext cx="814647" cy="246221"/>
          </a:xfrm>
          <a:prstGeom prst="rect">
            <a:avLst/>
          </a:prstGeom>
        </p:spPr>
        <p:txBody>
          <a:bodyPr wrap="none">
            <a:spAutoFit/>
          </a:bodyPr>
          <a:lstStyle/>
          <a:p>
            <a:r>
              <a:rPr lang="en-US" altLang="ko-KR" sz="10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Membrane</a:t>
            </a:r>
          </a:p>
        </p:txBody>
      </p:sp>
      <p:cxnSp>
        <p:nvCxnSpPr>
          <p:cNvPr id="15" name="직선 화살표 연결선 14">
            <a:extLst>
              <a:ext uri="{FF2B5EF4-FFF2-40B4-BE49-F238E27FC236}">
                <a16:creationId xmlns:a16="http://schemas.microsoft.com/office/drawing/2014/main" id="{A19CF90A-B9C6-71F9-94B3-5221DA9D8684}"/>
              </a:ext>
            </a:extLst>
          </p:cNvPr>
          <p:cNvCxnSpPr/>
          <p:nvPr/>
        </p:nvCxnSpPr>
        <p:spPr>
          <a:xfrm>
            <a:off x="3381887" y="2590933"/>
            <a:ext cx="160721" cy="138499"/>
          </a:xfrm>
          <a:prstGeom prst="straightConnector1">
            <a:avLst/>
          </a:prstGeom>
          <a:ln>
            <a:solidFill>
              <a:srgbClr val="040403"/>
            </a:solidFill>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2D294BD7-B383-8D78-5C4A-A886C44BF546}"/>
              </a:ext>
            </a:extLst>
          </p:cNvPr>
          <p:cNvCxnSpPr/>
          <p:nvPr/>
        </p:nvCxnSpPr>
        <p:spPr>
          <a:xfrm>
            <a:off x="4481313" y="2716731"/>
            <a:ext cx="0" cy="237900"/>
          </a:xfrm>
          <a:prstGeom prst="straightConnector1">
            <a:avLst/>
          </a:prstGeom>
          <a:ln>
            <a:solidFill>
              <a:srgbClr val="040403"/>
            </a:solidFill>
            <a:tailEnd type="triangle"/>
          </a:ln>
        </p:spPr>
        <p:style>
          <a:lnRef idx="1">
            <a:schemeClr val="accent1"/>
          </a:lnRef>
          <a:fillRef idx="0">
            <a:schemeClr val="accent1"/>
          </a:fillRef>
          <a:effectRef idx="0">
            <a:schemeClr val="accent1"/>
          </a:effectRef>
          <a:fontRef idx="minor">
            <a:schemeClr val="tx1"/>
          </a:fontRef>
        </p:style>
      </p:cxnSp>
      <p:cxnSp>
        <p:nvCxnSpPr>
          <p:cNvPr id="17" name="직선 화살표 연결선 16">
            <a:extLst>
              <a:ext uri="{FF2B5EF4-FFF2-40B4-BE49-F238E27FC236}">
                <a16:creationId xmlns:a16="http://schemas.microsoft.com/office/drawing/2014/main" id="{0B2CECAB-1EE7-355D-06D2-6CF3058FFE80}"/>
              </a:ext>
            </a:extLst>
          </p:cNvPr>
          <p:cNvCxnSpPr/>
          <p:nvPr/>
        </p:nvCxnSpPr>
        <p:spPr>
          <a:xfrm>
            <a:off x="4621013" y="2716731"/>
            <a:ext cx="0" cy="237900"/>
          </a:xfrm>
          <a:prstGeom prst="straightConnector1">
            <a:avLst/>
          </a:prstGeom>
          <a:ln>
            <a:solidFill>
              <a:srgbClr val="040403"/>
            </a:solidFill>
            <a:tailEnd type="triangle"/>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id="{9E6C2101-8FEF-72EE-AE7A-2EFFA3D5C1A8}"/>
              </a:ext>
            </a:extLst>
          </p:cNvPr>
          <p:cNvSpPr/>
          <p:nvPr/>
        </p:nvSpPr>
        <p:spPr>
          <a:xfrm>
            <a:off x="4043474" y="2489749"/>
            <a:ext cx="558166" cy="246221"/>
          </a:xfrm>
          <a:prstGeom prst="rect">
            <a:avLst/>
          </a:prstGeom>
        </p:spPr>
        <p:txBody>
          <a:bodyPr wrap="none">
            <a:spAutoFit/>
          </a:bodyPr>
          <a:lstStyle/>
          <a:p>
            <a:r>
              <a:rPr lang="en-US" altLang="ko-KR" sz="10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U max</a:t>
            </a:r>
          </a:p>
        </p:txBody>
      </p:sp>
      <p:sp>
        <p:nvSpPr>
          <p:cNvPr id="19" name="직사각형 18">
            <a:extLst>
              <a:ext uri="{FF2B5EF4-FFF2-40B4-BE49-F238E27FC236}">
                <a16:creationId xmlns:a16="http://schemas.microsoft.com/office/drawing/2014/main" id="{69285174-436A-A002-0AAD-ED76BFE46AE3}"/>
              </a:ext>
            </a:extLst>
          </p:cNvPr>
          <p:cNvSpPr/>
          <p:nvPr/>
        </p:nvSpPr>
        <p:spPr>
          <a:xfrm>
            <a:off x="4500572" y="2489749"/>
            <a:ext cx="503664" cy="246221"/>
          </a:xfrm>
          <a:prstGeom prst="rect">
            <a:avLst/>
          </a:prstGeom>
        </p:spPr>
        <p:txBody>
          <a:bodyPr wrap="none">
            <a:spAutoFit/>
          </a:bodyPr>
          <a:lstStyle/>
          <a:p>
            <a:r>
              <a:rPr lang="en-US" altLang="ko-KR" sz="10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I max</a:t>
            </a:r>
          </a:p>
        </p:txBody>
      </p:sp>
      <p:cxnSp>
        <p:nvCxnSpPr>
          <p:cNvPr id="20" name="직선 연결선 19">
            <a:extLst>
              <a:ext uri="{FF2B5EF4-FFF2-40B4-BE49-F238E27FC236}">
                <a16:creationId xmlns:a16="http://schemas.microsoft.com/office/drawing/2014/main" id="{60B72A8C-8D69-5577-38F4-327348FD4103}"/>
              </a:ext>
            </a:extLst>
          </p:cNvPr>
          <p:cNvCxnSpPr/>
          <p:nvPr/>
        </p:nvCxnSpPr>
        <p:spPr>
          <a:xfrm>
            <a:off x="4625001" y="3436241"/>
            <a:ext cx="0" cy="144000"/>
          </a:xfrm>
          <a:prstGeom prst="line">
            <a:avLst/>
          </a:prstGeom>
          <a:ln>
            <a:solidFill>
              <a:srgbClr val="040403"/>
            </a:solidFill>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DB8D2BEE-4A7F-E248-5DFF-F8DDA65E90FE}"/>
              </a:ext>
            </a:extLst>
          </p:cNvPr>
          <p:cNvCxnSpPr/>
          <p:nvPr/>
        </p:nvCxnSpPr>
        <p:spPr>
          <a:xfrm>
            <a:off x="4838361" y="3436241"/>
            <a:ext cx="0" cy="144000"/>
          </a:xfrm>
          <a:prstGeom prst="line">
            <a:avLst/>
          </a:prstGeom>
          <a:ln>
            <a:solidFill>
              <a:srgbClr val="040403"/>
            </a:solidFill>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A857268B-9EA2-C4D6-7A52-D08B2F0DA39C}"/>
              </a:ext>
            </a:extLst>
          </p:cNvPr>
          <p:cNvCxnSpPr/>
          <p:nvPr/>
        </p:nvCxnSpPr>
        <p:spPr>
          <a:xfrm>
            <a:off x="4621014" y="3493001"/>
            <a:ext cx="221481" cy="0"/>
          </a:xfrm>
          <a:prstGeom prst="straightConnector1">
            <a:avLst/>
          </a:prstGeom>
          <a:ln>
            <a:solidFill>
              <a:srgbClr val="04040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직사각형 30">
            <a:extLst>
              <a:ext uri="{FF2B5EF4-FFF2-40B4-BE49-F238E27FC236}">
                <a16:creationId xmlns:a16="http://schemas.microsoft.com/office/drawing/2014/main" id="{55279E94-FE0B-1E04-7735-73F45D51CEB8}"/>
              </a:ext>
            </a:extLst>
          </p:cNvPr>
          <p:cNvSpPr/>
          <p:nvPr/>
        </p:nvSpPr>
        <p:spPr>
          <a:xfrm>
            <a:off x="4299396" y="3588553"/>
            <a:ext cx="906017" cy="246221"/>
          </a:xfrm>
          <a:prstGeom prst="rect">
            <a:avLst/>
          </a:prstGeom>
        </p:spPr>
        <p:txBody>
          <a:bodyPr wrap="none">
            <a:spAutoFit/>
          </a:bodyPr>
          <a:lstStyle/>
          <a:p>
            <a:r>
              <a:rPr lang="en-US" altLang="ko-KR" sz="10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Phase Angle</a:t>
            </a:r>
          </a:p>
        </p:txBody>
      </p:sp>
      <p:cxnSp>
        <p:nvCxnSpPr>
          <p:cNvPr id="32" name="직선 연결선 31">
            <a:extLst>
              <a:ext uri="{FF2B5EF4-FFF2-40B4-BE49-F238E27FC236}">
                <a16:creationId xmlns:a16="http://schemas.microsoft.com/office/drawing/2014/main" id="{347EFAA6-785E-8665-141E-E83DABCC42DD}"/>
              </a:ext>
            </a:extLst>
          </p:cNvPr>
          <p:cNvCxnSpPr/>
          <p:nvPr/>
        </p:nvCxnSpPr>
        <p:spPr>
          <a:xfrm>
            <a:off x="3347716" y="2107016"/>
            <a:ext cx="1219523" cy="0"/>
          </a:xfrm>
          <a:prstGeom prst="line">
            <a:avLst/>
          </a:prstGeom>
          <a:ln>
            <a:solidFill>
              <a:srgbClr val="040403"/>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BCE2C8A4-F24D-BD55-B228-45332A0A457A}"/>
              </a:ext>
            </a:extLst>
          </p:cNvPr>
          <p:cNvCxnSpPr/>
          <p:nvPr/>
        </p:nvCxnSpPr>
        <p:spPr>
          <a:xfrm>
            <a:off x="3347716" y="2470970"/>
            <a:ext cx="1219523" cy="0"/>
          </a:xfrm>
          <a:prstGeom prst="line">
            <a:avLst/>
          </a:prstGeom>
          <a:ln>
            <a:solidFill>
              <a:srgbClr val="040403"/>
            </a:solidFill>
          </a:ln>
        </p:spPr>
        <p:style>
          <a:lnRef idx="1">
            <a:schemeClr val="accent1"/>
          </a:lnRef>
          <a:fillRef idx="0">
            <a:schemeClr val="accent1"/>
          </a:fillRef>
          <a:effectRef idx="0">
            <a:schemeClr val="accent1"/>
          </a:effectRef>
          <a:fontRef idx="minor">
            <a:schemeClr val="tx1"/>
          </a:fontRef>
        </p:style>
      </p:cxnSp>
      <p:sp>
        <p:nvSpPr>
          <p:cNvPr id="34" name="직사각형 33">
            <a:extLst>
              <a:ext uri="{FF2B5EF4-FFF2-40B4-BE49-F238E27FC236}">
                <a16:creationId xmlns:a16="http://schemas.microsoft.com/office/drawing/2014/main" id="{4D76C382-A271-B792-08B3-D09260937679}"/>
              </a:ext>
            </a:extLst>
          </p:cNvPr>
          <p:cNvSpPr/>
          <p:nvPr/>
        </p:nvSpPr>
        <p:spPr>
          <a:xfrm>
            <a:off x="2693805" y="4491413"/>
            <a:ext cx="2338903" cy="307237"/>
          </a:xfrm>
          <a:prstGeom prst="rect">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5" name="직사각형 34">
            <a:extLst>
              <a:ext uri="{FF2B5EF4-FFF2-40B4-BE49-F238E27FC236}">
                <a16:creationId xmlns:a16="http://schemas.microsoft.com/office/drawing/2014/main" id="{F81F1490-071B-8146-02D2-6B2EB5AEC8B4}"/>
              </a:ext>
            </a:extLst>
          </p:cNvPr>
          <p:cNvSpPr/>
          <p:nvPr/>
        </p:nvSpPr>
        <p:spPr>
          <a:xfrm>
            <a:off x="2423921" y="3945524"/>
            <a:ext cx="3076804" cy="276999"/>
          </a:xfrm>
          <a:prstGeom prst="rect">
            <a:avLst/>
          </a:prstGeom>
        </p:spPr>
        <p:txBody>
          <a:bodyPr wrap="none">
            <a:spAutoFit/>
          </a:bodyPr>
          <a:lstStyle/>
          <a:p>
            <a:pPr algn="ctr"/>
            <a:r>
              <a:rPr lang="en-US" altLang="ko-KR" sz="12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Intact cells with high membrane integrity</a:t>
            </a:r>
          </a:p>
        </p:txBody>
      </p:sp>
      <p:sp>
        <p:nvSpPr>
          <p:cNvPr id="36" name="직사각형 35">
            <a:extLst>
              <a:ext uri="{FF2B5EF4-FFF2-40B4-BE49-F238E27FC236}">
                <a16:creationId xmlns:a16="http://schemas.microsoft.com/office/drawing/2014/main" id="{6D1D1FAA-1189-40DA-4FF8-E9A0DD3992EA}"/>
              </a:ext>
            </a:extLst>
          </p:cNvPr>
          <p:cNvSpPr/>
          <p:nvPr/>
        </p:nvSpPr>
        <p:spPr>
          <a:xfrm>
            <a:off x="2773152" y="4427912"/>
            <a:ext cx="2209259" cy="400110"/>
          </a:xfrm>
          <a:prstGeom prst="rect">
            <a:avLst/>
          </a:prstGeom>
        </p:spPr>
        <p:txBody>
          <a:bodyPr wrap="none">
            <a:spAutoFit/>
          </a:bodyPr>
          <a:lstStyle/>
          <a:p>
            <a:pPr algn="ctr"/>
            <a:r>
              <a:rPr lang="en-US" altLang="ko-KR" sz="20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High Phase Angle</a:t>
            </a:r>
          </a:p>
        </p:txBody>
      </p:sp>
      <p:sp>
        <p:nvSpPr>
          <p:cNvPr id="37" name="이등변 삼각형 36">
            <a:extLst>
              <a:ext uri="{FF2B5EF4-FFF2-40B4-BE49-F238E27FC236}">
                <a16:creationId xmlns:a16="http://schemas.microsoft.com/office/drawing/2014/main" id="{2595FF1D-9B47-04AD-B635-792EFE6864E8}"/>
              </a:ext>
            </a:extLst>
          </p:cNvPr>
          <p:cNvSpPr/>
          <p:nvPr/>
        </p:nvSpPr>
        <p:spPr>
          <a:xfrm rot="10800000">
            <a:off x="3775026" y="4236294"/>
            <a:ext cx="205513" cy="177167"/>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8" name="직사각형 37">
            <a:extLst>
              <a:ext uri="{FF2B5EF4-FFF2-40B4-BE49-F238E27FC236}">
                <a16:creationId xmlns:a16="http://schemas.microsoft.com/office/drawing/2014/main" id="{FA61B290-DABB-DB90-1318-880C1F8C15BF}"/>
              </a:ext>
            </a:extLst>
          </p:cNvPr>
          <p:cNvSpPr/>
          <p:nvPr/>
        </p:nvSpPr>
        <p:spPr>
          <a:xfrm>
            <a:off x="7304585" y="4491336"/>
            <a:ext cx="2338903" cy="307237"/>
          </a:xfrm>
          <a:prstGeom prst="rect">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pic>
        <p:nvPicPr>
          <p:cNvPr id="39" name="그림 38">
            <a:extLst>
              <a:ext uri="{FF2B5EF4-FFF2-40B4-BE49-F238E27FC236}">
                <a16:creationId xmlns:a16="http://schemas.microsoft.com/office/drawing/2014/main" id="{778F9663-2FC3-3D14-1F99-E46A7CB2FA31}"/>
              </a:ext>
            </a:extLst>
          </p:cNvPr>
          <p:cNvPicPr>
            <a:picLocks noChangeAspect="1"/>
          </p:cNvPicPr>
          <p:nvPr/>
        </p:nvPicPr>
        <p:blipFill rotWithShape="1">
          <a:blip r:embed="rId2"/>
          <a:srcRect t="49099"/>
          <a:stretch/>
        </p:blipFill>
        <p:spPr>
          <a:xfrm>
            <a:off x="7114246" y="2525047"/>
            <a:ext cx="3066091" cy="1156052"/>
          </a:xfrm>
          <a:prstGeom prst="rect">
            <a:avLst/>
          </a:prstGeom>
        </p:spPr>
      </p:pic>
      <p:sp>
        <p:nvSpPr>
          <p:cNvPr id="40" name="직사각형 39">
            <a:extLst>
              <a:ext uri="{FF2B5EF4-FFF2-40B4-BE49-F238E27FC236}">
                <a16:creationId xmlns:a16="http://schemas.microsoft.com/office/drawing/2014/main" id="{C56553E4-296E-5F06-3BCE-F8A21FC4B98C}"/>
              </a:ext>
            </a:extLst>
          </p:cNvPr>
          <p:cNvSpPr/>
          <p:nvPr/>
        </p:nvSpPr>
        <p:spPr>
          <a:xfrm>
            <a:off x="7815809" y="2123517"/>
            <a:ext cx="1457450" cy="338554"/>
          </a:xfrm>
          <a:prstGeom prst="rect">
            <a:avLst/>
          </a:prstGeom>
        </p:spPr>
        <p:txBody>
          <a:bodyPr wrap="none">
            <a:spAutoFit/>
          </a:bodyPr>
          <a:lstStyle/>
          <a:p>
            <a:pPr algn="ctr"/>
            <a:r>
              <a:rPr lang="en-US" altLang="ko-KR" sz="1600" b="1" dirty="0">
                <a:solidFill>
                  <a:srgbClr val="90001F"/>
                </a:solidFill>
                <a:latin typeface="Lato Black" panose="020F0502020204030203" pitchFamily="34" charset="0"/>
                <a:ea typeface="Lato Black" panose="020F0502020204030203" pitchFamily="34" charset="0"/>
                <a:cs typeface="Lato Black" panose="020F0502020204030203" pitchFamily="34" charset="0"/>
              </a:rPr>
              <a:t>Damaged Cell</a:t>
            </a:r>
          </a:p>
        </p:txBody>
      </p:sp>
      <p:sp>
        <p:nvSpPr>
          <p:cNvPr id="41" name="직사각형 40">
            <a:extLst>
              <a:ext uri="{FF2B5EF4-FFF2-40B4-BE49-F238E27FC236}">
                <a16:creationId xmlns:a16="http://schemas.microsoft.com/office/drawing/2014/main" id="{31F30EB4-7567-4D62-42AA-716E64F0CCA0}"/>
              </a:ext>
            </a:extLst>
          </p:cNvPr>
          <p:cNvSpPr/>
          <p:nvPr/>
        </p:nvSpPr>
        <p:spPr>
          <a:xfrm>
            <a:off x="7304585" y="3921976"/>
            <a:ext cx="2483372" cy="276999"/>
          </a:xfrm>
          <a:prstGeom prst="rect">
            <a:avLst/>
          </a:prstGeom>
        </p:spPr>
        <p:txBody>
          <a:bodyPr wrap="none">
            <a:spAutoFit/>
          </a:bodyPr>
          <a:lstStyle/>
          <a:p>
            <a:pPr algn="ctr"/>
            <a:r>
              <a:rPr lang="en-US" altLang="ko-KR" sz="12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Damaged cell or low cell density</a:t>
            </a:r>
          </a:p>
        </p:txBody>
      </p:sp>
      <p:sp>
        <p:nvSpPr>
          <p:cNvPr id="42" name="직사각형 41">
            <a:extLst>
              <a:ext uri="{FF2B5EF4-FFF2-40B4-BE49-F238E27FC236}">
                <a16:creationId xmlns:a16="http://schemas.microsoft.com/office/drawing/2014/main" id="{A939B2C5-7A32-907C-BD18-AB11711057AB}"/>
              </a:ext>
            </a:extLst>
          </p:cNvPr>
          <p:cNvSpPr/>
          <p:nvPr/>
        </p:nvSpPr>
        <p:spPr>
          <a:xfrm>
            <a:off x="7385984" y="4427835"/>
            <a:ext cx="2151551" cy="400110"/>
          </a:xfrm>
          <a:prstGeom prst="rect">
            <a:avLst/>
          </a:prstGeom>
        </p:spPr>
        <p:txBody>
          <a:bodyPr wrap="none">
            <a:spAutoFit/>
          </a:bodyPr>
          <a:lstStyle/>
          <a:p>
            <a:pPr algn="ctr"/>
            <a:r>
              <a:rPr lang="en-US" altLang="ko-KR" sz="20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Low Phase Angle</a:t>
            </a:r>
          </a:p>
        </p:txBody>
      </p:sp>
      <p:sp>
        <p:nvSpPr>
          <p:cNvPr id="43" name="이등변 삼각형 42">
            <a:extLst>
              <a:ext uri="{FF2B5EF4-FFF2-40B4-BE49-F238E27FC236}">
                <a16:creationId xmlns:a16="http://schemas.microsoft.com/office/drawing/2014/main" id="{366B9D02-CDD6-E4D8-99BA-C52E2E031238}"/>
              </a:ext>
            </a:extLst>
          </p:cNvPr>
          <p:cNvSpPr/>
          <p:nvPr/>
        </p:nvSpPr>
        <p:spPr>
          <a:xfrm rot="10800000">
            <a:off x="8441778" y="4258762"/>
            <a:ext cx="205513" cy="177167"/>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cxnSp>
        <p:nvCxnSpPr>
          <p:cNvPr id="44" name="직선 연결선 43">
            <a:extLst>
              <a:ext uri="{FF2B5EF4-FFF2-40B4-BE49-F238E27FC236}">
                <a16:creationId xmlns:a16="http://schemas.microsoft.com/office/drawing/2014/main" id="{BA2A5DD1-24C7-0DC1-618D-72EF6C09DB97}"/>
              </a:ext>
            </a:extLst>
          </p:cNvPr>
          <p:cNvCxnSpPr/>
          <p:nvPr/>
        </p:nvCxnSpPr>
        <p:spPr>
          <a:xfrm>
            <a:off x="8040732" y="2118956"/>
            <a:ext cx="1059033" cy="0"/>
          </a:xfrm>
          <a:prstGeom prst="line">
            <a:avLst/>
          </a:prstGeom>
          <a:ln>
            <a:solidFill>
              <a:srgbClr val="040403"/>
            </a:solidFill>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1A663C5B-E2C7-F1C3-1B60-787460FE2FA4}"/>
              </a:ext>
            </a:extLst>
          </p:cNvPr>
          <p:cNvCxnSpPr/>
          <p:nvPr/>
        </p:nvCxnSpPr>
        <p:spPr>
          <a:xfrm>
            <a:off x="8040732" y="2468262"/>
            <a:ext cx="1059033" cy="0"/>
          </a:xfrm>
          <a:prstGeom prst="line">
            <a:avLst/>
          </a:prstGeom>
          <a:ln>
            <a:solidFill>
              <a:srgbClr val="040403"/>
            </a:solidFill>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17C67EE3-C408-4D3D-6FA9-5551EAB6F8B7}"/>
              </a:ext>
            </a:extLst>
          </p:cNvPr>
          <p:cNvSpPr/>
          <p:nvPr/>
        </p:nvSpPr>
        <p:spPr>
          <a:xfrm>
            <a:off x="6652261" y="2791806"/>
            <a:ext cx="580608" cy="246221"/>
          </a:xfrm>
          <a:prstGeom prst="rect">
            <a:avLst/>
          </a:prstGeom>
        </p:spPr>
        <p:txBody>
          <a:bodyPr wrap="none">
            <a:spAutoFit/>
          </a:bodyPr>
          <a:lstStyle/>
          <a:p>
            <a:r>
              <a:rPr lang="en-US" altLang="ko-KR" sz="1000" dirty="0">
                <a:solidFill>
                  <a:srgbClr val="040403"/>
                </a:solidFill>
                <a:latin typeface="Lato Black" panose="020F0502020204030203" pitchFamily="34" charset="0"/>
                <a:ea typeface="Lato Black" panose="020F0502020204030203" pitchFamily="34" charset="0"/>
                <a:cs typeface="Lato Black" panose="020F0502020204030203" pitchFamily="34" charset="0"/>
              </a:rPr>
              <a:t>50KHz</a:t>
            </a:r>
          </a:p>
        </p:txBody>
      </p:sp>
    </p:spTree>
    <p:extLst>
      <p:ext uri="{BB962C8B-B14F-4D97-AF65-F5344CB8AC3E}">
        <p14:creationId xmlns:p14="http://schemas.microsoft.com/office/powerpoint/2010/main" val="15826277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직사각형 50">
            <a:extLst>
              <a:ext uri="{FF2B5EF4-FFF2-40B4-BE49-F238E27FC236}">
                <a16:creationId xmlns:a16="http://schemas.microsoft.com/office/drawing/2014/main" id="{9FAA5780-3496-39D0-42C5-1A40AD06BD6E}"/>
              </a:ext>
            </a:extLst>
          </p:cNvPr>
          <p:cNvSpPr/>
          <p:nvPr/>
        </p:nvSpPr>
        <p:spPr>
          <a:xfrm>
            <a:off x="5980176" y="4556274"/>
            <a:ext cx="5367019" cy="765534"/>
          </a:xfrm>
          <a:prstGeom prst="rect">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4" name="TextBox 3">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모서리가 둥근 직사각형 4"/>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 name="타원 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7" name="TextBox 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11" name="직사각형 10">
            <a:extLst>
              <a:ext uri="{FF2B5EF4-FFF2-40B4-BE49-F238E27FC236}">
                <a16:creationId xmlns:a16="http://schemas.microsoft.com/office/drawing/2014/main" id="{D17220AE-0618-086C-6C9A-B3731E51121D}"/>
              </a:ext>
            </a:extLst>
          </p:cNvPr>
          <p:cNvSpPr/>
          <p:nvPr/>
        </p:nvSpPr>
        <p:spPr>
          <a:xfrm>
            <a:off x="1236960" y="1206710"/>
            <a:ext cx="10761327" cy="332527"/>
          </a:xfrm>
          <a:prstGeom prst="rect">
            <a:avLst/>
          </a:prstGeom>
        </p:spPr>
        <p:txBody>
          <a:bodyPr wrap="square">
            <a:spAutoFit/>
          </a:bodyPr>
          <a:lstStyle/>
          <a:p>
            <a:pPr>
              <a:lnSpc>
                <a:spcPct val="125000"/>
              </a:lnSpc>
            </a:pPr>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Phase angle can be used as nutrition and mortality assessment for kidney disease patients.</a:t>
            </a:r>
          </a:p>
        </p:txBody>
      </p:sp>
      <p:grpSp>
        <p:nvGrpSpPr>
          <p:cNvPr id="28" name="그룹 27">
            <a:extLst>
              <a:ext uri="{FF2B5EF4-FFF2-40B4-BE49-F238E27FC236}">
                <a16:creationId xmlns:a16="http://schemas.microsoft.com/office/drawing/2014/main" id="{DE5C3A09-BC8F-0340-AD45-38939ED9A7A2}"/>
              </a:ext>
            </a:extLst>
          </p:cNvPr>
          <p:cNvGrpSpPr/>
          <p:nvPr/>
        </p:nvGrpSpPr>
        <p:grpSpPr>
          <a:xfrm>
            <a:off x="1003233" y="1274399"/>
            <a:ext cx="233727" cy="233726"/>
            <a:chOff x="2701227" y="-1816305"/>
            <a:chExt cx="7728206" cy="7728208"/>
          </a:xfrm>
        </p:grpSpPr>
        <p:sp>
          <p:nvSpPr>
            <p:cNvPr id="29" name="자유형: 도형 22">
              <a:extLst>
                <a:ext uri="{FF2B5EF4-FFF2-40B4-BE49-F238E27FC236}">
                  <a16:creationId xmlns:a16="http://schemas.microsoft.com/office/drawing/2014/main" id="{60FB04CC-7B0D-E185-8E4F-773822F081E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0" name="타원 29">
              <a:extLst>
                <a:ext uri="{FF2B5EF4-FFF2-40B4-BE49-F238E27FC236}">
                  <a16:creationId xmlns:a16="http://schemas.microsoft.com/office/drawing/2014/main" id="{4FAE18E7-DB43-7D5E-E3CD-AFC50CFCE214}"/>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grpSp>
        <p:nvGrpSpPr>
          <p:cNvPr id="14" name="그룹 13">
            <a:extLst>
              <a:ext uri="{FF2B5EF4-FFF2-40B4-BE49-F238E27FC236}">
                <a16:creationId xmlns:a16="http://schemas.microsoft.com/office/drawing/2014/main" id="{8473D8A2-8D1D-89B5-0871-ED0C258369A6}"/>
              </a:ext>
            </a:extLst>
          </p:cNvPr>
          <p:cNvGrpSpPr/>
          <p:nvPr/>
        </p:nvGrpSpPr>
        <p:grpSpPr>
          <a:xfrm>
            <a:off x="722166" y="1889181"/>
            <a:ext cx="4647900" cy="4114144"/>
            <a:chOff x="2345504" y="2612933"/>
            <a:chExt cx="3724982" cy="3065556"/>
          </a:xfrm>
        </p:grpSpPr>
        <p:pic>
          <p:nvPicPr>
            <p:cNvPr id="23" name="Picture 8">
              <a:extLst>
                <a:ext uri="{FF2B5EF4-FFF2-40B4-BE49-F238E27FC236}">
                  <a16:creationId xmlns:a16="http://schemas.microsoft.com/office/drawing/2014/main" id="{97D8F7F6-F752-0ACD-4149-6ED0DD221F4E}"/>
                </a:ext>
              </a:extLst>
            </p:cNvPr>
            <p:cNvPicPr>
              <a:picLocks noChangeAspect="1" noChangeArrowheads="1"/>
            </p:cNvPicPr>
            <p:nvPr/>
          </p:nvPicPr>
          <p:blipFill>
            <a:blip r:embed="rId2" cstate="print"/>
            <a:srcRect/>
            <a:stretch>
              <a:fillRect/>
            </a:stretch>
          </p:blipFill>
          <p:spPr bwMode="auto">
            <a:xfrm>
              <a:off x="2345504" y="2612933"/>
              <a:ext cx="3724982" cy="1500198"/>
            </a:xfrm>
            <a:prstGeom prst="rect">
              <a:avLst/>
            </a:prstGeom>
            <a:noFill/>
            <a:ln w="9525">
              <a:noFill/>
              <a:miter lim="800000"/>
              <a:headEnd/>
              <a:tailEnd/>
            </a:ln>
            <a:effectLst/>
          </p:spPr>
        </p:pic>
        <p:pic>
          <p:nvPicPr>
            <p:cNvPr id="24" name="Picture 9">
              <a:extLst>
                <a:ext uri="{FF2B5EF4-FFF2-40B4-BE49-F238E27FC236}">
                  <a16:creationId xmlns:a16="http://schemas.microsoft.com/office/drawing/2014/main" id="{B2DCCD4A-AC0C-5F65-1B47-32B6DE9AE3D0}"/>
                </a:ext>
              </a:extLst>
            </p:cNvPr>
            <p:cNvPicPr>
              <a:picLocks noChangeAspect="1" noChangeArrowheads="1"/>
            </p:cNvPicPr>
            <p:nvPr/>
          </p:nvPicPr>
          <p:blipFill rotWithShape="1">
            <a:blip r:embed="rId3" cstate="print"/>
            <a:srcRect t="53276"/>
            <a:stretch/>
          </p:blipFill>
          <p:spPr bwMode="auto">
            <a:xfrm>
              <a:off x="2345504" y="4103894"/>
              <a:ext cx="3724982" cy="1574595"/>
            </a:xfrm>
            <a:prstGeom prst="rect">
              <a:avLst/>
            </a:prstGeom>
            <a:noFill/>
            <a:ln w="9525">
              <a:noFill/>
              <a:miter lim="800000"/>
              <a:headEnd/>
              <a:tailEnd/>
            </a:ln>
            <a:effectLst/>
          </p:spPr>
        </p:pic>
      </p:grpSp>
      <p:sp>
        <p:nvSpPr>
          <p:cNvPr id="25" name="TextBox 24">
            <a:extLst>
              <a:ext uri="{FF2B5EF4-FFF2-40B4-BE49-F238E27FC236}">
                <a16:creationId xmlns:a16="http://schemas.microsoft.com/office/drawing/2014/main" id="{D9DC9D0C-6BA1-00B7-5645-E5BA81498AB3}"/>
              </a:ext>
            </a:extLst>
          </p:cNvPr>
          <p:cNvSpPr txBox="1"/>
          <p:nvPr/>
        </p:nvSpPr>
        <p:spPr>
          <a:xfrm>
            <a:off x="5821647" y="2755814"/>
            <a:ext cx="5525548" cy="871136"/>
          </a:xfrm>
          <a:prstGeom prst="rect">
            <a:avLst/>
          </a:prstGeom>
          <a:noFill/>
        </p:spPr>
        <p:txBody>
          <a:bodyPr wrap="square" rtlCol="0">
            <a:spAutoFit/>
          </a:bodyPr>
          <a:lstStyle/>
          <a:p>
            <a:pPr algn="ctr">
              <a:lnSpc>
                <a:spcPct val="125000"/>
              </a:lnSpc>
            </a:pPr>
            <a:r>
              <a:rPr lang="en-US" altLang="ko-KR" sz="1400" dirty="0">
                <a:latin typeface="Lato Black" panose="020F0502020204030203" pitchFamily="34" charset="0"/>
                <a:ea typeface="Lato Black" panose="020F0502020204030203" pitchFamily="34" charset="0"/>
                <a:cs typeface="Lato Black" panose="020F0502020204030203" pitchFamily="34" charset="0"/>
              </a:rPr>
              <a:t>Due to fast blood replacement rate of serum  prealbumin, phase angle is very sensitive and useful tool for assessing nutrition and mortality rate.</a:t>
            </a:r>
          </a:p>
        </p:txBody>
      </p:sp>
      <p:sp>
        <p:nvSpPr>
          <p:cNvPr id="26" name="직사각형 25">
            <a:extLst>
              <a:ext uri="{FF2B5EF4-FFF2-40B4-BE49-F238E27FC236}">
                <a16:creationId xmlns:a16="http://schemas.microsoft.com/office/drawing/2014/main" id="{C3BE00A3-BE6B-D2FB-9A14-F634ACC4327E}"/>
              </a:ext>
            </a:extLst>
          </p:cNvPr>
          <p:cNvSpPr/>
          <p:nvPr/>
        </p:nvSpPr>
        <p:spPr>
          <a:xfrm>
            <a:off x="5867367" y="4601994"/>
            <a:ext cx="5525548" cy="674672"/>
          </a:xfrm>
          <a:prstGeom prst="rect">
            <a:avLst/>
          </a:prstGeom>
        </p:spPr>
        <p:txBody>
          <a:bodyPr wrap="square">
            <a:spAutoFit/>
          </a:bodyPr>
          <a:lstStyle/>
          <a:p>
            <a:pPr algn="ctr">
              <a:lnSpc>
                <a:spcPct val="125000"/>
              </a:lnSpc>
            </a:pP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In relation to </a:t>
            </a:r>
            <a:r>
              <a:rPr lang="en-US" altLang="ko-KR" sz="1600" dirty="0" err="1">
                <a:solidFill>
                  <a:schemeClr val="bg1"/>
                </a:solidFill>
                <a:latin typeface="Lato" panose="020F0502020204030203" pitchFamily="34" charset="0"/>
                <a:ea typeface="Lato" panose="020F0502020204030203" pitchFamily="34" charset="0"/>
                <a:cs typeface="Lato" panose="020F0502020204030203" pitchFamily="34" charset="0"/>
              </a:rPr>
              <a:t>prealbumin</a:t>
            </a: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 and phase angle, phase angle is useful in assessing nutrition on dialysis patients.</a:t>
            </a:r>
          </a:p>
        </p:txBody>
      </p:sp>
      <p:grpSp>
        <p:nvGrpSpPr>
          <p:cNvPr id="27" name="그룹 26">
            <a:extLst>
              <a:ext uri="{FF2B5EF4-FFF2-40B4-BE49-F238E27FC236}">
                <a16:creationId xmlns:a16="http://schemas.microsoft.com/office/drawing/2014/main" id="{078B44BC-61B1-7CE6-5C6A-1DB088AA2720}"/>
              </a:ext>
            </a:extLst>
          </p:cNvPr>
          <p:cNvGrpSpPr/>
          <p:nvPr/>
        </p:nvGrpSpPr>
        <p:grpSpPr>
          <a:xfrm>
            <a:off x="8397581" y="3879399"/>
            <a:ext cx="373680" cy="338057"/>
            <a:chOff x="2061642" y="2996194"/>
            <a:chExt cx="369826" cy="334570"/>
          </a:xfrm>
        </p:grpSpPr>
        <p:sp>
          <p:nvSpPr>
            <p:cNvPr id="49" name="이등변 삼각형 34">
              <a:extLst>
                <a:ext uri="{FF2B5EF4-FFF2-40B4-BE49-F238E27FC236}">
                  <a16:creationId xmlns:a16="http://schemas.microsoft.com/office/drawing/2014/main" id="{300435C8-AFE1-D634-E86B-B2D16F6DFAF3}"/>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0" name="이등변 삼각형 34">
              <a:extLst>
                <a:ext uri="{FF2B5EF4-FFF2-40B4-BE49-F238E27FC236}">
                  <a16:creationId xmlns:a16="http://schemas.microsoft.com/office/drawing/2014/main" id="{4807C0E5-63E5-FBDC-1B9B-7C55A4CEC03F}"/>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1028430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직사각형 50">
            <a:extLst>
              <a:ext uri="{FF2B5EF4-FFF2-40B4-BE49-F238E27FC236}">
                <a16:creationId xmlns:a16="http://schemas.microsoft.com/office/drawing/2014/main" id="{9FAA5780-3496-39D0-42C5-1A40AD06BD6E}"/>
              </a:ext>
            </a:extLst>
          </p:cNvPr>
          <p:cNvSpPr/>
          <p:nvPr/>
        </p:nvSpPr>
        <p:spPr>
          <a:xfrm>
            <a:off x="5980176" y="4556274"/>
            <a:ext cx="5367019" cy="1177776"/>
          </a:xfrm>
          <a:prstGeom prst="rect">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21A23155-F013-4647-A64C-638174D1B0A3}"/>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4C31E62-CE78-8243-AB22-9D4C1B89F17B}"/>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4" name="TextBox 3">
            <a:extLst>
              <a:ext uri="{FF2B5EF4-FFF2-40B4-BE49-F238E27FC236}">
                <a16:creationId xmlns:a16="http://schemas.microsoft.com/office/drawing/2014/main" id="{B8271BDF-AC03-4748-8C05-1D490119D647}"/>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모서리가 둥근 직사각형 4"/>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6" name="타원 5">
            <a:extLst>
              <a:ext uri="{FF2B5EF4-FFF2-40B4-BE49-F238E27FC236}">
                <a16:creationId xmlns:a16="http://schemas.microsoft.com/office/drawing/2014/main" id="{DA35B15D-C61D-7E8E-32F1-6B31D0093544}"/>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7" name="TextBox 6"/>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11" name="직사각형 10">
            <a:extLst>
              <a:ext uri="{FF2B5EF4-FFF2-40B4-BE49-F238E27FC236}">
                <a16:creationId xmlns:a16="http://schemas.microsoft.com/office/drawing/2014/main" id="{D17220AE-0618-086C-6C9A-B3731E51121D}"/>
              </a:ext>
            </a:extLst>
          </p:cNvPr>
          <p:cNvSpPr/>
          <p:nvPr/>
        </p:nvSpPr>
        <p:spPr>
          <a:xfrm>
            <a:off x="1236960" y="1206710"/>
            <a:ext cx="10761327" cy="332527"/>
          </a:xfrm>
          <a:prstGeom prst="rect">
            <a:avLst/>
          </a:prstGeom>
        </p:spPr>
        <p:txBody>
          <a:bodyPr wrap="square">
            <a:spAutoFit/>
          </a:bodyPr>
          <a:lstStyle/>
          <a:p>
            <a:pPr>
              <a:lnSpc>
                <a:spcPct val="125000"/>
              </a:lnSpc>
            </a:pPr>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Phase angle can be used as nutrition and mortality assessment for kidney disease patients.</a:t>
            </a:r>
          </a:p>
        </p:txBody>
      </p:sp>
      <p:grpSp>
        <p:nvGrpSpPr>
          <p:cNvPr id="28" name="그룹 27">
            <a:extLst>
              <a:ext uri="{FF2B5EF4-FFF2-40B4-BE49-F238E27FC236}">
                <a16:creationId xmlns:a16="http://schemas.microsoft.com/office/drawing/2014/main" id="{DE5C3A09-BC8F-0340-AD45-38939ED9A7A2}"/>
              </a:ext>
            </a:extLst>
          </p:cNvPr>
          <p:cNvGrpSpPr/>
          <p:nvPr/>
        </p:nvGrpSpPr>
        <p:grpSpPr>
          <a:xfrm>
            <a:off x="1003233" y="1274399"/>
            <a:ext cx="233727" cy="233726"/>
            <a:chOff x="2701227" y="-1816305"/>
            <a:chExt cx="7728206" cy="7728208"/>
          </a:xfrm>
        </p:grpSpPr>
        <p:sp>
          <p:nvSpPr>
            <p:cNvPr id="29" name="자유형: 도형 22">
              <a:extLst>
                <a:ext uri="{FF2B5EF4-FFF2-40B4-BE49-F238E27FC236}">
                  <a16:creationId xmlns:a16="http://schemas.microsoft.com/office/drawing/2014/main" id="{60FB04CC-7B0D-E185-8E4F-773822F081E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30" name="타원 29">
              <a:extLst>
                <a:ext uri="{FF2B5EF4-FFF2-40B4-BE49-F238E27FC236}">
                  <a16:creationId xmlns:a16="http://schemas.microsoft.com/office/drawing/2014/main" id="{4FAE18E7-DB43-7D5E-E3CD-AFC50CFCE214}"/>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5" name="TextBox 24">
            <a:extLst>
              <a:ext uri="{FF2B5EF4-FFF2-40B4-BE49-F238E27FC236}">
                <a16:creationId xmlns:a16="http://schemas.microsoft.com/office/drawing/2014/main" id="{D9DC9D0C-6BA1-00B7-5645-E5BA81498AB3}"/>
              </a:ext>
            </a:extLst>
          </p:cNvPr>
          <p:cNvSpPr txBox="1"/>
          <p:nvPr/>
        </p:nvSpPr>
        <p:spPr>
          <a:xfrm>
            <a:off x="5821647" y="2755814"/>
            <a:ext cx="5525548" cy="871136"/>
          </a:xfrm>
          <a:prstGeom prst="rect">
            <a:avLst/>
          </a:prstGeom>
          <a:noFill/>
        </p:spPr>
        <p:txBody>
          <a:bodyPr wrap="square" rtlCol="0">
            <a:spAutoFit/>
          </a:bodyPr>
          <a:lstStyle/>
          <a:p>
            <a:pPr algn="ctr">
              <a:lnSpc>
                <a:spcPct val="125000"/>
              </a:lnSpc>
            </a:pPr>
            <a:r>
              <a:rPr lang="en-US" altLang="ko-KR" sz="1400" dirty="0">
                <a:latin typeface="Lato Black" panose="020F0502020204030203" pitchFamily="34" charset="0"/>
                <a:ea typeface="Lato Black" panose="020F0502020204030203" pitchFamily="34" charset="0"/>
                <a:cs typeface="Lato Black" panose="020F0502020204030203" pitchFamily="34" charset="0"/>
              </a:rPr>
              <a:t>Only decreased </a:t>
            </a:r>
            <a:r>
              <a:rPr lang="en-US" altLang="ko-KR" sz="1400" dirty="0" err="1">
                <a:latin typeface="Lato Black" panose="020F0502020204030203" pitchFamily="34" charset="0"/>
                <a:ea typeface="Lato Black" panose="020F0502020204030203" pitchFamily="34" charset="0"/>
                <a:cs typeface="Lato Black" panose="020F0502020204030203" pitchFamily="34" charset="0"/>
              </a:rPr>
              <a:t>PhA</a:t>
            </a:r>
            <a:r>
              <a:rPr lang="en-US" altLang="ko-KR" sz="1400" dirty="0">
                <a:latin typeface="Lato Black" panose="020F0502020204030203" pitchFamily="34" charset="0"/>
                <a:ea typeface="Lato Black" panose="020F0502020204030203" pitchFamily="34" charset="0"/>
                <a:cs typeface="Lato Black" panose="020F0502020204030203" pitchFamily="34" charset="0"/>
              </a:rPr>
              <a:t> was significant factor for MIS(Malnutrition-inflammation score), representative of malnutrition status in these HD patients</a:t>
            </a:r>
          </a:p>
        </p:txBody>
      </p:sp>
      <p:sp>
        <p:nvSpPr>
          <p:cNvPr id="26" name="직사각형 25">
            <a:extLst>
              <a:ext uri="{FF2B5EF4-FFF2-40B4-BE49-F238E27FC236}">
                <a16:creationId xmlns:a16="http://schemas.microsoft.com/office/drawing/2014/main" id="{C3BE00A3-BE6B-D2FB-9A14-F634ACC4327E}"/>
              </a:ext>
            </a:extLst>
          </p:cNvPr>
          <p:cNvSpPr/>
          <p:nvPr/>
        </p:nvSpPr>
        <p:spPr>
          <a:xfrm>
            <a:off x="5867367" y="4649619"/>
            <a:ext cx="5525548" cy="982448"/>
          </a:xfrm>
          <a:prstGeom prst="rect">
            <a:avLst/>
          </a:prstGeom>
        </p:spPr>
        <p:txBody>
          <a:bodyPr wrap="square">
            <a:spAutoFit/>
          </a:bodyPr>
          <a:lstStyle/>
          <a:p>
            <a:pPr algn="ctr">
              <a:lnSpc>
                <a:spcPct val="125000"/>
              </a:lnSpc>
            </a:pPr>
            <a:r>
              <a:rPr lang="en-US" altLang="ko-KR" sz="1600" dirty="0" err="1">
                <a:solidFill>
                  <a:schemeClr val="bg1"/>
                </a:solidFill>
                <a:latin typeface="Lato" panose="020F0502020204030203" pitchFamily="34" charset="0"/>
                <a:ea typeface="Lato" panose="020F0502020204030203" pitchFamily="34" charset="0"/>
                <a:cs typeface="Lato" panose="020F0502020204030203" pitchFamily="34" charset="0"/>
              </a:rPr>
              <a:t>PhA</a:t>
            </a: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 assessed by BIA might be a clinically useful method</a:t>
            </a:r>
          </a:p>
          <a:p>
            <a:pPr algn="ctr">
              <a:lnSpc>
                <a:spcPct val="125000"/>
              </a:lnSpc>
            </a:pP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for assessing nutritional and hydration status</a:t>
            </a:r>
          </a:p>
          <a:p>
            <a:pPr algn="ctr">
              <a:lnSpc>
                <a:spcPct val="125000"/>
              </a:lnSpc>
            </a:pP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in elderly HD patients</a:t>
            </a:r>
          </a:p>
        </p:txBody>
      </p:sp>
      <p:grpSp>
        <p:nvGrpSpPr>
          <p:cNvPr id="27" name="그룹 26">
            <a:extLst>
              <a:ext uri="{FF2B5EF4-FFF2-40B4-BE49-F238E27FC236}">
                <a16:creationId xmlns:a16="http://schemas.microsoft.com/office/drawing/2014/main" id="{078B44BC-61B1-7CE6-5C6A-1DB088AA2720}"/>
              </a:ext>
            </a:extLst>
          </p:cNvPr>
          <p:cNvGrpSpPr/>
          <p:nvPr/>
        </p:nvGrpSpPr>
        <p:grpSpPr>
          <a:xfrm>
            <a:off x="8397581" y="3879399"/>
            <a:ext cx="373680" cy="338057"/>
            <a:chOff x="2061642" y="2996194"/>
            <a:chExt cx="369826" cy="334570"/>
          </a:xfrm>
        </p:grpSpPr>
        <p:sp>
          <p:nvSpPr>
            <p:cNvPr id="49" name="이등변 삼각형 34">
              <a:extLst>
                <a:ext uri="{FF2B5EF4-FFF2-40B4-BE49-F238E27FC236}">
                  <a16:creationId xmlns:a16="http://schemas.microsoft.com/office/drawing/2014/main" id="{300435C8-AFE1-D634-E86B-B2D16F6DFAF3}"/>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50" name="이등변 삼각형 34">
              <a:extLst>
                <a:ext uri="{FF2B5EF4-FFF2-40B4-BE49-F238E27FC236}">
                  <a16:creationId xmlns:a16="http://schemas.microsoft.com/office/drawing/2014/main" id="{4807C0E5-63E5-FBDC-1B9B-7C55A4CEC03F}"/>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pic>
        <p:nvPicPr>
          <p:cNvPr id="9" name="그림 8" descr="텍스트, 스크린샷, 폰트이(가) 표시된 사진&#10;&#10;자동 생성된 설명">
            <a:extLst>
              <a:ext uri="{FF2B5EF4-FFF2-40B4-BE49-F238E27FC236}">
                <a16:creationId xmlns:a16="http://schemas.microsoft.com/office/drawing/2014/main" id="{290DCA9D-6849-3D5E-BDD5-690E102D9881}"/>
              </a:ext>
            </a:extLst>
          </p:cNvPr>
          <p:cNvPicPr>
            <a:picLocks noChangeAspect="1"/>
          </p:cNvPicPr>
          <p:nvPr/>
        </p:nvPicPr>
        <p:blipFill rotWithShape="1">
          <a:blip r:embed="rId2">
            <a:extLst>
              <a:ext uri="{28A0092B-C50C-407E-A947-70E740481C1C}">
                <a14:useLocalDpi xmlns:a14="http://schemas.microsoft.com/office/drawing/2010/main" val="0"/>
              </a:ext>
            </a:extLst>
          </a:blip>
          <a:srcRect b="25742"/>
          <a:stretch/>
        </p:blipFill>
        <p:spPr>
          <a:xfrm>
            <a:off x="569845" y="1841658"/>
            <a:ext cx="5122293" cy="1424829"/>
          </a:xfrm>
          <a:prstGeom prst="rect">
            <a:avLst/>
          </a:prstGeom>
        </p:spPr>
      </p:pic>
      <p:pic>
        <p:nvPicPr>
          <p:cNvPr id="12" name="그림 11" descr="텍스트, 도표, 스크린샷, 폰트이(가) 표시된 사진&#10;&#10;자동 생성된 설명">
            <a:extLst>
              <a:ext uri="{FF2B5EF4-FFF2-40B4-BE49-F238E27FC236}">
                <a16:creationId xmlns:a16="http://schemas.microsoft.com/office/drawing/2014/main" id="{706991E4-87AC-7DD5-5D20-1CE3FCAD33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330" y="3397500"/>
            <a:ext cx="5332305" cy="3007054"/>
          </a:xfrm>
          <a:prstGeom prst="rect">
            <a:avLst/>
          </a:prstGeom>
        </p:spPr>
      </p:pic>
    </p:spTree>
    <p:extLst>
      <p:ext uri="{BB962C8B-B14F-4D97-AF65-F5344CB8AC3E}">
        <p14:creationId xmlns:p14="http://schemas.microsoft.com/office/powerpoint/2010/main" val="34953122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8774C4-D043-CBEB-72F3-2963A3BAA272}"/>
              </a:ext>
            </a:extLst>
          </p:cNvPr>
          <p:cNvSpPr txBox="1"/>
          <p:nvPr/>
        </p:nvSpPr>
        <p:spPr>
          <a:xfrm>
            <a:off x="9803606" y="6120883"/>
            <a:ext cx="2712244" cy="215444"/>
          </a:xfrm>
          <a:prstGeom prst="rect">
            <a:avLst/>
          </a:prstGeom>
          <a:noFill/>
        </p:spPr>
        <p:txBody>
          <a:bodyPr wrap="square">
            <a:spAutoFit/>
          </a:bodyPr>
          <a:lstStyle/>
          <a:p>
            <a:r>
              <a:rPr lang="ko-KR" altLang="en-US" sz="800" i="1" dirty="0">
                <a:latin typeface="Lato" panose="020F0502020204030203" pitchFamily="34" charset="0"/>
                <a:cs typeface="Lato" panose="020F0502020204030203" pitchFamily="34" charset="0"/>
              </a:rPr>
              <a:t>International </a:t>
            </a:r>
            <a:r>
              <a:rPr lang="ko-KR" altLang="en-US" sz="800" i="1" dirty="0" err="1">
                <a:latin typeface="Lato" panose="020F0502020204030203" pitchFamily="34" charset="0"/>
                <a:cs typeface="Lato" panose="020F0502020204030203" pitchFamily="34" charset="0"/>
              </a:rPr>
              <a:t>Urology</a:t>
            </a:r>
            <a:r>
              <a:rPr lang="ko-KR" altLang="en-US" sz="800" i="1" dirty="0">
                <a:latin typeface="Lato" panose="020F0502020204030203" pitchFamily="34" charset="0"/>
                <a:cs typeface="Lato" panose="020F0502020204030203" pitchFamily="34" charset="0"/>
              </a:rPr>
              <a:t> and </a:t>
            </a:r>
            <a:r>
              <a:rPr lang="ko-KR" altLang="en-US" sz="800" i="1" dirty="0" err="1">
                <a:latin typeface="Lato" panose="020F0502020204030203" pitchFamily="34" charset="0"/>
                <a:cs typeface="Lato" panose="020F0502020204030203" pitchFamily="34" charset="0"/>
              </a:rPr>
              <a:t>Nephrology</a:t>
            </a:r>
            <a:r>
              <a:rPr lang="ko-KR" altLang="en-US" sz="800" i="1" dirty="0">
                <a:latin typeface="Lato" panose="020F0502020204030203" pitchFamily="34" charset="0"/>
                <a:cs typeface="Lato" panose="020F0502020204030203" pitchFamily="34" charset="0"/>
              </a:rPr>
              <a:t> 2023</a:t>
            </a:r>
          </a:p>
        </p:txBody>
      </p:sp>
      <p:sp>
        <p:nvSpPr>
          <p:cNvPr id="4" name="TextBox 3">
            <a:extLst>
              <a:ext uri="{FF2B5EF4-FFF2-40B4-BE49-F238E27FC236}">
                <a16:creationId xmlns:a16="http://schemas.microsoft.com/office/drawing/2014/main" id="{DEF71710-F917-B35E-4145-405CEC9CD14E}"/>
              </a:ext>
            </a:extLst>
          </p:cNvPr>
          <p:cNvSpPr txBox="1"/>
          <p:nvPr/>
        </p:nvSpPr>
        <p:spPr>
          <a:xfrm>
            <a:off x="102887" y="210490"/>
            <a:ext cx="704480"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5" name="TextBox 4">
            <a:extLst>
              <a:ext uri="{FF2B5EF4-FFF2-40B4-BE49-F238E27FC236}">
                <a16:creationId xmlns:a16="http://schemas.microsoft.com/office/drawing/2014/main" id="{B9951D1C-E1C6-1A28-3665-8ABF9E1F3594}"/>
              </a:ext>
            </a:extLst>
          </p:cNvPr>
          <p:cNvSpPr txBox="1"/>
          <p:nvPr/>
        </p:nvSpPr>
        <p:spPr>
          <a:xfrm>
            <a:off x="569846" y="222320"/>
            <a:ext cx="5122293" cy="400110"/>
          </a:xfrm>
          <a:prstGeom prst="rect">
            <a:avLst/>
          </a:prstGeom>
          <a:noFill/>
        </p:spPr>
        <p:txBody>
          <a:bodyPr wrap="square" rtlCol="0">
            <a:spAutoFit/>
          </a:bodyPr>
          <a:lstStyle/>
          <a:p>
            <a:r>
              <a:rPr lang="en-US" altLang="ko-KR" sz="2000">
                <a:solidFill>
                  <a:srgbClr val="3A3A38"/>
                </a:solidFill>
                <a:latin typeface="Lato Black" panose="020F0502020204030203" pitchFamily="34" charset="0"/>
                <a:ea typeface="Lato Black" panose="020F0502020204030203" pitchFamily="34" charset="0"/>
                <a:cs typeface="Lato Black" panose="020F0502020204030203" pitchFamily="34" charset="0"/>
              </a:rPr>
              <a:t>Application of BWA in Dialysis Patients</a:t>
            </a:r>
            <a:endParaRPr lang="ko-KR" altLang="en-US" sz="200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
        <p:nvSpPr>
          <p:cNvPr id="6" name="TextBox 5">
            <a:extLst>
              <a:ext uri="{FF2B5EF4-FFF2-40B4-BE49-F238E27FC236}">
                <a16:creationId xmlns:a16="http://schemas.microsoft.com/office/drawing/2014/main" id="{1BD03F49-98CF-AB68-91BF-ABB55A7C6BE3}"/>
              </a:ext>
            </a:extLst>
          </p:cNvPr>
          <p:cNvSpPr txBox="1"/>
          <p:nvPr/>
        </p:nvSpPr>
        <p:spPr>
          <a:xfrm>
            <a:off x="935856" y="655181"/>
            <a:ext cx="2378131" cy="338554"/>
          </a:xfrm>
          <a:prstGeom prst="rect">
            <a:avLst/>
          </a:prstGeom>
          <a:noFill/>
        </p:spPr>
        <p:txBody>
          <a:bodyPr wrap="square" rtlCol="0">
            <a:spAutoFit/>
          </a:bodyPr>
          <a:lstStyle/>
          <a:p>
            <a:r>
              <a:rPr kumimoji="1" lang="en-US" altLang="ko-KR" sz="1600" spc="-3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rPr>
              <a:t>Severity Check</a:t>
            </a:r>
            <a:endParaRPr kumimoji="1" lang="en-US" altLang="ko-KR" sz="1600" spc="-3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7" name="모서리가 둥근 직사각형 4">
            <a:extLst>
              <a:ext uri="{FF2B5EF4-FFF2-40B4-BE49-F238E27FC236}">
                <a16:creationId xmlns:a16="http://schemas.microsoft.com/office/drawing/2014/main" id="{B2A36DA5-CC8C-64FC-7486-9A0E8DB4C757}"/>
              </a:ext>
            </a:extLst>
          </p:cNvPr>
          <p:cNvSpPr/>
          <p:nvPr/>
        </p:nvSpPr>
        <p:spPr>
          <a:xfrm>
            <a:off x="637860" y="640289"/>
            <a:ext cx="2745420" cy="353446"/>
          </a:xfrm>
          <a:prstGeom prst="roundRect">
            <a:avLst>
              <a:gd name="adj" fmla="val 50000"/>
            </a:avLst>
          </a:prstGeom>
          <a:noFill/>
          <a:ln>
            <a:solidFill>
              <a:srgbClr val="B9BF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8" name="타원 7">
            <a:extLst>
              <a:ext uri="{FF2B5EF4-FFF2-40B4-BE49-F238E27FC236}">
                <a16:creationId xmlns:a16="http://schemas.microsoft.com/office/drawing/2014/main" id="{CA4C606C-A045-1A87-8835-79DA832B2A39}"/>
              </a:ext>
            </a:extLst>
          </p:cNvPr>
          <p:cNvSpPr/>
          <p:nvPr/>
        </p:nvSpPr>
        <p:spPr>
          <a:xfrm rot="5400000">
            <a:off x="757326" y="719124"/>
            <a:ext cx="199307" cy="199307"/>
          </a:xfrm>
          <a:prstGeom prst="ellipse">
            <a:avLst/>
          </a:prstGeom>
          <a:solidFill>
            <a:srgbClr val="E7E8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dirty="0">
              <a:latin typeface="Lato Black" panose="020F0502020204030203" pitchFamily="34" charset="0"/>
              <a:cs typeface="Lato Black" panose="020F0502020204030203" pitchFamily="34" charset="0"/>
            </a:endParaRPr>
          </a:p>
        </p:txBody>
      </p:sp>
      <p:sp>
        <p:nvSpPr>
          <p:cNvPr id="9" name="TextBox 8">
            <a:extLst>
              <a:ext uri="{FF2B5EF4-FFF2-40B4-BE49-F238E27FC236}">
                <a16:creationId xmlns:a16="http://schemas.microsoft.com/office/drawing/2014/main" id="{051AA07B-7ABE-872F-EA38-EB4E390E9BDD}"/>
              </a:ext>
            </a:extLst>
          </p:cNvPr>
          <p:cNvSpPr txBox="1"/>
          <p:nvPr/>
        </p:nvSpPr>
        <p:spPr>
          <a:xfrm>
            <a:off x="722166" y="680277"/>
            <a:ext cx="274434" cy="276999"/>
          </a:xfrm>
          <a:prstGeom prst="rect">
            <a:avLst/>
          </a:prstGeom>
          <a:noFill/>
        </p:spPr>
        <p:txBody>
          <a:bodyPr wrap="none" rtlCol="0">
            <a:spAutoFit/>
          </a:bodyPr>
          <a:lstStyle/>
          <a:p>
            <a:r>
              <a:rPr lang="en-US" altLang="ko-KR" sz="1200">
                <a:solidFill>
                  <a:schemeClr val="bg1">
                    <a:lumMod val="50000"/>
                  </a:schemeClr>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200">
              <a:solidFill>
                <a:schemeClr val="bg1">
                  <a:lumMod val="50000"/>
                </a:schemeClr>
              </a:solidFill>
              <a:latin typeface="Lato Black" panose="020F0502020204030203" pitchFamily="34" charset="0"/>
              <a:cs typeface="Lato Black" panose="020F0502020204030203" pitchFamily="34" charset="0"/>
            </a:endParaRPr>
          </a:p>
        </p:txBody>
      </p:sp>
      <p:sp>
        <p:nvSpPr>
          <p:cNvPr id="10" name="직사각형 9">
            <a:extLst>
              <a:ext uri="{FF2B5EF4-FFF2-40B4-BE49-F238E27FC236}">
                <a16:creationId xmlns:a16="http://schemas.microsoft.com/office/drawing/2014/main" id="{30A49C92-136C-AE6C-CADF-49B72B944CC9}"/>
              </a:ext>
            </a:extLst>
          </p:cNvPr>
          <p:cNvSpPr/>
          <p:nvPr/>
        </p:nvSpPr>
        <p:spPr>
          <a:xfrm>
            <a:off x="1236960" y="1206710"/>
            <a:ext cx="10761327" cy="332527"/>
          </a:xfrm>
          <a:prstGeom prst="rect">
            <a:avLst/>
          </a:prstGeom>
        </p:spPr>
        <p:txBody>
          <a:bodyPr wrap="square">
            <a:spAutoFit/>
          </a:bodyPr>
          <a:lstStyle/>
          <a:p>
            <a:pPr>
              <a:lnSpc>
                <a:spcPct val="125000"/>
              </a:lnSpc>
            </a:pPr>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Phase angle can be used as nutrition and mortality assessment for kidney disease patients.</a:t>
            </a:r>
          </a:p>
        </p:txBody>
      </p:sp>
      <p:grpSp>
        <p:nvGrpSpPr>
          <p:cNvPr id="11" name="그룹 10">
            <a:extLst>
              <a:ext uri="{FF2B5EF4-FFF2-40B4-BE49-F238E27FC236}">
                <a16:creationId xmlns:a16="http://schemas.microsoft.com/office/drawing/2014/main" id="{F8DB6A96-32A0-ACB5-0D11-F0391CE58FB2}"/>
              </a:ext>
            </a:extLst>
          </p:cNvPr>
          <p:cNvGrpSpPr/>
          <p:nvPr/>
        </p:nvGrpSpPr>
        <p:grpSpPr>
          <a:xfrm>
            <a:off x="1003233" y="1274399"/>
            <a:ext cx="233727" cy="233726"/>
            <a:chOff x="2701227" y="-1816305"/>
            <a:chExt cx="7728206" cy="7728208"/>
          </a:xfrm>
        </p:grpSpPr>
        <p:sp>
          <p:nvSpPr>
            <p:cNvPr id="12" name="자유형: 도형 22">
              <a:extLst>
                <a:ext uri="{FF2B5EF4-FFF2-40B4-BE49-F238E27FC236}">
                  <a16:creationId xmlns:a16="http://schemas.microsoft.com/office/drawing/2014/main" id="{A0A59F0F-A8C4-BA5C-AC35-84311B0AC89D}"/>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3" name="타원 12">
              <a:extLst>
                <a:ext uri="{FF2B5EF4-FFF2-40B4-BE49-F238E27FC236}">
                  <a16:creationId xmlns:a16="http://schemas.microsoft.com/office/drawing/2014/main" id="{E93BAF17-901D-9CB6-1388-A57D6E6203D1}"/>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pic>
        <p:nvPicPr>
          <p:cNvPr id="15" name="그림 14" descr="텍스트, 스크린샷, 폰트, 정보이(가) 표시된 사진&#10;&#10;자동 생성된 설명">
            <a:extLst>
              <a:ext uri="{FF2B5EF4-FFF2-40B4-BE49-F238E27FC236}">
                <a16:creationId xmlns:a16="http://schemas.microsoft.com/office/drawing/2014/main" id="{F2BC1D13-4A42-0DE5-F44C-60910D96E50A}"/>
              </a:ext>
            </a:extLst>
          </p:cNvPr>
          <p:cNvPicPr>
            <a:picLocks noChangeAspect="1"/>
          </p:cNvPicPr>
          <p:nvPr/>
        </p:nvPicPr>
        <p:blipFill rotWithShape="1">
          <a:blip r:embed="rId2">
            <a:extLst>
              <a:ext uri="{28A0092B-C50C-407E-A947-70E740481C1C}">
                <a14:useLocalDpi xmlns:a14="http://schemas.microsoft.com/office/drawing/2010/main" val="0"/>
              </a:ext>
            </a:extLst>
          </a:blip>
          <a:srcRect b="64392"/>
          <a:stretch/>
        </p:blipFill>
        <p:spPr>
          <a:xfrm>
            <a:off x="569846" y="1925374"/>
            <a:ext cx="6187157" cy="678213"/>
          </a:xfrm>
          <a:prstGeom prst="rect">
            <a:avLst/>
          </a:prstGeom>
        </p:spPr>
      </p:pic>
      <p:pic>
        <p:nvPicPr>
          <p:cNvPr id="17" name="그림 16" descr="텍스트, 도표, 라인, 그래프이(가) 표시된 사진&#10;&#10;자동 생성된 설명">
            <a:extLst>
              <a:ext uri="{FF2B5EF4-FFF2-40B4-BE49-F238E27FC236}">
                <a16:creationId xmlns:a16="http://schemas.microsoft.com/office/drawing/2014/main" id="{D3CAD7F9-3641-E756-A85F-26011B87F7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83" y="2624751"/>
            <a:ext cx="6051217" cy="3855311"/>
          </a:xfrm>
          <a:prstGeom prst="rect">
            <a:avLst/>
          </a:prstGeom>
        </p:spPr>
      </p:pic>
      <p:sp>
        <p:nvSpPr>
          <p:cNvPr id="18" name="TextBox 17">
            <a:extLst>
              <a:ext uri="{FF2B5EF4-FFF2-40B4-BE49-F238E27FC236}">
                <a16:creationId xmlns:a16="http://schemas.microsoft.com/office/drawing/2014/main" id="{84192AE9-BB1F-BAC7-67C8-821E62F7C293}"/>
              </a:ext>
            </a:extLst>
          </p:cNvPr>
          <p:cNvSpPr txBox="1"/>
          <p:nvPr/>
        </p:nvSpPr>
        <p:spPr>
          <a:xfrm>
            <a:off x="5439808" y="2780718"/>
            <a:ext cx="6289222" cy="954107"/>
          </a:xfrm>
          <a:prstGeom prst="rect">
            <a:avLst/>
          </a:prstGeom>
          <a:noFill/>
        </p:spPr>
        <p:txBody>
          <a:bodyPr wrap="none" rtlCol="0">
            <a:spAutoFit/>
          </a:bodyPr>
          <a:lstStyle/>
          <a:p>
            <a:pPr algn="ctr"/>
            <a:r>
              <a:rPr lang="en-US" altLang="ko-KR" sz="1400" b="1" dirty="0">
                <a:latin typeface="Lato" panose="020F0502020204030203" pitchFamily="34" charset="0"/>
                <a:ea typeface="Lato" panose="020F0502020204030203" pitchFamily="34" charset="0"/>
                <a:cs typeface="Lato" panose="020F0502020204030203" pitchFamily="34" charset="0"/>
              </a:rPr>
              <a:t>The optimal cut-off value for phase angle as a predictor of death risk</a:t>
            </a:r>
          </a:p>
          <a:p>
            <a:pPr algn="ctr"/>
            <a:r>
              <a:rPr lang="en-US" altLang="ko-KR" sz="1400" b="1" dirty="0">
                <a:latin typeface="Lato" panose="020F0502020204030203" pitchFamily="34" charset="0"/>
                <a:ea typeface="Lato" panose="020F0502020204030203" pitchFamily="34" charset="0"/>
                <a:cs typeface="Lato" panose="020F0502020204030203" pitchFamily="34" charset="0"/>
              </a:rPr>
              <a:t>in MHD patients was 4.50°. Additionally, lower phase angle, increased age,</a:t>
            </a:r>
          </a:p>
          <a:p>
            <a:pPr algn="ctr"/>
            <a:r>
              <a:rPr lang="en-US" altLang="ko-KR" sz="1400" b="1" dirty="0">
                <a:latin typeface="Lato" panose="020F0502020204030203" pitchFamily="34" charset="0"/>
                <a:ea typeface="Lato" panose="020F0502020204030203" pitchFamily="34" charset="0"/>
                <a:cs typeface="Lato" panose="020F0502020204030203" pitchFamily="34" charset="0"/>
              </a:rPr>
              <a:t>longer dialysis vintage, lower KT/V, and hypoproteinemia were identified</a:t>
            </a:r>
          </a:p>
          <a:p>
            <a:pPr algn="ctr"/>
            <a:r>
              <a:rPr lang="en-US" altLang="ko-KR" sz="1400" b="1" dirty="0">
                <a:latin typeface="Lato" panose="020F0502020204030203" pitchFamily="34" charset="0"/>
                <a:ea typeface="Lato" panose="020F0502020204030203" pitchFamily="34" charset="0"/>
                <a:cs typeface="Lato" panose="020F0502020204030203" pitchFamily="34" charset="0"/>
              </a:rPr>
              <a:t>as significant risk factors for death in MHD patients</a:t>
            </a:r>
            <a:endParaRPr lang="ko-KR" altLang="en-US" sz="1400" b="1" dirty="0">
              <a:latin typeface="Lato" panose="020F0502020204030203" pitchFamily="34" charset="0"/>
              <a:cs typeface="Lato" panose="020F0502020204030203" pitchFamily="34" charset="0"/>
            </a:endParaRPr>
          </a:p>
        </p:txBody>
      </p:sp>
      <p:sp>
        <p:nvSpPr>
          <p:cNvPr id="19" name="직사각형 18">
            <a:extLst>
              <a:ext uri="{FF2B5EF4-FFF2-40B4-BE49-F238E27FC236}">
                <a16:creationId xmlns:a16="http://schemas.microsoft.com/office/drawing/2014/main" id="{084212D2-8288-DB1A-3681-A539FC1F0E46}"/>
              </a:ext>
            </a:extLst>
          </p:cNvPr>
          <p:cNvSpPr/>
          <p:nvPr/>
        </p:nvSpPr>
        <p:spPr>
          <a:xfrm>
            <a:off x="5900909" y="4473514"/>
            <a:ext cx="5367019" cy="1177776"/>
          </a:xfrm>
          <a:prstGeom prst="rect">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718FE81D-D7B4-5B9E-8E16-3431234BCF1D}"/>
              </a:ext>
            </a:extLst>
          </p:cNvPr>
          <p:cNvSpPr/>
          <p:nvPr/>
        </p:nvSpPr>
        <p:spPr>
          <a:xfrm>
            <a:off x="5788100" y="4548571"/>
            <a:ext cx="5525548" cy="982448"/>
          </a:xfrm>
          <a:prstGeom prst="rect">
            <a:avLst/>
          </a:prstGeom>
        </p:spPr>
        <p:txBody>
          <a:bodyPr wrap="square">
            <a:spAutoFit/>
          </a:bodyPr>
          <a:lstStyle/>
          <a:p>
            <a:pPr algn="ctr">
              <a:lnSpc>
                <a:spcPct val="125000"/>
              </a:lnSpc>
            </a:pP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lower phase angle, increased age, longer dialysis duration, and hypoproteinemia can be used to predict the risk of</a:t>
            </a:r>
          </a:p>
          <a:p>
            <a:pPr algn="ctr">
              <a:lnSpc>
                <a:spcPct val="125000"/>
              </a:lnSpc>
            </a:pPr>
            <a:r>
              <a:rPr lang="en-US" altLang="ko-KR" sz="1600" dirty="0">
                <a:solidFill>
                  <a:schemeClr val="bg1"/>
                </a:solidFill>
                <a:latin typeface="Lato" panose="020F0502020204030203" pitchFamily="34" charset="0"/>
                <a:ea typeface="Lato" panose="020F0502020204030203" pitchFamily="34" charset="0"/>
                <a:cs typeface="Lato" panose="020F0502020204030203" pitchFamily="34" charset="0"/>
              </a:rPr>
              <a:t>mortality in this patient population.</a:t>
            </a:r>
          </a:p>
        </p:txBody>
      </p:sp>
      <p:grpSp>
        <p:nvGrpSpPr>
          <p:cNvPr id="21" name="그룹 20">
            <a:extLst>
              <a:ext uri="{FF2B5EF4-FFF2-40B4-BE49-F238E27FC236}">
                <a16:creationId xmlns:a16="http://schemas.microsoft.com/office/drawing/2014/main" id="{D08C4088-2E61-3C4B-BCC3-CE8D2C8A58B0}"/>
              </a:ext>
            </a:extLst>
          </p:cNvPr>
          <p:cNvGrpSpPr/>
          <p:nvPr/>
        </p:nvGrpSpPr>
        <p:grpSpPr>
          <a:xfrm>
            <a:off x="8397581" y="3879399"/>
            <a:ext cx="373680" cy="338057"/>
            <a:chOff x="2061642" y="2996194"/>
            <a:chExt cx="369826" cy="334570"/>
          </a:xfrm>
        </p:grpSpPr>
        <p:sp>
          <p:nvSpPr>
            <p:cNvPr id="22" name="이등변 삼각형 34">
              <a:extLst>
                <a:ext uri="{FF2B5EF4-FFF2-40B4-BE49-F238E27FC236}">
                  <a16:creationId xmlns:a16="http://schemas.microsoft.com/office/drawing/2014/main" id="{CB25707C-E383-B775-2B77-509DB2D88CB0}"/>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23" name="이등변 삼각형 34">
              <a:extLst>
                <a:ext uri="{FF2B5EF4-FFF2-40B4-BE49-F238E27FC236}">
                  <a16:creationId xmlns:a16="http://schemas.microsoft.com/office/drawing/2014/main" id="{AC36BA0B-D7C2-3506-E8B3-286F00C97FD4}"/>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3435136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E632E173-5845-68AB-8E02-1D431BB02329}"/>
              </a:ext>
            </a:extLst>
          </p:cNvPr>
          <p:cNvGrpSpPr/>
          <p:nvPr/>
        </p:nvGrpSpPr>
        <p:grpSpPr>
          <a:xfrm>
            <a:off x="1687741" y="140288"/>
            <a:ext cx="4733896" cy="6667865"/>
            <a:chOff x="4051323" y="360215"/>
            <a:chExt cx="4578799" cy="6449405"/>
          </a:xfrm>
        </p:grpSpPr>
        <p:pic>
          <p:nvPicPr>
            <p:cNvPr id="5" name="그림 4">
              <a:extLst>
                <a:ext uri="{FF2B5EF4-FFF2-40B4-BE49-F238E27FC236}">
                  <a16:creationId xmlns:a16="http://schemas.microsoft.com/office/drawing/2014/main" id="{D3F88599-F099-5C50-AC2C-ADB725DF4A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51323" y="360215"/>
              <a:ext cx="4578799" cy="6449405"/>
            </a:xfrm>
            <a:prstGeom prst="rect">
              <a:avLst/>
            </a:prstGeom>
          </p:spPr>
        </p:pic>
        <p:sp>
          <p:nvSpPr>
            <p:cNvPr id="6" name="직사각형 5">
              <a:extLst>
                <a:ext uri="{FF2B5EF4-FFF2-40B4-BE49-F238E27FC236}">
                  <a16:creationId xmlns:a16="http://schemas.microsoft.com/office/drawing/2014/main" id="{20BEE33F-C92F-3F96-FAAF-822797E051B9}"/>
                </a:ext>
              </a:extLst>
            </p:cNvPr>
            <p:cNvSpPr/>
            <p:nvPr/>
          </p:nvSpPr>
          <p:spPr>
            <a:xfrm>
              <a:off x="4224377" y="936454"/>
              <a:ext cx="733031" cy="1593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0D430E8C-0DB4-B7ED-9C24-1120C69C4A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2527" t="57801" r="4764" b="29172"/>
          <a:stretch/>
        </p:blipFill>
        <p:spPr>
          <a:xfrm>
            <a:off x="6574535" y="3564574"/>
            <a:ext cx="3409471" cy="1912682"/>
          </a:xfrm>
          <a:prstGeom prst="rect">
            <a:avLst/>
          </a:prstGeom>
        </p:spPr>
      </p:pic>
      <p:sp>
        <p:nvSpPr>
          <p:cNvPr id="12" name="직사각형 11">
            <a:extLst>
              <a:ext uri="{FF2B5EF4-FFF2-40B4-BE49-F238E27FC236}">
                <a16:creationId xmlns:a16="http://schemas.microsoft.com/office/drawing/2014/main" id="{A5E30FF6-371A-9754-C4E9-90EDB85ACE76}"/>
              </a:ext>
            </a:extLst>
          </p:cNvPr>
          <p:cNvSpPr/>
          <p:nvPr/>
        </p:nvSpPr>
        <p:spPr>
          <a:xfrm>
            <a:off x="6961730" y="3126778"/>
            <a:ext cx="4447488" cy="361637"/>
          </a:xfrm>
          <a:prstGeom prst="rect">
            <a:avLst/>
          </a:prstGeom>
        </p:spPr>
        <p:txBody>
          <a:bodyPr wrap="square">
            <a:spAutoFit/>
          </a:bodyPr>
          <a:lstStyle/>
          <a:p>
            <a:pPr>
              <a:lnSpc>
                <a:spcPct val="125000"/>
              </a:lnSpc>
            </a:pPr>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Expired after 2 months of measurement</a:t>
            </a:r>
          </a:p>
        </p:txBody>
      </p:sp>
      <p:grpSp>
        <p:nvGrpSpPr>
          <p:cNvPr id="13" name="그룹 12">
            <a:extLst>
              <a:ext uri="{FF2B5EF4-FFF2-40B4-BE49-F238E27FC236}">
                <a16:creationId xmlns:a16="http://schemas.microsoft.com/office/drawing/2014/main" id="{AC4732C7-DBAA-2B97-2376-D15C06303D00}"/>
              </a:ext>
            </a:extLst>
          </p:cNvPr>
          <p:cNvGrpSpPr/>
          <p:nvPr/>
        </p:nvGrpSpPr>
        <p:grpSpPr>
          <a:xfrm>
            <a:off x="6728002" y="3194467"/>
            <a:ext cx="233727" cy="233726"/>
            <a:chOff x="2701227" y="-1816305"/>
            <a:chExt cx="7728206" cy="7728208"/>
          </a:xfrm>
        </p:grpSpPr>
        <p:sp>
          <p:nvSpPr>
            <p:cNvPr id="14" name="자유형: 도형 22">
              <a:extLst>
                <a:ext uri="{FF2B5EF4-FFF2-40B4-BE49-F238E27FC236}">
                  <a16:creationId xmlns:a16="http://schemas.microsoft.com/office/drawing/2014/main" id="{22562518-1F93-74FC-A8BE-87927ACE3269}"/>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15" name="타원 14">
              <a:extLst>
                <a:ext uri="{FF2B5EF4-FFF2-40B4-BE49-F238E27FC236}">
                  <a16:creationId xmlns:a16="http://schemas.microsoft.com/office/drawing/2014/main" id="{877B71D4-FC9B-679C-3C27-58A264EC6BBF}"/>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8" name="직사각형 7">
            <a:extLst>
              <a:ext uri="{FF2B5EF4-FFF2-40B4-BE49-F238E27FC236}">
                <a16:creationId xmlns:a16="http://schemas.microsoft.com/office/drawing/2014/main" id="{403FBCA8-5D82-9B36-3ABE-6039CC15D22F}"/>
              </a:ext>
            </a:extLst>
          </p:cNvPr>
          <p:cNvSpPr/>
          <p:nvPr/>
        </p:nvSpPr>
        <p:spPr>
          <a:xfrm>
            <a:off x="6728002" y="3623887"/>
            <a:ext cx="3274292" cy="746945"/>
          </a:xfrm>
          <a:prstGeom prst="rect">
            <a:avLst/>
          </a:prstGeom>
          <a:noFill/>
          <a:ln w="19050">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Tree>
    <p:extLst>
      <p:ext uri="{BB962C8B-B14F-4D97-AF65-F5344CB8AC3E}">
        <p14:creationId xmlns:p14="http://schemas.microsoft.com/office/powerpoint/2010/main" val="7461493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50">
            <a:extLst>
              <a:ext uri="{FF2B5EF4-FFF2-40B4-BE49-F238E27FC236}">
                <a16:creationId xmlns:a16="http://schemas.microsoft.com/office/drawing/2014/main" id="{326D874F-1942-294B-90C5-320A68E69828}"/>
              </a:ext>
            </a:extLst>
          </p:cNvPr>
          <p:cNvSpPr txBox="1">
            <a:spLocks/>
          </p:cNvSpPr>
          <p:nvPr/>
        </p:nvSpPr>
        <p:spPr>
          <a:xfrm>
            <a:off x="4896975" y="2604924"/>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Part</a:t>
            </a:r>
            <a:r>
              <a:rPr lang="ko-KR" altLang="en-US" sz="180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rPr>
              <a:t> </a:t>
            </a: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3</a:t>
            </a:r>
            <a:endPar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endParaRPr>
          </a:p>
        </p:txBody>
      </p:sp>
      <p:sp>
        <p:nvSpPr>
          <p:cNvPr id="4" name="텍스트 개체 틀 4">
            <a:extLst>
              <a:ext uri="{FF2B5EF4-FFF2-40B4-BE49-F238E27FC236}">
                <a16:creationId xmlns:a16="http://schemas.microsoft.com/office/drawing/2014/main" id="{467AFA88-CA99-3047-90FB-F4C2473E60C3}"/>
              </a:ext>
            </a:extLst>
          </p:cNvPr>
          <p:cNvSpPr txBox="1">
            <a:spLocks/>
          </p:cNvSpPr>
          <p:nvPr/>
        </p:nvSpPr>
        <p:spPr>
          <a:xfrm>
            <a:off x="2027465" y="3119633"/>
            <a:ext cx="8366215" cy="6059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3400" spc="-150" dirty="0">
                <a:solidFill>
                  <a:srgbClr val="3A3A38"/>
                </a:solidFill>
                <a:latin typeface="S-Core Dream 5 Medium" panose="020B0503030302020204" pitchFamily="34" charset="-127"/>
                <a:ea typeface="S-Core Dream 5 Medium" panose="020B0503030302020204" pitchFamily="34" charset="-127"/>
              </a:rPr>
              <a:t>Clinical Case Study</a:t>
            </a:r>
            <a:endParaRPr lang="ko-KR" altLang="en-US" sz="3400" spc="-150" dirty="0">
              <a:solidFill>
                <a:srgbClr val="3A3A38"/>
              </a:solidFill>
              <a:latin typeface="S-Core Dream 5 Medium" panose="020B0503030302020204" pitchFamily="34" charset="-127"/>
              <a:ea typeface="S-Core Dream 5 Medium" panose="020B0503030302020204" pitchFamily="34" charset="-127"/>
            </a:endParaRPr>
          </a:p>
        </p:txBody>
      </p:sp>
    </p:spTree>
    <p:extLst>
      <p:ext uri="{BB962C8B-B14F-4D97-AF65-F5344CB8AC3E}">
        <p14:creationId xmlns:p14="http://schemas.microsoft.com/office/powerpoint/2010/main" val="23101282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93, Male, 53.0kg,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3" y="936454"/>
            <a:ext cx="2498798" cy="886846"/>
          </a:xfrm>
          <a:prstGeom prst="rect">
            <a:avLst/>
          </a:prstGeom>
          <a:noFill/>
        </p:spPr>
        <p:txBody>
          <a:bodyPr wrap="square" rtlCol="0">
            <a:spAutoFit/>
          </a:bodyPr>
          <a:lstStyle/>
          <a:p>
            <a:pPr>
              <a:lnSpc>
                <a:spcPct val="1500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The patient was transferred from the university hospital to a local hospital.</a:t>
            </a:r>
          </a:p>
        </p:txBody>
      </p:sp>
      <p:grpSp>
        <p:nvGrpSpPr>
          <p:cNvPr id="3" name="그룹 2"/>
          <p:cNvGrpSpPr/>
          <p:nvPr/>
        </p:nvGrpSpPr>
        <p:grpSpPr>
          <a:xfrm>
            <a:off x="3047170" y="278577"/>
            <a:ext cx="4631697" cy="6523914"/>
            <a:chOff x="3984241" y="278577"/>
            <a:chExt cx="4631697" cy="6523914"/>
          </a:xfrm>
        </p:grpSpPr>
        <p:pic>
          <p:nvPicPr>
            <p:cNvPr id="12" name="그림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84241" y="278577"/>
              <a:ext cx="4631697" cy="6523914"/>
            </a:xfrm>
            <a:prstGeom prst="rect">
              <a:avLst/>
            </a:prstGeom>
          </p:spPr>
        </p:pic>
        <p:sp>
          <p:nvSpPr>
            <p:cNvPr id="18" name="직사각형 17"/>
            <p:cNvSpPr/>
            <p:nvPr/>
          </p:nvSpPr>
          <p:spPr>
            <a:xfrm>
              <a:off x="4110239" y="850779"/>
              <a:ext cx="786713" cy="154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9" name="직사각형 18"/>
          <p:cNvSpPr/>
          <p:nvPr/>
        </p:nvSpPr>
        <p:spPr>
          <a:xfrm>
            <a:off x="3210953" y="1938375"/>
            <a:ext cx="2758314" cy="476094"/>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2" name="직사각형 1"/>
          <p:cNvSpPr/>
          <p:nvPr/>
        </p:nvSpPr>
        <p:spPr>
          <a:xfrm>
            <a:off x="4382292" y="183856"/>
            <a:ext cx="2653145" cy="1894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5" name="TextBox 1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13" name="그림 12"/>
          <p:cNvPicPr>
            <a:picLocks noChangeAspect="1"/>
          </p:cNvPicPr>
          <p:nvPr/>
        </p:nvPicPr>
        <p:blipFill rotWithShape="1">
          <a:blip r:embed="rId3" cstate="print">
            <a:extLst>
              <a:ext uri="{28A0092B-C50C-407E-A947-70E740481C1C}">
                <a14:useLocalDpi xmlns:a14="http://schemas.microsoft.com/office/drawing/2010/main" val="0"/>
              </a:ext>
            </a:extLst>
          </a:blip>
          <a:srcRect l="64101" t="22719" r="5877" b="69983"/>
          <a:stretch/>
        </p:blipFill>
        <p:spPr>
          <a:xfrm>
            <a:off x="8213369" y="1579417"/>
            <a:ext cx="3222414" cy="1103325"/>
          </a:xfrm>
          <a:prstGeom prst="rect">
            <a:avLst/>
          </a:prstGeom>
        </p:spPr>
      </p:pic>
      <p:grpSp>
        <p:nvGrpSpPr>
          <p:cNvPr id="14" name="그룹 13">
            <a:extLst>
              <a:ext uri="{FF2B5EF4-FFF2-40B4-BE49-F238E27FC236}">
                <a16:creationId xmlns:a16="http://schemas.microsoft.com/office/drawing/2014/main" id="{2F1A05A6-8D4D-A99A-FADA-5533987FA333}"/>
              </a:ext>
            </a:extLst>
          </p:cNvPr>
          <p:cNvGrpSpPr/>
          <p:nvPr/>
        </p:nvGrpSpPr>
        <p:grpSpPr>
          <a:xfrm rot="16200000">
            <a:off x="7754242" y="2128707"/>
            <a:ext cx="300064" cy="271459"/>
            <a:chOff x="2061642" y="2996194"/>
            <a:chExt cx="369826" cy="334570"/>
          </a:xfrm>
        </p:grpSpPr>
        <p:sp>
          <p:nvSpPr>
            <p:cNvPr id="20"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p:cNvSpPr/>
          <p:nvPr/>
        </p:nvSpPr>
        <p:spPr>
          <a:xfrm>
            <a:off x="8266268" y="1831817"/>
            <a:ext cx="3084383" cy="282587"/>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596222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p:cNvGrpSpPr/>
          <p:nvPr/>
        </p:nvGrpSpPr>
        <p:grpSpPr>
          <a:xfrm>
            <a:off x="6176305" y="1467933"/>
            <a:ext cx="3846240" cy="5406291"/>
            <a:chOff x="6176305" y="1467933"/>
            <a:chExt cx="3846240" cy="5406291"/>
          </a:xfrm>
        </p:grpSpPr>
        <p:grpSp>
          <p:nvGrpSpPr>
            <p:cNvPr id="4" name="그룹 3"/>
            <p:cNvGrpSpPr/>
            <p:nvPr/>
          </p:nvGrpSpPr>
          <p:grpSpPr>
            <a:xfrm>
              <a:off x="6184312" y="1467933"/>
              <a:ext cx="3838233" cy="5406291"/>
              <a:chOff x="6122320" y="1460184"/>
              <a:chExt cx="3838233" cy="5406291"/>
            </a:xfrm>
          </p:grpSpPr>
          <p:pic>
            <p:nvPicPr>
              <p:cNvPr id="44" name="그림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2320" y="1460184"/>
                <a:ext cx="3838233" cy="5406291"/>
              </a:xfrm>
              <a:prstGeom prst="rect">
                <a:avLst/>
              </a:prstGeom>
            </p:spPr>
          </p:pic>
          <p:sp>
            <p:nvSpPr>
              <p:cNvPr id="45" name="직사각형 44"/>
              <p:cNvSpPr/>
              <p:nvPr/>
            </p:nvSpPr>
            <p:spPr>
              <a:xfrm>
                <a:off x="6147474" y="1928608"/>
                <a:ext cx="678538" cy="146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0" name="직사각형 39"/>
            <p:cNvSpPr/>
            <p:nvPr/>
          </p:nvSpPr>
          <p:spPr>
            <a:xfrm>
              <a:off x="6176305" y="1937362"/>
              <a:ext cx="790184" cy="1457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 name="그룹 4"/>
          <p:cNvGrpSpPr/>
          <p:nvPr/>
        </p:nvGrpSpPr>
        <p:grpSpPr>
          <a:xfrm>
            <a:off x="2087929" y="1467933"/>
            <a:ext cx="3838233" cy="5406291"/>
            <a:chOff x="2025937" y="1460184"/>
            <a:chExt cx="3838233" cy="5406291"/>
          </a:xfrm>
        </p:grpSpPr>
        <p:pic>
          <p:nvPicPr>
            <p:cNvPr id="43" name="그림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25937" y="1460184"/>
              <a:ext cx="3838233" cy="5406291"/>
            </a:xfrm>
            <a:prstGeom prst="rect">
              <a:avLst/>
            </a:prstGeom>
          </p:spPr>
        </p:pic>
        <p:sp>
          <p:nvSpPr>
            <p:cNvPr id="2" name="직사각형 1"/>
            <p:cNvSpPr/>
            <p:nvPr/>
          </p:nvSpPr>
          <p:spPr>
            <a:xfrm>
              <a:off x="2072220" y="1928608"/>
              <a:ext cx="678538" cy="146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모서리가 둥근 직사각형 2"/>
          <p:cNvSpPr/>
          <p:nvPr/>
        </p:nvSpPr>
        <p:spPr>
          <a:xfrm>
            <a:off x="615371" y="3012832"/>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37, Male, 99.9kg, DM+, Alb 4.0</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1" y="936454"/>
            <a:ext cx="10506095" cy="534698"/>
          </a:xfrm>
          <a:prstGeom prst="rect">
            <a:avLst/>
          </a:prstGeom>
          <a:noFill/>
        </p:spPr>
        <p:txBody>
          <a:bodyPr wrap="square" rtlCol="0">
            <a:spAutoFit/>
          </a:bodyPr>
          <a:lstStyle/>
          <a:p>
            <a:pPr>
              <a:lnSpc>
                <a:spcPts val="18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A patient who is unable to control their weight, undergoing hemodialysis for three consecutive days to establish a dry weight.</a:t>
            </a:r>
          </a:p>
          <a:p>
            <a:pPr>
              <a:lnSpc>
                <a:spcPts val="18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Clinical DW : 94kg</a:t>
            </a:r>
          </a:p>
        </p:txBody>
      </p:sp>
      <p:sp>
        <p:nvSpPr>
          <p:cNvPr id="19" name="직사각형 18"/>
          <p:cNvSpPr/>
          <p:nvPr/>
        </p:nvSpPr>
        <p:spPr>
          <a:xfrm>
            <a:off x="2237886" y="2830019"/>
            <a:ext cx="2241123"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34" name="TextBox 33">
            <a:extLst>
              <a:ext uri="{FF2B5EF4-FFF2-40B4-BE49-F238E27FC236}">
                <a16:creationId xmlns:a16="http://schemas.microsoft.com/office/drawing/2014/main" id="{B8271BDF-AC03-4748-8C05-1D490119D647}"/>
              </a:ext>
            </a:extLst>
          </p:cNvPr>
          <p:cNvSpPr txBox="1"/>
          <p:nvPr/>
        </p:nvSpPr>
        <p:spPr>
          <a:xfrm>
            <a:off x="622613" y="3005905"/>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2023.11.20</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36" name="모서리가 둥근 직사각형 35"/>
          <p:cNvSpPr/>
          <p:nvPr/>
        </p:nvSpPr>
        <p:spPr>
          <a:xfrm>
            <a:off x="10375838" y="3079311"/>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B8271BDF-AC03-4748-8C05-1D490119D647}"/>
              </a:ext>
            </a:extLst>
          </p:cNvPr>
          <p:cNvSpPr txBox="1"/>
          <p:nvPr/>
        </p:nvSpPr>
        <p:spPr>
          <a:xfrm>
            <a:off x="10383080" y="3072384"/>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2023.11.21</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grpSp>
        <p:nvGrpSpPr>
          <p:cNvPr id="7" name="그룹 6"/>
          <p:cNvGrpSpPr/>
          <p:nvPr/>
        </p:nvGrpSpPr>
        <p:grpSpPr>
          <a:xfrm>
            <a:off x="250232" y="3664629"/>
            <a:ext cx="2451717" cy="850597"/>
            <a:chOff x="296347" y="3644004"/>
            <a:chExt cx="1792461" cy="621875"/>
          </a:xfrm>
        </p:grpSpPr>
        <p:pic>
          <p:nvPicPr>
            <p:cNvPr id="46" name="그림 45"/>
            <p:cNvPicPr>
              <a:picLocks noChangeAspect="1"/>
            </p:cNvPicPr>
            <p:nvPr/>
          </p:nvPicPr>
          <p:blipFill rotWithShape="1">
            <a:blip r:embed="rId4" cstate="print">
              <a:extLst>
                <a:ext uri="{28A0092B-C50C-407E-A947-70E740481C1C}">
                  <a14:useLocalDpi xmlns:a14="http://schemas.microsoft.com/office/drawing/2010/main" val="0"/>
                </a:ext>
              </a:extLst>
            </a:blip>
            <a:srcRect l="63987" t="22729" r="6335" b="69961"/>
            <a:stretch/>
          </p:blipFill>
          <p:spPr>
            <a:xfrm>
              <a:off x="296347" y="3644004"/>
              <a:ext cx="1792461" cy="621875"/>
            </a:xfrm>
            <a:prstGeom prst="rect">
              <a:avLst/>
            </a:prstGeom>
            <a:ln w="12700">
              <a:solidFill>
                <a:srgbClr val="A0112D"/>
              </a:solidFill>
            </a:ln>
          </p:spPr>
        </p:pic>
        <p:sp>
          <p:nvSpPr>
            <p:cNvPr id="41" name="직사각형 40"/>
            <p:cNvSpPr/>
            <p:nvPr/>
          </p:nvSpPr>
          <p:spPr>
            <a:xfrm>
              <a:off x="358689" y="3925985"/>
              <a:ext cx="1683625" cy="176240"/>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8" name="그룹 7"/>
          <p:cNvGrpSpPr/>
          <p:nvPr/>
        </p:nvGrpSpPr>
        <p:grpSpPr>
          <a:xfrm>
            <a:off x="9440422" y="3663897"/>
            <a:ext cx="2536615" cy="851329"/>
            <a:chOff x="10007306" y="3304110"/>
            <a:chExt cx="1852936" cy="621875"/>
          </a:xfrm>
        </p:grpSpPr>
        <p:pic>
          <p:nvPicPr>
            <p:cNvPr id="50" name="그림 49"/>
            <p:cNvPicPr>
              <a:picLocks noChangeAspect="1"/>
            </p:cNvPicPr>
            <p:nvPr/>
          </p:nvPicPr>
          <p:blipFill rotWithShape="1">
            <a:blip r:embed="rId3" cstate="print">
              <a:extLst>
                <a:ext uri="{28A0092B-C50C-407E-A947-70E740481C1C}">
                  <a14:useLocalDpi xmlns:a14="http://schemas.microsoft.com/office/drawing/2010/main" val="0"/>
                </a:ext>
              </a:extLst>
            </a:blip>
            <a:srcRect l="64370" t="22729" r="6154" b="70248"/>
            <a:stretch/>
          </p:blipFill>
          <p:spPr>
            <a:xfrm>
              <a:off x="10007306" y="3304110"/>
              <a:ext cx="1852936" cy="621875"/>
            </a:xfrm>
            <a:prstGeom prst="rect">
              <a:avLst/>
            </a:prstGeom>
            <a:ln w="12700">
              <a:solidFill>
                <a:srgbClr val="A0112D"/>
              </a:solidFill>
            </a:ln>
          </p:spPr>
        </p:pic>
        <p:sp>
          <p:nvSpPr>
            <p:cNvPr id="42" name="직사각형 41"/>
            <p:cNvSpPr/>
            <p:nvPr/>
          </p:nvSpPr>
          <p:spPr>
            <a:xfrm>
              <a:off x="10025957" y="3601589"/>
              <a:ext cx="1818787" cy="176240"/>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4" name="TextBox 23">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5" name="TextBox 2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grpSp>
        <p:nvGrpSpPr>
          <p:cNvPr id="30" name="그룹 29">
            <a:extLst>
              <a:ext uri="{FF2B5EF4-FFF2-40B4-BE49-F238E27FC236}">
                <a16:creationId xmlns:a16="http://schemas.microsoft.com/office/drawing/2014/main" id="{2F1A05A6-8D4D-A99A-FADA-5533987FA333}"/>
              </a:ext>
            </a:extLst>
          </p:cNvPr>
          <p:cNvGrpSpPr/>
          <p:nvPr/>
        </p:nvGrpSpPr>
        <p:grpSpPr>
          <a:xfrm rot="16200000">
            <a:off x="5923704" y="4059987"/>
            <a:ext cx="300064" cy="271459"/>
            <a:chOff x="2061642" y="2996194"/>
            <a:chExt cx="369826" cy="334570"/>
          </a:xfrm>
        </p:grpSpPr>
        <p:sp>
          <p:nvSpPr>
            <p:cNvPr id="31"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47" name="그림 46"/>
          <p:cNvPicPr>
            <a:picLocks noChangeAspect="1"/>
          </p:cNvPicPr>
          <p:nvPr/>
        </p:nvPicPr>
        <p:blipFill rotWithShape="1">
          <a:blip r:embed="rId3" cstate="print">
            <a:extLst>
              <a:ext uri="{28A0092B-C50C-407E-A947-70E740481C1C}">
                <a14:useLocalDpi xmlns:a14="http://schemas.microsoft.com/office/drawing/2010/main" val="0"/>
              </a:ext>
            </a:extLst>
          </a:blip>
          <a:srcRect l="64370" t="15133" r="6154" b="82861"/>
          <a:stretch/>
        </p:blipFill>
        <p:spPr>
          <a:xfrm>
            <a:off x="9976310" y="3376857"/>
            <a:ext cx="2000728" cy="191850"/>
          </a:xfrm>
          <a:prstGeom prst="rect">
            <a:avLst/>
          </a:prstGeom>
        </p:spPr>
      </p:pic>
      <p:pic>
        <p:nvPicPr>
          <p:cNvPr id="48" name="그림 47"/>
          <p:cNvPicPr>
            <a:picLocks noChangeAspect="1"/>
          </p:cNvPicPr>
          <p:nvPr/>
        </p:nvPicPr>
        <p:blipFill rotWithShape="1">
          <a:blip r:embed="rId4" cstate="print">
            <a:extLst>
              <a:ext uri="{28A0092B-C50C-407E-A947-70E740481C1C}">
                <a14:useLocalDpi xmlns:a14="http://schemas.microsoft.com/office/drawing/2010/main" val="0"/>
              </a:ext>
            </a:extLst>
          </a:blip>
          <a:srcRect l="63987" t="15418" r="6335" b="82820"/>
          <a:stretch/>
        </p:blipFill>
        <p:spPr>
          <a:xfrm>
            <a:off x="282670" y="3356738"/>
            <a:ext cx="1832820" cy="153239"/>
          </a:xfrm>
          <a:prstGeom prst="rect">
            <a:avLst/>
          </a:prstGeom>
        </p:spPr>
      </p:pic>
      <p:sp>
        <p:nvSpPr>
          <p:cNvPr id="49" name="직사각형 48"/>
          <p:cNvSpPr/>
          <p:nvPr/>
        </p:nvSpPr>
        <p:spPr>
          <a:xfrm>
            <a:off x="6340452" y="2830019"/>
            <a:ext cx="2241123"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Tree>
    <p:extLst>
      <p:ext uri="{BB962C8B-B14F-4D97-AF65-F5344CB8AC3E}">
        <p14:creationId xmlns:p14="http://schemas.microsoft.com/office/powerpoint/2010/main" val="5984360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p:cNvGrpSpPr/>
          <p:nvPr/>
        </p:nvGrpSpPr>
        <p:grpSpPr>
          <a:xfrm>
            <a:off x="4580618" y="1400065"/>
            <a:ext cx="3578182" cy="5040000"/>
            <a:chOff x="4513383" y="1400065"/>
            <a:chExt cx="3578182" cy="5040000"/>
          </a:xfrm>
        </p:grpSpPr>
        <p:pic>
          <p:nvPicPr>
            <p:cNvPr id="28" name="그림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13383" y="1400065"/>
              <a:ext cx="3578182" cy="5040000"/>
            </a:xfrm>
            <a:prstGeom prst="rect">
              <a:avLst/>
            </a:prstGeom>
          </p:spPr>
        </p:pic>
        <p:sp>
          <p:nvSpPr>
            <p:cNvPr id="32" name="직사각형 31"/>
            <p:cNvSpPr/>
            <p:nvPr/>
          </p:nvSpPr>
          <p:spPr>
            <a:xfrm>
              <a:off x="4635896" y="1830007"/>
              <a:ext cx="618678" cy="1348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 name="그룹 6"/>
          <p:cNvGrpSpPr/>
          <p:nvPr/>
        </p:nvGrpSpPr>
        <p:grpSpPr>
          <a:xfrm>
            <a:off x="8409613" y="1430293"/>
            <a:ext cx="3578182" cy="5040000"/>
            <a:chOff x="8409613" y="1430293"/>
            <a:chExt cx="3578182" cy="5040000"/>
          </a:xfrm>
        </p:grpSpPr>
        <p:pic>
          <p:nvPicPr>
            <p:cNvPr id="34" name="그림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9613" y="1430293"/>
              <a:ext cx="3578182" cy="5040000"/>
            </a:xfrm>
            <a:prstGeom prst="rect">
              <a:avLst/>
            </a:prstGeom>
          </p:spPr>
        </p:pic>
        <p:sp>
          <p:nvSpPr>
            <p:cNvPr id="33" name="직사각형 32"/>
            <p:cNvSpPr/>
            <p:nvPr/>
          </p:nvSpPr>
          <p:spPr>
            <a:xfrm>
              <a:off x="8462513" y="1857820"/>
              <a:ext cx="590048" cy="1721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 name="그룹 5"/>
          <p:cNvGrpSpPr/>
          <p:nvPr/>
        </p:nvGrpSpPr>
        <p:grpSpPr>
          <a:xfrm>
            <a:off x="389954" y="1398118"/>
            <a:ext cx="3578182" cy="5040000"/>
            <a:chOff x="389954" y="1398118"/>
            <a:chExt cx="3578182" cy="5040000"/>
          </a:xfrm>
        </p:grpSpPr>
        <p:pic>
          <p:nvPicPr>
            <p:cNvPr id="22" name="그림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9954" y="1398118"/>
              <a:ext cx="3578182" cy="5040000"/>
            </a:xfrm>
            <a:prstGeom prst="rect">
              <a:avLst/>
            </a:prstGeom>
          </p:spPr>
        </p:pic>
        <p:sp>
          <p:nvSpPr>
            <p:cNvPr id="24" name="직사각형 23"/>
            <p:cNvSpPr/>
            <p:nvPr/>
          </p:nvSpPr>
          <p:spPr>
            <a:xfrm>
              <a:off x="569847" y="1830076"/>
              <a:ext cx="434768" cy="1347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527000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59, Female, 91.6kg, DM+, Alb 4.2 </a:t>
            </a:r>
            <a:endParaRPr kumimoji="1" lang="en-US" altLang="ko-KR"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endParaRPr>
          </a:p>
        </p:txBody>
      </p:sp>
      <p:sp>
        <p:nvSpPr>
          <p:cNvPr id="29" name="TextBox 28">
            <a:extLst>
              <a:ext uri="{FF2B5EF4-FFF2-40B4-BE49-F238E27FC236}">
                <a16:creationId xmlns:a16="http://schemas.microsoft.com/office/drawing/2014/main" id="{B8271BDF-AC03-4748-8C05-1D490119D647}"/>
              </a:ext>
            </a:extLst>
          </p:cNvPr>
          <p:cNvSpPr txBox="1"/>
          <p:nvPr/>
        </p:nvSpPr>
        <p:spPr>
          <a:xfrm>
            <a:off x="582908" y="912134"/>
            <a:ext cx="9337840" cy="276999"/>
          </a:xfrm>
          <a:prstGeom prst="rect">
            <a:avLst/>
          </a:prstGeom>
          <a:noFill/>
        </p:spPr>
        <p:txBody>
          <a:bodyPr wrap="square" rtlCol="0">
            <a:spAutoFit/>
          </a:bodyPr>
          <a:lstStyle/>
          <a:p>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A patient experiencing post-dialysis hypotension and difficulty in weight management.</a:t>
            </a:r>
          </a:p>
        </p:txBody>
      </p:sp>
      <p:sp>
        <p:nvSpPr>
          <p:cNvPr id="2" name="직사각형 1"/>
          <p:cNvSpPr/>
          <p:nvPr/>
        </p:nvSpPr>
        <p:spPr>
          <a:xfrm>
            <a:off x="482599" y="2667552"/>
            <a:ext cx="2116909" cy="360499"/>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p:cNvSpPr/>
          <p:nvPr/>
        </p:nvSpPr>
        <p:spPr>
          <a:xfrm>
            <a:off x="4710266" y="3261220"/>
            <a:ext cx="2144382" cy="160340"/>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타원 2"/>
          <p:cNvSpPr/>
          <p:nvPr/>
        </p:nvSpPr>
        <p:spPr>
          <a:xfrm>
            <a:off x="9347103" y="2902866"/>
            <a:ext cx="228600" cy="228600"/>
          </a:xfrm>
          <a:prstGeom prst="ellipse">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0" name="TextBox 19">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23" name="그림 22"/>
          <p:cNvPicPr>
            <a:picLocks noChangeAspect="1"/>
          </p:cNvPicPr>
          <p:nvPr/>
        </p:nvPicPr>
        <p:blipFill rotWithShape="1">
          <a:blip r:embed="rId5" cstate="print">
            <a:extLst>
              <a:ext uri="{28A0092B-C50C-407E-A947-70E740481C1C}">
                <a14:useLocalDpi xmlns:a14="http://schemas.microsoft.com/office/drawing/2010/main" val="0"/>
              </a:ext>
            </a:extLst>
          </a:blip>
          <a:srcRect l="64447" t="22490" r="5352" b="69863"/>
          <a:stretch/>
        </p:blipFill>
        <p:spPr>
          <a:xfrm>
            <a:off x="2386179" y="3349091"/>
            <a:ext cx="2025750" cy="722472"/>
          </a:xfrm>
          <a:prstGeom prst="rect">
            <a:avLst/>
          </a:prstGeom>
          <a:ln w="12700">
            <a:solidFill>
              <a:srgbClr val="A0112D"/>
            </a:solidFill>
          </a:ln>
        </p:spPr>
      </p:pic>
      <p:sp>
        <p:nvSpPr>
          <p:cNvPr id="4" name="직사각형 3"/>
          <p:cNvSpPr/>
          <p:nvPr/>
        </p:nvSpPr>
        <p:spPr>
          <a:xfrm>
            <a:off x="2408850" y="3702484"/>
            <a:ext cx="2003079" cy="174270"/>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7214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그룹 6"/>
          <p:cNvGrpSpPr/>
          <p:nvPr/>
        </p:nvGrpSpPr>
        <p:grpSpPr>
          <a:xfrm>
            <a:off x="592279" y="1557110"/>
            <a:ext cx="11007440" cy="4655737"/>
            <a:chOff x="536728" y="1253980"/>
            <a:chExt cx="11342020" cy="4925541"/>
          </a:xfrm>
        </p:grpSpPr>
        <p:pic>
          <p:nvPicPr>
            <p:cNvPr id="12" name="그림 11"/>
            <p:cNvPicPr>
              <a:picLocks noChangeAspect="1"/>
            </p:cNvPicPr>
            <p:nvPr/>
          </p:nvPicPr>
          <p:blipFill rotWithShape="1">
            <a:blip r:embed="rId3" cstate="print">
              <a:extLst>
                <a:ext uri="{28A0092B-C50C-407E-A947-70E740481C1C}">
                  <a14:useLocalDpi xmlns:a14="http://schemas.microsoft.com/office/drawing/2010/main" val="0"/>
                </a:ext>
              </a:extLst>
            </a:blip>
            <a:srcRect b="2361"/>
            <a:stretch/>
          </p:blipFill>
          <p:spPr>
            <a:xfrm>
              <a:off x="8098748" y="1253980"/>
              <a:ext cx="3780000" cy="4921006"/>
            </a:xfrm>
            <a:prstGeom prst="rect">
              <a:avLst/>
            </a:prstGeom>
          </p:spPr>
        </p:pic>
        <p:pic>
          <p:nvPicPr>
            <p:cNvPr id="13" name="그림 12"/>
            <p:cNvPicPr>
              <a:picLocks noChangeAspect="1"/>
            </p:cNvPicPr>
            <p:nvPr/>
          </p:nvPicPr>
          <p:blipFill rotWithShape="1">
            <a:blip r:embed="rId4" cstate="print">
              <a:extLst>
                <a:ext uri="{28A0092B-C50C-407E-A947-70E740481C1C}">
                  <a14:useLocalDpi xmlns:a14="http://schemas.microsoft.com/office/drawing/2010/main" val="0"/>
                </a:ext>
              </a:extLst>
            </a:blip>
            <a:srcRect t="2435"/>
            <a:stretch/>
          </p:blipFill>
          <p:spPr>
            <a:xfrm>
              <a:off x="4318749" y="1253980"/>
              <a:ext cx="3780000" cy="4921413"/>
            </a:xfrm>
            <a:prstGeom prst="rect">
              <a:avLst/>
            </a:prstGeom>
          </p:spPr>
        </p:pic>
        <p:pic>
          <p:nvPicPr>
            <p:cNvPr id="14" name="그림 13"/>
            <p:cNvPicPr>
              <a:picLocks noChangeAspect="1"/>
            </p:cNvPicPr>
            <p:nvPr/>
          </p:nvPicPr>
          <p:blipFill rotWithShape="1">
            <a:blip r:embed="rId5" cstate="print">
              <a:extLst>
                <a:ext uri="{28A0092B-C50C-407E-A947-70E740481C1C}">
                  <a14:useLocalDpi xmlns:a14="http://schemas.microsoft.com/office/drawing/2010/main" val="0"/>
                </a:ext>
              </a:extLst>
            </a:blip>
            <a:srcRect t="2353"/>
            <a:stretch/>
          </p:blipFill>
          <p:spPr>
            <a:xfrm>
              <a:off x="536728" y="1253980"/>
              <a:ext cx="3782021" cy="4925541"/>
            </a:xfrm>
            <a:prstGeom prst="rect">
              <a:avLst/>
            </a:prstGeom>
          </p:spPr>
        </p:pic>
      </p:grpSp>
      <p:sp>
        <p:nvSpPr>
          <p:cNvPr id="15" name="TextBox 14">
            <a:extLst>
              <a:ext uri="{FF2B5EF4-FFF2-40B4-BE49-F238E27FC236}">
                <a16:creationId xmlns:a16="http://schemas.microsoft.com/office/drawing/2014/main" id="{B8271BDF-AC03-4748-8C05-1D490119D647}"/>
              </a:ext>
            </a:extLst>
          </p:cNvPr>
          <p:cNvSpPr txBox="1"/>
          <p:nvPr/>
        </p:nvSpPr>
        <p:spPr>
          <a:xfrm>
            <a:off x="597392" y="672155"/>
            <a:ext cx="293955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59, Female, 91.6kg, DM+, Alb 4.2 </a:t>
            </a:r>
            <a:endParaRPr kumimoji="1" lang="en-US" altLang="ko-KR"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2908" y="912134"/>
            <a:ext cx="7115750" cy="276999"/>
          </a:xfrm>
          <a:prstGeom prst="rect">
            <a:avLst/>
          </a:prstGeom>
          <a:noFill/>
        </p:spPr>
        <p:txBody>
          <a:bodyPr wrap="square" rtlCol="0">
            <a:spAutoFit/>
          </a:bodyPr>
          <a:lstStyle/>
          <a:p>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A patient experiencing post-dialysis hypotension and difficulty in weight management.</a:t>
            </a:r>
          </a:p>
        </p:txBody>
      </p:sp>
      <p:sp>
        <p:nvSpPr>
          <p:cNvPr id="11" name="TextBox 10">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7" name="TextBox 16">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Tree>
    <p:extLst>
      <p:ext uri="{BB962C8B-B14F-4D97-AF65-F5344CB8AC3E}">
        <p14:creationId xmlns:p14="http://schemas.microsoft.com/office/powerpoint/2010/main" val="17544610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p:cNvPicPr>
            <a:picLocks noChangeAspect="1"/>
          </p:cNvPicPr>
          <p:nvPr/>
        </p:nvPicPr>
        <p:blipFill rotWithShape="1">
          <a:blip r:embed="rId3" cstate="print">
            <a:extLst>
              <a:ext uri="{28A0092B-C50C-407E-A947-70E740481C1C}">
                <a14:useLocalDpi xmlns:a14="http://schemas.microsoft.com/office/drawing/2010/main" val="0"/>
              </a:ext>
            </a:extLst>
          </a:blip>
          <a:srcRect l="64231" t="24983" r="5602" b="67690"/>
          <a:stretch/>
        </p:blipFill>
        <p:spPr>
          <a:xfrm>
            <a:off x="9042532" y="3082342"/>
            <a:ext cx="2701592" cy="924229"/>
          </a:xfrm>
          <a:prstGeom prst="rect">
            <a:avLst/>
          </a:prstGeom>
        </p:spPr>
      </p:pic>
      <p:grpSp>
        <p:nvGrpSpPr>
          <p:cNvPr id="3" name="그룹 2"/>
          <p:cNvGrpSpPr/>
          <p:nvPr/>
        </p:nvGrpSpPr>
        <p:grpSpPr>
          <a:xfrm>
            <a:off x="3805768" y="500846"/>
            <a:ext cx="4476501" cy="6305315"/>
            <a:chOff x="4048350" y="500847"/>
            <a:chExt cx="4089351" cy="5760000"/>
          </a:xfrm>
        </p:grpSpPr>
        <p:pic>
          <p:nvPicPr>
            <p:cNvPr id="23" name="그림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48350" y="500847"/>
              <a:ext cx="4089351" cy="5760000"/>
            </a:xfrm>
            <a:prstGeom prst="rect">
              <a:avLst/>
            </a:prstGeom>
          </p:spPr>
        </p:pic>
        <p:sp>
          <p:nvSpPr>
            <p:cNvPr id="2" name="직사각형 1"/>
            <p:cNvSpPr/>
            <p:nvPr/>
          </p:nvSpPr>
          <p:spPr>
            <a:xfrm>
              <a:off x="4223417" y="1012555"/>
              <a:ext cx="489651" cy="1538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53950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76, Female, 49.6kg,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pic>
        <p:nvPicPr>
          <p:cNvPr id="5" name="그림 4"/>
          <p:cNvPicPr>
            <a:picLocks noChangeAspect="1"/>
          </p:cNvPicPr>
          <p:nvPr/>
        </p:nvPicPr>
        <p:blipFill rotWithShape="1">
          <a:blip r:embed="rId5"/>
          <a:srcRect t="7938"/>
          <a:stretch/>
        </p:blipFill>
        <p:spPr>
          <a:xfrm>
            <a:off x="356649" y="2961832"/>
            <a:ext cx="3068988" cy="2005099"/>
          </a:xfrm>
          <a:prstGeom prst="rect">
            <a:avLst/>
          </a:prstGeom>
        </p:spPr>
      </p:pic>
      <p:sp>
        <p:nvSpPr>
          <p:cNvPr id="6" name="직사각형 5"/>
          <p:cNvSpPr/>
          <p:nvPr/>
        </p:nvSpPr>
        <p:spPr>
          <a:xfrm>
            <a:off x="2504887" y="2715611"/>
            <a:ext cx="736600" cy="246221"/>
          </a:xfrm>
          <a:prstGeom prst="rect">
            <a:avLst/>
          </a:prstGeom>
        </p:spPr>
        <p:txBody>
          <a:bodyPr wrap="square">
            <a:spAutoFit/>
          </a:bodyPr>
          <a:lstStyle/>
          <a:p>
            <a:r>
              <a:rPr lang="en-US" altLang="ko-KR" sz="1000" b="0" i="0">
                <a:solidFill>
                  <a:srgbClr val="67767F"/>
                </a:solidFill>
                <a:effectLst/>
                <a:latin typeface="에스코어 드림 4 Regular" panose="020B0503030302020204" pitchFamily="34" charset="-127"/>
                <a:ea typeface="에스코어 드림 4 Regular" panose="020B0503030302020204" pitchFamily="34" charset="-127"/>
              </a:rPr>
              <a:t>ADPKD</a:t>
            </a:r>
            <a:endParaRPr lang="ko-KR" altLang="en-US" sz="1000">
              <a:solidFill>
                <a:srgbClr val="67767F"/>
              </a:solidFill>
              <a:latin typeface="에스코어 드림 4 Regular" panose="020B0503030302020204" pitchFamily="34" charset="-127"/>
              <a:ea typeface="에스코어 드림 4 Regular" panose="020B0503030302020204" pitchFamily="34" charset="-127"/>
            </a:endParaRPr>
          </a:p>
        </p:txBody>
      </p:sp>
      <p:sp>
        <p:nvSpPr>
          <p:cNvPr id="17" name="직사각형 16"/>
          <p:cNvSpPr/>
          <p:nvPr/>
        </p:nvSpPr>
        <p:spPr>
          <a:xfrm>
            <a:off x="930087" y="2715611"/>
            <a:ext cx="958850" cy="246221"/>
          </a:xfrm>
          <a:prstGeom prst="rect">
            <a:avLst/>
          </a:prstGeom>
        </p:spPr>
        <p:txBody>
          <a:bodyPr wrap="square">
            <a:spAutoFit/>
          </a:bodyPr>
          <a:lstStyle/>
          <a:p>
            <a:r>
              <a:rPr lang="en-US" altLang="ko-KR" sz="1000">
                <a:solidFill>
                  <a:srgbClr val="67767F"/>
                </a:solidFill>
                <a:latin typeface="에스코어 드림 4 Regular" panose="020B0503030302020204" pitchFamily="34" charset="-127"/>
                <a:ea typeface="에스코어 드림 4 Regular" panose="020B0503030302020204" pitchFamily="34" charset="-127"/>
              </a:rPr>
              <a:t>Normal</a:t>
            </a:r>
            <a:endParaRPr lang="ko-KR" altLang="en-US" sz="1000">
              <a:solidFill>
                <a:srgbClr val="67767F"/>
              </a:solidFill>
              <a:latin typeface="에스코어 드림 4 Regular" panose="020B0503030302020204" pitchFamily="34" charset="-127"/>
              <a:ea typeface="에스코어 드림 4 Regular" panose="020B0503030302020204" pitchFamily="34" charset="-127"/>
            </a:endParaRPr>
          </a:p>
        </p:txBody>
      </p:sp>
      <p:sp>
        <p:nvSpPr>
          <p:cNvPr id="7" name="직사각형 6"/>
          <p:cNvSpPr/>
          <p:nvPr/>
        </p:nvSpPr>
        <p:spPr>
          <a:xfrm>
            <a:off x="5452490" y="4086886"/>
            <a:ext cx="349437" cy="1097128"/>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20" name="TextBox 19">
            <a:extLst>
              <a:ext uri="{FF2B5EF4-FFF2-40B4-BE49-F238E27FC236}">
                <a16:creationId xmlns:a16="http://schemas.microsoft.com/office/drawing/2014/main" id="{B8271BDF-AC03-4748-8C05-1D490119D647}"/>
              </a:ext>
            </a:extLst>
          </p:cNvPr>
          <p:cNvSpPr txBox="1"/>
          <p:nvPr/>
        </p:nvSpPr>
        <p:spPr>
          <a:xfrm>
            <a:off x="584692" y="936454"/>
            <a:ext cx="3706457" cy="276999"/>
          </a:xfrm>
          <a:prstGeom prst="rect">
            <a:avLst/>
          </a:prstGeom>
          <a:noFill/>
        </p:spPr>
        <p:txBody>
          <a:bodyPr wrap="square" rtlCol="0">
            <a:spAutoFit/>
          </a:bodyPr>
          <a:lstStyle/>
          <a:p>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Polycystic Kidney Disease (PKD)</a:t>
            </a:r>
            <a:endParaRPr lang="en-US" altLang="ko-KR" sz="1200" dirty="0">
              <a:solidFill>
                <a:srgbClr val="67767F"/>
              </a:solidFill>
              <a:latin typeface="Lato Bold" panose="020F0502020204030203" pitchFamily="34" charset="0"/>
              <a:ea typeface="Lato Bold" panose="020F0502020204030203" pitchFamily="34" charset="0"/>
              <a:cs typeface="Lato Bold" panose="020F0502020204030203" pitchFamily="34" charset="0"/>
            </a:endParaRPr>
          </a:p>
        </p:txBody>
      </p:sp>
      <p:grpSp>
        <p:nvGrpSpPr>
          <p:cNvPr id="13" name="그룹 12">
            <a:extLst>
              <a:ext uri="{FF2B5EF4-FFF2-40B4-BE49-F238E27FC236}">
                <a16:creationId xmlns:a16="http://schemas.microsoft.com/office/drawing/2014/main" id="{2F1A05A6-8D4D-A99A-FADA-5533987FA333}"/>
              </a:ext>
            </a:extLst>
          </p:cNvPr>
          <p:cNvGrpSpPr/>
          <p:nvPr/>
        </p:nvGrpSpPr>
        <p:grpSpPr>
          <a:xfrm rot="16200000">
            <a:off x="8573145" y="3425378"/>
            <a:ext cx="300064" cy="271459"/>
            <a:chOff x="2061642" y="2996194"/>
            <a:chExt cx="369826" cy="334570"/>
          </a:xfrm>
        </p:grpSpPr>
        <p:sp>
          <p:nvSpPr>
            <p:cNvPr id="14"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p:cNvSpPr/>
          <p:nvPr/>
        </p:nvSpPr>
        <p:spPr>
          <a:xfrm>
            <a:off x="9109184" y="3332394"/>
            <a:ext cx="2534119" cy="178625"/>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9" name="TextBox 18">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Tree>
    <p:extLst>
      <p:ext uri="{BB962C8B-B14F-4D97-AF65-F5344CB8AC3E}">
        <p14:creationId xmlns:p14="http://schemas.microsoft.com/office/powerpoint/2010/main" val="42494494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그림 24"/>
          <p:cNvPicPr>
            <a:picLocks noChangeAspect="1"/>
          </p:cNvPicPr>
          <p:nvPr/>
        </p:nvPicPr>
        <p:blipFill rotWithShape="1">
          <a:blip r:embed="rId3" cstate="print">
            <a:extLst>
              <a:ext uri="{28A0092B-C50C-407E-A947-70E740481C1C}">
                <a14:useLocalDpi xmlns:a14="http://schemas.microsoft.com/office/drawing/2010/main" val="0"/>
              </a:ext>
            </a:extLst>
          </a:blip>
          <a:srcRect l="64546" t="22638" r="5694" b="69850"/>
          <a:stretch/>
        </p:blipFill>
        <p:spPr>
          <a:xfrm>
            <a:off x="8743447" y="2834514"/>
            <a:ext cx="2954320" cy="1050426"/>
          </a:xfrm>
          <a:prstGeom prst="rect">
            <a:avLst/>
          </a:prstGeom>
        </p:spPr>
      </p:pic>
      <p:grpSp>
        <p:nvGrpSpPr>
          <p:cNvPr id="4" name="그룹 3"/>
          <p:cNvGrpSpPr/>
          <p:nvPr/>
        </p:nvGrpSpPr>
        <p:grpSpPr>
          <a:xfrm>
            <a:off x="3564724" y="360215"/>
            <a:ext cx="4570570" cy="6437815"/>
            <a:chOff x="3564724" y="360215"/>
            <a:chExt cx="4570570" cy="6437815"/>
          </a:xfrm>
        </p:grpSpPr>
        <p:pic>
          <p:nvPicPr>
            <p:cNvPr id="20" name="그림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4724" y="360215"/>
              <a:ext cx="4570570" cy="6437815"/>
            </a:xfrm>
            <a:prstGeom prst="rect">
              <a:avLst/>
            </a:prstGeom>
          </p:spPr>
        </p:pic>
        <p:sp>
          <p:nvSpPr>
            <p:cNvPr id="2" name="직사각형 1"/>
            <p:cNvSpPr/>
            <p:nvPr/>
          </p:nvSpPr>
          <p:spPr>
            <a:xfrm>
              <a:off x="3733170" y="936454"/>
              <a:ext cx="445865" cy="1517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60, Female, 54.9kg, DM-, Alb 4.02</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7" name="직사각형 6"/>
          <p:cNvSpPr/>
          <p:nvPr/>
        </p:nvSpPr>
        <p:spPr>
          <a:xfrm>
            <a:off x="6029340" y="3944768"/>
            <a:ext cx="349437" cy="1205452"/>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36454"/>
            <a:ext cx="3148478" cy="886846"/>
          </a:xfrm>
          <a:prstGeom prst="rect">
            <a:avLst/>
          </a:prstGeom>
          <a:noFill/>
        </p:spPr>
        <p:txBody>
          <a:bodyPr wrap="square" rtlCol="0">
            <a:spAutoFit/>
          </a:bodyPr>
          <a:lstStyle/>
          <a:p>
            <a:pPr>
              <a:lnSpc>
                <a:spcPct val="1500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Suspicion of lymphatic vessel issues; </a:t>
            </a:r>
          </a:p>
          <a:p>
            <a:pPr>
              <a:lnSpc>
                <a:spcPct val="1500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Recommend referral to a university hospital for consultation and further examination.</a:t>
            </a:r>
          </a:p>
        </p:txBody>
      </p:sp>
      <p:grpSp>
        <p:nvGrpSpPr>
          <p:cNvPr id="21" name="그룹 20">
            <a:extLst>
              <a:ext uri="{FF2B5EF4-FFF2-40B4-BE49-F238E27FC236}">
                <a16:creationId xmlns:a16="http://schemas.microsoft.com/office/drawing/2014/main" id="{2F1A05A6-8D4D-A99A-FADA-5533987FA333}"/>
              </a:ext>
            </a:extLst>
          </p:cNvPr>
          <p:cNvGrpSpPr/>
          <p:nvPr/>
        </p:nvGrpSpPr>
        <p:grpSpPr>
          <a:xfrm rot="16200000">
            <a:off x="8267471" y="3374030"/>
            <a:ext cx="300064" cy="271459"/>
            <a:chOff x="2061642" y="2996194"/>
            <a:chExt cx="369826" cy="334570"/>
          </a:xfrm>
        </p:grpSpPr>
        <p:sp>
          <p:nvSpPr>
            <p:cNvPr id="22"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4" name="직사각형 23"/>
          <p:cNvSpPr/>
          <p:nvPr/>
        </p:nvSpPr>
        <p:spPr>
          <a:xfrm>
            <a:off x="8772588" y="3079359"/>
            <a:ext cx="2842559" cy="257697"/>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8" name="TextBox 17">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Tree>
    <p:extLst>
      <p:ext uri="{BB962C8B-B14F-4D97-AF65-F5344CB8AC3E}">
        <p14:creationId xmlns:p14="http://schemas.microsoft.com/office/powerpoint/2010/main" val="25157528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66, male, 67.5kg,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36454"/>
            <a:ext cx="3311670" cy="887615"/>
          </a:xfrm>
          <a:prstGeom prst="rect">
            <a:avLst/>
          </a:prstGeom>
          <a:noFill/>
        </p:spPr>
        <p:txBody>
          <a:bodyPr wrap="square" rtlCol="0">
            <a:spAutoFit/>
          </a:bodyPr>
          <a:lstStyle/>
          <a:p>
            <a:pPr lvl="0">
              <a:lnSpc>
                <a:spcPct val="150000"/>
              </a:lnSpc>
            </a:pPr>
            <a:r>
              <a:rPr lang="en-US" altLang="ko-KR" sz="1200" dirty="0">
                <a:solidFill>
                  <a:prstClr val="black"/>
                </a:solidFill>
                <a:latin typeface="Lato" panose="020F0502020204030203" pitchFamily="34" charset="0"/>
                <a:ea typeface="Lato" panose="020F0502020204030203" pitchFamily="34" charset="0"/>
                <a:cs typeface="Lato" panose="020F0502020204030203" pitchFamily="34" charset="0"/>
              </a:rPr>
              <a:t>Post ECW ratio and DW is ok at DM standard, but huge imbalance between RA, LA.</a:t>
            </a:r>
            <a:r>
              <a:rPr lang="ko-KR" altLang="en-US" sz="1200" dirty="0">
                <a:solidFill>
                  <a:prstClr val="black"/>
                </a:solidFill>
                <a:latin typeface="Lato" panose="020F0502020204030203" pitchFamily="34" charset="0"/>
                <a:cs typeface="Lato" panose="020F0502020204030203" pitchFamily="34" charset="0"/>
              </a:rPr>
              <a:t> </a:t>
            </a:r>
            <a:r>
              <a:rPr lang="en-US" altLang="ko-KR" sz="1200" dirty="0">
                <a:solidFill>
                  <a:prstClr val="black"/>
                </a:solidFill>
                <a:latin typeface="Lato" panose="020F0502020204030203" pitchFamily="34" charset="0"/>
                <a:ea typeface="Lato" panose="020F0502020204030203" pitchFamily="34" charset="0"/>
                <a:cs typeface="Lato" panose="020F0502020204030203" pitchFamily="34" charset="0"/>
              </a:rPr>
              <a:t>It can be LA thrombosis or stenosis.</a:t>
            </a:r>
          </a:p>
        </p:txBody>
      </p:sp>
      <p:sp>
        <p:nvSpPr>
          <p:cNvPr id="17" name="TextBox 16">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8" name="TextBox 17">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grpSp>
        <p:nvGrpSpPr>
          <p:cNvPr id="3" name="그룹 2">
            <a:extLst>
              <a:ext uri="{FF2B5EF4-FFF2-40B4-BE49-F238E27FC236}">
                <a16:creationId xmlns:a16="http://schemas.microsoft.com/office/drawing/2014/main" id="{6D4E6604-5992-2638-03A5-9075B275B75A}"/>
              </a:ext>
            </a:extLst>
          </p:cNvPr>
          <p:cNvGrpSpPr/>
          <p:nvPr/>
        </p:nvGrpSpPr>
        <p:grpSpPr>
          <a:xfrm>
            <a:off x="3896362" y="0"/>
            <a:ext cx="4775200" cy="6786880"/>
            <a:chOff x="0" y="0"/>
            <a:chExt cx="4775200" cy="6786880"/>
          </a:xfrm>
        </p:grpSpPr>
        <p:pic>
          <p:nvPicPr>
            <p:cNvPr id="5" name="그림 4">
              <a:extLst>
                <a:ext uri="{FF2B5EF4-FFF2-40B4-BE49-F238E27FC236}">
                  <a16:creationId xmlns:a16="http://schemas.microsoft.com/office/drawing/2014/main" id="{B090D358-ED96-9441-6A96-B1122C68CBDF}"/>
                </a:ext>
              </a:extLst>
            </p:cNvPr>
            <p:cNvPicPr>
              <a:picLocks noChangeAspect="1"/>
            </p:cNvPicPr>
            <p:nvPr/>
          </p:nvPicPr>
          <p:blipFill>
            <a:blip r:embed="rId3"/>
            <a:stretch>
              <a:fillRect/>
            </a:stretch>
          </p:blipFill>
          <p:spPr>
            <a:xfrm>
              <a:off x="0" y="0"/>
              <a:ext cx="4775200" cy="6786880"/>
            </a:xfrm>
            <a:prstGeom prst="rect">
              <a:avLst/>
            </a:prstGeom>
          </p:spPr>
        </p:pic>
        <p:sp>
          <p:nvSpPr>
            <p:cNvPr id="6" name="직사각형 5">
              <a:extLst>
                <a:ext uri="{FF2B5EF4-FFF2-40B4-BE49-F238E27FC236}">
                  <a16:creationId xmlns:a16="http://schemas.microsoft.com/office/drawing/2014/main" id="{D2AC4882-8990-6CDE-227F-A9FC13ED1D25}"/>
                </a:ext>
              </a:extLst>
            </p:cNvPr>
            <p:cNvSpPr/>
            <p:nvPr/>
          </p:nvSpPr>
          <p:spPr>
            <a:xfrm>
              <a:off x="182880" y="551286"/>
              <a:ext cx="420624" cy="16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8" name="그림 7">
            <a:extLst>
              <a:ext uri="{FF2B5EF4-FFF2-40B4-BE49-F238E27FC236}">
                <a16:creationId xmlns:a16="http://schemas.microsoft.com/office/drawing/2014/main" id="{5EA438F1-827D-DC10-0338-A0553BA00EB5}"/>
              </a:ext>
            </a:extLst>
          </p:cNvPr>
          <p:cNvPicPr>
            <a:picLocks noChangeAspect="1"/>
          </p:cNvPicPr>
          <p:nvPr/>
        </p:nvPicPr>
        <p:blipFill>
          <a:blip r:embed="rId4"/>
          <a:stretch>
            <a:fillRect/>
          </a:stretch>
        </p:blipFill>
        <p:spPr>
          <a:xfrm>
            <a:off x="8854442" y="3620512"/>
            <a:ext cx="3063240" cy="3097788"/>
          </a:xfrm>
          <a:prstGeom prst="rect">
            <a:avLst/>
          </a:prstGeom>
        </p:spPr>
      </p:pic>
      <p:cxnSp>
        <p:nvCxnSpPr>
          <p:cNvPr id="9" name="직선 화살표 연결선 8">
            <a:extLst>
              <a:ext uri="{FF2B5EF4-FFF2-40B4-BE49-F238E27FC236}">
                <a16:creationId xmlns:a16="http://schemas.microsoft.com/office/drawing/2014/main" id="{95466B1D-8783-1E11-E38D-A27A694D887A}"/>
              </a:ext>
            </a:extLst>
          </p:cNvPr>
          <p:cNvCxnSpPr/>
          <p:nvPr/>
        </p:nvCxnSpPr>
        <p:spPr>
          <a:xfrm>
            <a:off x="6885942" y="4556760"/>
            <a:ext cx="2268220" cy="15240"/>
          </a:xfrm>
          <a:prstGeom prst="straightConnector1">
            <a:avLst/>
          </a:prstGeom>
          <a:ln w="38100">
            <a:solidFill>
              <a:srgbClr val="B50937"/>
            </a:solidFill>
            <a:tailEnd type="triangle"/>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A14B267D-1F17-6903-B45C-04732C2DC90C}"/>
              </a:ext>
            </a:extLst>
          </p:cNvPr>
          <p:cNvSpPr/>
          <p:nvPr/>
        </p:nvSpPr>
        <p:spPr>
          <a:xfrm>
            <a:off x="10673081" y="3541448"/>
            <a:ext cx="1302563" cy="335280"/>
          </a:xfrm>
          <a:prstGeom prst="rect">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Lato Black" panose="020F0502020204030203" pitchFamily="34" charset="0"/>
                <a:ea typeface="Lato Black" panose="020F0502020204030203" pitchFamily="34" charset="0"/>
                <a:cs typeface="Lato Black" panose="020F0502020204030203" pitchFamily="34" charset="0"/>
              </a:rPr>
              <a:t>After surgery</a:t>
            </a:r>
            <a:endParaRPr lang="ko-KR" altLang="en-US" sz="1400" b="1" dirty="0">
              <a:latin typeface="Lato Black" panose="020F0502020204030203" pitchFamily="34" charset="0"/>
              <a:cs typeface="Lato Black" panose="020F0502020204030203" pitchFamily="34" charset="0"/>
            </a:endParaRPr>
          </a:p>
        </p:txBody>
      </p:sp>
      <p:sp>
        <p:nvSpPr>
          <p:cNvPr id="12" name="직사각형 11">
            <a:extLst>
              <a:ext uri="{FF2B5EF4-FFF2-40B4-BE49-F238E27FC236}">
                <a16:creationId xmlns:a16="http://schemas.microsoft.com/office/drawing/2014/main" id="{C603DD43-67E7-2CF3-7928-D980D73BEFC1}"/>
              </a:ext>
            </a:extLst>
          </p:cNvPr>
          <p:cNvSpPr/>
          <p:nvPr/>
        </p:nvSpPr>
        <p:spPr>
          <a:xfrm>
            <a:off x="7120892" y="216006"/>
            <a:ext cx="1391920" cy="335280"/>
          </a:xfrm>
          <a:prstGeom prst="rect">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dirty="0">
                <a:latin typeface="Lato Black" panose="020F0502020204030203" pitchFamily="34" charset="0"/>
                <a:ea typeface="Lato Black" panose="020F0502020204030203" pitchFamily="34" charset="0"/>
                <a:cs typeface="Lato Black" panose="020F0502020204030203" pitchFamily="34" charset="0"/>
              </a:rPr>
              <a:t>Before surgery</a:t>
            </a:r>
            <a:endParaRPr lang="ko-KR" altLang="en-US" sz="1400" b="1" dirty="0">
              <a:latin typeface="Lato Black" panose="020F0502020204030203" pitchFamily="34" charset="0"/>
              <a:cs typeface="Lato Black" panose="020F0502020204030203" pitchFamily="34" charset="0"/>
            </a:endParaRPr>
          </a:p>
        </p:txBody>
      </p:sp>
      <p:sp>
        <p:nvSpPr>
          <p:cNvPr id="13" name="직사각형 12">
            <a:extLst>
              <a:ext uri="{FF2B5EF4-FFF2-40B4-BE49-F238E27FC236}">
                <a16:creationId xmlns:a16="http://schemas.microsoft.com/office/drawing/2014/main" id="{4592D01C-3270-733F-73C0-38D54B788D73}"/>
              </a:ext>
            </a:extLst>
          </p:cNvPr>
          <p:cNvSpPr/>
          <p:nvPr/>
        </p:nvSpPr>
        <p:spPr>
          <a:xfrm>
            <a:off x="5207002" y="3826616"/>
            <a:ext cx="464820" cy="1202583"/>
          </a:xfrm>
          <a:prstGeom prst="rect">
            <a:avLst/>
          </a:prstGeom>
          <a:no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C5137D34-B6BB-448A-38A8-5046C1F0CFB5}"/>
              </a:ext>
            </a:extLst>
          </p:cNvPr>
          <p:cNvSpPr/>
          <p:nvPr/>
        </p:nvSpPr>
        <p:spPr>
          <a:xfrm>
            <a:off x="10142222" y="3876728"/>
            <a:ext cx="408940" cy="1205812"/>
          </a:xfrm>
          <a:prstGeom prst="rect">
            <a:avLst/>
          </a:prstGeom>
          <a:no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E03C103-8347-A333-3F58-A70CB8DFC467}"/>
              </a:ext>
            </a:extLst>
          </p:cNvPr>
          <p:cNvGrpSpPr/>
          <p:nvPr/>
        </p:nvGrpSpPr>
        <p:grpSpPr>
          <a:xfrm rot="16200000">
            <a:off x="642281" y="2054047"/>
            <a:ext cx="300064" cy="271459"/>
            <a:chOff x="2061642" y="2996194"/>
            <a:chExt cx="369826" cy="334570"/>
          </a:xfrm>
        </p:grpSpPr>
        <p:sp>
          <p:nvSpPr>
            <p:cNvPr id="26" name="이등변 삼각형 34">
              <a:extLst>
                <a:ext uri="{FF2B5EF4-FFF2-40B4-BE49-F238E27FC236}">
                  <a16:creationId xmlns:a16="http://schemas.microsoft.com/office/drawing/2014/main" id="{179E7A76-D549-6DC9-1F12-54F5CB4A97B5}"/>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이등변 삼각형 34">
              <a:extLst>
                <a:ext uri="{FF2B5EF4-FFF2-40B4-BE49-F238E27FC236}">
                  <a16:creationId xmlns:a16="http://schemas.microsoft.com/office/drawing/2014/main" id="{E9A86585-BDC3-27EC-5E96-B080E095E8C6}"/>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8" name="TextBox 27">
            <a:extLst>
              <a:ext uri="{FF2B5EF4-FFF2-40B4-BE49-F238E27FC236}">
                <a16:creationId xmlns:a16="http://schemas.microsoft.com/office/drawing/2014/main" id="{6DB71ADD-F32F-4222-F76F-EF2C48AA533D}"/>
              </a:ext>
            </a:extLst>
          </p:cNvPr>
          <p:cNvSpPr txBox="1"/>
          <p:nvPr/>
        </p:nvSpPr>
        <p:spPr>
          <a:xfrm>
            <a:off x="977884" y="1986803"/>
            <a:ext cx="3311670" cy="1019253"/>
          </a:xfrm>
          <a:prstGeom prst="rect">
            <a:avLst/>
          </a:prstGeom>
          <a:noFill/>
        </p:spPr>
        <p:txBody>
          <a:bodyPr wrap="square" rtlCol="0">
            <a:spAutoFit/>
          </a:bodyPr>
          <a:lstStyle/>
          <a:p>
            <a:pPr lvl="0">
              <a:lnSpc>
                <a:spcPct val="150000"/>
              </a:lnSpc>
            </a:pPr>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Found the patient has central vein stenosis and scheduled to have transplantation surgery.</a:t>
            </a:r>
          </a:p>
        </p:txBody>
      </p:sp>
    </p:spTree>
    <p:extLst>
      <p:ext uri="{BB962C8B-B14F-4D97-AF65-F5344CB8AC3E}">
        <p14:creationId xmlns:p14="http://schemas.microsoft.com/office/powerpoint/2010/main" val="4999162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81, male, 60.2kg,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1" y="936454"/>
            <a:ext cx="10817111" cy="523220"/>
          </a:xfrm>
          <a:prstGeom prst="rect">
            <a:avLst/>
          </a:prstGeom>
          <a:noFill/>
        </p:spPr>
        <p:txBody>
          <a:bodyPr wrap="square" rtlCol="0">
            <a:spAutoFit/>
          </a:bodyPr>
          <a:lstStyle/>
          <a:p>
            <a:r>
              <a:rPr lang="en-US" altLang="ko-KR" sz="1400" b="0" dirty="0">
                <a:solidFill>
                  <a:srgbClr val="A0112D"/>
                </a:solidFill>
                <a:latin typeface="Lato Black" panose="020F0502020204030203" pitchFamily="34" charset="0"/>
                <a:ea typeface="Lato Black" panose="020F0502020204030203" pitchFamily="34" charset="0"/>
                <a:cs typeface="Lato Black" panose="020F0502020204030203" pitchFamily="34" charset="0"/>
              </a:rPr>
              <a:t>Recently, BP during dialysis decreased a lot and patient condition was not good. Medical team started to inject protein based supplements while reducing water removal. Thus low BP was relieved after 3 months. </a:t>
            </a:r>
          </a:p>
        </p:txBody>
      </p:sp>
      <p:sp>
        <p:nvSpPr>
          <p:cNvPr id="17" name="TextBox 16">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8" name="TextBox 17">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grpSp>
        <p:nvGrpSpPr>
          <p:cNvPr id="3" name="그룹 2">
            <a:extLst>
              <a:ext uri="{FF2B5EF4-FFF2-40B4-BE49-F238E27FC236}">
                <a16:creationId xmlns:a16="http://schemas.microsoft.com/office/drawing/2014/main" id="{DF156F1C-E736-6D36-9B7A-0FD59BD4C38D}"/>
              </a:ext>
            </a:extLst>
          </p:cNvPr>
          <p:cNvGrpSpPr/>
          <p:nvPr/>
        </p:nvGrpSpPr>
        <p:grpSpPr>
          <a:xfrm>
            <a:off x="2395455" y="1480922"/>
            <a:ext cx="3630442" cy="5339540"/>
            <a:chOff x="0" y="-4757"/>
            <a:chExt cx="4640580" cy="6825219"/>
          </a:xfrm>
        </p:grpSpPr>
        <p:grpSp>
          <p:nvGrpSpPr>
            <p:cNvPr id="5" name="그룹 4">
              <a:extLst>
                <a:ext uri="{FF2B5EF4-FFF2-40B4-BE49-F238E27FC236}">
                  <a16:creationId xmlns:a16="http://schemas.microsoft.com/office/drawing/2014/main" id="{579D0AE8-50FB-008E-37D9-3B797A6F063E}"/>
                </a:ext>
              </a:extLst>
            </p:cNvPr>
            <p:cNvGrpSpPr/>
            <p:nvPr/>
          </p:nvGrpSpPr>
          <p:grpSpPr>
            <a:xfrm>
              <a:off x="0" y="-4757"/>
              <a:ext cx="4640580" cy="6825219"/>
              <a:chOff x="260648" y="2393095"/>
              <a:chExt cx="4954896" cy="7094989"/>
            </a:xfrm>
          </p:grpSpPr>
          <p:pic>
            <p:nvPicPr>
              <p:cNvPr id="8" name="그림 7">
                <a:extLst>
                  <a:ext uri="{FF2B5EF4-FFF2-40B4-BE49-F238E27FC236}">
                    <a16:creationId xmlns:a16="http://schemas.microsoft.com/office/drawing/2014/main" id="{1155A095-8CDC-AC36-F61D-D8A3F638B0EC}"/>
                  </a:ext>
                </a:extLst>
              </p:cNvPr>
              <p:cNvPicPr>
                <a:picLocks noChangeAspect="1"/>
              </p:cNvPicPr>
              <p:nvPr/>
            </p:nvPicPr>
            <p:blipFill>
              <a:blip r:embed="rId3"/>
              <a:stretch>
                <a:fillRect/>
              </a:stretch>
            </p:blipFill>
            <p:spPr>
              <a:xfrm>
                <a:off x="260648" y="2393095"/>
                <a:ext cx="4954896" cy="7094989"/>
              </a:xfrm>
              <a:prstGeom prst="rect">
                <a:avLst/>
              </a:prstGeom>
            </p:spPr>
          </p:pic>
          <p:sp>
            <p:nvSpPr>
              <p:cNvPr id="9" name="직사각형 8">
                <a:extLst>
                  <a:ext uri="{FF2B5EF4-FFF2-40B4-BE49-F238E27FC236}">
                    <a16:creationId xmlns:a16="http://schemas.microsoft.com/office/drawing/2014/main" id="{8D40503B-E286-B277-A952-71AB00ECD9F8}"/>
                  </a:ext>
                </a:extLst>
              </p:cNvPr>
              <p:cNvSpPr/>
              <p:nvPr/>
            </p:nvSpPr>
            <p:spPr>
              <a:xfrm>
                <a:off x="3513848" y="4794298"/>
                <a:ext cx="1596809" cy="131683"/>
              </a:xfrm>
              <a:prstGeom prst="rect">
                <a:avLst/>
              </a:prstGeom>
              <a:solidFill>
                <a:srgbClr val="8A1C2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1BDB6E48-2DBB-7582-6B29-7997F5CAA1FE}"/>
                  </a:ext>
                </a:extLst>
              </p:cNvPr>
              <p:cNvSpPr/>
              <p:nvPr/>
            </p:nvSpPr>
            <p:spPr>
              <a:xfrm>
                <a:off x="3540888" y="5837238"/>
                <a:ext cx="1440000" cy="123874"/>
              </a:xfrm>
              <a:prstGeom prst="rect">
                <a:avLst/>
              </a:prstGeom>
              <a:solidFill>
                <a:srgbClr val="8A1C2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E518BB63-7004-B780-AE12-8A0774C167BC}"/>
                  </a:ext>
                </a:extLst>
              </p:cNvPr>
              <p:cNvSpPr/>
              <p:nvPr/>
            </p:nvSpPr>
            <p:spPr>
              <a:xfrm>
                <a:off x="2504429" y="4462392"/>
                <a:ext cx="360000" cy="216024"/>
              </a:xfrm>
              <a:prstGeom prst="rect">
                <a:avLst/>
              </a:prstGeom>
              <a:solidFill>
                <a:srgbClr val="8A1C2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직사각형 5">
              <a:extLst>
                <a:ext uri="{FF2B5EF4-FFF2-40B4-BE49-F238E27FC236}">
                  <a16:creationId xmlns:a16="http://schemas.microsoft.com/office/drawing/2014/main" id="{ACB1626A-BB5D-C3A2-DEBE-156BFC5E426E}"/>
                </a:ext>
              </a:extLst>
            </p:cNvPr>
            <p:cNvSpPr/>
            <p:nvPr/>
          </p:nvSpPr>
          <p:spPr>
            <a:xfrm>
              <a:off x="218440" y="557784"/>
              <a:ext cx="613664" cy="18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3" name="그림 12">
            <a:extLst>
              <a:ext uri="{FF2B5EF4-FFF2-40B4-BE49-F238E27FC236}">
                <a16:creationId xmlns:a16="http://schemas.microsoft.com/office/drawing/2014/main" id="{27434C83-C07C-9AD5-934C-A3C9F1439486}"/>
              </a:ext>
            </a:extLst>
          </p:cNvPr>
          <p:cNvPicPr>
            <a:picLocks noChangeAspect="1"/>
          </p:cNvPicPr>
          <p:nvPr/>
        </p:nvPicPr>
        <p:blipFill>
          <a:blip r:embed="rId4"/>
          <a:stretch>
            <a:fillRect/>
          </a:stretch>
        </p:blipFill>
        <p:spPr>
          <a:xfrm>
            <a:off x="6809925" y="5047400"/>
            <a:ext cx="4591878" cy="1641541"/>
          </a:xfrm>
          <a:prstGeom prst="rect">
            <a:avLst/>
          </a:prstGeom>
        </p:spPr>
      </p:pic>
      <p:sp>
        <p:nvSpPr>
          <p:cNvPr id="15" name="직사각형 14">
            <a:extLst>
              <a:ext uri="{FF2B5EF4-FFF2-40B4-BE49-F238E27FC236}">
                <a16:creationId xmlns:a16="http://schemas.microsoft.com/office/drawing/2014/main" id="{39BC4D68-1DD8-A757-785E-45DB481B967A}"/>
              </a:ext>
            </a:extLst>
          </p:cNvPr>
          <p:cNvSpPr/>
          <p:nvPr/>
        </p:nvSpPr>
        <p:spPr>
          <a:xfrm>
            <a:off x="6808620" y="4799981"/>
            <a:ext cx="1202690" cy="335280"/>
          </a:xfrm>
          <a:prstGeom prst="rect">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latin typeface="Lato Black" panose="020F0502020204030203" pitchFamily="34" charset="0"/>
                <a:ea typeface="Lato Black" panose="020F0502020204030203" pitchFamily="34" charset="0"/>
                <a:cs typeface="Lato Black" panose="020F0502020204030203" pitchFamily="34" charset="0"/>
              </a:rPr>
              <a:t>After 3months</a:t>
            </a:r>
            <a:endParaRPr lang="ko-KR" altLang="en-US" sz="1200" b="1" dirty="0">
              <a:latin typeface="Lato Black" panose="020F0502020204030203" pitchFamily="34" charset="0"/>
              <a:cs typeface="Lato Black" panose="020F0502020204030203" pitchFamily="34" charset="0"/>
            </a:endParaRPr>
          </a:p>
        </p:txBody>
      </p:sp>
      <p:sp>
        <p:nvSpPr>
          <p:cNvPr id="19" name="직사각형 18">
            <a:extLst>
              <a:ext uri="{FF2B5EF4-FFF2-40B4-BE49-F238E27FC236}">
                <a16:creationId xmlns:a16="http://schemas.microsoft.com/office/drawing/2014/main" id="{16A2E250-A5FA-9E95-4569-5A950C7DAD50}"/>
              </a:ext>
            </a:extLst>
          </p:cNvPr>
          <p:cNvSpPr/>
          <p:nvPr/>
        </p:nvSpPr>
        <p:spPr>
          <a:xfrm>
            <a:off x="2560743" y="5477256"/>
            <a:ext cx="2157136" cy="996696"/>
          </a:xfrm>
          <a:prstGeom prst="rect">
            <a:avLst/>
          </a:prstGeom>
          <a:no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F9D7E4BC-FC12-7960-6570-B078C4A90953}"/>
              </a:ext>
            </a:extLst>
          </p:cNvPr>
          <p:cNvSpPr/>
          <p:nvPr/>
        </p:nvSpPr>
        <p:spPr>
          <a:xfrm>
            <a:off x="4788214" y="5347435"/>
            <a:ext cx="1160834" cy="422429"/>
          </a:xfrm>
          <a:prstGeom prst="rect">
            <a:avLst/>
          </a:prstGeom>
          <a:no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F6306D0B-9582-D340-4F3A-056751C59759}"/>
              </a:ext>
            </a:extLst>
          </p:cNvPr>
          <p:cNvSpPr/>
          <p:nvPr/>
        </p:nvSpPr>
        <p:spPr>
          <a:xfrm>
            <a:off x="9817601" y="4967621"/>
            <a:ext cx="1505143" cy="602443"/>
          </a:xfrm>
          <a:prstGeom prst="rect">
            <a:avLst/>
          </a:prstGeom>
          <a:no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21C21206-FDB1-55F8-365B-D5304705B234}"/>
              </a:ext>
            </a:extLst>
          </p:cNvPr>
          <p:cNvSpPr/>
          <p:nvPr/>
        </p:nvSpPr>
        <p:spPr>
          <a:xfrm>
            <a:off x="6808620" y="5162134"/>
            <a:ext cx="2929922" cy="1526807"/>
          </a:xfrm>
          <a:prstGeom prst="rect">
            <a:avLst/>
          </a:prstGeom>
          <a:noFill/>
          <a:ln>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0" name="그림 29" descr="텍스트이(가) 표시된 사진&#10;&#10;자동 생성된 설명">
            <a:extLst>
              <a:ext uri="{FF2B5EF4-FFF2-40B4-BE49-F238E27FC236}">
                <a16:creationId xmlns:a16="http://schemas.microsoft.com/office/drawing/2014/main" id="{586CA69B-3323-9F83-60D7-FA1E40C7F5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7390" y="1742341"/>
            <a:ext cx="1768023" cy="3057640"/>
          </a:xfrm>
          <a:prstGeom prst="rect">
            <a:avLst/>
          </a:prstGeom>
        </p:spPr>
      </p:pic>
      <p:grpSp>
        <p:nvGrpSpPr>
          <p:cNvPr id="31" name="그룹 30">
            <a:extLst>
              <a:ext uri="{FF2B5EF4-FFF2-40B4-BE49-F238E27FC236}">
                <a16:creationId xmlns:a16="http://schemas.microsoft.com/office/drawing/2014/main" id="{F25C89F9-05F6-6961-F8B4-BE3DC358FC24}"/>
              </a:ext>
            </a:extLst>
          </p:cNvPr>
          <p:cNvGrpSpPr/>
          <p:nvPr/>
        </p:nvGrpSpPr>
        <p:grpSpPr>
          <a:xfrm rot="16200000">
            <a:off x="6238409" y="5596560"/>
            <a:ext cx="300064" cy="271459"/>
            <a:chOff x="2061642" y="2996194"/>
            <a:chExt cx="369826" cy="334570"/>
          </a:xfrm>
        </p:grpSpPr>
        <p:sp>
          <p:nvSpPr>
            <p:cNvPr id="32" name="이등변 삼각형 34">
              <a:extLst>
                <a:ext uri="{FF2B5EF4-FFF2-40B4-BE49-F238E27FC236}">
                  <a16:creationId xmlns:a16="http://schemas.microsoft.com/office/drawing/2014/main" id="{3D9686B4-AF8A-C7EC-AB60-2C0954C08BE8}"/>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이등변 삼각형 34">
              <a:extLst>
                <a:ext uri="{FF2B5EF4-FFF2-40B4-BE49-F238E27FC236}">
                  <a16:creationId xmlns:a16="http://schemas.microsoft.com/office/drawing/2014/main" id="{B810CD62-47B2-90EF-6FB9-94419E355911}"/>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47807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975" y="1299410"/>
            <a:ext cx="3946358" cy="5558589"/>
          </a:xfrm>
          <a:prstGeom prst="rect">
            <a:avLst/>
          </a:prstGeom>
        </p:spPr>
      </p:pic>
      <p:pic>
        <p:nvPicPr>
          <p:cNvPr id="3" name="그림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67541" y="1299410"/>
            <a:ext cx="3946359" cy="5558590"/>
          </a:xfrm>
          <a:prstGeom prst="rect">
            <a:avLst/>
          </a:prstGeom>
        </p:spPr>
      </p:pic>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57, Male, 62.3→60.7kg,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1" y="915673"/>
            <a:ext cx="7517090" cy="303866"/>
          </a:xfrm>
          <a:prstGeom prst="rect">
            <a:avLst/>
          </a:prstGeom>
          <a:noFill/>
        </p:spPr>
        <p:txBody>
          <a:bodyPr wrap="square" rtlCol="0">
            <a:spAutoFit/>
          </a:bodyPr>
          <a:lstStyle/>
          <a:p>
            <a:pPr>
              <a:lnSpc>
                <a:spcPts val="18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Adjusting the dry weight to maintain the appropriate fluid balance ratio after six months.</a:t>
            </a:r>
          </a:p>
        </p:txBody>
      </p:sp>
      <p:grpSp>
        <p:nvGrpSpPr>
          <p:cNvPr id="30" name="그룹 29">
            <a:extLst>
              <a:ext uri="{FF2B5EF4-FFF2-40B4-BE49-F238E27FC236}">
                <a16:creationId xmlns:a16="http://schemas.microsoft.com/office/drawing/2014/main" id="{2F1A05A6-8D4D-A99A-FADA-5533987FA333}"/>
              </a:ext>
            </a:extLst>
          </p:cNvPr>
          <p:cNvGrpSpPr/>
          <p:nvPr/>
        </p:nvGrpSpPr>
        <p:grpSpPr>
          <a:xfrm rot="16200000">
            <a:off x="5559285" y="3859052"/>
            <a:ext cx="300064" cy="271459"/>
            <a:chOff x="2061642" y="2996194"/>
            <a:chExt cx="369826" cy="334570"/>
          </a:xfrm>
        </p:grpSpPr>
        <p:sp>
          <p:nvSpPr>
            <p:cNvPr id="31"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8" name="모서리가 둥근 직사각형 47"/>
          <p:cNvSpPr/>
          <p:nvPr/>
        </p:nvSpPr>
        <p:spPr>
          <a:xfrm>
            <a:off x="2929795" y="1686171"/>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TextBox 49">
            <a:extLst>
              <a:ext uri="{FF2B5EF4-FFF2-40B4-BE49-F238E27FC236}">
                <a16:creationId xmlns:a16="http://schemas.microsoft.com/office/drawing/2014/main" id="{B8271BDF-AC03-4748-8C05-1D490119D647}"/>
              </a:ext>
            </a:extLst>
          </p:cNvPr>
          <p:cNvSpPr txBox="1"/>
          <p:nvPr/>
        </p:nvSpPr>
        <p:spPr>
          <a:xfrm>
            <a:off x="2937037" y="1679244"/>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2022.3.25</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51" name="모서리가 둥근 직사각형 50"/>
          <p:cNvSpPr/>
          <p:nvPr/>
        </p:nvSpPr>
        <p:spPr>
          <a:xfrm>
            <a:off x="9150306" y="1686171"/>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Box 51">
            <a:extLst>
              <a:ext uri="{FF2B5EF4-FFF2-40B4-BE49-F238E27FC236}">
                <a16:creationId xmlns:a16="http://schemas.microsoft.com/office/drawing/2014/main" id="{B8271BDF-AC03-4748-8C05-1D490119D647}"/>
              </a:ext>
            </a:extLst>
          </p:cNvPr>
          <p:cNvSpPr txBox="1"/>
          <p:nvPr/>
        </p:nvSpPr>
        <p:spPr>
          <a:xfrm>
            <a:off x="9157548" y="1679244"/>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2022.12.16</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23" name="TextBox 22">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4" name="TextBox 23">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grpSp>
        <p:nvGrpSpPr>
          <p:cNvPr id="4" name="그룹 3"/>
          <p:cNvGrpSpPr/>
          <p:nvPr/>
        </p:nvGrpSpPr>
        <p:grpSpPr>
          <a:xfrm>
            <a:off x="2937037" y="2488991"/>
            <a:ext cx="2859284" cy="942265"/>
            <a:chOff x="3537577" y="3095670"/>
            <a:chExt cx="2351889" cy="775055"/>
          </a:xfrm>
        </p:grpSpPr>
        <p:pic>
          <p:nvPicPr>
            <p:cNvPr id="26" name="그림 25"/>
            <p:cNvPicPr>
              <a:picLocks noChangeAspect="1"/>
            </p:cNvPicPr>
            <p:nvPr/>
          </p:nvPicPr>
          <p:blipFill rotWithShape="1">
            <a:blip r:embed="rId5" cstate="print">
              <a:extLst>
                <a:ext uri="{28A0092B-C50C-407E-A947-70E740481C1C}">
                  <a14:useLocalDpi xmlns:a14="http://schemas.microsoft.com/office/drawing/2010/main" val="0"/>
                </a:ext>
              </a:extLst>
            </a:blip>
            <a:srcRect l="63338" t="47001" r="6000" b="45825"/>
            <a:stretch/>
          </p:blipFill>
          <p:spPr>
            <a:xfrm>
              <a:off x="3537577" y="3095670"/>
              <a:ext cx="2351889" cy="775055"/>
            </a:xfrm>
            <a:prstGeom prst="rect">
              <a:avLst/>
            </a:prstGeom>
            <a:ln w="12700">
              <a:solidFill>
                <a:srgbClr val="A0112D"/>
              </a:solidFill>
            </a:ln>
          </p:spPr>
        </p:pic>
        <p:sp>
          <p:nvSpPr>
            <p:cNvPr id="53" name="직사각형 52"/>
            <p:cNvSpPr/>
            <p:nvPr/>
          </p:nvSpPr>
          <p:spPr>
            <a:xfrm>
              <a:off x="3650157" y="3266568"/>
              <a:ext cx="2232539" cy="189764"/>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 name="그룹 4"/>
          <p:cNvGrpSpPr/>
          <p:nvPr/>
        </p:nvGrpSpPr>
        <p:grpSpPr>
          <a:xfrm>
            <a:off x="9135177" y="2488991"/>
            <a:ext cx="2738274" cy="996729"/>
            <a:chOff x="9061504" y="3070325"/>
            <a:chExt cx="2241304" cy="825743"/>
          </a:xfrm>
        </p:grpSpPr>
        <p:pic>
          <p:nvPicPr>
            <p:cNvPr id="28" name="그림 27"/>
            <p:cNvPicPr>
              <a:picLocks noChangeAspect="1"/>
            </p:cNvPicPr>
            <p:nvPr/>
          </p:nvPicPr>
          <p:blipFill rotWithShape="1">
            <a:blip r:embed="rId6" cstate="print">
              <a:extLst>
                <a:ext uri="{28A0092B-C50C-407E-A947-70E740481C1C}">
                  <a14:useLocalDpi xmlns:a14="http://schemas.microsoft.com/office/drawing/2010/main" val="0"/>
                </a:ext>
              </a:extLst>
            </a:blip>
            <a:srcRect l="64200" t="46630" r="6010" b="45578"/>
            <a:stretch/>
          </p:blipFill>
          <p:spPr>
            <a:xfrm>
              <a:off x="9061504" y="3070325"/>
              <a:ext cx="2241304" cy="825743"/>
            </a:xfrm>
            <a:prstGeom prst="rect">
              <a:avLst/>
            </a:prstGeom>
            <a:ln w="12700">
              <a:solidFill>
                <a:srgbClr val="A0112D"/>
              </a:solidFill>
            </a:ln>
          </p:spPr>
        </p:pic>
        <p:sp>
          <p:nvSpPr>
            <p:cNvPr id="54" name="직사각형 53"/>
            <p:cNvSpPr/>
            <p:nvPr/>
          </p:nvSpPr>
          <p:spPr>
            <a:xfrm>
              <a:off x="9129210" y="3306794"/>
              <a:ext cx="2105891" cy="178999"/>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70301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2081" y="1278786"/>
            <a:ext cx="3884451" cy="5471392"/>
          </a:xfrm>
          <a:prstGeom prst="rect">
            <a:avLst/>
          </a:prstGeom>
        </p:spPr>
      </p:pic>
      <p:pic>
        <p:nvPicPr>
          <p:cNvPr id="2" name="그림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131" y="1330360"/>
            <a:ext cx="3843994" cy="5414407"/>
          </a:xfrm>
          <a:prstGeom prst="rect">
            <a:avLst/>
          </a:prstGeom>
        </p:spPr>
      </p:pic>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51, Male, 65.5→64.9kg,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15673"/>
            <a:ext cx="7340108" cy="303866"/>
          </a:xfrm>
          <a:prstGeom prst="rect">
            <a:avLst/>
          </a:prstGeom>
          <a:noFill/>
        </p:spPr>
        <p:txBody>
          <a:bodyPr wrap="square" rtlCol="0">
            <a:spAutoFit/>
          </a:bodyPr>
          <a:lstStyle/>
          <a:p>
            <a:pPr>
              <a:lnSpc>
                <a:spcPts val="18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Experiencing gradually decreasing dialysis efficiency over the course of three months.</a:t>
            </a:r>
          </a:p>
        </p:txBody>
      </p:sp>
      <p:grpSp>
        <p:nvGrpSpPr>
          <p:cNvPr id="30" name="그룹 29">
            <a:extLst>
              <a:ext uri="{FF2B5EF4-FFF2-40B4-BE49-F238E27FC236}">
                <a16:creationId xmlns:a16="http://schemas.microsoft.com/office/drawing/2014/main" id="{2F1A05A6-8D4D-A99A-FADA-5533987FA333}"/>
              </a:ext>
            </a:extLst>
          </p:cNvPr>
          <p:cNvGrpSpPr/>
          <p:nvPr/>
        </p:nvGrpSpPr>
        <p:grpSpPr>
          <a:xfrm rot="16200000">
            <a:off x="5828515" y="3510117"/>
            <a:ext cx="300064" cy="271459"/>
            <a:chOff x="2061642" y="2996194"/>
            <a:chExt cx="369826" cy="334570"/>
          </a:xfrm>
        </p:grpSpPr>
        <p:sp>
          <p:nvSpPr>
            <p:cNvPr id="31"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8" name="모서리가 둥근 직사각형 47"/>
          <p:cNvSpPr/>
          <p:nvPr/>
        </p:nvSpPr>
        <p:spPr>
          <a:xfrm>
            <a:off x="3171591" y="1706539"/>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TextBox 49">
            <a:extLst>
              <a:ext uri="{FF2B5EF4-FFF2-40B4-BE49-F238E27FC236}">
                <a16:creationId xmlns:a16="http://schemas.microsoft.com/office/drawing/2014/main" id="{B8271BDF-AC03-4748-8C05-1D490119D647}"/>
              </a:ext>
            </a:extLst>
          </p:cNvPr>
          <p:cNvSpPr txBox="1"/>
          <p:nvPr/>
        </p:nvSpPr>
        <p:spPr>
          <a:xfrm>
            <a:off x="3178833" y="1699612"/>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2022.6.16</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51" name="모서리가 둥근 직사각형 50"/>
          <p:cNvSpPr/>
          <p:nvPr/>
        </p:nvSpPr>
        <p:spPr>
          <a:xfrm>
            <a:off x="8929039" y="1688419"/>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TextBox 51">
            <a:extLst>
              <a:ext uri="{FF2B5EF4-FFF2-40B4-BE49-F238E27FC236}">
                <a16:creationId xmlns:a16="http://schemas.microsoft.com/office/drawing/2014/main" id="{B8271BDF-AC03-4748-8C05-1D490119D647}"/>
              </a:ext>
            </a:extLst>
          </p:cNvPr>
          <p:cNvSpPr txBox="1"/>
          <p:nvPr/>
        </p:nvSpPr>
        <p:spPr>
          <a:xfrm>
            <a:off x="8936281" y="1681492"/>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2022.12.15</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22" name="TextBox 21">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3" name="TextBox 22">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25" name="그림 24"/>
          <p:cNvPicPr>
            <a:picLocks noChangeAspect="1"/>
          </p:cNvPicPr>
          <p:nvPr/>
        </p:nvPicPr>
        <p:blipFill rotWithShape="1">
          <a:blip r:embed="rId5" cstate="print">
            <a:extLst>
              <a:ext uri="{28A0092B-C50C-407E-A947-70E740481C1C}">
                <a14:useLocalDpi xmlns:a14="http://schemas.microsoft.com/office/drawing/2010/main" val="0"/>
              </a:ext>
            </a:extLst>
          </a:blip>
          <a:srcRect l="64294" t="46455" r="6158" b="45644"/>
          <a:stretch/>
        </p:blipFill>
        <p:spPr>
          <a:xfrm>
            <a:off x="3097048" y="3549525"/>
            <a:ext cx="2417965" cy="910703"/>
          </a:xfrm>
          <a:prstGeom prst="rect">
            <a:avLst/>
          </a:prstGeom>
          <a:ln w="12700">
            <a:solidFill>
              <a:srgbClr val="A0112D"/>
            </a:solidFill>
          </a:ln>
        </p:spPr>
      </p:pic>
      <p:sp>
        <p:nvSpPr>
          <p:cNvPr id="36" name="직사각형 35"/>
          <p:cNvSpPr/>
          <p:nvPr/>
        </p:nvSpPr>
        <p:spPr>
          <a:xfrm>
            <a:off x="3171591" y="3809627"/>
            <a:ext cx="2282628" cy="199599"/>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7" name="그림 26"/>
          <p:cNvPicPr>
            <a:picLocks noChangeAspect="1"/>
          </p:cNvPicPr>
          <p:nvPr/>
        </p:nvPicPr>
        <p:blipFill rotWithShape="1">
          <a:blip r:embed="rId6" cstate="print">
            <a:extLst>
              <a:ext uri="{28A0092B-C50C-407E-A947-70E740481C1C}">
                <a14:useLocalDpi xmlns:a14="http://schemas.microsoft.com/office/drawing/2010/main" val="0"/>
              </a:ext>
            </a:extLst>
          </a:blip>
          <a:srcRect l="64468" t="46774" r="5620" b="45687"/>
          <a:stretch/>
        </p:blipFill>
        <p:spPr>
          <a:xfrm>
            <a:off x="8973550" y="3539275"/>
            <a:ext cx="2385978" cy="847096"/>
          </a:xfrm>
          <a:prstGeom prst="rect">
            <a:avLst/>
          </a:prstGeom>
          <a:ln w="12700">
            <a:solidFill>
              <a:srgbClr val="A0112D"/>
            </a:solidFill>
          </a:ln>
        </p:spPr>
      </p:pic>
      <p:sp>
        <p:nvSpPr>
          <p:cNvPr id="37" name="직사각형 36"/>
          <p:cNvSpPr/>
          <p:nvPr/>
        </p:nvSpPr>
        <p:spPr>
          <a:xfrm>
            <a:off x="8987299" y="3757386"/>
            <a:ext cx="2282628" cy="199599"/>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828471" y="2685641"/>
            <a:ext cx="2268577"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33" name="직사각형 32"/>
          <p:cNvSpPr/>
          <p:nvPr/>
        </p:nvSpPr>
        <p:spPr>
          <a:xfrm>
            <a:off x="6603628" y="2651266"/>
            <a:ext cx="2268577"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Tree>
    <p:extLst>
      <p:ext uri="{BB962C8B-B14F-4D97-AF65-F5344CB8AC3E}">
        <p14:creationId xmlns:p14="http://schemas.microsoft.com/office/powerpoint/2010/main" val="30299072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그룹 4">
            <a:extLst>
              <a:ext uri="{FF2B5EF4-FFF2-40B4-BE49-F238E27FC236}">
                <a16:creationId xmlns:a16="http://schemas.microsoft.com/office/drawing/2014/main" id="{AFD4D734-4458-DB6A-F22F-FF45362A2568}"/>
              </a:ext>
            </a:extLst>
          </p:cNvPr>
          <p:cNvGrpSpPr/>
          <p:nvPr/>
        </p:nvGrpSpPr>
        <p:grpSpPr>
          <a:xfrm>
            <a:off x="361754" y="1482355"/>
            <a:ext cx="3792182" cy="5341427"/>
            <a:chOff x="361754" y="1482355"/>
            <a:chExt cx="3792182" cy="5341427"/>
          </a:xfrm>
        </p:grpSpPr>
        <p:pic>
          <p:nvPicPr>
            <p:cNvPr id="32" name="그림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754" y="1482355"/>
              <a:ext cx="3792182" cy="5341427"/>
            </a:xfrm>
            <a:prstGeom prst="rect">
              <a:avLst/>
            </a:prstGeom>
          </p:spPr>
        </p:pic>
        <p:sp>
          <p:nvSpPr>
            <p:cNvPr id="4" name="직사각형 3">
              <a:extLst>
                <a:ext uri="{FF2B5EF4-FFF2-40B4-BE49-F238E27FC236}">
                  <a16:creationId xmlns:a16="http://schemas.microsoft.com/office/drawing/2014/main" id="{521FCF8D-5A8F-7A7A-A4E7-30031AA45863}"/>
                </a:ext>
              </a:extLst>
            </p:cNvPr>
            <p:cNvSpPr/>
            <p:nvPr/>
          </p:nvSpPr>
          <p:spPr>
            <a:xfrm>
              <a:off x="445534" y="1947672"/>
              <a:ext cx="468866" cy="1629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63, Female, DM-, HF</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15673"/>
            <a:ext cx="11336884" cy="553998"/>
          </a:xfrm>
          <a:prstGeom prst="rect">
            <a:avLst/>
          </a:prstGeom>
          <a:noFill/>
        </p:spPr>
        <p:txBody>
          <a:bodyPr wrap="square" rtlCol="0">
            <a:spAutoFit/>
          </a:bodyPr>
          <a:lstStyle/>
          <a:p>
            <a:pPr>
              <a:lnSpc>
                <a:spcPts val="1800"/>
              </a:lnSpc>
            </a:pPr>
            <a:r>
              <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rPr>
              <a:t>BWA measurement in February 2024 </a:t>
            </a:r>
            <a:r>
              <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sym typeface="Wingdings" panose="05000000000000000000" pitchFamily="2" charset="2"/>
              </a:rPr>
              <a:t> Emergency admission to a university hospital due to shortness of breath  Daily hemodialysis sessions during the admission period (3kg)  Symptoms improved after discharge, but BWA results is deteriorating</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24" name="TextBox 23">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5" name="TextBox 2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grpSp>
        <p:nvGrpSpPr>
          <p:cNvPr id="3" name="그룹 2"/>
          <p:cNvGrpSpPr/>
          <p:nvPr/>
        </p:nvGrpSpPr>
        <p:grpSpPr>
          <a:xfrm>
            <a:off x="5602605" y="2097711"/>
            <a:ext cx="5920209" cy="3964605"/>
            <a:chOff x="701898" y="1614583"/>
            <a:chExt cx="6602971" cy="4421832"/>
          </a:xfrm>
        </p:grpSpPr>
        <p:pic>
          <p:nvPicPr>
            <p:cNvPr id="27" name="그림 26"/>
            <p:cNvPicPr>
              <a:picLocks noChangeAspect="1"/>
            </p:cNvPicPr>
            <p:nvPr/>
          </p:nvPicPr>
          <p:blipFill>
            <a:blip r:embed="rId4"/>
            <a:stretch>
              <a:fillRect/>
            </a:stretch>
          </p:blipFill>
          <p:spPr>
            <a:xfrm>
              <a:off x="701898" y="1614583"/>
              <a:ext cx="6602971" cy="4421832"/>
            </a:xfrm>
            <a:prstGeom prst="rect">
              <a:avLst/>
            </a:prstGeom>
          </p:spPr>
        </p:pic>
        <p:sp>
          <p:nvSpPr>
            <p:cNvPr id="2" name="직사각형 1"/>
            <p:cNvSpPr/>
            <p:nvPr/>
          </p:nvSpPr>
          <p:spPr>
            <a:xfrm>
              <a:off x="1601919" y="2956331"/>
              <a:ext cx="475882" cy="178755"/>
            </a:xfrm>
            <a:prstGeom prst="rect">
              <a:avLst/>
            </a:prstGeom>
            <a:solidFill>
              <a:srgbClr val="B8B8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0" name="모서리가 둥근 직사각형 29"/>
          <p:cNvSpPr/>
          <p:nvPr/>
        </p:nvSpPr>
        <p:spPr>
          <a:xfrm>
            <a:off x="8048233" y="5946133"/>
            <a:ext cx="1170709" cy="221174"/>
          </a:xfrm>
          <a:prstGeom prst="roundRect">
            <a:avLst>
              <a:gd name="adj" fmla="val 50000"/>
            </a:avLst>
          </a:prstGeom>
          <a:solidFill>
            <a:srgbClr val="A011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B8271BDF-AC03-4748-8C05-1D490119D647}"/>
              </a:ext>
            </a:extLst>
          </p:cNvPr>
          <p:cNvSpPr txBox="1"/>
          <p:nvPr/>
        </p:nvSpPr>
        <p:spPr>
          <a:xfrm>
            <a:off x="8055475" y="5939206"/>
            <a:ext cx="1247852" cy="246221"/>
          </a:xfrm>
          <a:prstGeom prst="rect">
            <a:avLst/>
          </a:prstGeom>
          <a:noFill/>
        </p:spPr>
        <p:txBody>
          <a:bodyPr wrap="square" rtlCol="0">
            <a:spAutoFit/>
          </a:bodyPr>
          <a:lstStyle/>
          <a:p>
            <a:pPr algn="ctr"/>
            <a:r>
              <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Medical Treatment Request</a:t>
            </a:r>
          </a:p>
        </p:txBody>
      </p:sp>
      <p:sp>
        <p:nvSpPr>
          <p:cNvPr id="33" name="모서리가 둥근 직사각형 32"/>
          <p:cNvSpPr/>
          <p:nvPr/>
        </p:nvSpPr>
        <p:spPr>
          <a:xfrm>
            <a:off x="2821252" y="1844043"/>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TextBox 33">
            <a:extLst>
              <a:ext uri="{FF2B5EF4-FFF2-40B4-BE49-F238E27FC236}">
                <a16:creationId xmlns:a16="http://schemas.microsoft.com/office/drawing/2014/main" id="{B8271BDF-AC03-4748-8C05-1D490119D647}"/>
              </a:ext>
            </a:extLst>
          </p:cNvPr>
          <p:cNvSpPr txBox="1"/>
          <p:nvPr/>
        </p:nvSpPr>
        <p:spPr>
          <a:xfrm>
            <a:off x="2828494" y="1837116"/>
            <a:ext cx="1128516" cy="246221"/>
          </a:xfrm>
          <a:prstGeom prst="rect">
            <a:avLst/>
          </a:prstGeom>
          <a:noFill/>
        </p:spPr>
        <p:txBody>
          <a:bodyPr wrap="square" rtlCol="0">
            <a:spAutoFit/>
          </a:bodyPr>
          <a:lstStyle/>
          <a:p>
            <a:pPr algn="ctr"/>
            <a:r>
              <a:rPr kumimoji="1" lang="ko-KR" altLang="en-US"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최초 측정 데이터</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pic>
        <p:nvPicPr>
          <p:cNvPr id="35" name="그림 34"/>
          <p:cNvPicPr>
            <a:picLocks noChangeAspect="1"/>
          </p:cNvPicPr>
          <p:nvPr/>
        </p:nvPicPr>
        <p:blipFill rotWithShape="1">
          <a:blip r:embed="rId3" cstate="print">
            <a:extLst>
              <a:ext uri="{28A0092B-C50C-407E-A947-70E740481C1C}">
                <a14:useLocalDpi xmlns:a14="http://schemas.microsoft.com/office/drawing/2010/main" val="0"/>
              </a:ext>
            </a:extLst>
          </a:blip>
          <a:srcRect l="63985" t="22447" r="6463" b="69702"/>
          <a:stretch/>
        </p:blipFill>
        <p:spPr>
          <a:xfrm>
            <a:off x="2797891" y="3174894"/>
            <a:ext cx="2516881" cy="941901"/>
          </a:xfrm>
          <a:prstGeom prst="rect">
            <a:avLst/>
          </a:prstGeom>
          <a:ln w="12700">
            <a:solidFill>
              <a:srgbClr val="A0112D"/>
            </a:solidFill>
          </a:ln>
        </p:spPr>
      </p:pic>
      <p:sp>
        <p:nvSpPr>
          <p:cNvPr id="38" name="직사각형 37"/>
          <p:cNvSpPr/>
          <p:nvPr/>
        </p:nvSpPr>
        <p:spPr>
          <a:xfrm>
            <a:off x="445534" y="2836896"/>
            <a:ext cx="2268577"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48" name="직사각형 47"/>
          <p:cNvSpPr/>
          <p:nvPr/>
        </p:nvSpPr>
        <p:spPr>
          <a:xfrm>
            <a:off x="2862819" y="3414773"/>
            <a:ext cx="2451953" cy="215326"/>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821409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63, Female, DM-, HF</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15673"/>
            <a:ext cx="11336884" cy="529184"/>
          </a:xfrm>
          <a:prstGeom prst="rect">
            <a:avLst/>
          </a:prstGeom>
          <a:noFill/>
        </p:spPr>
        <p:txBody>
          <a:bodyPr wrap="square" rtlCol="0">
            <a:spAutoFit/>
          </a:bodyPr>
          <a:lstStyle/>
          <a:p>
            <a:pPr>
              <a:lnSpc>
                <a:spcPts val="1800"/>
              </a:lnSpc>
            </a:pPr>
            <a:r>
              <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rPr>
              <a:t>BWA measurement in February 2024 </a:t>
            </a:r>
            <a:r>
              <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sym typeface="Wingdings" panose="05000000000000000000" pitchFamily="2" charset="2"/>
              </a:rPr>
              <a:t> Emergency admission to a university hospital due to shortness of breath  Daily hemodialysis sessions during the admission period (3kg)  Symptoms improved after discharge, but BWA results is deteriorating</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24" name="TextBox 23">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5" name="TextBox 2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23" name="그림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3926" y="1482355"/>
            <a:ext cx="3792182" cy="5341427"/>
          </a:xfrm>
          <a:prstGeom prst="rect">
            <a:avLst/>
          </a:prstGeom>
        </p:spPr>
      </p:pic>
      <p:pic>
        <p:nvPicPr>
          <p:cNvPr id="26" name="그림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8947" y="1482355"/>
            <a:ext cx="3792182" cy="5341427"/>
          </a:xfrm>
          <a:prstGeom prst="rect">
            <a:avLst/>
          </a:prstGeom>
        </p:spPr>
      </p:pic>
      <p:sp>
        <p:nvSpPr>
          <p:cNvPr id="29" name="모서리가 둥근 직사각형 28"/>
          <p:cNvSpPr/>
          <p:nvPr/>
        </p:nvSpPr>
        <p:spPr>
          <a:xfrm>
            <a:off x="2858445" y="1844043"/>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TextBox 35">
            <a:extLst>
              <a:ext uri="{FF2B5EF4-FFF2-40B4-BE49-F238E27FC236}">
                <a16:creationId xmlns:a16="http://schemas.microsoft.com/office/drawing/2014/main" id="{B8271BDF-AC03-4748-8C05-1D490119D647}"/>
              </a:ext>
            </a:extLst>
          </p:cNvPr>
          <p:cNvSpPr txBox="1"/>
          <p:nvPr/>
        </p:nvSpPr>
        <p:spPr>
          <a:xfrm>
            <a:off x="2865687" y="1837116"/>
            <a:ext cx="1128516" cy="246221"/>
          </a:xfrm>
          <a:prstGeom prst="rect">
            <a:avLst/>
          </a:prstGeom>
          <a:noFill/>
        </p:spPr>
        <p:txBody>
          <a:bodyPr wrap="square" rtlCol="0">
            <a:spAutoFit/>
          </a:bodyPr>
          <a:lstStyle/>
          <a:p>
            <a:pPr algn="ctr"/>
            <a:r>
              <a:rPr kumimoji="1" lang="ko-KR" altLang="en-US"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최초 측정 데이터</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37" name="모서리가 둥근 직사각형 36"/>
          <p:cNvSpPr/>
          <p:nvPr/>
        </p:nvSpPr>
        <p:spPr>
          <a:xfrm>
            <a:off x="8599551" y="1844043"/>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TextBox 38">
            <a:extLst>
              <a:ext uri="{FF2B5EF4-FFF2-40B4-BE49-F238E27FC236}">
                <a16:creationId xmlns:a16="http://schemas.microsoft.com/office/drawing/2014/main" id="{B8271BDF-AC03-4748-8C05-1D490119D647}"/>
              </a:ext>
            </a:extLst>
          </p:cNvPr>
          <p:cNvSpPr txBox="1"/>
          <p:nvPr/>
        </p:nvSpPr>
        <p:spPr>
          <a:xfrm>
            <a:off x="8620647" y="1837116"/>
            <a:ext cx="1128516" cy="246221"/>
          </a:xfrm>
          <a:prstGeom prst="rect">
            <a:avLst/>
          </a:prstGeom>
          <a:noFill/>
        </p:spPr>
        <p:txBody>
          <a:bodyPr wrap="square" rtlCol="0">
            <a:spAutoFit/>
          </a:bodyPr>
          <a:lstStyle/>
          <a:p>
            <a:pPr algn="ctr"/>
            <a:r>
              <a:rPr kumimoji="1" lang="ko-KR" altLang="en-US"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퇴원 후 데이터</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pic>
        <p:nvPicPr>
          <p:cNvPr id="40" name="그림 39"/>
          <p:cNvPicPr>
            <a:picLocks noChangeAspect="1"/>
          </p:cNvPicPr>
          <p:nvPr/>
        </p:nvPicPr>
        <p:blipFill rotWithShape="1">
          <a:blip r:embed="rId4" cstate="print">
            <a:extLst>
              <a:ext uri="{28A0092B-C50C-407E-A947-70E740481C1C}">
                <a14:useLocalDpi xmlns:a14="http://schemas.microsoft.com/office/drawing/2010/main" val="0"/>
              </a:ext>
            </a:extLst>
          </a:blip>
          <a:srcRect l="63985" t="22447" r="6463" b="69702"/>
          <a:stretch/>
        </p:blipFill>
        <p:spPr>
          <a:xfrm>
            <a:off x="2835084" y="3174894"/>
            <a:ext cx="2516881" cy="941901"/>
          </a:xfrm>
          <a:prstGeom prst="rect">
            <a:avLst/>
          </a:prstGeom>
          <a:ln w="12700">
            <a:solidFill>
              <a:srgbClr val="A0112D"/>
            </a:solidFill>
          </a:ln>
        </p:spPr>
      </p:pic>
      <p:grpSp>
        <p:nvGrpSpPr>
          <p:cNvPr id="41" name="그룹 40">
            <a:extLst>
              <a:ext uri="{FF2B5EF4-FFF2-40B4-BE49-F238E27FC236}">
                <a16:creationId xmlns:a16="http://schemas.microsoft.com/office/drawing/2014/main" id="{2F1A05A6-8D4D-A99A-FADA-5533987FA333}"/>
              </a:ext>
            </a:extLst>
          </p:cNvPr>
          <p:cNvGrpSpPr/>
          <p:nvPr/>
        </p:nvGrpSpPr>
        <p:grpSpPr>
          <a:xfrm rot="16200000">
            <a:off x="5696320" y="3510117"/>
            <a:ext cx="300064" cy="271459"/>
            <a:chOff x="2061642" y="2996194"/>
            <a:chExt cx="369826" cy="334570"/>
          </a:xfrm>
        </p:grpSpPr>
        <p:sp>
          <p:nvSpPr>
            <p:cNvPr id="42" name="이등변 삼각형 34">
              <a:extLst>
                <a:ext uri="{FF2B5EF4-FFF2-40B4-BE49-F238E27FC236}">
                  <a16:creationId xmlns:a16="http://schemas.microsoft.com/office/drawing/2014/main" id="{B12E7BA3-924F-6C70-1C46-86C2736E441E}"/>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이등변 삼각형 34">
              <a:extLst>
                <a:ext uri="{FF2B5EF4-FFF2-40B4-BE49-F238E27FC236}">
                  <a16:creationId xmlns:a16="http://schemas.microsoft.com/office/drawing/2014/main" id="{EB9A0EC5-9766-2D17-289E-A8C7A6B443F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4" name="직사각형 43"/>
          <p:cNvSpPr/>
          <p:nvPr/>
        </p:nvSpPr>
        <p:spPr>
          <a:xfrm>
            <a:off x="482727" y="2836896"/>
            <a:ext cx="2268577"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45" name="직사각형 44"/>
          <p:cNvSpPr/>
          <p:nvPr/>
        </p:nvSpPr>
        <p:spPr>
          <a:xfrm>
            <a:off x="2900012" y="3414773"/>
            <a:ext cx="2451953" cy="215326"/>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6" name="그림 45"/>
          <p:cNvPicPr>
            <a:picLocks noChangeAspect="1"/>
          </p:cNvPicPr>
          <p:nvPr/>
        </p:nvPicPr>
        <p:blipFill rotWithShape="1">
          <a:blip r:embed="rId3" cstate="print">
            <a:extLst>
              <a:ext uri="{28A0092B-C50C-407E-A947-70E740481C1C}">
                <a14:useLocalDpi xmlns:a14="http://schemas.microsoft.com/office/drawing/2010/main" val="0"/>
              </a:ext>
            </a:extLst>
          </a:blip>
          <a:srcRect l="63944" t="22575" r="5054" b="70088"/>
          <a:stretch/>
        </p:blipFill>
        <p:spPr>
          <a:xfrm>
            <a:off x="8613301" y="3174894"/>
            <a:ext cx="2644401" cy="881467"/>
          </a:xfrm>
          <a:prstGeom prst="rect">
            <a:avLst/>
          </a:prstGeom>
          <a:ln w="12700">
            <a:solidFill>
              <a:srgbClr val="A0112D"/>
            </a:solidFill>
          </a:ln>
        </p:spPr>
      </p:pic>
      <p:sp>
        <p:nvSpPr>
          <p:cNvPr id="47" name="직사각형 46"/>
          <p:cNvSpPr/>
          <p:nvPr/>
        </p:nvSpPr>
        <p:spPr>
          <a:xfrm>
            <a:off x="6259649" y="2836896"/>
            <a:ext cx="2268577" cy="401377"/>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49" name="직사각형 48"/>
          <p:cNvSpPr/>
          <p:nvPr/>
        </p:nvSpPr>
        <p:spPr>
          <a:xfrm>
            <a:off x="8700131" y="3401023"/>
            <a:ext cx="2451953" cy="215326"/>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3" name="그림 52"/>
          <p:cNvPicPr>
            <a:picLocks noChangeAspect="1"/>
          </p:cNvPicPr>
          <p:nvPr/>
        </p:nvPicPr>
        <p:blipFill rotWithShape="1">
          <a:blip r:embed="rId3" cstate="print">
            <a:extLst>
              <a:ext uri="{28A0092B-C50C-407E-A947-70E740481C1C}">
                <a14:useLocalDpi xmlns:a14="http://schemas.microsoft.com/office/drawing/2010/main" val="0"/>
              </a:ext>
            </a:extLst>
          </a:blip>
          <a:srcRect l="63965" t="15203" r="29897" b="82702"/>
          <a:stretch/>
        </p:blipFill>
        <p:spPr>
          <a:xfrm>
            <a:off x="9995299" y="2895983"/>
            <a:ext cx="543141" cy="261317"/>
          </a:xfrm>
          <a:prstGeom prst="rect">
            <a:avLst/>
          </a:prstGeom>
        </p:spPr>
      </p:pic>
      <p:pic>
        <p:nvPicPr>
          <p:cNvPr id="54" name="그림 53"/>
          <p:cNvPicPr>
            <a:picLocks noChangeAspect="1"/>
          </p:cNvPicPr>
          <p:nvPr/>
        </p:nvPicPr>
        <p:blipFill rotWithShape="1">
          <a:blip r:embed="rId4" cstate="print">
            <a:extLst>
              <a:ext uri="{28A0092B-C50C-407E-A947-70E740481C1C}">
                <a14:useLocalDpi xmlns:a14="http://schemas.microsoft.com/office/drawing/2010/main" val="0"/>
              </a:ext>
            </a:extLst>
          </a:blip>
          <a:srcRect l="65070" t="15527" r="30388" b="82976"/>
          <a:stretch/>
        </p:blipFill>
        <p:spPr>
          <a:xfrm>
            <a:off x="4196122" y="2930575"/>
            <a:ext cx="418311" cy="194166"/>
          </a:xfrm>
          <a:prstGeom prst="rect">
            <a:avLst/>
          </a:prstGeom>
        </p:spPr>
      </p:pic>
      <p:pic>
        <p:nvPicPr>
          <p:cNvPr id="55" name="그림 54"/>
          <p:cNvPicPr>
            <a:picLocks noChangeAspect="1"/>
          </p:cNvPicPr>
          <p:nvPr/>
        </p:nvPicPr>
        <p:blipFill rotWithShape="1">
          <a:blip r:embed="rId3" cstate="print">
            <a:extLst>
              <a:ext uri="{28A0092B-C50C-407E-A947-70E740481C1C}">
                <a14:useLocalDpi xmlns:a14="http://schemas.microsoft.com/office/drawing/2010/main" val="0"/>
              </a:ext>
            </a:extLst>
          </a:blip>
          <a:srcRect l="79039" t="15731" r="15548" b="82702"/>
          <a:stretch/>
        </p:blipFill>
        <p:spPr>
          <a:xfrm>
            <a:off x="10709537" y="2942318"/>
            <a:ext cx="478973" cy="195299"/>
          </a:xfrm>
          <a:prstGeom prst="rect">
            <a:avLst/>
          </a:prstGeom>
        </p:spPr>
      </p:pic>
      <p:pic>
        <p:nvPicPr>
          <p:cNvPr id="56" name="그림 55"/>
          <p:cNvPicPr>
            <a:picLocks noChangeAspect="1"/>
          </p:cNvPicPr>
          <p:nvPr/>
        </p:nvPicPr>
        <p:blipFill rotWithShape="1">
          <a:blip r:embed="rId4" cstate="print">
            <a:extLst>
              <a:ext uri="{28A0092B-C50C-407E-A947-70E740481C1C}">
                <a14:useLocalDpi xmlns:a14="http://schemas.microsoft.com/office/drawing/2010/main" val="0"/>
              </a:ext>
            </a:extLst>
          </a:blip>
          <a:srcRect l="78943" t="15582" r="14924" b="82883"/>
          <a:stretch/>
        </p:blipFill>
        <p:spPr>
          <a:xfrm>
            <a:off x="4786093" y="2928077"/>
            <a:ext cx="564840" cy="199161"/>
          </a:xfrm>
          <a:prstGeom prst="rect">
            <a:avLst/>
          </a:prstGeom>
        </p:spPr>
      </p:pic>
      <p:pic>
        <p:nvPicPr>
          <p:cNvPr id="57" name="그림 56"/>
          <p:cNvPicPr>
            <a:picLocks noChangeAspect="1"/>
          </p:cNvPicPr>
          <p:nvPr/>
        </p:nvPicPr>
        <p:blipFill rotWithShape="1">
          <a:blip r:embed="rId4" cstate="print">
            <a:extLst>
              <a:ext uri="{28A0092B-C50C-407E-A947-70E740481C1C}">
                <a14:useLocalDpi xmlns:a14="http://schemas.microsoft.com/office/drawing/2010/main" val="0"/>
              </a:ext>
            </a:extLst>
          </a:blip>
          <a:srcRect l="64422" t="58358" r="12372" b="36751"/>
          <a:stretch/>
        </p:blipFill>
        <p:spPr>
          <a:xfrm>
            <a:off x="2835084" y="4874892"/>
            <a:ext cx="2005548" cy="595396"/>
          </a:xfrm>
          <a:prstGeom prst="rect">
            <a:avLst/>
          </a:prstGeom>
          <a:ln w="12700">
            <a:solidFill>
              <a:srgbClr val="A0112D"/>
            </a:solidFill>
          </a:ln>
        </p:spPr>
      </p:pic>
      <p:pic>
        <p:nvPicPr>
          <p:cNvPr id="58" name="그림 57"/>
          <p:cNvPicPr>
            <a:picLocks noChangeAspect="1"/>
          </p:cNvPicPr>
          <p:nvPr/>
        </p:nvPicPr>
        <p:blipFill rotWithShape="1">
          <a:blip r:embed="rId3" cstate="print">
            <a:extLst>
              <a:ext uri="{28A0092B-C50C-407E-A947-70E740481C1C}">
                <a14:useLocalDpi xmlns:a14="http://schemas.microsoft.com/office/drawing/2010/main" val="0"/>
              </a:ext>
            </a:extLst>
          </a:blip>
          <a:srcRect l="64488" t="57973" r="11400" b="36492"/>
          <a:stretch/>
        </p:blipFill>
        <p:spPr>
          <a:xfrm>
            <a:off x="8620647" y="4775894"/>
            <a:ext cx="1935810" cy="625863"/>
          </a:xfrm>
          <a:prstGeom prst="rect">
            <a:avLst/>
          </a:prstGeom>
          <a:ln w="12700">
            <a:solidFill>
              <a:srgbClr val="A0112D"/>
            </a:solidFill>
          </a:ln>
        </p:spPr>
      </p:pic>
    </p:spTree>
    <p:extLst>
      <p:ext uri="{BB962C8B-B14F-4D97-AF65-F5344CB8AC3E}">
        <p14:creationId xmlns:p14="http://schemas.microsoft.com/office/powerpoint/2010/main" val="5314606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78, Female, 36.0→35.2kg,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15673"/>
            <a:ext cx="9342090" cy="298223"/>
          </a:xfrm>
          <a:prstGeom prst="rect">
            <a:avLst/>
          </a:prstGeom>
          <a:noFill/>
        </p:spPr>
        <p:txBody>
          <a:bodyPr wrap="square" rtlCol="0">
            <a:spAutoFit/>
          </a:bodyPr>
          <a:lstStyle/>
          <a:p>
            <a:pPr>
              <a:lnSpc>
                <a:spcPts val="1800"/>
              </a:lnSpc>
            </a:pPr>
            <a:r>
              <a:rPr kumimoji="1" lang="en-US" altLang="ko-KR" sz="120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One year following the initial assessment, the patient exhibited diminished mobility, Expired after 2 years</a:t>
            </a:r>
          </a:p>
        </p:txBody>
      </p:sp>
      <p:sp>
        <p:nvSpPr>
          <p:cNvPr id="24" name="TextBox 23">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25" name="TextBox 2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2" name="그림 1">
            <a:extLst>
              <a:ext uri="{FF2B5EF4-FFF2-40B4-BE49-F238E27FC236}">
                <a16:creationId xmlns:a16="http://schemas.microsoft.com/office/drawing/2014/main" id="{FD22C924-2CE0-B670-D572-309566BFEE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863" y="1409709"/>
            <a:ext cx="3699824" cy="5211338"/>
          </a:xfrm>
          <a:prstGeom prst="rect">
            <a:avLst/>
          </a:prstGeom>
        </p:spPr>
      </p:pic>
      <p:pic>
        <p:nvPicPr>
          <p:cNvPr id="3" name="그림 2">
            <a:extLst>
              <a:ext uri="{FF2B5EF4-FFF2-40B4-BE49-F238E27FC236}">
                <a16:creationId xmlns:a16="http://schemas.microsoft.com/office/drawing/2014/main" id="{81075A1D-49CA-1942-3050-D7DA61D1E9C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3649" t="75923" r="4396" b="15569"/>
          <a:stretch/>
        </p:blipFill>
        <p:spPr>
          <a:xfrm>
            <a:off x="2941928" y="5173429"/>
            <a:ext cx="2371136" cy="889178"/>
          </a:xfrm>
          <a:prstGeom prst="rect">
            <a:avLst/>
          </a:prstGeom>
          <a:ln>
            <a:solidFill>
              <a:srgbClr val="A0112D"/>
            </a:solidFill>
          </a:ln>
        </p:spPr>
      </p:pic>
      <p:pic>
        <p:nvPicPr>
          <p:cNvPr id="4" name="그림 3">
            <a:extLst>
              <a:ext uri="{FF2B5EF4-FFF2-40B4-BE49-F238E27FC236}">
                <a16:creationId xmlns:a16="http://schemas.microsoft.com/office/drawing/2014/main" id="{AFFB1B25-7C5A-6DFE-015D-2F4663CC13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82235" y="1298350"/>
            <a:ext cx="3778884" cy="5322697"/>
          </a:xfrm>
          <a:prstGeom prst="rect">
            <a:avLst/>
          </a:prstGeom>
        </p:spPr>
      </p:pic>
      <p:pic>
        <p:nvPicPr>
          <p:cNvPr id="5" name="그림 4">
            <a:extLst>
              <a:ext uri="{FF2B5EF4-FFF2-40B4-BE49-F238E27FC236}">
                <a16:creationId xmlns:a16="http://schemas.microsoft.com/office/drawing/2014/main" id="{85170E1A-F70D-0A7E-D3D3-AB71F4C5DFB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4099" t="46857" r="5911" b="46053"/>
          <a:stretch/>
        </p:blipFill>
        <p:spPr>
          <a:xfrm>
            <a:off x="2921038" y="3851296"/>
            <a:ext cx="2463609" cy="820290"/>
          </a:xfrm>
          <a:prstGeom prst="rect">
            <a:avLst/>
          </a:prstGeom>
          <a:ln>
            <a:solidFill>
              <a:srgbClr val="A0112D"/>
            </a:solidFill>
          </a:ln>
        </p:spPr>
      </p:pic>
      <p:grpSp>
        <p:nvGrpSpPr>
          <p:cNvPr id="9" name="그룹 8">
            <a:extLst>
              <a:ext uri="{FF2B5EF4-FFF2-40B4-BE49-F238E27FC236}">
                <a16:creationId xmlns:a16="http://schemas.microsoft.com/office/drawing/2014/main" id="{58BC6B7D-1761-D54A-C807-DF72975F165A}"/>
              </a:ext>
            </a:extLst>
          </p:cNvPr>
          <p:cNvGrpSpPr/>
          <p:nvPr/>
        </p:nvGrpSpPr>
        <p:grpSpPr>
          <a:xfrm rot="16200000">
            <a:off x="5950820" y="3510117"/>
            <a:ext cx="300064" cy="271459"/>
            <a:chOff x="2061642" y="2996194"/>
            <a:chExt cx="369826" cy="334570"/>
          </a:xfrm>
        </p:grpSpPr>
        <p:sp>
          <p:nvSpPr>
            <p:cNvPr id="10" name="이등변 삼각형 34">
              <a:extLst>
                <a:ext uri="{FF2B5EF4-FFF2-40B4-BE49-F238E27FC236}">
                  <a16:creationId xmlns:a16="http://schemas.microsoft.com/office/drawing/2014/main" id="{C5DAA643-863C-13A1-A631-93F637612397}"/>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이등변 삼각형 34">
              <a:extLst>
                <a:ext uri="{FF2B5EF4-FFF2-40B4-BE49-F238E27FC236}">
                  <a16:creationId xmlns:a16="http://schemas.microsoft.com/office/drawing/2014/main" id="{AA89B503-AEB5-C1EE-9569-3CB69F5249DB}"/>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모서리가 둥근 직사각형 47">
            <a:extLst>
              <a:ext uri="{FF2B5EF4-FFF2-40B4-BE49-F238E27FC236}">
                <a16:creationId xmlns:a16="http://schemas.microsoft.com/office/drawing/2014/main" id="{51E7E0B0-10E8-273A-8523-2612A5667278}"/>
              </a:ext>
            </a:extLst>
          </p:cNvPr>
          <p:cNvSpPr/>
          <p:nvPr/>
        </p:nvSpPr>
        <p:spPr>
          <a:xfrm>
            <a:off x="3003147" y="1706539"/>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9304BEE2-81F7-7EE4-B694-4B29711C3D3C}"/>
              </a:ext>
            </a:extLst>
          </p:cNvPr>
          <p:cNvSpPr txBox="1"/>
          <p:nvPr/>
        </p:nvSpPr>
        <p:spPr>
          <a:xfrm>
            <a:off x="3010389" y="1699612"/>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2022.3.24</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15" name="모서리가 둥근 직사각형 50">
            <a:extLst>
              <a:ext uri="{FF2B5EF4-FFF2-40B4-BE49-F238E27FC236}">
                <a16:creationId xmlns:a16="http://schemas.microsoft.com/office/drawing/2014/main" id="{F1B9770F-4EAB-99E0-0F5C-FE9C0FB4AAE6}"/>
              </a:ext>
            </a:extLst>
          </p:cNvPr>
          <p:cNvSpPr/>
          <p:nvPr/>
        </p:nvSpPr>
        <p:spPr>
          <a:xfrm>
            <a:off x="9678524" y="1706539"/>
            <a:ext cx="1170709" cy="221174"/>
          </a:xfrm>
          <a:prstGeom prst="roundRect">
            <a:avLst>
              <a:gd name="adj" fmla="val 50000"/>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E1617388-053A-2744-42C7-853FB1232DA9}"/>
              </a:ext>
            </a:extLst>
          </p:cNvPr>
          <p:cNvSpPr txBox="1"/>
          <p:nvPr/>
        </p:nvSpPr>
        <p:spPr>
          <a:xfrm>
            <a:off x="9685766" y="1699612"/>
            <a:ext cx="1128516" cy="246221"/>
          </a:xfrm>
          <a:prstGeom prst="rect">
            <a:avLst/>
          </a:prstGeom>
          <a:noFill/>
        </p:spPr>
        <p:txBody>
          <a:bodyPr wrap="square" rtlCol="0">
            <a:spAutoFit/>
          </a:bodyPr>
          <a:lstStyle/>
          <a:p>
            <a:pPr algn="ctr"/>
            <a:r>
              <a:rPr kumimoji="1" lang="en-US" altLang="ko-KR" sz="1000" spc="-3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rPr>
              <a:t>2022.12.15</a:t>
            </a:r>
            <a:endParaRPr kumimoji="1" lang="en-US" altLang="ko-KR" sz="1000" spc="-30" dirty="0">
              <a:ln>
                <a:solidFill>
                  <a:srgbClr val="7E8080">
                    <a:alpha val="0"/>
                  </a:srgbClr>
                </a:solidFill>
              </a:ln>
              <a:solidFill>
                <a:schemeClr val="bg1"/>
              </a:solidFill>
              <a:latin typeface="에스코어 드림 5 Medium" panose="020B0503030302020204" pitchFamily="34" charset="-127"/>
              <a:ea typeface="에스코어 드림 5 Medium" panose="020B0503030302020204" pitchFamily="34" charset="-127"/>
            </a:endParaRPr>
          </a:p>
        </p:txBody>
      </p:sp>
      <p:sp>
        <p:nvSpPr>
          <p:cNvPr id="18" name="직사각형 17">
            <a:extLst>
              <a:ext uri="{FF2B5EF4-FFF2-40B4-BE49-F238E27FC236}">
                <a16:creationId xmlns:a16="http://schemas.microsoft.com/office/drawing/2014/main" id="{E725A060-3E2A-2B47-7062-F380D26D1E7D}"/>
              </a:ext>
            </a:extLst>
          </p:cNvPr>
          <p:cNvSpPr/>
          <p:nvPr/>
        </p:nvSpPr>
        <p:spPr>
          <a:xfrm>
            <a:off x="2998534" y="4043155"/>
            <a:ext cx="2273795" cy="224046"/>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3008153-D142-074F-642F-78CFB01373A6}"/>
              </a:ext>
            </a:extLst>
          </p:cNvPr>
          <p:cNvSpPr/>
          <p:nvPr/>
        </p:nvSpPr>
        <p:spPr>
          <a:xfrm>
            <a:off x="4152842" y="5461174"/>
            <a:ext cx="349653" cy="169279"/>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0" name="그림 19">
            <a:extLst>
              <a:ext uri="{FF2B5EF4-FFF2-40B4-BE49-F238E27FC236}">
                <a16:creationId xmlns:a16="http://schemas.microsoft.com/office/drawing/2014/main" id="{E55F4A59-CEF1-CB0E-0E80-172F3A65EF8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3743" t="46973" r="4993" b="45739"/>
          <a:stretch/>
        </p:blipFill>
        <p:spPr>
          <a:xfrm>
            <a:off x="9332026" y="3786845"/>
            <a:ext cx="2472048" cy="811708"/>
          </a:xfrm>
          <a:prstGeom prst="rect">
            <a:avLst/>
          </a:prstGeom>
          <a:ln>
            <a:solidFill>
              <a:srgbClr val="A0112D"/>
            </a:solidFill>
          </a:ln>
        </p:spPr>
      </p:pic>
      <p:pic>
        <p:nvPicPr>
          <p:cNvPr id="21" name="그림 20">
            <a:extLst>
              <a:ext uri="{FF2B5EF4-FFF2-40B4-BE49-F238E27FC236}">
                <a16:creationId xmlns:a16="http://schemas.microsoft.com/office/drawing/2014/main" id="{C3BD4A97-26DC-DD17-358C-66139A2382B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63742" t="76126" r="4395" b="15718"/>
          <a:stretch/>
        </p:blipFill>
        <p:spPr>
          <a:xfrm>
            <a:off x="9332025" y="5239198"/>
            <a:ext cx="2388920" cy="861314"/>
          </a:xfrm>
          <a:prstGeom prst="rect">
            <a:avLst/>
          </a:prstGeom>
          <a:ln>
            <a:solidFill>
              <a:srgbClr val="A0112D"/>
            </a:solidFill>
          </a:ln>
        </p:spPr>
      </p:pic>
      <p:sp>
        <p:nvSpPr>
          <p:cNvPr id="22" name="직사각형 21">
            <a:extLst>
              <a:ext uri="{FF2B5EF4-FFF2-40B4-BE49-F238E27FC236}">
                <a16:creationId xmlns:a16="http://schemas.microsoft.com/office/drawing/2014/main" id="{B226F62D-AB28-A35C-4FBE-F33EEA7B683C}"/>
              </a:ext>
            </a:extLst>
          </p:cNvPr>
          <p:cNvSpPr/>
          <p:nvPr/>
        </p:nvSpPr>
        <p:spPr>
          <a:xfrm>
            <a:off x="9461468" y="3978434"/>
            <a:ext cx="2188381" cy="203331"/>
          </a:xfrm>
          <a:prstGeom prst="rect">
            <a:avLst/>
          </a:prstGeom>
          <a:solidFill>
            <a:srgbClr val="A0112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F6932BFC-E1EB-2209-1C3A-493FE51F344B}"/>
              </a:ext>
            </a:extLst>
          </p:cNvPr>
          <p:cNvSpPr/>
          <p:nvPr/>
        </p:nvSpPr>
        <p:spPr>
          <a:xfrm>
            <a:off x="10555658" y="5507354"/>
            <a:ext cx="349653" cy="169279"/>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44845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그룹 4">
            <a:extLst>
              <a:ext uri="{FF2B5EF4-FFF2-40B4-BE49-F238E27FC236}">
                <a16:creationId xmlns:a16="http://schemas.microsoft.com/office/drawing/2014/main" id="{B461EDA6-F75D-CFCF-4816-8CE2EB49517F}"/>
              </a:ext>
            </a:extLst>
          </p:cNvPr>
          <p:cNvGrpSpPr/>
          <p:nvPr/>
        </p:nvGrpSpPr>
        <p:grpSpPr>
          <a:xfrm>
            <a:off x="6448768" y="278577"/>
            <a:ext cx="4646813" cy="6545206"/>
            <a:chOff x="4187349" y="278577"/>
            <a:chExt cx="4646813" cy="6545206"/>
          </a:xfrm>
        </p:grpSpPr>
        <p:pic>
          <p:nvPicPr>
            <p:cNvPr id="17" name="그림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7349" y="278577"/>
              <a:ext cx="4646813" cy="6545206"/>
            </a:xfrm>
            <a:prstGeom prst="rect">
              <a:avLst/>
            </a:prstGeom>
          </p:spPr>
        </p:pic>
        <p:sp>
          <p:nvSpPr>
            <p:cNvPr id="3" name="직사각형 2">
              <a:extLst>
                <a:ext uri="{FF2B5EF4-FFF2-40B4-BE49-F238E27FC236}">
                  <a16:creationId xmlns:a16="http://schemas.microsoft.com/office/drawing/2014/main" id="{C30DAA6B-2159-F1F8-23CB-16238A9C5AB2}"/>
                </a:ext>
              </a:extLst>
            </p:cNvPr>
            <p:cNvSpPr/>
            <p:nvPr/>
          </p:nvSpPr>
          <p:spPr>
            <a:xfrm>
              <a:off x="4382292" y="841248"/>
              <a:ext cx="372588" cy="168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2923048"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50, Male, 54.8kg, DM-</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36454"/>
            <a:ext cx="5717785" cy="886846"/>
          </a:xfrm>
          <a:prstGeom prst="rect">
            <a:avLst/>
          </a:prstGeom>
          <a:noFill/>
        </p:spPr>
        <p:txBody>
          <a:bodyPr wrap="square" rtlCol="0">
            <a:spAutoFit/>
          </a:bodyPr>
          <a:lstStyle/>
          <a:p>
            <a:pPr>
              <a:lnSpc>
                <a:spcPct val="150000"/>
              </a:lnSpc>
            </a:pPr>
            <a:r>
              <a:rPr kumimoji="1" lang="en-US" altLang="ko-KR" sz="120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Spinal Cancer (Tumor removal in 2018 – 2021)</a:t>
            </a:r>
          </a:p>
          <a:p>
            <a:pPr>
              <a:lnSpc>
                <a:spcPct val="150000"/>
              </a:lnSpc>
            </a:pPr>
            <a:r>
              <a:rPr kumimoji="1" lang="en-US" altLang="ko-KR" sz="120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Discomfort in the right leg</a:t>
            </a:r>
          </a:p>
          <a:p>
            <a:pPr>
              <a:lnSpc>
                <a:spcPct val="150000"/>
              </a:lnSpc>
            </a:pPr>
            <a:r>
              <a:rPr kumimoji="1" lang="en-US" altLang="ko-KR" sz="1200" dirty="0">
                <a:ln>
                  <a:solidFill>
                    <a:srgbClr val="7E8080">
                      <a:alpha val="0"/>
                    </a:srgbClr>
                  </a:solidFill>
                </a:ln>
                <a:solidFill>
                  <a:srgbClr val="A0112D"/>
                </a:solidFill>
                <a:latin typeface="Lato Black" panose="020F0502020204030203" pitchFamily="34" charset="0"/>
                <a:ea typeface="에스코어 드림 5 Medium" panose="020B0503030302020204" pitchFamily="34" charset="-127"/>
                <a:cs typeface="Lato Black" panose="020F0502020204030203" pitchFamily="34" charset="0"/>
              </a:rPr>
              <a:t>Requires Foley catheterization during hemodialysis</a:t>
            </a:r>
            <a:endParaRPr kumimoji="1" lang="en-US" altLang="ko-KR" sz="1200" dirty="0">
              <a:ln>
                <a:solidFill>
                  <a:srgbClr val="7E8080">
                    <a:alpha val="0"/>
                  </a:srgbClr>
                </a:solidFill>
              </a:ln>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9" name="직사각형 18"/>
          <p:cNvSpPr/>
          <p:nvPr/>
        </p:nvSpPr>
        <p:spPr>
          <a:xfrm>
            <a:off x="8169897" y="3975743"/>
            <a:ext cx="1204554" cy="1177518"/>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10" name="TextBox 9">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5" name="TextBox 1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Tree>
    <p:extLst>
      <p:ext uri="{BB962C8B-B14F-4D97-AF65-F5344CB8AC3E}">
        <p14:creationId xmlns:p14="http://schemas.microsoft.com/office/powerpoint/2010/main" val="33722420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3962673" y="351682"/>
            <a:ext cx="4541013" cy="6396182"/>
            <a:chOff x="3962673" y="351682"/>
            <a:chExt cx="4541013" cy="6396182"/>
          </a:xfrm>
        </p:grpSpPr>
        <p:pic>
          <p:nvPicPr>
            <p:cNvPr id="17" name="그림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2673" y="351682"/>
              <a:ext cx="4541013" cy="6396182"/>
            </a:xfrm>
            <a:prstGeom prst="rect">
              <a:avLst/>
            </a:prstGeom>
          </p:spPr>
        </p:pic>
        <p:sp>
          <p:nvSpPr>
            <p:cNvPr id="18" name="직사각형 17"/>
            <p:cNvSpPr/>
            <p:nvPr/>
          </p:nvSpPr>
          <p:spPr>
            <a:xfrm>
              <a:off x="4117769" y="923295"/>
              <a:ext cx="620486" cy="1422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3115072"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74, Male, 63.5kg, DM+, Alb 2.8, </a:t>
            </a:r>
            <a:r>
              <a:rPr kumimoji="1" lang="ko-KR" altLang="en-US"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간암</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36454"/>
            <a:ext cx="3623514" cy="276999"/>
          </a:xfrm>
          <a:prstGeom prst="rect">
            <a:avLst/>
          </a:prstGeom>
          <a:noFill/>
        </p:spPr>
        <p:txBody>
          <a:bodyPr wrap="square" rtlCol="0">
            <a:spAutoFit/>
          </a:bodyPr>
          <a:lstStyle/>
          <a:p>
            <a:r>
              <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rPr>
              <a:t>Given 3 months from the BWA measurement </a:t>
            </a:r>
          </a:p>
        </p:txBody>
      </p:sp>
      <p:sp>
        <p:nvSpPr>
          <p:cNvPr id="19" name="직사각형 18"/>
          <p:cNvSpPr/>
          <p:nvPr/>
        </p:nvSpPr>
        <p:spPr>
          <a:xfrm>
            <a:off x="6850605" y="4073984"/>
            <a:ext cx="1433223" cy="346245"/>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2" name="직사각형 1"/>
          <p:cNvSpPr/>
          <p:nvPr/>
        </p:nvSpPr>
        <p:spPr>
          <a:xfrm>
            <a:off x="3962673" y="127598"/>
            <a:ext cx="2653145" cy="1894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5" name="TextBox 14">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5" name="그림 4">
            <a:extLst>
              <a:ext uri="{FF2B5EF4-FFF2-40B4-BE49-F238E27FC236}">
                <a16:creationId xmlns:a16="http://schemas.microsoft.com/office/drawing/2014/main" id="{3AD40329-BDB1-F8CA-3BE3-A27D5909F23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4090" t="58628" r="5907" b="36722"/>
          <a:stretch/>
        </p:blipFill>
        <p:spPr>
          <a:xfrm>
            <a:off x="8518109" y="3933476"/>
            <a:ext cx="2873509" cy="627260"/>
          </a:xfrm>
          <a:prstGeom prst="rect">
            <a:avLst/>
          </a:prstGeom>
        </p:spPr>
      </p:pic>
    </p:spTree>
    <p:extLst>
      <p:ext uri="{BB962C8B-B14F-4D97-AF65-F5344CB8AC3E}">
        <p14:creationId xmlns:p14="http://schemas.microsoft.com/office/powerpoint/2010/main" val="16204947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4051323" y="360215"/>
            <a:ext cx="4578799" cy="6449405"/>
            <a:chOff x="4051323" y="360215"/>
            <a:chExt cx="4578799" cy="6449405"/>
          </a:xfrm>
        </p:grpSpPr>
        <p:pic>
          <p:nvPicPr>
            <p:cNvPr id="15" name="그림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1323" y="360215"/>
              <a:ext cx="4578799" cy="6449405"/>
            </a:xfrm>
            <a:prstGeom prst="rect">
              <a:avLst/>
            </a:prstGeom>
          </p:spPr>
        </p:pic>
        <p:sp>
          <p:nvSpPr>
            <p:cNvPr id="2" name="직사각형 1"/>
            <p:cNvSpPr/>
            <p:nvPr/>
          </p:nvSpPr>
          <p:spPr>
            <a:xfrm>
              <a:off x="4224377" y="936454"/>
              <a:ext cx="733031" cy="1593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B8271BDF-AC03-4748-8C05-1D490119D647}"/>
              </a:ext>
            </a:extLst>
          </p:cNvPr>
          <p:cNvSpPr txBox="1"/>
          <p:nvPr/>
        </p:nvSpPr>
        <p:spPr>
          <a:xfrm>
            <a:off x="597392" y="672155"/>
            <a:ext cx="3224800" cy="276999"/>
          </a:xfrm>
          <a:prstGeom prst="rect">
            <a:avLst/>
          </a:prstGeom>
          <a:noFill/>
        </p:spPr>
        <p:txBody>
          <a:bodyPr wrap="square" rtlCol="0">
            <a:spAutoFit/>
          </a:bodyPr>
          <a:lstStyle/>
          <a:p>
            <a:r>
              <a:rPr kumimoji="1" lang="en-US" altLang="ko-KR" sz="1200" spc="-3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age 68, Male, 51.2kg, DM+, Alb 3.1, </a:t>
            </a:r>
            <a:r>
              <a:rPr kumimoji="1" lang="ko-KR" altLang="en-US" sz="12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폐암</a:t>
            </a:r>
            <a:endParaRPr kumimoji="1" lang="en-US" altLang="ko-KR" sz="1200" spc="-30" dirty="0">
              <a:ln>
                <a:solidFill>
                  <a:srgbClr val="7E8080">
                    <a:alpha val="0"/>
                  </a:srgbClr>
                </a:solidFill>
              </a:ln>
              <a:solidFill>
                <a:srgbClr val="A0112D"/>
              </a:solidFill>
              <a:latin typeface="에스코어 드림 5 Medium" panose="020B0503030302020204" pitchFamily="34" charset="-127"/>
              <a:ea typeface="에스코어 드림 5 Medium" panose="020B0503030302020204" pitchFamily="34" charset="-127"/>
            </a:endParaRPr>
          </a:p>
        </p:txBody>
      </p:sp>
      <p:sp>
        <p:nvSpPr>
          <p:cNvPr id="16" name="TextBox 15">
            <a:extLst>
              <a:ext uri="{FF2B5EF4-FFF2-40B4-BE49-F238E27FC236}">
                <a16:creationId xmlns:a16="http://schemas.microsoft.com/office/drawing/2014/main" id="{B8271BDF-AC03-4748-8C05-1D490119D647}"/>
              </a:ext>
            </a:extLst>
          </p:cNvPr>
          <p:cNvSpPr txBox="1"/>
          <p:nvPr/>
        </p:nvSpPr>
        <p:spPr>
          <a:xfrm>
            <a:off x="584692" y="936454"/>
            <a:ext cx="3849655" cy="276999"/>
          </a:xfrm>
          <a:prstGeom prst="rect">
            <a:avLst/>
          </a:prstGeom>
          <a:noFill/>
        </p:spPr>
        <p:txBody>
          <a:bodyPr wrap="square" rtlCol="0">
            <a:spAutoFit/>
          </a:bodyPr>
          <a:lstStyle/>
          <a:p>
            <a:r>
              <a:rPr kumimoji="1" lang="en-US" altLang="ko-KR" sz="1200" spc="-30" dirty="0">
                <a:ln>
                  <a:solidFill>
                    <a:srgbClr val="7E8080">
                      <a:alpha val="0"/>
                    </a:srgbClr>
                  </a:solidFill>
                </a:ln>
                <a:solidFill>
                  <a:srgbClr val="A0112D"/>
                </a:solidFill>
                <a:latin typeface="Lato Bold" panose="020F0502020204030203" pitchFamily="34" charset="0"/>
                <a:ea typeface="Lato Bold" panose="020F0502020204030203" pitchFamily="34" charset="0"/>
                <a:cs typeface="Lato Bold" panose="020F0502020204030203" pitchFamily="34" charset="0"/>
              </a:rPr>
              <a:t>Expired after 2 months from the measurement </a:t>
            </a:r>
          </a:p>
        </p:txBody>
      </p:sp>
      <p:sp>
        <p:nvSpPr>
          <p:cNvPr id="19" name="직사각형 18"/>
          <p:cNvSpPr/>
          <p:nvPr/>
        </p:nvSpPr>
        <p:spPr>
          <a:xfrm>
            <a:off x="6967670" y="4095396"/>
            <a:ext cx="1433223" cy="346245"/>
          </a:xfrm>
          <a:prstGeom prst="rect">
            <a:avLst/>
          </a:prstGeom>
          <a:noFill/>
          <a:ln>
            <a:solidFill>
              <a:srgbClr val="A011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A0112D"/>
              </a:solidFill>
            </a:endParaRPr>
          </a:p>
        </p:txBody>
      </p:sp>
      <p:sp>
        <p:nvSpPr>
          <p:cNvPr id="9" name="TextBox 8">
            <a:extLst>
              <a:ext uri="{FF2B5EF4-FFF2-40B4-BE49-F238E27FC236}">
                <a16:creationId xmlns:a16="http://schemas.microsoft.com/office/drawing/2014/main" id="{21A23155-F013-4647-A64C-638174D1B0A3}"/>
              </a:ext>
            </a:extLst>
          </p:cNvPr>
          <p:cNvSpPr txBox="1"/>
          <p:nvPr/>
        </p:nvSpPr>
        <p:spPr>
          <a:xfrm>
            <a:off x="102887" y="210490"/>
            <a:ext cx="489392" cy="400110"/>
          </a:xfrm>
          <a:prstGeom prst="rect">
            <a:avLst/>
          </a:prstGeom>
          <a:noFill/>
        </p:spPr>
        <p:txBody>
          <a:bodyPr wrap="square" rtlCol="0">
            <a:spAutoFit/>
          </a:bodyPr>
          <a:lstStyle/>
          <a:p>
            <a:r>
              <a:rPr lang="en-US" altLang="ko-KR" sz="20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03</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10" name="TextBox 9">
            <a:extLst>
              <a:ext uri="{FF2B5EF4-FFF2-40B4-BE49-F238E27FC236}">
                <a16:creationId xmlns:a16="http://schemas.microsoft.com/office/drawing/2014/main" id="{24C31E62-CE78-8243-AB22-9D4C1B89F17B}"/>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Clinical Case Study</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pic>
        <p:nvPicPr>
          <p:cNvPr id="4" name="그림 3">
            <a:extLst>
              <a:ext uri="{FF2B5EF4-FFF2-40B4-BE49-F238E27FC236}">
                <a16:creationId xmlns:a16="http://schemas.microsoft.com/office/drawing/2014/main" id="{E0187068-290D-5884-B14C-023B672C6F1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4090" t="58628" r="5907" b="36722"/>
          <a:stretch/>
        </p:blipFill>
        <p:spPr>
          <a:xfrm>
            <a:off x="8518109" y="3954888"/>
            <a:ext cx="2873509" cy="627260"/>
          </a:xfrm>
          <a:prstGeom prst="rect">
            <a:avLst/>
          </a:prstGeom>
        </p:spPr>
      </p:pic>
    </p:spTree>
    <p:extLst>
      <p:ext uri="{BB962C8B-B14F-4D97-AF65-F5344CB8AC3E}">
        <p14:creationId xmlns:p14="http://schemas.microsoft.com/office/powerpoint/2010/main" val="18320099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50">
            <a:extLst>
              <a:ext uri="{FF2B5EF4-FFF2-40B4-BE49-F238E27FC236}">
                <a16:creationId xmlns:a16="http://schemas.microsoft.com/office/drawing/2014/main" id="{326D874F-1942-294B-90C5-320A68E69828}"/>
              </a:ext>
            </a:extLst>
          </p:cNvPr>
          <p:cNvSpPr txBox="1">
            <a:spLocks/>
          </p:cNvSpPr>
          <p:nvPr/>
        </p:nvSpPr>
        <p:spPr>
          <a:xfrm>
            <a:off x="4896975" y="2604924"/>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Part</a:t>
            </a:r>
            <a:r>
              <a:rPr lang="ko-KR" altLang="en-US" sz="180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rPr>
              <a:t> </a:t>
            </a: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4</a:t>
            </a:r>
            <a:endPar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endParaRPr>
          </a:p>
        </p:txBody>
      </p:sp>
      <p:sp>
        <p:nvSpPr>
          <p:cNvPr id="4" name="텍스트 개체 틀 4">
            <a:extLst>
              <a:ext uri="{FF2B5EF4-FFF2-40B4-BE49-F238E27FC236}">
                <a16:creationId xmlns:a16="http://schemas.microsoft.com/office/drawing/2014/main" id="{467AFA88-CA99-3047-90FB-F4C2473E60C3}"/>
              </a:ext>
            </a:extLst>
          </p:cNvPr>
          <p:cNvSpPr txBox="1">
            <a:spLocks/>
          </p:cNvSpPr>
          <p:nvPr/>
        </p:nvSpPr>
        <p:spPr>
          <a:xfrm>
            <a:off x="2027465" y="3119633"/>
            <a:ext cx="8366215" cy="6059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3400" spc="-150" dirty="0">
                <a:solidFill>
                  <a:srgbClr val="3A3A38"/>
                </a:solidFill>
                <a:latin typeface="Lato Black" panose="020F0502020204030203" pitchFamily="34" charset="0"/>
                <a:ea typeface="Lato Black" panose="020F0502020204030203" pitchFamily="34" charset="0"/>
                <a:cs typeface="Lato Black" panose="020F0502020204030203" pitchFamily="34" charset="0"/>
              </a:rPr>
              <a:t>BWA Demonstration</a:t>
            </a:r>
            <a:endParaRPr lang="ko-KR" altLang="en-US" sz="3400" spc="-150" dirty="0">
              <a:solidFill>
                <a:srgbClr val="3A3A38"/>
              </a:solidFill>
              <a:latin typeface="Lato Black" panose="020F0502020204030203" pitchFamily="34" charset="0"/>
              <a:ea typeface="S-Core Dream 5 Medium" panose="020B0503030302020204" pitchFamily="34" charset="-127"/>
              <a:cs typeface="Lato Black" panose="020F0502020204030203" pitchFamily="34" charset="0"/>
            </a:endParaRPr>
          </a:p>
        </p:txBody>
      </p:sp>
    </p:spTree>
    <p:extLst>
      <p:ext uri="{BB962C8B-B14F-4D97-AF65-F5344CB8AC3E}">
        <p14:creationId xmlns:p14="http://schemas.microsoft.com/office/powerpoint/2010/main" val="10926729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Demonstration</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Preparing demo – Communication with the hospital</a:t>
            </a:r>
          </a:p>
        </p:txBody>
      </p:sp>
      <p:sp>
        <p:nvSpPr>
          <p:cNvPr id="5" name="TextBox 4">
            <a:extLst>
              <a:ext uri="{FF2B5EF4-FFF2-40B4-BE49-F238E27FC236}">
                <a16:creationId xmlns:a16="http://schemas.microsoft.com/office/drawing/2014/main" id="{B5F7A463-134A-38A3-126D-AE332B0B1A5E}"/>
              </a:ext>
            </a:extLst>
          </p:cNvPr>
          <p:cNvSpPr txBox="1"/>
          <p:nvPr/>
        </p:nvSpPr>
        <p:spPr>
          <a:xfrm>
            <a:off x="569847" y="1462385"/>
            <a:ext cx="6024572" cy="1384995"/>
          </a:xfrm>
          <a:prstGeom prst="rect">
            <a:avLst/>
          </a:prstGeom>
          <a:noFill/>
        </p:spPr>
        <p:txBody>
          <a:bodyPr wrap="square" rtlCol="0">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lnSpc>
                <a:spcPct val="100000"/>
              </a:lnSpc>
              <a:buNone/>
            </a:pPr>
            <a:r>
              <a:rPr lang="en-US" altLang="ko-KR" sz="1400" b="1" dirty="0">
                <a:solidFill>
                  <a:schemeClr val="tx1">
                    <a:lumMod val="65000"/>
                    <a:lumOff val="35000"/>
                  </a:schemeClr>
                </a:solidFill>
                <a:latin typeface="lato light" panose="020F0502020204030203"/>
              </a:rPr>
              <a:t>Before demo, you might want to ask:</a:t>
            </a:r>
          </a:p>
          <a:p>
            <a:pPr marL="0" indent="0">
              <a:lnSpc>
                <a:spcPct val="100000"/>
              </a:lnSpc>
              <a:buNone/>
            </a:pPr>
            <a:endParaRPr lang="en-US" altLang="ko-KR" sz="1400" dirty="0">
              <a:solidFill>
                <a:schemeClr val="tx1">
                  <a:lumMod val="65000"/>
                  <a:lumOff val="35000"/>
                </a:schemeClr>
              </a:solidFill>
              <a:latin typeface="lato light" panose="020F0502020204030203"/>
            </a:endParaRPr>
          </a:p>
          <a:p>
            <a:pPr marL="342900" indent="-342900">
              <a:lnSpc>
                <a:spcPct val="100000"/>
              </a:lnSpc>
              <a:buAutoNum type="arabicPeriod"/>
            </a:pPr>
            <a:r>
              <a:rPr lang="en-US" altLang="ko-KR" sz="1400" dirty="0">
                <a:solidFill>
                  <a:schemeClr val="tx1">
                    <a:lumMod val="65000"/>
                    <a:lumOff val="35000"/>
                  </a:schemeClr>
                </a:solidFill>
                <a:latin typeface="lato light" panose="020F0502020204030203"/>
              </a:rPr>
              <a:t>How many bed (chairs) and patients do you have on the day of demo?</a:t>
            </a:r>
          </a:p>
          <a:p>
            <a:pPr marL="342900" indent="-342900">
              <a:lnSpc>
                <a:spcPct val="100000"/>
              </a:lnSpc>
              <a:buAutoNum type="arabicPeriod"/>
            </a:pPr>
            <a:r>
              <a:rPr lang="en-US" altLang="ko-KR" sz="1400" dirty="0">
                <a:solidFill>
                  <a:schemeClr val="tx1">
                    <a:lumMod val="65000"/>
                    <a:lumOff val="35000"/>
                  </a:schemeClr>
                </a:solidFill>
                <a:latin typeface="lato light" panose="020F0502020204030203"/>
              </a:rPr>
              <a:t>How many dialysis sessions you have a day and how long is the dialysis times?</a:t>
            </a:r>
          </a:p>
          <a:p>
            <a:pPr marL="342900" indent="-342900">
              <a:lnSpc>
                <a:spcPct val="100000"/>
              </a:lnSpc>
              <a:buAutoNum type="arabicPeriod"/>
            </a:pPr>
            <a:r>
              <a:rPr lang="en-US" altLang="ko-KR" sz="1400" dirty="0">
                <a:solidFill>
                  <a:schemeClr val="tx1">
                    <a:lumMod val="65000"/>
                    <a:lumOff val="35000"/>
                  </a:schemeClr>
                </a:solidFill>
                <a:latin typeface="lato light" panose="020F0502020204030203"/>
              </a:rPr>
              <a:t>What time is the first patient getting off?</a:t>
            </a:r>
          </a:p>
        </p:txBody>
      </p:sp>
      <p:sp>
        <p:nvSpPr>
          <p:cNvPr id="6" name="직사각형 5">
            <a:extLst>
              <a:ext uri="{FF2B5EF4-FFF2-40B4-BE49-F238E27FC236}">
                <a16:creationId xmlns:a16="http://schemas.microsoft.com/office/drawing/2014/main" id="{BCEF219C-676E-8AA1-75B2-2D8F755F69D6}"/>
              </a:ext>
            </a:extLst>
          </p:cNvPr>
          <p:cNvSpPr/>
          <p:nvPr/>
        </p:nvSpPr>
        <p:spPr>
          <a:xfrm>
            <a:off x="6888982" y="1462385"/>
            <a:ext cx="4293708" cy="4401205"/>
          </a:xfrm>
          <a:prstGeom prst="rect">
            <a:avLst/>
          </a:prstGeom>
        </p:spPr>
        <p:txBody>
          <a:bodyPr wrap="square">
            <a:spAutoFit/>
          </a:bodyPr>
          <a:lstStyle/>
          <a:p>
            <a:pPr algn="just"/>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Reassure that professionals are going to be at the demo measuring all the patients and then giving a briefing about all the patient results. </a:t>
            </a:r>
          </a:p>
          <a:p>
            <a:pPr algn="just"/>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Sometimes they think measurement being done before dialysis, but please let them know it should be measured after dialysis. Discuss when arrange visiting time.</a:t>
            </a:r>
          </a:p>
          <a:p>
            <a:pPr algn="just"/>
            <a:endPar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endParaRPr>
          </a:p>
          <a:p>
            <a:pPr algn="just"/>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Also make sure </a:t>
            </a:r>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the nurses on duty are informed </a:t>
            </a:r>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that </a:t>
            </a:r>
            <a:r>
              <a:rPr lang="en-US" altLang="ko-KR" sz="1400" dirty="0" err="1">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InBody</a:t>
            </a:r>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 staff are coming and can inform the patients there will be measuring a device to check their fluid status post-dialysis. </a:t>
            </a:r>
          </a:p>
          <a:p>
            <a:pPr algn="just"/>
            <a:endPar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endParaRPr>
          </a:p>
          <a:p>
            <a:pPr algn="just"/>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Patients do not want to stay long, so for successful demo</a:t>
            </a:r>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 making patients pleasant and cooperative is also very important</a:t>
            </a:r>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 and they provide information to you than you expect (condition, concern..)</a:t>
            </a:r>
          </a:p>
          <a:p>
            <a:pPr algn="just"/>
            <a:endPar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endParaRPr>
          </a:p>
          <a:p>
            <a:pPr algn="just"/>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If time allows, you may consider to </a:t>
            </a:r>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put notice onto bulletin 2-3 days before</a:t>
            </a:r>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 or put banner so the patients are aware of that we are providing the test. </a:t>
            </a:r>
          </a:p>
        </p:txBody>
      </p:sp>
      <p:sp>
        <p:nvSpPr>
          <p:cNvPr id="7" name="직사각형 6">
            <a:extLst>
              <a:ext uri="{FF2B5EF4-FFF2-40B4-BE49-F238E27FC236}">
                <a16:creationId xmlns:a16="http://schemas.microsoft.com/office/drawing/2014/main" id="{C65A9242-E71A-5848-8E48-3BB8CB5E8F97}"/>
              </a:ext>
            </a:extLst>
          </p:cNvPr>
          <p:cNvSpPr/>
          <p:nvPr/>
        </p:nvSpPr>
        <p:spPr>
          <a:xfrm>
            <a:off x="567230" y="3377422"/>
            <a:ext cx="6321752" cy="954107"/>
          </a:xfrm>
          <a:prstGeom prst="rect">
            <a:avLst/>
          </a:prstGeom>
        </p:spPr>
        <p:txBody>
          <a:bodyPr wrap="square">
            <a:spAutoFit/>
          </a:bodyPr>
          <a:lstStyle/>
          <a:p>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Before demo, you might want to:</a:t>
            </a:r>
          </a:p>
          <a:p>
            <a:endPar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endParaRPr>
          </a:p>
          <a:p>
            <a:r>
              <a:rPr lang="en-US" altLang="ko-KR" sz="1400"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Put the reminded note at the common area so patients feel they are being value and preparing the transportation 10-15 min later than the usual timing.</a:t>
            </a:r>
          </a:p>
        </p:txBody>
      </p:sp>
      <p:sp>
        <p:nvSpPr>
          <p:cNvPr id="8" name="직사각형 7">
            <a:extLst>
              <a:ext uri="{FF2B5EF4-FFF2-40B4-BE49-F238E27FC236}">
                <a16:creationId xmlns:a16="http://schemas.microsoft.com/office/drawing/2014/main" id="{AF095FE2-6FE0-3049-3211-A5662DE489AB}"/>
              </a:ext>
            </a:extLst>
          </p:cNvPr>
          <p:cNvSpPr/>
          <p:nvPr/>
        </p:nvSpPr>
        <p:spPr>
          <a:xfrm>
            <a:off x="567229" y="5281867"/>
            <a:ext cx="6176541" cy="769441"/>
          </a:xfrm>
          <a:prstGeom prst="rect">
            <a:avLst/>
          </a:prstGeom>
          <a:solidFill>
            <a:schemeClr val="bg1">
              <a:lumMod val="95000"/>
            </a:schemeClr>
          </a:solidFill>
        </p:spPr>
        <p:txBody>
          <a:bodyPr wrap="square">
            <a:spAutoFit/>
          </a:bodyPr>
          <a:lstStyle/>
          <a:p>
            <a:r>
              <a:rPr lang="ko-KR" altLang="en-US" sz="1100" dirty="0"/>
              <a:t>Usually they get HD with isolation environment because it's contagious. </a:t>
            </a:r>
            <a:endParaRPr lang="en-US" altLang="ko-KR" sz="1100" dirty="0"/>
          </a:p>
          <a:p>
            <a:r>
              <a:rPr lang="en-US" altLang="ko-KR" sz="1100" dirty="0"/>
              <a:t>W</a:t>
            </a:r>
            <a:r>
              <a:rPr lang="ko-KR" altLang="en-US" sz="1100" dirty="0"/>
              <a:t>e are not trying to test Hep+/HIV+ patients unless there's an approval from doctor, and in case that we need to test, then we use protective materials for ourselves (just in case that blood may be stained) use adhesive electrodes and sanitise the device before and after the measurement. </a:t>
            </a:r>
          </a:p>
        </p:txBody>
      </p:sp>
      <p:sp>
        <p:nvSpPr>
          <p:cNvPr id="9" name="직사각형 8">
            <a:extLst>
              <a:ext uri="{FF2B5EF4-FFF2-40B4-BE49-F238E27FC236}">
                <a16:creationId xmlns:a16="http://schemas.microsoft.com/office/drawing/2014/main" id="{A169FD19-25E2-82A4-961C-95B021C31731}"/>
              </a:ext>
            </a:extLst>
          </p:cNvPr>
          <p:cNvSpPr/>
          <p:nvPr/>
        </p:nvSpPr>
        <p:spPr>
          <a:xfrm>
            <a:off x="567230" y="4547337"/>
            <a:ext cx="6321752" cy="738664"/>
          </a:xfrm>
          <a:prstGeom prst="rect">
            <a:avLst/>
          </a:prstGeom>
        </p:spPr>
        <p:txBody>
          <a:bodyPr wrap="square">
            <a:spAutoFit/>
          </a:bodyPr>
          <a:lstStyle/>
          <a:p>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Just in Case</a:t>
            </a:r>
          </a:p>
          <a:p>
            <a:endPar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endParaRPr>
          </a:p>
          <a:p>
            <a:r>
              <a:rPr lang="en-US" altLang="ko-KR" sz="1400" dirty="0">
                <a:solidFill>
                  <a:schemeClr val="tx1">
                    <a:lumMod val="65000"/>
                    <a:lumOff val="35000"/>
                  </a:schemeClr>
                </a:solidFill>
              </a:rPr>
              <a:t>Check if there’s Hepatitis positive &amp; HIV patients</a:t>
            </a:r>
          </a:p>
        </p:txBody>
      </p:sp>
    </p:spTree>
    <p:extLst>
      <p:ext uri="{BB962C8B-B14F-4D97-AF65-F5344CB8AC3E}">
        <p14:creationId xmlns:p14="http://schemas.microsoft.com/office/powerpoint/2010/main" val="16326971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Demonstration</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Check list</a:t>
            </a:r>
          </a:p>
        </p:txBody>
      </p:sp>
      <p:pic>
        <p:nvPicPr>
          <p:cNvPr id="10" name="그림 9">
            <a:extLst>
              <a:ext uri="{FF2B5EF4-FFF2-40B4-BE49-F238E27FC236}">
                <a16:creationId xmlns:a16="http://schemas.microsoft.com/office/drawing/2014/main" id="{9EE7FBF0-3B49-4B7A-4150-A4D565941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92496" y="4538334"/>
            <a:ext cx="1930400" cy="1085850"/>
          </a:xfrm>
          <a:prstGeom prst="rect">
            <a:avLst/>
          </a:prstGeom>
        </p:spPr>
      </p:pic>
      <p:pic>
        <p:nvPicPr>
          <p:cNvPr id="11" name="그림 10">
            <a:extLst>
              <a:ext uri="{FF2B5EF4-FFF2-40B4-BE49-F238E27FC236}">
                <a16:creationId xmlns:a16="http://schemas.microsoft.com/office/drawing/2014/main" id="{50E85AB6-0F1D-8394-9EF0-CA4BF1A8D80B}"/>
              </a:ext>
            </a:extLst>
          </p:cNvPr>
          <p:cNvPicPr>
            <a:picLocks noChangeAspect="1"/>
          </p:cNvPicPr>
          <p:nvPr/>
        </p:nvPicPr>
        <p:blipFill>
          <a:blip r:embed="rId3"/>
          <a:stretch>
            <a:fillRect/>
          </a:stretch>
        </p:blipFill>
        <p:spPr>
          <a:xfrm>
            <a:off x="634429" y="1526249"/>
            <a:ext cx="5902652" cy="1007415"/>
          </a:xfrm>
          <a:prstGeom prst="rect">
            <a:avLst/>
          </a:prstGeom>
          <a:effectLst>
            <a:outerShdw blurRad="50800" dist="38100" dir="2700000" algn="tl" rotWithShape="0">
              <a:prstClr val="black">
                <a:alpha val="40000"/>
              </a:prstClr>
            </a:outerShdw>
          </a:effectLst>
        </p:spPr>
      </p:pic>
      <p:pic>
        <p:nvPicPr>
          <p:cNvPr id="12" name="그림 11">
            <a:extLst>
              <a:ext uri="{FF2B5EF4-FFF2-40B4-BE49-F238E27FC236}">
                <a16:creationId xmlns:a16="http://schemas.microsoft.com/office/drawing/2014/main" id="{5042E5E9-4811-DE04-3DD0-91D14A6CE0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06650" y="3158423"/>
            <a:ext cx="1128984" cy="797737"/>
          </a:xfrm>
          <a:prstGeom prst="rect">
            <a:avLst/>
          </a:prstGeom>
        </p:spPr>
      </p:pic>
      <p:pic>
        <p:nvPicPr>
          <p:cNvPr id="13" name="그림 12">
            <a:extLst>
              <a:ext uri="{FF2B5EF4-FFF2-40B4-BE49-F238E27FC236}">
                <a16:creationId xmlns:a16="http://schemas.microsoft.com/office/drawing/2014/main" id="{D3AD0D3F-3161-D6DF-CAFE-ACF766D294BB}"/>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49338" y="4315138"/>
            <a:ext cx="1232659" cy="1195372"/>
          </a:xfrm>
          <a:prstGeom prst="rect">
            <a:avLst/>
          </a:prstGeom>
        </p:spPr>
      </p:pic>
      <p:pic>
        <p:nvPicPr>
          <p:cNvPr id="14" name="그림 13">
            <a:extLst>
              <a:ext uri="{FF2B5EF4-FFF2-40B4-BE49-F238E27FC236}">
                <a16:creationId xmlns:a16="http://schemas.microsoft.com/office/drawing/2014/main" id="{00A1A09B-7DDF-FE1E-CA52-353B3E23CC58}"/>
              </a:ext>
            </a:extLst>
          </p:cNvPr>
          <p:cNvPicPr>
            <a:picLocks noChangeAspect="1"/>
          </p:cNvPicPr>
          <p:nvPr/>
        </p:nvPicPr>
        <p:blipFill>
          <a:blip r:embed="rId6"/>
          <a:stretch>
            <a:fillRect/>
          </a:stretch>
        </p:blipFill>
        <p:spPr>
          <a:xfrm>
            <a:off x="3541806" y="2896774"/>
            <a:ext cx="1209157" cy="771504"/>
          </a:xfrm>
          <a:prstGeom prst="rect">
            <a:avLst/>
          </a:prstGeom>
        </p:spPr>
      </p:pic>
      <p:pic>
        <p:nvPicPr>
          <p:cNvPr id="15" name="그림 14">
            <a:extLst>
              <a:ext uri="{FF2B5EF4-FFF2-40B4-BE49-F238E27FC236}">
                <a16:creationId xmlns:a16="http://schemas.microsoft.com/office/drawing/2014/main" id="{C7126474-7048-86EF-8374-AF7966D15DD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30221" y="2875423"/>
            <a:ext cx="1396297" cy="1396297"/>
          </a:xfrm>
          <a:prstGeom prst="rect">
            <a:avLst/>
          </a:prstGeom>
        </p:spPr>
      </p:pic>
      <p:pic>
        <p:nvPicPr>
          <p:cNvPr id="16" name="그림 15">
            <a:extLst>
              <a:ext uri="{FF2B5EF4-FFF2-40B4-BE49-F238E27FC236}">
                <a16:creationId xmlns:a16="http://schemas.microsoft.com/office/drawing/2014/main" id="{66BD63D4-91CE-57C7-EB39-78A9B9C4C9BB}"/>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0" b="100000" l="0" r="100000"/>
                    </a14:imgEffect>
                  </a14:imgLayer>
                </a14:imgProps>
              </a:ext>
            </a:extLst>
          </a:blip>
          <a:stretch>
            <a:fillRect/>
          </a:stretch>
        </p:blipFill>
        <p:spPr>
          <a:xfrm>
            <a:off x="5490609" y="3156690"/>
            <a:ext cx="1542161" cy="268948"/>
          </a:xfrm>
          <a:prstGeom prst="rect">
            <a:avLst/>
          </a:prstGeom>
        </p:spPr>
      </p:pic>
      <p:pic>
        <p:nvPicPr>
          <p:cNvPr id="17" name="그림 16">
            <a:extLst>
              <a:ext uri="{FF2B5EF4-FFF2-40B4-BE49-F238E27FC236}">
                <a16:creationId xmlns:a16="http://schemas.microsoft.com/office/drawing/2014/main" id="{622D833B-20EE-462F-DA45-23EEAE727F64}"/>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0" b="100000" l="0" r="100000"/>
                    </a14:imgEffect>
                  </a14:imgLayer>
                </a14:imgProps>
              </a:ext>
            </a:extLst>
          </a:blip>
          <a:stretch>
            <a:fillRect/>
          </a:stretch>
        </p:blipFill>
        <p:spPr>
          <a:xfrm>
            <a:off x="5490609" y="3510129"/>
            <a:ext cx="1542161" cy="194390"/>
          </a:xfrm>
          <a:prstGeom prst="rect">
            <a:avLst/>
          </a:prstGeom>
        </p:spPr>
      </p:pic>
      <p:pic>
        <p:nvPicPr>
          <p:cNvPr id="18" name="그림 17">
            <a:extLst>
              <a:ext uri="{FF2B5EF4-FFF2-40B4-BE49-F238E27FC236}">
                <a16:creationId xmlns:a16="http://schemas.microsoft.com/office/drawing/2014/main" id="{E3917335-AD43-D999-A797-9BAC32D47445}"/>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0" b="100000" l="0" r="100000">
                        <a14:foregroundMark x1="94243" y1="32308" x2="94243" y2="32308"/>
                      </a14:backgroundRemoval>
                    </a14:imgEffect>
                  </a14:imgLayer>
                </a14:imgProps>
              </a:ext>
            </a:extLst>
          </a:blip>
          <a:stretch>
            <a:fillRect/>
          </a:stretch>
        </p:blipFill>
        <p:spPr>
          <a:xfrm>
            <a:off x="5513905" y="3789645"/>
            <a:ext cx="1495569" cy="207274"/>
          </a:xfrm>
          <a:prstGeom prst="rect">
            <a:avLst/>
          </a:prstGeom>
        </p:spPr>
      </p:pic>
      <p:pic>
        <p:nvPicPr>
          <p:cNvPr id="19" name="그림 18">
            <a:extLst>
              <a:ext uri="{FF2B5EF4-FFF2-40B4-BE49-F238E27FC236}">
                <a16:creationId xmlns:a16="http://schemas.microsoft.com/office/drawing/2014/main" id="{1CE38001-DA2B-C032-5553-A719CC3DF35B}"/>
              </a:ext>
            </a:extLst>
          </p:cNvPr>
          <p:cNvPicPr>
            <a:picLocks noChangeAspect="1"/>
          </p:cNvPicPr>
          <p:nvPr/>
        </p:nvPicPr>
        <p:blipFill>
          <a:blip r:embed="rId14">
            <a:extLst>
              <a:ext uri="{BEBA8EAE-BF5A-486C-A8C5-ECC9F3942E4B}">
                <a14:imgProps xmlns:a14="http://schemas.microsoft.com/office/drawing/2010/main">
                  <a14:imgLayer r:embed="rId15">
                    <a14:imgEffect>
                      <a14:backgroundRemoval t="0" b="84314" l="0" r="96479"/>
                    </a14:imgEffect>
                  </a14:imgLayer>
                </a14:imgProps>
              </a:ext>
            </a:extLst>
          </a:blip>
          <a:stretch>
            <a:fillRect/>
          </a:stretch>
        </p:blipFill>
        <p:spPr>
          <a:xfrm>
            <a:off x="2449030" y="5582391"/>
            <a:ext cx="833273" cy="598548"/>
          </a:xfrm>
          <a:prstGeom prst="rect">
            <a:avLst/>
          </a:prstGeom>
        </p:spPr>
      </p:pic>
      <p:sp>
        <p:nvSpPr>
          <p:cNvPr id="20" name="직사각형 19">
            <a:extLst>
              <a:ext uri="{FF2B5EF4-FFF2-40B4-BE49-F238E27FC236}">
                <a16:creationId xmlns:a16="http://schemas.microsoft.com/office/drawing/2014/main" id="{3A38FB7E-53D2-195C-B8F5-99EEFA020A7F}"/>
              </a:ext>
            </a:extLst>
          </p:cNvPr>
          <p:cNvSpPr/>
          <p:nvPr/>
        </p:nvSpPr>
        <p:spPr>
          <a:xfrm>
            <a:off x="7100753" y="333058"/>
            <a:ext cx="3866988" cy="307777"/>
          </a:xfrm>
          <a:prstGeom prst="rect">
            <a:avLst/>
          </a:prstGeom>
        </p:spPr>
        <p:txBody>
          <a:bodyPr wrap="square">
            <a:spAutoFit/>
          </a:bodyPr>
          <a:lstStyle/>
          <a:p>
            <a:pPr algn="just"/>
            <a:r>
              <a:rPr lang="en-US" altLang="ko-KR" sz="1400" b="1" dirty="0">
                <a:solidFill>
                  <a:schemeClr val="tx1">
                    <a:lumMod val="65000"/>
                    <a:lumOff val="35000"/>
                  </a:schemeClr>
                </a:solidFill>
                <a:latin typeface="lato light" panose="020F0502020204030203"/>
                <a:ea typeface="Arial Unicode MS" panose="020B0604020202020204" pitchFamily="50" charset="-127"/>
                <a:cs typeface="Arial Unicode MS" panose="020B0604020202020204" pitchFamily="50" charset="-127"/>
              </a:rPr>
              <a:t>Make sure you have prepared the following</a:t>
            </a:r>
          </a:p>
        </p:txBody>
      </p:sp>
      <p:sp>
        <p:nvSpPr>
          <p:cNvPr id="21" name="TextBox 20">
            <a:extLst>
              <a:ext uri="{FF2B5EF4-FFF2-40B4-BE49-F238E27FC236}">
                <a16:creationId xmlns:a16="http://schemas.microsoft.com/office/drawing/2014/main" id="{4169F02B-6971-4330-B247-947A707E146E}"/>
              </a:ext>
            </a:extLst>
          </p:cNvPr>
          <p:cNvSpPr txBox="1"/>
          <p:nvPr/>
        </p:nvSpPr>
        <p:spPr>
          <a:xfrm>
            <a:off x="7504462" y="705653"/>
            <a:ext cx="1997815" cy="382092"/>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BWA 2.0 &amp; Cart</a:t>
            </a:r>
          </a:p>
        </p:txBody>
      </p:sp>
      <p:sp>
        <p:nvSpPr>
          <p:cNvPr id="22" name="직사각형 21">
            <a:extLst>
              <a:ext uri="{FF2B5EF4-FFF2-40B4-BE49-F238E27FC236}">
                <a16:creationId xmlns:a16="http://schemas.microsoft.com/office/drawing/2014/main" id="{0B36C0C8-C794-490F-BB99-9D7350C0A2FF}"/>
              </a:ext>
            </a:extLst>
          </p:cNvPr>
          <p:cNvSpPr/>
          <p:nvPr/>
        </p:nvSpPr>
        <p:spPr>
          <a:xfrm>
            <a:off x="7325381" y="863819"/>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22F9B6A5-938D-D2C9-D1C3-5D5BE7528833}"/>
              </a:ext>
            </a:extLst>
          </p:cNvPr>
          <p:cNvSpPr txBox="1"/>
          <p:nvPr/>
        </p:nvSpPr>
        <p:spPr>
          <a:xfrm>
            <a:off x="7504462" y="1116255"/>
            <a:ext cx="1997815"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err="1">
                <a:solidFill>
                  <a:schemeClr val="tx1">
                    <a:lumMod val="65000"/>
                    <a:lumOff val="35000"/>
                  </a:schemeClr>
                </a:solidFill>
                <a:latin typeface="+mn-lt"/>
              </a:rPr>
              <a:t>InBody</a:t>
            </a:r>
            <a:r>
              <a:rPr lang="en-US" altLang="ko-KR" sz="1400" dirty="0">
                <a:solidFill>
                  <a:schemeClr val="tx1">
                    <a:lumMod val="65000"/>
                    <a:lumOff val="35000"/>
                  </a:schemeClr>
                </a:solidFill>
                <a:latin typeface="+mn-lt"/>
              </a:rPr>
              <a:t> tissues</a:t>
            </a:r>
          </a:p>
        </p:txBody>
      </p:sp>
      <p:sp>
        <p:nvSpPr>
          <p:cNvPr id="24" name="직사각형 23">
            <a:extLst>
              <a:ext uri="{FF2B5EF4-FFF2-40B4-BE49-F238E27FC236}">
                <a16:creationId xmlns:a16="http://schemas.microsoft.com/office/drawing/2014/main" id="{3BF12710-07FF-521C-E0D2-5F95BD936350}"/>
              </a:ext>
            </a:extLst>
          </p:cNvPr>
          <p:cNvSpPr/>
          <p:nvPr/>
        </p:nvSpPr>
        <p:spPr>
          <a:xfrm>
            <a:off x="7325381" y="1291124"/>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27A00D70-412E-3AD4-40B5-2691B7A2DBE4}"/>
              </a:ext>
            </a:extLst>
          </p:cNvPr>
          <p:cNvSpPr txBox="1"/>
          <p:nvPr/>
        </p:nvSpPr>
        <p:spPr>
          <a:xfrm>
            <a:off x="7504462" y="1560263"/>
            <a:ext cx="1997815" cy="382092"/>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Charged battery</a:t>
            </a:r>
          </a:p>
        </p:txBody>
      </p:sp>
      <p:sp>
        <p:nvSpPr>
          <p:cNvPr id="26" name="직사각형 25">
            <a:extLst>
              <a:ext uri="{FF2B5EF4-FFF2-40B4-BE49-F238E27FC236}">
                <a16:creationId xmlns:a16="http://schemas.microsoft.com/office/drawing/2014/main" id="{EEBEE350-F513-01E6-1154-4FFE57DF4880}"/>
              </a:ext>
            </a:extLst>
          </p:cNvPr>
          <p:cNvSpPr/>
          <p:nvPr/>
        </p:nvSpPr>
        <p:spPr>
          <a:xfrm>
            <a:off x="7325381" y="1718429"/>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99612493-11D2-F560-91C8-3BC321BE1BC9}"/>
              </a:ext>
            </a:extLst>
          </p:cNvPr>
          <p:cNvSpPr txBox="1"/>
          <p:nvPr/>
        </p:nvSpPr>
        <p:spPr>
          <a:xfrm>
            <a:off x="7504462" y="1970865"/>
            <a:ext cx="1997815"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Lab top &amp; Printer</a:t>
            </a:r>
          </a:p>
        </p:txBody>
      </p:sp>
      <p:sp>
        <p:nvSpPr>
          <p:cNvPr id="28" name="직사각형 27">
            <a:extLst>
              <a:ext uri="{FF2B5EF4-FFF2-40B4-BE49-F238E27FC236}">
                <a16:creationId xmlns:a16="http://schemas.microsoft.com/office/drawing/2014/main" id="{768A0F92-5394-1066-0ACB-351F1DA5458C}"/>
              </a:ext>
            </a:extLst>
          </p:cNvPr>
          <p:cNvSpPr/>
          <p:nvPr/>
        </p:nvSpPr>
        <p:spPr>
          <a:xfrm>
            <a:off x="7325381" y="2145734"/>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5B1816A4-8A85-EF70-DB75-638688BA37FF}"/>
              </a:ext>
            </a:extLst>
          </p:cNvPr>
          <p:cNvSpPr txBox="1"/>
          <p:nvPr/>
        </p:nvSpPr>
        <p:spPr>
          <a:xfrm>
            <a:off x="7504462" y="2398170"/>
            <a:ext cx="1997815"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Blank paper</a:t>
            </a:r>
          </a:p>
        </p:txBody>
      </p:sp>
      <p:sp>
        <p:nvSpPr>
          <p:cNvPr id="30" name="직사각형 29">
            <a:extLst>
              <a:ext uri="{FF2B5EF4-FFF2-40B4-BE49-F238E27FC236}">
                <a16:creationId xmlns:a16="http://schemas.microsoft.com/office/drawing/2014/main" id="{8917D02E-21E4-82FF-2BE7-F54EA4786822}"/>
              </a:ext>
            </a:extLst>
          </p:cNvPr>
          <p:cNvSpPr/>
          <p:nvPr/>
        </p:nvSpPr>
        <p:spPr>
          <a:xfrm>
            <a:off x="7325381" y="2573039"/>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38CFE368-D0AD-70E4-4F0D-85856C52697F}"/>
              </a:ext>
            </a:extLst>
          </p:cNvPr>
          <p:cNvSpPr txBox="1"/>
          <p:nvPr/>
        </p:nvSpPr>
        <p:spPr>
          <a:xfrm>
            <a:off x="7504462" y="2825475"/>
            <a:ext cx="3303259"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Patient information list (Print out)</a:t>
            </a:r>
          </a:p>
        </p:txBody>
      </p:sp>
      <p:sp>
        <p:nvSpPr>
          <p:cNvPr id="32" name="직사각형 31">
            <a:extLst>
              <a:ext uri="{FF2B5EF4-FFF2-40B4-BE49-F238E27FC236}">
                <a16:creationId xmlns:a16="http://schemas.microsoft.com/office/drawing/2014/main" id="{0530EF7F-7534-95E7-EC65-6B5534E0279D}"/>
              </a:ext>
            </a:extLst>
          </p:cNvPr>
          <p:cNvSpPr/>
          <p:nvPr/>
        </p:nvSpPr>
        <p:spPr>
          <a:xfrm>
            <a:off x="7325381" y="3000344"/>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TextBox 32">
            <a:extLst>
              <a:ext uri="{FF2B5EF4-FFF2-40B4-BE49-F238E27FC236}">
                <a16:creationId xmlns:a16="http://schemas.microsoft.com/office/drawing/2014/main" id="{3159DA3D-2B7E-08D7-5505-5EC31A5310E7}"/>
              </a:ext>
            </a:extLst>
          </p:cNvPr>
          <p:cNvSpPr txBox="1"/>
          <p:nvPr/>
        </p:nvSpPr>
        <p:spPr>
          <a:xfrm>
            <a:off x="7504462" y="3252780"/>
            <a:ext cx="1997815"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1 clipboards</a:t>
            </a:r>
          </a:p>
        </p:txBody>
      </p:sp>
      <p:sp>
        <p:nvSpPr>
          <p:cNvPr id="34" name="직사각형 33">
            <a:extLst>
              <a:ext uri="{FF2B5EF4-FFF2-40B4-BE49-F238E27FC236}">
                <a16:creationId xmlns:a16="http://schemas.microsoft.com/office/drawing/2014/main" id="{10AB7AD1-83EF-D0C6-E7AA-E217DF876F16}"/>
              </a:ext>
            </a:extLst>
          </p:cNvPr>
          <p:cNvSpPr/>
          <p:nvPr/>
        </p:nvSpPr>
        <p:spPr>
          <a:xfrm>
            <a:off x="7325381" y="3427649"/>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CF0EFB9C-A269-81CD-D9DA-D26E46E4A40B}"/>
              </a:ext>
            </a:extLst>
          </p:cNvPr>
          <p:cNvSpPr txBox="1"/>
          <p:nvPr/>
        </p:nvSpPr>
        <p:spPr>
          <a:xfrm>
            <a:off x="7504462" y="3680085"/>
            <a:ext cx="2891779"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3 different colored markers</a:t>
            </a:r>
          </a:p>
        </p:txBody>
      </p:sp>
      <p:sp>
        <p:nvSpPr>
          <p:cNvPr id="36" name="직사각형 35">
            <a:extLst>
              <a:ext uri="{FF2B5EF4-FFF2-40B4-BE49-F238E27FC236}">
                <a16:creationId xmlns:a16="http://schemas.microsoft.com/office/drawing/2014/main" id="{143B15C9-90FF-4EAD-FF3A-D9A40FF21861}"/>
              </a:ext>
            </a:extLst>
          </p:cNvPr>
          <p:cNvSpPr/>
          <p:nvPr/>
        </p:nvSpPr>
        <p:spPr>
          <a:xfrm>
            <a:off x="7325381" y="3854954"/>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FE25101C-C70D-8FA4-31AF-D69EB886C7F0}"/>
              </a:ext>
            </a:extLst>
          </p:cNvPr>
          <p:cNvSpPr txBox="1"/>
          <p:nvPr/>
        </p:nvSpPr>
        <p:spPr>
          <a:xfrm>
            <a:off x="7504462" y="4107389"/>
            <a:ext cx="3303259"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err="1">
                <a:solidFill>
                  <a:schemeClr val="tx1">
                    <a:lumMod val="65000"/>
                    <a:lumOff val="35000"/>
                  </a:schemeClr>
                </a:solidFill>
                <a:latin typeface="+mn-lt"/>
              </a:rPr>
              <a:t>Lookin’Body</a:t>
            </a:r>
            <a:r>
              <a:rPr lang="en-US" altLang="ko-KR" sz="1400" dirty="0">
                <a:solidFill>
                  <a:schemeClr val="tx1">
                    <a:lumMod val="65000"/>
                    <a:lumOff val="35000"/>
                  </a:schemeClr>
                </a:solidFill>
                <a:latin typeface="+mn-lt"/>
              </a:rPr>
              <a:t> Software &amp; Dongle</a:t>
            </a:r>
          </a:p>
        </p:txBody>
      </p:sp>
      <p:sp>
        <p:nvSpPr>
          <p:cNvPr id="38" name="직사각형 37">
            <a:extLst>
              <a:ext uri="{FF2B5EF4-FFF2-40B4-BE49-F238E27FC236}">
                <a16:creationId xmlns:a16="http://schemas.microsoft.com/office/drawing/2014/main" id="{5A8A5C09-1136-56CA-4F47-B5877B17C24B}"/>
              </a:ext>
            </a:extLst>
          </p:cNvPr>
          <p:cNvSpPr/>
          <p:nvPr/>
        </p:nvSpPr>
        <p:spPr>
          <a:xfrm>
            <a:off x="7325381" y="4282258"/>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TextBox 38">
            <a:extLst>
              <a:ext uri="{FF2B5EF4-FFF2-40B4-BE49-F238E27FC236}">
                <a16:creationId xmlns:a16="http://schemas.microsoft.com/office/drawing/2014/main" id="{C1760FF7-8DCB-BF7A-0DBA-BC99F23CF1E4}"/>
              </a:ext>
            </a:extLst>
          </p:cNvPr>
          <p:cNvSpPr txBox="1"/>
          <p:nvPr/>
        </p:nvSpPr>
        <p:spPr>
          <a:xfrm>
            <a:off x="7504462" y="4546501"/>
            <a:ext cx="3303259"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Multi-adaptor</a:t>
            </a:r>
          </a:p>
        </p:txBody>
      </p:sp>
      <p:sp>
        <p:nvSpPr>
          <p:cNvPr id="40" name="직사각형 39">
            <a:extLst>
              <a:ext uri="{FF2B5EF4-FFF2-40B4-BE49-F238E27FC236}">
                <a16:creationId xmlns:a16="http://schemas.microsoft.com/office/drawing/2014/main" id="{1AF679FC-AF49-925E-9D9B-BC67D3CDC164}"/>
              </a:ext>
            </a:extLst>
          </p:cNvPr>
          <p:cNvSpPr/>
          <p:nvPr/>
        </p:nvSpPr>
        <p:spPr>
          <a:xfrm>
            <a:off x="7325381" y="4721370"/>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TextBox 40">
            <a:extLst>
              <a:ext uri="{FF2B5EF4-FFF2-40B4-BE49-F238E27FC236}">
                <a16:creationId xmlns:a16="http://schemas.microsoft.com/office/drawing/2014/main" id="{AE518F3D-F8ED-B359-6330-12B20FEB8AC4}"/>
              </a:ext>
            </a:extLst>
          </p:cNvPr>
          <p:cNvSpPr txBox="1"/>
          <p:nvPr/>
        </p:nvSpPr>
        <p:spPr>
          <a:xfrm>
            <a:off x="7504462" y="4993578"/>
            <a:ext cx="3303259" cy="372923"/>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a:t>
            </a:r>
            <a:r>
              <a:rPr lang="en-US" altLang="ko-KR" sz="1400" dirty="0" err="1">
                <a:solidFill>
                  <a:schemeClr val="tx1">
                    <a:lumMod val="65000"/>
                    <a:lumOff val="35000"/>
                  </a:schemeClr>
                </a:solidFill>
                <a:latin typeface="+mn-lt"/>
              </a:rPr>
              <a:t>InKids</a:t>
            </a:r>
            <a:r>
              <a:rPr lang="en-US" altLang="ko-KR" sz="1400" dirty="0">
                <a:solidFill>
                  <a:schemeClr val="tx1">
                    <a:lumMod val="65000"/>
                    <a:lumOff val="35000"/>
                  </a:schemeClr>
                </a:solidFill>
                <a:latin typeface="+mn-lt"/>
              </a:rPr>
              <a:t>)</a:t>
            </a:r>
          </a:p>
        </p:txBody>
      </p:sp>
      <p:sp>
        <p:nvSpPr>
          <p:cNvPr id="42" name="직사각형 41">
            <a:extLst>
              <a:ext uri="{FF2B5EF4-FFF2-40B4-BE49-F238E27FC236}">
                <a16:creationId xmlns:a16="http://schemas.microsoft.com/office/drawing/2014/main" id="{F750CE05-0F0B-E96A-E742-3FB2AB306A9D}"/>
              </a:ext>
            </a:extLst>
          </p:cNvPr>
          <p:cNvSpPr/>
          <p:nvPr/>
        </p:nvSpPr>
        <p:spPr>
          <a:xfrm>
            <a:off x="7325381" y="5147160"/>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a:extLst>
              <a:ext uri="{FF2B5EF4-FFF2-40B4-BE49-F238E27FC236}">
                <a16:creationId xmlns:a16="http://schemas.microsoft.com/office/drawing/2014/main" id="{FCC724E1-F78D-FEDC-0144-47D989FED866}"/>
              </a:ext>
            </a:extLst>
          </p:cNvPr>
          <p:cNvSpPr txBox="1"/>
          <p:nvPr/>
        </p:nvSpPr>
        <p:spPr>
          <a:xfrm>
            <a:off x="7504462" y="5362717"/>
            <a:ext cx="3303259"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(Anti Static Mat for standing posture)</a:t>
            </a:r>
          </a:p>
        </p:txBody>
      </p:sp>
      <p:sp>
        <p:nvSpPr>
          <p:cNvPr id="44" name="직사각형 43">
            <a:extLst>
              <a:ext uri="{FF2B5EF4-FFF2-40B4-BE49-F238E27FC236}">
                <a16:creationId xmlns:a16="http://schemas.microsoft.com/office/drawing/2014/main" id="{7C810A3E-BD96-DDEB-D0FD-A1B733BA2755}"/>
              </a:ext>
            </a:extLst>
          </p:cNvPr>
          <p:cNvSpPr/>
          <p:nvPr/>
        </p:nvSpPr>
        <p:spPr>
          <a:xfrm>
            <a:off x="7325381" y="5537586"/>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a:extLst>
              <a:ext uri="{FF2B5EF4-FFF2-40B4-BE49-F238E27FC236}">
                <a16:creationId xmlns:a16="http://schemas.microsoft.com/office/drawing/2014/main" id="{625561B0-68CE-E595-097C-2F8ECC14879B}"/>
              </a:ext>
            </a:extLst>
          </p:cNvPr>
          <p:cNvSpPr txBox="1"/>
          <p:nvPr/>
        </p:nvSpPr>
        <p:spPr>
          <a:xfrm>
            <a:off x="7504462" y="5778215"/>
            <a:ext cx="3303259" cy="415498"/>
          </a:xfrm>
          <a:prstGeom prst="rect">
            <a:avLst/>
          </a:prstGeom>
          <a:noFill/>
        </p:spPr>
        <p:txBody>
          <a:bodyPr wrap="square" rtlCol="0" anchor="ctr">
            <a:spAutoFit/>
          </a:bodyPr>
          <a:lstStyle>
            <a:defPPr>
              <a:defRPr lang="ko-KR"/>
            </a:defPPr>
            <a:lvl1pPr marL="171450" indent="-171450">
              <a:lnSpc>
                <a:spcPct val="150000"/>
              </a:lnSpc>
              <a:buFontTx/>
              <a:buChar char="-"/>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0" indent="0">
              <a:buNone/>
            </a:pPr>
            <a:r>
              <a:rPr lang="en-US" altLang="ko-KR" sz="1400" dirty="0">
                <a:solidFill>
                  <a:schemeClr val="tx1">
                    <a:lumMod val="65000"/>
                    <a:lumOff val="35000"/>
                  </a:schemeClr>
                </a:solidFill>
                <a:latin typeface="+mn-lt"/>
              </a:rPr>
              <a:t>(Sanitizer wipe for </a:t>
            </a:r>
            <a:r>
              <a:rPr lang="en-US" altLang="ko-KR" sz="1400" dirty="0" err="1">
                <a:solidFill>
                  <a:schemeClr val="tx1">
                    <a:lumMod val="65000"/>
                    <a:lumOff val="35000"/>
                  </a:schemeClr>
                </a:solidFill>
                <a:latin typeface="+mn-lt"/>
              </a:rPr>
              <a:t>Hep</a:t>
            </a:r>
            <a:r>
              <a:rPr lang="en-US" altLang="ko-KR" sz="1400" dirty="0">
                <a:solidFill>
                  <a:schemeClr val="tx1">
                    <a:lumMod val="65000"/>
                    <a:lumOff val="35000"/>
                  </a:schemeClr>
                </a:solidFill>
                <a:latin typeface="+mn-lt"/>
              </a:rPr>
              <a:t> &amp; HIV patients)</a:t>
            </a:r>
          </a:p>
        </p:txBody>
      </p:sp>
      <p:sp>
        <p:nvSpPr>
          <p:cNvPr id="46" name="직사각형 45">
            <a:extLst>
              <a:ext uri="{FF2B5EF4-FFF2-40B4-BE49-F238E27FC236}">
                <a16:creationId xmlns:a16="http://schemas.microsoft.com/office/drawing/2014/main" id="{8810B41D-219D-8062-E13C-7C43DF3E6C5C}"/>
              </a:ext>
            </a:extLst>
          </p:cNvPr>
          <p:cNvSpPr/>
          <p:nvPr/>
        </p:nvSpPr>
        <p:spPr>
          <a:xfrm>
            <a:off x="7325381" y="5953084"/>
            <a:ext cx="125741" cy="125741"/>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7" name="Picture 2" descr="키재는 신기한 온습도계 Inkids[인키즈] - New Lifestyle Store, FUNSHOP">
            <a:extLst>
              <a:ext uri="{FF2B5EF4-FFF2-40B4-BE49-F238E27FC236}">
                <a16:creationId xmlns:a16="http://schemas.microsoft.com/office/drawing/2014/main" id="{9CF7460B-3C4E-5951-8E5A-B511FAA83C7A}"/>
              </a:ext>
            </a:extLst>
          </p:cNvPr>
          <p:cNvPicPr>
            <a:picLocks noChangeAspect="1" noChangeArrowheads="1"/>
          </p:cNvPicPr>
          <p:nvPr/>
        </p:nvPicPr>
        <p:blipFill rotWithShape="1">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t="32340" b="30529"/>
          <a:stretch/>
        </p:blipFill>
        <p:spPr bwMode="auto">
          <a:xfrm rot="20915114">
            <a:off x="5089681" y="4703068"/>
            <a:ext cx="1643176" cy="610115"/>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descr="China 13A Plug 3 Way 3gang Universal Multi Adaptor with Switch ...">
            <a:extLst>
              <a:ext uri="{FF2B5EF4-FFF2-40B4-BE49-F238E27FC236}">
                <a16:creationId xmlns:a16="http://schemas.microsoft.com/office/drawing/2014/main" id="{67261EB0-784C-F8FC-8048-12E70701FDE0}"/>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924606" y="3265366"/>
            <a:ext cx="1501212" cy="1228264"/>
          </a:xfrm>
          <a:prstGeom prst="rect">
            <a:avLst/>
          </a:prstGeom>
          <a:noFill/>
          <a:extLst>
            <a:ext uri="{909E8E84-426E-40DD-AFC4-6F175D3DCCD1}">
              <a14:hiddenFill xmlns:a14="http://schemas.microsoft.com/office/drawing/2010/main">
                <a:solidFill>
                  <a:srgbClr val="FFFFFF"/>
                </a:solidFill>
              </a14:hiddenFill>
            </a:ext>
          </a:extLst>
        </p:spPr>
      </p:pic>
      <p:pic>
        <p:nvPicPr>
          <p:cNvPr id="49" name="그림 48" descr="스케치, 흑백이(가) 표시된 사진&#10;&#10;자동 생성된 설명">
            <a:extLst>
              <a:ext uri="{FF2B5EF4-FFF2-40B4-BE49-F238E27FC236}">
                <a16:creationId xmlns:a16="http://schemas.microsoft.com/office/drawing/2014/main" id="{F954F399-FEE6-7D00-03CB-9414B11F9BF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90393" y="2578612"/>
            <a:ext cx="2220323" cy="3830036"/>
          </a:xfrm>
          <a:prstGeom prst="rect">
            <a:avLst/>
          </a:prstGeom>
        </p:spPr>
      </p:pic>
    </p:spTree>
    <p:extLst>
      <p:ext uri="{BB962C8B-B14F-4D97-AF65-F5344CB8AC3E}">
        <p14:creationId xmlns:p14="http://schemas.microsoft.com/office/powerpoint/2010/main" val="29847321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Demonstration</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Measurement</a:t>
            </a:r>
          </a:p>
        </p:txBody>
      </p:sp>
      <p:cxnSp>
        <p:nvCxnSpPr>
          <p:cNvPr id="5" name="직선 화살표 연결선 4">
            <a:extLst>
              <a:ext uri="{FF2B5EF4-FFF2-40B4-BE49-F238E27FC236}">
                <a16:creationId xmlns:a16="http://schemas.microsoft.com/office/drawing/2014/main" id="{836248BE-E8C7-0870-779B-A3B15F214F1D}"/>
              </a:ext>
            </a:extLst>
          </p:cNvPr>
          <p:cNvCxnSpPr/>
          <p:nvPr/>
        </p:nvCxnSpPr>
        <p:spPr>
          <a:xfrm>
            <a:off x="3473633" y="2616183"/>
            <a:ext cx="7807969" cy="48577"/>
          </a:xfrm>
          <a:prstGeom prst="straightConnector1">
            <a:avLst/>
          </a:prstGeom>
          <a:ln w="38100">
            <a:solidFill>
              <a:srgbClr val="B50937"/>
            </a:solidFill>
            <a:tailEnd type="triangle"/>
          </a:ln>
        </p:spPr>
        <p:style>
          <a:lnRef idx="1">
            <a:schemeClr val="accent1"/>
          </a:lnRef>
          <a:fillRef idx="0">
            <a:schemeClr val="accent1"/>
          </a:fillRef>
          <a:effectRef idx="0">
            <a:schemeClr val="accent1"/>
          </a:effectRef>
          <a:fontRef idx="minor">
            <a:schemeClr val="tx1"/>
          </a:fontRef>
        </p:style>
      </p:cxnSp>
      <p:sp>
        <p:nvSpPr>
          <p:cNvPr id="6" name="모서리가 둥근 직사각형 32">
            <a:extLst>
              <a:ext uri="{FF2B5EF4-FFF2-40B4-BE49-F238E27FC236}">
                <a16:creationId xmlns:a16="http://schemas.microsoft.com/office/drawing/2014/main" id="{0DF43902-2705-F367-18D5-D46B01E88D36}"/>
              </a:ext>
            </a:extLst>
          </p:cNvPr>
          <p:cNvSpPr/>
          <p:nvPr/>
        </p:nvSpPr>
        <p:spPr>
          <a:xfrm>
            <a:off x="3966429" y="3031215"/>
            <a:ext cx="1705199" cy="1428391"/>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Ask symptoms, and write it down in the ‘comments’</a:t>
            </a:r>
          </a:p>
          <a:p>
            <a:pPr algn="ctr"/>
            <a:endParaRPr lang="en-US" altLang="ko-KR" sz="1200" dirty="0">
              <a:solidFill>
                <a:schemeClr val="tx1">
                  <a:lumMod val="75000"/>
                  <a:lumOff val="25000"/>
                </a:schemeClr>
              </a:solidFill>
            </a:endParaRPr>
          </a:p>
          <a:p>
            <a:pPr algn="ctr"/>
            <a:r>
              <a:rPr lang="en-US" altLang="ko-KR" sz="1200" dirty="0">
                <a:solidFill>
                  <a:schemeClr val="tx1">
                    <a:lumMod val="75000"/>
                    <a:lumOff val="25000"/>
                  </a:schemeClr>
                </a:solidFill>
              </a:rPr>
              <a:t>These help when do briefing</a:t>
            </a:r>
            <a:endParaRPr lang="ko-KR" altLang="en-US" sz="1200" dirty="0">
              <a:solidFill>
                <a:schemeClr val="tx1">
                  <a:lumMod val="75000"/>
                  <a:lumOff val="25000"/>
                </a:schemeClr>
              </a:solidFill>
            </a:endParaRPr>
          </a:p>
        </p:txBody>
      </p:sp>
      <p:sp>
        <p:nvSpPr>
          <p:cNvPr id="7" name="모서리가 둥근 직사각형 31">
            <a:extLst>
              <a:ext uri="{FF2B5EF4-FFF2-40B4-BE49-F238E27FC236}">
                <a16:creationId xmlns:a16="http://schemas.microsoft.com/office/drawing/2014/main" id="{201EDAAE-1353-426E-AC76-DD8103EA0753}"/>
              </a:ext>
            </a:extLst>
          </p:cNvPr>
          <p:cNvSpPr/>
          <p:nvPr/>
        </p:nvSpPr>
        <p:spPr>
          <a:xfrm>
            <a:off x="514916" y="2985156"/>
            <a:ext cx="1284068" cy="900270"/>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ea typeface="Arial Unicode MS" panose="020B0604020202020204" pitchFamily="50" charset="-127"/>
                <a:cs typeface="Arial Unicode MS" panose="020B0604020202020204" pitchFamily="50" charset="-127"/>
              </a:rPr>
              <a:t>Explain to the patient again</a:t>
            </a:r>
            <a:endParaRPr lang="ko-KR" altLang="en-US" sz="1200" dirty="0">
              <a:solidFill>
                <a:schemeClr val="tx1">
                  <a:lumMod val="75000"/>
                  <a:lumOff val="25000"/>
                </a:schemeClr>
              </a:solidFill>
              <a:ea typeface="Arial Unicode MS" panose="020B0604020202020204" pitchFamily="50" charset="-127"/>
              <a:cs typeface="Arial Unicode MS" panose="020B0604020202020204" pitchFamily="50" charset="-127"/>
            </a:endParaRPr>
          </a:p>
        </p:txBody>
      </p:sp>
      <p:sp>
        <p:nvSpPr>
          <p:cNvPr id="8" name="모서리가 둥근 직사각형 39">
            <a:extLst>
              <a:ext uri="{FF2B5EF4-FFF2-40B4-BE49-F238E27FC236}">
                <a16:creationId xmlns:a16="http://schemas.microsoft.com/office/drawing/2014/main" id="{079CCC77-6878-3209-2244-DECEF51578C0}"/>
              </a:ext>
            </a:extLst>
          </p:cNvPr>
          <p:cNvSpPr/>
          <p:nvPr/>
        </p:nvSpPr>
        <p:spPr>
          <a:xfrm>
            <a:off x="6008665" y="3017853"/>
            <a:ext cx="2249719" cy="868347"/>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Bed should be in supine position, </a:t>
            </a:r>
          </a:p>
          <a:p>
            <a:pPr algn="ctr"/>
            <a:r>
              <a:rPr lang="en-US" altLang="ko-KR" sz="1200" dirty="0">
                <a:solidFill>
                  <a:schemeClr val="tx1">
                    <a:lumMod val="75000"/>
                    <a:lumOff val="25000"/>
                  </a:schemeClr>
                </a:solidFill>
              </a:rPr>
              <a:t>Wipe the fingers and ankles with </a:t>
            </a:r>
            <a:r>
              <a:rPr lang="en-US" altLang="ko-KR" sz="1200" dirty="0" err="1">
                <a:solidFill>
                  <a:schemeClr val="tx1">
                    <a:lumMod val="75000"/>
                    <a:lumOff val="25000"/>
                  </a:schemeClr>
                </a:solidFill>
              </a:rPr>
              <a:t>InBody</a:t>
            </a:r>
            <a:r>
              <a:rPr lang="en-US" altLang="ko-KR" sz="1200" dirty="0">
                <a:solidFill>
                  <a:schemeClr val="tx1">
                    <a:lumMod val="75000"/>
                    <a:lumOff val="25000"/>
                  </a:schemeClr>
                </a:solidFill>
              </a:rPr>
              <a:t> Tissue</a:t>
            </a:r>
          </a:p>
        </p:txBody>
      </p:sp>
      <p:sp>
        <p:nvSpPr>
          <p:cNvPr id="9" name="모서리가 둥근 직사각형 42">
            <a:extLst>
              <a:ext uri="{FF2B5EF4-FFF2-40B4-BE49-F238E27FC236}">
                <a16:creationId xmlns:a16="http://schemas.microsoft.com/office/drawing/2014/main" id="{E1694861-140D-166E-2705-F01DDD22D2B6}"/>
              </a:ext>
            </a:extLst>
          </p:cNvPr>
          <p:cNvSpPr/>
          <p:nvPr/>
        </p:nvSpPr>
        <p:spPr>
          <a:xfrm>
            <a:off x="8615651" y="3070335"/>
            <a:ext cx="2128289" cy="815091"/>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Apply BWA 2.0 electrodes</a:t>
            </a:r>
          </a:p>
        </p:txBody>
      </p:sp>
      <p:cxnSp>
        <p:nvCxnSpPr>
          <p:cNvPr id="50" name="직선 화살표 연결선 49">
            <a:extLst>
              <a:ext uri="{FF2B5EF4-FFF2-40B4-BE49-F238E27FC236}">
                <a16:creationId xmlns:a16="http://schemas.microsoft.com/office/drawing/2014/main" id="{9A4FFD94-FD25-EB55-5200-3FC2CE5DF3AA}"/>
              </a:ext>
            </a:extLst>
          </p:cNvPr>
          <p:cNvCxnSpPr/>
          <p:nvPr/>
        </p:nvCxnSpPr>
        <p:spPr>
          <a:xfrm>
            <a:off x="128016" y="5148387"/>
            <a:ext cx="9770005" cy="0"/>
          </a:xfrm>
          <a:prstGeom prst="straightConnector1">
            <a:avLst/>
          </a:prstGeom>
          <a:ln w="38100">
            <a:solidFill>
              <a:srgbClr val="B50937"/>
            </a:solidFill>
            <a:tailEnd type="triangle"/>
          </a:ln>
        </p:spPr>
        <p:style>
          <a:lnRef idx="1">
            <a:schemeClr val="accent1"/>
          </a:lnRef>
          <a:fillRef idx="0">
            <a:schemeClr val="accent1"/>
          </a:fillRef>
          <a:effectRef idx="0">
            <a:schemeClr val="accent1"/>
          </a:effectRef>
          <a:fontRef idx="minor">
            <a:schemeClr val="tx1"/>
          </a:fontRef>
        </p:style>
      </p:cxnSp>
      <p:pic>
        <p:nvPicPr>
          <p:cNvPr id="51" name="그림 50">
            <a:extLst>
              <a:ext uri="{FF2B5EF4-FFF2-40B4-BE49-F238E27FC236}">
                <a16:creationId xmlns:a16="http://schemas.microsoft.com/office/drawing/2014/main" id="{AB2D2FC1-7CB8-0267-96F4-F610CD7F42DA}"/>
              </a:ext>
            </a:extLst>
          </p:cNvPr>
          <p:cNvPicPr>
            <a:picLocks noChangeAspect="1"/>
          </p:cNvPicPr>
          <p:nvPr/>
        </p:nvPicPr>
        <p:blipFill>
          <a:blip r:embed="rId2"/>
          <a:stretch>
            <a:fillRect/>
          </a:stretch>
        </p:blipFill>
        <p:spPr>
          <a:xfrm>
            <a:off x="2857763" y="4638238"/>
            <a:ext cx="1626721" cy="913196"/>
          </a:xfrm>
          <a:prstGeom prst="rect">
            <a:avLst/>
          </a:prstGeom>
        </p:spPr>
      </p:pic>
      <p:sp>
        <p:nvSpPr>
          <p:cNvPr id="52" name="모서리가 둥근 직사각형 43">
            <a:extLst>
              <a:ext uri="{FF2B5EF4-FFF2-40B4-BE49-F238E27FC236}">
                <a16:creationId xmlns:a16="http://schemas.microsoft.com/office/drawing/2014/main" id="{407DF1B1-CF08-A920-A199-96B6B0A3729D}"/>
              </a:ext>
            </a:extLst>
          </p:cNvPr>
          <p:cNvSpPr/>
          <p:nvPr/>
        </p:nvSpPr>
        <p:spPr>
          <a:xfrm>
            <a:off x="1144961" y="5583910"/>
            <a:ext cx="1284068" cy="756888"/>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Input patient information</a:t>
            </a:r>
            <a:endParaRPr lang="ko-KR" altLang="en-US" sz="1200" dirty="0">
              <a:solidFill>
                <a:schemeClr val="tx1">
                  <a:lumMod val="75000"/>
                  <a:lumOff val="25000"/>
                </a:schemeClr>
              </a:solidFill>
            </a:endParaRPr>
          </a:p>
        </p:txBody>
      </p:sp>
      <p:sp>
        <p:nvSpPr>
          <p:cNvPr id="53" name="모서리가 둥근 직사각형 45">
            <a:extLst>
              <a:ext uri="{FF2B5EF4-FFF2-40B4-BE49-F238E27FC236}">
                <a16:creationId xmlns:a16="http://schemas.microsoft.com/office/drawing/2014/main" id="{4EDCDA57-5989-C3E9-E753-6E27E580BE2D}"/>
              </a:ext>
            </a:extLst>
          </p:cNvPr>
          <p:cNvSpPr/>
          <p:nvPr/>
        </p:nvSpPr>
        <p:spPr>
          <a:xfrm>
            <a:off x="4871199" y="5583910"/>
            <a:ext cx="2333364" cy="756888"/>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Body should not touch any metal, each part should be separated</a:t>
            </a:r>
            <a:endParaRPr lang="ko-KR" altLang="en-US" sz="1200" dirty="0">
              <a:solidFill>
                <a:schemeClr val="tx1">
                  <a:lumMod val="75000"/>
                  <a:lumOff val="25000"/>
                </a:schemeClr>
              </a:solidFill>
            </a:endParaRPr>
          </a:p>
        </p:txBody>
      </p:sp>
      <p:sp>
        <p:nvSpPr>
          <p:cNvPr id="54" name="모서리가 둥근 직사각형 46">
            <a:extLst>
              <a:ext uri="{FF2B5EF4-FFF2-40B4-BE49-F238E27FC236}">
                <a16:creationId xmlns:a16="http://schemas.microsoft.com/office/drawing/2014/main" id="{9CF169E3-29A5-6E8F-89C6-FDC8A300EBC9}"/>
              </a:ext>
            </a:extLst>
          </p:cNvPr>
          <p:cNvSpPr/>
          <p:nvPr/>
        </p:nvSpPr>
        <p:spPr>
          <a:xfrm>
            <a:off x="7675316" y="5583910"/>
            <a:ext cx="1155971" cy="756888"/>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Don’t speak or move during test</a:t>
            </a:r>
            <a:endParaRPr lang="ko-KR" altLang="en-US" sz="1200" dirty="0">
              <a:solidFill>
                <a:schemeClr val="tx1">
                  <a:lumMod val="75000"/>
                  <a:lumOff val="25000"/>
                </a:schemeClr>
              </a:solidFill>
            </a:endParaRPr>
          </a:p>
        </p:txBody>
      </p:sp>
      <p:sp>
        <p:nvSpPr>
          <p:cNvPr id="55" name="모서리가 둥근 직사각형 56">
            <a:extLst>
              <a:ext uri="{FF2B5EF4-FFF2-40B4-BE49-F238E27FC236}">
                <a16:creationId xmlns:a16="http://schemas.microsoft.com/office/drawing/2014/main" id="{8AB150BB-9301-B68B-90EA-B5D8339CD8A9}"/>
              </a:ext>
            </a:extLst>
          </p:cNvPr>
          <p:cNvSpPr/>
          <p:nvPr/>
        </p:nvSpPr>
        <p:spPr>
          <a:xfrm>
            <a:off x="9302040" y="5583910"/>
            <a:ext cx="2113965" cy="913096"/>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Thank the patient, </a:t>
            </a:r>
          </a:p>
          <a:p>
            <a:pPr algn="ctr"/>
            <a:r>
              <a:rPr lang="en-US" altLang="ko-KR" sz="1200" dirty="0">
                <a:solidFill>
                  <a:schemeClr val="tx1">
                    <a:lumMod val="75000"/>
                    <a:lumOff val="25000"/>
                  </a:schemeClr>
                </a:solidFill>
              </a:rPr>
              <a:t>Tell the result will be explained by the doctor in next session.</a:t>
            </a:r>
            <a:endParaRPr lang="ko-KR" altLang="en-US" sz="1200" dirty="0">
              <a:solidFill>
                <a:schemeClr val="tx1">
                  <a:lumMod val="75000"/>
                  <a:lumOff val="25000"/>
                </a:schemeClr>
              </a:solidFill>
            </a:endParaRPr>
          </a:p>
        </p:txBody>
      </p:sp>
      <p:sp>
        <p:nvSpPr>
          <p:cNvPr id="56" name="직사각형 55">
            <a:extLst>
              <a:ext uri="{FF2B5EF4-FFF2-40B4-BE49-F238E27FC236}">
                <a16:creationId xmlns:a16="http://schemas.microsoft.com/office/drawing/2014/main" id="{F714B176-983C-C856-9BC4-B28E9C608A28}"/>
              </a:ext>
            </a:extLst>
          </p:cNvPr>
          <p:cNvSpPr/>
          <p:nvPr/>
        </p:nvSpPr>
        <p:spPr>
          <a:xfrm>
            <a:off x="2857759" y="4638238"/>
            <a:ext cx="1626723" cy="957183"/>
          </a:xfrm>
          <a:prstGeom prst="rect">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모서리가 둥근 직사각형 50">
            <a:extLst>
              <a:ext uri="{FF2B5EF4-FFF2-40B4-BE49-F238E27FC236}">
                <a16:creationId xmlns:a16="http://schemas.microsoft.com/office/drawing/2014/main" id="{A4998B5C-6DF7-7C39-6882-C0DDB4DEB540}"/>
              </a:ext>
            </a:extLst>
          </p:cNvPr>
          <p:cNvSpPr/>
          <p:nvPr/>
        </p:nvSpPr>
        <p:spPr>
          <a:xfrm>
            <a:off x="2857763" y="5583910"/>
            <a:ext cx="1626721" cy="756888"/>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Choose right type of electrodes, and posture</a:t>
            </a:r>
            <a:endParaRPr lang="ko-KR" altLang="en-US" sz="1200" dirty="0">
              <a:solidFill>
                <a:schemeClr val="tx1">
                  <a:lumMod val="75000"/>
                  <a:lumOff val="25000"/>
                </a:schemeClr>
              </a:solidFill>
            </a:endParaRPr>
          </a:p>
        </p:txBody>
      </p:sp>
      <p:sp>
        <p:nvSpPr>
          <p:cNvPr id="60" name="모서리가 둥근 직사각형 41">
            <a:extLst>
              <a:ext uri="{FF2B5EF4-FFF2-40B4-BE49-F238E27FC236}">
                <a16:creationId xmlns:a16="http://schemas.microsoft.com/office/drawing/2014/main" id="{973978E3-D54A-85D0-E23A-AB0E00D1BA36}"/>
              </a:ext>
            </a:extLst>
          </p:cNvPr>
          <p:cNvSpPr/>
          <p:nvPr/>
        </p:nvSpPr>
        <p:spPr>
          <a:xfrm>
            <a:off x="2104018" y="2985156"/>
            <a:ext cx="1547664" cy="900270"/>
          </a:xfrm>
          <a:prstGeom prst="roundRect">
            <a:avLst>
              <a:gd name="adj" fmla="val 0"/>
            </a:avLst>
          </a:prstGeom>
          <a:solidFill>
            <a:srgbClr val="F1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lumMod val="75000"/>
                    <a:lumOff val="25000"/>
                  </a:schemeClr>
                </a:solidFill>
              </a:rPr>
              <a:t>Patient should be weighed right after the dialysis</a:t>
            </a:r>
            <a:endParaRPr lang="ko-KR" altLang="en-US" sz="1200" dirty="0">
              <a:solidFill>
                <a:schemeClr val="tx1">
                  <a:lumMod val="75000"/>
                  <a:lumOff val="25000"/>
                </a:schemeClr>
              </a:solidFill>
            </a:endParaRPr>
          </a:p>
        </p:txBody>
      </p:sp>
      <p:pic>
        <p:nvPicPr>
          <p:cNvPr id="61" name="그림 60">
            <a:extLst>
              <a:ext uri="{FF2B5EF4-FFF2-40B4-BE49-F238E27FC236}">
                <a16:creationId xmlns:a16="http://schemas.microsoft.com/office/drawing/2014/main" id="{AD5C1C42-2E99-4FCA-C46D-B933D60230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08665" y="2073345"/>
            <a:ext cx="2103981" cy="840900"/>
          </a:xfrm>
          <a:prstGeom prst="rect">
            <a:avLst/>
          </a:prstGeom>
        </p:spPr>
      </p:pic>
      <p:pic>
        <p:nvPicPr>
          <p:cNvPr id="62" name="그림 61">
            <a:extLst>
              <a:ext uri="{FF2B5EF4-FFF2-40B4-BE49-F238E27FC236}">
                <a16:creationId xmlns:a16="http://schemas.microsoft.com/office/drawing/2014/main" id="{3994CAC0-E61B-DBDF-F217-AFA861C0D1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95849" y="2087519"/>
            <a:ext cx="1697145" cy="915771"/>
          </a:xfrm>
          <a:prstGeom prst="rect">
            <a:avLst/>
          </a:prstGeom>
        </p:spPr>
      </p:pic>
      <p:pic>
        <p:nvPicPr>
          <p:cNvPr id="63" name="그림 62">
            <a:extLst>
              <a:ext uri="{FF2B5EF4-FFF2-40B4-BE49-F238E27FC236}">
                <a16:creationId xmlns:a16="http://schemas.microsoft.com/office/drawing/2014/main" id="{D515AD83-AC08-A0EC-0711-55767A021F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1098" y="4664852"/>
            <a:ext cx="1532416" cy="903953"/>
          </a:xfrm>
          <a:prstGeom prst="rect">
            <a:avLst/>
          </a:prstGeom>
        </p:spPr>
      </p:pic>
      <p:pic>
        <p:nvPicPr>
          <p:cNvPr id="64" name="그림 63">
            <a:extLst>
              <a:ext uri="{FF2B5EF4-FFF2-40B4-BE49-F238E27FC236}">
                <a16:creationId xmlns:a16="http://schemas.microsoft.com/office/drawing/2014/main" id="{82341A4E-F687-04A8-052D-982D3A7257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77141" y="4619965"/>
            <a:ext cx="2262255" cy="902673"/>
          </a:xfrm>
          <a:prstGeom prst="rect">
            <a:avLst/>
          </a:prstGeom>
        </p:spPr>
      </p:pic>
      <p:pic>
        <p:nvPicPr>
          <p:cNvPr id="65" name="그림 64">
            <a:extLst>
              <a:ext uri="{FF2B5EF4-FFF2-40B4-BE49-F238E27FC236}">
                <a16:creationId xmlns:a16="http://schemas.microsoft.com/office/drawing/2014/main" id="{00360A61-0A39-9093-92BB-E0B1C961747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27084" y="4441667"/>
            <a:ext cx="1036204" cy="1050350"/>
          </a:xfrm>
          <a:prstGeom prst="rect">
            <a:avLst/>
          </a:prstGeom>
        </p:spPr>
      </p:pic>
      <p:pic>
        <p:nvPicPr>
          <p:cNvPr id="66" name="그림 65">
            <a:extLst>
              <a:ext uri="{FF2B5EF4-FFF2-40B4-BE49-F238E27FC236}">
                <a16:creationId xmlns:a16="http://schemas.microsoft.com/office/drawing/2014/main" id="{990A3534-ED1A-427F-A3E5-A12F924DB69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454674" y="4513465"/>
            <a:ext cx="1744153" cy="1037969"/>
          </a:xfrm>
          <a:prstGeom prst="rect">
            <a:avLst/>
          </a:prstGeom>
        </p:spPr>
      </p:pic>
      <p:pic>
        <p:nvPicPr>
          <p:cNvPr id="67" name="그림 66">
            <a:extLst>
              <a:ext uri="{FF2B5EF4-FFF2-40B4-BE49-F238E27FC236}">
                <a16:creationId xmlns:a16="http://schemas.microsoft.com/office/drawing/2014/main" id="{46BEC4AA-4A46-C336-86DE-DC09A8E735D5}"/>
              </a:ext>
            </a:extLst>
          </p:cNvPr>
          <p:cNvPicPr>
            <a:picLocks noChangeAspect="1"/>
          </p:cNvPicPr>
          <p:nvPr/>
        </p:nvPicPr>
        <p:blipFill>
          <a:blip r:embed="rId9"/>
          <a:stretch>
            <a:fillRect/>
          </a:stretch>
        </p:blipFill>
        <p:spPr>
          <a:xfrm>
            <a:off x="402964" y="1802401"/>
            <a:ext cx="1579605" cy="1205974"/>
          </a:xfrm>
          <a:prstGeom prst="rect">
            <a:avLst/>
          </a:prstGeom>
        </p:spPr>
      </p:pic>
      <p:pic>
        <p:nvPicPr>
          <p:cNvPr id="68" name="그림 67">
            <a:extLst>
              <a:ext uri="{FF2B5EF4-FFF2-40B4-BE49-F238E27FC236}">
                <a16:creationId xmlns:a16="http://schemas.microsoft.com/office/drawing/2014/main" id="{872FD0C6-846D-AC02-D9BF-740B7ACA8E87}"/>
              </a:ext>
            </a:extLst>
          </p:cNvPr>
          <p:cNvPicPr>
            <a:picLocks noChangeAspect="1"/>
          </p:cNvPicPr>
          <p:nvPr/>
        </p:nvPicPr>
        <p:blipFill>
          <a:blip r:embed="rId9"/>
          <a:stretch>
            <a:fillRect/>
          </a:stretch>
        </p:blipFill>
        <p:spPr>
          <a:xfrm>
            <a:off x="4028933" y="1782298"/>
            <a:ext cx="1605935" cy="1226077"/>
          </a:xfrm>
          <a:prstGeom prst="rect">
            <a:avLst/>
          </a:prstGeom>
        </p:spPr>
      </p:pic>
      <p:pic>
        <p:nvPicPr>
          <p:cNvPr id="69" name="그림 68">
            <a:extLst>
              <a:ext uri="{FF2B5EF4-FFF2-40B4-BE49-F238E27FC236}">
                <a16:creationId xmlns:a16="http://schemas.microsoft.com/office/drawing/2014/main" id="{953FAEE1-0CE9-C9C3-CA53-F7DF557DB98E}"/>
              </a:ext>
            </a:extLst>
          </p:cNvPr>
          <p:cNvPicPr>
            <a:picLocks noChangeAspect="1"/>
          </p:cNvPicPr>
          <p:nvPr/>
        </p:nvPicPr>
        <p:blipFill>
          <a:blip r:embed="rId10"/>
          <a:stretch>
            <a:fillRect/>
          </a:stretch>
        </p:blipFill>
        <p:spPr>
          <a:xfrm>
            <a:off x="2211428" y="1452306"/>
            <a:ext cx="1292662" cy="1510994"/>
          </a:xfrm>
          <a:prstGeom prst="rect">
            <a:avLst/>
          </a:prstGeom>
        </p:spPr>
      </p:pic>
    </p:spTree>
    <p:extLst>
      <p:ext uri="{BB962C8B-B14F-4D97-AF65-F5344CB8AC3E}">
        <p14:creationId xmlns:p14="http://schemas.microsoft.com/office/powerpoint/2010/main" val="18808322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Demonstration</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Data Analysis</a:t>
            </a:r>
          </a:p>
        </p:txBody>
      </p:sp>
      <p:pic>
        <p:nvPicPr>
          <p:cNvPr id="10" name="그림 9">
            <a:extLst>
              <a:ext uri="{FF2B5EF4-FFF2-40B4-BE49-F238E27FC236}">
                <a16:creationId xmlns:a16="http://schemas.microsoft.com/office/drawing/2014/main" id="{5AA4CFAD-C5BD-A959-3994-8D7067BFC5EB}"/>
              </a:ext>
            </a:extLst>
          </p:cNvPr>
          <p:cNvPicPr>
            <a:picLocks noChangeAspect="1"/>
          </p:cNvPicPr>
          <p:nvPr/>
        </p:nvPicPr>
        <p:blipFill>
          <a:blip r:embed="rId2"/>
          <a:stretch>
            <a:fillRect/>
          </a:stretch>
        </p:blipFill>
        <p:spPr>
          <a:xfrm>
            <a:off x="474324" y="1982861"/>
            <a:ext cx="4224432" cy="2892277"/>
          </a:xfrm>
          <a:prstGeom prst="rect">
            <a:avLst/>
          </a:prstGeom>
        </p:spPr>
      </p:pic>
      <p:pic>
        <p:nvPicPr>
          <p:cNvPr id="11" name="그림 10">
            <a:extLst>
              <a:ext uri="{FF2B5EF4-FFF2-40B4-BE49-F238E27FC236}">
                <a16:creationId xmlns:a16="http://schemas.microsoft.com/office/drawing/2014/main" id="{7128C7D3-05AF-3893-7230-100F8E27C9D3}"/>
              </a:ext>
            </a:extLst>
          </p:cNvPr>
          <p:cNvPicPr>
            <a:picLocks noChangeAspect="1"/>
          </p:cNvPicPr>
          <p:nvPr/>
        </p:nvPicPr>
        <p:blipFill>
          <a:blip r:embed="rId3"/>
          <a:stretch>
            <a:fillRect/>
          </a:stretch>
        </p:blipFill>
        <p:spPr>
          <a:xfrm>
            <a:off x="3229727" y="1942189"/>
            <a:ext cx="4335303" cy="2932949"/>
          </a:xfrm>
          <a:prstGeom prst="rect">
            <a:avLst/>
          </a:prstGeom>
        </p:spPr>
      </p:pic>
      <p:pic>
        <p:nvPicPr>
          <p:cNvPr id="12" name="그림 11">
            <a:extLst>
              <a:ext uri="{FF2B5EF4-FFF2-40B4-BE49-F238E27FC236}">
                <a16:creationId xmlns:a16="http://schemas.microsoft.com/office/drawing/2014/main" id="{614BD2C8-56CE-5A14-BA2C-2A6F5D1641AF}"/>
              </a:ext>
            </a:extLst>
          </p:cNvPr>
          <p:cNvPicPr>
            <a:picLocks noChangeAspect="1"/>
          </p:cNvPicPr>
          <p:nvPr/>
        </p:nvPicPr>
        <p:blipFill>
          <a:blip r:embed="rId4"/>
          <a:stretch>
            <a:fillRect/>
          </a:stretch>
        </p:blipFill>
        <p:spPr>
          <a:xfrm>
            <a:off x="6096000" y="1982861"/>
            <a:ext cx="5190077" cy="2892277"/>
          </a:xfrm>
          <a:prstGeom prst="rect">
            <a:avLst/>
          </a:prstGeom>
        </p:spPr>
      </p:pic>
      <p:sp>
        <p:nvSpPr>
          <p:cNvPr id="13" name="모서리가 둥근 직사각형 33">
            <a:extLst>
              <a:ext uri="{FF2B5EF4-FFF2-40B4-BE49-F238E27FC236}">
                <a16:creationId xmlns:a16="http://schemas.microsoft.com/office/drawing/2014/main" id="{004B0B17-0462-5AAB-4F7A-2DE3AB453784}"/>
              </a:ext>
            </a:extLst>
          </p:cNvPr>
          <p:cNvSpPr/>
          <p:nvPr/>
        </p:nvSpPr>
        <p:spPr>
          <a:xfrm>
            <a:off x="9020438" y="3847395"/>
            <a:ext cx="2599990" cy="913096"/>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a:solidFill>
                  <a:schemeClr val="tx1">
                    <a:lumMod val="85000"/>
                    <a:lumOff val="15000"/>
                  </a:schemeClr>
                </a:solidFill>
              </a:rPr>
              <a:t>Write member info, </a:t>
            </a:r>
          </a:p>
          <a:p>
            <a:r>
              <a:rPr lang="en-US" altLang="ko-KR" sz="1400" dirty="0">
                <a:solidFill>
                  <a:schemeClr val="tx1">
                    <a:lumMod val="85000"/>
                    <a:lumOff val="15000"/>
                  </a:schemeClr>
                </a:solidFill>
              </a:rPr>
              <a:t>Divide three groups: Hypo/</a:t>
            </a:r>
            <a:r>
              <a:rPr lang="en-US" altLang="ko-KR" sz="1400" dirty="0" err="1">
                <a:solidFill>
                  <a:schemeClr val="tx1">
                    <a:lumMod val="85000"/>
                    <a:lumOff val="15000"/>
                  </a:schemeClr>
                </a:solidFill>
              </a:rPr>
              <a:t>Eu</a:t>
            </a:r>
            <a:r>
              <a:rPr lang="en-US" altLang="ko-KR" sz="1400" dirty="0">
                <a:solidFill>
                  <a:schemeClr val="tx1">
                    <a:lumMod val="85000"/>
                    <a:lumOff val="15000"/>
                  </a:schemeClr>
                </a:solidFill>
              </a:rPr>
              <a:t>/</a:t>
            </a:r>
            <a:r>
              <a:rPr lang="en-US" altLang="ko-KR" sz="1400" dirty="0" err="1">
                <a:solidFill>
                  <a:schemeClr val="tx1">
                    <a:lumMod val="85000"/>
                    <a:lumOff val="15000"/>
                  </a:schemeClr>
                </a:solidFill>
              </a:rPr>
              <a:t>Hypervolemic</a:t>
            </a:r>
            <a:endParaRPr lang="ko-KR" altLang="en-US" sz="1400" dirty="0">
              <a:solidFill>
                <a:schemeClr val="tx1">
                  <a:lumMod val="85000"/>
                  <a:lumOff val="15000"/>
                </a:schemeClr>
              </a:solidFill>
            </a:endParaRPr>
          </a:p>
        </p:txBody>
      </p:sp>
      <p:pic>
        <p:nvPicPr>
          <p:cNvPr id="14" name="그림 13">
            <a:extLst>
              <a:ext uri="{FF2B5EF4-FFF2-40B4-BE49-F238E27FC236}">
                <a16:creationId xmlns:a16="http://schemas.microsoft.com/office/drawing/2014/main" id="{20F8F449-45D0-694E-8C0E-C09478A1E8A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0" b="100000" l="0" r="100000"/>
                    </a14:imgEffect>
                  </a14:imgLayer>
                </a14:imgProps>
              </a:ext>
            </a:extLst>
          </a:blip>
          <a:stretch>
            <a:fillRect/>
          </a:stretch>
        </p:blipFill>
        <p:spPr>
          <a:xfrm>
            <a:off x="819652" y="4819722"/>
            <a:ext cx="1766888" cy="308140"/>
          </a:xfrm>
          <a:prstGeom prst="rect">
            <a:avLst/>
          </a:prstGeom>
        </p:spPr>
      </p:pic>
      <p:pic>
        <p:nvPicPr>
          <p:cNvPr id="15" name="그림 14">
            <a:extLst>
              <a:ext uri="{FF2B5EF4-FFF2-40B4-BE49-F238E27FC236}">
                <a16:creationId xmlns:a16="http://schemas.microsoft.com/office/drawing/2014/main" id="{3B2663BB-0A2A-2018-C923-78B5631DDB43}"/>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0" b="100000" l="0" r="100000"/>
                    </a14:imgEffect>
                  </a14:imgLayer>
                </a14:imgProps>
              </a:ext>
            </a:extLst>
          </a:blip>
          <a:stretch>
            <a:fillRect/>
          </a:stretch>
        </p:blipFill>
        <p:spPr>
          <a:xfrm>
            <a:off x="6790932" y="4905145"/>
            <a:ext cx="1766888" cy="222717"/>
          </a:xfrm>
          <a:prstGeom prst="rect">
            <a:avLst/>
          </a:prstGeom>
        </p:spPr>
      </p:pic>
      <p:pic>
        <p:nvPicPr>
          <p:cNvPr id="16" name="그림 15">
            <a:extLst>
              <a:ext uri="{FF2B5EF4-FFF2-40B4-BE49-F238E27FC236}">
                <a16:creationId xmlns:a16="http://schemas.microsoft.com/office/drawing/2014/main" id="{9E8099BD-7613-A064-6EB6-A4E0B93F5E49}"/>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0" b="100000" l="0" r="100000">
                        <a14:foregroundMark x1="94243" y1="32308" x2="94243" y2="32308"/>
                      </a14:backgroundRemoval>
                    </a14:imgEffect>
                  </a14:imgLayer>
                </a14:imgProps>
              </a:ext>
            </a:extLst>
          </a:blip>
          <a:stretch>
            <a:fillRect/>
          </a:stretch>
        </p:blipFill>
        <p:spPr>
          <a:xfrm>
            <a:off x="3723008" y="4890384"/>
            <a:ext cx="1713506" cy="237478"/>
          </a:xfrm>
          <a:prstGeom prst="rect">
            <a:avLst/>
          </a:prstGeom>
        </p:spPr>
      </p:pic>
    </p:spTree>
    <p:extLst>
      <p:ext uri="{BB962C8B-B14F-4D97-AF65-F5344CB8AC3E}">
        <p14:creationId xmlns:p14="http://schemas.microsoft.com/office/powerpoint/2010/main" val="5142070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Demonstration</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Result briefing</a:t>
            </a:r>
          </a:p>
        </p:txBody>
      </p:sp>
      <p:pic>
        <p:nvPicPr>
          <p:cNvPr id="5" name="그림 4">
            <a:extLst>
              <a:ext uri="{FF2B5EF4-FFF2-40B4-BE49-F238E27FC236}">
                <a16:creationId xmlns:a16="http://schemas.microsoft.com/office/drawing/2014/main" id="{402E6F43-B341-D78B-C5FC-D533F38E736E}"/>
              </a:ext>
            </a:extLst>
          </p:cNvPr>
          <p:cNvPicPr>
            <a:picLocks noChangeAspect="1"/>
          </p:cNvPicPr>
          <p:nvPr/>
        </p:nvPicPr>
        <p:blipFill>
          <a:blip r:embed="rId2"/>
          <a:stretch>
            <a:fillRect/>
          </a:stretch>
        </p:blipFill>
        <p:spPr>
          <a:xfrm>
            <a:off x="6612799" y="266312"/>
            <a:ext cx="4749470" cy="6591688"/>
          </a:xfrm>
          <a:prstGeom prst="rect">
            <a:avLst/>
          </a:prstGeom>
        </p:spPr>
      </p:pic>
      <p:sp>
        <p:nvSpPr>
          <p:cNvPr id="9" name="직사각형 8">
            <a:extLst>
              <a:ext uri="{FF2B5EF4-FFF2-40B4-BE49-F238E27FC236}">
                <a16:creationId xmlns:a16="http://schemas.microsoft.com/office/drawing/2014/main" id="{7E807C06-DBFD-2202-44A7-B8213BBFE180}"/>
              </a:ext>
            </a:extLst>
          </p:cNvPr>
          <p:cNvSpPr/>
          <p:nvPr/>
        </p:nvSpPr>
        <p:spPr>
          <a:xfrm>
            <a:off x="6733309" y="1403347"/>
            <a:ext cx="2860417" cy="228378"/>
          </a:xfrm>
          <a:prstGeom prst="rect">
            <a:avLst/>
          </a:prstGeom>
          <a:noFill/>
          <a:ln w="12700">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TextBox 16">
            <a:extLst>
              <a:ext uri="{FF2B5EF4-FFF2-40B4-BE49-F238E27FC236}">
                <a16:creationId xmlns:a16="http://schemas.microsoft.com/office/drawing/2014/main" id="{1DEE4555-8404-1C09-3F96-9ED5781ADC69}"/>
              </a:ext>
            </a:extLst>
          </p:cNvPr>
          <p:cNvSpPr txBox="1"/>
          <p:nvPr/>
        </p:nvSpPr>
        <p:spPr>
          <a:xfrm>
            <a:off x="6311019" y="1332870"/>
            <a:ext cx="532436" cy="369332"/>
          </a:xfrm>
          <a:prstGeom prst="rect">
            <a:avLst/>
          </a:prstGeom>
          <a:noFill/>
        </p:spPr>
        <p:txBody>
          <a:bodyPr wrap="square" rtlCol="0">
            <a:spAutoFit/>
          </a:bodyPr>
          <a:lstStyle/>
          <a:p>
            <a:pPr algn="ctr"/>
            <a:r>
              <a:rPr lang="ko-KR" altLang="en-US" dirty="0">
                <a:solidFill>
                  <a:srgbClr val="B50937"/>
                </a:solidFill>
              </a:rPr>
              <a:t>②</a:t>
            </a:r>
          </a:p>
        </p:txBody>
      </p:sp>
      <p:sp>
        <p:nvSpPr>
          <p:cNvPr id="18" name="직사각형 17">
            <a:extLst>
              <a:ext uri="{FF2B5EF4-FFF2-40B4-BE49-F238E27FC236}">
                <a16:creationId xmlns:a16="http://schemas.microsoft.com/office/drawing/2014/main" id="{525ED8CA-A16D-98BF-FD71-6EFF039EF6A7}"/>
              </a:ext>
            </a:extLst>
          </p:cNvPr>
          <p:cNvSpPr/>
          <p:nvPr/>
        </p:nvSpPr>
        <p:spPr>
          <a:xfrm>
            <a:off x="9642765" y="3883483"/>
            <a:ext cx="1588654" cy="513026"/>
          </a:xfrm>
          <a:prstGeom prst="rect">
            <a:avLst/>
          </a:prstGeom>
          <a:noFill/>
          <a:ln w="12700">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a:extLst>
              <a:ext uri="{FF2B5EF4-FFF2-40B4-BE49-F238E27FC236}">
                <a16:creationId xmlns:a16="http://schemas.microsoft.com/office/drawing/2014/main" id="{B7C6A08F-C994-0DBC-B673-1F7E92D8437F}"/>
              </a:ext>
            </a:extLst>
          </p:cNvPr>
          <p:cNvSpPr txBox="1"/>
          <p:nvPr/>
        </p:nvSpPr>
        <p:spPr>
          <a:xfrm>
            <a:off x="11092939" y="3575255"/>
            <a:ext cx="532436" cy="369332"/>
          </a:xfrm>
          <a:prstGeom prst="rect">
            <a:avLst/>
          </a:prstGeom>
          <a:noFill/>
        </p:spPr>
        <p:txBody>
          <a:bodyPr wrap="square" rtlCol="0">
            <a:spAutoFit/>
          </a:bodyPr>
          <a:lstStyle/>
          <a:p>
            <a:pPr algn="ctr"/>
            <a:r>
              <a:rPr lang="ko-KR" altLang="en-US" dirty="0">
                <a:solidFill>
                  <a:srgbClr val="B50937"/>
                </a:solidFill>
              </a:rPr>
              <a:t>①</a:t>
            </a:r>
          </a:p>
        </p:txBody>
      </p:sp>
      <p:sp>
        <p:nvSpPr>
          <p:cNvPr id="20" name="직사각형 19">
            <a:extLst>
              <a:ext uri="{FF2B5EF4-FFF2-40B4-BE49-F238E27FC236}">
                <a16:creationId xmlns:a16="http://schemas.microsoft.com/office/drawing/2014/main" id="{8FC7ACCC-80FD-C06F-46A5-59251A0B0D4F}"/>
              </a:ext>
            </a:extLst>
          </p:cNvPr>
          <p:cNvSpPr/>
          <p:nvPr/>
        </p:nvSpPr>
        <p:spPr>
          <a:xfrm>
            <a:off x="6733309" y="3816062"/>
            <a:ext cx="2860418" cy="1319356"/>
          </a:xfrm>
          <a:prstGeom prst="rect">
            <a:avLst/>
          </a:prstGeom>
          <a:noFill/>
          <a:ln w="12700">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a:extLst>
              <a:ext uri="{FF2B5EF4-FFF2-40B4-BE49-F238E27FC236}">
                <a16:creationId xmlns:a16="http://schemas.microsoft.com/office/drawing/2014/main" id="{9FE10D88-37C3-BFC0-FDCF-A1C62465F1D6}"/>
              </a:ext>
            </a:extLst>
          </p:cNvPr>
          <p:cNvSpPr txBox="1"/>
          <p:nvPr/>
        </p:nvSpPr>
        <p:spPr>
          <a:xfrm>
            <a:off x="6311019" y="3631396"/>
            <a:ext cx="532436" cy="369332"/>
          </a:xfrm>
          <a:prstGeom prst="rect">
            <a:avLst/>
          </a:prstGeom>
          <a:noFill/>
        </p:spPr>
        <p:txBody>
          <a:bodyPr wrap="square" rtlCol="0">
            <a:spAutoFit/>
          </a:bodyPr>
          <a:lstStyle/>
          <a:p>
            <a:pPr algn="ctr"/>
            <a:r>
              <a:rPr lang="ko-KR" altLang="en-US" dirty="0">
                <a:solidFill>
                  <a:srgbClr val="B50937"/>
                </a:solidFill>
              </a:rPr>
              <a:t>③</a:t>
            </a:r>
          </a:p>
        </p:txBody>
      </p:sp>
      <p:sp>
        <p:nvSpPr>
          <p:cNvPr id="24" name="직사각형 23">
            <a:extLst>
              <a:ext uri="{FF2B5EF4-FFF2-40B4-BE49-F238E27FC236}">
                <a16:creationId xmlns:a16="http://schemas.microsoft.com/office/drawing/2014/main" id="{070931D6-AADB-49DF-2F2C-AB0D6DC568D1}"/>
              </a:ext>
            </a:extLst>
          </p:cNvPr>
          <p:cNvSpPr/>
          <p:nvPr/>
        </p:nvSpPr>
        <p:spPr>
          <a:xfrm>
            <a:off x="9642764" y="5056652"/>
            <a:ext cx="1506138" cy="524071"/>
          </a:xfrm>
          <a:prstGeom prst="rect">
            <a:avLst/>
          </a:prstGeom>
          <a:noFill/>
          <a:ln w="12700">
            <a:solidFill>
              <a:srgbClr val="B50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B3D65B85-CB36-9EE6-6FF3-4AAFF2F56D58}"/>
              </a:ext>
            </a:extLst>
          </p:cNvPr>
          <p:cNvSpPr txBox="1"/>
          <p:nvPr/>
        </p:nvSpPr>
        <p:spPr>
          <a:xfrm>
            <a:off x="11092939" y="4805589"/>
            <a:ext cx="532436" cy="369332"/>
          </a:xfrm>
          <a:prstGeom prst="rect">
            <a:avLst/>
          </a:prstGeom>
          <a:noFill/>
        </p:spPr>
        <p:txBody>
          <a:bodyPr wrap="square" rtlCol="0">
            <a:spAutoFit/>
          </a:bodyPr>
          <a:lstStyle/>
          <a:p>
            <a:pPr algn="ctr"/>
            <a:r>
              <a:rPr lang="ko-KR" altLang="en-US" dirty="0">
                <a:solidFill>
                  <a:srgbClr val="B50937"/>
                </a:solidFill>
              </a:rPr>
              <a:t>④</a:t>
            </a:r>
          </a:p>
        </p:txBody>
      </p:sp>
      <p:grpSp>
        <p:nvGrpSpPr>
          <p:cNvPr id="27" name="그룹 26">
            <a:extLst>
              <a:ext uri="{FF2B5EF4-FFF2-40B4-BE49-F238E27FC236}">
                <a16:creationId xmlns:a16="http://schemas.microsoft.com/office/drawing/2014/main" id="{ED32B71E-B44A-74F9-BAAA-C13B466DECE6}"/>
              </a:ext>
            </a:extLst>
          </p:cNvPr>
          <p:cNvGrpSpPr/>
          <p:nvPr/>
        </p:nvGrpSpPr>
        <p:grpSpPr>
          <a:xfrm>
            <a:off x="2244378" y="890972"/>
            <a:ext cx="3690892" cy="883795"/>
            <a:chOff x="-3166140" y="2251723"/>
            <a:chExt cx="2792525" cy="1006408"/>
          </a:xfrm>
        </p:grpSpPr>
        <p:sp>
          <p:nvSpPr>
            <p:cNvPr id="28" name="사각형: 둥근 모서리 27">
              <a:extLst>
                <a:ext uri="{FF2B5EF4-FFF2-40B4-BE49-F238E27FC236}">
                  <a16:creationId xmlns:a16="http://schemas.microsoft.com/office/drawing/2014/main" id="{9B307CC8-3F07-F5A1-D2AF-C54D0C80EA44}"/>
                </a:ext>
              </a:extLst>
            </p:cNvPr>
            <p:cNvSpPr/>
            <p:nvPr/>
          </p:nvSpPr>
          <p:spPr>
            <a:xfrm rot="5400000">
              <a:off x="-2270497" y="1407476"/>
              <a:ext cx="1006408"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29" name="그룹 28">
              <a:extLst>
                <a:ext uri="{FF2B5EF4-FFF2-40B4-BE49-F238E27FC236}">
                  <a16:creationId xmlns:a16="http://schemas.microsoft.com/office/drawing/2014/main" id="{5D5FC050-3DED-57A4-47D8-B42B64932B44}"/>
                </a:ext>
              </a:extLst>
            </p:cNvPr>
            <p:cNvGrpSpPr/>
            <p:nvPr/>
          </p:nvGrpSpPr>
          <p:grpSpPr>
            <a:xfrm rot="16200000">
              <a:off x="-2155269" y="1363793"/>
              <a:ext cx="770784" cy="2792525"/>
              <a:chOff x="-667702" y="1249712"/>
              <a:chExt cx="770784" cy="2297959"/>
            </a:xfrm>
          </p:grpSpPr>
          <p:sp>
            <p:nvSpPr>
              <p:cNvPr id="30" name="TextBox 29">
                <a:extLst>
                  <a:ext uri="{FF2B5EF4-FFF2-40B4-BE49-F238E27FC236}">
                    <a16:creationId xmlns:a16="http://schemas.microsoft.com/office/drawing/2014/main" id="{BC6542BE-7CAD-3DDE-A1D0-860700147167}"/>
                  </a:ext>
                </a:extLst>
              </p:cNvPr>
              <p:cNvSpPr txBox="1"/>
              <p:nvPr/>
            </p:nvSpPr>
            <p:spPr>
              <a:xfrm rot="5400000">
                <a:off x="-1575201" y="2157211"/>
                <a:ext cx="2297959" cy="482962"/>
              </a:xfrm>
              <a:prstGeom prst="rect">
                <a:avLst/>
              </a:prstGeom>
              <a:noFill/>
            </p:spPr>
            <p:txBody>
              <a:bodyPr wrap="square" rtlCol="0" anchor="ctr" anchorCtr="0">
                <a:noAutofit/>
              </a:bodyPr>
              <a:lstStyle/>
              <a:p>
                <a:pPr algn="ctr"/>
                <a:r>
                  <a:rPr lang="ko-KR" altLang="en-US" sz="1600" dirty="0">
                    <a:solidFill>
                      <a:schemeClr val="tx1">
                        <a:lumMod val="65000"/>
                        <a:lumOff val="35000"/>
                      </a:schemeClr>
                    </a:solidFill>
                    <a:latin typeface="Lato Black" panose="020F0502020204030203" pitchFamily="34" charset="0"/>
                    <a:cs typeface="Lato Black" panose="020F0502020204030203" pitchFamily="34" charset="0"/>
                  </a:rPr>
                  <a:t>① </a:t>
                </a:r>
                <a:r>
                  <a:rPr lang="en-US" altLang="ko-KR" sz="1600" dirty="0">
                    <a:solidFill>
                      <a:schemeClr val="tx1">
                        <a:lumMod val="65000"/>
                        <a:lumOff val="35000"/>
                      </a:schemeClr>
                    </a:solidFill>
                    <a:latin typeface="Lato Black" panose="020F0502020204030203" pitchFamily="34" charset="0"/>
                    <a:ea typeface="Lato Black" panose="020F0502020204030203" pitchFamily="34" charset="0"/>
                    <a:cs typeface="Lato Black" panose="020F0502020204030203" pitchFamily="34" charset="0"/>
                  </a:rPr>
                  <a:t>Look at the Water Control</a:t>
                </a:r>
                <a:endParaRPr lang="ko-KR" altLang="en-US" sz="1600" dirty="0">
                  <a:solidFill>
                    <a:schemeClr val="tx1">
                      <a:lumMod val="65000"/>
                      <a:lumOff val="35000"/>
                    </a:schemeClr>
                  </a:solidFill>
                  <a:latin typeface="Lato Black" panose="020F0502020204030203" pitchFamily="34" charset="0"/>
                  <a:cs typeface="Lato Black" panose="020F0502020204030203" pitchFamily="34" charset="0"/>
                </a:endParaRPr>
              </a:p>
            </p:txBody>
          </p:sp>
          <p:sp>
            <p:nvSpPr>
              <p:cNvPr id="31" name="사각형: 둥근 모서리 30">
                <a:extLst>
                  <a:ext uri="{FF2B5EF4-FFF2-40B4-BE49-F238E27FC236}">
                    <a16:creationId xmlns:a16="http://schemas.microsoft.com/office/drawing/2014/main" id="{687C64EC-B50C-76A0-FBF4-617CC2D7B739}"/>
                  </a:ext>
                </a:extLst>
              </p:cNvPr>
              <p:cNvSpPr/>
              <p:nvPr/>
            </p:nvSpPr>
            <p:spPr>
              <a:xfrm rot="5400000">
                <a:off x="-229937" y="2268593"/>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STEP1</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grpSp>
        <p:nvGrpSpPr>
          <p:cNvPr id="32" name="그룹 31">
            <a:extLst>
              <a:ext uri="{FF2B5EF4-FFF2-40B4-BE49-F238E27FC236}">
                <a16:creationId xmlns:a16="http://schemas.microsoft.com/office/drawing/2014/main" id="{C9A08860-F208-E7F2-6B69-FC3CFDE55DF1}"/>
              </a:ext>
            </a:extLst>
          </p:cNvPr>
          <p:cNvGrpSpPr/>
          <p:nvPr/>
        </p:nvGrpSpPr>
        <p:grpSpPr>
          <a:xfrm>
            <a:off x="3939799" y="1947726"/>
            <a:ext cx="300064" cy="271459"/>
            <a:chOff x="2061642" y="2996194"/>
            <a:chExt cx="369826" cy="334570"/>
          </a:xfrm>
        </p:grpSpPr>
        <p:sp>
          <p:nvSpPr>
            <p:cNvPr id="33" name="이등변 삼각형 34">
              <a:extLst>
                <a:ext uri="{FF2B5EF4-FFF2-40B4-BE49-F238E27FC236}">
                  <a16:creationId xmlns:a16="http://schemas.microsoft.com/office/drawing/2014/main" id="{126E9829-2149-DDE8-BD8B-732E05433F1C}"/>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4">
              <a:extLst>
                <a:ext uri="{FF2B5EF4-FFF2-40B4-BE49-F238E27FC236}">
                  <a16:creationId xmlns:a16="http://schemas.microsoft.com/office/drawing/2014/main" id="{87AE04F6-3E61-52B0-BD80-EE559112246C}"/>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5" name="그룹 34">
            <a:extLst>
              <a:ext uri="{FF2B5EF4-FFF2-40B4-BE49-F238E27FC236}">
                <a16:creationId xmlns:a16="http://schemas.microsoft.com/office/drawing/2014/main" id="{2A6C8F58-40A3-A1B1-C3F1-D0C4A4F1889E}"/>
              </a:ext>
            </a:extLst>
          </p:cNvPr>
          <p:cNvGrpSpPr/>
          <p:nvPr/>
        </p:nvGrpSpPr>
        <p:grpSpPr>
          <a:xfrm>
            <a:off x="2244381" y="2391999"/>
            <a:ext cx="3690892" cy="883795"/>
            <a:chOff x="-3166138" y="2251723"/>
            <a:chExt cx="2792525" cy="1006408"/>
          </a:xfrm>
        </p:grpSpPr>
        <p:sp>
          <p:nvSpPr>
            <p:cNvPr id="36" name="사각형: 둥근 모서리 35">
              <a:extLst>
                <a:ext uri="{FF2B5EF4-FFF2-40B4-BE49-F238E27FC236}">
                  <a16:creationId xmlns:a16="http://schemas.microsoft.com/office/drawing/2014/main" id="{F88EC4F0-A385-AF33-9DA0-EEE66BF158B6}"/>
                </a:ext>
              </a:extLst>
            </p:cNvPr>
            <p:cNvSpPr/>
            <p:nvPr/>
          </p:nvSpPr>
          <p:spPr>
            <a:xfrm rot="5400000">
              <a:off x="-2270497" y="1407476"/>
              <a:ext cx="1006408"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37" name="그룹 36">
              <a:extLst>
                <a:ext uri="{FF2B5EF4-FFF2-40B4-BE49-F238E27FC236}">
                  <a16:creationId xmlns:a16="http://schemas.microsoft.com/office/drawing/2014/main" id="{2E288599-3EFE-6928-2EA2-BAAAE7CED2F0}"/>
                </a:ext>
              </a:extLst>
            </p:cNvPr>
            <p:cNvGrpSpPr/>
            <p:nvPr/>
          </p:nvGrpSpPr>
          <p:grpSpPr>
            <a:xfrm rot="16200000">
              <a:off x="-2155267" y="1363794"/>
              <a:ext cx="770784" cy="2792525"/>
              <a:chOff x="-667702" y="1249713"/>
              <a:chExt cx="770784" cy="2297959"/>
            </a:xfrm>
          </p:grpSpPr>
          <p:sp>
            <p:nvSpPr>
              <p:cNvPr id="38" name="TextBox 37">
                <a:extLst>
                  <a:ext uri="{FF2B5EF4-FFF2-40B4-BE49-F238E27FC236}">
                    <a16:creationId xmlns:a16="http://schemas.microsoft.com/office/drawing/2014/main" id="{BC7F385F-4D50-F758-BF55-81F083559566}"/>
                  </a:ext>
                </a:extLst>
              </p:cNvPr>
              <p:cNvSpPr txBox="1"/>
              <p:nvPr/>
            </p:nvSpPr>
            <p:spPr>
              <a:xfrm rot="5400000">
                <a:off x="-1575201" y="2157212"/>
                <a:ext cx="2297959" cy="482962"/>
              </a:xfrm>
              <a:prstGeom prst="rect">
                <a:avLst/>
              </a:prstGeom>
              <a:noFill/>
            </p:spPr>
            <p:txBody>
              <a:bodyPr wrap="square" rtlCol="0" anchor="ctr" anchorCtr="0">
                <a:noAutofit/>
              </a:bodyPr>
              <a:lstStyle/>
              <a:p>
                <a:pPr algn="ctr"/>
                <a:r>
                  <a:rPr lang="ko-KR" altLang="en-US" sz="1600" dirty="0">
                    <a:solidFill>
                      <a:schemeClr val="tx1">
                        <a:lumMod val="65000"/>
                        <a:lumOff val="35000"/>
                      </a:schemeClr>
                    </a:solidFill>
                    <a:latin typeface="Lato Black" panose="020F0502020204030203" pitchFamily="34" charset="0"/>
                    <a:cs typeface="Lato Black" panose="020F0502020204030203" pitchFamily="34" charset="0"/>
                  </a:rPr>
                  <a:t>② </a:t>
                </a:r>
                <a:r>
                  <a:rPr lang="en-US" altLang="ko-KR" sz="1600" dirty="0">
                    <a:solidFill>
                      <a:schemeClr val="tx1">
                        <a:lumMod val="65000"/>
                        <a:lumOff val="35000"/>
                      </a:schemeClr>
                    </a:solidFill>
                    <a:latin typeface="Lato Black" panose="020F0502020204030203" pitchFamily="34" charset="0"/>
                    <a:ea typeface="Lato Black" panose="020F0502020204030203" pitchFamily="34" charset="0"/>
                    <a:cs typeface="Lato Black" panose="020F0502020204030203" pitchFamily="34" charset="0"/>
                  </a:rPr>
                  <a:t>Nutritional parameters</a:t>
                </a:r>
                <a:endParaRPr lang="ko-KR" altLang="en-US" sz="1600" dirty="0">
                  <a:solidFill>
                    <a:schemeClr val="tx1">
                      <a:lumMod val="65000"/>
                      <a:lumOff val="35000"/>
                    </a:schemeClr>
                  </a:solidFill>
                  <a:latin typeface="Lato Black" panose="020F0502020204030203" pitchFamily="34" charset="0"/>
                  <a:cs typeface="Lato Black" panose="020F0502020204030203" pitchFamily="34" charset="0"/>
                </a:endParaRPr>
              </a:p>
            </p:txBody>
          </p:sp>
          <p:sp>
            <p:nvSpPr>
              <p:cNvPr id="39" name="사각형: 둥근 모서리 38">
                <a:extLst>
                  <a:ext uri="{FF2B5EF4-FFF2-40B4-BE49-F238E27FC236}">
                    <a16:creationId xmlns:a16="http://schemas.microsoft.com/office/drawing/2014/main" id="{4C43F7D8-D237-3D01-D052-D96F6F4199D5}"/>
                  </a:ext>
                </a:extLst>
              </p:cNvPr>
              <p:cNvSpPr/>
              <p:nvPr/>
            </p:nvSpPr>
            <p:spPr>
              <a:xfrm rot="5400000">
                <a:off x="-229937" y="2268593"/>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STEP2</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grpSp>
        <p:nvGrpSpPr>
          <p:cNvPr id="40" name="그룹 39">
            <a:extLst>
              <a:ext uri="{FF2B5EF4-FFF2-40B4-BE49-F238E27FC236}">
                <a16:creationId xmlns:a16="http://schemas.microsoft.com/office/drawing/2014/main" id="{F504B742-470E-BD83-38B4-C7588927EF66}"/>
              </a:ext>
            </a:extLst>
          </p:cNvPr>
          <p:cNvGrpSpPr/>
          <p:nvPr/>
        </p:nvGrpSpPr>
        <p:grpSpPr>
          <a:xfrm>
            <a:off x="3939799" y="3438018"/>
            <a:ext cx="300064" cy="271459"/>
            <a:chOff x="2061642" y="2996194"/>
            <a:chExt cx="369826" cy="334570"/>
          </a:xfrm>
        </p:grpSpPr>
        <p:sp>
          <p:nvSpPr>
            <p:cNvPr id="41" name="이등변 삼각형 34">
              <a:extLst>
                <a:ext uri="{FF2B5EF4-FFF2-40B4-BE49-F238E27FC236}">
                  <a16:creationId xmlns:a16="http://schemas.microsoft.com/office/drawing/2014/main" id="{BC012AD9-3284-C8CA-1801-9E5FB5F82A87}"/>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이등변 삼각형 34">
              <a:extLst>
                <a:ext uri="{FF2B5EF4-FFF2-40B4-BE49-F238E27FC236}">
                  <a16:creationId xmlns:a16="http://schemas.microsoft.com/office/drawing/2014/main" id="{A6FEC306-727E-54FF-3CAF-74EB0072AE7D}"/>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CA3210EF-FA22-005E-38CD-0FADDBE80680}"/>
              </a:ext>
            </a:extLst>
          </p:cNvPr>
          <p:cNvGrpSpPr/>
          <p:nvPr/>
        </p:nvGrpSpPr>
        <p:grpSpPr>
          <a:xfrm>
            <a:off x="2244381" y="3882291"/>
            <a:ext cx="3690892" cy="883795"/>
            <a:chOff x="-3166138" y="2251723"/>
            <a:chExt cx="2792525" cy="1006408"/>
          </a:xfrm>
        </p:grpSpPr>
        <p:sp>
          <p:nvSpPr>
            <p:cNvPr id="44" name="사각형: 둥근 모서리 43">
              <a:extLst>
                <a:ext uri="{FF2B5EF4-FFF2-40B4-BE49-F238E27FC236}">
                  <a16:creationId xmlns:a16="http://schemas.microsoft.com/office/drawing/2014/main" id="{C1466775-CE77-3C06-DACB-D79A00E872BC}"/>
                </a:ext>
              </a:extLst>
            </p:cNvPr>
            <p:cNvSpPr/>
            <p:nvPr/>
          </p:nvSpPr>
          <p:spPr>
            <a:xfrm rot="5400000">
              <a:off x="-2270497" y="1407476"/>
              <a:ext cx="1006408"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45" name="그룹 44">
              <a:extLst>
                <a:ext uri="{FF2B5EF4-FFF2-40B4-BE49-F238E27FC236}">
                  <a16:creationId xmlns:a16="http://schemas.microsoft.com/office/drawing/2014/main" id="{A1F5D50B-EE46-D4B5-A6E9-7A15541BE3DD}"/>
                </a:ext>
              </a:extLst>
            </p:cNvPr>
            <p:cNvGrpSpPr/>
            <p:nvPr/>
          </p:nvGrpSpPr>
          <p:grpSpPr>
            <a:xfrm rot="16200000">
              <a:off x="-2155267" y="1363794"/>
              <a:ext cx="770784" cy="2792525"/>
              <a:chOff x="-667702" y="1249713"/>
              <a:chExt cx="770784" cy="2297959"/>
            </a:xfrm>
          </p:grpSpPr>
          <p:sp>
            <p:nvSpPr>
              <p:cNvPr id="46" name="TextBox 45">
                <a:extLst>
                  <a:ext uri="{FF2B5EF4-FFF2-40B4-BE49-F238E27FC236}">
                    <a16:creationId xmlns:a16="http://schemas.microsoft.com/office/drawing/2014/main" id="{A4CC2EDD-85D9-6B97-1BEC-AF870ABD0E37}"/>
                  </a:ext>
                </a:extLst>
              </p:cNvPr>
              <p:cNvSpPr txBox="1"/>
              <p:nvPr/>
            </p:nvSpPr>
            <p:spPr>
              <a:xfrm rot="5400000">
                <a:off x="-1575201" y="2157212"/>
                <a:ext cx="2297959" cy="482962"/>
              </a:xfrm>
              <a:prstGeom prst="rect">
                <a:avLst/>
              </a:prstGeom>
              <a:noFill/>
            </p:spPr>
            <p:txBody>
              <a:bodyPr wrap="square" rtlCol="0" anchor="ctr" anchorCtr="0">
                <a:noAutofit/>
              </a:bodyPr>
              <a:lstStyle/>
              <a:p>
                <a:pPr algn="ctr"/>
                <a:r>
                  <a:rPr lang="ko-KR" altLang="en-US" sz="1600" dirty="0">
                    <a:solidFill>
                      <a:schemeClr val="tx1">
                        <a:lumMod val="65000"/>
                        <a:lumOff val="35000"/>
                      </a:schemeClr>
                    </a:solidFill>
                    <a:latin typeface="Lato Black" panose="020F0502020204030203" pitchFamily="34" charset="0"/>
                    <a:cs typeface="Lato Black" panose="020F0502020204030203" pitchFamily="34" charset="0"/>
                  </a:rPr>
                  <a:t>③ </a:t>
                </a:r>
                <a:r>
                  <a:rPr lang="en-US" altLang="ko-KR" sz="1600" dirty="0">
                    <a:solidFill>
                      <a:schemeClr val="tx1">
                        <a:lumMod val="65000"/>
                        <a:lumOff val="35000"/>
                      </a:schemeClr>
                    </a:solidFill>
                    <a:latin typeface="Lato Black" panose="020F0502020204030203" pitchFamily="34" charset="0"/>
                    <a:ea typeface="Lato Black" panose="020F0502020204030203" pitchFamily="34" charset="0"/>
                    <a:cs typeface="Lato Black" panose="020F0502020204030203" pitchFamily="34" charset="0"/>
                  </a:rPr>
                  <a:t>Look at the Segmental ECW Ratio </a:t>
                </a:r>
                <a:endParaRPr lang="ko-KR" altLang="en-US" sz="1600" dirty="0">
                  <a:solidFill>
                    <a:schemeClr val="tx1">
                      <a:lumMod val="65000"/>
                      <a:lumOff val="35000"/>
                    </a:schemeClr>
                  </a:solidFill>
                  <a:latin typeface="Lato Black" panose="020F0502020204030203" pitchFamily="34" charset="0"/>
                  <a:cs typeface="Lato Black" panose="020F0502020204030203" pitchFamily="34" charset="0"/>
                </a:endParaRPr>
              </a:p>
            </p:txBody>
          </p:sp>
          <p:sp>
            <p:nvSpPr>
              <p:cNvPr id="47" name="사각형: 둥근 모서리 46">
                <a:extLst>
                  <a:ext uri="{FF2B5EF4-FFF2-40B4-BE49-F238E27FC236}">
                    <a16:creationId xmlns:a16="http://schemas.microsoft.com/office/drawing/2014/main" id="{376F4186-D6F0-28CF-772D-9A30234DBBDA}"/>
                  </a:ext>
                </a:extLst>
              </p:cNvPr>
              <p:cNvSpPr/>
              <p:nvPr/>
            </p:nvSpPr>
            <p:spPr>
              <a:xfrm rot="5400000">
                <a:off x="-229937" y="2268593"/>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STEP3</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grpSp>
        <p:nvGrpSpPr>
          <p:cNvPr id="56" name="그룹 55">
            <a:extLst>
              <a:ext uri="{FF2B5EF4-FFF2-40B4-BE49-F238E27FC236}">
                <a16:creationId xmlns:a16="http://schemas.microsoft.com/office/drawing/2014/main" id="{DC3B2D5E-58AF-FA3C-1D25-B76A47F19714}"/>
              </a:ext>
            </a:extLst>
          </p:cNvPr>
          <p:cNvGrpSpPr/>
          <p:nvPr/>
        </p:nvGrpSpPr>
        <p:grpSpPr>
          <a:xfrm>
            <a:off x="3939799" y="4950110"/>
            <a:ext cx="300064" cy="271459"/>
            <a:chOff x="2061642" y="2996194"/>
            <a:chExt cx="369826" cy="334570"/>
          </a:xfrm>
        </p:grpSpPr>
        <p:sp>
          <p:nvSpPr>
            <p:cNvPr id="57" name="이등변 삼각형 34">
              <a:extLst>
                <a:ext uri="{FF2B5EF4-FFF2-40B4-BE49-F238E27FC236}">
                  <a16:creationId xmlns:a16="http://schemas.microsoft.com/office/drawing/2014/main" id="{F118FE19-5CB1-7EA3-FEFA-D6DF86ABCC61}"/>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이등변 삼각형 34">
              <a:extLst>
                <a:ext uri="{FF2B5EF4-FFF2-40B4-BE49-F238E27FC236}">
                  <a16:creationId xmlns:a16="http://schemas.microsoft.com/office/drawing/2014/main" id="{4CA5DF8B-8939-FF64-8C98-93BFC3E3F2DB}"/>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9" name="그룹 58">
            <a:extLst>
              <a:ext uri="{FF2B5EF4-FFF2-40B4-BE49-F238E27FC236}">
                <a16:creationId xmlns:a16="http://schemas.microsoft.com/office/drawing/2014/main" id="{D5434C1C-5877-3EFB-3C93-A1C2B9E38F39}"/>
              </a:ext>
            </a:extLst>
          </p:cNvPr>
          <p:cNvGrpSpPr/>
          <p:nvPr/>
        </p:nvGrpSpPr>
        <p:grpSpPr>
          <a:xfrm>
            <a:off x="2244381" y="5394383"/>
            <a:ext cx="3690892" cy="883795"/>
            <a:chOff x="-3166138" y="2251723"/>
            <a:chExt cx="2792525" cy="1006408"/>
          </a:xfrm>
        </p:grpSpPr>
        <p:sp>
          <p:nvSpPr>
            <p:cNvPr id="60" name="사각형: 둥근 모서리 59">
              <a:extLst>
                <a:ext uri="{FF2B5EF4-FFF2-40B4-BE49-F238E27FC236}">
                  <a16:creationId xmlns:a16="http://schemas.microsoft.com/office/drawing/2014/main" id="{D22AC36E-F2D7-E84E-4449-634C07CCF9F8}"/>
                </a:ext>
              </a:extLst>
            </p:cNvPr>
            <p:cNvSpPr/>
            <p:nvPr/>
          </p:nvSpPr>
          <p:spPr>
            <a:xfrm rot="5400000">
              <a:off x="-2270497" y="1407476"/>
              <a:ext cx="1006408"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61" name="그룹 60">
              <a:extLst>
                <a:ext uri="{FF2B5EF4-FFF2-40B4-BE49-F238E27FC236}">
                  <a16:creationId xmlns:a16="http://schemas.microsoft.com/office/drawing/2014/main" id="{8266CCDA-64CB-B7B0-8798-7CE6357CCD5B}"/>
                </a:ext>
              </a:extLst>
            </p:cNvPr>
            <p:cNvGrpSpPr/>
            <p:nvPr/>
          </p:nvGrpSpPr>
          <p:grpSpPr>
            <a:xfrm rot="16200000">
              <a:off x="-2155267" y="1363794"/>
              <a:ext cx="770784" cy="2792525"/>
              <a:chOff x="-667702" y="1249713"/>
              <a:chExt cx="770784" cy="2297959"/>
            </a:xfrm>
          </p:grpSpPr>
          <p:sp>
            <p:nvSpPr>
              <p:cNvPr id="62" name="TextBox 61">
                <a:extLst>
                  <a:ext uri="{FF2B5EF4-FFF2-40B4-BE49-F238E27FC236}">
                    <a16:creationId xmlns:a16="http://schemas.microsoft.com/office/drawing/2014/main" id="{00605BD3-0CBE-7AC1-6453-CFD9FEB82DDE}"/>
                  </a:ext>
                </a:extLst>
              </p:cNvPr>
              <p:cNvSpPr txBox="1"/>
              <p:nvPr/>
            </p:nvSpPr>
            <p:spPr>
              <a:xfrm rot="5400000">
                <a:off x="-1575201" y="2157212"/>
                <a:ext cx="2297959" cy="482962"/>
              </a:xfrm>
              <a:prstGeom prst="rect">
                <a:avLst/>
              </a:prstGeom>
              <a:noFill/>
            </p:spPr>
            <p:txBody>
              <a:bodyPr wrap="square" rtlCol="0" anchor="ctr" anchorCtr="0">
                <a:noAutofit/>
              </a:bodyPr>
              <a:lstStyle/>
              <a:p>
                <a:pPr algn="ctr"/>
                <a:r>
                  <a:rPr lang="ko-KR" altLang="en-US" sz="1600" dirty="0">
                    <a:solidFill>
                      <a:schemeClr val="tx1">
                        <a:lumMod val="65000"/>
                        <a:lumOff val="35000"/>
                      </a:schemeClr>
                    </a:solidFill>
                    <a:latin typeface="Lato Black" panose="020F0502020204030203" pitchFamily="34" charset="0"/>
                    <a:cs typeface="Lato Black" panose="020F0502020204030203" pitchFamily="34" charset="0"/>
                  </a:rPr>
                  <a:t>④ </a:t>
                </a:r>
                <a:r>
                  <a:rPr lang="en-US" altLang="ko-KR" sz="1600" dirty="0">
                    <a:solidFill>
                      <a:schemeClr val="tx1">
                        <a:lumMod val="65000"/>
                        <a:lumOff val="35000"/>
                      </a:schemeClr>
                    </a:solidFill>
                    <a:latin typeface="Lato Black" panose="020F0502020204030203" pitchFamily="34" charset="0"/>
                    <a:ea typeface="Lato Black" panose="020F0502020204030203" pitchFamily="34" charset="0"/>
                    <a:cs typeface="Lato Black" panose="020F0502020204030203" pitchFamily="34" charset="0"/>
                  </a:rPr>
                  <a:t>Severity Check</a:t>
                </a:r>
                <a:endParaRPr lang="ko-KR" altLang="en-US" sz="1600" dirty="0">
                  <a:solidFill>
                    <a:schemeClr val="tx1">
                      <a:lumMod val="65000"/>
                      <a:lumOff val="35000"/>
                    </a:schemeClr>
                  </a:solidFill>
                  <a:latin typeface="Lato Black" panose="020F0502020204030203" pitchFamily="34" charset="0"/>
                  <a:cs typeface="Lato Black" panose="020F0502020204030203" pitchFamily="34" charset="0"/>
                </a:endParaRPr>
              </a:p>
            </p:txBody>
          </p:sp>
          <p:sp>
            <p:nvSpPr>
              <p:cNvPr id="63" name="사각형: 둥근 모서리 62">
                <a:extLst>
                  <a:ext uri="{FF2B5EF4-FFF2-40B4-BE49-F238E27FC236}">
                    <a16:creationId xmlns:a16="http://schemas.microsoft.com/office/drawing/2014/main" id="{4D7FA22B-6962-DCC5-ADAA-21428886D5E2}"/>
                  </a:ext>
                </a:extLst>
              </p:cNvPr>
              <p:cNvSpPr/>
              <p:nvPr/>
            </p:nvSpPr>
            <p:spPr>
              <a:xfrm rot="5400000">
                <a:off x="-229937" y="2268593"/>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STEP4</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spTree>
    <p:extLst>
      <p:ext uri="{BB962C8B-B14F-4D97-AF65-F5344CB8AC3E}">
        <p14:creationId xmlns:p14="http://schemas.microsoft.com/office/powerpoint/2010/main" val="3286461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p:cNvGrpSpPr/>
          <p:nvPr/>
        </p:nvGrpSpPr>
        <p:grpSpPr>
          <a:xfrm>
            <a:off x="76201" y="125817"/>
            <a:ext cx="5973618" cy="6606366"/>
            <a:chOff x="380009" y="740382"/>
            <a:chExt cx="3372485" cy="3529965"/>
          </a:xfrm>
        </p:grpSpPr>
        <p:pic>
          <p:nvPicPr>
            <p:cNvPr id="31" name="Afbeelding 2">
              <a:extLst>
                <a:ext uri="{FF2B5EF4-FFF2-40B4-BE49-F238E27FC236}">
                  <a16:creationId xmlns:a16="http://schemas.microsoft.com/office/drawing/2014/main" id="{7E8FE036-1BFD-4FB5-B8AA-E2F8BD273481}"/>
                </a:ext>
              </a:extLst>
            </p:cNvPr>
            <p:cNvPicPr/>
            <p:nvPr/>
          </p:nvPicPr>
          <p:blipFill rotWithShape="1">
            <a:blip r:embed="rId3" cstate="print">
              <a:extLst>
                <a:ext uri="{28A0092B-C50C-407E-A947-70E740481C1C}">
                  <a14:useLocalDpi xmlns:a14="http://schemas.microsoft.com/office/drawing/2010/main" val="0"/>
                </a:ext>
              </a:extLst>
            </a:blip>
            <a:srcRect b="26008"/>
            <a:stretch/>
          </p:blipFill>
          <p:spPr>
            <a:xfrm>
              <a:off x="380009" y="740382"/>
              <a:ext cx="3372485" cy="3529965"/>
            </a:xfrm>
            <a:prstGeom prst="rect">
              <a:avLst/>
            </a:prstGeom>
          </p:spPr>
        </p:pic>
        <p:sp>
          <p:nvSpPr>
            <p:cNvPr id="34" name="직사각형 33"/>
            <p:cNvSpPr/>
            <p:nvPr/>
          </p:nvSpPr>
          <p:spPr>
            <a:xfrm>
              <a:off x="2516784" y="1414117"/>
              <a:ext cx="1069340" cy="154940"/>
            </a:xfrm>
            <a:prstGeom prst="rect">
              <a:avLst/>
            </a:prstGeom>
            <a:solidFill>
              <a:srgbClr val="FFC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35" name="직사각형 34"/>
            <p:cNvSpPr/>
            <p:nvPr/>
          </p:nvSpPr>
          <p:spPr>
            <a:xfrm>
              <a:off x="2525039" y="2691102"/>
              <a:ext cx="1061720" cy="102870"/>
            </a:xfrm>
            <a:prstGeom prst="rect">
              <a:avLst/>
            </a:prstGeom>
            <a:solidFill>
              <a:srgbClr val="FFC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37" name="직사각형 36"/>
            <p:cNvSpPr/>
            <p:nvPr/>
          </p:nvSpPr>
          <p:spPr>
            <a:xfrm>
              <a:off x="894994" y="2096107"/>
              <a:ext cx="862330" cy="163830"/>
            </a:xfrm>
            <a:prstGeom prst="rect">
              <a:avLst/>
            </a:prstGeom>
            <a:solidFill>
              <a:srgbClr val="FFC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grpSp>
      <p:sp>
        <p:nvSpPr>
          <p:cNvPr id="40" name="Rechthoek 54"/>
          <p:cNvSpPr/>
          <p:nvPr/>
        </p:nvSpPr>
        <p:spPr>
          <a:xfrm>
            <a:off x="5970802" y="1531705"/>
            <a:ext cx="3800652" cy="31495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GB" sz="1400" b="1" dirty="0">
                <a:solidFill>
                  <a:srgbClr val="C00000"/>
                </a:solidFill>
                <a:effectLst/>
                <a:ea typeface="MS Mincho"/>
                <a:cs typeface="Times New Roman" panose="02020603050405020304" pitchFamily="18" charset="0"/>
              </a:rPr>
              <a:t>Patient information:</a:t>
            </a:r>
            <a:endParaRPr lang="ko-KR" sz="1400" dirty="0">
              <a:effectLst/>
              <a:ea typeface="MS Mincho"/>
              <a:cs typeface="Times New Roman" panose="02020603050405020304" pitchFamily="18" charset="0"/>
            </a:endParaRPr>
          </a:p>
          <a:p>
            <a:pPr>
              <a:lnSpc>
                <a:spcPct val="107000"/>
              </a:lnSpc>
              <a:spcAft>
                <a:spcPts val="800"/>
              </a:spcAft>
            </a:pPr>
            <a:r>
              <a:rPr lang="en-GB" sz="1400" b="1" dirty="0">
                <a:solidFill>
                  <a:srgbClr val="000000"/>
                </a:solidFill>
                <a:effectLst/>
                <a:ea typeface="MS Mincho"/>
                <a:cs typeface="Times New Roman" panose="02020603050405020304" pitchFamily="18" charset="0"/>
              </a:rPr>
              <a:t>Age:</a:t>
            </a:r>
            <a:r>
              <a:rPr lang="en-GB" sz="1400" dirty="0">
                <a:solidFill>
                  <a:srgbClr val="000000"/>
                </a:solidFill>
                <a:effectLst/>
                <a:ea typeface="MS Mincho"/>
                <a:cs typeface="Times New Roman" panose="02020603050405020304" pitchFamily="18" charset="0"/>
              </a:rPr>
              <a:t> 49</a:t>
            </a:r>
            <a:br>
              <a:rPr lang="en-GB" sz="1400" dirty="0">
                <a:solidFill>
                  <a:srgbClr val="000000"/>
                </a:solidFill>
                <a:effectLst/>
                <a:ea typeface="MS Mincho"/>
                <a:cs typeface="Times New Roman" panose="02020603050405020304" pitchFamily="18" charset="0"/>
              </a:rPr>
            </a:br>
            <a:r>
              <a:rPr lang="en-GB" sz="1400" b="1" dirty="0">
                <a:solidFill>
                  <a:srgbClr val="000000"/>
                </a:solidFill>
                <a:effectLst/>
                <a:ea typeface="MS Mincho"/>
                <a:cs typeface="Times New Roman" panose="02020603050405020304" pitchFamily="18" charset="0"/>
              </a:rPr>
              <a:t>Gender:</a:t>
            </a:r>
            <a:r>
              <a:rPr lang="en-GB" sz="1400" dirty="0">
                <a:solidFill>
                  <a:srgbClr val="000000"/>
                </a:solidFill>
                <a:effectLst/>
                <a:ea typeface="MS Mincho"/>
                <a:cs typeface="Times New Roman" panose="02020603050405020304" pitchFamily="18" charset="0"/>
              </a:rPr>
              <a:t> Man</a:t>
            </a:r>
            <a:br>
              <a:rPr lang="en-GB" sz="1400" dirty="0">
                <a:solidFill>
                  <a:srgbClr val="000000"/>
                </a:solidFill>
                <a:effectLst/>
                <a:ea typeface="MS Mincho"/>
                <a:cs typeface="Times New Roman" panose="02020603050405020304" pitchFamily="18" charset="0"/>
              </a:rPr>
            </a:br>
            <a:r>
              <a:rPr lang="en-US" sz="1400" b="1" dirty="0">
                <a:solidFill>
                  <a:srgbClr val="000000"/>
                </a:solidFill>
                <a:ea typeface="MS Mincho"/>
                <a:cs typeface="Times New Roman" panose="02020603050405020304" pitchFamily="18" charset="0"/>
              </a:rPr>
              <a:t>Weight:</a:t>
            </a:r>
            <a:r>
              <a:rPr lang="en-US" sz="1400" dirty="0">
                <a:solidFill>
                  <a:srgbClr val="000000"/>
                </a:solidFill>
                <a:ea typeface="MS Mincho"/>
                <a:cs typeface="Times New Roman" panose="02020603050405020304" pitchFamily="18" charset="0"/>
              </a:rPr>
              <a:t> 58.9kg</a:t>
            </a:r>
            <a:br>
              <a:rPr lang="en-GB" sz="1400" dirty="0">
                <a:solidFill>
                  <a:srgbClr val="000000"/>
                </a:solidFill>
                <a:effectLst/>
                <a:ea typeface="MS Mincho"/>
                <a:cs typeface="Times New Roman" panose="02020603050405020304" pitchFamily="18" charset="0"/>
              </a:rPr>
            </a:br>
            <a:r>
              <a:rPr lang="en-GB" sz="1400" b="1" dirty="0">
                <a:solidFill>
                  <a:srgbClr val="000000"/>
                </a:solidFill>
                <a:effectLst/>
                <a:ea typeface="MS Mincho"/>
                <a:cs typeface="Times New Roman" panose="02020603050405020304" pitchFamily="18" charset="0"/>
              </a:rPr>
              <a:t>Medical history:</a:t>
            </a:r>
            <a:r>
              <a:rPr lang="en-GB" sz="1400" dirty="0">
                <a:solidFill>
                  <a:srgbClr val="000000"/>
                </a:solidFill>
                <a:effectLst/>
                <a:ea typeface="MS Mincho"/>
                <a:cs typeface="Times New Roman" panose="02020603050405020304" pitchFamily="18" charset="0"/>
              </a:rPr>
              <a:t> DM-, </a:t>
            </a:r>
            <a:r>
              <a:rPr lang="en-GB" sz="1400" dirty="0" err="1">
                <a:solidFill>
                  <a:srgbClr val="000000"/>
                </a:solidFill>
                <a:effectLst/>
                <a:ea typeface="MS Mincho"/>
                <a:cs typeface="Times New Roman" panose="02020603050405020304" pitchFamily="18" charset="0"/>
              </a:rPr>
              <a:t>HypoAlb</a:t>
            </a:r>
            <a:r>
              <a:rPr lang="en-GB" sz="1400" dirty="0">
                <a:solidFill>
                  <a:srgbClr val="000000"/>
                </a:solidFill>
                <a:effectLst/>
                <a:ea typeface="MS Mincho"/>
                <a:cs typeface="Times New Roman" panose="02020603050405020304" pitchFamily="18" charset="0"/>
              </a:rPr>
              <a:t>- </a:t>
            </a:r>
            <a:endParaRPr lang="ko-KR" sz="1400" dirty="0">
              <a:effectLst/>
              <a:ea typeface="MS Mincho"/>
              <a:cs typeface="Times New Roman" panose="02020603050405020304" pitchFamily="18" charset="0"/>
            </a:endParaRPr>
          </a:p>
          <a:p>
            <a:pPr>
              <a:lnSpc>
                <a:spcPct val="107000"/>
              </a:lnSpc>
              <a:spcAft>
                <a:spcPts val="800"/>
              </a:spcAft>
            </a:pPr>
            <a:r>
              <a:rPr lang="en-GB" sz="1400" b="1" dirty="0" err="1">
                <a:solidFill>
                  <a:srgbClr val="C00000"/>
                </a:solidFill>
                <a:effectLst/>
                <a:ea typeface="MS Mincho"/>
                <a:cs typeface="Times New Roman" panose="02020603050405020304" pitchFamily="18" charset="0"/>
              </a:rPr>
              <a:t>InBody</a:t>
            </a:r>
            <a:r>
              <a:rPr lang="en-GB" sz="1400" b="1" dirty="0">
                <a:solidFill>
                  <a:srgbClr val="C00000"/>
                </a:solidFill>
                <a:effectLst/>
                <a:ea typeface="MS Mincho"/>
                <a:cs typeface="Times New Roman" panose="02020603050405020304" pitchFamily="18" charset="0"/>
              </a:rPr>
              <a:t> Result:</a:t>
            </a:r>
            <a:endParaRPr lang="ko-KR" sz="1400" dirty="0">
              <a:effectLst/>
              <a:ea typeface="MS Mincho"/>
              <a:cs typeface="Times New Roman" panose="02020603050405020304" pitchFamily="18" charset="0"/>
            </a:endParaRPr>
          </a:p>
          <a:p>
            <a:pPr>
              <a:lnSpc>
                <a:spcPct val="107000"/>
              </a:lnSpc>
              <a:spcAft>
                <a:spcPts val="800"/>
              </a:spcAft>
            </a:pPr>
            <a:r>
              <a:rPr lang="en-GB" altLang="ko-KR" sz="1400" b="1" dirty="0">
                <a:solidFill>
                  <a:srgbClr val="000000"/>
                </a:solidFill>
                <a:ea typeface="MS Mincho"/>
                <a:cs typeface="Times New Roman" panose="02020603050405020304" pitchFamily="18" charset="0"/>
              </a:rPr>
              <a:t>ECW ratio after dialysis</a:t>
            </a:r>
            <a:r>
              <a:rPr lang="en-GB" altLang="ko-KR" sz="1400" dirty="0">
                <a:solidFill>
                  <a:srgbClr val="000000"/>
                </a:solidFill>
                <a:ea typeface="MS Mincho"/>
                <a:cs typeface="Times New Roman" panose="02020603050405020304" pitchFamily="18" charset="0"/>
              </a:rPr>
              <a:t>: 0.389</a:t>
            </a:r>
            <a:endParaRPr lang="ko-KR" altLang="ko-KR" sz="1400" dirty="0">
              <a:ea typeface="MS Mincho"/>
              <a:cs typeface="Times New Roman" panose="02020603050405020304" pitchFamily="18" charset="0"/>
            </a:endParaRPr>
          </a:p>
          <a:p>
            <a:pPr>
              <a:lnSpc>
                <a:spcPct val="107000"/>
              </a:lnSpc>
              <a:spcAft>
                <a:spcPts val="800"/>
              </a:spcAft>
            </a:pPr>
            <a:r>
              <a:rPr lang="en-GB" sz="1400" b="1" dirty="0">
                <a:solidFill>
                  <a:srgbClr val="000000"/>
                </a:solidFill>
                <a:effectLst/>
                <a:ea typeface="MS Mincho"/>
                <a:cs typeface="Times New Roman" panose="02020603050405020304" pitchFamily="18" charset="0"/>
              </a:rPr>
              <a:t>Dry Weight: </a:t>
            </a:r>
            <a:r>
              <a:rPr lang="en-GB" sz="1400" dirty="0">
                <a:solidFill>
                  <a:srgbClr val="000000"/>
                </a:solidFill>
                <a:effectLst/>
                <a:ea typeface="MS Mincho"/>
                <a:cs typeface="Times New Roman" panose="02020603050405020304" pitchFamily="18" charset="0"/>
              </a:rPr>
              <a:t>58.8kg</a:t>
            </a:r>
            <a:br>
              <a:rPr lang="en-GB" sz="1400" dirty="0">
                <a:solidFill>
                  <a:srgbClr val="000000"/>
                </a:solidFill>
                <a:effectLst/>
                <a:ea typeface="MS Mincho"/>
                <a:cs typeface="Times New Roman" panose="02020603050405020304" pitchFamily="18" charset="0"/>
              </a:rPr>
            </a:br>
            <a:r>
              <a:rPr lang="en-GB" sz="1400" b="1" dirty="0">
                <a:solidFill>
                  <a:srgbClr val="000000"/>
                </a:solidFill>
                <a:ea typeface="MS Mincho"/>
                <a:cs typeface="Times New Roman" panose="02020603050405020304" pitchFamily="18" charset="0"/>
              </a:rPr>
              <a:t>Ultrafiltration Volume: </a:t>
            </a:r>
            <a:r>
              <a:rPr lang="en-GB" sz="1400" dirty="0">
                <a:solidFill>
                  <a:srgbClr val="000000"/>
                </a:solidFill>
                <a:ea typeface="MS Mincho"/>
                <a:cs typeface="Times New Roman" panose="02020603050405020304" pitchFamily="18" charset="0"/>
              </a:rPr>
              <a:t>- 0.1L</a:t>
            </a:r>
            <a:br>
              <a:rPr lang="en-GB" sz="1400" dirty="0">
                <a:solidFill>
                  <a:srgbClr val="000000"/>
                </a:solidFill>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Fluid status:</a:t>
            </a:r>
            <a:r>
              <a:rPr lang="en-GB" altLang="ko-KR" sz="1400" dirty="0">
                <a:solidFill>
                  <a:srgbClr val="000000"/>
                </a:solidFill>
                <a:ea typeface="MS Mincho"/>
                <a:cs typeface="Times New Roman" panose="02020603050405020304" pitchFamily="18" charset="0"/>
              </a:rPr>
              <a:t> </a:t>
            </a:r>
            <a:r>
              <a:rPr lang="en-GB" altLang="ko-KR" sz="1400" dirty="0" err="1">
                <a:solidFill>
                  <a:srgbClr val="000000"/>
                </a:solidFill>
                <a:ea typeface="MS Mincho"/>
                <a:cs typeface="Times New Roman" panose="02020603050405020304" pitchFamily="18" charset="0"/>
              </a:rPr>
              <a:t>Eu</a:t>
            </a:r>
            <a:r>
              <a:rPr lang="en-GB" altLang="ko-KR" sz="1400" dirty="0">
                <a:solidFill>
                  <a:srgbClr val="000000"/>
                </a:solidFill>
                <a:ea typeface="MS Mincho"/>
                <a:cs typeface="Times New Roman" panose="02020603050405020304" pitchFamily="18" charset="0"/>
              </a:rPr>
              <a:t>-hydrated</a:t>
            </a:r>
            <a:endParaRPr lang="ko-KR" sz="1400" dirty="0">
              <a:effectLst/>
              <a:ea typeface="MS Mincho"/>
              <a:cs typeface="Times New Roman" panose="02020603050405020304" pitchFamily="18" charset="0"/>
            </a:endParaRPr>
          </a:p>
        </p:txBody>
      </p:sp>
      <p:sp>
        <p:nvSpPr>
          <p:cNvPr id="41" name="TextBox 40"/>
          <p:cNvSpPr txBox="1"/>
          <p:nvPr/>
        </p:nvSpPr>
        <p:spPr>
          <a:xfrm>
            <a:off x="5972625" y="5180952"/>
            <a:ext cx="5627556" cy="584775"/>
          </a:xfrm>
          <a:prstGeom prst="rect">
            <a:avLst/>
          </a:prstGeom>
          <a:noFill/>
        </p:spPr>
        <p:txBody>
          <a:bodyPr wrap="square" rtlCol="0">
            <a:spAutoFit/>
          </a:bodyPr>
          <a:lstStyle>
            <a:defPPr>
              <a:defRPr lang="ko-KR"/>
            </a:defPPr>
            <a:lvl1pPr>
              <a:defRPr sz="1600">
                <a:solidFill>
                  <a:schemeClr val="tx1">
                    <a:lumMod val="85000"/>
                    <a:lumOff val="15000"/>
                  </a:schemeClr>
                </a:solidFill>
              </a:defRPr>
            </a:lvl1pPr>
          </a:lstStyle>
          <a:p>
            <a:r>
              <a:rPr lang="en-US" altLang="ko-KR" dirty="0"/>
              <a:t>Well on body water control so we can consult about nutrition status such as leg lean mass, exercise. </a:t>
            </a:r>
            <a:endParaRPr lang="ko-KR" altLang="ko-KR" dirty="0"/>
          </a:p>
        </p:txBody>
      </p:sp>
    </p:spTree>
    <p:extLst>
      <p:ext uri="{BB962C8B-B14F-4D97-AF65-F5344CB8AC3E}">
        <p14:creationId xmlns:p14="http://schemas.microsoft.com/office/powerpoint/2010/main" val="34391643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fbeelding 2">
            <a:extLst>
              <a:ext uri="{FF2B5EF4-FFF2-40B4-BE49-F238E27FC236}">
                <a16:creationId xmlns:a16="http://schemas.microsoft.com/office/drawing/2014/main" id="{61A119E8-61E1-4ABA-A59E-079A79634277}"/>
              </a:ext>
            </a:extLst>
          </p:cNvPr>
          <p:cNvPicPr/>
          <p:nvPr/>
        </p:nvPicPr>
        <p:blipFill rotWithShape="1">
          <a:blip r:embed="rId3" cstate="print">
            <a:extLst>
              <a:ext uri="{28A0092B-C50C-407E-A947-70E740481C1C}">
                <a14:useLocalDpi xmlns:a14="http://schemas.microsoft.com/office/drawing/2010/main" val="0"/>
              </a:ext>
            </a:extLst>
          </a:blip>
          <a:srcRect b="25936"/>
          <a:stretch/>
        </p:blipFill>
        <p:spPr>
          <a:xfrm>
            <a:off x="91441" y="106681"/>
            <a:ext cx="5992440" cy="6644639"/>
          </a:xfrm>
          <a:prstGeom prst="rect">
            <a:avLst/>
          </a:prstGeom>
        </p:spPr>
      </p:pic>
      <p:sp>
        <p:nvSpPr>
          <p:cNvPr id="17" name="직사각형 16"/>
          <p:cNvSpPr/>
          <p:nvPr/>
        </p:nvSpPr>
        <p:spPr>
          <a:xfrm>
            <a:off x="3894685" y="1444969"/>
            <a:ext cx="1809461" cy="156441"/>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18" name="직사각형 17"/>
          <p:cNvSpPr/>
          <p:nvPr/>
        </p:nvSpPr>
        <p:spPr>
          <a:xfrm>
            <a:off x="3894685" y="3925047"/>
            <a:ext cx="1809461" cy="156441"/>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19" name="직사각형 18"/>
          <p:cNvSpPr/>
          <p:nvPr/>
        </p:nvSpPr>
        <p:spPr>
          <a:xfrm>
            <a:off x="1025178" y="2699586"/>
            <a:ext cx="2631498" cy="27498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3" name="직사각형 2"/>
          <p:cNvSpPr/>
          <p:nvPr/>
        </p:nvSpPr>
        <p:spPr>
          <a:xfrm>
            <a:off x="6193098" y="1192053"/>
            <a:ext cx="4414014" cy="2807820"/>
          </a:xfrm>
          <a:prstGeom prst="rect">
            <a:avLst/>
          </a:prstGeom>
          <a:solidFill>
            <a:schemeClr val="bg1">
              <a:lumMod val="95000"/>
            </a:schemeClr>
          </a:solidFill>
        </p:spPr>
        <p:txBody>
          <a:bodyPr wrap="square">
            <a:spAutoFit/>
          </a:bodyPr>
          <a:lstStyle/>
          <a:p>
            <a:pPr>
              <a:lnSpc>
                <a:spcPct val="107000"/>
              </a:lnSpc>
              <a:spcAft>
                <a:spcPts val="800"/>
              </a:spcAft>
            </a:pPr>
            <a:r>
              <a:rPr lang="en-GB" altLang="ko-KR" sz="1400" b="1" dirty="0">
                <a:solidFill>
                  <a:srgbClr val="C00000"/>
                </a:solidFill>
                <a:ea typeface="MS Mincho"/>
                <a:cs typeface="Times New Roman" panose="02020603050405020304" pitchFamily="18" charset="0"/>
              </a:rPr>
              <a:t>Patient information:</a:t>
            </a:r>
            <a:endParaRPr lang="ko-KR" altLang="ko-KR" sz="1400" dirty="0">
              <a:ea typeface="MS Mincho"/>
              <a:cs typeface="Times New Roman" panose="02020603050405020304" pitchFamily="18" charset="0"/>
            </a:endParaRPr>
          </a:p>
          <a:p>
            <a:pPr>
              <a:lnSpc>
                <a:spcPct val="107000"/>
              </a:lnSpc>
              <a:spcAft>
                <a:spcPts val="800"/>
              </a:spcAft>
            </a:pPr>
            <a:r>
              <a:rPr lang="en-GB" altLang="ko-KR" sz="1400" b="1" dirty="0">
                <a:solidFill>
                  <a:srgbClr val="000000"/>
                </a:solidFill>
                <a:ea typeface="MS Mincho"/>
                <a:cs typeface="Times New Roman" panose="02020603050405020304" pitchFamily="18" charset="0"/>
              </a:rPr>
              <a:t>Age: </a:t>
            </a:r>
            <a:r>
              <a:rPr lang="en-GB" altLang="ko-KR" sz="1400" dirty="0">
                <a:solidFill>
                  <a:srgbClr val="000000"/>
                </a:solidFill>
                <a:ea typeface="MS Mincho"/>
                <a:cs typeface="Times New Roman" panose="02020603050405020304" pitchFamily="18" charset="0"/>
              </a:rPr>
              <a:t>64</a:t>
            </a:r>
            <a:br>
              <a:rPr lang="en-GB" altLang="ko-KR" sz="1400" dirty="0">
                <a:solidFill>
                  <a:srgbClr val="000000"/>
                </a:solidFill>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Gender:</a:t>
            </a:r>
            <a:r>
              <a:rPr lang="en-GB" altLang="ko-KR" sz="1400" dirty="0">
                <a:solidFill>
                  <a:srgbClr val="000000"/>
                </a:solidFill>
                <a:ea typeface="MS Mincho"/>
                <a:cs typeface="Times New Roman" panose="02020603050405020304" pitchFamily="18" charset="0"/>
              </a:rPr>
              <a:t> Female</a:t>
            </a:r>
            <a:br>
              <a:rPr lang="en-GB" altLang="ko-KR" sz="1400" dirty="0">
                <a:solidFill>
                  <a:srgbClr val="000000"/>
                </a:solidFill>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Weight:</a:t>
            </a:r>
            <a:r>
              <a:rPr lang="en-GB" altLang="ko-KR" sz="1400" dirty="0">
                <a:solidFill>
                  <a:srgbClr val="000000"/>
                </a:solidFill>
                <a:ea typeface="MS Mincho"/>
                <a:cs typeface="Times New Roman" panose="02020603050405020304" pitchFamily="18" charset="0"/>
              </a:rPr>
              <a:t> 55.3kg</a:t>
            </a:r>
            <a:br>
              <a:rPr lang="en-GB" altLang="ko-KR" sz="1400" dirty="0">
                <a:solidFill>
                  <a:srgbClr val="000000"/>
                </a:solidFill>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Medical history:</a:t>
            </a:r>
            <a:r>
              <a:rPr lang="en-GB" altLang="ko-KR" sz="1400" dirty="0">
                <a:solidFill>
                  <a:srgbClr val="000000"/>
                </a:solidFill>
                <a:ea typeface="MS Mincho"/>
                <a:cs typeface="Times New Roman" panose="02020603050405020304" pitchFamily="18" charset="0"/>
              </a:rPr>
              <a:t> DM+,</a:t>
            </a:r>
            <a:r>
              <a:rPr lang="en-GB" altLang="ko-KR" sz="1400" dirty="0" err="1">
                <a:solidFill>
                  <a:srgbClr val="000000"/>
                </a:solidFill>
                <a:ea typeface="MS Mincho"/>
                <a:cs typeface="Times New Roman" panose="02020603050405020304" pitchFamily="18" charset="0"/>
              </a:rPr>
              <a:t>HypoAlb</a:t>
            </a:r>
            <a:r>
              <a:rPr lang="en-GB" altLang="ko-KR" sz="1400" dirty="0">
                <a:solidFill>
                  <a:srgbClr val="000000"/>
                </a:solidFill>
                <a:ea typeface="MS Mincho"/>
                <a:cs typeface="Times New Roman" panose="02020603050405020304" pitchFamily="18" charset="0"/>
              </a:rPr>
              <a:t>- or DM-,</a:t>
            </a:r>
            <a:r>
              <a:rPr lang="en-GB" altLang="ko-KR" sz="1400" dirty="0" err="1">
                <a:solidFill>
                  <a:srgbClr val="000000"/>
                </a:solidFill>
                <a:ea typeface="MS Mincho"/>
                <a:cs typeface="Times New Roman" panose="02020603050405020304" pitchFamily="18" charset="0"/>
              </a:rPr>
              <a:t>HypoAlb</a:t>
            </a:r>
            <a:r>
              <a:rPr lang="en-GB" altLang="ko-KR" sz="1400" dirty="0">
                <a:solidFill>
                  <a:srgbClr val="000000"/>
                </a:solidFill>
                <a:ea typeface="MS Mincho"/>
                <a:cs typeface="Times New Roman" panose="02020603050405020304" pitchFamily="18" charset="0"/>
              </a:rPr>
              <a:t>+</a:t>
            </a:r>
            <a:endParaRPr lang="ko-KR" altLang="ko-KR" sz="1400" dirty="0">
              <a:ea typeface="MS Mincho"/>
              <a:cs typeface="Times New Roman" panose="02020603050405020304" pitchFamily="18" charset="0"/>
            </a:endParaRPr>
          </a:p>
          <a:p>
            <a:pPr>
              <a:lnSpc>
                <a:spcPct val="107000"/>
              </a:lnSpc>
              <a:spcAft>
                <a:spcPts val="800"/>
              </a:spcAft>
            </a:pPr>
            <a:r>
              <a:rPr lang="en-GB" altLang="ko-KR" sz="1400" b="1" dirty="0" err="1">
                <a:solidFill>
                  <a:srgbClr val="C00000"/>
                </a:solidFill>
                <a:ea typeface="MS Mincho"/>
                <a:cs typeface="Times New Roman" panose="02020603050405020304" pitchFamily="18" charset="0"/>
              </a:rPr>
              <a:t>InBody</a:t>
            </a:r>
            <a:r>
              <a:rPr lang="en-GB" altLang="ko-KR" sz="1400" b="1" dirty="0">
                <a:solidFill>
                  <a:srgbClr val="C00000"/>
                </a:solidFill>
                <a:ea typeface="MS Mincho"/>
                <a:cs typeface="Times New Roman" panose="02020603050405020304" pitchFamily="18" charset="0"/>
              </a:rPr>
              <a:t> Result:</a:t>
            </a:r>
            <a:endParaRPr lang="ko-KR" altLang="ko-KR" sz="1400" dirty="0">
              <a:ea typeface="MS Mincho"/>
              <a:cs typeface="Times New Roman" panose="02020603050405020304" pitchFamily="18" charset="0"/>
            </a:endParaRPr>
          </a:p>
          <a:p>
            <a:pPr>
              <a:lnSpc>
                <a:spcPct val="107000"/>
              </a:lnSpc>
              <a:spcAft>
                <a:spcPts val="800"/>
              </a:spcAft>
            </a:pPr>
            <a:r>
              <a:rPr lang="en-GB" altLang="ko-KR" sz="1400" b="1" dirty="0">
                <a:solidFill>
                  <a:srgbClr val="000000"/>
                </a:solidFill>
                <a:ea typeface="MS Mincho"/>
                <a:cs typeface="Times New Roman" panose="02020603050405020304" pitchFamily="18" charset="0"/>
              </a:rPr>
              <a:t>ECW ratio after dialysis</a:t>
            </a:r>
            <a:r>
              <a:rPr lang="en-GB" altLang="ko-KR" sz="1400" dirty="0">
                <a:solidFill>
                  <a:srgbClr val="000000"/>
                </a:solidFill>
                <a:ea typeface="MS Mincho"/>
                <a:cs typeface="Times New Roman" panose="02020603050405020304" pitchFamily="18" charset="0"/>
              </a:rPr>
              <a:t>: 0.377</a:t>
            </a:r>
            <a:endParaRPr lang="en-GB" altLang="ko-KR" sz="1400" b="1" dirty="0">
              <a:solidFill>
                <a:srgbClr val="000000"/>
              </a:solidFill>
              <a:ea typeface="MS Mincho"/>
              <a:cs typeface="Times New Roman" panose="02020603050405020304" pitchFamily="18" charset="0"/>
            </a:endParaRPr>
          </a:p>
          <a:p>
            <a:pPr>
              <a:lnSpc>
                <a:spcPct val="107000"/>
              </a:lnSpc>
              <a:spcAft>
                <a:spcPts val="800"/>
              </a:spcAft>
            </a:pPr>
            <a:r>
              <a:rPr lang="en-GB" altLang="ko-KR" sz="1400" b="1" dirty="0">
                <a:solidFill>
                  <a:srgbClr val="000000"/>
                </a:solidFill>
                <a:ea typeface="MS Mincho"/>
                <a:cs typeface="Times New Roman" panose="02020603050405020304" pitchFamily="18" charset="0"/>
              </a:rPr>
              <a:t>Dry Weight: </a:t>
            </a:r>
            <a:r>
              <a:rPr lang="en-GB" altLang="ko-KR" sz="1400" dirty="0">
                <a:solidFill>
                  <a:srgbClr val="000000"/>
                </a:solidFill>
                <a:ea typeface="MS Mincho"/>
                <a:cs typeface="Times New Roman" panose="02020603050405020304" pitchFamily="18" charset="0"/>
              </a:rPr>
              <a:t>55.6kg</a:t>
            </a:r>
            <a:br>
              <a:rPr lang="en-GB" altLang="ko-KR" sz="1400" dirty="0">
                <a:solidFill>
                  <a:srgbClr val="000000"/>
                </a:solidFill>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UV: </a:t>
            </a:r>
            <a:r>
              <a:rPr lang="en-GB" altLang="ko-KR" sz="1400" dirty="0">
                <a:solidFill>
                  <a:srgbClr val="000000"/>
                </a:solidFill>
                <a:ea typeface="MS Mincho"/>
                <a:cs typeface="Times New Roman" panose="02020603050405020304" pitchFamily="18" charset="0"/>
              </a:rPr>
              <a:t>+0.3L</a:t>
            </a:r>
            <a:br>
              <a:rPr lang="en-GB" altLang="ko-KR" sz="1400" b="1" dirty="0">
                <a:solidFill>
                  <a:srgbClr val="000000"/>
                </a:solidFill>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Fluid status:</a:t>
            </a:r>
            <a:r>
              <a:rPr lang="en-GB" altLang="ko-KR" sz="1400" dirty="0">
                <a:solidFill>
                  <a:srgbClr val="000000"/>
                </a:solidFill>
                <a:ea typeface="MS Mincho"/>
                <a:cs typeface="Times New Roman" panose="02020603050405020304" pitchFamily="18" charset="0"/>
              </a:rPr>
              <a:t> Dehydrated</a:t>
            </a:r>
            <a:endParaRPr lang="ko-KR" altLang="ko-KR" sz="1400" dirty="0">
              <a:ea typeface="MS Mincho"/>
              <a:cs typeface="Times New Roman" panose="02020603050405020304" pitchFamily="18" charset="0"/>
            </a:endParaRPr>
          </a:p>
        </p:txBody>
      </p:sp>
      <p:sp>
        <p:nvSpPr>
          <p:cNvPr id="21" name="TextBox 20"/>
          <p:cNvSpPr txBox="1"/>
          <p:nvPr/>
        </p:nvSpPr>
        <p:spPr>
          <a:xfrm>
            <a:off x="6193098" y="4700661"/>
            <a:ext cx="5259993" cy="1384995"/>
          </a:xfrm>
          <a:prstGeom prst="rect">
            <a:avLst/>
          </a:prstGeom>
          <a:noFill/>
        </p:spPr>
        <p:txBody>
          <a:bodyPr wrap="square" rtlCol="0">
            <a:spAutoFit/>
          </a:bodyPr>
          <a:lstStyle>
            <a:defPPr>
              <a:defRPr lang="ko-KR"/>
            </a:defPPr>
            <a:lvl1pPr>
              <a:defRPr sz="1600">
                <a:solidFill>
                  <a:schemeClr val="tx1">
                    <a:lumMod val="85000"/>
                    <a:lumOff val="15000"/>
                  </a:schemeClr>
                </a:solidFill>
              </a:defRPr>
            </a:lvl1pPr>
          </a:lstStyle>
          <a:p>
            <a:r>
              <a:rPr lang="en-US" altLang="ko-KR" sz="1400" dirty="0"/>
              <a:t>Make sure to ask the patients status. If they feel okay, it can be that the DW is well controlled. </a:t>
            </a:r>
          </a:p>
          <a:p>
            <a:endParaRPr lang="en-US" altLang="ko-KR" sz="1400" dirty="0"/>
          </a:p>
          <a:p>
            <a:r>
              <a:rPr lang="en-US" altLang="ko-KR" sz="1400" dirty="0"/>
              <a:t>Normally, patients with high muscle mass tend to have low ECW ratio. But if patients feel hypotensive and dizzy etc., then these are cases where doctors can try to increase the dry weight a little more.</a:t>
            </a:r>
            <a:endParaRPr lang="ko-KR" altLang="ko-KR" sz="1400" dirty="0"/>
          </a:p>
        </p:txBody>
      </p:sp>
    </p:spTree>
    <p:extLst>
      <p:ext uri="{BB962C8B-B14F-4D97-AF65-F5344CB8AC3E}">
        <p14:creationId xmlns:p14="http://schemas.microsoft.com/office/powerpoint/2010/main" val="36608746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Afbeelding 3">
            <a:extLst>
              <a:ext uri="{FF2B5EF4-FFF2-40B4-BE49-F238E27FC236}">
                <a16:creationId xmlns:a16="http://schemas.microsoft.com/office/drawing/2014/main" id="{5C45102F-101E-4467-B545-65E3AE51825F}"/>
              </a:ext>
            </a:extLst>
          </p:cNvPr>
          <p:cNvPicPr/>
          <p:nvPr/>
        </p:nvPicPr>
        <p:blipFill rotWithShape="1">
          <a:blip r:embed="rId3" cstate="print">
            <a:extLst>
              <a:ext uri="{28A0092B-C50C-407E-A947-70E740481C1C}">
                <a14:useLocalDpi xmlns:a14="http://schemas.microsoft.com/office/drawing/2010/main" val="0"/>
              </a:ext>
            </a:extLst>
          </a:blip>
          <a:srcRect t="120" b="26156"/>
          <a:stretch/>
        </p:blipFill>
        <p:spPr>
          <a:xfrm>
            <a:off x="0" y="0"/>
            <a:ext cx="6456048" cy="6729984"/>
          </a:xfrm>
          <a:prstGeom prst="rect">
            <a:avLst/>
          </a:prstGeom>
        </p:spPr>
      </p:pic>
      <p:sp>
        <p:nvSpPr>
          <p:cNvPr id="13" name="직사각형 12"/>
          <p:cNvSpPr/>
          <p:nvPr/>
        </p:nvSpPr>
        <p:spPr>
          <a:xfrm>
            <a:off x="4057731" y="1373764"/>
            <a:ext cx="1969689" cy="150235"/>
          </a:xfrm>
          <a:prstGeom prst="rect">
            <a:avLst/>
          </a:prstGeom>
          <a:solidFill>
            <a:srgbClr val="B50937">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14" name="직사각형 13"/>
          <p:cNvSpPr/>
          <p:nvPr/>
        </p:nvSpPr>
        <p:spPr>
          <a:xfrm>
            <a:off x="4057731" y="3718646"/>
            <a:ext cx="1969689" cy="175174"/>
          </a:xfrm>
          <a:prstGeom prst="rect">
            <a:avLst/>
          </a:prstGeom>
          <a:solidFill>
            <a:srgbClr val="B50937">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15" name="Rechthoek 55"/>
          <p:cNvSpPr/>
          <p:nvPr/>
        </p:nvSpPr>
        <p:spPr>
          <a:xfrm>
            <a:off x="6385266" y="1043361"/>
            <a:ext cx="3162300" cy="29962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GB" sz="1400" b="1" dirty="0">
                <a:solidFill>
                  <a:srgbClr val="C00000"/>
                </a:solidFill>
                <a:effectLst/>
                <a:ea typeface="MS Mincho"/>
                <a:cs typeface="Times New Roman" panose="02020603050405020304" pitchFamily="18" charset="0"/>
              </a:rPr>
              <a:t>Patient information:</a:t>
            </a:r>
            <a:endParaRPr lang="ko-KR" sz="1400" dirty="0">
              <a:effectLst/>
              <a:ea typeface="MS Mincho"/>
              <a:cs typeface="Times New Roman" panose="02020603050405020304" pitchFamily="18" charset="0"/>
            </a:endParaRPr>
          </a:p>
          <a:p>
            <a:pPr>
              <a:lnSpc>
                <a:spcPct val="107000"/>
              </a:lnSpc>
              <a:spcAft>
                <a:spcPts val="800"/>
              </a:spcAft>
            </a:pPr>
            <a:r>
              <a:rPr lang="en-GB" sz="1400" b="1" dirty="0">
                <a:solidFill>
                  <a:srgbClr val="000000"/>
                </a:solidFill>
                <a:effectLst/>
                <a:ea typeface="MS Mincho"/>
                <a:cs typeface="Times New Roman" panose="02020603050405020304" pitchFamily="18" charset="0"/>
              </a:rPr>
              <a:t>Age:</a:t>
            </a:r>
            <a:r>
              <a:rPr lang="en-GB" sz="1400" dirty="0">
                <a:solidFill>
                  <a:srgbClr val="000000"/>
                </a:solidFill>
                <a:effectLst/>
                <a:ea typeface="MS Mincho"/>
                <a:cs typeface="Times New Roman" panose="02020603050405020304" pitchFamily="18" charset="0"/>
              </a:rPr>
              <a:t> 59</a:t>
            </a:r>
            <a:br>
              <a:rPr lang="en-GB" sz="1400" dirty="0">
                <a:solidFill>
                  <a:srgbClr val="000000"/>
                </a:solidFill>
                <a:effectLst/>
                <a:ea typeface="MS Mincho"/>
                <a:cs typeface="Times New Roman" panose="02020603050405020304" pitchFamily="18" charset="0"/>
              </a:rPr>
            </a:br>
            <a:r>
              <a:rPr lang="en-GB" sz="1400" b="1" dirty="0">
                <a:solidFill>
                  <a:srgbClr val="000000"/>
                </a:solidFill>
                <a:effectLst/>
                <a:ea typeface="MS Mincho"/>
                <a:cs typeface="Times New Roman" panose="02020603050405020304" pitchFamily="18" charset="0"/>
              </a:rPr>
              <a:t>Gender:</a:t>
            </a:r>
            <a:r>
              <a:rPr lang="en-GB" sz="1400" dirty="0">
                <a:solidFill>
                  <a:srgbClr val="000000"/>
                </a:solidFill>
                <a:effectLst/>
                <a:ea typeface="MS Mincho"/>
                <a:cs typeface="Times New Roman" panose="02020603050405020304" pitchFamily="18" charset="0"/>
              </a:rPr>
              <a:t> Male</a:t>
            </a:r>
            <a:br>
              <a:rPr lang="en-GB" sz="1400" dirty="0">
                <a:solidFill>
                  <a:srgbClr val="000000"/>
                </a:solidFill>
                <a:effectLst/>
                <a:ea typeface="MS Mincho"/>
                <a:cs typeface="Times New Roman" panose="02020603050405020304" pitchFamily="18" charset="0"/>
              </a:rPr>
            </a:br>
            <a:r>
              <a:rPr lang="en-GB" sz="1400" b="1" dirty="0">
                <a:solidFill>
                  <a:srgbClr val="000000"/>
                </a:solidFill>
                <a:effectLst/>
                <a:ea typeface="MS Mincho"/>
                <a:cs typeface="Times New Roman" panose="02020603050405020304" pitchFamily="18" charset="0"/>
              </a:rPr>
              <a:t>Weight:</a:t>
            </a:r>
            <a:r>
              <a:rPr lang="en-GB" sz="1400" dirty="0">
                <a:solidFill>
                  <a:srgbClr val="000000"/>
                </a:solidFill>
                <a:effectLst/>
                <a:ea typeface="MS Mincho"/>
                <a:cs typeface="Times New Roman" panose="02020603050405020304" pitchFamily="18" charset="0"/>
              </a:rPr>
              <a:t> 84.8kg</a:t>
            </a:r>
            <a:br>
              <a:rPr lang="en-GB" sz="1400" dirty="0">
                <a:solidFill>
                  <a:srgbClr val="000000"/>
                </a:solidFill>
                <a:effectLst/>
                <a:ea typeface="MS Mincho"/>
                <a:cs typeface="Times New Roman" panose="02020603050405020304" pitchFamily="18" charset="0"/>
              </a:rPr>
            </a:br>
            <a:r>
              <a:rPr lang="en-GB" sz="1400" b="1" dirty="0">
                <a:solidFill>
                  <a:srgbClr val="000000"/>
                </a:solidFill>
                <a:effectLst/>
                <a:ea typeface="MS Mincho"/>
                <a:cs typeface="Times New Roman" panose="02020603050405020304" pitchFamily="18" charset="0"/>
              </a:rPr>
              <a:t>Medical history:</a:t>
            </a:r>
            <a:r>
              <a:rPr lang="en-GB" sz="1400" dirty="0">
                <a:solidFill>
                  <a:srgbClr val="000000"/>
                </a:solidFill>
                <a:effectLst/>
                <a:ea typeface="MS Mincho"/>
                <a:cs typeface="Times New Roman" panose="02020603050405020304" pitchFamily="18" charset="0"/>
              </a:rPr>
              <a:t> DM-, </a:t>
            </a:r>
            <a:r>
              <a:rPr lang="en-GB" sz="1400" dirty="0" err="1">
                <a:solidFill>
                  <a:srgbClr val="000000"/>
                </a:solidFill>
                <a:effectLst/>
                <a:ea typeface="MS Mincho"/>
                <a:cs typeface="Times New Roman" panose="02020603050405020304" pitchFamily="18" charset="0"/>
              </a:rPr>
              <a:t>HypoAlb</a:t>
            </a:r>
            <a:r>
              <a:rPr lang="en-GB" sz="1400" dirty="0">
                <a:solidFill>
                  <a:srgbClr val="000000"/>
                </a:solidFill>
                <a:effectLst/>
                <a:ea typeface="MS Mincho"/>
                <a:cs typeface="Times New Roman" panose="02020603050405020304" pitchFamily="18" charset="0"/>
              </a:rPr>
              <a:t>- </a:t>
            </a:r>
            <a:endParaRPr lang="ko-KR" sz="1400" dirty="0">
              <a:effectLst/>
              <a:ea typeface="MS Mincho"/>
              <a:cs typeface="Times New Roman" panose="02020603050405020304" pitchFamily="18" charset="0"/>
            </a:endParaRPr>
          </a:p>
          <a:p>
            <a:pPr>
              <a:lnSpc>
                <a:spcPct val="107000"/>
              </a:lnSpc>
              <a:spcAft>
                <a:spcPts val="800"/>
              </a:spcAft>
            </a:pPr>
            <a:r>
              <a:rPr lang="en-GB" sz="1400" b="1" dirty="0" err="1">
                <a:solidFill>
                  <a:srgbClr val="C00000"/>
                </a:solidFill>
                <a:effectLst/>
                <a:ea typeface="MS Mincho"/>
                <a:cs typeface="Times New Roman" panose="02020603050405020304" pitchFamily="18" charset="0"/>
              </a:rPr>
              <a:t>InBody</a:t>
            </a:r>
            <a:r>
              <a:rPr lang="en-GB" sz="1400" b="1" dirty="0">
                <a:solidFill>
                  <a:srgbClr val="C00000"/>
                </a:solidFill>
                <a:effectLst/>
                <a:ea typeface="MS Mincho"/>
                <a:cs typeface="Times New Roman" panose="02020603050405020304" pitchFamily="18" charset="0"/>
              </a:rPr>
              <a:t> Result:</a:t>
            </a:r>
            <a:endParaRPr lang="ko-KR" sz="1400" dirty="0">
              <a:effectLst/>
              <a:ea typeface="MS Mincho"/>
              <a:cs typeface="Times New Roman" panose="02020603050405020304" pitchFamily="18" charset="0"/>
            </a:endParaRPr>
          </a:p>
          <a:p>
            <a:pPr>
              <a:lnSpc>
                <a:spcPct val="107000"/>
              </a:lnSpc>
              <a:spcAft>
                <a:spcPts val="800"/>
              </a:spcAft>
            </a:pPr>
            <a:r>
              <a:rPr lang="en-GB" altLang="ko-KR" sz="1400" b="1" dirty="0">
                <a:solidFill>
                  <a:srgbClr val="000000"/>
                </a:solidFill>
                <a:ea typeface="MS Mincho"/>
                <a:cs typeface="Times New Roman" panose="02020603050405020304" pitchFamily="18" charset="0"/>
              </a:rPr>
              <a:t>ECW ratio after dialysis</a:t>
            </a:r>
            <a:r>
              <a:rPr lang="en-GB" altLang="ko-KR" sz="1400" dirty="0">
                <a:solidFill>
                  <a:srgbClr val="000000"/>
                </a:solidFill>
                <a:ea typeface="MS Mincho"/>
                <a:cs typeface="Times New Roman" panose="02020603050405020304" pitchFamily="18" charset="0"/>
              </a:rPr>
              <a:t>: 0.395 </a:t>
            </a:r>
            <a:endParaRPr lang="en-GB" sz="1400" b="1" dirty="0">
              <a:solidFill>
                <a:srgbClr val="000000"/>
              </a:solidFill>
              <a:effectLst/>
              <a:ea typeface="MS Mincho"/>
              <a:cs typeface="Times New Roman" panose="02020603050405020304" pitchFamily="18" charset="0"/>
            </a:endParaRPr>
          </a:p>
          <a:p>
            <a:pPr>
              <a:lnSpc>
                <a:spcPct val="107000"/>
              </a:lnSpc>
              <a:spcAft>
                <a:spcPts val="800"/>
              </a:spcAft>
            </a:pPr>
            <a:r>
              <a:rPr lang="en-GB" sz="1400" b="1" dirty="0">
                <a:solidFill>
                  <a:srgbClr val="000000"/>
                </a:solidFill>
                <a:effectLst/>
                <a:ea typeface="MS Mincho"/>
                <a:cs typeface="Times New Roman" panose="02020603050405020304" pitchFamily="18" charset="0"/>
              </a:rPr>
              <a:t>Dry Weight: </a:t>
            </a:r>
            <a:r>
              <a:rPr lang="en-GB" sz="1400" dirty="0">
                <a:solidFill>
                  <a:srgbClr val="000000"/>
                </a:solidFill>
                <a:effectLst/>
                <a:ea typeface="MS Mincho"/>
                <a:cs typeface="Times New Roman" panose="02020603050405020304" pitchFamily="18" charset="0"/>
              </a:rPr>
              <a:t>84.1kg</a:t>
            </a:r>
            <a:br>
              <a:rPr lang="en-GB" sz="1400" dirty="0">
                <a:solidFill>
                  <a:srgbClr val="000000"/>
                </a:solidFill>
                <a:effectLst/>
                <a:ea typeface="MS Mincho"/>
                <a:cs typeface="Times New Roman" panose="02020603050405020304" pitchFamily="18" charset="0"/>
              </a:rPr>
            </a:br>
            <a:r>
              <a:rPr lang="en-GB" sz="1400" b="1" dirty="0">
                <a:solidFill>
                  <a:srgbClr val="000000"/>
                </a:solidFill>
                <a:effectLst/>
                <a:ea typeface="MS Mincho"/>
                <a:cs typeface="Times New Roman" panose="02020603050405020304" pitchFamily="18" charset="0"/>
              </a:rPr>
              <a:t>UV:</a:t>
            </a:r>
            <a:r>
              <a:rPr lang="en-GB" sz="1400" dirty="0">
                <a:solidFill>
                  <a:srgbClr val="000000"/>
                </a:solidFill>
                <a:effectLst/>
                <a:ea typeface="MS Mincho"/>
                <a:cs typeface="Times New Roman" panose="02020603050405020304" pitchFamily="18" charset="0"/>
              </a:rPr>
              <a:t> -0.7L</a:t>
            </a:r>
            <a:br>
              <a:rPr lang="en-GB" sz="1400" dirty="0">
                <a:solidFill>
                  <a:srgbClr val="000000"/>
                </a:solidFill>
                <a:effectLst/>
                <a:ea typeface="MS Mincho"/>
                <a:cs typeface="Times New Roman" panose="02020603050405020304" pitchFamily="18" charset="0"/>
              </a:rPr>
            </a:br>
            <a:r>
              <a:rPr lang="en-GB" altLang="ko-KR" sz="1400" b="1" dirty="0">
                <a:solidFill>
                  <a:srgbClr val="000000"/>
                </a:solidFill>
                <a:ea typeface="MS Mincho"/>
                <a:cs typeface="Times New Roman" panose="02020603050405020304" pitchFamily="18" charset="0"/>
              </a:rPr>
              <a:t>Fluid status:</a:t>
            </a:r>
            <a:r>
              <a:rPr lang="en-GB" altLang="ko-KR" sz="1400" dirty="0">
                <a:solidFill>
                  <a:srgbClr val="000000"/>
                </a:solidFill>
                <a:ea typeface="MS Mincho"/>
                <a:cs typeface="Times New Roman" panose="02020603050405020304" pitchFamily="18" charset="0"/>
              </a:rPr>
              <a:t> Overhydrated</a:t>
            </a:r>
            <a:endParaRPr lang="ko-KR" sz="1400" dirty="0">
              <a:effectLst/>
              <a:ea typeface="MS Mincho"/>
              <a:cs typeface="Times New Roman" panose="02020603050405020304" pitchFamily="18" charset="0"/>
            </a:endParaRPr>
          </a:p>
        </p:txBody>
      </p:sp>
      <p:sp>
        <p:nvSpPr>
          <p:cNvPr id="21" name="직사각형 20"/>
          <p:cNvSpPr/>
          <p:nvPr/>
        </p:nvSpPr>
        <p:spPr>
          <a:xfrm>
            <a:off x="967446" y="2618132"/>
            <a:ext cx="2949234" cy="262227"/>
          </a:xfrm>
          <a:prstGeom prst="rect">
            <a:avLst/>
          </a:prstGeom>
          <a:solidFill>
            <a:srgbClr val="B50937">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
        <p:nvSpPr>
          <p:cNvPr id="2" name="직사각형 1"/>
          <p:cNvSpPr/>
          <p:nvPr/>
        </p:nvSpPr>
        <p:spPr>
          <a:xfrm>
            <a:off x="6456048" y="5139168"/>
            <a:ext cx="5139671" cy="553357"/>
          </a:xfrm>
          <a:prstGeom prst="rect">
            <a:avLst/>
          </a:prstGeom>
        </p:spPr>
        <p:txBody>
          <a:bodyPr wrap="square">
            <a:spAutoFit/>
          </a:bodyPr>
          <a:lstStyle/>
          <a:p>
            <a:pPr lvl="0">
              <a:lnSpc>
                <a:spcPct val="107000"/>
              </a:lnSpc>
              <a:spcAft>
                <a:spcPts val="800"/>
              </a:spcAft>
            </a:pPr>
            <a:r>
              <a:rPr lang="en-US" altLang="ko-KR" sz="1400" dirty="0">
                <a:solidFill>
                  <a:schemeClr val="tx1">
                    <a:lumMod val="85000"/>
                    <a:lumOff val="15000"/>
                  </a:schemeClr>
                </a:solidFill>
              </a:rPr>
              <a:t>Result where </a:t>
            </a:r>
            <a:r>
              <a:rPr lang="en-US" altLang="ko-KR" sz="1400" dirty="0" err="1">
                <a:solidFill>
                  <a:schemeClr val="tx1">
                    <a:lumMod val="85000"/>
                    <a:lumOff val="15000"/>
                  </a:schemeClr>
                </a:solidFill>
              </a:rPr>
              <a:t>InBody</a:t>
            </a:r>
            <a:r>
              <a:rPr lang="en-US" altLang="ko-KR" sz="1400" dirty="0">
                <a:solidFill>
                  <a:schemeClr val="tx1">
                    <a:lumMod val="85000"/>
                    <a:lumOff val="15000"/>
                  </a:schemeClr>
                </a:solidFill>
              </a:rPr>
              <a:t> DW advices more fluid removal </a:t>
            </a:r>
            <a:br>
              <a:rPr lang="en-US" altLang="ko-KR" sz="1400" dirty="0">
                <a:solidFill>
                  <a:schemeClr val="tx1">
                    <a:lumMod val="85000"/>
                    <a:lumOff val="15000"/>
                  </a:schemeClr>
                </a:solidFill>
              </a:rPr>
            </a:br>
            <a:r>
              <a:rPr lang="en-US" altLang="ko-KR" sz="1400" dirty="0">
                <a:solidFill>
                  <a:schemeClr val="tx1">
                    <a:lumMod val="85000"/>
                    <a:lumOff val="15000"/>
                  </a:schemeClr>
                </a:solidFill>
              </a:rPr>
              <a:t>(Overhydrated, Red):</a:t>
            </a:r>
            <a:endParaRPr lang="ko-KR" altLang="ko-KR" sz="1400" dirty="0">
              <a:solidFill>
                <a:schemeClr val="tx1">
                  <a:lumMod val="85000"/>
                  <a:lumOff val="15000"/>
                </a:schemeClr>
              </a:solidFill>
            </a:endParaRPr>
          </a:p>
        </p:txBody>
      </p:sp>
    </p:spTree>
    <p:extLst>
      <p:ext uri="{BB962C8B-B14F-4D97-AF65-F5344CB8AC3E}">
        <p14:creationId xmlns:p14="http://schemas.microsoft.com/office/powerpoint/2010/main" val="13499042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Afbeelding 3">
            <a:extLst>
              <a:ext uri="{FF2B5EF4-FFF2-40B4-BE49-F238E27FC236}">
                <a16:creationId xmlns:a16="http://schemas.microsoft.com/office/drawing/2014/main" id="{5C45102F-101E-4467-B545-65E3AE51825F}"/>
              </a:ext>
            </a:extLst>
          </p:cNvPr>
          <p:cNvPicPr/>
          <p:nvPr/>
        </p:nvPicPr>
        <p:blipFill rotWithShape="1">
          <a:blip r:embed="rId3" cstate="print">
            <a:extLst>
              <a:ext uri="{28A0092B-C50C-407E-A947-70E740481C1C}">
                <a14:useLocalDpi xmlns:a14="http://schemas.microsoft.com/office/drawing/2010/main" val="0"/>
              </a:ext>
            </a:extLst>
          </a:blip>
          <a:srcRect t="120" b="26069"/>
          <a:stretch/>
        </p:blipFill>
        <p:spPr>
          <a:xfrm>
            <a:off x="0" y="143491"/>
            <a:ext cx="6143568" cy="6485909"/>
          </a:xfrm>
          <a:prstGeom prst="rect">
            <a:avLst/>
          </a:prstGeom>
        </p:spPr>
      </p:pic>
      <p:sp>
        <p:nvSpPr>
          <p:cNvPr id="17" name="TextBox 16"/>
          <p:cNvSpPr txBox="1"/>
          <p:nvPr/>
        </p:nvSpPr>
        <p:spPr>
          <a:xfrm>
            <a:off x="6016047" y="1145319"/>
            <a:ext cx="5018400" cy="614399"/>
          </a:xfrm>
          <a:prstGeom prst="rect">
            <a:avLst/>
          </a:prstGeom>
          <a:noFill/>
        </p:spPr>
        <p:txBody>
          <a:bodyPr wrap="square" rtlCol="0">
            <a:spAutoFit/>
          </a:bodyPr>
          <a:lstStyle>
            <a:defPPr>
              <a:defRPr lang="ko-KR"/>
            </a:defPPr>
            <a:lvl1pPr marL="228600" indent="-228600">
              <a:lnSpc>
                <a:spcPct val="150000"/>
              </a:lnSpc>
              <a:buFontTx/>
              <a:buAutoNum type="arabicPeriod"/>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marL="171450" indent="-171450">
              <a:buFontTx/>
              <a:buChar char="-"/>
            </a:pPr>
            <a:r>
              <a:rPr lang="en-US" altLang="ko-KR" dirty="0">
                <a:solidFill>
                  <a:srgbClr val="FF0000"/>
                </a:solidFill>
              </a:rPr>
              <a:t>IMPORTANT PATIENTS! These are patients who needs to decrease DW for the next session.</a:t>
            </a:r>
            <a:endParaRPr lang="ko-KR" altLang="ko-KR" dirty="0">
              <a:solidFill>
                <a:srgbClr val="FF0000"/>
              </a:solidFill>
            </a:endParaRPr>
          </a:p>
        </p:txBody>
      </p:sp>
      <p:sp>
        <p:nvSpPr>
          <p:cNvPr id="18" name="TextBox 17"/>
          <p:cNvSpPr txBox="1"/>
          <p:nvPr/>
        </p:nvSpPr>
        <p:spPr>
          <a:xfrm>
            <a:off x="6016047" y="2218376"/>
            <a:ext cx="5658366" cy="3323987"/>
          </a:xfrm>
          <a:prstGeom prst="rect">
            <a:avLst/>
          </a:prstGeom>
          <a:noFill/>
        </p:spPr>
        <p:txBody>
          <a:bodyPr wrap="square" rtlCol="0">
            <a:spAutoFit/>
          </a:bodyPr>
          <a:lstStyle>
            <a:defPPr>
              <a:defRPr lang="ko-KR"/>
            </a:defPPr>
            <a:lvl1pPr marL="228600" indent="-228600">
              <a:lnSpc>
                <a:spcPct val="150000"/>
              </a:lnSpc>
              <a:buFontTx/>
              <a:buAutoNum type="arabicPeriod"/>
              <a:defRPr sz="1200">
                <a:latin typeface="Arial Unicode MS" panose="020B0604020202020204" pitchFamily="50" charset="-127"/>
                <a:ea typeface="Arial Unicode MS" panose="020B0604020202020204" pitchFamily="50" charset="-127"/>
                <a:cs typeface="Arial Unicode MS" panose="020B0604020202020204" pitchFamily="50" charset="-127"/>
              </a:defRPr>
            </a:lvl1pPr>
          </a:lstStyle>
          <a:p>
            <a:pPr>
              <a:lnSpc>
                <a:spcPct val="100000"/>
              </a:lnSpc>
              <a:buFont typeface="+mj-lt"/>
              <a:buAutoNum type="arabicPeriod"/>
            </a:pPr>
            <a:r>
              <a:rPr lang="en-US" altLang="ko-KR" sz="1400" dirty="0">
                <a:solidFill>
                  <a:schemeClr val="tx1">
                    <a:lumMod val="85000"/>
                    <a:lumOff val="15000"/>
                  </a:schemeClr>
                </a:solidFill>
                <a:latin typeface="+mn-lt"/>
                <a:ea typeface="+mn-ea"/>
                <a:cs typeface="+mn-cs"/>
              </a:rPr>
              <a:t>Patients with ICW in normal or over</a:t>
            </a:r>
            <a:br>
              <a:rPr lang="en-US" altLang="ko-KR" sz="1400" dirty="0">
                <a:solidFill>
                  <a:schemeClr val="tx1">
                    <a:lumMod val="85000"/>
                    <a:lumOff val="15000"/>
                  </a:schemeClr>
                </a:solidFill>
                <a:latin typeface="+mn-lt"/>
                <a:ea typeface="+mn-ea"/>
                <a:cs typeface="+mn-cs"/>
              </a:rPr>
            </a:br>
            <a:r>
              <a:rPr lang="en-US" altLang="ko-KR" sz="1400" dirty="0">
                <a:solidFill>
                  <a:schemeClr val="tx1">
                    <a:lumMod val="85000"/>
                    <a:lumOff val="15000"/>
                  </a:schemeClr>
                </a:solidFill>
                <a:latin typeface="+mn-lt"/>
                <a:ea typeface="+mn-ea"/>
                <a:cs typeface="+mn-cs"/>
              </a:rPr>
              <a:t>These patients are patients that can try to decrease the DW. There are many cases where it can be hard for patients to reduce the DW at once, so they should try reducing the DW by controlling the ECW ratio bits by bits.</a:t>
            </a:r>
          </a:p>
          <a:p>
            <a:pPr>
              <a:lnSpc>
                <a:spcPct val="100000"/>
              </a:lnSpc>
              <a:buFont typeface="+mj-lt"/>
              <a:buAutoNum type="arabicPeriod"/>
            </a:pPr>
            <a:endParaRPr lang="ko-KR" altLang="ko-KR" sz="1400" dirty="0">
              <a:solidFill>
                <a:schemeClr val="tx1">
                  <a:lumMod val="85000"/>
                  <a:lumOff val="15000"/>
                </a:schemeClr>
              </a:solidFill>
              <a:latin typeface="+mn-lt"/>
              <a:ea typeface="+mn-ea"/>
              <a:cs typeface="+mn-cs"/>
            </a:endParaRPr>
          </a:p>
          <a:p>
            <a:pPr lvl="0">
              <a:lnSpc>
                <a:spcPct val="100000"/>
              </a:lnSpc>
              <a:buFont typeface="+mj-lt"/>
              <a:buAutoNum type="arabicPeriod"/>
            </a:pPr>
            <a:r>
              <a:rPr lang="en-US" altLang="ko-KR" sz="1400" dirty="0">
                <a:solidFill>
                  <a:schemeClr val="tx1">
                    <a:lumMod val="85000"/>
                    <a:lumOff val="15000"/>
                  </a:schemeClr>
                </a:solidFill>
                <a:latin typeface="+mn-lt"/>
                <a:ea typeface="+mn-ea"/>
                <a:cs typeface="+mn-cs"/>
              </a:rPr>
              <a:t>Patients ICW lower than normal range</a:t>
            </a:r>
            <a:br>
              <a:rPr lang="en-US" altLang="ko-KR" sz="1400" dirty="0">
                <a:solidFill>
                  <a:schemeClr val="tx1">
                    <a:lumMod val="85000"/>
                    <a:lumOff val="15000"/>
                  </a:schemeClr>
                </a:solidFill>
                <a:latin typeface="+mn-lt"/>
                <a:ea typeface="+mn-ea"/>
                <a:cs typeface="+mn-cs"/>
              </a:rPr>
            </a:br>
            <a:r>
              <a:rPr lang="en-US" altLang="ko-KR" sz="1400" dirty="0">
                <a:solidFill>
                  <a:schemeClr val="tx1">
                    <a:lumMod val="85000"/>
                    <a:lumOff val="15000"/>
                  </a:schemeClr>
                </a:solidFill>
                <a:latin typeface="+mn-lt"/>
                <a:ea typeface="+mn-ea"/>
                <a:cs typeface="+mn-cs"/>
              </a:rPr>
              <a:t>These patients are patients that will have a hard time and lead on to hypotension when they try to reduce their DW. (Doctors like to hear these examples) </a:t>
            </a:r>
            <a:br>
              <a:rPr lang="en-US" altLang="ko-KR" sz="1400" dirty="0">
                <a:solidFill>
                  <a:schemeClr val="tx1">
                    <a:lumMod val="85000"/>
                    <a:lumOff val="15000"/>
                  </a:schemeClr>
                </a:solidFill>
                <a:latin typeface="+mn-lt"/>
                <a:ea typeface="+mn-ea"/>
                <a:cs typeface="+mn-cs"/>
              </a:rPr>
            </a:br>
            <a:r>
              <a:rPr lang="en-US" altLang="ko-KR" sz="1400" dirty="0">
                <a:solidFill>
                  <a:schemeClr val="tx1">
                    <a:lumMod val="85000"/>
                    <a:lumOff val="15000"/>
                  </a:schemeClr>
                </a:solidFill>
                <a:latin typeface="+mn-lt"/>
                <a:ea typeface="+mn-ea"/>
                <a:cs typeface="+mn-cs"/>
              </a:rPr>
              <a:t>Usually with malnutrition who have low water mass so it will be hard for them to reduce water volumes. </a:t>
            </a:r>
            <a:br>
              <a:rPr lang="en-US" altLang="ko-KR" sz="1400" dirty="0">
                <a:solidFill>
                  <a:schemeClr val="tx1">
                    <a:lumMod val="85000"/>
                    <a:lumOff val="15000"/>
                  </a:schemeClr>
                </a:solidFill>
                <a:latin typeface="+mn-lt"/>
                <a:ea typeface="+mn-ea"/>
                <a:cs typeface="+mn-cs"/>
              </a:rPr>
            </a:br>
            <a:r>
              <a:rPr lang="en-US" altLang="ko-KR" sz="1400" dirty="0">
                <a:solidFill>
                  <a:schemeClr val="tx1">
                    <a:lumMod val="85000"/>
                    <a:lumOff val="15000"/>
                  </a:schemeClr>
                </a:solidFill>
                <a:latin typeface="+mn-lt"/>
                <a:ea typeface="+mn-ea"/>
                <a:cs typeface="+mn-cs"/>
              </a:rPr>
              <a:t>These patients need support in ICW while decreasing DW, which means nutritional support. </a:t>
            </a:r>
            <a:r>
              <a:rPr lang="en-US" altLang="ko-KR" sz="1400" dirty="0" err="1">
                <a:solidFill>
                  <a:schemeClr val="tx1">
                    <a:lumMod val="85000"/>
                    <a:lumOff val="15000"/>
                  </a:schemeClr>
                </a:solidFill>
                <a:latin typeface="+mn-lt"/>
                <a:ea typeface="+mn-ea"/>
                <a:cs typeface="+mn-cs"/>
              </a:rPr>
              <a:t>InBody</a:t>
            </a:r>
            <a:r>
              <a:rPr lang="en-US" altLang="ko-KR" sz="1400" dirty="0">
                <a:solidFill>
                  <a:schemeClr val="tx1">
                    <a:lumMod val="85000"/>
                    <a:lumOff val="15000"/>
                  </a:schemeClr>
                </a:solidFill>
                <a:latin typeface="+mn-lt"/>
                <a:ea typeface="+mn-ea"/>
                <a:cs typeface="+mn-cs"/>
              </a:rPr>
              <a:t> can be used for nutritional prescription for these patients.</a:t>
            </a:r>
            <a:endParaRPr lang="ko-KR" altLang="ko-KR" sz="1400" dirty="0">
              <a:solidFill>
                <a:schemeClr val="tx1">
                  <a:lumMod val="85000"/>
                  <a:lumOff val="15000"/>
                </a:schemeClr>
              </a:solidFill>
              <a:latin typeface="+mn-lt"/>
              <a:ea typeface="+mn-ea"/>
              <a:cs typeface="+mn-cs"/>
            </a:endParaRPr>
          </a:p>
        </p:txBody>
      </p:sp>
      <p:sp>
        <p:nvSpPr>
          <p:cNvPr id="19" name="직사각형 18"/>
          <p:cNvSpPr/>
          <p:nvPr/>
        </p:nvSpPr>
        <p:spPr>
          <a:xfrm>
            <a:off x="944586" y="1698256"/>
            <a:ext cx="2758734" cy="251962"/>
          </a:xfrm>
          <a:prstGeom prst="rect">
            <a:avLst/>
          </a:prstGeom>
          <a:solidFill>
            <a:srgbClr val="B50937">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a:p>
        </p:txBody>
      </p:sp>
    </p:spTree>
    <p:extLst>
      <p:ext uri="{BB962C8B-B14F-4D97-AF65-F5344CB8AC3E}">
        <p14:creationId xmlns:p14="http://schemas.microsoft.com/office/powerpoint/2010/main" val="27326216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50">
            <a:extLst>
              <a:ext uri="{FF2B5EF4-FFF2-40B4-BE49-F238E27FC236}">
                <a16:creationId xmlns:a16="http://schemas.microsoft.com/office/drawing/2014/main" id="{326D874F-1942-294B-90C5-320A68E69828}"/>
              </a:ext>
            </a:extLst>
          </p:cNvPr>
          <p:cNvSpPr txBox="1">
            <a:spLocks/>
          </p:cNvSpPr>
          <p:nvPr/>
        </p:nvSpPr>
        <p:spPr>
          <a:xfrm>
            <a:off x="4896975" y="2604924"/>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Part</a:t>
            </a:r>
            <a:r>
              <a:rPr lang="ko-KR" altLang="en-US" sz="180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rPr>
              <a:t> </a:t>
            </a: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5</a:t>
            </a:r>
            <a:endPar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endParaRPr>
          </a:p>
        </p:txBody>
      </p:sp>
      <p:sp>
        <p:nvSpPr>
          <p:cNvPr id="4" name="텍스트 개체 틀 4">
            <a:extLst>
              <a:ext uri="{FF2B5EF4-FFF2-40B4-BE49-F238E27FC236}">
                <a16:creationId xmlns:a16="http://schemas.microsoft.com/office/drawing/2014/main" id="{467AFA88-CA99-3047-90FB-F4C2473E60C3}"/>
              </a:ext>
            </a:extLst>
          </p:cNvPr>
          <p:cNvSpPr txBox="1">
            <a:spLocks/>
          </p:cNvSpPr>
          <p:nvPr/>
        </p:nvSpPr>
        <p:spPr>
          <a:xfrm>
            <a:off x="2027465" y="3119633"/>
            <a:ext cx="8366215" cy="6059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3400" spc="-150" dirty="0">
                <a:solidFill>
                  <a:srgbClr val="3A3A38"/>
                </a:solidFill>
                <a:latin typeface="S-Core Dream 5 Medium" panose="020B0503030302020204" pitchFamily="34" charset="-127"/>
                <a:ea typeface="S-Core Dream 5 Medium" panose="020B0503030302020204" pitchFamily="34" charset="-127"/>
              </a:rPr>
              <a:t>BWA2.0 vs </a:t>
            </a:r>
            <a:r>
              <a:rPr lang="en-US" altLang="ko-KR" sz="3400" spc="-150" dirty="0" err="1">
                <a:solidFill>
                  <a:srgbClr val="3A3A38"/>
                </a:solidFill>
                <a:latin typeface="S-Core Dream 5 Medium" panose="020B0503030302020204" pitchFamily="34" charset="-127"/>
                <a:ea typeface="S-Core Dream 5 Medium" panose="020B0503030302020204" pitchFamily="34" charset="-127"/>
              </a:rPr>
              <a:t>InBody</a:t>
            </a:r>
            <a:r>
              <a:rPr lang="en-US" altLang="ko-KR" sz="3400" spc="-150" dirty="0">
                <a:solidFill>
                  <a:srgbClr val="3A3A38"/>
                </a:solidFill>
                <a:latin typeface="S-Core Dream 5 Medium" panose="020B0503030302020204" pitchFamily="34" charset="-127"/>
                <a:ea typeface="S-Core Dream 5 Medium" panose="020B0503030302020204" pitchFamily="34" charset="-127"/>
              </a:rPr>
              <a:t> S10</a:t>
            </a:r>
            <a:endParaRPr lang="ko-KR" altLang="en-US" sz="3400" spc="-150" dirty="0">
              <a:solidFill>
                <a:srgbClr val="3A3A38"/>
              </a:solidFill>
              <a:latin typeface="S-Core Dream 5 Medium" panose="020B0503030302020204" pitchFamily="34" charset="-127"/>
              <a:ea typeface="S-Core Dream 5 Medium" panose="020B0503030302020204" pitchFamily="34" charset="-127"/>
            </a:endParaRPr>
          </a:p>
        </p:txBody>
      </p:sp>
    </p:spTree>
    <p:extLst>
      <p:ext uri="{BB962C8B-B14F-4D97-AF65-F5344CB8AC3E}">
        <p14:creationId xmlns:p14="http://schemas.microsoft.com/office/powerpoint/2010/main" val="6342744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grpSp>
        <p:nvGrpSpPr>
          <p:cNvPr id="5" name="그룹 4">
            <a:extLst>
              <a:ext uri="{FF2B5EF4-FFF2-40B4-BE49-F238E27FC236}">
                <a16:creationId xmlns:a16="http://schemas.microsoft.com/office/drawing/2014/main" id="{4C0FCDBD-BFAF-34C6-E90E-4121C0D8AD4B}"/>
              </a:ext>
            </a:extLst>
          </p:cNvPr>
          <p:cNvGrpSpPr/>
          <p:nvPr/>
        </p:nvGrpSpPr>
        <p:grpSpPr>
          <a:xfrm>
            <a:off x="5221682" y="855857"/>
            <a:ext cx="3418408" cy="288416"/>
            <a:chOff x="4824164" y="655474"/>
            <a:chExt cx="3418408" cy="288416"/>
          </a:xfrm>
        </p:grpSpPr>
        <p:pic>
          <p:nvPicPr>
            <p:cNvPr id="6" name="_x132070104" descr="EMB00002028523b">
              <a:extLst>
                <a:ext uri="{FF2B5EF4-FFF2-40B4-BE49-F238E27FC236}">
                  <a16:creationId xmlns:a16="http://schemas.microsoft.com/office/drawing/2014/main" id="{EC216913-6CAF-D6C8-B705-B03702E672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4164" y="655474"/>
              <a:ext cx="1209832" cy="245655"/>
            </a:xfrm>
            <a:prstGeom prst="rect">
              <a:avLst/>
            </a:prstGeom>
            <a:noFill/>
          </p:spPr>
        </p:pic>
        <p:pic>
          <p:nvPicPr>
            <p:cNvPr id="7" name="Picture 6">
              <a:extLst>
                <a:ext uri="{FF2B5EF4-FFF2-40B4-BE49-F238E27FC236}">
                  <a16:creationId xmlns:a16="http://schemas.microsoft.com/office/drawing/2014/main" id="{70DB89C2-8A61-626F-ABB6-1923A0392D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3413" y="679506"/>
              <a:ext cx="1169159" cy="264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8" name="표 7">
            <a:extLst>
              <a:ext uri="{FF2B5EF4-FFF2-40B4-BE49-F238E27FC236}">
                <a16:creationId xmlns:a16="http://schemas.microsoft.com/office/drawing/2014/main" id="{2BC5B60E-AD12-055F-7712-1D1C7FF64F70}"/>
              </a:ext>
            </a:extLst>
          </p:cNvPr>
          <p:cNvGraphicFramePr>
            <a:graphicFrameLocks noGrp="1"/>
          </p:cNvGraphicFramePr>
          <p:nvPr>
            <p:extLst>
              <p:ext uri="{D42A27DB-BD31-4B8C-83A1-F6EECF244321}">
                <p14:modId xmlns:p14="http://schemas.microsoft.com/office/powerpoint/2010/main" val="3053343288"/>
              </p:ext>
            </p:extLst>
          </p:nvPr>
        </p:nvGraphicFramePr>
        <p:xfrm>
          <a:off x="2404856" y="1203328"/>
          <a:ext cx="7216222" cy="5016291"/>
        </p:xfrm>
        <a:graphic>
          <a:graphicData uri="http://schemas.openxmlformats.org/drawingml/2006/table">
            <a:tbl>
              <a:tblPr firstRow="1" bandRow="1">
                <a:tableStyleId>{69012ECD-51FC-41F1-AA8D-1B2483CD663E}</a:tableStyleId>
              </a:tblPr>
              <a:tblGrid>
                <a:gridCol w="1680126">
                  <a:extLst>
                    <a:ext uri="{9D8B030D-6E8A-4147-A177-3AD203B41FA5}">
                      <a16:colId xmlns:a16="http://schemas.microsoft.com/office/drawing/2014/main" val="20000"/>
                    </a:ext>
                  </a:extLst>
                </a:gridCol>
                <a:gridCol w="2768048">
                  <a:extLst>
                    <a:ext uri="{9D8B030D-6E8A-4147-A177-3AD203B41FA5}">
                      <a16:colId xmlns:a16="http://schemas.microsoft.com/office/drawing/2014/main" val="20001"/>
                    </a:ext>
                  </a:extLst>
                </a:gridCol>
                <a:gridCol w="2768048">
                  <a:extLst>
                    <a:ext uri="{9D8B030D-6E8A-4147-A177-3AD203B41FA5}">
                      <a16:colId xmlns:a16="http://schemas.microsoft.com/office/drawing/2014/main" val="20002"/>
                    </a:ext>
                  </a:extLst>
                </a:gridCol>
              </a:tblGrid>
              <a:tr h="260911">
                <a:tc>
                  <a:txBody>
                    <a:bodyPr/>
                    <a:lstStyle/>
                    <a:p>
                      <a:pPr algn="l" latinLnBrk="1"/>
                      <a:r>
                        <a:rPr lang="en-US" altLang="ko-KR" sz="900" b="1" dirty="0">
                          <a:solidFill>
                            <a:schemeClr val="bg1"/>
                          </a:solidFill>
                          <a:latin typeface="Lato" panose="020F0502020204030203" pitchFamily="34" charset="0"/>
                          <a:ea typeface="+mj-ea"/>
                          <a:cs typeface="Verdana" pitchFamily="34" charset="0"/>
                        </a:rPr>
                        <a:t>Launching Date</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1050" b="1" dirty="0">
                          <a:solidFill>
                            <a:srgbClr val="971B2F"/>
                          </a:solidFill>
                          <a:latin typeface="Lato" panose="020F0502020204030203" pitchFamily="34" charset="0"/>
                          <a:ea typeface="+mj-ea"/>
                          <a:cs typeface="Verdana" pitchFamily="34" charset="0"/>
                        </a:rPr>
                        <a:t>March</a:t>
                      </a:r>
                      <a:r>
                        <a:rPr lang="en-US" altLang="ko-KR" sz="1050" b="1" baseline="0" dirty="0">
                          <a:solidFill>
                            <a:srgbClr val="971B2F"/>
                          </a:solidFill>
                          <a:latin typeface="Lato" panose="020F0502020204030203" pitchFamily="34" charset="0"/>
                          <a:ea typeface="+mj-ea"/>
                          <a:cs typeface="Verdana" pitchFamily="34" charset="0"/>
                        </a:rPr>
                        <a:t> 2010</a:t>
                      </a:r>
                      <a:endParaRPr lang="ko-KR" altLang="en-US" sz="1050" b="1" dirty="0">
                        <a:solidFill>
                          <a:srgbClr val="971B2F"/>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50" b="1" dirty="0">
                          <a:solidFill>
                            <a:srgbClr val="971B2F"/>
                          </a:solidFill>
                          <a:latin typeface="Lato" panose="020F0502020204030203" pitchFamily="34" charset="0"/>
                          <a:ea typeface="+mj-ea"/>
                          <a:cs typeface="Verdana" pitchFamily="34" charset="0"/>
                        </a:rPr>
                        <a:t>August</a:t>
                      </a:r>
                      <a:r>
                        <a:rPr lang="en-US" altLang="ko-KR" sz="1050" b="1" baseline="0" dirty="0">
                          <a:solidFill>
                            <a:srgbClr val="971B2F"/>
                          </a:solidFill>
                          <a:latin typeface="Lato" panose="020F0502020204030203" pitchFamily="34" charset="0"/>
                          <a:ea typeface="+mj-ea"/>
                          <a:cs typeface="Verdana" pitchFamily="34" charset="0"/>
                        </a:rPr>
                        <a:t> </a:t>
                      </a:r>
                      <a:r>
                        <a:rPr lang="en-US" altLang="ko-KR" sz="1050" b="1" dirty="0">
                          <a:solidFill>
                            <a:srgbClr val="971B2F"/>
                          </a:solidFill>
                          <a:latin typeface="Lato" panose="020F0502020204030203" pitchFamily="34" charset="0"/>
                          <a:ea typeface="+mj-ea"/>
                          <a:cs typeface="Verdana" pitchFamily="34" charset="0"/>
                        </a:rPr>
                        <a:t>2018</a:t>
                      </a:r>
                      <a:endParaRPr lang="ko-KR" altLang="en-US" sz="1050" b="1" dirty="0">
                        <a:solidFill>
                          <a:srgbClr val="971B2F"/>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38129">
                <a:tc>
                  <a:txBody>
                    <a:bodyPr/>
                    <a:lstStyle/>
                    <a:p>
                      <a:pPr algn="l" latinLnBrk="1"/>
                      <a:r>
                        <a:rPr lang="en-US" altLang="ko-KR" sz="900" b="1" dirty="0">
                          <a:solidFill>
                            <a:schemeClr val="bg1"/>
                          </a:solidFill>
                          <a:latin typeface="Lato" panose="020F0502020204030203" pitchFamily="34" charset="0"/>
                          <a:ea typeface="+mj-ea"/>
                          <a:cs typeface="Verdana" pitchFamily="34" charset="0"/>
                        </a:rPr>
                        <a:t>Impedance Frequency</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1, 5, 50, 250, 500, 1000</a:t>
                      </a:r>
                    </a:p>
                    <a:p>
                      <a:pPr algn="ctr" latinLnBrk="1"/>
                      <a:r>
                        <a:rPr lang="en-US" altLang="ko-KR" sz="900" b="0" dirty="0">
                          <a:solidFill>
                            <a:schemeClr val="tx1"/>
                          </a:solidFill>
                          <a:latin typeface="Lato" panose="020F0502020204030203" pitchFamily="34" charset="0"/>
                          <a:ea typeface="+mj-ea"/>
                          <a:cs typeface="Verdana" pitchFamily="34" charset="0"/>
                        </a:rPr>
                        <a:t>(kHz)</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1, 5, 50, 250, 500, 1000,</a:t>
                      </a:r>
                    </a:p>
                    <a:p>
                      <a:pPr algn="ctr" latinLnBrk="1"/>
                      <a:r>
                        <a:rPr lang="en-US" altLang="ko-KR" sz="900" b="1" dirty="0">
                          <a:solidFill>
                            <a:srgbClr val="90001F"/>
                          </a:solidFill>
                          <a:latin typeface="Lato" panose="020F0502020204030203" pitchFamily="34" charset="0"/>
                          <a:ea typeface="+mj-ea"/>
                          <a:cs typeface="Verdana" pitchFamily="34" charset="0"/>
                        </a:rPr>
                        <a:t>2000, 3000</a:t>
                      </a:r>
                    </a:p>
                    <a:p>
                      <a:pPr algn="ctr" latinLnBrk="1"/>
                      <a:r>
                        <a:rPr lang="en-US" altLang="ko-KR" sz="900" b="0" dirty="0">
                          <a:solidFill>
                            <a:schemeClr val="tx1"/>
                          </a:solidFill>
                          <a:latin typeface="Lato" panose="020F0502020204030203" pitchFamily="34" charset="0"/>
                          <a:ea typeface="+mj-ea"/>
                          <a:cs typeface="Verdana" pitchFamily="34" charset="0"/>
                        </a:rPr>
                        <a:t>(kHz)</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79819">
                <a:tc>
                  <a:txBody>
                    <a:bodyPr/>
                    <a:lstStyle/>
                    <a:p>
                      <a:pPr algn="l" latinLnBrk="1"/>
                      <a:r>
                        <a:rPr lang="en-US" altLang="ko-KR" sz="900" b="1" dirty="0">
                          <a:solidFill>
                            <a:schemeClr val="bg1"/>
                          </a:solidFill>
                          <a:latin typeface="Lato" panose="020F0502020204030203" pitchFamily="34" charset="0"/>
                          <a:ea typeface="+mj-ea"/>
                          <a:cs typeface="Verdana" pitchFamily="34" charset="0"/>
                        </a:rPr>
                        <a:t>Type</a:t>
                      </a:r>
                      <a:r>
                        <a:rPr lang="en-US" altLang="ko-KR" sz="900" b="1" baseline="0" dirty="0">
                          <a:solidFill>
                            <a:schemeClr val="bg1"/>
                          </a:solidFill>
                          <a:latin typeface="Lato" panose="020F0502020204030203" pitchFamily="34" charset="0"/>
                          <a:ea typeface="+mj-ea"/>
                          <a:cs typeface="Verdana" pitchFamily="34" charset="0"/>
                        </a:rPr>
                        <a:t> of Electrodes</a:t>
                      </a:r>
                      <a:endParaRPr lang="en-US" altLang="ko-KR" sz="900" b="1" dirty="0">
                        <a:solidFill>
                          <a:schemeClr val="bg1"/>
                        </a:solidFill>
                        <a:latin typeface="Lato" panose="020F0502020204030203" pitchFamily="34" charset="0"/>
                        <a:ea typeface="+mj-ea"/>
                        <a:cs typeface="Verdana" pitchFamily="34" charset="0"/>
                      </a:endParaRPr>
                    </a:p>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8</a:t>
                      </a:r>
                      <a:r>
                        <a:rPr lang="en-US" altLang="ko-KR" sz="900" b="0" baseline="0" dirty="0">
                          <a:solidFill>
                            <a:schemeClr val="tx1"/>
                          </a:solidFill>
                          <a:latin typeface="Lato" panose="020F0502020204030203" pitchFamily="34" charset="0"/>
                          <a:ea typeface="+mj-ea"/>
                          <a:cs typeface="Verdana" pitchFamily="34" charset="0"/>
                        </a:rPr>
                        <a:t> point tactile electrodes</a:t>
                      </a:r>
                      <a:endParaRPr lang="en-US" altLang="ko-KR"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fr-FR" altLang="ko-KR" sz="900" b="1" dirty="0">
                          <a:solidFill>
                            <a:srgbClr val="90001F"/>
                          </a:solidFill>
                          <a:latin typeface="Lato" panose="020F0502020204030203" pitchFamily="34" charset="0"/>
                          <a:ea typeface="+mj-ea"/>
                          <a:cs typeface="Verdana" pitchFamily="34" charset="0"/>
                        </a:rPr>
                        <a:t>8-pole 16-point Camp Electrodes </a:t>
                      </a:r>
                    </a:p>
                    <a:p>
                      <a:pPr marL="0" marR="0" indent="0" algn="ctr" defTabSz="914400" rtl="0" eaLnBrk="1" fontAlgn="auto" latinLnBrk="1" hangingPunct="1">
                        <a:lnSpc>
                          <a:spcPct val="100000"/>
                        </a:lnSpc>
                        <a:spcBef>
                          <a:spcPts val="0"/>
                        </a:spcBef>
                        <a:spcAft>
                          <a:spcPts val="0"/>
                        </a:spcAft>
                        <a:buClrTx/>
                        <a:buSzTx/>
                        <a:buFontTx/>
                        <a:buNone/>
                        <a:tabLst/>
                        <a:defRPr/>
                      </a:pPr>
                      <a:r>
                        <a:rPr lang="fr-FR" altLang="ko-KR" sz="900" b="1" dirty="0">
                          <a:solidFill>
                            <a:srgbClr val="90001F"/>
                          </a:solidFill>
                          <a:latin typeface="Lato" panose="020F0502020204030203" pitchFamily="34" charset="0"/>
                          <a:ea typeface="+mj-ea"/>
                          <a:cs typeface="Verdana" pitchFamily="34" charset="0"/>
                        </a:rPr>
                        <a:t>Tetrapolar 8-Point Detachable Electrodes </a:t>
                      </a:r>
                      <a:endParaRPr lang="en-US" altLang="ko-KR" sz="900" b="1" dirty="0">
                        <a:solidFill>
                          <a:srgbClr val="90001F"/>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18528">
                <a:tc>
                  <a:txBody>
                    <a:bodyPr/>
                    <a:lstStyle/>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r>
                        <a:rPr lang="en-US" altLang="ko-KR" sz="900" b="1" dirty="0">
                          <a:solidFill>
                            <a:schemeClr val="bg1"/>
                          </a:solidFill>
                          <a:latin typeface="Lato" panose="020F0502020204030203" pitchFamily="34" charset="0"/>
                          <a:ea typeface="+mj-ea"/>
                          <a:cs typeface="Verdana" pitchFamily="34" charset="0"/>
                        </a:rPr>
                        <a:t>Measurement Method</a:t>
                      </a:r>
                    </a:p>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Direct</a:t>
                      </a:r>
                      <a:r>
                        <a:rPr lang="en-US" altLang="ko-KR" sz="900" b="0" baseline="0" dirty="0">
                          <a:solidFill>
                            <a:schemeClr val="tx1"/>
                          </a:solidFill>
                          <a:latin typeface="Lato" panose="020F0502020204030203" pitchFamily="34" charset="0"/>
                          <a:ea typeface="+mj-ea"/>
                          <a:cs typeface="Verdana" pitchFamily="34" charset="0"/>
                        </a:rPr>
                        <a:t> Segment Measurement -  BIA</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Lato" panose="020F0502020204030203" pitchFamily="34" charset="0"/>
                          <a:ea typeface="+mn-ea"/>
                          <a:cs typeface="Verdana" pitchFamily="34" charset="0"/>
                        </a:rPr>
                        <a:t>(DSM-BIA)</a:t>
                      </a:r>
                      <a:endParaRPr lang="en-US" altLang="ko-KR"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Lato" panose="020F0502020204030203" pitchFamily="34" charset="0"/>
                          <a:ea typeface="+mn-ea"/>
                          <a:cs typeface="Verdana" pitchFamily="34" charset="0"/>
                        </a:rPr>
                        <a:t>Direct</a:t>
                      </a:r>
                      <a:r>
                        <a:rPr lang="en-US" altLang="ko-KR" sz="900" b="0" kern="1200" baseline="0" dirty="0">
                          <a:solidFill>
                            <a:schemeClr val="tx1"/>
                          </a:solidFill>
                          <a:latin typeface="Lato" panose="020F0502020204030203" pitchFamily="34" charset="0"/>
                          <a:ea typeface="+mn-ea"/>
                          <a:cs typeface="Verdana" pitchFamily="34" charset="0"/>
                        </a:rPr>
                        <a:t> Segment Measurement -  BIA </a:t>
                      </a:r>
                      <a:r>
                        <a:rPr lang="en-US" altLang="ko-KR" sz="900" b="0" kern="1200" dirty="0">
                          <a:solidFill>
                            <a:schemeClr val="tx1"/>
                          </a:solidFill>
                          <a:latin typeface="Lato" panose="020F0502020204030203" pitchFamily="34" charset="0"/>
                          <a:ea typeface="+mn-ea"/>
                          <a:cs typeface="Verdana" pitchFamily="34" charset="0"/>
                        </a:rPr>
                        <a:t>(DSM-BIA)</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rgbClr val="90001F"/>
                          </a:solidFill>
                          <a:latin typeface="Lato" panose="020F0502020204030203" pitchFamily="34" charset="0"/>
                          <a:ea typeface="+mj-ea"/>
                          <a:cs typeface="Verdana" pitchFamily="34" charset="0"/>
                        </a:rPr>
                        <a:t>Simultaneous Multi</a:t>
                      </a:r>
                      <a:r>
                        <a:rPr lang="en-US" altLang="ko-KR" sz="900" b="0" baseline="0" dirty="0">
                          <a:solidFill>
                            <a:srgbClr val="90001F"/>
                          </a:solidFill>
                          <a:latin typeface="Lato" panose="020F0502020204030203" pitchFamily="34" charset="0"/>
                          <a:ea typeface="+mj-ea"/>
                          <a:cs typeface="Verdana" pitchFamily="34" charset="0"/>
                        </a:rPr>
                        <a:t>-frequency Impedance Measurement </a:t>
                      </a:r>
                      <a:r>
                        <a:rPr lang="en-US" altLang="ko-KR" sz="900" b="0" kern="1200" dirty="0">
                          <a:solidFill>
                            <a:srgbClr val="90001F"/>
                          </a:solidFill>
                          <a:latin typeface="Lato" panose="020F0502020204030203" pitchFamily="34" charset="0"/>
                          <a:ea typeface="+mn-ea"/>
                          <a:cs typeface="Verdana" pitchFamily="34" charset="0"/>
                        </a:rPr>
                        <a:t>(SMFIM)</a:t>
                      </a: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63370">
                <a:tc>
                  <a:txBody>
                    <a:bodyPr/>
                    <a:lstStyle/>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r>
                        <a:rPr lang="en-US" altLang="ko-KR" sz="900" b="1" dirty="0">
                          <a:solidFill>
                            <a:schemeClr val="bg1"/>
                          </a:solidFill>
                          <a:latin typeface="Lato" panose="020F0502020204030203" pitchFamily="34" charset="0"/>
                          <a:ea typeface="+mj-ea"/>
                          <a:cs typeface="Verdana" pitchFamily="34" charset="0"/>
                        </a:rPr>
                        <a:t>Type of Results sheet</a:t>
                      </a:r>
                    </a:p>
                    <a:p>
                      <a:pPr algn="l" latinLnBrk="1"/>
                      <a:endParaRPr lang="en-US" altLang="ko-KR" sz="900" b="1" dirty="0">
                        <a:solidFill>
                          <a:schemeClr val="bg1"/>
                        </a:solidFill>
                        <a:latin typeface="Lato" panose="020F0502020204030203" pitchFamily="34" charset="0"/>
                        <a:ea typeface="+mj-ea"/>
                        <a:cs typeface="Verdana" pitchFamily="34" charset="0"/>
                      </a:endParaRPr>
                    </a:p>
                    <a:p>
                      <a:pPr algn="l" latinLnBrk="1"/>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kern="1200" dirty="0">
                          <a:solidFill>
                            <a:schemeClr val="tx1"/>
                          </a:solidFill>
                          <a:latin typeface="Lato" panose="020F0502020204030203" pitchFamily="34" charset="0"/>
                          <a:ea typeface="+mn-ea"/>
                          <a:cs typeface="Verdana" pitchFamily="34" charset="0"/>
                        </a:rPr>
                        <a:t>Body Water Result Sheet, </a:t>
                      </a:r>
                    </a:p>
                    <a:p>
                      <a:pPr algn="ctr" latinLnBrk="1"/>
                      <a:r>
                        <a:rPr lang="en-US" altLang="ko-KR" sz="900" b="0" kern="1200" dirty="0">
                          <a:solidFill>
                            <a:schemeClr val="tx1"/>
                          </a:solidFill>
                          <a:latin typeface="Lato" panose="020F0502020204030203" pitchFamily="34" charset="0"/>
                          <a:ea typeface="+mn-ea"/>
                          <a:cs typeface="Verdana" pitchFamily="34" charset="0"/>
                        </a:rPr>
                        <a:t>Body Composition Result Sheet, </a:t>
                      </a:r>
                      <a:endParaRPr lang="en-US" altLang="ko-KR" sz="900" b="0" dirty="0">
                        <a:solidFill>
                          <a:schemeClr val="tx1"/>
                        </a:solidFill>
                        <a:latin typeface="Lato" panose="020F0502020204030203" pitchFamily="34" charset="0"/>
                        <a:ea typeface="+mj-ea"/>
                        <a:cs typeface="Verdana"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Lato" panose="020F0502020204030203" pitchFamily="34" charset="0"/>
                          <a:ea typeface="+mn-ea"/>
                          <a:cs typeface="Verdana" pitchFamily="34" charset="0"/>
                        </a:rPr>
                        <a:t>Thermal Result Sheet (Optional)</a:t>
                      </a:r>
                      <a:endParaRPr lang="ko-KR" altLang="en-US" sz="900" b="0" kern="1200" dirty="0">
                        <a:solidFill>
                          <a:schemeClr val="tx1"/>
                        </a:solidFill>
                        <a:latin typeface="Lato" panose="020F0502020204030203" pitchFamily="34" charset="0"/>
                        <a:ea typeface="+mn-ea"/>
                        <a:cs typeface="Verdana" pitchFamily="34" charset="0"/>
                      </a:endParaRPr>
                    </a:p>
                    <a:p>
                      <a:pPr algn="ctr" latinLnBrk="1"/>
                      <a:endParaRPr lang="en-US" altLang="ko-KR"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Body Water Result Sheet, </a:t>
                      </a:r>
                    </a:p>
                    <a:p>
                      <a:pPr algn="ctr" latinLnBrk="1"/>
                      <a:r>
                        <a:rPr lang="en-US" altLang="ko-KR" sz="900" b="0" dirty="0">
                          <a:solidFill>
                            <a:schemeClr val="tx1"/>
                          </a:solidFill>
                          <a:latin typeface="Lato" panose="020F0502020204030203" pitchFamily="34" charset="0"/>
                          <a:ea typeface="+mj-ea"/>
                          <a:cs typeface="Verdana" pitchFamily="34" charset="0"/>
                        </a:rPr>
                        <a:t>Body Composition Result Sheet, InBody Result Sheet for Children, Research Result Sheet for Researcher, Option Result Sheet, Comparison Result Sheet, </a:t>
                      </a:r>
                    </a:p>
                    <a:p>
                      <a:pPr algn="ctr" latinLnBrk="1"/>
                      <a:r>
                        <a:rPr lang="en-US" altLang="ko-KR" sz="900" b="0" dirty="0">
                          <a:solidFill>
                            <a:schemeClr val="tx1"/>
                          </a:solidFill>
                          <a:latin typeface="Lato" panose="020F0502020204030203" pitchFamily="34" charset="0"/>
                          <a:ea typeface="+mj-ea"/>
                          <a:cs typeface="Verdana" pitchFamily="34" charset="0"/>
                        </a:rPr>
                        <a:t>Thermal Result Sheet (Optional)</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91366">
                <a:tc>
                  <a:txBody>
                    <a:bodyPr/>
                    <a:lstStyle/>
                    <a:p>
                      <a:pPr algn="l" latinLnBrk="1"/>
                      <a:r>
                        <a:rPr lang="en-US" altLang="ko-KR" sz="900" b="1" dirty="0">
                          <a:solidFill>
                            <a:schemeClr val="bg1"/>
                          </a:solidFill>
                          <a:latin typeface="Lato" panose="020F0502020204030203" pitchFamily="34" charset="0"/>
                          <a:ea typeface="+mj-ea"/>
                          <a:cs typeface="Verdana" pitchFamily="34" charset="0"/>
                        </a:rPr>
                        <a:t>Dimension</a:t>
                      </a:r>
                    </a:p>
                    <a:p>
                      <a:pPr algn="l" latinLnBrk="1"/>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202(W)</a:t>
                      </a:r>
                      <a:r>
                        <a:rPr lang="en-US" altLang="ko-KR" sz="900" b="0" baseline="0" dirty="0">
                          <a:solidFill>
                            <a:schemeClr val="tx1"/>
                          </a:solidFill>
                          <a:latin typeface="Lato" panose="020F0502020204030203" pitchFamily="34" charset="0"/>
                          <a:ea typeface="+mj-ea"/>
                          <a:cs typeface="Verdana" pitchFamily="34" charset="0"/>
                        </a:rPr>
                        <a:t> X 322(L) X 53(H)</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Lato" panose="020F0502020204030203" pitchFamily="34" charset="0"/>
                          <a:ea typeface="+mj-ea"/>
                          <a:cs typeface="Verdana" pitchFamily="34" charset="0"/>
                        </a:rPr>
                        <a:t>(*Head</a:t>
                      </a:r>
                      <a:r>
                        <a:rPr lang="en-US" altLang="ko-KR" sz="900" b="0" kern="1200" baseline="0" dirty="0">
                          <a:solidFill>
                            <a:schemeClr val="tx1"/>
                          </a:solidFill>
                          <a:latin typeface="Lato" panose="020F0502020204030203" pitchFamily="34" charset="0"/>
                          <a:ea typeface="+mj-ea"/>
                          <a:cs typeface="Verdana" pitchFamily="34" charset="0"/>
                        </a:rPr>
                        <a:t> Only)</a:t>
                      </a:r>
                      <a:endParaRPr lang="ko-KR" altLang="en-US" sz="900" b="0" kern="120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322(W) X 282(L) X 81.5(H)</a:t>
                      </a:r>
                    </a:p>
                    <a:p>
                      <a:pPr algn="ctr" latinLnBrk="1"/>
                      <a:r>
                        <a:rPr lang="en-US" altLang="ko-KR" sz="900" b="0" dirty="0">
                          <a:solidFill>
                            <a:schemeClr val="tx1"/>
                          </a:solidFill>
                          <a:latin typeface="Lato" panose="020F0502020204030203" pitchFamily="34" charset="0"/>
                          <a:ea typeface="+mj-ea"/>
                          <a:cs typeface="Verdana" pitchFamily="34" charset="0"/>
                        </a:rPr>
                        <a:t>(*Head</a:t>
                      </a:r>
                      <a:r>
                        <a:rPr lang="en-US" altLang="ko-KR" sz="900" b="0" baseline="0" dirty="0">
                          <a:solidFill>
                            <a:schemeClr val="tx1"/>
                          </a:solidFill>
                          <a:latin typeface="Lato" panose="020F0502020204030203" pitchFamily="34" charset="0"/>
                          <a:ea typeface="+mj-ea"/>
                          <a:cs typeface="Verdana" pitchFamily="34" charset="0"/>
                        </a:rPr>
                        <a:t> Only)</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60911">
                <a:tc>
                  <a:txBody>
                    <a:bodyPr/>
                    <a:lstStyle/>
                    <a:p>
                      <a:pPr algn="l" latinLnBrk="1"/>
                      <a:r>
                        <a:rPr lang="en-US" altLang="ko-KR" sz="900" b="1" dirty="0">
                          <a:solidFill>
                            <a:schemeClr val="bg1"/>
                          </a:solidFill>
                          <a:latin typeface="Lato" panose="020F0502020204030203" pitchFamily="34" charset="0"/>
                          <a:ea typeface="+mj-ea"/>
                          <a:cs typeface="Verdana" pitchFamily="34" charset="0"/>
                        </a:rPr>
                        <a:t>Device</a:t>
                      </a:r>
                      <a:r>
                        <a:rPr lang="en-US" altLang="ko-KR" sz="900" b="1" baseline="0" dirty="0">
                          <a:solidFill>
                            <a:schemeClr val="bg1"/>
                          </a:solidFill>
                          <a:latin typeface="Lato" panose="020F0502020204030203" pitchFamily="34" charset="0"/>
                          <a:ea typeface="+mj-ea"/>
                          <a:cs typeface="Verdana" pitchFamily="34" charset="0"/>
                        </a:rPr>
                        <a:t> </a:t>
                      </a:r>
                      <a:r>
                        <a:rPr lang="en-US" altLang="ko-KR" sz="900" b="1" dirty="0">
                          <a:solidFill>
                            <a:schemeClr val="bg1"/>
                          </a:solidFill>
                          <a:latin typeface="Lato" panose="020F0502020204030203" pitchFamily="34" charset="0"/>
                          <a:ea typeface="+mj-ea"/>
                          <a:cs typeface="Verdana" pitchFamily="34" charset="0"/>
                        </a:rPr>
                        <a:t>Weight </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2kg</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3.3kg</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60911">
                <a:tc>
                  <a:txBody>
                    <a:bodyPr/>
                    <a:lstStyle/>
                    <a:p>
                      <a:pPr algn="l" latinLnBrk="1"/>
                      <a:r>
                        <a:rPr lang="en-US" altLang="ko-KR" sz="900" b="1" dirty="0">
                          <a:solidFill>
                            <a:schemeClr val="bg1"/>
                          </a:solidFill>
                          <a:latin typeface="Lato" panose="020F0502020204030203" pitchFamily="34" charset="0"/>
                          <a:ea typeface="+mj-ea"/>
                          <a:cs typeface="Verdana" pitchFamily="34" charset="0"/>
                        </a:rPr>
                        <a:t>Testing Time</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1m 50sec</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900" b="0" baseline="0" dirty="0">
                          <a:solidFill>
                            <a:srgbClr val="90001F"/>
                          </a:solidFill>
                          <a:latin typeface="Lato" panose="020F0502020204030203" pitchFamily="34" charset="0"/>
                          <a:ea typeface="+mj-ea"/>
                          <a:cs typeface="Verdana" pitchFamily="34" charset="0"/>
                        </a:rPr>
                        <a:t>1m 30 sec</a:t>
                      </a:r>
                      <a:endParaRPr lang="ko-KR" altLang="en-US" sz="900" b="0" dirty="0">
                        <a:solidFill>
                          <a:srgbClr val="90001F"/>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60911">
                <a:tc>
                  <a:txBody>
                    <a:bodyPr/>
                    <a:lstStyle/>
                    <a:p>
                      <a:pPr algn="l" latinLnBrk="1"/>
                      <a:r>
                        <a:rPr lang="en-US" altLang="ko-KR" sz="900" b="1" dirty="0">
                          <a:solidFill>
                            <a:schemeClr val="bg1"/>
                          </a:solidFill>
                          <a:latin typeface="Lato" panose="020F0502020204030203" pitchFamily="34" charset="0"/>
                          <a:ea typeface="+mj-ea"/>
                          <a:cs typeface="Verdana" pitchFamily="34" charset="0"/>
                        </a:rPr>
                        <a:t>Testing Weight Range</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10 ~250 kg</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Lato" panose="020F0502020204030203" pitchFamily="34" charset="0"/>
                          <a:ea typeface="+mj-ea"/>
                          <a:cs typeface="Verdana" pitchFamily="34" charset="0"/>
                        </a:rPr>
                        <a:t>10 ~250 kg</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88747">
                <a:tc>
                  <a:txBody>
                    <a:bodyPr/>
                    <a:lstStyle/>
                    <a:p>
                      <a:pPr algn="l" latinLnBrk="1"/>
                      <a:r>
                        <a:rPr lang="en-US" altLang="ko-KR" sz="900" b="1" dirty="0">
                          <a:solidFill>
                            <a:schemeClr val="bg1"/>
                          </a:solidFill>
                          <a:latin typeface="Lato" panose="020F0502020204030203" pitchFamily="34" charset="0"/>
                          <a:ea typeface="+mj-ea"/>
                          <a:cs typeface="Verdana" pitchFamily="34" charset="0"/>
                        </a:rPr>
                        <a:t>Testing Age Range</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3 ~ 99</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Lato" panose="020F0502020204030203" pitchFamily="34" charset="0"/>
                          <a:ea typeface="+mj-ea"/>
                          <a:cs typeface="Verdana" pitchFamily="34" charset="0"/>
                        </a:rPr>
                        <a:t>3 ~ 99</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60911">
                <a:tc>
                  <a:txBody>
                    <a:bodyPr/>
                    <a:lstStyle/>
                    <a:p>
                      <a:pPr algn="l" latinLnBrk="1"/>
                      <a:r>
                        <a:rPr lang="en-US" altLang="ko-KR" sz="900" b="1" dirty="0">
                          <a:solidFill>
                            <a:schemeClr val="bg1"/>
                          </a:solidFill>
                          <a:latin typeface="Lato" panose="020F0502020204030203" pitchFamily="34" charset="0"/>
                          <a:ea typeface="+mj-ea"/>
                          <a:cs typeface="Verdana" pitchFamily="34" charset="0"/>
                        </a:rPr>
                        <a:t>Testing Height</a:t>
                      </a:r>
                      <a:r>
                        <a:rPr lang="en-US" altLang="ko-KR" sz="900" b="1" baseline="0" dirty="0">
                          <a:solidFill>
                            <a:schemeClr val="bg1"/>
                          </a:solidFill>
                          <a:latin typeface="Lato" panose="020F0502020204030203" pitchFamily="34" charset="0"/>
                          <a:ea typeface="+mj-ea"/>
                          <a:cs typeface="Verdana" pitchFamily="34" charset="0"/>
                        </a:rPr>
                        <a:t> Range</a:t>
                      </a:r>
                      <a:endParaRPr lang="ko-KR" altLang="en-US" sz="900" b="1" dirty="0">
                        <a:solidFill>
                          <a:schemeClr val="bg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001F"/>
                    </a:solidFill>
                  </a:tcPr>
                </a:tc>
                <a:tc>
                  <a:txBody>
                    <a:bodyPr/>
                    <a:lstStyle/>
                    <a:p>
                      <a:pPr algn="ctr" latinLnBrk="1"/>
                      <a:r>
                        <a:rPr lang="en-US" altLang="ko-KR" sz="900" b="0" dirty="0">
                          <a:solidFill>
                            <a:schemeClr val="tx1"/>
                          </a:solidFill>
                          <a:latin typeface="Lato" panose="020F0502020204030203" pitchFamily="34" charset="0"/>
                          <a:ea typeface="+mj-ea"/>
                          <a:cs typeface="Verdana" pitchFamily="34" charset="0"/>
                        </a:rPr>
                        <a:t>95 ~ 220cm</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635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Lato" panose="020F0502020204030203" pitchFamily="34" charset="0"/>
                          <a:ea typeface="+mj-ea"/>
                          <a:cs typeface="Verdana" pitchFamily="34" charset="0"/>
                        </a:rPr>
                        <a:t>95 ~ 220cm</a:t>
                      </a:r>
                      <a:endParaRPr lang="ko-KR" altLang="en-US" sz="900" b="0" dirty="0">
                        <a:solidFill>
                          <a:schemeClr val="tx1"/>
                        </a:solidFill>
                        <a:latin typeface="Lato" panose="020F0502020204030203" pitchFamily="34" charset="0"/>
                        <a:ea typeface="+mj-ea"/>
                        <a:cs typeface="Verdana" pitchFamily="34" charset="0"/>
                      </a:endParaRPr>
                    </a:p>
                  </a:txBody>
                  <a:tcPr marL="97842" marR="97842" marT="48921" marB="48921" anchor="ctr">
                    <a:lnL w="1270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pic>
        <p:nvPicPr>
          <p:cNvPr id="9" name="Picture 10">
            <a:extLst>
              <a:ext uri="{FF2B5EF4-FFF2-40B4-BE49-F238E27FC236}">
                <a16:creationId xmlns:a16="http://schemas.microsoft.com/office/drawing/2014/main" id="{20A2821D-241C-BE9F-C55C-3B9868F3A794}"/>
              </a:ext>
            </a:extLst>
          </p:cNvPr>
          <p:cNvPicPr>
            <a:picLocks noChangeAspect="1"/>
          </p:cNvPicPr>
          <p:nvPr/>
        </p:nvPicPr>
        <p:blipFill>
          <a:blip r:embed="rId4"/>
          <a:srcRect/>
          <a:stretch>
            <a:fillRect/>
          </a:stretch>
        </p:blipFill>
        <p:spPr>
          <a:xfrm>
            <a:off x="9116974" y="1343053"/>
            <a:ext cx="3470492" cy="4619624"/>
          </a:xfrm>
          <a:prstGeom prst="rect">
            <a:avLst/>
          </a:prstGeom>
        </p:spPr>
      </p:pic>
      <p:pic>
        <p:nvPicPr>
          <p:cNvPr id="17" name="그림 16">
            <a:extLst>
              <a:ext uri="{FF2B5EF4-FFF2-40B4-BE49-F238E27FC236}">
                <a16:creationId xmlns:a16="http://schemas.microsoft.com/office/drawing/2014/main" id="{EB3FB793-8AD8-F240-40C1-B64CD4B393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332" y="2065353"/>
            <a:ext cx="2284288" cy="3426430"/>
          </a:xfrm>
          <a:prstGeom prst="rect">
            <a:avLst/>
          </a:prstGeom>
        </p:spPr>
      </p:pic>
    </p:spTree>
    <p:extLst>
      <p:ext uri="{BB962C8B-B14F-4D97-AF65-F5344CB8AC3E}">
        <p14:creationId xmlns:p14="http://schemas.microsoft.com/office/powerpoint/2010/main" val="39133058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sp>
        <p:nvSpPr>
          <p:cNvPr id="10" name="TextBox 9">
            <a:extLst>
              <a:ext uri="{FF2B5EF4-FFF2-40B4-BE49-F238E27FC236}">
                <a16:creationId xmlns:a16="http://schemas.microsoft.com/office/drawing/2014/main" id="{34056D0D-945F-45E3-4417-462C7EEBC2A3}"/>
              </a:ext>
            </a:extLst>
          </p:cNvPr>
          <p:cNvSpPr txBox="1"/>
          <p:nvPr/>
        </p:nvSpPr>
        <p:spPr>
          <a:xfrm>
            <a:off x="5130694" y="5042915"/>
            <a:ext cx="2331087" cy="692497"/>
          </a:xfrm>
          <a:prstGeom prst="rect">
            <a:avLst/>
          </a:prstGeom>
          <a:solidFill>
            <a:schemeClr val="bg1"/>
          </a:solidFill>
        </p:spPr>
        <p:txBody>
          <a:bodyPr wrap="none" rtlCol="0">
            <a:spAutoFit/>
          </a:bodyPr>
          <a:lstStyle/>
          <a:p>
            <a:pPr algn="ctr"/>
            <a:r>
              <a:rPr lang="en-US" altLang="ko-KR" sz="1400" dirty="0">
                <a:solidFill>
                  <a:srgbClr val="90001F"/>
                </a:solidFill>
                <a:latin typeface="Lato" panose="020F0502020204030203" pitchFamily="34" charset="0"/>
              </a:rPr>
              <a:t>Upgraded Battery Capacity</a:t>
            </a:r>
          </a:p>
          <a:p>
            <a:pPr algn="ctr"/>
            <a:r>
              <a:rPr lang="en-US" altLang="ko-KR" sz="1400" dirty="0">
                <a:solidFill>
                  <a:srgbClr val="90001F"/>
                </a:solidFill>
                <a:latin typeface="Lato" panose="020F0502020204030203" pitchFamily="34" charset="0"/>
              </a:rPr>
              <a:t>Last twice as long</a:t>
            </a:r>
          </a:p>
          <a:p>
            <a:pPr algn="ctr"/>
            <a:endParaRPr lang="en-US" altLang="ko-KR" sz="1100" spc="-150" dirty="0">
              <a:solidFill>
                <a:srgbClr val="90001F"/>
              </a:solidFill>
              <a:latin typeface="Lato" panose="020F0502020204030203" pitchFamily="34" charset="0"/>
            </a:endParaRPr>
          </a:p>
        </p:txBody>
      </p:sp>
      <p:sp>
        <p:nvSpPr>
          <p:cNvPr id="11" name="직사각형 10">
            <a:extLst>
              <a:ext uri="{FF2B5EF4-FFF2-40B4-BE49-F238E27FC236}">
                <a16:creationId xmlns:a16="http://schemas.microsoft.com/office/drawing/2014/main" id="{4DE2DD5B-503B-1CE3-E767-A31BA3B19257}"/>
              </a:ext>
            </a:extLst>
          </p:cNvPr>
          <p:cNvSpPr/>
          <p:nvPr/>
        </p:nvSpPr>
        <p:spPr>
          <a:xfrm>
            <a:off x="1084873" y="1699031"/>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2" name="Picture 5" descr="C:\Users\김현국\Pictures\장비사진(작업용)\BWA vs S10 비교사진\InBodyS10_손전극_개발.jpg">
            <a:extLst>
              <a:ext uri="{FF2B5EF4-FFF2-40B4-BE49-F238E27FC236}">
                <a16:creationId xmlns:a16="http://schemas.microsoft.com/office/drawing/2014/main" id="{9EF85778-46DE-7E4A-91C9-745D4889C5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2909" y="1327585"/>
            <a:ext cx="2115143" cy="141009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C:\Users\김현국\Pictures\장비사진(작업용)\BWA vs S10 비교사진\BWA_클램프전극_손.jpg">
            <a:extLst>
              <a:ext uri="{FF2B5EF4-FFF2-40B4-BE49-F238E27FC236}">
                <a16:creationId xmlns:a16="http://schemas.microsoft.com/office/drawing/2014/main" id="{8C553E66-2DFA-4A16-A041-161D449D7FA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6300400" y="1359262"/>
            <a:ext cx="2201554" cy="125519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 descr="C:\Users\김현국\Pictures\장비사진(작업용)\BWA vs S10 비교사진\BWA_클램프전극_발.jpg">
            <a:extLst>
              <a:ext uri="{FF2B5EF4-FFF2-40B4-BE49-F238E27FC236}">
                <a16:creationId xmlns:a16="http://schemas.microsoft.com/office/drawing/2014/main" id="{A7CB1451-CCB7-DE91-CCCF-06B560B9ACF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8577340" y="1327585"/>
            <a:ext cx="2296414" cy="12859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C:\Users\김현국\Pictures\장비사진(작업용)\BWA vs S10 비교사진\InBodyS10_발전극_개발_누워있는자세_정측면.jpg">
            <a:extLst>
              <a:ext uri="{FF2B5EF4-FFF2-40B4-BE49-F238E27FC236}">
                <a16:creationId xmlns:a16="http://schemas.microsoft.com/office/drawing/2014/main" id="{4CA7BBAE-CE73-72B4-4F23-75FE7B02C8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12457" y="1136115"/>
            <a:ext cx="1430545" cy="153907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AD7BB6D2-D339-008B-B186-66F4BCDBDD5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42901" y="4606744"/>
            <a:ext cx="1259220" cy="1253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12">
            <a:extLst>
              <a:ext uri="{FF2B5EF4-FFF2-40B4-BE49-F238E27FC236}">
                <a16:creationId xmlns:a16="http://schemas.microsoft.com/office/drawing/2014/main" id="{57E4B352-E758-DBE6-5ECD-AB0A740EB60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284874" y="3038088"/>
            <a:ext cx="1436823" cy="1058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13">
            <a:extLst>
              <a:ext uri="{FF2B5EF4-FFF2-40B4-BE49-F238E27FC236}">
                <a16:creationId xmlns:a16="http://schemas.microsoft.com/office/drawing/2014/main" id="{FE67F0AC-BEA3-E031-7858-E0A4F9DCDFB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21915" y="2948222"/>
            <a:ext cx="1501192" cy="1148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0" name="직선 화살표 연결선 19">
            <a:extLst>
              <a:ext uri="{FF2B5EF4-FFF2-40B4-BE49-F238E27FC236}">
                <a16:creationId xmlns:a16="http://schemas.microsoft.com/office/drawing/2014/main" id="{1EE914C2-4260-C5C3-C552-D352A927B1BA}"/>
              </a:ext>
            </a:extLst>
          </p:cNvPr>
          <p:cNvCxnSpPr/>
          <p:nvPr/>
        </p:nvCxnSpPr>
        <p:spPr>
          <a:xfrm>
            <a:off x="7978927" y="3263716"/>
            <a:ext cx="1018446" cy="619276"/>
          </a:xfrm>
          <a:prstGeom prst="straightConnector1">
            <a:avLst/>
          </a:prstGeom>
          <a:ln w="19050">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F841F12-838B-7D70-8749-A906AC2330ED}"/>
              </a:ext>
            </a:extLst>
          </p:cNvPr>
          <p:cNvSpPr txBox="1"/>
          <p:nvPr/>
        </p:nvSpPr>
        <p:spPr>
          <a:xfrm>
            <a:off x="9175591" y="3483415"/>
            <a:ext cx="1070492" cy="276999"/>
          </a:xfrm>
          <a:prstGeom prst="rect">
            <a:avLst/>
          </a:prstGeom>
          <a:noFill/>
        </p:spPr>
        <p:txBody>
          <a:bodyPr wrap="square" rtlCol="0">
            <a:spAutoFit/>
          </a:bodyPr>
          <a:lstStyle/>
          <a:p>
            <a:r>
              <a:rPr lang="en-US" altLang="ko-KR" sz="1200" dirty="0">
                <a:solidFill>
                  <a:srgbClr val="90001F"/>
                </a:solidFill>
                <a:latin typeface="Lato" panose="020F0502020204030203" pitchFamily="34" charset="0"/>
                <a:ea typeface="+mj-ea"/>
              </a:rPr>
              <a:t>10.1 inch</a:t>
            </a:r>
            <a:endParaRPr lang="ko-KR" altLang="en-US" sz="1200" dirty="0">
              <a:solidFill>
                <a:srgbClr val="90001F"/>
              </a:solidFill>
              <a:latin typeface="Lato" panose="020F0502020204030203" pitchFamily="34" charset="0"/>
              <a:ea typeface="+mj-ea"/>
            </a:endParaRPr>
          </a:p>
        </p:txBody>
      </p:sp>
      <p:cxnSp>
        <p:nvCxnSpPr>
          <p:cNvPr id="22" name="직선 화살표 연결선 21">
            <a:extLst>
              <a:ext uri="{FF2B5EF4-FFF2-40B4-BE49-F238E27FC236}">
                <a16:creationId xmlns:a16="http://schemas.microsoft.com/office/drawing/2014/main" id="{11D0786A-9079-7361-9C6B-509688A0F943}"/>
              </a:ext>
            </a:extLst>
          </p:cNvPr>
          <p:cNvCxnSpPr/>
          <p:nvPr/>
        </p:nvCxnSpPr>
        <p:spPr>
          <a:xfrm>
            <a:off x="3572614" y="3522322"/>
            <a:ext cx="888035" cy="217509"/>
          </a:xfrm>
          <a:prstGeom prst="straightConnector1">
            <a:avLst/>
          </a:prstGeom>
          <a:ln w="19050">
            <a:solidFill>
              <a:schemeClr val="bg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1A8E057-957F-4EB5-547C-A6DD0D4045E7}"/>
              </a:ext>
            </a:extLst>
          </p:cNvPr>
          <p:cNvSpPr txBox="1"/>
          <p:nvPr/>
        </p:nvSpPr>
        <p:spPr>
          <a:xfrm>
            <a:off x="4494300" y="3394737"/>
            <a:ext cx="760779" cy="276999"/>
          </a:xfrm>
          <a:prstGeom prst="rect">
            <a:avLst/>
          </a:prstGeom>
          <a:noFill/>
        </p:spPr>
        <p:txBody>
          <a:bodyPr wrap="square" rtlCol="0">
            <a:spAutoFit/>
          </a:bodyPr>
          <a:lstStyle/>
          <a:p>
            <a:r>
              <a:rPr lang="en-US" altLang="ko-KR" sz="1200" dirty="0">
                <a:solidFill>
                  <a:srgbClr val="90001F"/>
                </a:solidFill>
                <a:latin typeface="Lato" panose="020F0502020204030203" pitchFamily="34" charset="0"/>
                <a:ea typeface="+mj-ea"/>
              </a:rPr>
              <a:t>7 inch</a:t>
            </a:r>
            <a:endParaRPr lang="ko-KR" altLang="en-US" sz="1200" dirty="0">
              <a:solidFill>
                <a:srgbClr val="90001F"/>
              </a:solidFill>
              <a:latin typeface="Lato" panose="020F0502020204030203" pitchFamily="34" charset="0"/>
              <a:ea typeface="+mj-ea"/>
            </a:endParaRPr>
          </a:p>
        </p:txBody>
      </p:sp>
      <p:pic>
        <p:nvPicPr>
          <p:cNvPr id="24" name="Picture 14">
            <a:extLst>
              <a:ext uri="{FF2B5EF4-FFF2-40B4-BE49-F238E27FC236}">
                <a16:creationId xmlns:a16="http://schemas.microsoft.com/office/drawing/2014/main" id="{3B6752FE-CBD2-81B2-4DE1-7F9859905D18}"/>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11920" y="4609755"/>
            <a:ext cx="1434480" cy="939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Box 24">
            <a:extLst>
              <a:ext uri="{FF2B5EF4-FFF2-40B4-BE49-F238E27FC236}">
                <a16:creationId xmlns:a16="http://schemas.microsoft.com/office/drawing/2014/main" id="{3EA17980-A62C-0063-8D2E-4809D9BE0681}"/>
              </a:ext>
            </a:extLst>
          </p:cNvPr>
          <p:cNvSpPr txBox="1"/>
          <p:nvPr/>
        </p:nvSpPr>
        <p:spPr>
          <a:xfrm>
            <a:off x="3311920" y="5660135"/>
            <a:ext cx="1395276" cy="369332"/>
          </a:xfrm>
          <a:prstGeom prst="rect">
            <a:avLst/>
          </a:prstGeom>
          <a:noFill/>
        </p:spPr>
        <p:txBody>
          <a:bodyPr wrap="square" rtlCol="0">
            <a:spAutoFit/>
          </a:bodyPr>
          <a:lstStyle/>
          <a:p>
            <a:r>
              <a:rPr lang="en-US" altLang="ko-KR" dirty="0">
                <a:solidFill>
                  <a:srgbClr val="90001F"/>
                </a:solidFill>
                <a:latin typeface="Lato" panose="020F0502020204030203" pitchFamily="34" charset="0"/>
                <a:ea typeface="+mj-ea"/>
              </a:rPr>
              <a:t>2200mAh</a:t>
            </a:r>
            <a:endParaRPr lang="ko-KR" altLang="en-US" dirty="0">
              <a:solidFill>
                <a:srgbClr val="90001F"/>
              </a:solidFill>
              <a:latin typeface="Lato" panose="020F0502020204030203" pitchFamily="34" charset="0"/>
              <a:ea typeface="+mj-ea"/>
            </a:endParaRPr>
          </a:p>
        </p:txBody>
      </p:sp>
      <p:sp>
        <p:nvSpPr>
          <p:cNvPr id="26" name="TextBox 25">
            <a:extLst>
              <a:ext uri="{FF2B5EF4-FFF2-40B4-BE49-F238E27FC236}">
                <a16:creationId xmlns:a16="http://schemas.microsoft.com/office/drawing/2014/main" id="{671420BF-99D1-5CA4-8F9E-2DB7954256B3}"/>
              </a:ext>
            </a:extLst>
          </p:cNvPr>
          <p:cNvSpPr txBox="1"/>
          <p:nvPr/>
        </p:nvSpPr>
        <p:spPr>
          <a:xfrm>
            <a:off x="8035572" y="5665970"/>
            <a:ext cx="1395276" cy="369332"/>
          </a:xfrm>
          <a:prstGeom prst="rect">
            <a:avLst/>
          </a:prstGeom>
          <a:noFill/>
        </p:spPr>
        <p:txBody>
          <a:bodyPr wrap="square" rtlCol="0">
            <a:spAutoFit/>
          </a:bodyPr>
          <a:lstStyle/>
          <a:p>
            <a:r>
              <a:rPr lang="en-US" altLang="ko-KR" dirty="0">
                <a:solidFill>
                  <a:srgbClr val="90001F"/>
                </a:solidFill>
                <a:latin typeface="Lato" panose="020F0502020204030203" pitchFamily="34" charset="0"/>
                <a:ea typeface="+mj-ea"/>
              </a:rPr>
              <a:t>5100mAh</a:t>
            </a:r>
            <a:endParaRPr lang="ko-KR" altLang="en-US" dirty="0">
              <a:solidFill>
                <a:srgbClr val="90001F"/>
              </a:solidFill>
              <a:latin typeface="Lato" panose="020F0502020204030203" pitchFamily="34" charset="0"/>
              <a:ea typeface="+mj-ea"/>
            </a:endParaRPr>
          </a:p>
        </p:txBody>
      </p:sp>
      <p:sp>
        <p:nvSpPr>
          <p:cNvPr id="27" name="직사각형 26">
            <a:extLst>
              <a:ext uri="{FF2B5EF4-FFF2-40B4-BE49-F238E27FC236}">
                <a16:creationId xmlns:a16="http://schemas.microsoft.com/office/drawing/2014/main" id="{7B6D58AC-EB16-0C58-07A8-E1D81001A819}"/>
              </a:ext>
            </a:extLst>
          </p:cNvPr>
          <p:cNvSpPr/>
          <p:nvPr/>
        </p:nvSpPr>
        <p:spPr>
          <a:xfrm>
            <a:off x="1084873" y="3089973"/>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04CF69B7-255F-67D1-A6EF-AAF17D71AA1A}"/>
              </a:ext>
            </a:extLst>
          </p:cNvPr>
          <p:cNvSpPr/>
          <p:nvPr/>
        </p:nvSpPr>
        <p:spPr>
          <a:xfrm>
            <a:off x="1084873" y="4626389"/>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037ED5A3-A75D-64B5-FBB4-E3BA506D5ED2}"/>
              </a:ext>
            </a:extLst>
          </p:cNvPr>
          <p:cNvSpPr txBox="1"/>
          <p:nvPr/>
        </p:nvSpPr>
        <p:spPr>
          <a:xfrm>
            <a:off x="1216917" y="2138641"/>
            <a:ext cx="811441" cy="246221"/>
          </a:xfrm>
          <a:prstGeom prst="rect">
            <a:avLst/>
          </a:prstGeom>
          <a:noFill/>
        </p:spPr>
        <p:txBody>
          <a:bodyPr wrap="none" rtlCol="0">
            <a:spAutoFit/>
          </a:bodyPr>
          <a:lstStyle/>
          <a:p>
            <a:r>
              <a:rPr lang="en-US" altLang="ko-KR" sz="1000" b="1" dirty="0">
                <a:solidFill>
                  <a:schemeClr val="bg1"/>
                </a:solidFill>
                <a:latin typeface="Lato" panose="020F0502020204030203" pitchFamily="34" charset="0"/>
              </a:rPr>
              <a:t>Electrodes</a:t>
            </a:r>
            <a:endParaRPr lang="ko-KR" altLang="en-US" sz="1000" b="1" dirty="0">
              <a:solidFill>
                <a:schemeClr val="bg1"/>
              </a:solidFill>
              <a:latin typeface="Lato" panose="020F0502020204030203" pitchFamily="34" charset="0"/>
            </a:endParaRPr>
          </a:p>
        </p:txBody>
      </p:sp>
      <p:sp>
        <p:nvSpPr>
          <p:cNvPr id="30" name="TextBox 29">
            <a:extLst>
              <a:ext uri="{FF2B5EF4-FFF2-40B4-BE49-F238E27FC236}">
                <a16:creationId xmlns:a16="http://schemas.microsoft.com/office/drawing/2014/main" id="{E091B1B9-2642-34BB-4D3A-5E8CCA238BFD}"/>
              </a:ext>
            </a:extLst>
          </p:cNvPr>
          <p:cNvSpPr txBox="1"/>
          <p:nvPr/>
        </p:nvSpPr>
        <p:spPr>
          <a:xfrm>
            <a:off x="1328326" y="3529583"/>
            <a:ext cx="588623" cy="246221"/>
          </a:xfrm>
          <a:prstGeom prst="rect">
            <a:avLst/>
          </a:prstGeom>
          <a:noFill/>
        </p:spPr>
        <p:txBody>
          <a:bodyPr wrap="none" rtlCol="0">
            <a:spAutoFit/>
          </a:bodyPr>
          <a:lstStyle/>
          <a:p>
            <a:r>
              <a:rPr lang="en-US" altLang="ko-KR" sz="1000" b="1" dirty="0">
                <a:solidFill>
                  <a:schemeClr val="bg1"/>
                </a:solidFill>
                <a:latin typeface="Lato" panose="020F0502020204030203" pitchFamily="34" charset="0"/>
              </a:rPr>
              <a:t>Screen</a:t>
            </a:r>
            <a:endParaRPr lang="ko-KR" altLang="en-US" sz="1000" b="1" dirty="0">
              <a:solidFill>
                <a:schemeClr val="bg1"/>
              </a:solidFill>
              <a:latin typeface="Lato" panose="020F0502020204030203" pitchFamily="34" charset="0"/>
            </a:endParaRPr>
          </a:p>
        </p:txBody>
      </p:sp>
      <p:sp>
        <p:nvSpPr>
          <p:cNvPr id="31" name="TextBox 30">
            <a:extLst>
              <a:ext uri="{FF2B5EF4-FFF2-40B4-BE49-F238E27FC236}">
                <a16:creationId xmlns:a16="http://schemas.microsoft.com/office/drawing/2014/main" id="{00E16016-8E6D-E21A-42FF-BE146D4F5755}"/>
              </a:ext>
            </a:extLst>
          </p:cNvPr>
          <p:cNvSpPr txBox="1"/>
          <p:nvPr/>
        </p:nvSpPr>
        <p:spPr>
          <a:xfrm>
            <a:off x="1310693" y="5065999"/>
            <a:ext cx="625492" cy="246221"/>
          </a:xfrm>
          <a:prstGeom prst="rect">
            <a:avLst/>
          </a:prstGeom>
          <a:noFill/>
        </p:spPr>
        <p:txBody>
          <a:bodyPr wrap="none" rtlCol="0">
            <a:spAutoFit/>
          </a:bodyPr>
          <a:lstStyle/>
          <a:p>
            <a:r>
              <a:rPr lang="en-US" altLang="ko-KR" sz="1000" b="1" dirty="0">
                <a:solidFill>
                  <a:schemeClr val="bg1"/>
                </a:solidFill>
                <a:latin typeface="Lato" panose="020F0502020204030203" pitchFamily="34" charset="0"/>
              </a:rPr>
              <a:t>Battery</a:t>
            </a:r>
          </a:p>
        </p:txBody>
      </p:sp>
      <p:cxnSp>
        <p:nvCxnSpPr>
          <p:cNvPr id="32" name="직선 연결선 31">
            <a:extLst>
              <a:ext uri="{FF2B5EF4-FFF2-40B4-BE49-F238E27FC236}">
                <a16:creationId xmlns:a16="http://schemas.microsoft.com/office/drawing/2014/main" id="{C8F77331-3861-142A-C3B1-EDB924AB6DB9}"/>
              </a:ext>
            </a:extLst>
          </p:cNvPr>
          <p:cNvCxnSpPr/>
          <p:nvPr/>
        </p:nvCxnSpPr>
        <p:spPr>
          <a:xfrm>
            <a:off x="2399489" y="2824471"/>
            <a:ext cx="775612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93AECD9-8FCA-0447-64DB-104EEB5152FC}"/>
              </a:ext>
            </a:extLst>
          </p:cNvPr>
          <p:cNvCxnSpPr/>
          <p:nvPr/>
        </p:nvCxnSpPr>
        <p:spPr>
          <a:xfrm>
            <a:off x="2399489" y="4244777"/>
            <a:ext cx="7756129"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7C889F6-FC55-46E0-A23F-3562FCAF94AA}"/>
              </a:ext>
            </a:extLst>
          </p:cNvPr>
          <p:cNvSpPr txBox="1"/>
          <p:nvPr/>
        </p:nvSpPr>
        <p:spPr>
          <a:xfrm>
            <a:off x="8733210" y="809855"/>
            <a:ext cx="2741732" cy="707886"/>
          </a:xfrm>
          <a:prstGeom prst="rect">
            <a:avLst/>
          </a:prstGeom>
          <a:solidFill>
            <a:schemeClr val="bg1"/>
          </a:solidFill>
        </p:spPr>
        <p:txBody>
          <a:bodyPr wrap="square" rtlCol="0">
            <a:spAutoFit/>
          </a:bodyPr>
          <a:lstStyle/>
          <a:p>
            <a:pPr algn="ctr"/>
            <a:r>
              <a:rPr lang="en-US" altLang="ko-KR" sz="1000" dirty="0">
                <a:solidFill>
                  <a:srgbClr val="90001F"/>
                </a:solidFill>
                <a:latin typeface="Lato" panose="020F0502020204030203" pitchFamily="34" charset="0"/>
              </a:rPr>
              <a:t>Clamp Electrode Dual forceps structure </a:t>
            </a:r>
          </a:p>
          <a:p>
            <a:pPr algn="ctr"/>
            <a:r>
              <a:rPr lang="en-US" altLang="ko-KR" sz="1000" dirty="0">
                <a:solidFill>
                  <a:srgbClr val="90001F"/>
                </a:solidFill>
                <a:latin typeface="Lato" panose="020F0502020204030203" pitchFamily="34" charset="0"/>
              </a:rPr>
              <a:t>acts as an indicator attached </a:t>
            </a:r>
          </a:p>
          <a:p>
            <a:pPr algn="ctr"/>
            <a:r>
              <a:rPr lang="en-US" altLang="ko-KR" sz="1000" dirty="0">
                <a:solidFill>
                  <a:srgbClr val="90001F"/>
                </a:solidFill>
                <a:latin typeface="Lato" panose="020F0502020204030203" pitchFamily="34" charset="0"/>
              </a:rPr>
              <a:t>on the wrist and ankle </a:t>
            </a:r>
          </a:p>
          <a:p>
            <a:pPr algn="ctr"/>
            <a:r>
              <a:rPr lang="en-US" altLang="ko-KR" sz="1000" dirty="0">
                <a:solidFill>
                  <a:srgbClr val="90001F"/>
                </a:solidFill>
                <a:latin typeface="Lato" panose="020F0502020204030203" pitchFamily="34" charset="0"/>
              </a:rPr>
              <a:t>for high reproducibility</a:t>
            </a:r>
          </a:p>
        </p:txBody>
      </p:sp>
    </p:spTree>
    <p:extLst>
      <p:ext uri="{BB962C8B-B14F-4D97-AF65-F5344CB8AC3E}">
        <p14:creationId xmlns:p14="http://schemas.microsoft.com/office/powerpoint/2010/main" val="19999664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529145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pic>
        <p:nvPicPr>
          <p:cNvPr id="5" name="Picture 2">
            <a:extLst>
              <a:ext uri="{FF2B5EF4-FFF2-40B4-BE49-F238E27FC236}">
                <a16:creationId xmlns:a16="http://schemas.microsoft.com/office/drawing/2014/main" id="{A795D653-4FA0-1792-5940-5EACE81C4E3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8190"/>
          <a:stretch/>
        </p:blipFill>
        <p:spPr bwMode="auto">
          <a:xfrm>
            <a:off x="4361717" y="1049481"/>
            <a:ext cx="814223" cy="125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a16="http://schemas.microsoft.com/office/drawing/2014/main" id="{202C9013-2C28-FC27-5FC6-3D7B67A097D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8042"/>
          <a:stretch/>
        </p:blipFill>
        <p:spPr bwMode="auto">
          <a:xfrm>
            <a:off x="6377942" y="1049482"/>
            <a:ext cx="1008112" cy="128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_x132070104" descr="EMB00002028523b">
            <a:extLst>
              <a:ext uri="{FF2B5EF4-FFF2-40B4-BE49-F238E27FC236}">
                <a16:creationId xmlns:a16="http://schemas.microsoft.com/office/drawing/2014/main" id="{5BB84C0D-7A4B-189A-AB9D-8FC445572E9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4573" y="465136"/>
            <a:ext cx="1209832" cy="245655"/>
          </a:xfrm>
          <a:prstGeom prst="rect">
            <a:avLst/>
          </a:prstGeom>
          <a:noFill/>
        </p:spPr>
      </p:pic>
      <p:pic>
        <p:nvPicPr>
          <p:cNvPr id="8" name="Picture 6">
            <a:extLst>
              <a:ext uri="{FF2B5EF4-FFF2-40B4-BE49-F238E27FC236}">
                <a16:creationId xmlns:a16="http://schemas.microsoft.com/office/drawing/2014/main" id="{55603897-BE10-B2AF-0734-F047BD418DC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63822" y="489168"/>
            <a:ext cx="1169159" cy="264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a:extLst>
              <a:ext uri="{FF2B5EF4-FFF2-40B4-BE49-F238E27FC236}">
                <a16:creationId xmlns:a16="http://schemas.microsoft.com/office/drawing/2014/main" id="{B6B04F0B-AB14-DDE0-8B0F-2B7E8599780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13827" y="4015815"/>
            <a:ext cx="1055389" cy="985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a:extLst>
              <a:ext uri="{FF2B5EF4-FFF2-40B4-BE49-F238E27FC236}">
                <a16:creationId xmlns:a16="http://schemas.microsoft.com/office/drawing/2014/main" id="{1CA9B768-1BA4-84CA-0468-3063FA8E14A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53431" y="3861804"/>
            <a:ext cx="1389956" cy="1228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TextBox 34">
            <a:extLst>
              <a:ext uri="{FF2B5EF4-FFF2-40B4-BE49-F238E27FC236}">
                <a16:creationId xmlns:a16="http://schemas.microsoft.com/office/drawing/2014/main" id="{BEEC80CC-89B7-0C04-EF77-D0224D2BC22B}"/>
              </a:ext>
            </a:extLst>
          </p:cNvPr>
          <p:cNvSpPr txBox="1"/>
          <p:nvPr/>
        </p:nvSpPr>
        <p:spPr>
          <a:xfrm>
            <a:off x="5733959" y="377915"/>
            <a:ext cx="420308" cy="400110"/>
          </a:xfrm>
          <a:prstGeom prst="rect">
            <a:avLst/>
          </a:prstGeom>
          <a:noFill/>
        </p:spPr>
        <p:txBody>
          <a:bodyPr wrap="none" rtlCol="0">
            <a:spAutoFit/>
          </a:bodyPr>
          <a:lstStyle/>
          <a:p>
            <a:r>
              <a:rPr lang="en-US" altLang="ko-KR" sz="2000" dirty="0"/>
              <a:t>vs</a:t>
            </a:r>
            <a:endParaRPr lang="ko-KR" altLang="en-US" sz="2000"/>
          </a:p>
        </p:txBody>
      </p:sp>
      <p:sp>
        <p:nvSpPr>
          <p:cNvPr id="36" name="직사각형 35">
            <a:extLst>
              <a:ext uri="{FF2B5EF4-FFF2-40B4-BE49-F238E27FC236}">
                <a16:creationId xmlns:a16="http://schemas.microsoft.com/office/drawing/2014/main" id="{8F3B7D56-2167-AC5B-4FDB-7DC4D78AA329}"/>
              </a:ext>
            </a:extLst>
          </p:cNvPr>
          <p:cNvSpPr/>
          <p:nvPr/>
        </p:nvSpPr>
        <p:spPr>
          <a:xfrm>
            <a:off x="1554773" y="1309107"/>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9C0FC9DB-F6CD-3D5F-EB7F-BA76904022FD}"/>
              </a:ext>
            </a:extLst>
          </p:cNvPr>
          <p:cNvSpPr txBox="1"/>
          <p:nvPr/>
        </p:nvSpPr>
        <p:spPr>
          <a:xfrm>
            <a:off x="1564788" y="1565212"/>
            <a:ext cx="1185350" cy="553998"/>
          </a:xfrm>
          <a:prstGeom prst="rect">
            <a:avLst/>
          </a:prstGeom>
          <a:noFill/>
        </p:spPr>
        <p:txBody>
          <a:bodyPr wrap="square" rtlCol="0">
            <a:spAutoFit/>
          </a:bodyPr>
          <a:lstStyle/>
          <a:p>
            <a:r>
              <a:rPr lang="en-US" altLang="ko-KR" sz="1000" b="1" dirty="0">
                <a:solidFill>
                  <a:schemeClr val="bg1"/>
                </a:solidFill>
                <a:latin typeface="Lato" panose="020F0502020204030203" pitchFamily="34" charset="0"/>
              </a:rPr>
              <a:t>Specially Designed </a:t>
            </a:r>
          </a:p>
          <a:p>
            <a:r>
              <a:rPr lang="en-US" altLang="ko-KR" sz="1000" b="1" dirty="0">
                <a:solidFill>
                  <a:schemeClr val="bg1"/>
                </a:solidFill>
                <a:latin typeface="Lato" panose="020F0502020204030203" pitchFamily="34" charset="0"/>
              </a:rPr>
              <a:t>Cart</a:t>
            </a:r>
            <a:endParaRPr lang="ko-KR" altLang="en-US" sz="1000" b="1" dirty="0">
              <a:solidFill>
                <a:schemeClr val="bg1"/>
              </a:solidFill>
              <a:latin typeface="Lato" panose="020F0502020204030203" pitchFamily="34" charset="0"/>
            </a:endParaRPr>
          </a:p>
        </p:txBody>
      </p:sp>
      <p:sp>
        <p:nvSpPr>
          <p:cNvPr id="38" name="TextBox 37">
            <a:extLst>
              <a:ext uri="{FF2B5EF4-FFF2-40B4-BE49-F238E27FC236}">
                <a16:creationId xmlns:a16="http://schemas.microsoft.com/office/drawing/2014/main" id="{1F516D6C-B6DD-5CA4-BF4F-67CC6D727A67}"/>
              </a:ext>
            </a:extLst>
          </p:cNvPr>
          <p:cNvSpPr txBox="1"/>
          <p:nvPr/>
        </p:nvSpPr>
        <p:spPr>
          <a:xfrm>
            <a:off x="8715433" y="1219889"/>
            <a:ext cx="2533066" cy="430887"/>
          </a:xfrm>
          <a:prstGeom prst="rect">
            <a:avLst/>
          </a:prstGeom>
          <a:solidFill>
            <a:schemeClr val="bg1"/>
          </a:solidFill>
        </p:spPr>
        <p:txBody>
          <a:bodyPr wrap="none" rtlCol="0">
            <a:spAutoFit/>
          </a:bodyPr>
          <a:lstStyle/>
          <a:p>
            <a:r>
              <a:rPr lang="en-US" altLang="ko-KR" sz="1100" dirty="0">
                <a:solidFill>
                  <a:srgbClr val="90001F"/>
                </a:solidFill>
                <a:latin typeface="Lato" panose="020F0502020204030203" pitchFamily="34" charset="0"/>
              </a:rPr>
              <a:t>Anti-twist design</a:t>
            </a:r>
          </a:p>
          <a:p>
            <a:r>
              <a:rPr lang="en-US" altLang="ko-KR" sz="1100" dirty="0">
                <a:solidFill>
                  <a:srgbClr val="90001F"/>
                </a:solidFill>
                <a:latin typeface="Lato" panose="020F0502020204030203" pitchFamily="34" charset="0"/>
              </a:rPr>
              <a:t>- Easily organize electrodes and cables</a:t>
            </a:r>
          </a:p>
        </p:txBody>
      </p:sp>
      <p:sp>
        <p:nvSpPr>
          <p:cNvPr id="39" name="타원 38">
            <a:extLst>
              <a:ext uri="{FF2B5EF4-FFF2-40B4-BE49-F238E27FC236}">
                <a16:creationId xmlns:a16="http://schemas.microsoft.com/office/drawing/2014/main" id="{3B8DAE61-8E08-1A78-D203-763CE92579FD}"/>
              </a:ext>
            </a:extLst>
          </p:cNvPr>
          <p:cNvSpPr/>
          <p:nvPr/>
        </p:nvSpPr>
        <p:spPr>
          <a:xfrm>
            <a:off x="8258233" y="1438378"/>
            <a:ext cx="70854" cy="70854"/>
          </a:xfrm>
          <a:prstGeom prst="ellips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0" name="직선 연결선 39">
            <a:extLst>
              <a:ext uri="{FF2B5EF4-FFF2-40B4-BE49-F238E27FC236}">
                <a16:creationId xmlns:a16="http://schemas.microsoft.com/office/drawing/2014/main" id="{EE716D38-8BB0-D2EC-B1BF-945704E9E403}"/>
              </a:ext>
            </a:extLst>
          </p:cNvPr>
          <p:cNvCxnSpPr/>
          <p:nvPr/>
        </p:nvCxnSpPr>
        <p:spPr>
          <a:xfrm>
            <a:off x="8258233" y="1473805"/>
            <a:ext cx="457200" cy="0"/>
          </a:xfrm>
          <a:prstGeom prst="line">
            <a:avLst/>
          </a:prstGeom>
          <a:ln>
            <a:solidFill>
              <a:srgbClr val="90001F"/>
            </a:solidFill>
          </a:ln>
        </p:spPr>
        <p:style>
          <a:lnRef idx="1">
            <a:schemeClr val="accent1"/>
          </a:lnRef>
          <a:fillRef idx="0">
            <a:schemeClr val="accent1"/>
          </a:fillRef>
          <a:effectRef idx="0">
            <a:schemeClr val="accent1"/>
          </a:effectRef>
          <a:fontRef idx="minor">
            <a:schemeClr val="tx1"/>
          </a:fontRef>
        </p:style>
      </p:cxnSp>
      <p:sp>
        <p:nvSpPr>
          <p:cNvPr id="41" name="직사각형 40">
            <a:extLst>
              <a:ext uri="{FF2B5EF4-FFF2-40B4-BE49-F238E27FC236}">
                <a16:creationId xmlns:a16="http://schemas.microsoft.com/office/drawing/2014/main" id="{C7281890-C391-C3A3-469F-F49770A71F9B}"/>
              </a:ext>
            </a:extLst>
          </p:cNvPr>
          <p:cNvSpPr/>
          <p:nvPr/>
        </p:nvSpPr>
        <p:spPr>
          <a:xfrm>
            <a:off x="1554773" y="2672624"/>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A049DE60-BD65-A88F-A17E-C2DABC81869B}"/>
              </a:ext>
            </a:extLst>
          </p:cNvPr>
          <p:cNvSpPr txBox="1"/>
          <p:nvPr/>
        </p:nvSpPr>
        <p:spPr>
          <a:xfrm>
            <a:off x="1554773" y="3035289"/>
            <a:ext cx="1096775" cy="246221"/>
          </a:xfrm>
          <a:prstGeom prst="rect">
            <a:avLst/>
          </a:prstGeom>
          <a:noFill/>
        </p:spPr>
        <p:txBody>
          <a:bodyPr wrap="none" rtlCol="0">
            <a:spAutoFit/>
          </a:bodyPr>
          <a:lstStyle/>
          <a:p>
            <a:r>
              <a:rPr lang="en-US" altLang="ko-KR" sz="1000" b="1" dirty="0">
                <a:solidFill>
                  <a:schemeClr val="bg1"/>
                </a:solidFill>
                <a:latin typeface="Lato" panose="020F0502020204030203" pitchFamily="34" charset="0"/>
              </a:rPr>
              <a:t>Special Patients</a:t>
            </a:r>
            <a:endParaRPr lang="ko-KR" altLang="en-US" sz="1000" b="1" dirty="0">
              <a:solidFill>
                <a:schemeClr val="bg1"/>
              </a:solidFill>
              <a:latin typeface="Lato" panose="020F0502020204030203" pitchFamily="34" charset="0"/>
            </a:endParaRPr>
          </a:p>
        </p:txBody>
      </p:sp>
      <p:cxnSp>
        <p:nvCxnSpPr>
          <p:cNvPr id="43" name="직선 연결선 42">
            <a:extLst>
              <a:ext uri="{FF2B5EF4-FFF2-40B4-BE49-F238E27FC236}">
                <a16:creationId xmlns:a16="http://schemas.microsoft.com/office/drawing/2014/main" id="{3E4C2CAA-D531-1F16-2AE8-041F123C16F4}"/>
              </a:ext>
            </a:extLst>
          </p:cNvPr>
          <p:cNvCxnSpPr/>
          <p:nvPr/>
        </p:nvCxnSpPr>
        <p:spPr>
          <a:xfrm>
            <a:off x="2750138" y="2434547"/>
            <a:ext cx="7099300"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D8F77C3F-7177-1945-1349-ED26C91D0ABF}"/>
              </a:ext>
            </a:extLst>
          </p:cNvPr>
          <p:cNvCxnSpPr/>
          <p:nvPr/>
        </p:nvCxnSpPr>
        <p:spPr>
          <a:xfrm>
            <a:off x="2750138" y="3798064"/>
            <a:ext cx="7099300"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1EF36A2-E945-C6B1-BFB5-B0E8D4A0644D}"/>
              </a:ext>
            </a:extLst>
          </p:cNvPr>
          <p:cNvSpPr txBox="1"/>
          <p:nvPr/>
        </p:nvSpPr>
        <p:spPr>
          <a:xfrm>
            <a:off x="8715434" y="2900347"/>
            <a:ext cx="3119886" cy="600164"/>
          </a:xfrm>
          <a:prstGeom prst="rect">
            <a:avLst/>
          </a:prstGeom>
          <a:solidFill>
            <a:schemeClr val="bg1"/>
          </a:solidFill>
        </p:spPr>
        <p:txBody>
          <a:bodyPr wrap="square" rtlCol="0">
            <a:spAutoFit/>
          </a:bodyPr>
          <a:lstStyle/>
          <a:p>
            <a:r>
              <a:rPr lang="en-US" altLang="ko-KR" sz="1100" dirty="0">
                <a:solidFill>
                  <a:srgbClr val="90001F"/>
                </a:solidFill>
                <a:latin typeface="Lato" panose="020F0502020204030203" pitchFamily="34" charset="0"/>
              </a:rPr>
              <a:t>Available to set measurement mode </a:t>
            </a:r>
          </a:p>
          <a:p>
            <a:r>
              <a:rPr lang="en-US" altLang="ko-KR" sz="1100" dirty="0">
                <a:solidFill>
                  <a:srgbClr val="90001F"/>
                </a:solidFill>
                <a:latin typeface="Lato" panose="020F0502020204030203" pitchFamily="34" charset="0"/>
              </a:rPr>
              <a:t>Amputation, Paralysis, Lymphedema, Vascular Passage area and </a:t>
            </a:r>
            <a:r>
              <a:rPr lang="en-US" altLang="ko-KR" sz="1100" dirty="0" err="1">
                <a:solidFill>
                  <a:srgbClr val="90001F"/>
                </a:solidFill>
                <a:latin typeface="Lato" panose="020F0502020204030203" pitchFamily="34" charset="0"/>
              </a:rPr>
              <a:t>etc</a:t>
            </a:r>
            <a:endParaRPr lang="en-US" altLang="ko-KR" sz="1100" dirty="0">
              <a:solidFill>
                <a:srgbClr val="90001F"/>
              </a:solidFill>
              <a:latin typeface="Lato" panose="020F0502020204030203" pitchFamily="34" charset="0"/>
            </a:endParaRPr>
          </a:p>
        </p:txBody>
      </p:sp>
      <p:pic>
        <p:nvPicPr>
          <p:cNvPr id="46" name="그림 45">
            <a:extLst>
              <a:ext uri="{FF2B5EF4-FFF2-40B4-BE49-F238E27FC236}">
                <a16:creationId xmlns:a16="http://schemas.microsoft.com/office/drawing/2014/main" id="{1B6544CA-B6F7-F5A1-7CE1-9300FF94D46B}"/>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a:off x="6206542" y="2516396"/>
            <a:ext cx="1889708" cy="1208700"/>
          </a:xfrm>
          <a:prstGeom prst="rect">
            <a:avLst/>
          </a:prstGeom>
        </p:spPr>
      </p:pic>
      <p:sp>
        <p:nvSpPr>
          <p:cNvPr id="47" name="TextBox 46">
            <a:extLst>
              <a:ext uri="{FF2B5EF4-FFF2-40B4-BE49-F238E27FC236}">
                <a16:creationId xmlns:a16="http://schemas.microsoft.com/office/drawing/2014/main" id="{A5F28125-FB94-0926-F32A-20674F00C527}"/>
              </a:ext>
            </a:extLst>
          </p:cNvPr>
          <p:cNvSpPr txBox="1"/>
          <p:nvPr/>
        </p:nvSpPr>
        <p:spPr>
          <a:xfrm>
            <a:off x="4558674" y="2916046"/>
            <a:ext cx="303288" cy="400110"/>
          </a:xfrm>
          <a:prstGeom prst="rect">
            <a:avLst/>
          </a:prstGeom>
          <a:noFill/>
        </p:spPr>
        <p:txBody>
          <a:bodyPr wrap="none" rtlCol="0">
            <a:spAutoFit/>
          </a:bodyPr>
          <a:lstStyle/>
          <a:p>
            <a:r>
              <a:rPr lang="en-US" altLang="ko-KR" sz="2000" dirty="0"/>
              <a:t>x</a:t>
            </a:r>
            <a:endParaRPr lang="ko-KR" altLang="en-US" sz="2000"/>
          </a:p>
        </p:txBody>
      </p:sp>
      <p:sp>
        <p:nvSpPr>
          <p:cNvPr id="48" name="직사각형 47">
            <a:extLst>
              <a:ext uri="{FF2B5EF4-FFF2-40B4-BE49-F238E27FC236}">
                <a16:creationId xmlns:a16="http://schemas.microsoft.com/office/drawing/2014/main" id="{D5B52505-864B-416E-FF6D-7AF33654335F}"/>
              </a:ext>
            </a:extLst>
          </p:cNvPr>
          <p:cNvSpPr/>
          <p:nvPr/>
        </p:nvSpPr>
        <p:spPr>
          <a:xfrm>
            <a:off x="1554773" y="3943078"/>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TextBox 48">
            <a:extLst>
              <a:ext uri="{FF2B5EF4-FFF2-40B4-BE49-F238E27FC236}">
                <a16:creationId xmlns:a16="http://schemas.microsoft.com/office/drawing/2014/main" id="{FAA55F6C-CBF7-69BB-F25E-C5A45C52BBEB}"/>
              </a:ext>
            </a:extLst>
          </p:cNvPr>
          <p:cNvSpPr txBox="1"/>
          <p:nvPr/>
        </p:nvSpPr>
        <p:spPr>
          <a:xfrm>
            <a:off x="1581020" y="4344792"/>
            <a:ext cx="1023036" cy="246221"/>
          </a:xfrm>
          <a:prstGeom prst="rect">
            <a:avLst/>
          </a:prstGeom>
          <a:noFill/>
        </p:spPr>
        <p:txBody>
          <a:bodyPr wrap="none" rtlCol="0">
            <a:spAutoFit/>
          </a:bodyPr>
          <a:lstStyle/>
          <a:p>
            <a:pPr algn="ctr"/>
            <a:r>
              <a:rPr lang="en-US" altLang="ko-KR" sz="1000" b="1" dirty="0">
                <a:solidFill>
                  <a:schemeClr val="bg1"/>
                </a:solidFill>
                <a:latin typeface="Lato" panose="020F0502020204030203" pitchFamily="34" charset="0"/>
              </a:rPr>
              <a:t>Carrying Case</a:t>
            </a:r>
            <a:endParaRPr lang="ko-KR" altLang="en-US" sz="1000" b="1" dirty="0">
              <a:solidFill>
                <a:schemeClr val="bg1"/>
              </a:solidFill>
              <a:latin typeface="Lato" panose="020F0502020204030203" pitchFamily="34" charset="0"/>
            </a:endParaRPr>
          </a:p>
        </p:txBody>
      </p:sp>
      <p:cxnSp>
        <p:nvCxnSpPr>
          <p:cNvPr id="50" name="직선 연결선 49">
            <a:extLst>
              <a:ext uri="{FF2B5EF4-FFF2-40B4-BE49-F238E27FC236}">
                <a16:creationId xmlns:a16="http://schemas.microsoft.com/office/drawing/2014/main" id="{0839E481-9D07-FC25-9C49-373A4455F0DA}"/>
              </a:ext>
            </a:extLst>
          </p:cNvPr>
          <p:cNvCxnSpPr/>
          <p:nvPr/>
        </p:nvCxnSpPr>
        <p:spPr>
          <a:xfrm>
            <a:off x="2750138" y="5141255"/>
            <a:ext cx="7099300"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DBA8C9D-DD11-A933-63A2-15F096247B9E}"/>
              </a:ext>
            </a:extLst>
          </p:cNvPr>
          <p:cNvSpPr txBox="1"/>
          <p:nvPr/>
        </p:nvSpPr>
        <p:spPr>
          <a:xfrm>
            <a:off x="8715433" y="4204927"/>
            <a:ext cx="1202573" cy="430887"/>
          </a:xfrm>
          <a:prstGeom prst="rect">
            <a:avLst/>
          </a:prstGeom>
          <a:solidFill>
            <a:schemeClr val="bg1"/>
          </a:solidFill>
        </p:spPr>
        <p:txBody>
          <a:bodyPr wrap="none" rtlCol="0">
            <a:spAutoFit/>
          </a:bodyPr>
          <a:lstStyle/>
          <a:p>
            <a:r>
              <a:rPr lang="en-US" altLang="ko-KR" sz="1100" dirty="0">
                <a:solidFill>
                  <a:srgbClr val="90001F"/>
                </a:solidFill>
                <a:latin typeface="Lato" panose="020F0502020204030203" pitchFamily="34" charset="0"/>
              </a:rPr>
              <a:t>Hard type Case</a:t>
            </a:r>
          </a:p>
          <a:p>
            <a:r>
              <a:rPr lang="en-US" altLang="ko-KR" sz="1100" dirty="0">
                <a:solidFill>
                  <a:srgbClr val="90001F"/>
                </a:solidFill>
                <a:latin typeface="Lato" panose="020F0502020204030203" pitchFamily="34" charset="0"/>
              </a:rPr>
              <a:t>(wheels, handle) </a:t>
            </a:r>
          </a:p>
        </p:txBody>
      </p:sp>
      <p:sp>
        <p:nvSpPr>
          <p:cNvPr id="52" name="직사각형 51">
            <a:extLst>
              <a:ext uri="{FF2B5EF4-FFF2-40B4-BE49-F238E27FC236}">
                <a16:creationId xmlns:a16="http://schemas.microsoft.com/office/drawing/2014/main" id="{279CE89E-6760-3E03-C3E8-D9C2541B731A}"/>
              </a:ext>
            </a:extLst>
          </p:cNvPr>
          <p:cNvSpPr/>
          <p:nvPr/>
        </p:nvSpPr>
        <p:spPr>
          <a:xfrm>
            <a:off x="1554773" y="5265016"/>
            <a:ext cx="1075529" cy="348794"/>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TextBox 52">
            <a:extLst>
              <a:ext uri="{FF2B5EF4-FFF2-40B4-BE49-F238E27FC236}">
                <a16:creationId xmlns:a16="http://schemas.microsoft.com/office/drawing/2014/main" id="{E72F072D-1746-672F-4E5C-B394D9607BF4}"/>
              </a:ext>
            </a:extLst>
          </p:cNvPr>
          <p:cNvSpPr txBox="1"/>
          <p:nvPr/>
        </p:nvSpPr>
        <p:spPr>
          <a:xfrm>
            <a:off x="1698038" y="5303505"/>
            <a:ext cx="788999" cy="246221"/>
          </a:xfrm>
          <a:prstGeom prst="rect">
            <a:avLst/>
          </a:prstGeom>
          <a:noFill/>
        </p:spPr>
        <p:txBody>
          <a:bodyPr wrap="none" rtlCol="0">
            <a:spAutoFit/>
          </a:bodyPr>
          <a:lstStyle/>
          <a:p>
            <a:pPr algn="ctr"/>
            <a:r>
              <a:rPr lang="en-US" altLang="ko-KR" sz="1000" b="1" dirty="0">
                <a:solidFill>
                  <a:schemeClr val="bg1"/>
                </a:solidFill>
                <a:latin typeface="Lato" panose="020F0502020204030203" pitchFamily="34" charset="0"/>
              </a:rPr>
              <a:t>Bluetooth</a:t>
            </a:r>
            <a:endParaRPr lang="ko-KR" altLang="en-US" sz="1000" b="1" dirty="0">
              <a:solidFill>
                <a:schemeClr val="bg1"/>
              </a:solidFill>
              <a:latin typeface="Lato" panose="020F0502020204030203" pitchFamily="34" charset="0"/>
            </a:endParaRPr>
          </a:p>
        </p:txBody>
      </p:sp>
      <p:cxnSp>
        <p:nvCxnSpPr>
          <p:cNvPr id="54" name="직선 연결선 53">
            <a:extLst>
              <a:ext uri="{FF2B5EF4-FFF2-40B4-BE49-F238E27FC236}">
                <a16:creationId xmlns:a16="http://schemas.microsoft.com/office/drawing/2014/main" id="{2907B159-C72C-224F-0881-9D7C618A02D0}"/>
              </a:ext>
            </a:extLst>
          </p:cNvPr>
          <p:cNvCxnSpPr/>
          <p:nvPr/>
        </p:nvCxnSpPr>
        <p:spPr>
          <a:xfrm>
            <a:off x="2750138" y="5717720"/>
            <a:ext cx="7099300"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1635393-8F0D-EFF8-C6B5-CD68FF34D0D9}"/>
              </a:ext>
            </a:extLst>
          </p:cNvPr>
          <p:cNvSpPr txBox="1"/>
          <p:nvPr/>
        </p:nvSpPr>
        <p:spPr>
          <a:xfrm>
            <a:off x="4558674" y="5234917"/>
            <a:ext cx="303288" cy="400110"/>
          </a:xfrm>
          <a:prstGeom prst="rect">
            <a:avLst/>
          </a:prstGeom>
          <a:noFill/>
        </p:spPr>
        <p:txBody>
          <a:bodyPr wrap="none" rtlCol="0">
            <a:spAutoFit/>
          </a:bodyPr>
          <a:lstStyle/>
          <a:p>
            <a:r>
              <a:rPr lang="en-US" altLang="ko-KR" sz="2000" dirty="0"/>
              <a:t>x</a:t>
            </a:r>
            <a:endParaRPr lang="ko-KR" altLang="en-US" sz="2000"/>
          </a:p>
        </p:txBody>
      </p:sp>
      <p:sp>
        <p:nvSpPr>
          <p:cNvPr id="56" name="TextBox 55">
            <a:extLst>
              <a:ext uri="{FF2B5EF4-FFF2-40B4-BE49-F238E27FC236}">
                <a16:creationId xmlns:a16="http://schemas.microsoft.com/office/drawing/2014/main" id="{3A831717-E1A6-36B3-9D69-0FB903D667E1}"/>
              </a:ext>
            </a:extLst>
          </p:cNvPr>
          <p:cNvSpPr txBox="1"/>
          <p:nvPr/>
        </p:nvSpPr>
        <p:spPr>
          <a:xfrm>
            <a:off x="7048401" y="5234917"/>
            <a:ext cx="338554" cy="400110"/>
          </a:xfrm>
          <a:prstGeom prst="rect">
            <a:avLst/>
          </a:prstGeom>
          <a:noFill/>
        </p:spPr>
        <p:txBody>
          <a:bodyPr wrap="none" rtlCol="0">
            <a:spAutoFit/>
          </a:bodyPr>
          <a:lstStyle/>
          <a:p>
            <a:r>
              <a:rPr lang="en-US" altLang="ko-KR" sz="2000" dirty="0"/>
              <a:t>o</a:t>
            </a:r>
            <a:endParaRPr lang="ko-KR" altLang="en-US" sz="2000"/>
          </a:p>
        </p:txBody>
      </p:sp>
      <p:sp>
        <p:nvSpPr>
          <p:cNvPr id="57" name="TextBox 56">
            <a:extLst>
              <a:ext uri="{FF2B5EF4-FFF2-40B4-BE49-F238E27FC236}">
                <a16:creationId xmlns:a16="http://schemas.microsoft.com/office/drawing/2014/main" id="{94402C24-1FFA-7820-F281-6F342522CBB3}"/>
              </a:ext>
            </a:extLst>
          </p:cNvPr>
          <p:cNvSpPr txBox="1"/>
          <p:nvPr/>
        </p:nvSpPr>
        <p:spPr>
          <a:xfrm>
            <a:off x="8715433" y="5281061"/>
            <a:ext cx="2581156" cy="261610"/>
          </a:xfrm>
          <a:prstGeom prst="rect">
            <a:avLst/>
          </a:prstGeom>
          <a:solidFill>
            <a:schemeClr val="bg1"/>
          </a:solidFill>
        </p:spPr>
        <p:txBody>
          <a:bodyPr wrap="none" rtlCol="0">
            <a:spAutoFit/>
          </a:bodyPr>
          <a:lstStyle/>
          <a:p>
            <a:r>
              <a:rPr lang="en-US" altLang="ko-KR" sz="1100" dirty="0">
                <a:solidFill>
                  <a:srgbClr val="90001F"/>
                </a:solidFill>
                <a:latin typeface="Lato" panose="020F0502020204030203" pitchFamily="34" charset="0"/>
              </a:rPr>
              <a:t>Easy Data transfer to PC via Bluetooth </a:t>
            </a:r>
          </a:p>
        </p:txBody>
      </p:sp>
      <p:sp>
        <p:nvSpPr>
          <p:cNvPr id="58" name="직사각형 57">
            <a:extLst>
              <a:ext uri="{FF2B5EF4-FFF2-40B4-BE49-F238E27FC236}">
                <a16:creationId xmlns:a16="http://schemas.microsoft.com/office/drawing/2014/main" id="{26E6A376-52F7-7672-F92E-782B44C5A0BB}"/>
              </a:ext>
            </a:extLst>
          </p:cNvPr>
          <p:cNvSpPr/>
          <p:nvPr/>
        </p:nvSpPr>
        <p:spPr>
          <a:xfrm>
            <a:off x="1554773" y="5856346"/>
            <a:ext cx="1075529" cy="348794"/>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TextBox 58">
            <a:extLst>
              <a:ext uri="{FF2B5EF4-FFF2-40B4-BE49-F238E27FC236}">
                <a16:creationId xmlns:a16="http://schemas.microsoft.com/office/drawing/2014/main" id="{AF3E937C-DC45-B21E-C22A-A24213A69B80}"/>
              </a:ext>
            </a:extLst>
          </p:cNvPr>
          <p:cNvSpPr txBox="1"/>
          <p:nvPr/>
        </p:nvSpPr>
        <p:spPr>
          <a:xfrm>
            <a:off x="1839905" y="5894835"/>
            <a:ext cx="505267" cy="246221"/>
          </a:xfrm>
          <a:prstGeom prst="rect">
            <a:avLst/>
          </a:prstGeom>
          <a:noFill/>
        </p:spPr>
        <p:txBody>
          <a:bodyPr wrap="none" rtlCol="0">
            <a:spAutoFit/>
          </a:bodyPr>
          <a:lstStyle/>
          <a:p>
            <a:pPr algn="ctr"/>
            <a:r>
              <a:rPr lang="en-US" altLang="ko-KR" sz="1000" b="1" dirty="0">
                <a:solidFill>
                  <a:schemeClr val="bg1"/>
                </a:solidFill>
                <a:latin typeface="Lato" panose="020F0502020204030203" pitchFamily="34" charset="0"/>
              </a:rPr>
              <a:t>Wi-Fi</a:t>
            </a:r>
            <a:endParaRPr lang="ko-KR" altLang="en-US" sz="1000" b="1" dirty="0">
              <a:solidFill>
                <a:schemeClr val="bg1"/>
              </a:solidFill>
              <a:latin typeface="Lato" panose="020F0502020204030203" pitchFamily="34" charset="0"/>
            </a:endParaRPr>
          </a:p>
        </p:txBody>
      </p:sp>
      <p:cxnSp>
        <p:nvCxnSpPr>
          <p:cNvPr id="60" name="직선 연결선 59">
            <a:extLst>
              <a:ext uri="{FF2B5EF4-FFF2-40B4-BE49-F238E27FC236}">
                <a16:creationId xmlns:a16="http://schemas.microsoft.com/office/drawing/2014/main" id="{A5F3702B-72D1-0180-C41C-31DA42757194}"/>
              </a:ext>
            </a:extLst>
          </p:cNvPr>
          <p:cNvCxnSpPr/>
          <p:nvPr/>
        </p:nvCxnSpPr>
        <p:spPr>
          <a:xfrm>
            <a:off x="2750138" y="6215531"/>
            <a:ext cx="7099300"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1E8058F-EB41-263A-1CD5-2951768DEF19}"/>
              </a:ext>
            </a:extLst>
          </p:cNvPr>
          <p:cNvSpPr txBox="1"/>
          <p:nvPr/>
        </p:nvSpPr>
        <p:spPr>
          <a:xfrm>
            <a:off x="4558674" y="5722337"/>
            <a:ext cx="303288" cy="400110"/>
          </a:xfrm>
          <a:prstGeom prst="rect">
            <a:avLst/>
          </a:prstGeom>
          <a:noFill/>
        </p:spPr>
        <p:txBody>
          <a:bodyPr wrap="none" rtlCol="0">
            <a:spAutoFit/>
          </a:bodyPr>
          <a:lstStyle/>
          <a:p>
            <a:r>
              <a:rPr lang="en-US" altLang="ko-KR" sz="2000" dirty="0"/>
              <a:t>x</a:t>
            </a:r>
            <a:endParaRPr lang="ko-KR" altLang="en-US" sz="2000" dirty="0"/>
          </a:p>
        </p:txBody>
      </p:sp>
      <p:sp>
        <p:nvSpPr>
          <p:cNvPr id="62" name="TextBox 61">
            <a:extLst>
              <a:ext uri="{FF2B5EF4-FFF2-40B4-BE49-F238E27FC236}">
                <a16:creationId xmlns:a16="http://schemas.microsoft.com/office/drawing/2014/main" id="{8ECD5347-776B-38AB-71A7-84311DB0718F}"/>
              </a:ext>
            </a:extLst>
          </p:cNvPr>
          <p:cNvSpPr txBox="1"/>
          <p:nvPr/>
        </p:nvSpPr>
        <p:spPr>
          <a:xfrm>
            <a:off x="7048401" y="5743119"/>
            <a:ext cx="338554" cy="400110"/>
          </a:xfrm>
          <a:prstGeom prst="rect">
            <a:avLst/>
          </a:prstGeom>
          <a:noFill/>
        </p:spPr>
        <p:txBody>
          <a:bodyPr wrap="none" rtlCol="0">
            <a:spAutoFit/>
          </a:bodyPr>
          <a:lstStyle/>
          <a:p>
            <a:r>
              <a:rPr lang="en-US" altLang="ko-KR" sz="2000" dirty="0"/>
              <a:t>o</a:t>
            </a:r>
            <a:endParaRPr lang="ko-KR" altLang="en-US" sz="2000" dirty="0"/>
          </a:p>
        </p:txBody>
      </p:sp>
      <p:sp>
        <p:nvSpPr>
          <p:cNvPr id="63" name="TextBox 62">
            <a:extLst>
              <a:ext uri="{FF2B5EF4-FFF2-40B4-BE49-F238E27FC236}">
                <a16:creationId xmlns:a16="http://schemas.microsoft.com/office/drawing/2014/main" id="{3C0B9487-4934-B339-2568-E5D622334DCC}"/>
              </a:ext>
            </a:extLst>
          </p:cNvPr>
          <p:cNvSpPr txBox="1"/>
          <p:nvPr/>
        </p:nvSpPr>
        <p:spPr>
          <a:xfrm>
            <a:off x="8777779" y="5759522"/>
            <a:ext cx="2430474" cy="507831"/>
          </a:xfrm>
          <a:prstGeom prst="rect">
            <a:avLst/>
          </a:prstGeom>
          <a:solidFill>
            <a:schemeClr val="bg1"/>
          </a:solidFill>
        </p:spPr>
        <p:txBody>
          <a:bodyPr wrap="none" rtlCol="0">
            <a:spAutoFit/>
          </a:bodyPr>
          <a:lstStyle/>
          <a:p>
            <a:r>
              <a:rPr lang="en-US" altLang="ko-KR" sz="1100" dirty="0">
                <a:solidFill>
                  <a:srgbClr val="90001F"/>
                </a:solidFill>
                <a:latin typeface="Lato" panose="020F0502020204030203" pitchFamily="34" charset="0"/>
              </a:rPr>
              <a:t>Sending Data through SMS (LBWEB)</a:t>
            </a:r>
          </a:p>
          <a:p>
            <a:endParaRPr lang="en-US" altLang="ko-KR" sz="500" dirty="0">
              <a:solidFill>
                <a:srgbClr val="90001F"/>
              </a:solidFill>
              <a:latin typeface="Lato" panose="020F0502020204030203" pitchFamily="34" charset="0"/>
            </a:endParaRPr>
          </a:p>
          <a:p>
            <a:r>
              <a:rPr lang="en-US" altLang="ko-KR" sz="1100" dirty="0">
                <a:solidFill>
                  <a:srgbClr val="90001F"/>
                </a:solidFill>
                <a:latin typeface="Lato" panose="020F0502020204030203" pitchFamily="34" charset="0"/>
              </a:rPr>
              <a:t>WIFI accessible from BWA unit</a:t>
            </a:r>
          </a:p>
        </p:txBody>
      </p:sp>
      <p:sp>
        <p:nvSpPr>
          <p:cNvPr id="64" name="타원 63">
            <a:extLst>
              <a:ext uri="{FF2B5EF4-FFF2-40B4-BE49-F238E27FC236}">
                <a16:creationId xmlns:a16="http://schemas.microsoft.com/office/drawing/2014/main" id="{20176E92-5B46-134C-E603-947F89161EEE}"/>
              </a:ext>
            </a:extLst>
          </p:cNvPr>
          <p:cNvSpPr/>
          <p:nvPr/>
        </p:nvSpPr>
        <p:spPr>
          <a:xfrm>
            <a:off x="8258233" y="3112233"/>
            <a:ext cx="70854" cy="70854"/>
          </a:xfrm>
          <a:prstGeom prst="ellips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5" name="직선 연결선 64">
            <a:extLst>
              <a:ext uri="{FF2B5EF4-FFF2-40B4-BE49-F238E27FC236}">
                <a16:creationId xmlns:a16="http://schemas.microsoft.com/office/drawing/2014/main" id="{7F91701C-7DA0-7C9F-F946-E4C8BBCB89EC}"/>
              </a:ext>
            </a:extLst>
          </p:cNvPr>
          <p:cNvCxnSpPr/>
          <p:nvPr/>
        </p:nvCxnSpPr>
        <p:spPr>
          <a:xfrm>
            <a:off x="8258233" y="3147660"/>
            <a:ext cx="457200" cy="0"/>
          </a:xfrm>
          <a:prstGeom prst="line">
            <a:avLst/>
          </a:prstGeom>
          <a:ln>
            <a:solidFill>
              <a:srgbClr val="90001F"/>
            </a:solidFill>
          </a:ln>
        </p:spPr>
        <p:style>
          <a:lnRef idx="1">
            <a:schemeClr val="accent1"/>
          </a:lnRef>
          <a:fillRef idx="0">
            <a:schemeClr val="accent1"/>
          </a:fillRef>
          <a:effectRef idx="0">
            <a:schemeClr val="accent1"/>
          </a:effectRef>
          <a:fontRef idx="minor">
            <a:schemeClr val="tx1"/>
          </a:fontRef>
        </p:style>
      </p:cxnSp>
      <p:sp>
        <p:nvSpPr>
          <p:cNvPr id="66" name="타원 65">
            <a:extLst>
              <a:ext uri="{FF2B5EF4-FFF2-40B4-BE49-F238E27FC236}">
                <a16:creationId xmlns:a16="http://schemas.microsoft.com/office/drawing/2014/main" id="{D8FD44C6-8CE0-6C8F-CFB5-F7F0C171FA4A}"/>
              </a:ext>
            </a:extLst>
          </p:cNvPr>
          <p:cNvSpPr/>
          <p:nvPr/>
        </p:nvSpPr>
        <p:spPr>
          <a:xfrm>
            <a:off x="8258233" y="4392390"/>
            <a:ext cx="70854" cy="70854"/>
          </a:xfrm>
          <a:prstGeom prst="ellips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7" name="직선 연결선 66">
            <a:extLst>
              <a:ext uri="{FF2B5EF4-FFF2-40B4-BE49-F238E27FC236}">
                <a16:creationId xmlns:a16="http://schemas.microsoft.com/office/drawing/2014/main" id="{B3CFBF07-7940-5350-BFCA-8F6766D7DF6C}"/>
              </a:ext>
            </a:extLst>
          </p:cNvPr>
          <p:cNvCxnSpPr/>
          <p:nvPr/>
        </p:nvCxnSpPr>
        <p:spPr>
          <a:xfrm>
            <a:off x="8258233" y="4427817"/>
            <a:ext cx="457200" cy="0"/>
          </a:xfrm>
          <a:prstGeom prst="line">
            <a:avLst/>
          </a:prstGeom>
          <a:ln>
            <a:solidFill>
              <a:srgbClr val="90001F"/>
            </a:solidFill>
          </a:ln>
        </p:spPr>
        <p:style>
          <a:lnRef idx="1">
            <a:schemeClr val="accent1"/>
          </a:lnRef>
          <a:fillRef idx="0">
            <a:schemeClr val="accent1"/>
          </a:fillRef>
          <a:effectRef idx="0">
            <a:schemeClr val="accent1"/>
          </a:effectRef>
          <a:fontRef idx="minor">
            <a:schemeClr val="tx1"/>
          </a:fontRef>
        </p:style>
      </p:cxnSp>
      <p:sp>
        <p:nvSpPr>
          <p:cNvPr id="68" name="타원 67">
            <a:extLst>
              <a:ext uri="{FF2B5EF4-FFF2-40B4-BE49-F238E27FC236}">
                <a16:creationId xmlns:a16="http://schemas.microsoft.com/office/drawing/2014/main" id="{18E9EF51-4C87-702E-EA5A-4669557B063C}"/>
              </a:ext>
            </a:extLst>
          </p:cNvPr>
          <p:cNvSpPr/>
          <p:nvPr/>
        </p:nvSpPr>
        <p:spPr>
          <a:xfrm>
            <a:off x="8258233" y="5389508"/>
            <a:ext cx="70854" cy="70854"/>
          </a:xfrm>
          <a:prstGeom prst="ellips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9" name="직선 연결선 68">
            <a:extLst>
              <a:ext uri="{FF2B5EF4-FFF2-40B4-BE49-F238E27FC236}">
                <a16:creationId xmlns:a16="http://schemas.microsoft.com/office/drawing/2014/main" id="{FA33B40E-F306-F610-8437-1F85CC6C8352}"/>
              </a:ext>
            </a:extLst>
          </p:cNvPr>
          <p:cNvCxnSpPr/>
          <p:nvPr/>
        </p:nvCxnSpPr>
        <p:spPr>
          <a:xfrm>
            <a:off x="8258233" y="5424935"/>
            <a:ext cx="457200" cy="0"/>
          </a:xfrm>
          <a:prstGeom prst="line">
            <a:avLst/>
          </a:prstGeom>
          <a:ln>
            <a:solidFill>
              <a:srgbClr val="90001F"/>
            </a:solidFill>
          </a:ln>
        </p:spPr>
        <p:style>
          <a:lnRef idx="1">
            <a:schemeClr val="accent1"/>
          </a:lnRef>
          <a:fillRef idx="0">
            <a:schemeClr val="accent1"/>
          </a:fillRef>
          <a:effectRef idx="0">
            <a:schemeClr val="accent1"/>
          </a:effectRef>
          <a:fontRef idx="minor">
            <a:schemeClr val="tx1"/>
          </a:fontRef>
        </p:style>
      </p:cxnSp>
      <p:sp>
        <p:nvSpPr>
          <p:cNvPr id="70" name="타원 69">
            <a:extLst>
              <a:ext uri="{FF2B5EF4-FFF2-40B4-BE49-F238E27FC236}">
                <a16:creationId xmlns:a16="http://schemas.microsoft.com/office/drawing/2014/main" id="{EF7F624C-0A64-8465-CB65-175BD06CF83F}"/>
              </a:ext>
            </a:extLst>
          </p:cNvPr>
          <p:cNvSpPr/>
          <p:nvPr/>
        </p:nvSpPr>
        <p:spPr>
          <a:xfrm>
            <a:off x="8258233" y="5949488"/>
            <a:ext cx="70854" cy="70854"/>
          </a:xfrm>
          <a:prstGeom prst="ellips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1" name="직선 연결선 70">
            <a:extLst>
              <a:ext uri="{FF2B5EF4-FFF2-40B4-BE49-F238E27FC236}">
                <a16:creationId xmlns:a16="http://schemas.microsoft.com/office/drawing/2014/main" id="{E0C38D7B-58FB-BA23-FC3C-9B175C998983}"/>
              </a:ext>
            </a:extLst>
          </p:cNvPr>
          <p:cNvCxnSpPr/>
          <p:nvPr/>
        </p:nvCxnSpPr>
        <p:spPr>
          <a:xfrm>
            <a:off x="8258233" y="5984915"/>
            <a:ext cx="457200" cy="0"/>
          </a:xfrm>
          <a:prstGeom prst="line">
            <a:avLst/>
          </a:prstGeom>
          <a:ln>
            <a:solidFill>
              <a:srgbClr val="90001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2669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sp>
        <p:nvSpPr>
          <p:cNvPr id="10" name="직사각형 9">
            <a:extLst>
              <a:ext uri="{FF2B5EF4-FFF2-40B4-BE49-F238E27FC236}">
                <a16:creationId xmlns:a16="http://schemas.microsoft.com/office/drawing/2014/main" id="{2F384DA1-BFF8-BE40-22E2-112392BA7A2A}"/>
              </a:ext>
            </a:extLst>
          </p:cNvPr>
          <p:cNvSpPr/>
          <p:nvPr/>
        </p:nvSpPr>
        <p:spPr>
          <a:xfrm>
            <a:off x="6476018" y="1146372"/>
            <a:ext cx="2252273" cy="315109"/>
          </a:xfrm>
          <a:prstGeom prst="rect">
            <a:avLst/>
          </a:prstGeom>
          <a:solidFill>
            <a:srgbClr val="90001F"/>
          </a:solidFill>
          <a:ln w="31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b="1" dirty="0">
                <a:solidFill>
                  <a:schemeClr val="bg1"/>
                </a:solidFill>
                <a:latin typeface="Lato" panose="020F0502020204030203" pitchFamily="34" charset="0"/>
              </a:rPr>
              <a:t>Check/Calculate Water Control on the BWA2.0 Screen</a:t>
            </a:r>
            <a:endParaRPr lang="ko-KR" altLang="en-US" sz="900" b="1" dirty="0">
              <a:solidFill>
                <a:schemeClr val="bg1"/>
              </a:solidFill>
              <a:latin typeface="Lato" panose="020F0502020204030203" pitchFamily="34" charset="0"/>
            </a:endParaRPr>
          </a:p>
        </p:txBody>
      </p:sp>
      <p:pic>
        <p:nvPicPr>
          <p:cNvPr id="11" name="_x132070104" descr="EMB00002028523b">
            <a:extLst>
              <a:ext uri="{FF2B5EF4-FFF2-40B4-BE49-F238E27FC236}">
                <a16:creationId xmlns:a16="http://schemas.microsoft.com/office/drawing/2014/main" id="{E14C0BBC-AC55-54D7-191B-9A88C7F3E3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0694" y="465136"/>
            <a:ext cx="1209832" cy="245655"/>
          </a:xfrm>
          <a:prstGeom prst="rect">
            <a:avLst/>
          </a:prstGeom>
          <a:noFill/>
        </p:spPr>
      </p:pic>
      <p:pic>
        <p:nvPicPr>
          <p:cNvPr id="12" name="Picture 6">
            <a:extLst>
              <a:ext uri="{FF2B5EF4-FFF2-40B4-BE49-F238E27FC236}">
                <a16:creationId xmlns:a16="http://schemas.microsoft.com/office/drawing/2014/main" id="{83A38279-0B1C-B05C-89B5-C45B500452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5569" y="489168"/>
            <a:ext cx="1169159" cy="264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8">
            <a:extLst>
              <a:ext uri="{FF2B5EF4-FFF2-40B4-BE49-F238E27FC236}">
                <a16:creationId xmlns:a16="http://schemas.microsoft.com/office/drawing/2014/main" id="{B2B68EDD-0136-575D-405F-B7C456EA46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3466" y="1702945"/>
            <a:ext cx="3249874" cy="2031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직사각형 13">
            <a:extLst>
              <a:ext uri="{FF2B5EF4-FFF2-40B4-BE49-F238E27FC236}">
                <a16:creationId xmlns:a16="http://schemas.microsoft.com/office/drawing/2014/main" id="{9F76ACB6-0A8B-449B-E465-CA629A6986D6}"/>
              </a:ext>
            </a:extLst>
          </p:cNvPr>
          <p:cNvSpPr/>
          <p:nvPr/>
        </p:nvSpPr>
        <p:spPr>
          <a:xfrm>
            <a:off x="1754112" y="1340280"/>
            <a:ext cx="1075529" cy="1125440"/>
          </a:xfrm>
          <a:prstGeom prst="rect">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056E14C7-7BF9-7A97-4271-3C22A814FA47}"/>
              </a:ext>
            </a:extLst>
          </p:cNvPr>
          <p:cNvSpPr txBox="1"/>
          <p:nvPr/>
        </p:nvSpPr>
        <p:spPr>
          <a:xfrm>
            <a:off x="1865317" y="1702945"/>
            <a:ext cx="853119" cy="400110"/>
          </a:xfrm>
          <a:prstGeom prst="rect">
            <a:avLst/>
          </a:prstGeom>
          <a:noFill/>
        </p:spPr>
        <p:txBody>
          <a:bodyPr wrap="none" rtlCol="0">
            <a:spAutoFit/>
          </a:bodyPr>
          <a:lstStyle/>
          <a:p>
            <a:pPr algn="ctr"/>
            <a:r>
              <a:rPr lang="en-US" altLang="ko-KR" sz="1000" b="1" dirty="0">
                <a:solidFill>
                  <a:schemeClr val="bg1"/>
                </a:solidFill>
                <a:latin typeface="Lato Bold" panose="020F0802020204030203" pitchFamily="34" charset="0"/>
              </a:rPr>
              <a:t>Dry Weight</a:t>
            </a:r>
            <a:br>
              <a:rPr lang="en-US" altLang="ko-KR" sz="1000" b="1" dirty="0">
                <a:solidFill>
                  <a:schemeClr val="bg1"/>
                </a:solidFill>
                <a:latin typeface="Lato Bold" panose="020F0802020204030203" pitchFamily="34" charset="0"/>
              </a:rPr>
            </a:br>
            <a:r>
              <a:rPr lang="en-US" altLang="ko-KR" sz="1000" b="1" dirty="0">
                <a:solidFill>
                  <a:schemeClr val="bg1"/>
                </a:solidFill>
                <a:latin typeface="Lato Bold" panose="020F0802020204030203" pitchFamily="34" charset="0"/>
              </a:rPr>
              <a:t>(DW)</a:t>
            </a:r>
          </a:p>
        </p:txBody>
      </p:sp>
      <p:sp>
        <p:nvSpPr>
          <p:cNvPr id="16" name="TextBox 15">
            <a:extLst>
              <a:ext uri="{FF2B5EF4-FFF2-40B4-BE49-F238E27FC236}">
                <a16:creationId xmlns:a16="http://schemas.microsoft.com/office/drawing/2014/main" id="{9D0DA20F-4216-F01B-4C70-2F6AFB419C6E}"/>
              </a:ext>
            </a:extLst>
          </p:cNvPr>
          <p:cNvSpPr txBox="1"/>
          <p:nvPr/>
        </p:nvSpPr>
        <p:spPr>
          <a:xfrm>
            <a:off x="5733959" y="377915"/>
            <a:ext cx="420308" cy="400110"/>
          </a:xfrm>
          <a:prstGeom prst="rect">
            <a:avLst/>
          </a:prstGeom>
          <a:noFill/>
        </p:spPr>
        <p:txBody>
          <a:bodyPr wrap="none" rtlCol="0">
            <a:spAutoFit/>
          </a:bodyPr>
          <a:lstStyle/>
          <a:p>
            <a:r>
              <a:rPr lang="en-US" altLang="ko-KR" sz="2000" dirty="0"/>
              <a:t>vs</a:t>
            </a:r>
            <a:endParaRPr lang="ko-KR" altLang="en-US" sz="2000"/>
          </a:p>
        </p:txBody>
      </p:sp>
      <p:sp>
        <p:nvSpPr>
          <p:cNvPr id="18" name="직사각형 17">
            <a:extLst>
              <a:ext uri="{FF2B5EF4-FFF2-40B4-BE49-F238E27FC236}">
                <a16:creationId xmlns:a16="http://schemas.microsoft.com/office/drawing/2014/main" id="{2AA6C120-2170-2C57-AE39-E495BDDDEB19}"/>
              </a:ext>
            </a:extLst>
          </p:cNvPr>
          <p:cNvSpPr/>
          <p:nvPr/>
        </p:nvSpPr>
        <p:spPr>
          <a:xfrm>
            <a:off x="3391048" y="1340280"/>
            <a:ext cx="1988044" cy="439609"/>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Lato" panose="020F0502020204030203" pitchFamily="34" charset="0"/>
              </a:rPr>
              <a:t>After measurement,</a:t>
            </a:r>
            <a:br>
              <a:rPr lang="en-US" altLang="ko-KR" sz="1050" dirty="0">
                <a:solidFill>
                  <a:schemeClr val="tx1"/>
                </a:solidFill>
                <a:latin typeface="Lato" panose="020F0502020204030203" pitchFamily="34" charset="0"/>
              </a:rPr>
            </a:br>
            <a:r>
              <a:rPr lang="en-US" altLang="ko-KR" sz="1050" dirty="0">
                <a:solidFill>
                  <a:schemeClr val="tx1"/>
                </a:solidFill>
                <a:latin typeface="Lato" panose="020F0502020204030203" pitchFamily="34" charset="0"/>
              </a:rPr>
              <a:t>Save the DB in the USB Stick </a:t>
            </a:r>
            <a:endParaRPr lang="ko-KR" altLang="en-US" sz="1050">
              <a:solidFill>
                <a:schemeClr val="tx1"/>
              </a:solidFill>
              <a:latin typeface="Lato" panose="020F0502020204030203" pitchFamily="34" charset="0"/>
            </a:endParaRPr>
          </a:p>
        </p:txBody>
      </p:sp>
      <p:sp>
        <p:nvSpPr>
          <p:cNvPr id="19" name="이등변 삼각형 18">
            <a:extLst>
              <a:ext uri="{FF2B5EF4-FFF2-40B4-BE49-F238E27FC236}">
                <a16:creationId xmlns:a16="http://schemas.microsoft.com/office/drawing/2014/main" id="{8987F541-F091-4704-9388-72687E1C9BBA}"/>
              </a:ext>
            </a:extLst>
          </p:cNvPr>
          <p:cNvSpPr/>
          <p:nvPr/>
        </p:nvSpPr>
        <p:spPr>
          <a:xfrm rot="10800000">
            <a:off x="4343972" y="1786137"/>
            <a:ext cx="120650" cy="104009"/>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p>
        </p:txBody>
      </p:sp>
      <p:sp>
        <p:nvSpPr>
          <p:cNvPr id="20" name="직사각형 19">
            <a:extLst>
              <a:ext uri="{FF2B5EF4-FFF2-40B4-BE49-F238E27FC236}">
                <a16:creationId xmlns:a16="http://schemas.microsoft.com/office/drawing/2014/main" id="{AB5CE4E7-E8CE-5893-5D46-488648CD87C9}"/>
              </a:ext>
            </a:extLst>
          </p:cNvPr>
          <p:cNvSpPr/>
          <p:nvPr/>
        </p:nvSpPr>
        <p:spPr>
          <a:xfrm>
            <a:off x="3391048" y="1941405"/>
            <a:ext cx="1988044" cy="282894"/>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Lato" panose="020F0502020204030203" pitchFamily="34" charset="0"/>
              </a:rPr>
              <a:t>Run the PC version Lookin’Body120 Software</a:t>
            </a:r>
            <a:endParaRPr lang="ko-KR" altLang="en-US" sz="1050">
              <a:solidFill>
                <a:schemeClr val="tx1"/>
              </a:solidFill>
              <a:latin typeface="Lato" panose="020F0502020204030203" pitchFamily="34" charset="0"/>
            </a:endParaRPr>
          </a:p>
        </p:txBody>
      </p:sp>
      <p:sp>
        <p:nvSpPr>
          <p:cNvPr id="21" name="이등변 삼각형 20">
            <a:extLst>
              <a:ext uri="{FF2B5EF4-FFF2-40B4-BE49-F238E27FC236}">
                <a16:creationId xmlns:a16="http://schemas.microsoft.com/office/drawing/2014/main" id="{E14B0813-23A3-8328-6A7C-D7F0E84440A5}"/>
              </a:ext>
            </a:extLst>
          </p:cNvPr>
          <p:cNvSpPr/>
          <p:nvPr/>
        </p:nvSpPr>
        <p:spPr>
          <a:xfrm rot="10800000">
            <a:off x="4343972" y="2237316"/>
            <a:ext cx="120650" cy="104009"/>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p>
        </p:txBody>
      </p:sp>
      <p:sp>
        <p:nvSpPr>
          <p:cNvPr id="22" name="이등변 삼각형 21">
            <a:extLst>
              <a:ext uri="{FF2B5EF4-FFF2-40B4-BE49-F238E27FC236}">
                <a16:creationId xmlns:a16="http://schemas.microsoft.com/office/drawing/2014/main" id="{D78D453F-A7F0-F2D8-3585-ADE5DEA557F0}"/>
              </a:ext>
            </a:extLst>
          </p:cNvPr>
          <p:cNvSpPr/>
          <p:nvPr/>
        </p:nvSpPr>
        <p:spPr>
          <a:xfrm rot="10800000">
            <a:off x="4343972" y="2670753"/>
            <a:ext cx="120650" cy="104009"/>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p>
        </p:txBody>
      </p:sp>
      <p:sp>
        <p:nvSpPr>
          <p:cNvPr id="23" name="직사각형 22">
            <a:extLst>
              <a:ext uri="{FF2B5EF4-FFF2-40B4-BE49-F238E27FC236}">
                <a16:creationId xmlns:a16="http://schemas.microsoft.com/office/drawing/2014/main" id="{46D0422F-E4E5-9678-12D9-CCBA2D80469D}"/>
              </a:ext>
            </a:extLst>
          </p:cNvPr>
          <p:cNvSpPr/>
          <p:nvPr/>
        </p:nvSpPr>
        <p:spPr>
          <a:xfrm>
            <a:off x="3391048" y="2383422"/>
            <a:ext cx="1988044" cy="282894"/>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Lato" panose="020F0502020204030203" pitchFamily="34" charset="0"/>
              </a:rPr>
              <a:t>Upload the DB from the USB</a:t>
            </a:r>
            <a:endParaRPr lang="ko-KR" altLang="en-US" sz="1050">
              <a:solidFill>
                <a:schemeClr val="tx1"/>
              </a:solidFill>
              <a:latin typeface="Lato" panose="020F0502020204030203" pitchFamily="34" charset="0"/>
            </a:endParaRPr>
          </a:p>
        </p:txBody>
      </p:sp>
      <p:sp>
        <p:nvSpPr>
          <p:cNvPr id="24" name="이등변 삼각형 23">
            <a:extLst>
              <a:ext uri="{FF2B5EF4-FFF2-40B4-BE49-F238E27FC236}">
                <a16:creationId xmlns:a16="http://schemas.microsoft.com/office/drawing/2014/main" id="{A6CDB07B-A37B-C491-D1BC-E6F8AE16B812}"/>
              </a:ext>
            </a:extLst>
          </p:cNvPr>
          <p:cNvSpPr/>
          <p:nvPr/>
        </p:nvSpPr>
        <p:spPr>
          <a:xfrm rot="10800000">
            <a:off x="4343972" y="3097560"/>
            <a:ext cx="120650" cy="104009"/>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p>
        </p:txBody>
      </p:sp>
      <p:sp>
        <p:nvSpPr>
          <p:cNvPr id="25" name="직사각형 24">
            <a:extLst>
              <a:ext uri="{FF2B5EF4-FFF2-40B4-BE49-F238E27FC236}">
                <a16:creationId xmlns:a16="http://schemas.microsoft.com/office/drawing/2014/main" id="{204AA27B-189A-05B8-23C1-C77B68629A5C}"/>
              </a:ext>
            </a:extLst>
          </p:cNvPr>
          <p:cNvSpPr/>
          <p:nvPr/>
        </p:nvSpPr>
        <p:spPr>
          <a:xfrm>
            <a:off x="3391048" y="2810229"/>
            <a:ext cx="1988044" cy="282894"/>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Lato" panose="020F0502020204030203" pitchFamily="34" charset="0"/>
              </a:rPr>
              <a:t>Print Body Water Analysis Result Sheet</a:t>
            </a:r>
            <a:endParaRPr lang="ko-KR" altLang="en-US" sz="1050">
              <a:solidFill>
                <a:schemeClr val="tx1"/>
              </a:solidFill>
              <a:latin typeface="Lato" panose="020F0502020204030203" pitchFamily="34" charset="0"/>
            </a:endParaRPr>
          </a:p>
        </p:txBody>
      </p:sp>
      <p:sp>
        <p:nvSpPr>
          <p:cNvPr id="26" name="이등변 삼각형 25">
            <a:extLst>
              <a:ext uri="{FF2B5EF4-FFF2-40B4-BE49-F238E27FC236}">
                <a16:creationId xmlns:a16="http://schemas.microsoft.com/office/drawing/2014/main" id="{A5355E3F-0BED-F84C-313B-F3524EF7AF3E}"/>
              </a:ext>
            </a:extLst>
          </p:cNvPr>
          <p:cNvSpPr/>
          <p:nvPr/>
        </p:nvSpPr>
        <p:spPr>
          <a:xfrm rot="10800000">
            <a:off x="4343972" y="3837641"/>
            <a:ext cx="120650" cy="104009"/>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a:p>
        </p:txBody>
      </p:sp>
      <p:sp>
        <p:nvSpPr>
          <p:cNvPr id="27" name="직사각형 26">
            <a:extLst>
              <a:ext uri="{FF2B5EF4-FFF2-40B4-BE49-F238E27FC236}">
                <a16:creationId xmlns:a16="http://schemas.microsoft.com/office/drawing/2014/main" id="{6F18AC37-6546-49B4-73CB-47F01CDE706D}"/>
              </a:ext>
            </a:extLst>
          </p:cNvPr>
          <p:cNvSpPr/>
          <p:nvPr/>
        </p:nvSpPr>
        <p:spPr>
          <a:xfrm>
            <a:off x="3391048" y="3250509"/>
            <a:ext cx="1988044" cy="533755"/>
          </a:xfrm>
          <a:prstGeom prst="rect">
            <a:avLst/>
          </a:prstGeom>
          <a:noFill/>
          <a:ln w="317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50" dirty="0">
                <a:solidFill>
                  <a:schemeClr val="tx1"/>
                </a:solidFill>
                <a:latin typeface="Lato" panose="020F0502020204030203" pitchFamily="34" charset="0"/>
              </a:rPr>
              <a:t>Check DW information fro the Water Control parameter in the Result Sheet</a:t>
            </a:r>
            <a:endParaRPr lang="ko-KR" altLang="en-US" sz="1050">
              <a:solidFill>
                <a:schemeClr val="tx1"/>
              </a:solidFill>
              <a:latin typeface="Lato" panose="020F0502020204030203" pitchFamily="34" charset="0"/>
            </a:endParaRPr>
          </a:p>
        </p:txBody>
      </p:sp>
      <p:sp>
        <p:nvSpPr>
          <p:cNvPr id="28" name="이등변 삼각형 27">
            <a:extLst>
              <a:ext uri="{FF2B5EF4-FFF2-40B4-BE49-F238E27FC236}">
                <a16:creationId xmlns:a16="http://schemas.microsoft.com/office/drawing/2014/main" id="{F3305A14-A65C-6C27-480A-2E003599BC1B}"/>
              </a:ext>
            </a:extLst>
          </p:cNvPr>
          <p:cNvSpPr/>
          <p:nvPr/>
        </p:nvSpPr>
        <p:spPr>
          <a:xfrm rot="10800000">
            <a:off x="7537231" y="1455623"/>
            <a:ext cx="129846" cy="119194"/>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a:extLst>
              <a:ext uri="{FF2B5EF4-FFF2-40B4-BE49-F238E27FC236}">
                <a16:creationId xmlns:a16="http://schemas.microsoft.com/office/drawing/2014/main" id="{9727C4D5-E535-3BCE-5D00-6AEFD339EB73}"/>
              </a:ext>
            </a:extLst>
          </p:cNvPr>
          <p:cNvSpPr/>
          <p:nvPr/>
        </p:nvSpPr>
        <p:spPr>
          <a:xfrm rot="10800000">
            <a:off x="7537231" y="4249576"/>
            <a:ext cx="129846" cy="119194"/>
          </a:xfrm>
          <a:prstGeom prst="triangl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EFC0A5A5-00BF-C85B-6D14-63D6C36CB1EC}"/>
              </a:ext>
            </a:extLst>
          </p:cNvPr>
          <p:cNvSpPr/>
          <p:nvPr/>
        </p:nvSpPr>
        <p:spPr>
          <a:xfrm>
            <a:off x="6476017" y="3958559"/>
            <a:ext cx="2252273" cy="315109"/>
          </a:xfrm>
          <a:prstGeom prst="rect">
            <a:avLst/>
          </a:prstGeom>
          <a:solidFill>
            <a:srgbClr val="90001F"/>
          </a:solidFill>
          <a:ln w="31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a:latin typeface="Lato" panose="020F0502020204030203" pitchFamily="34" charset="0"/>
              </a:rPr>
              <a:t>Print Result Sheet Available</a:t>
            </a:r>
            <a:br>
              <a:rPr lang="en-US" altLang="ko-KR" sz="900" dirty="0">
                <a:latin typeface="Lato" panose="020F0502020204030203" pitchFamily="34" charset="0"/>
              </a:rPr>
            </a:br>
            <a:r>
              <a:rPr lang="en-US" altLang="ko-KR" sz="900" dirty="0">
                <a:latin typeface="Lato" panose="020F0502020204030203" pitchFamily="34" charset="0"/>
              </a:rPr>
              <a:t>(Thermal Printer)</a:t>
            </a:r>
            <a:endParaRPr lang="ko-KR" altLang="en-US" sz="900" dirty="0">
              <a:latin typeface="Lato" panose="020F0502020204030203" pitchFamily="34" charset="0"/>
            </a:endParaRPr>
          </a:p>
        </p:txBody>
      </p:sp>
      <p:sp>
        <p:nvSpPr>
          <p:cNvPr id="31" name="타원 30">
            <a:extLst>
              <a:ext uri="{FF2B5EF4-FFF2-40B4-BE49-F238E27FC236}">
                <a16:creationId xmlns:a16="http://schemas.microsoft.com/office/drawing/2014/main" id="{C6DC1149-3085-A658-EC7E-081B3BAEE729}"/>
              </a:ext>
            </a:extLst>
          </p:cNvPr>
          <p:cNvSpPr/>
          <p:nvPr/>
        </p:nvSpPr>
        <p:spPr>
          <a:xfrm>
            <a:off x="8569960" y="1792322"/>
            <a:ext cx="76255" cy="81199"/>
          </a:xfrm>
          <a:prstGeom prst="ellipse">
            <a:avLst/>
          </a:prstGeom>
          <a:solidFill>
            <a:srgbClr val="9000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15DEDDEB-5978-283A-D810-7CBD7453EA2E}"/>
              </a:ext>
            </a:extLst>
          </p:cNvPr>
          <p:cNvSpPr txBox="1"/>
          <p:nvPr/>
        </p:nvSpPr>
        <p:spPr>
          <a:xfrm>
            <a:off x="5711530" y="4638254"/>
            <a:ext cx="3857360" cy="1384995"/>
          </a:xfrm>
          <a:prstGeom prst="rect">
            <a:avLst/>
          </a:prstGeom>
          <a:noFill/>
        </p:spPr>
        <p:txBody>
          <a:bodyPr wrap="square" rtlCol="0">
            <a:spAutoFit/>
          </a:bodyPr>
          <a:lstStyle/>
          <a:p>
            <a:pPr algn="ctr">
              <a:lnSpc>
                <a:spcPct val="150000"/>
              </a:lnSpc>
            </a:pPr>
            <a:r>
              <a:rPr lang="en-US" altLang="ko-KR" sz="1200" b="1" dirty="0">
                <a:solidFill>
                  <a:srgbClr val="90001F"/>
                </a:solidFill>
                <a:latin typeface="Lato" panose="020F0502020204030203" pitchFamily="34" charset="0"/>
                <a:ea typeface="+mj-ea"/>
              </a:rPr>
              <a:t>BWA Water Control Calculator</a:t>
            </a:r>
          </a:p>
          <a:p>
            <a:pPr algn="ctr">
              <a:lnSpc>
                <a:spcPct val="150000"/>
              </a:lnSpc>
            </a:pPr>
            <a:r>
              <a:rPr lang="en-US" altLang="ko-KR" sz="1100" dirty="0">
                <a:latin typeface="Lato" panose="020F0502020204030203" pitchFamily="34" charset="0"/>
                <a:ea typeface="+mj-ea"/>
              </a:rPr>
              <a:t>Sets the target ECW ratio,</a:t>
            </a:r>
          </a:p>
          <a:p>
            <a:pPr algn="ctr">
              <a:lnSpc>
                <a:spcPct val="150000"/>
              </a:lnSpc>
            </a:pPr>
            <a:r>
              <a:rPr lang="en-US" altLang="ko-KR" sz="1100" dirty="0">
                <a:latin typeface="Lato" panose="020F0502020204030203" pitchFamily="34" charset="0"/>
                <a:ea typeface="+mj-ea"/>
              </a:rPr>
              <a:t>Required Water Control Calculation</a:t>
            </a:r>
            <a:br>
              <a:rPr lang="en-US" altLang="ko-KR" sz="1100" dirty="0">
                <a:latin typeface="Lato" panose="020F0502020204030203" pitchFamily="34" charset="0"/>
                <a:ea typeface="+mj-ea"/>
              </a:rPr>
            </a:br>
            <a:r>
              <a:rPr lang="en-US" altLang="ko-KR" sz="1100" dirty="0">
                <a:latin typeface="Lato" panose="020F0502020204030203" pitchFamily="34" charset="0"/>
                <a:ea typeface="+mj-ea"/>
              </a:rPr>
              <a:t>for patients that need persistent water control management</a:t>
            </a:r>
            <a:br>
              <a:rPr lang="en-US" altLang="ko-KR" sz="1100" dirty="0">
                <a:latin typeface="Lato" panose="020F0502020204030203" pitchFamily="34" charset="0"/>
                <a:ea typeface="+mj-ea"/>
              </a:rPr>
            </a:br>
            <a:r>
              <a:rPr lang="en-US" altLang="ko-KR" sz="1100" dirty="0">
                <a:latin typeface="Lato" panose="020F0502020204030203" pitchFamily="34" charset="0"/>
                <a:ea typeface="+mj-ea"/>
              </a:rPr>
              <a:t>(ex. dialysis and heart disease patients)</a:t>
            </a:r>
            <a:endParaRPr lang="en-US" altLang="ko-KR" sz="1050" dirty="0">
              <a:latin typeface="Lato" panose="020F0502020204030203" pitchFamily="34" charset="0"/>
              <a:ea typeface="+mj-ea"/>
            </a:endParaRPr>
          </a:p>
        </p:txBody>
      </p:sp>
      <p:pic>
        <p:nvPicPr>
          <p:cNvPr id="33" name="그림 32">
            <a:extLst>
              <a:ext uri="{FF2B5EF4-FFF2-40B4-BE49-F238E27FC236}">
                <a16:creationId xmlns:a16="http://schemas.microsoft.com/office/drawing/2014/main" id="{A069AB47-3FE6-D64C-4518-84429A123D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8890" y="2374320"/>
            <a:ext cx="1960488" cy="2532421"/>
          </a:xfrm>
          <a:prstGeom prst="rect">
            <a:avLst/>
          </a:prstGeom>
        </p:spPr>
      </p:pic>
      <p:pic>
        <p:nvPicPr>
          <p:cNvPr id="34" name="그림 33">
            <a:extLst>
              <a:ext uri="{FF2B5EF4-FFF2-40B4-BE49-F238E27FC236}">
                <a16:creationId xmlns:a16="http://schemas.microsoft.com/office/drawing/2014/main" id="{BAA0134B-AE76-5044-FD5D-E64CB5AC0CF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58813" t="31432" r="8765" b="50673"/>
          <a:stretch/>
        </p:blipFill>
        <p:spPr>
          <a:xfrm>
            <a:off x="3208719" y="4116113"/>
            <a:ext cx="2370371" cy="1693121"/>
          </a:xfrm>
          <a:prstGeom prst="rect">
            <a:avLst/>
          </a:prstGeom>
        </p:spPr>
      </p:pic>
    </p:spTree>
    <p:extLst>
      <p:ext uri="{BB962C8B-B14F-4D97-AF65-F5344CB8AC3E}">
        <p14:creationId xmlns:p14="http://schemas.microsoft.com/office/powerpoint/2010/main" val="20116543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Result Sheets</a:t>
            </a:r>
          </a:p>
        </p:txBody>
      </p:sp>
      <p:pic>
        <p:nvPicPr>
          <p:cNvPr id="76" name="그림 75" descr="텍스트, 번호, 폰트, 평행이(가) 표시된 사진&#10;&#10;자동 생성된 설명">
            <a:extLst>
              <a:ext uri="{FF2B5EF4-FFF2-40B4-BE49-F238E27FC236}">
                <a16:creationId xmlns:a16="http://schemas.microsoft.com/office/drawing/2014/main" id="{8D4CB7EC-A5B0-B0B0-E5D6-B2632B6B46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12552" y="873487"/>
            <a:ext cx="4157651" cy="5881065"/>
          </a:xfrm>
          <a:prstGeom prst="rect">
            <a:avLst/>
          </a:prstGeom>
        </p:spPr>
      </p:pic>
      <p:pic>
        <p:nvPicPr>
          <p:cNvPr id="78" name="그림 77" descr="텍스트, 번호, 스크린샷, 폰트이(가) 표시된 사진&#10;&#10;자동 생성된 설명">
            <a:extLst>
              <a:ext uri="{FF2B5EF4-FFF2-40B4-BE49-F238E27FC236}">
                <a16:creationId xmlns:a16="http://schemas.microsoft.com/office/drawing/2014/main" id="{9E3D93F7-D8F0-481B-6E07-5A89ABF416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2734" y="873487"/>
            <a:ext cx="4159818" cy="5881065"/>
          </a:xfrm>
          <a:prstGeom prst="rect">
            <a:avLst/>
          </a:prstGeom>
        </p:spPr>
      </p:pic>
    </p:spTree>
    <p:extLst>
      <p:ext uri="{BB962C8B-B14F-4D97-AF65-F5344CB8AC3E}">
        <p14:creationId xmlns:p14="http://schemas.microsoft.com/office/powerpoint/2010/main" val="29165532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582870"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pic>
        <p:nvPicPr>
          <p:cNvPr id="5" name="그림 4">
            <a:extLst>
              <a:ext uri="{FF2B5EF4-FFF2-40B4-BE49-F238E27FC236}">
                <a16:creationId xmlns:a16="http://schemas.microsoft.com/office/drawing/2014/main" id="{DD5DEF95-25EE-DBE8-8FE1-E77C5BC8363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742" r="18005" b="6911"/>
          <a:stretch/>
        </p:blipFill>
        <p:spPr>
          <a:xfrm>
            <a:off x="8125648" y="2975106"/>
            <a:ext cx="3394195" cy="2915329"/>
          </a:xfrm>
          <a:prstGeom prst="rect">
            <a:avLst/>
          </a:prstGeom>
        </p:spPr>
      </p:pic>
      <p:sp>
        <p:nvSpPr>
          <p:cNvPr id="6" name="TextBox 5">
            <a:extLst>
              <a:ext uri="{FF2B5EF4-FFF2-40B4-BE49-F238E27FC236}">
                <a16:creationId xmlns:a16="http://schemas.microsoft.com/office/drawing/2014/main" id="{A413A9D8-6FEF-04D5-2511-D5AA41C78B01}"/>
              </a:ext>
            </a:extLst>
          </p:cNvPr>
          <p:cNvSpPr txBox="1"/>
          <p:nvPr/>
        </p:nvSpPr>
        <p:spPr>
          <a:xfrm>
            <a:off x="889488" y="1603074"/>
            <a:ext cx="11095657" cy="10202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altLang="ko-KR" sz="1400" dirty="0">
                <a:solidFill>
                  <a:schemeClr val="tx1">
                    <a:lumMod val="75000"/>
                    <a:lumOff val="25000"/>
                  </a:schemeClr>
                </a:solidFill>
                <a:latin typeface="+mj-lt"/>
                <a:ea typeface="맑은 고딕"/>
              </a:rPr>
              <a:t>Compared to the S10, which features a total of six frequencies from 1 kHz to 1 MHz, the BWA utilizes a total of eight frequencies, ranging from 2 MHz to 3 </a:t>
            </a:r>
            <a:r>
              <a:rPr lang="en-US" altLang="ko-KR" sz="1400" dirty="0" err="1">
                <a:solidFill>
                  <a:schemeClr val="tx1">
                    <a:lumMod val="75000"/>
                    <a:lumOff val="25000"/>
                  </a:schemeClr>
                </a:solidFill>
                <a:latin typeface="+mj-lt"/>
                <a:ea typeface="맑은 고딕"/>
              </a:rPr>
              <a:t>MHz.</a:t>
            </a:r>
            <a:r>
              <a:rPr lang="en-US" altLang="ko-KR" sz="1400" dirty="0">
                <a:solidFill>
                  <a:schemeClr val="tx1">
                    <a:lumMod val="75000"/>
                    <a:lumOff val="25000"/>
                  </a:schemeClr>
                </a:solidFill>
                <a:latin typeface="+mj-lt"/>
                <a:ea typeface="맑은 고딕"/>
              </a:rPr>
              <a:t> The inclusion of higher frequencies allows for a more precise reflection of intracellular water, enhancing both the accuracy of body water measurement in patients and the stability of multi-frequency measurements.</a:t>
            </a:r>
            <a:endParaRPr lang="en-US" altLang="ko-KR" sz="1400" dirty="0">
              <a:solidFill>
                <a:schemeClr val="tx1">
                  <a:lumMod val="75000"/>
                  <a:lumOff val="25000"/>
                </a:schemeClr>
              </a:solidFill>
              <a:latin typeface="+mj-lt"/>
            </a:endParaRPr>
          </a:p>
        </p:txBody>
      </p:sp>
      <p:pic>
        <p:nvPicPr>
          <p:cNvPr id="7" name="그림 6">
            <a:extLst>
              <a:ext uri="{FF2B5EF4-FFF2-40B4-BE49-F238E27FC236}">
                <a16:creationId xmlns:a16="http://schemas.microsoft.com/office/drawing/2014/main" id="{6E7D460A-C651-B723-D938-FAB63F95A57F}"/>
              </a:ext>
            </a:extLst>
          </p:cNvPr>
          <p:cNvPicPr>
            <a:picLocks noChangeAspect="1"/>
          </p:cNvPicPr>
          <p:nvPr/>
        </p:nvPicPr>
        <p:blipFill rotWithShape="1">
          <a:blip r:embed="rId3"/>
          <a:srcRect l="55000" t="36013" r="31691" b="17451"/>
          <a:stretch/>
        </p:blipFill>
        <p:spPr>
          <a:xfrm>
            <a:off x="347583" y="2964347"/>
            <a:ext cx="2922806" cy="2874362"/>
          </a:xfrm>
          <a:prstGeom prst="rect">
            <a:avLst/>
          </a:prstGeom>
        </p:spPr>
      </p:pic>
      <p:sp>
        <p:nvSpPr>
          <p:cNvPr id="8" name="직사각형 7">
            <a:extLst>
              <a:ext uri="{FF2B5EF4-FFF2-40B4-BE49-F238E27FC236}">
                <a16:creationId xmlns:a16="http://schemas.microsoft.com/office/drawing/2014/main" id="{22EB9873-1BA5-5FE6-8E5D-2CCD2C7D10D9}"/>
              </a:ext>
            </a:extLst>
          </p:cNvPr>
          <p:cNvSpPr/>
          <p:nvPr/>
        </p:nvSpPr>
        <p:spPr>
          <a:xfrm>
            <a:off x="3756232" y="2975106"/>
            <a:ext cx="1689181" cy="4222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10EE1371-A1B3-1FFC-8AF3-1DAA57362741}"/>
              </a:ext>
            </a:extLst>
          </p:cNvPr>
          <p:cNvSpPr/>
          <p:nvPr/>
        </p:nvSpPr>
        <p:spPr>
          <a:xfrm>
            <a:off x="3756232" y="3337055"/>
            <a:ext cx="1689181" cy="2533772"/>
          </a:xfrm>
          <a:prstGeom prst="rect">
            <a:avLst/>
          </a:prstGeom>
          <a:solidFill>
            <a:srgbClr val="7A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2FA126A4-EF21-8B79-E13E-44E80870407F}"/>
              </a:ext>
            </a:extLst>
          </p:cNvPr>
          <p:cNvSpPr txBox="1"/>
          <p:nvPr/>
        </p:nvSpPr>
        <p:spPr>
          <a:xfrm>
            <a:off x="3850628" y="3726307"/>
            <a:ext cx="1425711" cy="523220"/>
          </a:xfrm>
          <a:prstGeom prst="rect">
            <a:avLst/>
          </a:prstGeom>
          <a:noFill/>
        </p:spPr>
        <p:txBody>
          <a:bodyPr wrap="square" rtlCol="0">
            <a:spAutoFit/>
          </a:bodyPr>
          <a:lstStyle/>
          <a:p>
            <a:pPr algn="ctr"/>
            <a:r>
              <a:rPr lang="en-US" altLang="ko-KR" sz="1400" b="1" dirty="0">
                <a:solidFill>
                  <a:schemeClr val="bg1"/>
                </a:solidFill>
                <a:latin typeface="+mj-ea"/>
                <a:ea typeface="+mj-ea"/>
              </a:rPr>
              <a:t>1~1,000kHz</a:t>
            </a:r>
          </a:p>
          <a:p>
            <a:pPr algn="ctr"/>
            <a:r>
              <a:rPr lang="en-US" altLang="ko-KR" sz="1400" b="1" spc="-150" dirty="0">
                <a:solidFill>
                  <a:schemeClr val="bg1"/>
                </a:solidFill>
                <a:latin typeface="+mj-ea"/>
                <a:ea typeface="+mj-ea"/>
              </a:rPr>
              <a:t>Multi-frequency</a:t>
            </a:r>
            <a:endParaRPr lang="ko-KR" altLang="en-US" sz="1400" spc="-150" dirty="0">
              <a:solidFill>
                <a:schemeClr val="bg1"/>
              </a:solidFill>
              <a:latin typeface="+mj-ea"/>
              <a:ea typeface="+mj-ea"/>
            </a:endParaRPr>
          </a:p>
        </p:txBody>
      </p:sp>
      <p:sp>
        <p:nvSpPr>
          <p:cNvPr id="11" name="TextBox 10">
            <a:extLst>
              <a:ext uri="{FF2B5EF4-FFF2-40B4-BE49-F238E27FC236}">
                <a16:creationId xmlns:a16="http://schemas.microsoft.com/office/drawing/2014/main" id="{D0931235-E2A1-69AA-7161-32A4D66D6FF3}"/>
              </a:ext>
            </a:extLst>
          </p:cNvPr>
          <p:cNvSpPr txBox="1"/>
          <p:nvPr/>
        </p:nvSpPr>
        <p:spPr>
          <a:xfrm>
            <a:off x="3737006" y="4578433"/>
            <a:ext cx="1722838" cy="82137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ko-KR" sz="1100" spc="-150" dirty="0">
                <a:solidFill>
                  <a:schemeClr val="bg1"/>
                </a:solidFill>
              </a:rPr>
              <a:t>Reflecting both Intracellular and Extracellular waters</a:t>
            </a:r>
          </a:p>
          <a:p>
            <a:pPr marL="171450" indent="-171450">
              <a:lnSpc>
                <a:spcPct val="150000"/>
              </a:lnSpc>
              <a:buFont typeface="Arial" panose="020B0604020202020204" pitchFamily="34" charset="0"/>
              <a:buChar char="•"/>
            </a:pPr>
            <a:r>
              <a:rPr lang="en-US" altLang="ko-KR" sz="1100" spc="-150" dirty="0">
                <a:solidFill>
                  <a:schemeClr val="bg1"/>
                </a:solidFill>
              </a:rPr>
              <a:t>Accurate Total Body Water</a:t>
            </a:r>
            <a:endParaRPr lang="ko-KR" altLang="en-US" sz="1100" spc="-150" dirty="0">
              <a:solidFill>
                <a:schemeClr val="bg1"/>
              </a:solidFill>
            </a:endParaRPr>
          </a:p>
        </p:txBody>
      </p:sp>
      <p:sp>
        <p:nvSpPr>
          <p:cNvPr id="12" name="이등변 삼각형 11">
            <a:extLst>
              <a:ext uri="{FF2B5EF4-FFF2-40B4-BE49-F238E27FC236}">
                <a16:creationId xmlns:a16="http://schemas.microsoft.com/office/drawing/2014/main" id="{AC8166B5-F04D-D780-5231-D43AC09BDB55}"/>
              </a:ext>
            </a:extLst>
          </p:cNvPr>
          <p:cNvSpPr/>
          <p:nvPr/>
        </p:nvSpPr>
        <p:spPr>
          <a:xfrm rot="5400000">
            <a:off x="5460035" y="4461532"/>
            <a:ext cx="253377" cy="253377"/>
          </a:xfrm>
          <a:prstGeom prst="triangle">
            <a:avLst/>
          </a:prstGeom>
          <a:solidFill>
            <a:srgbClr val="7A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28AF3C16-256E-7585-59B4-BE5D6CDABFA3}"/>
              </a:ext>
            </a:extLst>
          </p:cNvPr>
          <p:cNvSpPr/>
          <p:nvPr/>
        </p:nvSpPr>
        <p:spPr>
          <a:xfrm>
            <a:off x="5926461" y="2975106"/>
            <a:ext cx="1689181" cy="4222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1B3A48DE-0868-3071-1CD6-71F9F8698274}"/>
              </a:ext>
            </a:extLst>
          </p:cNvPr>
          <p:cNvSpPr/>
          <p:nvPr/>
        </p:nvSpPr>
        <p:spPr>
          <a:xfrm>
            <a:off x="5926461" y="3337055"/>
            <a:ext cx="1689181" cy="2533772"/>
          </a:xfrm>
          <a:prstGeom prst="rect">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F0025CC1-332C-FDC6-F307-97FEB168BE3F}"/>
              </a:ext>
            </a:extLst>
          </p:cNvPr>
          <p:cNvSpPr txBox="1"/>
          <p:nvPr/>
        </p:nvSpPr>
        <p:spPr>
          <a:xfrm>
            <a:off x="6431391" y="3017581"/>
            <a:ext cx="881673" cy="276999"/>
          </a:xfrm>
          <a:prstGeom prst="rect">
            <a:avLst/>
          </a:prstGeom>
          <a:noFill/>
        </p:spPr>
        <p:txBody>
          <a:bodyPr wrap="square" rtlCol="0">
            <a:spAutoFit/>
          </a:bodyPr>
          <a:lstStyle/>
          <a:p>
            <a:r>
              <a:rPr lang="en-US" altLang="ko-KR" sz="1200" b="1" dirty="0"/>
              <a:t>BWA2.0</a:t>
            </a:r>
            <a:endParaRPr lang="ko-KR" altLang="en-US" sz="1200" dirty="0"/>
          </a:p>
        </p:txBody>
      </p:sp>
      <p:sp>
        <p:nvSpPr>
          <p:cNvPr id="16" name="TextBox 15">
            <a:extLst>
              <a:ext uri="{FF2B5EF4-FFF2-40B4-BE49-F238E27FC236}">
                <a16:creationId xmlns:a16="http://schemas.microsoft.com/office/drawing/2014/main" id="{F277C4B0-FE19-573B-6B71-9E50BE8CA040}"/>
              </a:ext>
            </a:extLst>
          </p:cNvPr>
          <p:cNvSpPr txBox="1"/>
          <p:nvPr/>
        </p:nvSpPr>
        <p:spPr>
          <a:xfrm>
            <a:off x="5841730" y="3542464"/>
            <a:ext cx="1858642" cy="738664"/>
          </a:xfrm>
          <a:prstGeom prst="rect">
            <a:avLst/>
          </a:prstGeom>
          <a:noFill/>
        </p:spPr>
        <p:txBody>
          <a:bodyPr wrap="square" rtlCol="0">
            <a:spAutoFit/>
          </a:bodyPr>
          <a:lstStyle/>
          <a:p>
            <a:pPr algn="ctr"/>
            <a:r>
              <a:rPr lang="en-US" altLang="ko-KR" sz="1400" b="1" dirty="0">
                <a:solidFill>
                  <a:schemeClr val="bg1"/>
                </a:solidFill>
                <a:latin typeface="+mj-ea"/>
                <a:ea typeface="+mj-ea"/>
              </a:rPr>
              <a:t>World's first use of high frequencies at 2,000 &amp; 3,000 kHz.</a:t>
            </a:r>
            <a:endParaRPr lang="ko-KR" altLang="en-US" sz="1400" spc="-150" dirty="0">
              <a:solidFill>
                <a:schemeClr val="bg1"/>
              </a:solidFill>
              <a:latin typeface="+mj-ea"/>
              <a:ea typeface="+mj-ea"/>
            </a:endParaRPr>
          </a:p>
        </p:txBody>
      </p:sp>
      <p:sp>
        <p:nvSpPr>
          <p:cNvPr id="17" name="TextBox 16">
            <a:extLst>
              <a:ext uri="{FF2B5EF4-FFF2-40B4-BE49-F238E27FC236}">
                <a16:creationId xmlns:a16="http://schemas.microsoft.com/office/drawing/2014/main" id="{7CB57B5C-273A-EE05-9D4B-A04BCFD4D075}"/>
              </a:ext>
            </a:extLst>
          </p:cNvPr>
          <p:cNvSpPr txBox="1"/>
          <p:nvPr/>
        </p:nvSpPr>
        <p:spPr>
          <a:xfrm>
            <a:off x="5940892" y="4566272"/>
            <a:ext cx="1862672" cy="1329210"/>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ko-KR" sz="1100" spc="-150" dirty="0">
                <a:solidFill>
                  <a:schemeClr val="bg1"/>
                </a:solidFill>
              </a:rPr>
              <a:t>Increased accuracy on Total Body Water</a:t>
            </a:r>
          </a:p>
          <a:p>
            <a:pPr marL="171450" indent="-171450">
              <a:lnSpc>
                <a:spcPct val="150000"/>
              </a:lnSpc>
              <a:buFont typeface="Arial" panose="020B0604020202020204" pitchFamily="34" charset="0"/>
              <a:buChar char="•"/>
            </a:pPr>
            <a:r>
              <a:rPr lang="en-US" altLang="ko-KR" sz="1100" spc="-150" dirty="0">
                <a:solidFill>
                  <a:schemeClr val="bg1"/>
                </a:solidFill>
              </a:rPr>
              <a:t>Increased stability compared to the previous high-frequency</a:t>
            </a:r>
          </a:p>
          <a:p>
            <a:pPr marL="171450" indent="-171450">
              <a:lnSpc>
                <a:spcPct val="150000"/>
              </a:lnSpc>
              <a:buFont typeface="Arial" panose="020B0604020202020204" pitchFamily="34" charset="0"/>
              <a:buChar char="•"/>
            </a:pPr>
            <a:endParaRPr lang="ko-KR" altLang="en-US" sz="1100" spc="-150" dirty="0">
              <a:solidFill>
                <a:schemeClr val="bg1"/>
              </a:solidFill>
            </a:endParaRPr>
          </a:p>
        </p:txBody>
      </p:sp>
      <p:pic>
        <p:nvPicPr>
          <p:cNvPr id="18" name="_x132070104" descr="EMB00002028523b">
            <a:extLst>
              <a:ext uri="{FF2B5EF4-FFF2-40B4-BE49-F238E27FC236}">
                <a16:creationId xmlns:a16="http://schemas.microsoft.com/office/drawing/2014/main" id="{C287DE4E-6F89-886D-FC16-DFC159A989B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38491" y="3067344"/>
            <a:ext cx="919868" cy="186778"/>
          </a:xfrm>
          <a:prstGeom prst="rect">
            <a:avLst/>
          </a:prstGeom>
          <a:noFill/>
        </p:spPr>
      </p:pic>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199" y="1249784"/>
            <a:ext cx="8233531" cy="307777"/>
          </a:xfrm>
          <a:prstGeom prst="rect">
            <a:avLst/>
          </a:prstGeom>
          <a:noFill/>
        </p:spPr>
        <p:txBody>
          <a:bodyPr wrap="square">
            <a:spAutoFit/>
          </a:bodyPr>
          <a:lstStyle/>
          <a:p>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① Increased Body Water measurement accuracy with high-frequency up to 3MHz</a:t>
            </a:r>
          </a:p>
        </p:txBody>
      </p:sp>
    </p:spTree>
    <p:extLst>
      <p:ext uri="{BB962C8B-B14F-4D97-AF65-F5344CB8AC3E}">
        <p14:creationId xmlns:p14="http://schemas.microsoft.com/office/powerpoint/2010/main" val="365901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3199949"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sp>
        <p:nvSpPr>
          <p:cNvPr id="6" name="TextBox 5">
            <a:extLst>
              <a:ext uri="{FF2B5EF4-FFF2-40B4-BE49-F238E27FC236}">
                <a16:creationId xmlns:a16="http://schemas.microsoft.com/office/drawing/2014/main" id="{A413A9D8-6FEF-04D5-2511-D5AA41C78B01}"/>
              </a:ext>
            </a:extLst>
          </p:cNvPr>
          <p:cNvSpPr txBox="1"/>
          <p:nvPr/>
        </p:nvSpPr>
        <p:spPr>
          <a:xfrm>
            <a:off x="889488" y="1603074"/>
            <a:ext cx="11095657" cy="759888"/>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800"/>
              </a:lnSpc>
            </a:pPr>
            <a:r>
              <a:rPr lang="en-US" altLang="ko-KR" sz="1400" dirty="0">
                <a:solidFill>
                  <a:schemeClr val="tx1">
                    <a:lumMod val="65000"/>
                    <a:lumOff val="35000"/>
                  </a:schemeClr>
                </a:solidFill>
                <a:latin typeface="+mn-ea"/>
              </a:rPr>
              <a:t>Addition of 2MHz and 3MHz frequencies enhances the accuracy of Body Water measurement and deduces errors in impedance measurements in InBody970 and BWA2.0. </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680024" cy="307777"/>
          </a:xfrm>
          <a:prstGeom prst="rect">
            <a:avLst/>
          </a:prstGeom>
          <a:noFill/>
        </p:spPr>
        <p:txBody>
          <a:bodyPr wrap="square">
            <a:spAutoFit/>
          </a:bodyPr>
          <a:lstStyle/>
          <a:p>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① Increased Body Water measurement accuracy with high-frequency up to 3MHz</a:t>
            </a:r>
          </a:p>
        </p:txBody>
      </p:sp>
      <p:pic>
        <p:nvPicPr>
          <p:cNvPr id="35" name="그림 34" descr="화면 캡처">
            <a:extLst>
              <a:ext uri="{FF2B5EF4-FFF2-40B4-BE49-F238E27FC236}">
                <a16:creationId xmlns:a16="http://schemas.microsoft.com/office/drawing/2014/main" id="{DED166C5-E61C-320C-8C83-6FCA257E4781}"/>
              </a:ext>
            </a:extLst>
          </p:cNvPr>
          <p:cNvPicPr>
            <a:picLocks noChangeAspect="1"/>
          </p:cNvPicPr>
          <p:nvPr/>
        </p:nvPicPr>
        <p:blipFill rotWithShape="1">
          <a:blip r:embed="rId2">
            <a:extLst>
              <a:ext uri="{28A0092B-C50C-407E-A947-70E740481C1C}">
                <a14:useLocalDpi xmlns:a14="http://schemas.microsoft.com/office/drawing/2010/main" val="0"/>
              </a:ext>
            </a:extLst>
          </a:blip>
          <a:srcRect t="24406"/>
          <a:stretch/>
        </p:blipFill>
        <p:spPr>
          <a:xfrm>
            <a:off x="1248728" y="2757710"/>
            <a:ext cx="4301134" cy="1432438"/>
          </a:xfrm>
          <a:prstGeom prst="rect">
            <a:avLst/>
          </a:prstGeom>
        </p:spPr>
      </p:pic>
      <p:grpSp>
        <p:nvGrpSpPr>
          <p:cNvPr id="36" name="그룹 35">
            <a:extLst>
              <a:ext uri="{FF2B5EF4-FFF2-40B4-BE49-F238E27FC236}">
                <a16:creationId xmlns:a16="http://schemas.microsoft.com/office/drawing/2014/main" id="{FF608F73-2127-44E6-4945-3D75E18CC507}"/>
              </a:ext>
            </a:extLst>
          </p:cNvPr>
          <p:cNvGrpSpPr/>
          <p:nvPr/>
        </p:nvGrpSpPr>
        <p:grpSpPr>
          <a:xfrm>
            <a:off x="973293" y="4190148"/>
            <a:ext cx="4236005" cy="2511747"/>
            <a:chOff x="402497" y="3778213"/>
            <a:chExt cx="4969589" cy="2946727"/>
          </a:xfrm>
        </p:grpSpPr>
        <p:pic>
          <p:nvPicPr>
            <p:cNvPr id="37" name="그림 36" descr="화면 캡처">
              <a:extLst>
                <a:ext uri="{FF2B5EF4-FFF2-40B4-BE49-F238E27FC236}">
                  <a16:creationId xmlns:a16="http://schemas.microsoft.com/office/drawing/2014/main" id="{04B8EC58-7890-B886-9392-65966C33DA9B}"/>
                </a:ext>
              </a:extLst>
            </p:cNvPr>
            <p:cNvPicPr>
              <a:picLocks noChangeAspect="1"/>
            </p:cNvPicPr>
            <p:nvPr/>
          </p:nvPicPr>
          <p:blipFill rotWithShape="1">
            <a:blip r:embed="rId3">
              <a:extLst>
                <a:ext uri="{28A0092B-C50C-407E-A947-70E740481C1C}">
                  <a14:useLocalDpi xmlns:a14="http://schemas.microsoft.com/office/drawing/2010/main" val="0"/>
                </a:ext>
              </a:extLst>
            </a:blip>
            <a:srcRect r="51971" b="56605"/>
            <a:stretch/>
          </p:blipFill>
          <p:spPr>
            <a:xfrm>
              <a:off x="402497" y="3778213"/>
              <a:ext cx="2514285" cy="2400000"/>
            </a:xfrm>
            <a:prstGeom prst="rect">
              <a:avLst/>
            </a:prstGeom>
          </p:spPr>
        </p:pic>
        <p:pic>
          <p:nvPicPr>
            <p:cNvPr id="38" name="그림 37" descr="화면 캡처">
              <a:extLst>
                <a:ext uri="{FF2B5EF4-FFF2-40B4-BE49-F238E27FC236}">
                  <a16:creationId xmlns:a16="http://schemas.microsoft.com/office/drawing/2014/main" id="{FD5FA817-8EAE-5DE1-3D98-C4AD3B265E99}"/>
                </a:ext>
              </a:extLst>
            </p:cNvPr>
            <p:cNvPicPr>
              <a:picLocks noChangeAspect="1"/>
            </p:cNvPicPr>
            <p:nvPr/>
          </p:nvPicPr>
          <p:blipFill rotWithShape="1">
            <a:blip r:embed="rId3">
              <a:extLst>
                <a:ext uri="{28A0092B-C50C-407E-A947-70E740481C1C}">
                  <a14:useLocalDpi xmlns:a14="http://schemas.microsoft.com/office/drawing/2010/main" val="0"/>
                </a:ext>
              </a:extLst>
            </a:blip>
            <a:srcRect t="45499" r="51971" b="11143"/>
            <a:stretch/>
          </p:blipFill>
          <p:spPr>
            <a:xfrm>
              <a:off x="2855661" y="3778213"/>
              <a:ext cx="2516425" cy="2400000"/>
            </a:xfrm>
            <a:prstGeom prst="rect">
              <a:avLst/>
            </a:prstGeom>
          </p:spPr>
        </p:pic>
        <p:pic>
          <p:nvPicPr>
            <p:cNvPr id="39" name="그림 38" descr="화면 캡처">
              <a:extLst>
                <a:ext uri="{FF2B5EF4-FFF2-40B4-BE49-F238E27FC236}">
                  <a16:creationId xmlns:a16="http://schemas.microsoft.com/office/drawing/2014/main" id="{43F1C745-37EA-E79D-DCFF-DE2F6FF353EE}"/>
                </a:ext>
              </a:extLst>
            </p:cNvPr>
            <p:cNvPicPr>
              <a:picLocks noChangeAspect="1"/>
            </p:cNvPicPr>
            <p:nvPr/>
          </p:nvPicPr>
          <p:blipFill rotWithShape="1">
            <a:blip r:embed="rId3">
              <a:extLst>
                <a:ext uri="{28A0092B-C50C-407E-A947-70E740481C1C}">
                  <a14:useLocalDpi xmlns:a14="http://schemas.microsoft.com/office/drawing/2010/main" val="0"/>
                </a:ext>
              </a:extLst>
            </a:blip>
            <a:srcRect t="91494" r="668" b="240"/>
            <a:stretch/>
          </p:blipFill>
          <p:spPr>
            <a:xfrm>
              <a:off x="1003601" y="6340899"/>
              <a:ext cx="4368485" cy="384041"/>
            </a:xfrm>
            <a:prstGeom prst="rect">
              <a:avLst/>
            </a:prstGeom>
          </p:spPr>
        </p:pic>
      </p:grpSp>
      <p:sp>
        <p:nvSpPr>
          <p:cNvPr id="40" name="직사각형 39">
            <a:extLst>
              <a:ext uri="{FF2B5EF4-FFF2-40B4-BE49-F238E27FC236}">
                <a16:creationId xmlns:a16="http://schemas.microsoft.com/office/drawing/2014/main" id="{5BAE16C8-5986-AC5C-1CFD-89C931669282}"/>
              </a:ext>
            </a:extLst>
          </p:cNvPr>
          <p:cNvSpPr/>
          <p:nvPr/>
        </p:nvSpPr>
        <p:spPr>
          <a:xfrm>
            <a:off x="7057189" y="2997915"/>
            <a:ext cx="2988069" cy="553998"/>
          </a:xfrm>
          <a:prstGeom prst="rect">
            <a:avLst/>
          </a:prstGeom>
        </p:spPr>
        <p:txBody>
          <a:bodyPr wrap="square">
            <a:spAutoFit/>
          </a:bodyPr>
          <a:lstStyle/>
          <a:p>
            <a:pPr algn="ctr">
              <a:spcAft>
                <a:spcPts val="0"/>
              </a:spcAft>
            </a:pPr>
            <a:r>
              <a:rPr lang="en-US" altLang="ko-KR" sz="1500" b="1" kern="1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DEXA(GE Healthcare; Madison) </a:t>
            </a:r>
          </a:p>
          <a:p>
            <a:pPr algn="ctr">
              <a:spcAft>
                <a:spcPts val="0"/>
              </a:spcAft>
            </a:pPr>
            <a:r>
              <a:rPr lang="en-US" altLang="ko-KR" sz="1500" b="1" kern="1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vs InBody970, BWA2.0</a:t>
            </a:r>
            <a:endParaRPr lang="en-US" altLang="ko-KR" sz="1500" b="1" u="sng"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41" name="그림 40" descr="화면 캡처">
            <a:extLst>
              <a:ext uri="{FF2B5EF4-FFF2-40B4-BE49-F238E27FC236}">
                <a16:creationId xmlns:a16="http://schemas.microsoft.com/office/drawing/2014/main" id="{4A3052DA-B790-C5CF-3522-7E63BEE504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7487" y="3925876"/>
            <a:ext cx="5106113" cy="1514686"/>
          </a:xfrm>
          <a:prstGeom prst="rect">
            <a:avLst/>
          </a:prstGeom>
        </p:spPr>
      </p:pic>
      <p:pic>
        <p:nvPicPr>
          <p:cNvPr id="42" name="그림 41" descr="화면 캡처">
            <a:extLst>
              <a:ext uri="{FF2B5EF4-FFF2-40B4-BE49-F238E27FC236}">
                <a16:creationId xmlns:a16="http://schemas.microsoft.com/office/drawing/2014/main" id="{B88A06BD-3AE5-CCDF-C49B-3EF0CFFF61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0568" y="5358566"/>
            <a:ext cx="5077534" cy="647790"/>
          </a:xfrm>
          <a:prstGeom prst="rect">
            <a:avLst/>
          </a:prstGeom>
        </p:spPr>
      </p:pic>
      <p:sp>
        <p:nvSpPr>
          <p:cNvPr id="43" name="TextBox 42">
            <a:extLst>
              <a:ext uri="{FF2B5EF4-FFF2-40B4-BE49-F238E27FC236}">
                <a16:creationId xmlns:a16="http://schemas.microsoft.com/office/drawing/2014/main" id="{E39C1ACD-D15C-55BC-61CF-1C9E8252F0DA}"/>
              </a:ext>
            </a:extLst>
          </p:cNvPr>
          <p:cNvSpPr txBox="1"/>
          <p:nvPr/>
        </p:nvSpPr>
        <p:spPr>
          <a:xfrm>
            <a:off x="8476199" y="3965326"/>
            <a:ext cx="369332" cy="529868"/>
          </a:xfrm>
          <a:prstGeom prst="rect">
            <a:avLst/>
          </a:prstGeom>
          <a:noFill/>
        </p:spPr>
        <p:txBody>
          <a:bodyPr vert="eaVert" wrap="square" rtlCol="0">
            <a:spAutoFit/>
          </a:bodyPr>
          <a:lstStyle/>
          <a:p>
            <a:pPr algn="ctr"/>
            <a:r>
              <a:rPr lang="en-US" altLang="ko-KR" sz="1200" dirty="0"/>
              <a:t>…</a:t>
            </a:r>
            <a:endParaRPr lang="ko-KR" altLang="en-US" sz="1200" dirty="0"/>
          </a:p>
        </p:txBody>
      </p:sp>
      <p:sp>
        <p:nvSpPr>
          <p:cNvPr id="44" name="TextBox 43">
            <a:extLst>
              <a:ext uri="{FF2B5EF4-FFF2-40B4-BE49-F238E27FC236}">
                <a16:creationId xmlns:a16="http://schemas.microsoft.com/office/drawing/2014/main" id="{2C8619C4-B5CC-5EF4-8192-C0CE3CDA68A5}"/>
              </a:ext>
            </a:extLst>
          </p:cNvPr>
          <p:cNvSpPr txBox="1"/>
          <p:nvPr/>
        </p:nvSpPr>
        <p:spPr>
          <a:xfrm>
            <a:off x="8551224" y="6230661"/>
            <a:ext cx="369332" cy="529868"/>
          </a:xfrm>
          <a:prstGeom prst="rect">
            <a:avLst/>
          </a:prstGeom>
          <a:noFill/>
        </p:spPr>
        <p:txBody>
          <a:bodyPr vert="eaVert" wrap="square" rtlCol="0">
            <a:spAutoFit/>
          </a:bodyPr>
          <a:lstStyle/>
          <a:p>
            <a:pPr algn="ctr"/>
            <a:r>
              <a:rPr lang="en-US" altLang="ko-KR" sz="1200" dirty="0"/>
              <a:t>…</a:t>
            </a:r>
            <a:endParaRPr lang="ko-KR" altLang="en-US" sz="1200" dirty="0"/>
          </a:p>
        </p:txBody>
      </p:sp>
      <p:sp>
        <p:nvSpPr>
          <p:cNvPr id="45" name="TextBox 44">
            <a:extLst>
              <a:ext uri="{FF2B5EF4-FFF2-40B4-BE49-F238E27FC236}">
                <a16:creationId xmlns:a16="http://schemas.microsoft.com/office/drawing/2014/main" id="{2C10D130-2B32-C53C-E961-7550F8937D06}"/>
              </a:ext>
            </a:extLst>
          </p:cNvPr>
          <p:cNvSpPr txBox="1"/>
          <p:nvPr/>
        </p:nvSpPr>
        <p:spPr>
          <a:xfrm>
            <a:off x="10103237" y="6206826"/>
            <a:ext cx="1144865" cy="207749"/>
          </a:xfrm>
          <a:prstGeom prst="rect">
            <a:avLst/>
          </a:prstGeom>
          <a:noFill/>
        </p:spPr>
        <p:txBody>
          <a:bodyPr wrap="none">
            <a:spAutoFit/>
          </a:bodyPr>
          <a:lstStyle/>
          <a:p>
            <a:pPr algn="r"/>
            <a:r>
              <a:rPr lang="de-DE" altLang="ko-KR" sz="750" i="1" dirty="0"/>
              <a:t>Life 2022;12(994):1-12</a:t>
            </a:r>
          </a:p>
        </p:txBody>
      </p:sp>
      <p:pic>
        <p:nvPicPr>
          <p:cNvPr id="46" name="그림 45" descr="화면 캡처">
            <a:extLst>
              <a:ext uri="{FF2B5EF4-FFF2-40B4-BE49-F238E27FC236}">
                <a16:creationId xmlns:a16="http://schemas.microsoft.com/office/drawing/2014/main" id="{FAAB391F-84A9-19AB-C576-830769713F19}"/>
              </a:ext>
            </a:extLst>
          </p:cNvPr>
          <p:cNvPicPr>
            <a:picLocks noChangeAspect="1"/>
          </p:cNvPicPr>
          <p:nvPr/>
        </p:nvPicPr>
        <p:blipFill rotWithShape="1">
          <a:blip r:embed="rId2">
            <a:extLst>
              <a:ext uri="{28A0092B-C50C-407E-A947-70E740481C1C}">
                <a14:useLocalDpi xmlns:a14="http://schemas.microsoft.com/office/drawing/2010/main" val="0"/>
              </a:ext>
            </a:extLst>
          </a:blip>
          <a:srcRect r="86217" b="80212"/>
          <a:stretch/>
        </p:blipFill>
        <p:spPr>
          <a:xfrm>
            <a:off x="1119703" y="2392942"/>
            <a:ext cx="592804" cy="374963"/>
          </a:xfrm>
          <a:prstGeom prst="rect">
            <a:avLst/>
          </a:prstGeom>
        </p:spPr>
      </p:pic>
    </p:spTree>
    <p:extLst>
      <p:ext uri="{BB962C8B-B14F-4D97-AF65-F5344CB8AC3E}">
        <p14:creationId xmlns:p14="http://schemas.microsoft.com/office/powerpoint/2010/main" val="15840440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334580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9495740" cy="307777"/>
          </a:xfrm>
          <a:prstGeom prst="rect">
            <a:avLst/>
          </a:prstGeom>
          <a:noFill/>
        </p:spPr>
        <p:txBody>
          <a:bodyPr wrap="square">
            <a:spAutoFit/>
          </a:bodyPr>
          <a:lstStyle/>
          <a:p>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② Implementing simultaneous measurement of dual impedance with high reproducibility by 16-point touch.</a:t>
            </a:r>
          </a:p>
        </p:txBody>
      </p:sp>
      <p:pic>
        <p:nvPicPr>
          <p:cNvPr id="5" name="그림 4">
            <a:extLst>
              <a:ext uri="{FF2B5EF4-FFF2-40B4-BE49-F238E27FC236}">
                <a16:creationId xmlns:a16="http://schemas.microsoft.com/office/drawing/2014/main" id="{33D94CC8-52F0-2806-27A9-7B6202CCE6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111" y="3238161"/>
            <a:ext cx="4009517" cy="3066176"/>
          </a:xfrm>
          <a:prstGeom prst="rect">
            <a:avLst/>
          </a:prstGeom>
        </p:spPr>
      </p:pic>
      <p:pic>
        <p:nvPicPr>
          <p:cNvPr id="7" name="그림 6" descr="화면 캡처">
            <a:extLst>
              <a:ext uri="{FF2B5EF4-FFF2-40B4-BE49-F238E27FC236}">
                <a16:creationId xmlns:a16="http://schemas.microsoft.com/office/drawing/2014/main" id="{65D2ABAC-A814-F1FE-85AE-55584E937A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8422" y="3124669"/>
            <a:ext cx="2791215" cy="1448002"/>
          </a:xfrm>
          <a:prstGeom prst="rect">
            <a:avLst/>
          </a:prstGeom>
        </p:spPr>
      </p:pic>
      <p:pic>
        <p:nvPicPr>
          <p:cNvPr id="8" name="그림 7" descr="화면 캡처">
            <a:extLst>
              <a:ext uri="{FF2B5EF4-FFF2-40B4-BE49-F238E27FC236}">
                <a16:creationId xmlns:a16="http://schemas.microsoft.com/office/drawing/2014/main" id="{583B6CAE-759C-72E5-BCA5-34B82971F2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4501" y="4694387"/>
            <a:ext cx="2676899" cy="1609950"/>
          </a:xfrm>
          <a:prstGeom prst="rect">
            <a:avLst/>
          </a:prstGeom>
        </p:spPr>
      </p:pic>
      <p:pic>
        <p:nvPicPr>
          <p:cNvPr id="9" name="Picture 2" descr="D:\PPT\동그라미.png">
            <a:extLst>
              <a:ext uri="{FF2B5EF4-FFF2-40B4-BE49-F238E27FC236}">
                <a16:creationId xmlns:a16="http://schemas.microsoft.com/office/drawing/2014/main" id="{CC962413-235F-5E47-64AF-6FA09945053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17121" y="3345967"/>
            <a:ext cx="1009284" cy="114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D:\PPT\동그라미.png">
            <a:extLst>
              <a:ext uri="{FF2B5EF4-FFF2-40B4-BE49-F238E27FC236}">
                <a16:creationId xmlns:a16="http://schemas.microsoft.com/office/drawing/2014/main" id="{F8E30479-D52E-8946-8D72-D9F8CE8EFA3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35635" y="5077278"/>
            <a:ext cx="1009284" cy="114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8F19D0D7-1473-752E-7D6F-E920BB9CE998}"/>
              </a:ext>
            </a:extLst>
          </p:cNvPr>
          <p:cNvSpPr txBox="1"/>
          <p:nvPr/>
        </p:nvSpPr>
        <p:spPr>
          <a:xfrm>
            <a:off x="6339347" y="4372519"/>
            <a:ext cx="2173104" cy="892552"/>
          </a:xfrm>
          <a:prstGeom prst="rect">
            <a:avLst/>
          </a:prstGeom>
          <a:noFill/>
        </p:spPr>
        <p:txBody>
          <a:bodyPr wrap="square" rtlCol="0">
            <a:spAutoFit/>
          </a:bodyPr>
          <a:lstStyle/>
          <a:p>
            <a:r>
              <a:rPr lang="en-US" altLang="ko-KR" sz="1300" dirty="0">
                <a:solidFill>
                  <a:schemeClr val="tx1">
                    <a:lumMod val="50000"/>
                    <a:lumOff val="50000"/>
                  </a:schemeClr>
                </a:solidFill>
              </a:rPr>
              <a:t>Inside wrist, ankle electrode contact </a:t>
            </a:r>
          </a:p>
          <a:p>
            <a:r>
              <a:rPr lang="en-US" altLang="ko-KR" sz="1300" dirty="0">
                <a:solidFill>
                  <a:schemeClr val="tx1">
                    <a:lumMod val="50000"/>
                    <a:lumOff val="50000"/>
                  </a:schemeClr>
                </a:solidFill>
              </a:rPr>
              <a:t>&amp; voltage </a:t>
            </a:r>
          </a:p>
          <a:p>
            <a:r>
              <a:rPr lang="en-US" altLang="ko-KR" sz="1300" dirty="0">
                <a:solidFill>
                  <a:schemeClr val="tx1">
                    <a:lumMod val="50000"/>
                    <a:lumOff val="50000"/>
                  </a:schemeClr>
                </a:solidFill>
              </a:rPr>
              <a:t>measurement start</a:t>
            </a:r>
            <a:endParaRPr lang="ko-KR" altLang="en-US" sz="1300" dirty="0">
              <a:solidFill>
                <a:schemeClr val="tx1">
                  <a:lumMod val="50000"/>
                  <a:lumOff val="50000"/>
                </a:schemeClr>
              </a:solidFill>
            </a:endParaRPr>
          </a:p>
        </p:txBody>
      </p:sp>
      <p:cxnSp>
        <p:nvCxnSpPr>
          <p:cNvPr id="12" name="직선 연결선 11">
            <a:extLst>
              <a:ext uri="{FF2B5EF4-FFF2-40B4-BE49-F238E27FC236}">
                <a16:creationId xmlns:a16="http://schemas.microsoft.com/office/drawing/2014/main" id="{2ACCBA67-58B1-5D25-9E15-BC000E811CC6}"/>
              </a:ext>
            </a:extLst>
          </p:cNvPr>
          <p:cNvCxnSpPr/>
          <p:nvPr/>
        </p:nvCxnSpPr>
        <p:spPr>
          <a:xfrm>
            <a:off x="6321763" y="3989627"/>
            <a:ext cx="452925"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86098B6-A824-0E1F-B119-47DC9353F3F6}"/>
              </a:ext>
            </a:extLst>
          </p:cNvPr>
          <p:cNvCxnSpPr/>
          <p:nvPr/>
        </p:nvCxnSpPr>
        <p:spPr>
          <a:xfrm>
            <a:off x="6227944" y="5649491"/>
            <a:ext cx="5400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5AF4CE06-0502-4E6E-FA00-08BC5007D954}"/>
              </a:ext>
            </a:extLst>
          </p:cNvPr>
          <p:cNvCxnSpPr/>
          <p:nvPr/>
        </p:nvCxnSpPr>
        <p:spPr>
          <a:xfrm rot="5400000">
            <a:off x="6602351" y="4165369"/>
            <a:ext cx="3600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ABFD818A-FB2C-17AA-4F69-997F7A7D967A}"/>
              </a:ext>
            </a:extLst>
          </p:cNvPr>
          <p:cNvCxnSpPr/>
          <p:nvPr/>
        </p:nvCxnSpPr>
        <p:spPr>
          <a:xfrm rot="5400000">
            <a:off x="6587944" y="5469491"/>
            <a:ext cx="3600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ADC0713-C4B1-B122-4D68-D0DDAB6DD9EC}"/>
              </a:ext>
            </a:extLst>
          </p:cNvPr>
          <p:cNvSpPr txBox="1"/>
          <p:nvPr/>
        </p:nvSpPr>
        <p:spPr>
          <a:xfrm>
            <a:off x="930392" y="1597944"/>
            <a:ext cx="11261608" cy="1665584"/>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panose="020B0604020202020204" pitchFamily="34" charset="0"/>
              <a:buChar char="•"/>
            </a:pPr>
            <a:r>
              <a:rPr lang="en-US" altLang="ko-KR" sz="1400" dirty="0">
                <a:solidFill>
                  <a:schemeClr val="tx1">
                    <a:lumMod val="75000"/>
                    <a:lumOff val="25000"/>
                  </a:schemeClr>
                </a:solidFill>
                <a:latin typeface="Lato" panose="020F0502020204030203" pitchFamily="34" charset="0"/>
                <a:ea typeface="맑은 고딕"/>
                <a:cs typeface="Lato" panose="020F0502020204030203" pitchFamily="34" charset="0"/>
              </a:rPr>
              <a:t>The BWA clamp electrodes, featuring a structure combining two clamp electrodes, include an indicator function that allows attachment between the wrist and ankle bones, ensuring high reproducibility during measurements.</a:t>
            </a:r>
          </a:p>
          <a:p>
            <a:pPr marL="285750" indent="-285750" algn="just">
              <a:lnSpc>
                <a:spcPct val="150000"/>
              </a:lnSpc>
              <a:buFont typeface="Arial" panose="020B0604020202020204" pitchFamily="34" charset="0"/>
              <a:buChar char="•"/>
            </a:pPr>
            <a:r>
              <a:rPr lang="en-US" altLang="ko-KR" sz="1400" dirty="0">
                <a:solidFill>
                  <a:schemeClr val="tx1">
                    <a:lumMod val="75000"/>
                    <a:lumOff val="25000"/>
                  </a:schemeClr>
                </a:solidFill>
                <a:latin typeface="Lato" panose="020F0502020204030203" pitchFamily="34" charset="0"/>
                <a:ea typeface="맑은 고딕"/>
                <a:cs typeface="Lato" panose="020F0502020204030203" pitchFamily="34" charset="0"/>
                <a:sym typeface="Wingdings" panose="05000000000000000000" pitchFamily="2" charset="2"/>
              </a:rPr>
              <a:t>The electrodes are designed ergonomically to ensure adherence even during joint movement, enabling accurate measurements.</a:t>
            </a:r>
          </a:p>
          <a:p>
            <a:pPr marL="285750" indent="-285750" algn="just">
              <a:lnSpc>
                <a:spcPct val="150000"/>
              </a:lnSpc>
              <a:buFont typeface="Arial" panose="020B0604020202020204" pitchFamily="34" charset="0"/>
              <a:buChar char="•"/>
            </a:pPr>
            <a:r>
              <a:rPr lang="en-US" altLang="ko-KR" sz="1400" dirty="0">
                <a:solidFill>
                  <a:schemeClr val="tx1">
                    <a:lumMod val="75000"/>
                    <a:lumOff val="25000"/>
                  </a:schemeClr>
                </a:solidFill>
                <a:latin typeface="Lato" panose="020F0502020204030203" pitchFamily="34" charset="0"/>
                <a:ea typeface="맑은 고딕"/>
                <a:cs typeface="Lato" panose="020F0502020204030203" pitchFamily="34" charset="0"/>
                <a:sym typeface="Wingdings" panose="05000000000000000000" pitchFamily="2" charset="2"/>
              </a:rPr>
              <a:t>Simultaneous measurement of impedance at both the central and proximal areas allows for the assessment of edema in the wrists and ankles, enabling the utilization of clinical indicators.</a:t>
            </a:r>
            <a:endParaRPr lang="en-US" altLang="ko-KR" sz="1400" dirty="0">
              <a:solidFill>
                <a:schemeClr val="tx1">
                  <a:lumMod val="75000"/>
                  <a:lumOff val="25000"/>
                </a:schemeClr>
              </a:solidFill>
              <a:latin typeface="Lato" panose="020F0502020204030203" pitchFamily="34" charset="0"/>
              <a:ea typeface="Lato" panose="020F0502020204030203" pitchFamily="34" charset="0"/>
              <a:cs typeface="Lato" panose="020F0502020204030203" pitchFamily="34" charset="0"/>
            </a:endParaRPr>
          </a:p>
        </p:txBody>
      </p:sp>
      <p:pic>
        <p:nvPicPr>
          <p:cNvPr id="17" name="그림 16">
            <a:extLst>
              <a:ext uri="{FF2B5EF4-FFF2-40B4-BE49-F238E27FC236}">
                <a16:creationId xmlns:a16="http://schemas.microsoft.com/office/drawing/2014/main" id="{A548F2CD-56A3-CAC3-A770-6349556AAC9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25707" b="19038"/>
          <a:stretch/>
        </p:blipFill>
        <p:spPr>
          <a:xfrm>
            <a:off x="8512451" y="3553459"/>
            <a:ext cx="3074922" cy="2265408"/>
          </a:xfrm>
          <a:prstGeom prst="rect">
            <a:avLst/>
          </a:prstGeom>
        </p:spPr>
      </p:pic>
      <p:sp>
        <p:nvSpPr>
          <p:cNvPr id="18" name="TextBox 17">
            <a:extLst>
              <a:ext uri="{FF2B5EF4-FFF2-40B4-BE49-F238E27FC236}">
                <a16:creationId xmlns:a16="http://schemas.microsoft.com/office/drawing/2014/main" id="{6209FC3B-27BA-87F6-89EE-00EBA48BB417}"/>
              </a:ext>
            </a:extLst>
          </p:cNvPr>
          <p:cNvSpPr txBox="1"/>
          <p:nvPr/>
        </p:nvSpPr>
        <p:spPr>
          <a:xfrm>
            <a:off x="9156077" y="5818867"/>
            <a:ext cx="1784463" cy="246221"/>
          </a:xfrm>
          <a:prstGeom prst="rect">
            <a:avLst/>
          </a:prstGeom>
          <a:noFill/>
        </p:spPr>
        <p:txBody>
          <a:bodyPr wrap="none" rtlCol="0">
            <a:spAutoFit/>
          </a:bodyPr>
          <a:lstStyle/>
          <a:p>
            <a:r>
              <a:rPr lang="en-US" altLang="ko-KR" sz="1000" dirty="0">
                <a:latin typeface="+mj-lt"/>
              </a:rPr>
              <a:t>&lt;4 electrodes on 1 clamp&gt;</a:t>
            </a:r>
            <a:endParaRPr lang="ko-KR" altLang="en-US" sz="1000" dirty="0">
              <a:latin typeface="+mj-lt"/>
            </a:endParaRPr>
          </a:p>
        </p:txBody>
      </p:sp>
    </p:spTree>
    <p:extLst>
      <p:ext uri="{BB962C8B-B14F-4D97-AF65-F5344CB8AC3E}">
        <p14:creationId xmlns:p14="http://schemas.microsoft.com/office/powerpoint/2010/main" val="9385126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700676"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dirty="0">
                <a:solidFill>
                  <a:srgbClr val="A0112D"/>
                </a:solidFill>
                <a:latin typeface="Lato Bold" panose="020F0502020204030203" pitchFamily="34" charset="0"/>
                <a:ea typeface="Lato Bold" panose="020F0502020204030203" pitchFamily="34" charset="0"/>
                <a:cs typeface="Lato Bold" panose="020F0502020204030203" pitchFamily="34" charset="0"/>
              </a:rPr>
              <a:t>③ </a:t>
            </a:r>
            <a:r>
              <a:rPr lang="ko-KR" altLang="en-US" sz="1400" dirty="0">
                <a:solidFill>
                  <a:srgbClr val="A0112D"/>
                </a:solidFill>
                <a:latin typeface="Lato Bold" panose="020F0502020204030203" pitchFamily="34" charset="0"/>
                <a:ea typeface="맑은 고딕" panose="020B0503020000020004" pitchFamily="50" charset="-127"/>
                <a:cs typeface="Lato Bold" panose="020F0502020204030203" pitchFamily="34" charset="0"/>
              </a:rPr>
              <a:t> </a:t>
            </a:r>
            <a:r>
              <a:rPr lang="en-US" altLang="ko-KR" sz="1400" dirty="0">
                <a:solidFill>
                  <a:srgbClr val="A0112D"/>
                </a:solidFill>
                <a:latin typeface="Lato Bold" panose="020F0502020204030203" pitchFamily="34" charset="0"/>
                <a:ea typeface="Lato Bold" panose="020F0502020204030203" pitchFamily="34" charset="0"/>
                <a:cs typeface="Lato Bold" panose="020F0502020204030203" pitchFamily="34" charset="0"/>
              </a:rPr>
              <a:t>Amputation Measurement  Technology</a:t>
            </a:r>
          </a:p>
        </p:txBody>
      </p:sp>
      <p:pic>
        <p:nvPicPr>
          <p:cNvPr id="6" name="그림 5">
            <a:extLst>
              <a:ext uri="{FF2B5EF4-FFF2-40B4-BE49-F238E27FC236}">
                <a16:creationId xmlns:a16="http://schemas.microsoft.com/office/drawing/2014/main" id="{DEEED496-36AA-57A1-A46F-3B6CC1A70F5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972" t="22342" b="13273"/>
          <a:stretch/>
        </p:blipFill>
        <p:spPr>
          <a:xfrm>
            <a:off x="2001781" y="3283191"/>
            <a:ext cx="2797548" cy="2842054"/>
          </a:xfrm>
          <a:prstGeom prst="rect">
            <a:avLst/>
          </a:prstGeom>
        </p:spPr>
      </p:pic>
      <p:sp>
        <p:nvSpPr>
          <p:cNvPr id="19" name="TextBox 18">
            <a:extLst>
              <a:ext uri="{FF2B5EF4-FFF2-40B4-BE49-F238E27FC236}">
                <a16:creationId xmlns:a16="http://schemas.microsoft.com/office/drawing/2014/main" id="{47672CE2-2A90-49DE-14AA-BDEA2DF5D413}"/>
              </a:ext>
            </a:extLst>
          </p:cNvPr>
          <p:cNvSpPr txBox="1"/>
          <p:nvPr/>
        </p:nvSpPr>
        <p:spPr>
          <a:xfrm>
            <a:off x="953496" y="1593937"/>
            <a:ext cx="10705104" cy="166654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panose="020B0604020202020204" pitchFamily="34" charset="0"/>
              <a:buChar char="•"/>
            </a:pPr>
            <a:r>
              <a:rPr lang="en-US" altLang="ko-KR" sz="1400" dirty="0">
                <a:solidFill>
                  <a:schemeClr val="tx1">
                    <a:lumMod val="75000"/>
                    <a:lumOff val="25000"/>
                  </a:schemeClr>
                </a:solidFill>
                <a:latin typeface="+mj-lt"/>
                <a:ea typeface="맑은 고딕"/>
              </a:rPr>
              <a:t>Even in special patient groups such as dialysis patients, lymphedema patients, and amputees, accurate body composition data can now be utilized by inputting information regarding amputation or paralysis areas, lymphedema, and vascular access sites during measurements, overcoming the limitations in the utilization of existing body composition measurement and data.</a:t>
            </a:r>
          </a:p>
          <a:p>
            <a:pPr marL="285750" indent="-285750" algn="just">
              <a:lnSpc>
                <a:spcPct val="150000"/>
              </a:lnSpc>
              <a:buFont typeface="Arial" panose="020B0604020202020204" pitchFamily="34" charset="0"/>
              <a:buChar char="•"/>
            </a:pPr>
            <a:r>
              <a:rPr lang="en-US" altLang="ko-KR" sz="1400" dirty="0">
                <a:solidFill>
                  <a:schemeClr val="tx1">
                    <a:lumMod val="75000"/>
                    <a:lumOff val="25000"/>
                  </a:schemeClr>
                </a:solidFill>
                <a:latin typeface="+mj-lt"/>
                <a:ea typeface="맑은 고딕"/>
              </a:rPr>
              <a:t>The ability to measure while in a seated position enables even individuals using wheelchairs to undergo measurement and utilize the data.</a:t>
            </a:r>
            <a:endParaRPr lang="en-US" altLang="ko-KR" sz="1400" dirty="0">
              <a:solidFill>
                <a:schemeClr val="tx1">
                  <a:lumMod val="75000"/>
                  <a:lumOff val="25000"/>
                </a:schemeClr>
              </a:solidFill>
              <a:latin typeface="+mj-lt"/>
            </a:endParaRPr>
          </a:p>
        </p:txBody>
      </p:sp>
      <p:pic>
        <p:nvPicPr>
          <p:cNvPr id="5" name="그림 4">
            <a:extLst>
              <a:ext uri="{FF2B5EF4-FFF2-40B4-BE49-F238E27FC236}">
                <a16:creationId xmlns:a16="http://schemas.microsoft.com/office/drawing/2014/main" id="{6BFD8D49-150B-6B3D-41D6-6CCD811EAB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3442" y="2946681"/>
            <a:ext cx="5624118" cy="3515074"/>
          </a:xfrm>
          <a:prstGeom prst="rect">
            <a:avLst/>
          </a:prstGeom>
        </p:spPr>
      </p:pic>
    </p:spTree>
    <p:extLst>
      <p:ext uri="{BB962C8B-B14F-4D97-AF65-F5344CB8AC3E}">
        <p14:creationId xmlns:p14="http://schemas.microsoft.com/office/powerpoint/2010/main" val="1304533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그룹 13">
            <a:extLst>
              <a:ext uri="{FF2B5EF4-FFF2-40B4-BE49-F238E27FC236}">
                <a16:creationId xmlns:a16="http://schemas.microsoft.com/office/drawing/2014/main" id="{C5C5DAD2-40F6-3811-2116-026AC2132A07}"/>
              </a:ext>
            </a:extLst>
          </p:cNvPr>
          <p:cNvGrpSpPr/>
          <p:nvPr/>
        </p:nvGrpSpPr>
        <p:grpSpPr>
          <a:xfrm>
            <a:off x="6451917" y="0"/>
            <a:ext cx="4868883" cy="6858000"/>
            <a:chOff x="6451917" y="0"/>
            <a:chExt cx="4868883" cy="6858000"/>
          </a:xfrm>
        </p:grpSpPr>
        <p:pic>
          <p:nvPicPr>
            <p:cNvPr id="8" name="그림 7">
              <a:extLst>
                <a:ext uri="{FF2B5EF4-FFF2-40B4-BE49-F238E27FC236}">
                  <a16:creationId xmlns:a16="http://schemas.microsoft.com/office/drawing/2014/main" id="{27AC2C97-6939-7A95-D9FA-08D2756978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51917" y="0"/>
              <a:ext cx="4868883" cy="6858000"/>
            </a:xfrm>
            <a:prstGeom prst="rect">
              <a:avLst/>
            </a:prstGeom>
          </p:spPr>
        </p:pic>
        <p:sp>
          <p:nvSpPr>
            <p:cNvPr id="13" name="직사각형 12">
              <a:extLst>
                <a:ext uri="{FF2B5EF4-FFF2-40B4-BE49-F238E27FC236}">
                  <a16:creationId xmlns:a16="http://schemas.microsoft.com/office/drawing/2014/main" id="{DB2E382F-E977-8601-D87E-924FACEE3B02}"/>
                </a:ext>
              </a:extLst>
            </p:cNvPr>
            <p:cNvSpPr/>
            <p:nvPr/>
          </p:nvSpPr>
          <p:spPr>
            <a:xfrm>
              <a:off x="6665976" y="610600"/>
              <a:ext cx="457200" cy="162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3015908"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③ </a:t>
            </a:r>
            <a:r>
              <a:rPr lang="en-US" altLang="ko-KR" sz="1400" dirty="0">
                <a:solidFill>
                  <a:srgbClr val="A0112D"/>
                </a:solidFill>
                <a:latin typeface="Lato Black" panose="020F0502020204030203" pitchFamily="34" charset="0"/>
                <a:ea typeface="맑은 고딕" panose="020B0503020000020004" pitchFamily="50" charset="-127"/>
                <a:cs typeface="Lato Black" panose="020F0502020204030203" pitchFamily="34" charset="0"/>
              </a:rPr>
              <a:t>Amputation Measurement Technology</a:t>
            </a:r>
            <a:endPar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7" name="그림 6">
            <a:extLst>
              <a:ext uri="{FF2B5EF4-FFF2-40B4-BE49-F238E27FC236}">
                <a16:creationId xmlns:a16="http://schemas.microsoft.com/office/drawing/2014/main" id="{F41E26F4-4185-4326-476A-25ED5255A4A0}"/>
              </a:ext>
            </a:extLst>
          </p:cNvPr>
          <p:cNvPicPr/>
          <p:nvPr/>
        </p:nvPicPr>
        <p:blipFill rotWithShape="1">
          <a:blip r:embed="rId3" cstate="print">
            <a:extLst>
              <a:ext uri="{28A0092B-C50C-407E-A947-70E740481C1C}">
                <a14:useLocalDpi xmlns:a14="http://schemas.microsoft.com/office/drawing/2010/main" val="0"/>
              </a:ext>
            </a:extLst>
          </a:blip>
          <a:srcRect l="3097" b="20623"/>
          <a:stretch/>
        </p:blipFill>
        <p:spPr bwMode="auto">
          <a:xfrm>
            <a:off x="1031267" y="2034245"/>
            <a:ext cx="5108976" cy="4185374"/>
          </a:xfrm>
          <a:prstGeom prst="rect">
            <a:avLst/>
          </a:prstGeom>
          <a:ln>
            <a:noFill/>
          </a:ln>
          <a:extLst>
            <a:ext uri="{53640926-AAD7-44D8-BBD7-CCE9431645EC}">
              <a14:shadowObscured xmlns:a14="http://schemas.microsoft.com/office/drawing/2010/main"/>
            </a:ext>
          </a:extLst>
        </p:spPr>
      </p:pic>
      <p:sp>
        <p:nvSpPr>
          <p:cNvPr id="9" name="직사각형 8">
            <a:extLst>
              <a:ext uri="{FF2B5EF4-FFF2-40B4-BE49-F238E27FC236}">
                <a16:creationId xmlns:a16="http://schemas.microsoft.com/office/drawing/2014/main" id="{22558C08-FB3A-C7A9-2A3E-C6F566831972}"/>
              </a:ext>
            </a:extLst>
          </p:cNvPr>
          <p:cNvSpPr/>
          <p:nvPr/>
        </p:nvSpPr>
        <p:spPr>
          <a:xfrm>
            <a:off x="6665976" y="2542032"/>
            <a:ext cx="2798064" cy="247025"/>
          </a:xfrm>
          <a:prstGeom prst="rect">
            <a:avLst/>
          </a:prstGeom>
          <a:noFill/>
          <a:ln w="19050">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8A4A3E82-E701-B773-2569-37B273AAB5F8}"/>
              </a:ext>
            </a:extLst>
          </p:cNvPr>
          <p:cNvSpPr/>
          <p:nvPr/>
        </p:nvSpPr>
        <p:spPr>
          <a:xfrm>
            <a:off x="7269480" y="3879907"/>
            <a:ext cx="548640" cy="1185869"/>
          </a:xfrm>
          <a:prstGeom prst="rect">
            <a:avLst/>
          </a:prstGeom>
          <a:noFill/>
          <a:ln w="19050">
            <a:solidFill>
              <a:srgbClr val="A011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768339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796043"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dirty="0">
                <a:solidFill>
                  <a:srgbClr val="A0112D"/>
                </a:solidFill>
                <a:latin typeface="Lato Bold" panose="020F0502020204030203" pitchFamily="34" charset="0"/>
                <a:ea typeface="Lato Bold" panose="020F0502020204030203" pitchFamily="34" charset="0"/>
                <a:cs typeface="Lato Bold" panose="020F0502020204030203" pitchFamily="34" charset="0"/>
              </a:rPr>
              <a:t>③ Amputation Measurement Technology</a:t>
            </a:r>
          </a:p>
        </p:txBody>
      </p:sp>
      <p:sp>
        <p:nvSpPr>
          <p:cNvPr id="5" name="TextBox 4">
            <a:extLst>
              <a:ext uri="{FF2B5EF4-FFF2-40B4-BE49-F238E27FC236}">
                <a16:creationId xmlns:a16="http://schemas.microsoft.com/office/drawing/2014/main" id="{35A237DD-A4C2-5798-20EA-05039157282F}"/>
              </a:ext>
            </a:extLst>
          </p:cNvPr>
          <p:cNvSpPr txBox="1"/>
          <p:nvPr/>
        </p:nvSpPr>
        <p:spPr>
          <a:xfrm>
            <a:off x="992540" y="4208881"/>
            <a:ext cx="2252908" cy="307777"/>
          </a:xfrm>
          <a:prstGeom prst="rect">
            <a:avLst/>
          </a:prstGeom>
          <a:solidFill>
            <a:schemeClr val="bg1"/>
          </a:solidFill>
        </p:spPr>
        <p:txBody>
          <a:bodyPr wrap="square" rtlCol="0">
            <a:spAutoFit/>
          </a:bodyPr>
          <a:lstStyle/>
          <a:p>
            <a:pPr algn="ctr"/>
            <a:endParaRPr lang="ko-KR" altLang="en-US" sz="1400" dirty="0">
              <a:latin typeface="Lato" panose="020F0502020204030203" pitchFamily="34" charset="0"/>
            </a:endParaRPr>
          </a:p>
        </p:txBody>
      </p:sp>
      <p:sp>
        <p:nvSpPr>
          <p:cNvPr id="6" name="직사각형 7">
            <a:extLst>
              <a:ext uri="{FF2B5EF4-FFF2-40B4-BE49-F238E27FC236}">
                <a16:creationId xmlns:a16="http://schemas.microsoft.com/office/drawing/2014/main" id="{E702559B-FC33-7C46-F15E-EF39080289C6}"/>
              </a:ext>
            </a:extLst>
          </p:cNvPr>
          <p:cNvSpPr/>
          <p:nvPr/>
        </p:nvSpPr>
        <p:spPr>
          <a:xfrm>
            <a:off x="1701271" y="3884544"/>
            <a:ext cx="4068000" cy="21411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0" name="그룹 9">
            <a:extLst>
              <a:ext uri="{FF2B5EF4-FFF2-40B4-BE49-F238E27FC236}">
                <a16:creationId xmlns:a16="http://schemas.microsoft.com/office/drawing/2014/main" id="{E8CF12B3-C77E-39E8-0400-8605D17BD432}"/>
              </a:ext>
            </a:extLst>
          </p:cNvPr>
          <p:cNvGrpSpPr/>
          <p:nvPr/>
        </p:nvGrpSpPr>
        <p:grpSpPr>
          <a:xfrm>
            <a:off x="1063765" y="1674118"/>
            <a:ext cx="5110227" cy="4961562"/>
            <a:chOff x="4675516" y="175722"/>
            <a:chExt cx="5620624" cy="5256185"/>
          </a:xfrm>
        </p:grpSpPr>
        <p:pic>
          <p:nvPicPr>
            <p:cNvPr id="11" name="그림 10">
              <a:extLst>
                <a:ext uri="{FF2B5EF4-FFF2-40B4-BE49-F238E27FC236}">
                  <a16:creationId xmlns:a16="http://schemas.microsoft.com/office/drawing/2014/main" id="{D9531FBD-9718-4215-548A-E8CAE3399B2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1346" b="22524"/>
            <a:stretch/>
          </p:blipFill>
          <p:spPr>
            <a:xfrm>
              <a:off x="4675516" y="175722"/>
              <a:ext cx="5620624" cy="5256183"/>
            </a:xfrm>
            <a:prstGeom prst="rect">
              <a:avLst/>
            </a:prstGeom>
          </p:spPr>
        </p:pic>
        <p:sp>
          <p:nvSpPr>
            <p:cNvPr id="13" name="직사각형 11">
              <a:extLst>
                <a:ext uri="{FF2B5EF4-FFF2-40B4-BE49-F238E27FC236}">
                  <a16:creationId xmlns:a16="http://schemas.microsoft.com/office/drawing/2014/main" id="{91FBF970-C35C-67E7-4E0C-EA81601308FA}"/>
                </a:ext>
              </a:extLst>
            </p:cNvPr>
            <p:cNvSpPr/>
            <p:nvPr/>
          </p:nvSpPr>
          <p:spPr>
            <a:xfrm>
              <a:off x="8257309" y="5089237"/>
              <a:ext cx="1655868" cy="342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4" name="Picture 2">
              <a:extLst>
                <a:ext uri="{FF2B5EF4-FFF2-40B4-BE49-F238E27FC236}">
                  <a16:creationId xmlns:a16="http://schemas.microsoft.com/office/drawing/2014/main" id="{94A4459C-BF4C-8878-4CD6-BC1DA10169E4}"/>
                </a:ext>
              </a:extLst>
            </p:cNvPr>
            <p:cNvPicPr>
              <a:picLocks noChangeAspect="1" noChangeArrowheads="1"/>
            </p:cNvPicPr>
            <p:nvPr/>
          </p:nvPicPr>
          <p:blipFill rotWithShape="1">
            <a:blip r:embed="rId3" cstate="print"/>
            <a:srcRect l="67701" t="80449" r="7714" b="16076"/>
            <a:stretch/>
          </p:blipFill>
          <p:spPr bwMode="auto">
            <a:xfrm>
              <a:off x="8287786" y="5089238"/>
              <a:ext cx="1592377" cy="318736"/>
            </a:xfrm>
            <a:prstGeom prst="rect">
              <a:avLst/>
            </a:prstGeom>
            <a:noFill/>
            <a:ln w="9525">
              <a:noFill/>
              <a:miter lim="800000"/>
              <a:headEnd/>
              <a:tailEnd/>
            </a:ln>
            <a:effectLst/>
          </p:spPr>
        </p:pic>
      </p:grpSp>
      <p:sp>
        <p:nvSpPr>
          <p:cNvPr id="15" name="직사각형 13">
            <a:extLst>
              <a:ext uri="{FF2B5EF4-FFF2-40B4-BE49-F238E27FC236}">
                <a16:creationId xmlns:a16="http://schemas.microsoft.com/office/drawing/2014/main" id="{DFF9CA4E-A9F1-D327-51B4-5E7706A07374}"/>
              </a:ext>
            </a:extLst>
          </p:cNvPr>
          <p:cNvSpPr/>
          <p:nvPr/>
        </p:nvSpPr>
        <p:spPr>
          <a:xfrm>
            <a:off x="1184226" y="1674121"/>
            <a:ext cx="3024554" cy="2930503"/>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4">
            <a:extLst>
              <a:ext uri="{FF2B5EF4-FFF2-40B4-BE49-F238E27FC236}">
                <a16:creationId xmlns:a16="http://schemas.microsoft.com/office/drawing/2014/main" id="{37B1C4CB-B727-17EA-9F00-6012620B5019}"/>
              </a:ext>
            </a:extLst>
          </p:cNvPr>
          <p:cNvSpPr/>
          <p:nvPr/>
        </p:nvSpPr>
        <p:spPr>
          <a:xfrm>
            <a:off x="1184226" y="5573472"/>
            <a:ext cx="3024554" cy="259590"/>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5">
            <a:extLst>
              <a:ext uri="{FF2B5EF4-FFF2-40B4-BE49-F238E27FC236}">
                <a16:creationId xmlns:a16="http://schemas.microsoft.com/office/drawing/2014/main" id="{5157E117-6095-D940-579C-B8CC580E14B0}"/>
              </a:ext>
            </a:extLst>
          </p:cNvPr>
          <p:cNvSpPr/>
          <p:nvPr/>
        </p:nvSpPr>
        <p:spPr>
          <a:xfrm>
            <a:off x="1184226" y="6132284"/>
            <a:ext cx="3024554" cy="503396"/>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6">
            <a:extLst>
              <a:ext uri="{FF2B5EF4-FFF2-40B4-BE49-F238E27FC236}">
                <a16:creationId xmlns:a16="http://schemas.microsoft.com/office/drawing/2014/main" id="{AD6A77B6-A341-48D1-05AF-98223E60DBE9}"/>
              </a:ext>
            </a:extLst>
          </p:cNvPr>
          <p:cNvSpPr/>
          <p:nvPr/>
        </p:nvSpPr>
        <p:spPr>
          <a:xfrm>
            <a:off x="4256994" y="1674119"/>
            <a:ext cx="1662112" cy="3492000"/>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TextBox 25">
            <a:extLst>
              <a:ext uri="{FF2B5EF4-FFF2-40B4-BE49-F238E27FC236}">
                <a16:creationId xmlns:a16="http://schemas.microsoft.com/office/drawing/2014/main" id="{8CD64237-30E9-4B10-EFDB-7C6DAC27A9FC}"/>
              </a:ext>
            </a:extLst>
          </p:cNvPr>
          <p:cNvSpPr txBox="1"/>
          <p:nvPr/>
        </p:nvSpPr>
        <p:spPr>
          <a:xfrm>
            <a:off x="6579448" y="4111304"/>
            <a:ext cx="2252908" cy="307777"/>
          </a:xfrm>
          <a:prstGeom prst="rect">
            <a:avLst/>
          </a:prstGeom>
          <a:solidFill>
            <a:schemeClr val="bg1"/>
          </a:solidFill>
        </p:spPr>
        <p:txBody>
          <a:bodyPr wrap="square" rtlCol="0">
            <a:spAutoFit/>
          </a:bodyPr>
          <a:lstStyle/>
          <a:p>
            <a:pPr algn="ctr"/>
            <a:endParaRPr lang="ko-KR" altLang="en-US" sz="1400" dirty="0">
              <a:latin typeface="Lato" panose="020F0502020204030203" pitchFamily="34" charset="0"/>
            </a:endParaRPr>
          </a:p>
        </p:txBody>
      </p:sp>
      <p:pic>
        <p:nvPicPr>
          <p:cNvPr id="27" name="그림 6">
            <a:extLst>
              <a:ext uri="{FF2B5EF4-FFF2-40B4-BE49-F238E27FC236}">
                <a16:creationId xmlns:a16="http://schemas.microsoft.com/office/drawing/2014/main" id="{97DE18A6-1D2C-C17B-170E-160FB04102E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065" t="11227" r="2225" b="22542"/>
          <a:stretch/>
        </p:blipFill>
        <p:spPr>
          <a:xfrm rot="60000">
            <a:off x="6424365" y="1653303"/>
            <a:ext cx="4812158" cy="4809378"/>
          </a:xfrm>
          <a:prstGeom prst="rect">
            <a:avLst/>
          </a:prstGeom>
        </p:spPr>
      </p:pic>
      <p:sp>
        <p:nvSpPr>
          <p:cNvPr id="30" name="직사각형 11">
            <a:extLst>
              <a:ext uri="{FF2B5EF4-FFF2-40B4-BE49-F238E27FC236}">
                <a16:creationId xmlns:a16="http://schemas.microsoft.com/office/drawing/2014/main" id="{58F6EE15-87F8-CAA8-C970-B7F8623468AD}"/>
              </a:ext>
            </a:extLst>
          </p:cNvPr>
          <p:cNvSpPr/>
          <p:nvPr/>
        </p:nvSpPr>
        <p:spPr>
          <a:xfrm>
            <a:off x="6453744" y="5409854"/>
            <a:ext cx="3024554" cy="252000"/>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15">
            <a:extLst>
              <a:ext uri="{FF2B5EF4-FFF2-40B4-BE49-F238E27FC236}">
                <a16:creationId xmlns:a16="http://schemas.microsoft.com/office/drawing/2014/main" id="{13A7D195-2D3E-3AC2-EF45-D45E7D20F30C}"/>
              </a:ext>
            </a:extLst>
          </p:cNvPr>
          <p:cNvSpPr/>
          <p:nvPr/>
        </p:nvSpPr>
        <p:spPr>
          <a:xfrm>
            <a:off x="9534059" y="3674741"/>
            <a:ext cx="1662112" cy="547523"/>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16">
            <a:extLst>
              <a:ext uri="{FF2B5EF4-FFF2-40B4-BE49-F238E27FC236}">
                <a16:creationId xmlns:a16="http://schemas.microsoft.com/office/drawing/2014/main" id="{B33E7336-FFE2-6EBE-BEC6-7AF1B2100FD6}"/>
              </a:ext>
            </a:extLst>
          </p:cNvPr>
          <p:cNvSpPr/>
          <p:nvPr/>
        </p:nvSpPr>
        <p:spPr>
          <a:xfrm>
            <a:off x="9534059" y="4912414"/>
            <a:ext cx="1662112" cy="140800"/>
          </a:xfrm>
          <a:prstGeom prst="rect">
            <a:avLst/>
          </a:prstGeom>
          <a:solidFill>
            <a:srgbClr val="91001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ectangle 28">
            <a:extLst>
              <a:ext uri="{FF2B5EF4-FFF2-40B4-BE49-F238E27FC236}">
                <a16:creationId xmlns:a16="http://schemas.microsoft.com/office/drawing/2014/main" id="{DC25C31D-67E3-CDCE-B2C5-796316B4F2A0}"/>
              </a:ext>
            </a:extLst>
          </p:cNvPr>
          <p:cNvSpPr/>
          <p:nvPr/>
        </p:nvSpPr>
        <p:spPr>
          <a:xfrm>
            <a:off x="9509440" y="6026332"/>
            <a:ext cx="1776232" cy="568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사각형: 둥근 모서리 40">
            <a:extLst>
              <a:ext uri="{FF2B5EF4-FFF2-40B4-BE49-F238E27FC236}">
                <a16:creationId xmlns:a16="http://schemas.microsoft.com/office/drawing/2014/main" id="{BA371E59-D11A-F709-0CFF-664BBFD3D488}"/>
              </a:ext>
            </a:extLst>
          </p:cNvPr>
          <p:cNvSpPr/>
          <p:nvPr/>
        </p:nvSpPr>
        <p:spPr>
          <a:xfrm>
            <a:off x="4977348" y="1559285"/>
            <a:ext cx="1233246" cy="291636"/>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TextBox 38">
            <a:extLst>
              <a:ext uri="{FF2B5EF4-FFF2-40B4-BE49-F238E27FC236}">
                <a16:creationId xmlns:a16="http://schemas.microsoft.com/office/drawing/2014/main" id="{DE11EB06-5008-FAD3-63D4-D441418ABB8E}"/>
              </a:ext>
            </a:extLst>
          </p:cNvPr>
          <p:cNvSpPr txBox="1"/>
          <p:nvPr/>
        </p:nvSpPr>
        <p:spPr>
          <a:xfrm>
            <a:off x="5053557" y="1543144"/>
            <a:ext cx="1431427" cy="307777"/>
          </a:xfrm>
          <a:prstGeom prst="rect">
            <a:avLst/>
          </a:prstGeom>
          <a:noFill/>
        </p:spPr>
        <p:txBody>
          <a:bodyPr wrap="square" rtlCol="0">
            <a:spAutoFit/>
          </a:bodyPr>
          <a:lstStyle/>
          <a:p>
            <a:r>
              <a:rPr lang="en-US" altLang="ko-KR"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InBodyS10</a:t>
            </a:r>
            <a:endParaRPr lang="ko-KR" altLang="en-US" sz="1400" b="1" dirty="0">
              <a:solidFill>
                <a:schemeClr val="bg1"/>
              </a:solidFill>
              <a:latin typeface="Lato Black" panose="020F0502020204030203" pitchFamily="34" charset="0"/>
              <a:cs typeface="Lato Black" panose="020F0502020204030203" pitchFamily="34" charset="0"/>
            </a:endParaRPr>
          </a:p>
        </p:txBody>
      </p:sp>
      <p:sp>
        <p:nvSpPr>
          <p:cNvPr id="47" name="사각형: 둥근 모서리 46">
            <a:extLst>
              <a:ext uri="{FF2B5EF4-FFF2-40B4-BE49-F238E27FC236}">
                <a16:creationId xmlns:a16="http://schemas.microsoft.com/office/drawing/2014/main" id="{02EB8E32-74D3-4182-F8D3-4BB65B3D2887}"/>
              </a:ext>
            </a:extLst>
          </p:cNvPr>
          <p:cNvSpPr/>
          <p:nvPr/>
        </p:nvSpPr>
        <p:spPr>
          <a:xfrm>
            <a:off x="10227429" y="1571786"/>
            <a:ext cx="1233246" cy="291636"/>
          </a:xfrm>
          <a:prstGeom prst="roundRect">
            <a:avLst>
              <a:gd name="adj" fmla="val 50000"/>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B2954B03-8BA4-A225-D16F-9D50CD170098}"/>
              </a:ext>
            </a:extLst>
          </p:cNvPr>
          <p:cNvSpPr txBox="1"/>
          <p:nvPr/>
        </p:nvSpPr>
        <p:spPr>
          <a:xfrm>
            <a:off x="10412521" y="1555645"/>
            <a:ext cx="1431427" cy="307777"/>
          </a:xfrm>
          <a:prstGeom prst="rect">
            <a:avLst/>
          </a:prstGeom>
          <a:noFill/>
        </p:spPr>
        <p:txBody>
          <a:bodyPr wrap="square" rtlCol="0">
            <a:spAutoFit/>
          </a:bodyPr>
          <a:lstStyle/>
          <a:p>
            <a:r>
              <a:rPr lang="en-US" altLang="ko-KR" sz="1400" b="1" dirty="0">
                <a:solidFill>
                  <a:schemeClr val="bg1"/>
                </a:solidFill>
                <a:latin typeface="Lato Black" panose="020F0502020204030203" pitchFamily="34" charset="0"/>
                <a:ea typeface="Lato Black" panose="020F0502020204030203" pitchFamily="34" charset="0"/>
                <a:cs typeface="Lato Black" panose="020F0502020204030203" pitchFamily="34" charset="0"/>
              </a:rPr>
              <a:t>BWA2.0</a:t>
            </a:r>
            <a:endParaRPr lang="ko-KR" altLang="en-US" sz="1400" b="1" dirty="0">
              <a:solidFill>
                <a:schemeClr val="bg1"/>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6522158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730814"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spc="-15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④ </a:t>
            </a:r>
            <a:r>
              <a:rPr lang="en-US" altLang="ko-KR" sz="1400" b="1" dirty="0">
                <a:solidFill>
                  <a:srgbClr val="A0112D"/>
                </a:solidFill>
                <a:latin typeface="Lato Black" panose="020F0502020204030203" pitchFamily="34" charset="0"/>
                <a:ea typeface="Lato Black" panose="020F0502020204030203" pitchFamily="34" charset="0"/>
                <a:cs typeface="Lato Black" panose="020F0502020204030203" pitchFamily="34" charset="0"/>
              </a:rPr>
              <a:t> Water Control Calculator aiding easier set up of Target Body Weight</a:t>
            </a:r>
            <a:endParaRPr lang="en-US" altLang="ko-KR" sz="1400" b="1" spc="-15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9" name="TextBox 18">
            <a:extLst>
              <a:ext uri="{FF2B5EF4-FFF2-40B4-BE49-F238E27FC236}">
                <a16:creationId xmlns:a16="http://schemas.microsoft.com/office/drawing/2014/main" id="{47672CE2-2A90-49DE-14AA-BDEA2DF5D413}"/>
              </a:ext>
            </a:extLst>
          </p:cNvPr>
          <p:cNvSpPr txBox="1"/>
          <p:nvPr/>
        </p:nvSpPr>
        <p:spPr>
          <a:xfrm>
            <a:off x="889488" y="1593937"/>
            <a:ext cx="10705104" cy="69705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altLang="ko-KR" sz="1400" dirty="0">
                <a:solidFill>
                  <a:schemeClr val="tx1">
                    <a:lumMod val="75000"/>
                    <a:lumOff val="25000"/>
                  </a:schemeClr>
                </a:solidFill>
                <a:latin typeface="+mj-lt"/>
                <a:ea typeface="맑은 고딕"/>
              </a:rPr>
              <a:t>The "Water Control Calculator" feature offers the automatic calculation of target extracellular fluid volume and fluid adjustment amounts needed for patients such as those undergoing dialysis or suffering from congestive heart failure.</a:t>
            </a:r>
            <a:endParaRPr lang="en-US" altLang="ko-KR" sz="1400" dirty="0">
              <a:solidFill>
                <a:schemeClr val="tx1">
                  <a:lumMod val="75000"/>
                  <a:lumOff val="25000"/>
                </a:schemeClr>
              </a:solidFill>
              <a:latin typeface="+mj-lt"/>
            </a:endParaRPr>
          </a:p>
        </p:txBody>
      </p:sp>
      <p:grpSp>
        <p:nvGrpSpPr>
          <p:cNvPr id="40" name="그룹 39">
            <a:extLst>
              <a:ext uri="{FF2B5EF4-FFF2-40B4-BE49-F238E27FC236}">
                <a16:creationId xmlns:a16="http://schemas.microsoft.com/office/drawing/2014/main" id="{DDF35A94-82F9-2929-27E1-046D7ED4FD53}"/>
              </a:ext>
            </a:extLst>
          </p:cNvPr>
          <p:cNvGrpSpPr/>
          <p:nvPr/>
        </p:nvGrpSpPr>
        <p:grpSpPr>
          <a:xfrm>
            <a:off x="1435391" y="2568290"/>
            <a:ext cx="8860753" cy="3997447"/>
            <a:chOff x="1234223" y="2290987"/>
            <a:chExt cx="9628655" cy="4343879"/>
          </a:xfrm>
        </p:grpSpPr>
        <p:pic>
          <p:nvPicPr>
            <p:cNvPr id="30" name="그림 29">
              <a:extLst>
                <a:ext uri="{FF2B5EF4-FFF2-40B4-BE49-F238E27FC236}">
                  <a16:creationId xmlns:a16="http://schemas.microsoft.com/office/drawing/2014/main" id="{376D9978-8514-87FA-0F60-D0085745B3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4223" y="4016634"/>
              <a:ext cx="2026920" cy="2618232"/>
            </a:xfrm>
            <a:prstGeom prst="rect">
              <a:avLst/>
            </a:prstGeom>
          </p:spPr>
        </p:pic>
        <p:pic>
          <p:nvPicPr>
            <p:cNvPr id="31" name="그림 30">
              <a:extLst>
                <a:ext uri="{FF2B5EF4-FFF2-40B4-BE49-F238E27FC236}">
                  <a16:creationId xmlns:a16="http://schemas.microsoft.com/office/drawing/2014/main" id="{D6C86C55-50FA-C204-6DF2-E6CE96C106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4288" y="2290987"/>
              <a:ext cx="7188590" cy="4343879"/>
            </a:xfrm>
            <a:prstGeom prst="rect">
              <a:avLst/>
            </a:prstGeom>
          </p:spPr>
        </p:pic>
        <p:sp>
          <p:nvSpPr>
            <p:cNvPr id="32" name="직사각형 31">
              <a:extLst>
                <a:ext uri="{FF2B5EF4-FFF2-40B4-BE49-F238E27FC236}">
                  <a16:creationId xmlns:a16="http://schemas.microsoft.com/office/drawing/2014/main" id="{B89EADE0-0ABC-D543-5916-306851A90603}"/>
                </a:ext>
              </a:extLst>
            </p:cNvPr>
            <p:cNvSpPr/>
            <p:nvPr/>
          </p:nvSpPr>
          <p:spPr>
            <a:xfrm>
              <a:off x="8468952" y="4861106"/>
              <a:ext cx="1882880" cy="887594"/>
            </a:xfrm>
            <a:prstGeom prst="rect">
              <a:avLst/>
            </a:prstGeom>
            <a:noFill/>
            <a:ln w="25400">
              <a:solidFill>
                <a:srgbClr val="9000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Lato Black" panose="020F0502020204030203" pitchFamily="34" charset="0"/>
                <a:cs typeface="Lato Black" panose="020F0502020204030203" pitchFamily="34" charset="0"/>
              </a:endParaRPr>
            </a:p>
          </p:txBody>
        </p:sp>
        <p:sp>
          <p:nvSpPr>
            <p:cNvPr id="33" name="TextBox 32">
              <a:extLst>
                <a:ext uri="{FF2B5EF4-FFF2-40B4-BE49-F238E27FC236}">
                  <a16:creationId xmlns:a16="http://schemas.microsoft.com/office/drawing/2014/main" id="{B82E0FAD-CCC3-8F6C-7154-0BD446C1C413}"/>
                </a:ext>
              </a:extLst>
            </p:cNvPr>
            <p:cNvSpPr txBox="1"/>
            <p:nvPr/>
          </p:nvSpPr>
          <p:spPr>
            <a:xfrm>
              <a:off x="2423875" y="5154807"/>
              <a:ext cx="590550"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0.400</a:t>
              </a:r>
              <a:endParaRPr lang="ko-KR" altLang="en-US" sz="11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4" name="TextBox 33">
              <a:extLst>
                <a:ext uri="{FF2B5EF4-FFF2-40B4-BE49-F238E27FC236}">
                  <a16:creationId xmlns:a16="http://schemas.microsoft.com/office/drawing/2014/main" id="{E6DA134B-3778-46FA-5345-A82DC3264C35}"/>
                </a:ext>
              </a:extLst>
            </p:cNvPr>
            <p:cNvSpPr txBox="1"/>
            <p:nvPr/>
          </p:nvSpPr>
          <p:spPr>
            <a:xfrm>
              <a:off x="2423875" y="5514360"/>
              <a:ext cx="590550"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0.405</a:t>
              </a:r>
              <a:endParaRPr lang="ko-KR" altLang="en-US" sz="11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5" name="TextBox 34">
              <a:extLst>
                <a:ext uri="{FF2B5EF4-FFF2-40B4-BE49-F238E27FC236}">
                  <a16:creationId xmlns:a16="http://schemas.microsoft.com/office/drawing/2014/main" id="{393EBF51-4697-52C4-BD6C-02C61827E883}"/>
                </a:ext>
              </a:extLst>
            </p:cNvPr>
            <p:cNvSpPr txBox="1"/>
            <p:nvPr/>
          </p:nvSpPr>
          <p:spPr>
            <a:xfrm>
              <a:off x="2433111" y="5815844"/>
              <a:ext cx="590550"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-1.0 </a:t>
              </a:r>
              <a:r>
                <a:rPr lang="en-US" altLang="ko-KR" sz="1000" dirty="0">
                  <a:latin typeface="Lato Black" panose="020F0502020204030203" pitchFamily="34" charset="0"/>
                  <a:ea typeface="Lato Black" panose="020F0502020204030203" pitchFamily="34" charset="0"/>
                  <a:cs typeface="Lato Black" panose="020F0502020204030203" pitchFamily="34" charset="0"/>
                </a:rPr>
                <a:t>L</a:t>
              </a:r>
              <a:endParaRPr lang="ko-KR" altLang="en-US" sz="10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6" name="TextBox 35">
              <a:extLst>
                <a:ext uri="{FF2B5EF4-FFF2-40B4-BE49-F238E27FC236}">
                  <a16:creationId xmlns:a16="http://schemas.microsoft.com/office/drawing/2014/main" id="{A2E390DC-14D4-5B70-EE73-A57AE488F5A5}"/>
                </a:ext>
              </a:extLst>
            </p:cNvPr>
            <p:cNvSpPr txBox="1"/>
            <p:nvPr/>
          </p:nvSpPr>
          <p:spPr>
            <a:xfrm>
              <a:off x="2097007" y="6021470"/>
              <a:ext cx="917418" cy="218525"/>
            </a:xfrm>
            <a:prstGeom prst="rect">
              <a:avLst/>
            </a:prstGeom>
            <a:solidFill>
              <a:schemeClr val="bg1"/>
            </a:solidFill>
          </p:spPr>
          <p:txBody>
            <a:bodyPr wrap="square" rtlCol="0">
              <a:spAutoFit/>
            </a:bodyPr>
            <a:lstStyle/>
            <a:p>
              <a:pPr algn="ctr"/>
              <a:r>
                <a:rPr lang="en-US" altLang="ko-KR" sz="800" dirty="0">
                  <a:latin typeface="Lato Black" panose="020F0502020204030203" pitchFamily="34" charset="0"/>
                  <a:ea typeface="Lato Black" panose="020F0502020204030203" pitchFamily="34" charset="0"/>
                  <a:cs typeface="Lato Black" panose="020F0502020204030203" pitchFamily="34" charset="0"/>
                </a:rPr>
                <a:t>  (+0.90~+1.10)</a:t>
              </a:r>
              <a:endParaRPr lang="ko-KR" altLang="en-US" sz="8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7" name="TextBox 36">
              <a:extLst>
                <a:ext uri="{FF2B5EF4-FFF2-40B4-BE49-F238E27FC236}">
                  <a16:creationId xmlns:a16="http://schemas.microsoft.com/office/drawing/2014/main" id="{F1D5A109-512E-4606-6BCD-A15B794F4F2C}"/>
                </a:ext>
              </a:extLst>
            </p:cNvPr>
            <p:cNvSpPr txBox="1"/>
            <p:nvPr/>
          </p:nvSpPr>
          <p:spPr>
            <a:xfrm>
              <a:off x="2325307" y="6192149"/>
              <a:ext cx="689118" cy="261610"/>
            </a:xfrm>
            <a:prstGeom prst="rect">
              <a:avLst/>
            </a:prstGeom>
            <a:solidFill>
              <a:schemeClr val="bg1"/>
            </a:solidFill>
          </p:spPr>
          <p:txBody>
            <a:bodyPr wrap="square" rtlCol="0">
              <a:spAutoFit/>
            </a:bodyPr>
            <a:lstStyle/>
            <a:p>
              <a:pPr algn="ctr"/>
              <a:r>
                <a:rPr lang="en-US" altLang="ko-KR" sz="1100" dirty="0">
                  <a:latin typeface="Lato Black" panose="020F0502020204030203" pitchFamily="34" charset="0"/>
                  <a:ea typeface="Lato Black" panose="020F0502020204030203" pitchFamily="34" charset="0"/>
                  <a:cs typeface="Lato Black" panose="020F0502020204030203" pitchFamily="34" charset="0"/>
                </a:rPr>
                <a:t>63.0 </a:t>
              </a:r>
              <a:r>
                <a:rPr lang="en-US" altLang="ko-KR" sz="1000" dirty="0">
                  <a:latin typeface="Lato Black" panose="020F0502020204030203" pitchFamily="34" charset="0"/>
                  <a:ea typeface="Lato Black" panose="020F0502020204030203" pitchFamily="34" charset="0"/>
                  <a:cs typeface="Lato Black" panose="020F0502020204030203" pitchFamily="34" charset="0"/>
                </a:rPr>
                <a:t>kg</a:t>
              </a:r>
              <a:endParaRPr lang="ko-KR" altLang="en-US" sz="1000" dirty="0">
                <a:latin typeface="Lato Black" panose="020F0502020204030203" pitchFamily="34" charset="0"/>
                <a:ea typeface="HY견고딕" panose="02030600000101010101" pitchFamily="18" charset="-127"/>
                <a:cs typeface="Lato Black" panose="020F0502020204030203" pitchFamily="34" charset="0"/>
              </a:endParaRPr>
            </a:p>
          </p:txBody>
        </p:sp>
        <p:sp>
          <p:nvSpPr>
            <p:cNvPr id="38" name="TextBox 37">
              <a:extLst>
                <a:ext uri="{FF2B5EF4-FFF2-40B4-BE49-F238E27FC236}">
                  <a16:creationId xmlns:a16="http://schemas.microsoft.com/office/drawing/2014/main" id="{E2C5CAF5-3EE6-4D5F-AF92-EAF969A2FA2E}"/>
                </a:ext>
              </a:extLst>
            </p:cNvPr>
            <p:cNvSpPr txBox="1"/>
            <p:nvPr/>
          </p:nvSpPr>
          <p:spPr>
            <a:xfrm>
              <a:off x="9813248" y="5408841"/>
              <a:ext cx="475675" cy="215444"/>
            </a:xfrm>
            <a:prstGeom prst="rect">
              <a:avLst/>
            </a:prstGeom>
            <a:solidFill>
              <a:schemeClr val="bg1"/>
            </a:solidFill>
          </p:spPr>
          <p:txBody>
            <a:bodyPr wrap="square" rtlCol="0">
              <a:spAutoFit/>
            </a:bodyPr>
            <a:lstStyle/>
            <a:p>
              <a:pPr algn="ctr"/>
              <a:r>
                <a:rPr lang="en-US" altLang="ko-KR" sz="800" b="1" dirty="0">
                  <a:solidFill>
                    <a:schemeClr val="tx1">
                      <a:lumMod val="85000"/>
                      <a:lumOff val="15000"/>
                    </a:schemeClr>
                  </a:solidFill>
                  <a:latin typeface="Lato Black" panose="020F0502020204030203" pitchFamily="34" charset="0"/>
                  <a:ea typeface="Lato Black" panose="020F0502020204030203" pitchFamily="34" charset="0"/>
                  <a:cs typeface="Lato Black" panose="020F0502020204030203" pitchFamily="34" charset="0"/>
                </a:rPr>
                <a:t>63.0</a:t>
              </a:r>
              <a:endParaRPr lang="ko-KR" altLang="en-US" sz="800" b="1" dirty="0">
                <a:solidFill>
                  <a:schemeClr val="tx1">
                    <a:lumMod val="85000"/>
                    <a:lumOff val="15000"/>
                  </a:schemeClr>
                </a:solidFill>
                <a:latin typeface="Lato Black" panose="020F0502020204030203" pitchFamily="34" charset="0"/>
                <a:ea typeface="HY견고딕" panose="02030600000101010101" pitchFamily="18" charset="-127"/>
                <a:cs typeface="Lato Black" panose="020F0502020204030203" pitchFamily="34" charset="0"/>
              </a:endParaRPr>
            </a:p>
          </p:txBody>
        </p:sp>
        <p:sp>
          <p:nvSpPr>
            <p:cNvPr id="39" name="모서리가 둥근 직사각형 38">
              <a:extLst>
                <a:ext uri="{FF2B5EF4-FFF2-40B4-BE49-F238E27FC236}">
                  <a16:creationId xmlns:a16="http://schemas.microsoft.com/office/drawing/2014/main" id="{21301B87-C00A-CB8F-891F-C8B87184C4E1}"/>
                </a:ext>
              </a:extLst>
            </p:cNvPr>
            <p:cNvSpPr/>
            <p:nvPr/>
          </p:nvSpPr>
          <p:spPr>
            <a:xfrm>
              <a:off x="9780228" y="2495253"/>
              <a:ext cx="859028" cy="304800"/>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w="3175">
              <a:solidFill>
                <a:srgbClr val="BFBF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a:solidFill>
                    <a:schemeClr val="tx1"/>
                  </a:solidFill>
                  <a:latin typeface="Lato Black" panose="020F0502020204030203" pitchFamily="34" charset="0"/>
                  <a:ea typeface="Lato Black" panose="020F0502020204030203" pitchFamily="34" charset="0"/>
                  <a:cs typeface="Lato Black" panose="020F0502020204030203" pitchFamily="34" charset="0"/>
                </a:rPr>
                <a:t>Exit</a:t>
              </a:r>
              <a:endParaRPr lang="ko-KR" altLang="en-US" sz="1600">
                <a:solidFill>
                  <a:schemeClr val="tx1"/>
                </a:solidFill>
                <a:latin typeface="Lato Black" panose="020F0502020204030203" pitchFamily="34" charset="0"/>
                <a:cs typeface="Lato Black" panose="020F0502020204030203" pitchFamily="34" charset="0"/>
              </a:endParaRPr>
            </a:p>
          </p:txBody>
        </p:sp>
      </p:grpSp>
    </p:spTree>
    <p:extLst>
      <p:ext uri="{BB962C8B-B14F-4D97-AF65-F5344CB8AC3E}">
        <p14:creationId xmlns:p14="http://schemas.microsoft.com/office/powerpoint/2010/main" val="1273992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65579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⑤ Age-specific evaluation results sheet</a:t>
            </a:r>
          </a:p>
        </p:txBody>
      </p:sp>
      <p:sp>
        <p:nvSpPr>
          <p:cNvPr id="19" name="TextBox 18">
            <a:extLst>
              <a:ext uri="{FF2B5EF4-FFF2-40B4-BE49-F238E27FC236}">
                <a16:creationId xmlns:a16="http://schemas.microsoft.com/office/drawing/2014/main" id="{47672CE2-2A90-49DE-14AA-BDEA2DF5D413}"/>
              </a:ext>
            </a:extLst>
          </p:cNvPr>
          <p:cNvSpPr txBox="1"/>
          <p:nvPr/>
        </p:nvSpPr>
        <p:spPr>
          <a:xfrm>
            <a:off x="889488" y="1593937"/>
            <a:ext cx="10705104" cy="10202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latinLnBrk="0">
              <a:lnSpc>
                <a:spcPct val="150000"/>
              </a:lnSpc>
            </a:pPr>
            <a:r>
              <a:rPr lang="en-US" altLang="ko-KR" sz="1400" spc="-150" dirty="0">
                <a:latin typeface="+mn-ea"/>
              </a:rPr>
              <a:t>Providing shaded areas for the average and standard deviation of body composition across all age groups, from 20 years old to over 80 years old.</a:t>
            </a:r>
          </a:p>
          <a:p>
            <a:pPr algn="just" latinLnBrk="0">
              <a:lnSpc>
                <a:spcPct val="150000"/>
              </a:lnSpc>
            </a:pPr>
            <a:r>
              <a:rPr lang="en-US" altLang="ko-KR" sz="1400" spc="-150" dirty="0">
                <a:latin typeface="+mn-ea"/>
              </a:rPr>
              <a:t>The X-axis of the graph represents age (years), while the Y-axis represents the result value. The shaded area above and below the graph represents the mean plus standard deviation and mean minus standard deviation, respectively.</a:t>
            </a:r>
            <a:endParaRPr lang="en-US" altLang="ko-KR" sz="1400" dirty="0">
              <a:latin typeface="+mn-ea"/>
            </a:endParaRPr>
          </a:p>
        </p:txBody>
      </p:sp>
      <p:pic>
        <p:nvPicPr>
          <p:cNvPr id="5" name="그림 4">
            <a:extLst>
              <a:ext uri="{FF2B5EF4-FFF2-40B4-BE49-F238E27FC236}">
                <a16:creationId xmlns:a16="http://schemas.microsoft.com/office/drawing/2014/main" id="{6F93CC25-1549-D6E6-AB62-30BAEF21330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7836" t="11340" r="5476" b="47165"/>
          <a:stretch/>
        </p:blipFill>
        <p:spPr>
          <a:xfrm>
            <a:off x="1354966" y="2650529"/>
            <a:ext cx="3450809" cy="4320000"/>
          </a:xfrm>
          <a:prstGeom prst="rect">
            <a:avLst/>
          </a:prstGeom>
        </p:spPr>
      </p:pic>
      <p:sp>
        <p:nvSpPr>
          <p:cNvPr id="6" name="타원 5">
            <a:extLst>
              <a:ext uri="{FF2B5EF4-FFF2-40B4-BE49-F238E27FC236}">
                <a16:creationId xmlns:a16="http://schemas.microsoft.com/office/drawing/2014/main" id="{3ABD138E-7D3F-5E57-1BB4-1EFF7A35208F}"/>
              </a:ext>
            </a:extLst>
          </p:cNvPr>
          <p:cNvSpPr/>
          <p:nvPr/>
        </p:nvSpPr>
        <p:spPr>
          <a:xfrm>
            <a:off x="1359474" y="5800853"/>
            <a:ext cx="256310" cy="256310"/>
          </a:xfrm>
          <a:prstGeom prst="ellipse">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TextBox 6">
            <a:extLst>
              <a:ext uri="{FF2B5EF4-FFF2-40B4-BE49-F238E27FC236}">
                <a16:creationId xmlns:a16="http://schemas.microsoft.com/office/drawing/2014/main" id="{9F66EB53-EDD0-36A8-A3A2-22E65C45E02E}"/>
              </a:ext>
            </a:extLst>
          </p:cNvPr>
          <p:cNvSpPr txBox="1"/>
          <p:nvPr/>
        </p:nvSpPr>
        <p:spPr>
          <a:xfrm>
            <a:off x="1328568" y="5796932"/>
            <a:ext cx="325730" cy="246221"/>
          </a:xfrm>
          <a:prstGeom prst="rect">
            <a:avLst/>
          </a:prstGeom>
          <a:noFill/>
        </p:spPr>
        <p:txBody>
          <a:bodyPr wrap="none" rtlCol="0">
            <a:spAutoFit/>
          </a:bodyPr>
          <a:lstStyle/>
          <a:p>
            <a:r>
              <a:rPr lang="en-US" altLang="ko-KR" sz="1000" dirty="0">
                <a:solidFill>
                  <a:schemeClr val="bg1"/>
                </a:solidFill>
              </a:rPr>
              <a:t>01</a:t>
            </a:r>
            <a:endParaRPr lang="ko-KR" altLang="en-US" sz="1000" dirty="0">
              <a:solidFill>
                <a:schemeClr val="bg1"/>
              </a:solidFill>
            </a:endParaRPr>
          </a:p>
        </p:txBody>
      </p:sp>
      <p:sp>
        <p:nvSpPr>
          <p:cNvPr id="8" name="타원 7">
            <a:extLst>
              <a:ext uri="{FF2B5EF4-FFF2-40B4-BE49-F238E27FC236}">
                <a16:creationId xmlns:a16="http://schemas.microsoft.com/office/drawing/2014/main" id="{C4AE6D95-413C-E99E-B2CC-8AAED343D15B}"/>
              </a:ext>
            </a:extLst>
          </p:cNvPr>
          <p:cNvSpPr/>
          <p:nvPr/>
        </p:nvSpPr>
        <p:spPr>
          <a:xfrm>
            <a:off x="2373322" y="5813735"/>
            <a:ext cx="256310" cy="256310"/>
          </a:xfrm>
          <a:prstGeom prst="ellipse">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9" name="TextBox 8">
            <a:extLst>
              <a:ext uri="{FF2B5EF4-FFF2-40B4-BE49-F238E27FC236}">
                <a16:creationId xmlns:a16="http://schemas.microsoft.com/office/drawing/2014/main" id="{7BED6665-2EBC-DC92-5B3B-AF50A6827C18}"/>
              </a:ext>
            </a:extLst>
          </p:cNvPr>
          <p:cNvSpPr txBox="1"/>
          <p:nvPr/>
        </p:nvSpPr>
        <p:spPr>
          <a:xfrm>
            <a:off x="2342416" y="5809814"/>
            <a:ext cx="325730" cy="246221"/>
          </a:xfrm>
          <a:prstGeom prst="rect">
            <a:avLst/>
          </a:prstGeom>
          <a:noFill/>
        </p:spPr>
        <p:txBody>
          <a:bodyPr wrap="none" rtlCol="0">
            <a:spAutoFit/>
          </a:bodyPr>
          <a:lstStyle/>
          <a:p>
            <a:r>
              <a:rPr lang="en-US" altLang="ko-KR" sz="1000" dirty="0">
                <a:solidFill>
                  <a:schemeClr val="bg1"/>
                </a:solidFill>
              </a:rPr>
              <a:t>02</a:t>
            </a:r>
            <a:endParaRPr lang="ko-KR" altLang="en-US" sz="1000" dirty="0">
              <a:solidFill>
                <a:schemeClr val="bg1"/>
              </a:solidFill>
            </a:endParaRPr>
          </a:p>
        </p:txBody>
      </p:sp>
      <p:sp>
        <p:nvSpPr>
          <p:cNvPr id="10" name="타원 9">
            <a:extLst>
              <a:ext uri="{FF2B5EF4-FFF2-40B4-BE49-F238E27FC236}">
                <a16:creationId xmlns:a16="http://schemas.microsoft.com/office/drawing/2014/main" id="{A7C577B6-4E54-828F-1D6F-85D9EB4CB3B4}"/>
              </a:ext>
            </a:extLst>
          </p:cNvPr>
          <p:cNvSpPr/>
          <p:nvPr/>
        </p:nvSpPr>
        <p:spPr>
          <a:xfrm>
            <a:off x="3431161" y="5809817"/>
            <a:ext cx="256310" cy="256310"/>
          </a:xfrm>
          <a:prstGeom prst="ellipse">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1" name="TextBox 10">
            <a:extLst>
              <a:ext uri="{FF2B5EF4-FFF2-40B4-BE49-F238E27FC236}">
                <a16:creationId xmlns:a16="http://schemas.microsoft.com/office/drawing/2014/main" id="{94514EB0-D57E-1E24-FD2C-A2BFCA539F04}"/>
              </a:ext>
            </a:extLst>
          </p:cNvPr>
          <p:cNvSpPr txBox="1"/>
          <p:nvPr/>
        </p:nvSpPr>
        <p:spPr>
          <a:xfrm>
            <a:off x="3400255" y="5805896"/>
            <a:ext cx="325730" cy="246221"/>
          </a:xfrm>
          <a:prstGeom prst="rect">
            <a:avLst/>
          </a:prstGeom>
          <a:noFill/>
        </p:spPr>
        <p:txBody>
          <a:bodyPr wrap="none" rtlCol="0">
            <a:spAutoFit/>
          </a:bodyPr>
          <a:lstStyle/>
          <a:p>
            <a:r>
              <a:rPr lang="en-US" altLang="ko-KR" sz="1000" dirty="0">
                <a:solidFill>
                  <a:schemeClr val="bg1"/>
                </a:solidFill>
              </a:rPr>
              <a:t>03</a:t>
            </a:r>
            <a:endParaRPr lang="ko-KR" altLang="en-US" sz="1000" dirty="0">
              <a:solidFill>
                <a:schemeClr val="bg1"/>
              </a:solidFill>
            </a:endParaRPr>
          </a:p>
        </p:txBody>
      </p:sp>
      <p:sp>
        <p:nvSpPr>
          <p:cNvPr id="12" name="직사각형 11">
            <a:extLst>
              <a:ext uri="{FF2B5EF4-FFF2-40B4-BE49-F238E27FC236}">
                <a16:creationId xmlns:a16="http://schemas.microsoft.com/office/drawing/2014/main" id="{AEC7EEBC-2D99-3ABC-9B56-299DE881FAF7}"/>
              </a:ext>
            </a:extLst>
          </p:cNvPr>
          <p:cNvSpPr/>
          <p:nvPr/>
        </p:nvSpPr>
        <p:spPr>
          <a:xfrm>
            <a:off x="5077639" y="4059172"/>
            <a:ext cx="4693036" cy="323165"/>
          </a:xfrm>
          <a:prstGeom prst="rect">
            <a:avLst/>
          </a:prstGeom>
        </p:spPr>
        <p:txBody>
          <a:bodyPr wrap="square">
            <a:spAutoFit/>
          </a:bodyPr>
          <a:lstStyle/>
          <a:p>
            <a:pPr latinLnBrk="0"/>
            <a:r>
              <a:rPr lang="en-US" altLang="ko-KR" sz="1500" spc="-150" dirty="0">
                <a:latin typeface="+mn-ea"/>
              </a:rPr>
              <a:t>Result from the today’s measurement</a:t>
            </a:r>
            <a:endParaRPr lang="en-US" altLang="ko-KR" sz="1500" dirty="0">
              <a:latin typeface="+mn-ea"/>
            </a:endParaRPr>
          </a:p>
        </p:txBody>
      </p:sp>
      <p:sp>
        <p:nvSpPr>
          <p:cNvPr id="13" name="직사각형 12">
            <a:extLst>
              <a:ext uri="{FF2B5EF4-FFF2-40B4-BE49-F238E27FC236}">
                <a16:creationId xmlns:a16="http://schemas.microsoft.com/office/drawing/2014/main" id="{3AEEC5F1-7124-DCE4-8B7F-EF20CE3608F1}"/>
              </a:ext>
            </a:extLst>
          </p:cNvPr>
          <p:cNvSpPr/>
          <p:nvPr/>
        </p:nvSpPr>
        <p:spPr>
          <a:xfrm>
            <a:off x="5083910" y="4476026"/>
            <a:ext cx="6130987" cy="1015663"/>
          </a:xfrm>
          <a:prstGeom prst="rect">
            <a:avLst/>
          </a:prstGeom>
        </p:spPr>
        <p:txBody>
          <a:bodyPr wrap="square">
            <a:spAutoFit/>
          </a:bodyPr>
          <a:lstStyle/>
          <a:p>
            <a:pPr algn="just" latinLnBrk="0"/>
            <a:r>
              <a:rPr lang="en-US" altLang="ko-KR" sz="1500" dirty="0">
                <a:latin typeface="+mn-ea"/>
              </a:rPr>
              <a:t>T-score = (Individual's measurement value - Mean value of young age group) / Standard deviation of young age group. </a:t>
            </a:r>
          </a:p>
          <a:p>
            <a:pPr algn="just" latinLnBrk="0"/>
            <a:r>
              <a:rPr lang="en-US" altLang="ko-KR" sz="1500" dirty="0">
                <a:latin typeface="+mn-ea"/>
              </a:rPr>
              <a:t>If the value is negative, it indicates lower than the average, and if it is positive, it indicates higher than the average.</a:t>
            </a:r>
            <a:endParaRPr lang="en-US" altLang="ko-KR" sz="1200" dirty="0">
              <a:latin typeface="+mn-ea"/>
            </a:endParaRPr>
          </a:p>
        </p:txBody>
      </p:sp>
      <p:sp>
        <p:nvSpPr>
          <p:cNvPr id="14" name="직사각형 13">
            <a:extLst>
              <a:ext uri="{FF2B5EF4-FFF2-40B4-BE49-F238E27FC236}">
                <a16:creationId xmlns:a16="http://schemas.microsoft.com/office/drawing/2014/main" id="{5D7D64E7-1623-04DC-B699-94B3228E96F5}"/>
              </a:ext>
            </a:extLst>
          </p:cNvPr>
          <p:cNvSpPr/>
          <p:nvPr/>
        </p:nvSpPr>
        <p:spPr>
          <a:xfrm>
            <a:off x="5113753" y="5643043"/>
            <a:ext cx="6130987" cy="553998"/>
          </a:xfrm>
          <a:prstGeom prst="rect">
            <a:avLst/>
          </a:prstGeom>
        </p:spPr>
        <p:txBody>
          <a:bodyPr wrap="square">
            <a:spAutoFit/>
          </a:bodyPr>
          <a:lstStyle/>
          <a:p>
            <a:pPr algn="just" latinLnBrk="0"/>
            <a:r>
              <a:rPr lang="en-US" altLang="ko-KR" sz="1500" dirty="0">
                <a:latin typeface="+mn-ea"/>
              </a:rPr>
              <a:t>Z-score = (Individual's measurement value - Mean value of the same age group) / Standard deviation of the same age group.</a:t>
            </a:r>
            <a:endParaRPr lang="en-US" altLang="ko-KR" sz="1200" dirty="0">
              <a:latin typeface="+mn-ea"/>
            </a:endParaRPr>
          </a:p>
        </p:txBody>
      </p:sp>
      <p:sp>
        <p:nvSpPr>
          <p:cNvPr id="15" name="타원 14">
            <a:extLst>
              <a:ext uri="{FF2B5EF4-FFF2-40B4-BE49-F238E27FC236}">
                <a16:creationId xmlns:a16="http://schemas.microsoft.com/office/drawing/2014/main" id="{60C44AE0-C3BA-7DC5-4476-A912A6D054FD}"/>
              </a:ext>
            </a:extLst>
          </p:cNvPr>
          <p:cNvSpPr/>
          <p:nvPr/>
        </p:nvSpPr>
        <p:spPr>
          <a:xfrm>
            <a:off x="4794300" y="4073181"/>
            <a:ext cx="256310" cy="256310"/>
          </a:xfrm>
          <a:prstGeom prst="ellipse">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6" name="TextBox 15">
            <a:extLst>
              <a:ext uri="{FF2B5EF4-FFF2-40B4-BE49-F238E27FC236}">
                <a16:creationId xmlns:a16="http://schemas.microsoft.com/office/drawing/2014/main" id="{7AF1BC86-4847-5BF2-57D3-4288F8E7C49E}"/>
              </a:ext>
            </a:extLst>
          </p:cNvPr>
          <p:cNvSpPr txBox="1"/>
          <p:nvPr/>
        </p:nvSpPr>
        <p:spPr>
          <a:xfrm>
            <a:off x="4763394" y="4069260"/>
            <a:ext cx="325730" cy="246221"/>
          </a:xfrm>
          <a:prstGeom prst="rect">
            <a:avLst/>
          </a:prstGeom>
          <a:noFill/>
        </p:spPr>
        <p:txBody>
          <a:bodyPr wrap="none" rtlCol="0">
            <a:spAutoFit/>
          </a:bodyPr>
          <a:lstStyle/>
          <a:p>
            <a:r>
              <a:rPr lang="en-US" altLang="ko-KR" sz="1000" dirty="0">
                <a:solidFill>
                  <a:schemeClr val="bg1"/>
                </a:solidFill>
              </a:rPr>
              <a:t>01</a:t>
            </a:r>
            <a:endParaRPr lang="ko-KR" altLang="en-US" sz="1000" dirty="0">
              <a:solidFill>
                <a:schemeClr val="bg1"/>
              </a:solidFill>
            </a:endParaRPr>
          </a:p>
        </p:txBody>
      </p:sp>
      <p:sp>
        <p:nvSpPr>
          <p:cNvPr id="17" name="타원 16">
            <a:extLst>
              <a:ext uri="{FF2B5EF4-FFF2-40B4-BE49-F238E27FC236}">
                <a16:creationId xmlns:a16="http://schemas.microsoft.com/office/drawing/2014/main" id="{1904D624-FBD5-C2CB-AF1C-14B48CF2011E}"/>
              </a:ext>
            </a:extLst>
          </p:cNvPr>
          <p:cNvSpPr/>
          <p:nvPr/>
        </p:nvSpPr>
        <p:spPr>
          <a:xfrm>
            <a:off x="4805775" y="4503553"/>
            <a:ext cx="256310" cy="256310"/>
          </a:xfrm>
          <a:prstGeom prst="ellipse">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8" name="TextBox 17">
            <a:extLst>
              <a:ext uri="{FF2B5EF4-FFF2-40B4-BE49-F238E27FC236}">
                <a16:creationId xmlns:a16="http://schemas.microsoft.com/office/drawing/2014/main" id="{2CDD00B8-61BD-84FD-B9D0-4F4AF1672461}"/>
              </a:ext>
            </a:extLst>
          </p:cNvPr>
          <p:cNvSpPr txBox="1"/>
          <p:nvPr/>
        </p:nvSpPr>
        <p:spPr>
          <a:xfrm>
            <a:off x="4774869" y="4499632"/>
            <a:ext cx="325730" cy="246221"/>
          </a:xfrm>
          <a:prstGeom prst="rect">
            <a:avLst/>
          </a:prstGeom>
          <a:noFill/>
        </p:spPr>
        <p:txBody>
          <a:bodyPr wrap="none" rtlCol="0">
            <a:spAutoFit/>
          </a:bodyPr>
          <a:lstStyle/>
          <a:p>
            <a:r>
              <a:rPr lang="en-US" altLang="ko-KR" sz="1000" dirty="0">
                <a:solidFill>
                  <a:schemeClr val="bg1"/>
                </a:solidFill>
              </a:rPr>
              <a:t>02</a:t>
            </a:r>
            <a:endParaRPr lang="ko-KR" altLang="en-US" sz="1000" dirty="0">
              <a:solidFill>
                <a:schemeClr val="bg1"/>
              </a:solidFill>
            </a:endParaRPr>
          </a:p>
        </p:txBody>
      </p:sp>
      <p:sp>
        <p:nvSpPr>
          <p:cNvPr id="23" name="타원 22">
            <a:extLst>
              <a:ext uri="{FF2B5EF4-FFF2-40B4-BE49-F238E27FC236}">
                <a16:creationId xmlns:a16="http://schemas.microsoft.com/office/drawing/2014/main" id="{4193CE34-CE16-59F8-4501-D7EC125A6FB6}"/>
              </a:ext>
            </a:extLst>
          </p:cNvPr>
          <p:cNvSpPr/>
          <p:nvPr/>
        </p:nvSpPr>
        <p:spPr>
          <a:xfrm>
            <a:off x="4816687" y="5709289"/>
            <a:ext cx="256310" cy="256310"/>
          </a:xfrm>
          <a:prstGeom prst="ellipse">
            <a:avLst/>
          </a:prstGeom>
          <a:solidFill>
            <a:srgbClr val="3539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5" name="TextBox 24">
            <a:extLst>
              <a:ext uri="{FF2B5EF4-FFF2-40B4-BE49-F238E27FC236}">
                <a16:creationId xmlns:a16="http://schemas.microsoft.com/office/drawing/2014/main" id="{10148642-FFF2-A83E-3A6D-01AEE1B75EAC}"/>
              </a:ext>
            </a:extLst>
          </p:cNvPr>
          <p:cNvSpPr txBox="1"/>
          <p:nvPr/>
        </p:nvSpPr>
        <p:spPr>
          <a:xfrm>
            <a:off x="4775008" y="5714333"/>
            <a:ext cx="325730" cy="246221"/>
          </a:xfrm>
          <a:prstGeom prst="rect">
            <a:avLst/>
          </a:prstGeom>
          <a:noFill/>
        </p:spPr>
        <p:txBody>
          <a:bodyPr wrap="none" rtlCol="0">
            <a:spAutoFit/>
          </a:bodyPr>
          <a:lstStyle/>
          <a:p>
            <a:r>
              <a:rPr lang="en-US" altLang="ko-KR" sz="1000" dirty="0">
                <a:solidFill>
                  <a:schemeClr val="bg1"/>
                </a:solidFill>
              </a:rPr>
              <a:t>03</a:t>
            </a:r>
            <a:endParaRPr lang="ko-KR" altLang="en-US" sz="1000" dirty="0">
              <a:solidFill>
                <a:schemeClr val="bg1"/>
              </a:solidFill>
            </a:endParaRPr>
          </a:p>
        </p:txBody>
      </p:sp>
    </p:spTree>
    <p:extLst>
      <p:ext uri="{BB962C8B-B14F-4D97-AF65-F5344CB8AC3E}">
        <p14:creationId xmlns:p14="http://schemas.microsoft.com/office/powerpoint/2010/main" val="10367644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3098973"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spc="-15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⑤</a:t>
            </a:r>
            <a:r>
              <a:rPr lang="en-US" altLang="ko-KR" sz="1400" b="1" dirty="0">
                <a:solidFill>
                  <a:srgbClr val="A0112D"/>
                </a:solidFill>
                <a:latin typeface="Lato Black" panose="020F0502020204030203" pitchFamily="34" charset="0"/>
                <a:ea typeface="Lato Black" panose="020F0502020204030203" pitchFamily="34" charset="0"/>
                <a:cs typeface="Lato Black" panose="020F0502020204030203" pitchFamily="34" charset="0"/>
              </a:rPr>
              <a:t> Age-specific evaluation results sheet</a:t>
            </a:r>
            <a:endParaRPr lang="en-US" altLang="ko-KR" sz="1400" b="1" spc="-15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39" name="그림 38">
            <a:extLst>
              <a:ext uri="{FF2B5EF4-FFF2-40B4-BE49-F238E27FC236}">
                <a16:creationId xmlns:a16="http://schemas.microsoft.com/office/drawing/2014/main" id="{A7CFA09E-2ED9-BECF-5F4F-A6CAA4D641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8237" y="1557560"/>
            <a:ext cx="3763082" cy="5300439"/>
          </a:xfrm>
          <a:prstGeom prst="rect">
            <a:avLst/>
          </a:prstGeom>
        </p:spPr>
      </p:pic>
      <p:pic>
        <p:nvPicPr>
          <p:cNvPr id="45" name="그림 44">
            <a:extLst>
              <a:ext uri="{FF2B5EF4-FFF2-40B4-BE49-F238E27FC236}">
                <a16:creationId xmlns:a16="http://schemas.microsoft.com/office/drawing/2014/main" id="{5C3309C5-D2C8-A406-5E48-6E695DAB12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3764" y="1584781"/>
            <a:ext cx="3741321" cy="5269788"/>
          </a:xfrm>
          <a:prstGeom prst="rect">
            <a:avLst/>
          </a:prstGeom>
        </p:spPr>
      </p:pic>
    </p:spTree>
    <p:extLst>
      <p:ext uri="{BB962C8B-B14F-4D97-AF65-F5344CB8AC3E}">
        <p14:creationId xmlns:p14="http://schemas.microsoft.com/office/powerpoint/2010/main" val="38656527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835311"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spc="-15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⑤</a:t>
            </a:r>
            <a:r>
              <a:rPr lang="en-US" altLang="ko-KR" sz="1400" b="1" dirty="0">
                <a:solidFill>
                  <a:srgbClr val="A0112D"/>
                </a:solidFill>
                <a:latin typeface="Lato Black" panose="020F0502020204030203" pitchFamily="34" charset="0"/>
                <a:ea typeface="Lato Black" panose="020F0502020204030203" pitchFamily="34" charset="0"/>
                <a:cs typeface="Lato Black" panose="020F0502020204030203" pitchFamily="34" charset="0"/>
              </a:rPr>
              <a:t> Age-specific evaluation results sheet</a:t>
            </a:r>
            <a:endParaRPr lang="en-US" altLang="ko-KR" sz="1400" b="1" spc="-15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슬라이드 번호 개체 틀 1">
            <a:extLst>
              <a:ext uri="{FF2B5EF4-FFF2-40B4-BE49-F238E27FC236}">
                <a16:creationId xmlns:a16="http://schemas.microsoft.com/office/drawing/2014/main" id="{E41E3294-0807-782C-1987-16DCCF59F2C2}"/>
              </a:ext>
            </a:extLst>
          </p:cNvPr>
          <p:cNvSpPr txBox="1">
            <a:spLocks/>
          </p:cNvSpPr>
          <p:nvPr/>
        </p:nvSpPr>
        <p:spPr>
          <a:xfrm>
            <a:off x="8222666" y="6756367"/>
            <a:ext cx="2551993" cy="339675"/>
          </a:xfrm>
          <a:prstGeom prst="rect">
            <a:avLst/>
          </a:prstGeom>
        </p:spPr>
        <p:txBody>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6837E315-4A3C-471D-ADD4-0DD2D0F02380}" type="slidenum">
              <a:rPr lang="ko-KR" altLang="en-US" smtClean="0"/>
              <a:pPr/>
              <a:t>101</a:t>
            </a:fld>
            <a:endParaRPr lang="ko-KR" altLang="en-US"/>
          </a:p>
        </p:txBody>
      </p:sp>
      <p:pic>
        <p:nvPicPr>
          <p:cNvPr id="7" name="그림 6">
            <a:extLst>
              <a:ext uri="{FF2B5EF4-FFF2-40B4-BE49-F238E27FC236}">
                <a16:creationId xmlns:a16="http://schemas.microsoft.com/office/drawing/2014/main" id="{7926AE0D-A2F8-2CB1-C577-EDF4FF6BC0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35" y="1577006"/>
            <a:ext cx="3934637" cy="5542079"/>
          </a:xfrm>
          <a:prstGeom prst="rect">
            <a:avLst/>
          </a:prstGeom>
        </p:spPr>
      </p:pic>
      <p:pic>
        <p:nvPicPr>
          <p:cNvPr id="13" name="그림 12">
            <a:extLst>
              <a:ext uri="{FF2B5EF4-FFF2-40B4-BE49-F238E27FC236}">
                <a16:creationId xmlns:a16="http://schemas.microsoft.com/office/drawing/2014/main" id="{5BBDE484-A8EC-4624-8063-30224AE7F9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3891" y="1594477"/>
            <a:ext cx="3905873" cy="5501566"/>
          </a:xfrm>
          <a:prstGeom prst="rect">
            <a:avLst/>
          </a:prstGeom>
        </p:spPr>
      </p:pic>
      <p:pic>
        <p:nvPicPr>
          <p:cNvPr id="18" name="그림 17">
            <a:extLst>
              <a:ext uri="{FF2B5EF4-FFF2-40B4-BE49-F238E27FC236}">
                <a16:creationId xmlns:a16="http://schemas.microsoft.com/office/drawing/2014/main" id="{B9C8850E-057A-EE15-7F4F-7357889838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88401" y="1639580"/>
            <a:ext cx="3878041" cy="5462363"/>
          </a:xfrm>
          <a:prstGeom prst="rect">
            <a:avLst/>
          </a:prstGeom>
        </p:spPr>
      </p:pic>
    </p:spTree>
    <p:extLst>
      <p:ext uri="{BB962C8B-B14F-4D97-AF65-F5344CB8AC3E}">
        <p14:creationId xmlns:p14="http://schemas.microsoft.com/office/powerpoint/2010/main" val="40600142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86709D-CDB1-EDEE-C424-3D5841E6EE58}"/>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05</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2C855C5D-11B2-F675-C305-E9E5AAB385F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a:t>
            </a:r>
            <a:r>
              <a:rPr lang="en-US" altLang="ko-KR" sz="2000" dirty="0" err="1">
                <a:solidFill>
                  <a:srgbClr val="3A3A38"/>
                </a:solidFill>
                <a:latin typeface="에스코어 드림 6 Bold" panose="020B0703030302020204" pitchFamily="34" charset="-127"/>
                <a:ea typeface="에스코어 드림 6 Bold" panose="020B0703030302020204" pitchFamily="34" charset="-127"/>
              </a:rPr>
              <a:t>InBody</a:t>
            </a:r>
            <a:r>
              <a:rPr lang="en-US" altLang="ko-KR" sz="2000" dirty="0">
                <a:solidFill>
                  <a:srgbClr val="3A3A38"/>
                </a:solidFill>
                <a:latin typeface="에스코어 드림 6 Bold" panose="020B0703030302020204" pitchFamily="34" charset="-127"/>
                <a:ea typeface="에스코어 드림 6 Bold" panose="020B0703030302020204" pitchFamily="34" charset="-127"/>
              </a:rPr>
              <a:t> S10</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FB803047-7289-0D7A-DA7C-57BF5B7AC467}"/>
              </a:ext>
            </a:extLst>
          </p:cNvPr>
          <p:cNvSpPr txBox="1"/>
          <p:nvPr/>
        </p:nvSpPr>
        <p:spPr>
          <a:xfrm>
            <a:off x="569847" y="638381"/>
            <a:ext cx="2672627"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Features of BWA 2.0</a:t>
            </a:r>
          </a:p>
        </p:txBody>
      </p:sp>
      <p:grpSp>
        <p:nvGrpSpPr>
          <p:cNvPr id="20" name="그룹 19">
            <a:extLst>
              <a:ext uri="{FF2B5EF4-FFF2-40B4-BE49-F238E27FC236}">
                <a16:creationId xmlns:a16="http://schemas.microsoft.com/office/drawing/2014/main" id="{1AE567BF-0B7E-A530-35DF-A78ECC06306E}"/>
              </a:ext>
            </a:extLst>
          </p:cNvPr>
          <p:cNvGrpSpPr/>
          <p:nvPr/>
        </p:nvGrpSpPr>
        <p:grpSpPr>
          <a:xfrm>
            <a:off x="655761" y="1296532"/>
            <a:ext cx="233727" cy="233726"/>
            <a:chOff x="2701227" y="-1816305"/>
            <a:chExt cx="7728206" cy="7728208"/>
          </a:xfrm>
        </p:grpSpPr>
        <p:sp>
          <p:nvSpPr>
            <p:cNvPr id="21" name="자유형: 도형 22">
              <a:extLst>
                <a:ext uri="{FF2B5EF4-FFF2-40B4-BE49-F238E27FC236}">
                  <a16:creationId xmlns:a16="http://schemas.microsoft.com/office/drawing/2014/main" id="{866E9AAF-8905-CFD9-C48C-EA3F72E3CCAE}"/>
                </a:ext>
              </a:extLst>
            </p:cNvPr>
            <p:cNvSpPr/>
            <p:nvPr/>
          </p:nvSpPr>
          <p:spPr>
            <a:xfrm>
              <a:off x="2701227" y="-1816305"/>
              <a:ext cx="7728206" cy="7728208"/>
            </a:xfrm>
            <a:custGeom>
              <a:avLst/>
              <a:gdLst>
                <a:gd name="connsiteX0" fmla="*/ 3864103 w 7728206"/>
                <a:gd name="connsiteY0" fmla="*/ 0 h 7728208"/>
                <a:gd name="connsiteX1" fmla="*/ 7728206 w 7728206"/>
                <a:gd name="connsiteY1" fmla="*/ 3864104 h 7728208"/>
                <a:gd name="connsiteX2" fmla="*/ 3864103 w 7728206"/>
                <a:gd name="connsiteY2" fmla="*/ 7728208 h 7728208"/>
                <a:gd name="connsiteX3" fmla="*/ 0 w 7728206"/>
                <a:gd name="connsiteY3" fmla="*/ 3864104 h 7728208"/>
                <a:gd name="connsiteX4" fmla="*/ 559419 w 7728206"/>
                <a:gd name="connsiteY4" fmla="*/ 1860426 h 7728208"/>
                <a:gd name="connsiteX5" fmla="*/ 561881 w 7728206"/>
                <a:gd name="connsiteY5" fmla="*/ 1856585 h 7728208"/>
                <a:gd name="connsiteX6" fmla="*/ 589139 w 7728206"/>
                <a:gd name="connsiteY6" fmla="*/ 1902712 h 7728208"/>
                <a:gd name="connsiteX7" fmla="*/ 711453 w 7728206"/>
                <a:gd name="connsiteY7" fmla="*/ 2052452 h 7728208"/>
                <a:gd name="connsiteX8" fmla="*/ 1114641 w 7728206"/>
                <a:gd name="connsiteY8" fmla="*/ 2292712 h 7728208"/>
                <a:gd name="connsiteX9" fmla="*/ 1116820 w 7728206"/>
                <a:gd name="connsiteY9" fmla="*/ 2293244 h 7728208"/>
                <a:gd name="connsiteX10" fmla="*/ 1079530 w 7728206"/>
                <a:gd name="connsiteY10" fmla="*/ 2354625 h 7728208"/>
                <a:gd name="connsiteX11" fmla="*/ 697316 w 7728206"/>
                <a:gd name="connsiteY11" fmla="*/ 3864104 h 7728208"/>
                <a:gd name="connsiteX12" fmla="*/ 3864103 w 7728206"/>
                <a:gd name="connsiteY12" fmla="*/ 7030892 h 7728208"/>
                <a:gd name="connsiteX13" fmla="*/ 7030890 w 7728206"/>
                <a:gd name="connsiteY13" fmla="*/ 3864104 h 7728208"/>
                <a:gd name="connsiteX14" fmla="*/ 3864103 w 7728206"/>
                <a:gd name="connsiteY14" fmla="*/ 697316 h 7728208"/>
                <a:gd name="connsiteX15" fmla="*/ 2354625 w 7728206"/>
                <a:gd name="connsiteY15" fmla="*/ 1079530 h 7728208"/>
                <a:gd name="connsiteX16" fmla="*/ 2302902 w 7728206"/>
                <a:gd name="connsiteY16" fmla="*/ 1110953 h 7728208"/>
                <a:gd name="connsiteX17" fmla="*/ 2301626 w 7728206"/>
                <a:gd name="connsiteY17" fmla="*/ 1105727 h 7728208"/>
                <a:gd name="connsiteX18" fmla="*/ 2061365 w 7728206"/>
                <a:gd name="connsiteY18" fmla="*/ 702540 h 7728208"/>
                <a:gd name="connsiteX19" fmla="*/ 1911626 w 7728206"/>
                <a:gd name="connsiteY19" fmla="*/ 580225 h 7728208"/>
                <a:gd name="connsiteX20" fmla="*/ 1868530 w 7728206"/>
                <a:gd name="connsiteY20" fmla="*/ 554759 h 7728208"/>
                <a:gd name="connsiteX21" fmla="*/ 2022242 w 7728206"/>
                <a:gd name="connsiteY21" fmla="*/ 466377 h 7728208"/>
                <a:gd name="connsiteX22" fmla="*/ 3864103 w 7728206"/>
                <a:gd name="connsiteY22" fmla="*/ 0 h 772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728206" h="7728208">
                  <a:moveTo>
                    <a:pt x="3864103" y="0"/>
                  </a:moveTo>
                  <a:cubicBezTo>
                    <a:pt x="5998188" y="0"/>
                    <a:pt x="7728206" y="1730018"/>
                    <a:pt x="7728206" y="3864104"/>
                  </a:cubicBezTo>
                  <a:cubicBezTo>
                    <a:pt x="7728206" y="5998190"/>
                    <a:pt x="5998188" y="7728208"/>
                    <a:pt x="3864103" y="7728208"/>
                  </a:cubicBezTo>
                  <a:cubicBezTo>
                    <a:pt x="1730018" y="7728208"/>
                    <a:pt x="0" y="5998190"/>
                    <a:pt x="0" y="3864104"/>
                  </a:cubicBezTo>
                  <a:cubicBezTo>
                    <a:pt x="0" y="3130512"/>
                    <a:pt x="204426" y="2444666"/>
                    <a:pt x="559419" y="1860426"/>
                  </a:cubicBezTo>
                  <a:lnTo>
                    <a:pt x="561881" y="1856585"/>
                  </a:lnTo>
                  <a:lnTo>
                    <a:pt x="589139" y="1902712"/>
                  </a:lnTo>
                  <a:cubicBezTo>
                    <a:pt x="624086" y="1955641"/>
                    <a:pt x="664857" y="2005856"/>
                    <a:pt x="711453" y="2052452"/>
                  </a:cubicBezTo>
                  <a:cubicBezTo>
                    <a:pt x="827943" y="2168942"/>
                    <a:pt x="967051" y="2249029"/>
                    <a:pt x="1114641" y="2292712"/>
                  </a:cubicBezTo>
                  <a:lnTo>
                    <a:pt x="1116820" y="2293244"/>
                  </a:lnTo>
                  <a:lnTo>
                    <a:pt x="1079530" y="2354625"/>
                  </a:lnTo>
                  <a:cubicBezTo>
                    <a:pt x="835775" y="2803337"/>
                    <a:pt x="697316" y="3317551"/>
                    <a:pt x="697316" y="3864104"/>
                  </a:cubicBezTo>
                  <a:cubicBezTo>
                    <a:pt x="697316" y="5613073"/>
                    <a:pt x="2115135" y="7030892"/>
                    <a:pt x="3864103" y="7030892"/>
                  </a:cubicBezTo>
                  <a:cubicBezTo>
                    <a:pt x="5613071" y="7030892"/>
                    <a:pt x="7030890" y="5613073"/>
                    <a:pt x="7030890" y="3864104"/>
                  </a:cubicBezTo>
                  <a:cubicBezTo>
                    <a:pt x="7030890" y="2115135"/>
                    <a:pt x="5613071" y="697316"/>
                    <a:pt x="3864103" y="697316"/>
                  </a:cubicBezTo>
                  <a:cubicBezTo>
                    <a:pt x="3317551" y="697316"/>
                    <a:pt x="2803337" y="835775"/>
                    <a:pt x="2354625" y="1079530"/>
                  </a:cubicBezTo>
                  <a:lnTo>
                    <a:pt x="2302902" y="1110953"/>
                  </a:lnTo>
                  <a:lnTo>
                    <a:pt x="2301626" y="1105727"/>
                  </a:lnTo>
                  <a:cubicBezTo>
                    <a:pt x="2257942" y="958138"/>
                    <a:pt x="2177855" y="819030"/>
                    <a:pt x="2061365" y="702540"/>
                  </a:cubicBezTo>
                  <a:cubicBezTo>
                    <a:pt x="2014769" y="655944"/>
                    <a:pt x="1964555" y="615172"/>
                    <a:pt x="1911626" y="580225"/>
                  </a:cubicBezTo>
                  <a:lnTo>
                    <a:pt x="1868530" y="554759"/>
                  </a:lnTo>
                  <a:lnTo>
                    <a:pt x="2022242" y="466377"/>
                  </a:lnTo>
                  <a:cubicBezTo>
                    <a:pt x="2569760" y="168947"/>
                    <a:pt x="3197202" y="0"/>
                    <a:pt x="3864103" y="0"/>
                  </a:cubicBezTo>
                  <a:close/>
                </a:path>
              </a:pathLst>
            </a:custGeom>
            <a:solidFill>
              <a:srgbClr val="D6D9DE"/>
            </a:solidFill>
            <a:ln w="412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sp>
          <p:nvSpPr>
            <p:cNvPr id="22" name="타원 21">
              <a:extLst>
                <a:ext uri="{FF2B5EF4-FFF2-40B4-BE49-F238E27FC236}">
                  <a16:creationId xmlns:a16="http://schemas.microsoft.com/office/drawing/2014/main" id="{B7078F2F-3351-FF5F-EBDA-E0AB52BA37A3}"/>
                </a:ext>
              </a:extLst>
            </p:cNvPr>
            <p:cNvSpPr/>
            <p:nvPr/>
          </p:nvSpPr>
          <p:spPr>
            <a:xfrm rot="13500000">
              <a:off x="3399765" y="-1151937"/>
              <a:ext cx="1375744" cy="1375744"/>
            </a:xfrm>
            <a:prstGeom prst="ellipse">
              <a:avLst/>
            </a:prstGeom>
            <a:solidFill>
              <a:srgbClr val="9E0B28"/>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ko-KR" altLang="en-US" sz="1600" dirty="0">
                <a:ln w="12700">
                  <a:solidFill>
                    <a:schemeClr val="bg1">
                      <a:lumMod val="75000"/>
                      <a:alpha val="0"/>
                    </a:schemeClr>
                  </a:solidFill>
                </a:ln>
                <a:latin typeface="Lato Black" panose="020F0502020204030203" pitchFamily="34" charset="0"/>
                <a:ea typeface="에스코어 드림 7 ExtraBold" panose="020B0803030302020204" pitchFamily="34" charset="-127"/>
                <a:cs typeface="Lato Black" panose="020F0502020204030203" pitchFamily="34" charset="0"/>
              </a:endParaRPr>
            </a:p>
          </p:txBody>
        </p:sp>
      </p:grpSp>
      <p:sp>
        <p:nvSpPr>
          <p:cNvPr id="24" name="TextBox 23">
            <a:extLst>
              <a:ext uri="{FF2B5EF4-FFF2-40B4-BE49-F238E27FC236}">
                <a16:creationId xmlns:a16="http://schemas.microsoft.com/office/drawing/2014/main" id="{1A31B046-91A7-58F8-C979-9BCE5D13CA0D}"/>
              </a:ext>
            </a:extLst>
          </p:cNvPr>
          <p:cNvSpPr txBox="1"/>
          <p:nvPr/>
        </p:nvSpPr>
        <p:spPr>
          <a:xfrm>
            <a:off x="871200" y="1249784"/>
            <a:ext cx="7102368" cy="307777"/>
          </a:xfrm>
          <a:prstGeom prst="rect">
            <a:avLst/>
          </a:prstGeom>
          <a:noFill/>
        </p:spPr>
        <p:txBody>
          <a:bodyPr wrap="square">
            <a:spAutoFit/>
          </a:bodyPr>
          <a:lstStyle/>
          <a:p>
            <a:r>
              <a:rPr lang="en-US" altLang="ko-KR" sz="1400" spc="-150" dirty="0">
                <a:solidFill>
                  <a:srgbClr val="A0112D"/>
                </a:solidFill>
                <a:latin typeface="Lato Black" panose="020F0502020204030203" pitchFamily="34" charset="0"/>
                <a:ea typeface="Lato Black" panose="020F0502020204030203" pitchFamily="34" charset="0"/>
                <a:cs typeface="Lato Black" panose="020F0502020204030203" pitchFamily="34" charset="0"/>
              </a:rPr>
              <a:t>⑥</a:t>
            </a:r>
            <a:r>
              <a:rPr lang="en-US" altLang="ko-KR" sz="1400" b="1" dirty="0">
                <a:solidFill>
                  <a:srgbClr val="A0112D"/>
                </a:solidFill>
                <a:latin typeface="Lato Black" panose="020F0502020204030203" pitchFamily="34" charset="0"/>
                <a:ea typeface="Lato Black" panose="020F0502020204030203" pitchFamily="34" charset="0"/>
                <a:cs typeface="Lato Black" panose="020F0502020204030203" pitchFamily="34" charset="0"/>
              </a:rPr>
              <a:t> Adjusted SMI</a:t>
            </a:r>
            <a:endParaRPr lang="en-US" altLang="ko-KR" sz="1400" b="1" spc="-150" dirty="0">
              <a:solidFill>
                <a:srgbClr val="A0112D"/>
              </a:solidFill>
              <a:latin typeface="Lato Black" panose="020F0502020204030203" pitchFamily="34" charset="0"/>
              <a:ea typeface="Lato Black" panose="020F0502020204030203" pitchFamily="34" charset="0"/>
              <a:cs typeface="Lato Black" panose="020F0502020204030203" pitchFamily="34" charset="0"/>
            </a:endParaRPr>
          </a:p>
        </p:txBody>
      </p:sp>
      <p:pic>
        <p:nvPicPr>
          <p:cNvPr id="27" name="그림 26" descr="텍스트, 스크린샷, 도표, 라인이(가) 표시된 사진&#10;&#10;자동 생성된 설명">
            <a:extLst>
              <a:ext uri="{FF2B5EF4-FFF2-40B4-BE49-F238E27FC236}">
                <a16:creationId xmlns:a16="http://schemas.microsoft.com/office/drawing/2014/main" id="{3BCD2C59-E7A9-514B-7D39-15E3BD1370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9488" y="2184915"/>
            <a:ext cx="5535168" cy="3459480"/>
          </a:xfrm>
          <a:prstGeom prst="rect">
            <a:avLst/>
          </a:prstGeom>
        </p:spPr>
      </p:pic>
      <p:pic>
        <p:nvPicPr>
          <p:cNvPr id="34" name="그림 33" descr="텍스트, 폰트, 스크린샷, 라인이(가) 표시된 사진&#10;&#10;자동 생성된 설명">
            <a:extLst>
              <a:ext uri="{FF2B5EF4-FFF2-40B4-BE49-F238E27FC236}">
                <a16:creationId xmlns:a16="http://schemas.microsoft.com/office/drawing/2014/main" id="{684F9043-0485-5987-7F9B-07C46ABF57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7474" y="3648280"/>
            <a:ext cx="3534268" cy="657317"/>
          </a:xfrm>
          <a:prstGeom prst="rect">
            <a:avLst/>
          </a:prstGeom>
        </p:spPr>
      </p:pic>
    </p:spTree>
    <p:extLst>
      <p:ext uri="{BB962C8B-B14F-4D97-AF65-F5344CB8AC3E}">
        <p14:creationId xmlns:p14="http://schemas.microsoft.com/office/powerpoint/2010/main" val="15937389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50">
            <a:extLst>
              <a:ext uri="{FF2B5EF4-FFF2-40B4-BE49-F238E27FC236}">
                <a16:creationId xmlns:a16="http://schemas.microsoft.com/office/drawing/2014/main" id="{326D874F-1942-294B-90C5-320A68E69828}"/>
              </a:ext>
            </a:extLst>
          </p:cNvPr>
          <p:cNvSpPr txBox="1">
            <a:spLocks/>
          </p:cNvSpPr>
          <p:nvPr/>
        </p:nvSpPr>
        <p:spPr>
          <a:xfrm>
            <a:off x="4896975" y="2604924"/>
            <a:ext cx="2358859" cy="249299"/>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Font typeface="Arial" panose="020B0604020202020204" pitchFamily="34" charset="0"/>
              <a:buNone/>
              <a:defRPr kumimoji="1" lang="ko-KR" altLang="en-US" sz="2800" b="1" kern="1200" dirty="0" smtClean="0">
                <a:ln>
                  <a:solidFill>
                    <a:schemeClr val="tx1">
                      <a:lumMod val="65000"/>
                      <a:lumOff val="35000"/>
                      <a:alpha val="0"/>
                    </a:schemeClr>
                  </a:solidFill>
                </a:ln>
                <a:solidFill>
                  <a:srgbClr val="656E7D"/>
                </a:solidFill>
                <a:latin typeface="Lato" panose="020F0502020204030203" pitchFamily="34" charset="0"/>
                <a:ea typeface="Noto Sans KR" panose="020B0500000000000000" pitchFamily="34" charset="-127"/>
                <a:cs typeface="Lato" panose="020F0502020204030203" pitchFamily="34" charset="0"/>
              </a:defRPr>
            </a:lvl1pPr>
            <a:lvl2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2pPr>
            <a:lvl3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3pPr>
            <a:lvl4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smtClean="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4pPr>
            <a:lvl5pPr marL="0" indent="-228600" algn="l" defTabSz="914400" rtl="0" eaLnBrk="1" latinLnBrk="0" hangingPunct="1">
              <a:lnSpc>
                <a:spcPct val="90000"/>
              </a:lnSpc>
              <a:spcBef>
                <a:spcPts val="500"/>
              </a:spcBef>
              <a:buFont typeface="Arial" panose="020B0604020202020204" pitchFamily="34" charset="0"/>
              <a:buChar char="•"/>
              <a:defRPr kumimoji="1" lang="ko-KR" altLang="en-US" sz="800" kern="1200" dirty="0">
                <a:ln>
                  <a:solidFill>
                    <a:srgbClr val="656E7D">
                      <a:alpha val="0"/>
                    </a:srgbClr>
                  </a:solidFill>
                </a:ln>
                <a:solidFill>
                  <a:srgbClr val="4E4F4F"/>
                </a:solidFill>
                <a:latin typeface="Noto Sans CJK KR Regular" panose="020B0500000000000000" pitchFamily="34" charset="-128"/>
                <a:ea typeface="Noto Sans CJK KR Regular" panose="020B05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Part</a:t>
            </a:r>
            <a:r>
              <a:rPr lang="ko-KR" altLang="en-US" sz="180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rPr>
              <a:t> </a:t>
            </a:r>
            <a:r>
              <a:rPr lang="en-US" altLang="ko-KR" sz="1800">
                <a:ln>
                  <a:solidFill>
                    <a:schemeClr val="tx1">
                      <a:lumMod val="95000"/>
                      <a:lumOff val="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6</a:t>
            </a:r>
            <a:endParaRPr lang="ko-KR" altLang="en-US" sz="1800" dirty="0">
              <a:ln>
                <a:solidFill>
                  <a:schemeClr val="tx1">
                    <a:lumMod val="95000"/>
                    <a:lumOff val="5000"/>
                    <a:alpha val="0"/>
                  </a:schemeClr>
                </a:solidFill>
              </a:ln>
              <a:solidFill>
                <a:srgbClr val="9E0B28"/>
              </a:solidFill>
              <a:latin typeface="Lato Black" panose="020F0502020204030203" pitchFamily="34" charset="0"/>
              <a:cs typeface="Lato Black" panose="020F0502020204030203" pitchFamily="34" charset="0"/>
            </a:endParaRPr>
          </a:p>
        </p:txBody>
      </p:sp>
      <p:sp>
        <p:nvSpPr>
          <p:cNvPr id="4" name="텍스트 개체 틀 4">
            <a:extLst>
              <a:ext uri="{FF2B5EF4-FFF2-40B4-BE49-F238E27FC236}">
                <a16:creationId xmlns:a16="http://schemas.microsoft.com/office/drawing/2014/main" id="{467AFA88-CA99-3047-90FB-F4C2473E60C3}"/>
              </a:ext>
            </a:extLst>
          </p:cNvPr>
          <p:cNvSpPr txBox="1">
            <a:spLocks/>
          </p:cNvSpPr>
          <p:nvPr/>
        </p:nvSpPr>
        <p:spPr>
          <a:xfrm>
            <a:off x="2027465" y="3119633"/>
            <a:ext cx="8366215" cy="6059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ko-KR" sz="3400" spc="-150" dirty="0">
                <a:solidFill>
                  <a:srgbClr val="3A3A38"/>
                </a:solidFill>
                <a:latin typeface="S-Core Dream 5 Medium" panose="020B0503030302020204" pitchFamily="34" charset="-127"/>
                <a:ea typeface="S-Core Dream 5 Medium" panose="020B0503030302020204" pitchFamily="34" charset="-127"/>
              </a:rPr>
              <a:t>BWA2.0 vs BCM</a:t>
            </a:r>
            <a:endParaRPr lang="ko-KR" altLang="en-US" sz="3400" spc="-150" dirty="0">
              <a:solidFill>
                <a:srgbClr val="3A3A38"/>
              </a:solidFill>
              <a:latin typeface="S-Core Dream 5 Medium" panose="020B0503030302020204" pitchFamily="34" charset="-127"/>
              <a:ea typeface="S-Core Dream 5 Medium" panose="020B0503030302020204" pitchFamily="34" charset="-127"/>
            </a:endParaRPr>
          </a:p>
        </p:txBody>
      </p:sp>
    </p:spTree>
    <p:extLst>
      <p:ext uri="{BB962C8B-B14F-4D97-AF65-F5344CB8AC3E}">
        <p14:creationId xmlns:p14="http://schemas.microsoft.com/office/powerpoint/2010/main" val="3229548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사각형: 둥근 모서리 38">
            <a:extLst>
              <a:ext uri="{FF2B5EF4-FFF2-40B4-BE49-F238E27FC236}">
                <a16:creationId xmlns:a16="http://schemas.microsoft.com/office/drawing/2014/main" id="{3A5F43DC-4A88-46D3-8882-E8627E0A9024}"/>
              </a:ext>
            </a:extLst>
          </p:cNvPr>
          <p:cNvSpPr/>
          <p:nvPr/>
        </p:nvSpPr>
        <p:spPr>
          <a:xfrm>
            <a:off x="7893913" y="4119645"/>
            <a:ext cx="1705810" cy="352080"/>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Picture 2"/>
          <p:cNvPicPr>
            <a:picLocks noChangeAspect="1" noChangeArrowheads="1"/>
          </p:cNvPicPr>
          <p:nvPr/>
        </p:nvPicPr>
        <p:blipFill>
          <a:blip r:embed="rId2" cstate="print"/>
          <a:srcRect/>
          <a:stretch>
            <a:fillRect/>
          </a:stretch>
        </p:blipFill>
        <p:spPr bwMode="auto">
          <a:xfrm>
            <a:off x="3991108" y="2019365"/>
            <a:ext cx="3567614" cy="3143272"/>
          </a:xfrm>
          <a:prstGeom prst="rect">
            <a:avLst/>
          </a:prstGeom>
          <a:noFill/>
          <a:ln w="12700">
            <a:noFill/>
            <a:prstDash val="dash"/>
            <a:miter lim="800000"/>
            <a:headEnd/>
            <a:tailEnd/>
          </a:ln>
          <a:effectLst/>
        </p:spPr>
      </p:pic>
      <p:cxnSp>
        <p:nvCxnSpPr>
          <p:cNvPr id="7" name="직선 연결선 6"/>
          <p:cNvCxnSpPr/>
          <p:nvPr/>
        </p:nvCxnSpPr>
        <p:spPr>
          <a:xfrm>
            <a:off x="3562480" y="2162241"/>
            <a:ext cx="1800000" cy="158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sp>
        <p:nvSpPr>
          <p:cNvPr id="8" name="타원 7"/>
          <p:cNvSpPr/>
          <p:nvPr/>
        </p:nvSpPr>
        <p:spPr>
          <a:xfrm>
            <a:off x="5134116" y="3305249"/>
            <a:ext cx="142876" cy="142876"/>
          </a:xfrm>
          <a:prstGeom prst="ellipse">
            <a:avLst/>
          </a:prstGeom>
          <a:solidFill>
            <a:srgbClr val="67767F"/>
          </a:solidFill>
          <a:ln w="12700">
            <a:solidFill>
              <a:srgbClr val="4B4F5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p:cNvSpPr/>
          <p:nvPr/>
        </p:nvSpPr>
        <p:spPr>
          <a:xfrm>
            <a:off x="5502323" y="3354653"/>
            <a:ext cx="142876" cy="142876"/>
          </a:xfrm>
          <a:prstGeom prst="ellipse">
            <a:avLst/>
          </a:prstGeom>
          <a:solidFill>
            <a:srgbClr val="67767F"/>
          </a:solidFill>
          <a:ln w="12700">
            <a:solidFill>
              <a:srgbClr val="4B4F5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 name="직선 연결선 9"/>
          <p:cNvCxnSpPr/>
          <p:nvPr/>
        </p:nvCxnSpPr>
        <p:spPr>
          <a:xfrm rot="5400000">
            <a:off x="4991240" y="2519431"/>
            <a:ext cx="714380" cy="158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12" name="직선 연결선 11"/>
          <p:cNvCxnSpPr/>
          <p:nvPr/>
        </p:nvCxnSpPr>
        <p:spPr>
          <a:xfrm>
            <a:off x="3570464" y="3122398"/>
            <a:ext cx="1800000" cy="158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14" name="직선 연결선 13"/>
          <p:cNvCxnSpPr>
            <a:cxnSpLocks/>
          </p:cNvCxnSpPr>
          <p:nvPr/>
        </p:nvCxnSpPr>
        <p:spPr>
          <a:xfrm>
            <a:off x="6705753" y="3519563"/>
            <a:ext cx="1511957" cy="0"/>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a:off x="3248790" y="4343768"/>
            <a:ext cx="1440000" cy="158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6920067" y="2948059"/>
            <a:ext cx="1080000" cy="158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21" name="꺾인 연결선 20"/>
          <p:cNvCxnSpPr/>
          <p:nvPr/>
        </p:nvCxnSpPr>
        <p:spPr>
          <a:xfrm rot="16200000" flipH="1">
            <a:off x="5378857" y="3232297"/>
            <a:ext cx="21600" cy="267179"/>
          </a:xfrm>
          <a:prstGeom prst="bentConnector3">
            <a:avLst>
              <a:gd name="adj1" fmla="val -732904"/>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22" name="직선 연결선 21"/>
          <p:cNvCxnSpPr/>
          <p:nvPr/>
        </p:nvCxnSpPr>
        <p:spPr>
          <a:xfrm rot="5400000">
            <a:off x="5335258" y="3158630"/>
            <a:ext cx="72000" cy="158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p:nvCxnSpPr>
        <p:spPr>
          <a:xfrm flipV="1">
            <a:off x="5276992" y="3876753"/>
            <a:ext cx="214314" cy="7143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24" name="직선 연결선 23"/>
          <p:cNvCxnSpPr/>
          <p:nvPr/>
        </p:nvCxnSpPr>
        <p:spPr>
          <a:xfrm rot="16200000" flipH="1">
            <a:off x="5348430" y="3733877"/>
            <a:ext cx="142876" cy="142876"/>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82B609D-E09E-0B1F-5A3E-8D695707BBEC}"/>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B3D6073C-9A0D-7B99-2C0B-0A99CB8EB3A4}"/>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cxnSp>
        <p:nvCxnSpPr>
          <p:cNvPr id="30" name="직선 연결선 29">
            <a:extLst>
              <a:ext uri="{FF2B5EF4-FFF2-40B4-BE49-F238E27FC236}">
                <a16:creationId xmlns:a16="http://schemas.microsoft.com/office/drawing/2014/main" id="{4423D55C-52AF-F601-FB46-AEA06B6B1C93}"/>
              </a:ext>
            </a:extLst>
          </p:cNvPr>
          <p:cNvCxnSpPr/>
          <p:nvPr/>
        </p:nvCxnSpPr>
        <p:spPr>
          <a:xfrm>
            <a:off x="5491306" y="3876753"/>
            <a:ext cx="0" cy="428628"/>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B9B46A0A-62A5-1EE3-E8F4-51CD77D15494}"/>
              </a:ext>
            </a:extLst>
          </p:cNvPr>
          <p:cNvCxnSpPr/>
          <p:nvPr/>
        </p:nvCxnSpPr>
        <p:spPr>
          <a:xfrm>
            <a:off x="5489813" y="4305381"/>
            <a:ext cx="2311163" cy="0"/>
          </a:xfrm>
          <a:prstGeom prst="line">
            <a:avLst/>
          </a:prstGeom>
          <a:ln w="12700">
            <a:solidFill>
              <a:srgbClr val="4B4F5A"/>
            </a:solidFill>
            <a:prstDash val="solid"/>
          </a:ln>
        </p:spPr>
        <p:style>
          <a:lnRef idx="1">
            <a:schemeClr val="accent1"/>
          </a:lnRef>
          <a:fillRef idx="0">
            <a:schemeClr val="accent1"/>
          </a:fillRef>
          <a:effectRef idx="0">
            <a:schemeClr val="accent1"/>
          </a:effectRef>
          <a:fontRef idx="minor">
            <a:schemeClr val="tx1"/>
          </a:fontRef>
        </p:style>
      </p:cxnSp>
      <p:sp>
        <p:nvSpPr>
          <p:cNvPr id="34" name="사각형: 둥근 모서리 33">
            <a:extLst>
              <a:ext uri="{FF2B5EF4-FFF2-40B4-BE49-F238E27FC236}">
                <a16:creationId xmlns:a16="http://schemas.microsoft.com/office/drawing/2014/main" id="{6FF6FDAC-DB5B-57F5-D611-0481611DB3D7}"/>
              </a:ext>
            </a:extLst>
          </p:cNvPr>
          <p:cNvSpPr/>
          <p:nvPr/>
        </p:nvSpPr>
        <p:spPr>
          <a:xfrm>
            <a:off x="1950107" y="2942088"/>
            <a:ext cx="1705810" cy="352080"/>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사각형: 둥근 모서리 35">
            <a:extLst>
              <a:ext uri="{FF2B5EF4-FFF2-40B4-BE49-F238E27FC236}">
                <a16:creationId xmlns:a16="http://schemas.microsoft.com/office/drawing/2014/main" id="{BE1B8CA3-5C89-012C-D494-4539595A062A}"/>
              </a:ext>
            </a:extLst>
          </p:cNvPr>
          <p:cNvSpPr/>
          <p:nvPr/>
        </p:nvSpPr>
        <p:spPr>
          <a:xfrm>
            <a:off x="2046107" y="4170323"/>
            <a:ext cx="1286013" cy="338554"/>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사각형: 둥근 모서리 32">
            <a:extLst>
              <a:ext uri="{FF2B5EF4-FFF2-40B4-BE49-F238E27FC236}">
                <a16:creationId xmlns:a16="http://schemas.microsoft.com/office/drawing/2014/main" id="{D9556FCD-AE7E-BA0D-3F21-DDDD3E70F834}"/>
              </a:ext>
            </a:extLst>
          </p:cNvPr>
          <p:cNvSpPr/>
          <p:nvPr/>
        </p:nvSpPr>
        <p:spPr>
          <a:xfrm>
            <a:off x="2540349" y="1965638"/>
            <a:ext cx="1115568" cy="338554"/>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2197237" y="1958944"/>
            <a:ext cx="1351987" cy="338554"/>
          </a:xfrm>
          <a:prstGeom prst="rect">
            <a:avLst/>
          </a:prstGeom>
          <a:noFill/>
        </p:spPr>
        <p:txBody>
          <a:bodyPr wrap="square" rtlCol="0">
            <a:spAutoFit/>
          </a:bodyPr>
          <a:lstStyle/>
          <a:p>
            <a:pPr algn="r"/>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Display</a:t>
            </a:r>
            <a:endParaRPr lang="ko-KR" altLang="en-US" sz="1600" dirty="0">
              <a:solidFill>
                <a:schemeClr val="bg1"/>
              </a:solidFill>
              <a:latin typeface="Lato Black" panose="020F0502020204030203" pitchFamily="34" charset="0"/>
              <a:ea typeface="+mj-ea"/>
              <a:cs typeface="Lato Black" panose="020F0502020204030203" pitchFamily="34" charset="0"/>
            </a:endParaRPr>
          </a:p>
        </p:txBody>
      </p:sp>
      <p:sp>
        <p:nvSpPr>
          <p:cNvPr id="13" name="TextBox 12"/>
          <p:cNvSpPr txBox="1"/>
          <p:nvPr/>
        </p:nvSpPr>
        <p:spPr>
          <a:xfrm>
            <a:off x="1951695" y="2948059"/>
            <a:ext cx="1643075" cy="338554"/>
          </a:xfrm>
          <a:prstGeom prst="rect">
            <a:avLst/>
          </a:prstGeom>
          <a:noFill/>
        </p:spPr>
        <p:txBody>
          <a:bodyPr wrap="square" rtlCol="0">
            <a:spAutoFit/>
          </a:bodyPr>
          <a:lstStyle/>
          <a:p>
            <a:pPr algn="r"/>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Navigation Key</a:t>
            </a:r>
            <a:endParaRPr lang="ko-KR" altLang="en-US" sz="1600" dirty="0">
              <a:solidFill>
                <a:schemeClr val="bg1"/>
              </a:solidFill>
              <a:latin typeface="Lato Black" panose="020F0502020204030203" pitchFamily="34" charset="0"/>
              <a:ea typeface="+mj-ea"/>
              <a:cs typeface="Lato Black" panose="020F0502020204030203" pitchFamily="34" charset="0"/>
            </a:endParaRPr>
          </a:p>
        </p:txBody>
      </p:sp>
      <p:sp>
        <p:nvSpPr>
          <p:cNvPr id="19" name="TextBox 18"/>
          <p:cNvSpPr txBox="1"/>
          <p:nvPr/>
        </p:nvSpPr>
        <p:spPr>
          <a:xfrm>
            <a:off x="2062282" y="4162505"/>
            <a:ext cx="2071702" cy="338554"/>
          </a:xfrm>
          <a:prstGeom prst="rect">
            <a:avLst/>
          </a:prstGeom>
          <a:noFill/>
        </p:spPr>
        <p:txBody>
          <a:bodyPr wrap="square" rtlCol="0">
            <a:spAutoFit/>
          </a:bodyPr>
          <a:lstStyle/>
          <a:p>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On/Off key</a:t>
            </a:r>
            <a:endParaRPr lang="ko-KR" altLang="en-US" sz="1600" dirty="0">
              <a:solidFill>
                <a:schemeClr val="bg1"/>
              </a:solidFill>
              <a:latin typeface="Lato Black" panose="020F0502020204030203" pitchFamily="34" charset="0"/>
              <a:ea typeface="+mj-ea"/>
              <a:cs typeface="Lato Black" panose="020F0502020204030203" pitchFamily="34" charset="0"/>
            </a:endParaRPr>
          </a:p>
        </p:txBody>
      </p:sp>
      <p:sp>
        <p:nvSpPr>
          <p:cNvPr id="37" name="사각형: 둥근 모서리 36">
            <a:extLst>
              <a:ext uri="{FF2B5EF4-FFF2-40B4-BE49-F238E27FC236}">
                <a16:creationId xmlns:a16="http://schemas.microsoft.com/office/drawing/2014/main" id="{995508C9-0F84-828D-145F-411DDD3F9409}"/>
              </a:ext>
            </a:extLst>
          </p:cNvPr>
          <p:cNvSpPr/>
          <p:nvPr/>
        </p:nvSpPr>
        <p:spPr>
          <a:xfrm>
            <a:off x="7893913" y="2797208"/>
            <a:ext cx="1705810" cy="352080"/>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사각형: 둥근 모서리 37">
            <a:extLst>
              <a:ext uri="{FF2B5EF4-FFF2-40B4-BE49-F238E27FC236}">
                <a16:creationId xmlns:a16="http://schemas.microsoft.com/office/drawing/2014/main" id="{878AB3D4-B963-B559-FE4E-E7882598EC09}"/>
              </a:ext>
            </a:extLst>
          </p:cNvPr>
          <p:cNvSpPr/>
          <p:nvPr/>
        </p:nvSpPr>
        <p:spPr>
          <a:xfrm>
            <a:off x="7893913" y="3368002"/>
            <a:ext cx="1705810" cy="352080"/>
          </a:xfrm>
          <a:prstGeom prst="roundRect">
            <a:avLst>
              <a:gd name="adj" fmla="val 50000"/>
            </a:avLst>
          </a:prstGeom>
          <a:solidFill>
            <a:srgbClr val="677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3"/>
          <p:cNvSpPr txBox="1"/>
          <p:nvPr/>
        </p:nvSpPr>
        <p:spPr>
          <a:xfrm>
            <a:off x="7991636" y="2805183"/>
            <a:ext cx="2071703" cy="338554"/>
          </a:xfrm>
          <a:prstGeom prst="rect">
            <a:avLst/>
          </a:prstGeom>
          <a:noFill/>
        </p:spPr>
        <p:txBody>
          <a:bodyPr wrap="square" rtlCol="0">
            <a:spAutoFit/>
          </a:bodyPr>
          <a:lstStyle/>
          <a:p>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Swivel handle</a:t>
            </a:r>
            <a:endParaRPr lang="ko-KR" altLang="en-US" sz="1600" dirty="0">
              <a:solidFill>
                <a:schemeClr val="bg1"/>
              </a:solidFill>
              <a:latin typeface="Lato Black" panose="020F0502020204030203" pitchFamily="34" charset="0"/>
              <a:ea typeface="+mj-ea"/>
              <a:cs typeface="Lato Black" panose="020F0502020204030203" pitchFamily="34" charset="0"/>
            </a:endParaRPr>
          </a:p>
        </p:txBody>
      </p:sp>
      <p:sp>
        <p:nvSpPr>
          <p:cNvPr id="15" name="TextBox 14"/>
          <p:cNvSpPr txBox="1"/>
          <p:nvPr/>
        </p:nvSpPr>
        <p:spPr>
          <a:xfrm>
            <a:off x="7893913" y="3376687"/>
            <a:ext cx="2071703" cy="338554"/>
          </a:xfrm>
          <a:prstGeom prst="rect">
            <a:avLst/>
          </a:prstGeom>
          <a:noFill/>
        </p:spPr>
        <p:txBody>
          <a:bodyPr wrap="square" rtlCol="0">
            <a:spAutoFit/>
          </a:bodyPr>
          <a:lstStyle/>
          <a:p>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Patient card slot</a:t>
            </a:r>
            <a:endParaRPr lang="ko-KR" altLang="en-US" sz="1600" dirty="0">
              <a:solidFill>
                <a:schemeClr val="bg1"/>
              </a:solidFill>
              <a:latin typeface="Lato Black" panose="020F0502020204030203" pitchFamily="34" charset="0"/>
              <a:ea typeface="+mj-ea"/>
              <a:cs typeface="Lato Black" panose="020F0502020204030203" pitchFamily="34" charset="0"/>
            </a:endParaRPr>
          </a:p>
        </p:txBody>
      </p:sp>
      <p:sp>
        <p:nvSpPr>
          <p:cNvPr id="42" name="TextBox 41">
            <a:extLst>
              <a:ext uri="{FF2B5EF4-FFF2-40B4-BE49-F238E27FC236}">
                <a16:creationId xmlns:a16="http://schemas.microsoft.com/office/drawing/2014/main" id="{C32D9BA2-B8C5-D00E-023A-26323678B67B}"/>
              </a:ext>
            </a:extLst>
          </p:cNvPr>
          <p:cNvSpPr txBox="1"/>
          <p:nvPr/>
        </p:nvSpPr>
        <p:spPr>
          <a:xfrm>
            <a:off x="7955060" y="4470720"/>
            <a:ext cx="2071702" cy="461665"/>
          </a:xfrm>
          <a:prstGeom prst="rect">
            <a:avLst/>
          </a:prstGeom>
          <a:noFill/>
        </p:spPr>
        <p:txBody>
          <a:bodyPr wrap="square" rtlCol="0">
            <a:spAutoFit/>
          </a:bodyPr>
          <a:lstStyle/>
          <a:p>
            <a:r>
              <a:rPr lang="en-US" altLang="ko-KR" sz="1200" dirty="0">
                <a:latin typeface="Lato" panose="020F0502020204030203" pitchFamily="34" charset="0"/>
                <a:ea typeface="Lato" panose="020F0502020204030203" pitchFamily="34" charset="0"/>
                <a:cs typeface="Lato" panose="020F0502020204030203" pitchFamily="34" charset="0"/>
              </a:rPr>
              <a:t>to select and enter numerical data</a:t>
            </a:r>
            <a:endParaRPr lang="ko-KR" altLang="en-US" sz="1200" dirty="0">
              <a:latin typeface="Lato" panose="020F0502020204030203" pitchFamily="34" charset="0"/>
              <a:ea typeface="+mj-ea"/>
              <a:cs typeface="Lato" panose="020F0502020204030203" pitchFamily="34" charset="0"/>
            </a:endParaRPr>
          </a:p>
        </p:txBody>
      </p:sp>
      <p:sp>
        <p:nvSpPr>
          <p:cNvPr id="20" name="TextBox 19"/>
          <p:cNvSpPr txBox="1"/>
          <p:nvPr/>
        </p:nvSpPr>
        <p:spPr>
          <a:xfrm>
            <a:off x="7955060" y="4136104"/>
            <a:ext cx="2071702" cy="338554"/>
          </a:xfrm>
          <a:prstGeom prst="rect">
            <a:avLst/>
          </a:prstGeom>
          <a:noFill/>
        </p:spPr>
        <p:txBody>
          <a:bodyPr wrap="square" rtlCol="0">
            <a:spAutoFit/>
          </a:bodyPr>
          <a:lstStyle/>
          <a:p>
            <a:r>
              <a:rPr lang="en-US" altLang="ko-KR" sz="1600" dirty="0">
                <a:solidFill>
                  <a:schemeClr val="bg1"/>
                </a:solidFill>
                <a:latin typeface="Lato Black" panose="020F0502020204030203" pitchFamily="34" charset="0"/>
                <a:ea typeface="Lato Black" panose="020F0502020204030203" pitchFamily="34" charset="0"/>
                <a:cs typeface="Lato Black" panose="020F0502020204030203" pitchFamily="34" charset="0"/>
              </a:rPr>
              <a:t>Up/Down keys</a:t>
            </a:r>
            <a:endParaRPr lang="ko-KR" altLang="en-US" sz="1600" dirty="0">
              <a:solidFill>
                <a:schemeClr val="bg1"/>
              </a:solidFill>
              <a:latin typeface="Lato Black" panose="020F0502020204030203" pitchFamily="34" charset="0"/>
              <a:ea typeface="+mj-ea"/>
              <a:cs typeface="Lato Black" panose="020F0502020204030203" pitchFamily="34" charset="0"/>
            </a:endParaRPr>
          </a:p>
        </p:txBody>
      </p:sp>
    </p:spTree>
    <p:extLst>
      <p:ext uri="{BB962C8B-B14F-4D97-AF65-F5344CB8AC3E}">
        <p14:creationId xmlns:p14="http://schemas.microsoft.com/office/powerpoint/2010/main" val="32649664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B1FA25-AC6A-26AB-6FEB-11536AF609ED}"/>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583AAAD3-12BF-C00C-1006-7F0BC780EE2C}"/>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5CB2594B-E8FB-6E26-E493-485A19D5096F}"/>
              </a:ext>
            </a:extLst>
          </p:cNvPr>
          <p:cNvSpPr txBox="1"/>
          <p:nvPr/>
        </p:nvSpPr>
        <p:spPr>
          <a:xfrm>
            <a:off x="569847" y="638381"/>
            <a:ext cx="1972223"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BCM Screen Layout</a:t>
            </a:r>
          </a:p>
        </p:txBody>
      </p:sp>
      <p:grpSp>
        <p:nvGrpSpPr>
          <p:cNvPr id="5" name="그룹 49">
            <a:extLst>
              <a:ext uri="{FF2B5EF4-FFF2-40B4-BE49-F238E27FC236}">
                <a16:creationId xmlns:a16="http://schemas.microsoft.com/office/drawing/2014/main" id="{F619C1A8-41D8-9736-A19D-2C11F3DF71CB}"/>
              </a:ext>
            </a:extLst>
          </p:cNvPr>
          <p:cNvGrpSpPr/>
          <p:nvPr/>
        </p:nvGrpSpPr>
        <p:grpSpPr>
          <a:xfrm>
            <a:off x="2542070" y="1424964"/>
            <a:ext cx="3357587" cy="2071702"/>
            <a:chOff x="357158" y="1428736"/>
            <a:chExt cx="3357586" cy="2071702"/>
          </a:xfrm>
        </p:grpSpPr>
        <p:sp>
          <p:nvSpPr>
            <p:cNvPr id="6" name="직사각형 5">
              <a:extLst>
                <a:ext uri="{FF2B5EF4-FFF2-40B4-BE49-F238E27FC236}">
                  <a16:creationId xmlns:a16="http://schemas.microsoft.com/office/drawing/2014/main" id="{124A2941-8C78-A120-F27A-07B992FFE968}"/>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7" name="TextBox 6">
              <a:extLst>
                <a:ext uri="{FF2B5EF4-FFF2-40B4-BE49-F238E27FC236}">
                  <a16:creationId xmlns:a16="http://schemas.microsoft.com/office/drawing/2014/main" id="{CD7D1AA6-CABB-7E00-5BEF-3A22E27A415C}"/>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1/8   </a:t>
              </a:r>
              <a:endParaRPr lang="ko-KR" altLang="en-US" dirty="0">
                <a:solidFill>
                  <a:schemeClr val="bg1"/>
                </a:solidFill>
              </a:endParaRPr>
            </a:p>
          </p:txBody>
        </p:sp>
        <p:sp>
          <p:nvSpPr>
            <p:cNvPr id="8" name="이등변 삼각형 7">
              <a:extLst>
                <a:ext uri="{FF2B5EF4-FFF2-40B4-BE49-F238E27FC236}">
                  <a16:creationId xmlns:a16="http://schemas.microsoft.com/office/drawing/2014/main" id="{FB59DB1B-F4CA-27D0-388F-C91042F4160A}"/>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a:extLst>
                <a:ext uri="{FF2B5EF4-FFF2-40B4-BE49-F238E27FC236}">
                  <a16:creationId xmlns:a16="http://schemas.microsoft.com/office/drawing/2014/main" id="{E50BD971-4BC8-8518-2256-6FF5117AC72A}"/>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Picture 5">
              <a:extLst>
                <a:ext uri="{FF2B5EF4-FFF2-40B4-BE49-F238E27FC236}">
                  <a16:creationId xmlns:a16="http://schemas.microsoft.com/office/drawing/2014/main" id="{7E443876-D089-BBF1-834F-FAACBD72C3A4}"/>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11" name="직선 연결선 10">
              <a:extLst>
                <a:ext uri="{FF2B5EF4-FFF2-40B4-BE49-F238E27FC236}">
                  <a16:creationId xmlns:a16="http://schemas.microsoft.com/office/drawing/2014/main" id="{3AA8CDB5-11ED-449C-AA0A-AF4BB11AEDA4}"/>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EB8C46-831F-1AA8-E232-F1CBDE682B4D}"/>
                </a:ext>
              </a:extLst>
            </p:cNvPr>
            <p:cNvSpPr txBox="1"/>
            <p:nvPr/>
          </p:nvSpPr>
          <p:spPr>
            <a:xfrm>
              <a:off x="571473" y="1851716"/>
              <a:ext cx="3071834" cy="1261884"/>
            </a:xfrm>
            <a:prstGeom prst="rect">
              <a:avLst/>
            </a:prstGeom>
            <a:noFill/>
          </p:spPr>
          <p:txBody>
            <a:bodyPr wrap="square" rtlCol="0">
              <a:spAutoFit/>
            </a:bodyPr>
            <a:lstStyle/>
            <a:p>
              <a:r>
                <a:rPr lang="en-US" altLang="ko-KR" dirty="0">
                  <a:solidFill>
                    <a:schemeClr val="bg1"/>
                  </a:solidFill>
                </a:rPr>
                <a:t> </a:t>
              </a:r>
              <a:r>
                <a:rPr lang="en-US" altLang="ko-KR" dirty="0" err="1">
                  <a:solidFill>
                    <a:schemeClr val="bg1"/>
                  </a:solidFill>
                </a:rPr>
                <a:t>Overhydration</a:t>
              </a:r>
              <a:r>
                <a:rPr lang="en-US" altLang="ko-KR" dirty="0">
                  <a:solidFill>
                    <a:schemeClr val="bg1"/>
                  </a:solidFill>
                </a:rPr>
                <a:t>     - 2.3 L</a:t>
              </a:r>
            </a:p>
            <a:p>
              <a:endParaRPr lang="en-US" altLang="ko-KR" sz="1200" dirty="0">
                <a:solidFill>
                  <a:schemeClr val="bg1"/>
                </a:solidFill>
              </a:endParaRPr>
            </a:p>
            <a:p>
              <a:r>
                <a:rPr lang="en-US" altLang="ko-KR" dirty="0">
                  <a:solidFill>
                    <a:schemeClr val="bg1"/>
                  </a:solidFill>
                </a:rPr>
                <a:t>    -----------------------</a:t>
              </a:r>
            </a:p>
            <a:p>
              <a:r>
                <a:rPr lang="en-US" altLang="ko-KR" dirty="0">
                  <a:solidFill>
                    <a:schemeClr val="bg1"/>
                  </a:solidFill>
                </a:rPr>
                <a:t>    -----------------------</a:t>
              </a:r>
            </a:p>
            <a:p>
              <a:r>
                <a:rPr lang="en-US" altLang="ko-KR" sz="1000" dirty="0">
                  <a:solidFill>
                    <a:schemeClr val="bg1"/>
                  </a:solidFill>
                </a:rPr>
                <a:t>       -2      -1      0      1      2      3      4 </a:t>
              </a:r>
            </a:p>
          </p:txBody>
        </p:sp>
        <p:cxnSp>
          <p:nvCxnSpPr>
            <p:cNvPr id="13" name="직선 연결선 12">
              <a:extLst>
                <a:ext uri="{FF2B5EF4-FFF2-40B4-BE49-F238E27FC236}">
                  <a16:creationId xmlns:a16="http://schemas.microsoft.com/office/drawing/2014/main" id="{13C8DFAE-9732-CAAF-B08C-0A1BF6AFEE8A}"/>
                </a:ext>
              </a:extLst>
            </p:cNvPr>
            <p:cNvCxnSpPr/>
            <p:nvPr/>
          </p:nvCxnSpPr>
          <p:spPr>
            <a:xfrm>
              <a:off x="1392928" y="2494970"/>
              <a:ext cx="720000" cy="158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62F151AC-0888-8A6E-1BCB-5DA59700D9BA}"/>
                </a:ext>
              </a:extLst>
            </p:cNvPr>
            <p:cNvCxnSpPr/>
            <p:nvPr/>
          </p:nvCxnSpPr>
          <p:spPr>
            <a:xfrm>
              <a:off x="1412091" y="2802411"/>
              <a:ext cx="720000" cy="158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5AE49FF8-6B8B-99D9-4054-DCFA84F997B3}"/>
                </a:ext>
              </a:extLst>
            </p:cNvPr>
            <p:cNvSpPr/>
            <p:nvPr/>
          </p:nvSpPr>
          <p:spPr>
            <a:xfrm>
              <a:off x="857224" y="2571744"/>
              <a:ext cx="71438" cy="1428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BF351E04-3249-D3F1-08FB-78ACF98FB741}"/>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sp>
        <p:nvSpPr>
          <p:cNvPr id="18" name="오른쪽 화살표 53">
            <a:extLst>
              <a:ext uri="{FF2B5EF4-FFF2-40B4-BE49-F238E27FC236}">
                <a16:creationId xmlns:a16="http://schemas.microsoft.com/office/drawing/2014/main" id="{0FFB4020-D089-B14D-A3F5-0A4931B61CFF}"/>
              </a:ext>
            </a:extLst>
          </p:cNvPr>
          <p:cNvSpPr/>
          <p:nvPr/>
        </p:nvSpPr>
        <p:spPr>
          <a:xfrm rot="19365025">
            <a:off x="2398630" y="3148561"/>
            <a:ext cx="1582243" cy="500066"/>
          </a:xfrm>
          <a:prstGeom prst="rightArrow">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bg1"/>
                </a:solidFill>
              </a:rPr>
              <a:t>Reference range</a:t>
            </a:r>
            <a:endParaRPr lang="ko-KR" altLang="en-US" sz="1200" b="1" dirty="0">
              <a:solidFill>
                <a:schemeClr val="bg1"/>
              </a:solidFill>
            </a:endParaRPr>
          </a:p>
        </p:txBody>
      </p:sp>
      <p:grpSp>
        <p:nvGrpSpPr>
          <p:cNvPr id="19" name="그룹 54">
            <a:extLst>
              <a:ext uri="{FF2B5EF4-FFF2-40B4-BE49-F238E27FC236}">
                <a16:creationId xmlns:a16="http://schemas.microsoft.com/office/drawing/2014/main" id="{14685D13-EFEF-3C24-F2DB-50ED08A62DE4}"/>
              </a:ext>
            </a:extLst>
          </p:cNvPr>
          <p:cNvGrpSpPr/>
          <p:nvPr/>
        </p:nvGrpSpPr>
        <p:grpSpPr>
          <a:xfrm>
            <a:off x="6350318" y="1433273"/>
            <a:ext cx="3357587" cy="2071702"/>
            <a:chOff x="357158" y="1428736"/>
            <a:chExt cx="3357586" cy="2071702"/>
          </a:xfrm>
        </p:grpSpPr>
        <p:sp>
          <p:nvSpPr>
            <p:cNvPr id="20" name="직사각형 19">
              <a:extLst>
                <a:ext uri="{FF2B5EF4-FFF2-40B4-BE49-F238E27FC236}">
                  <a16:creationId xmlns:a16="http://schemas.microsoft.com/office/drawing/2014/main" id="{DE60520E-D257-D7FA-EBB7-D07FB3FE13EB}"/>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21" name="TextBox 20">
              <a:extLst>
                <a:ext uri="{FF2B5EF4-FFF2-40B4-BE49-F238E27FC236}">
                  <a16:creationId xmlns:a16="http://schemas.microsoft.com/office/drawing/2014/main" id="{F12DC13C-6F45-EFB2-2BC3-5AAE82B9219B}"/>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2/8   </a:t>
              </a:r>
              <a:endParaRPr lang="ko-KR" altLang="en-US" dirty="0">
                <a:solidFill>
                  <a:schemeClr val="bg1"/>
                </a:solidFill>
              </a:endParaRPr>
            </a:p>
          </p:txBody>
        </p:sp>
        <p:sp>
          <p:nvSpPr>
            <p:cNvPr id="22" name="이등변 삼각형 21">
              <a:extLst>
                <a:ext uri="{FF2B5EF4-FFF2-40B4-BE49-F238E27FC236}">
                  <a16:creationId xmlns:a16="http://schemas.microsoft.com/office/drawing/2014/main" id="{4AFDD10C-A9B2-0AD7-2C6A-032C11A26197}"/>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이등변 삼각형 22">
              <a:extLst>
                <a:ext uri="{FF2B5EF4-FFF2-40B4-BE49-F238E27FC236}">
                  <a16:creationId xmlns:a16="http://schemas.microsoft.com/office/drawing/2014/main" id="{CF90A4C2-5ABB-22FB-495D-0D6A00647AC1}"/>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4" name="Picture 5">
              <a:extLst>
                <a:ext uri="{FF2B5EF4-FFF2-40B4-BE49-F238E27FC236}">
                  <a16:creationId xmlns:a16="http://schemas.microsoft.com/office/drawing/2014/main" id="{993EB54C-C6C1-0B13-5F01-3E06890EE2C0}"/>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25" name="직선 연결선 24">
              <a:extLst>
                <a:ext uri="{FF2B5EF4-FFF2-40B4-BE49-F238E27FC236}">
                  <a16:creationId xmlns:a16="http://schemas.microsoft.com/office/drawing/2014/main" id="{CC2553F3-184F-FEDF-A726-3D35CD46D884}"/>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626632D-E2DC-B703-AF96-26B1F24FD037}"/>
                </a:ext>
              </a:extLst>
            </p:cNvPr>
            <p:cNvSpPr txBox="1"/>
            <p:nvPr/>
          </p:nvSpPr>
          <p:spPr>
            <a:xfrm>
              <a:off x="571473" y="1851716"/>
              <a:ext cx="3071834" cy="1646605"/>
            </a:xfrm>
            <a:prstGeom prst="rect">
              <a:avLst/>
            </a:prstGeom>
            <a:noFill/>
          </p:spPr>
          <p:txBody>
            <a:bodyPr wrap="square" rtlCol="0">
              <a:spAutoFit/>
            </a:bodyPr>
            <a:lstStyle/>
            <a:p>
              <a:r>
                <a:rPr lang="en-US" altLang="ko-KR" dirty="0">
                  <a:solidFill>
                    <a:schemeClr val="bg1"/>
                  </a:solidFill>
                </a:rPr>
                <a:t>    Urea </a:t>
              </a:r>
              <a:r>
                <a:rPr lang="en-US" altLang="ko-KR" dirty="0" err="1">
                  <a:solidFill>
                    <a:schemeClr val="bg1"/>
                  </a:solidFill>
                </a:rPr>
                <a:t>distrib</a:t>
              </a:r>
              <a:r>
                <a:rPr lang="en-US" altLang="ko-KR" dirty="0">
                  <a:solidFill>
                    <a:schemeClr val="bg1"/>
                  </a:solidFill>
                </a:rPr>
                <a:t> volume</a:t>
              </a:r>
            </a:p>
            <a:p>
              <a:endParaRPr lang="en-US" altLang="ko-KR" sz="500" dirty="0">
                <a:solidFill>
                  <a:schemeClr val="bg1"/>
                </a:solidFill>
              </a:endParaRPr>
            </a:p>
            <a:p>
              <a:r>
                <a:rPr lang="en-US" altLang="ko-KR" sz="2500" dirty="0">
                  <a:solidFill>
                    <a:schemeClr val="bg1"/>
                  </a:solidFill>
                </a:rPr>
                <a:t>    K </a:t>
              </a:r>
              <a:r>
                <a:rPr lang="en-US" altLang="ko-KR" dirty="0">
                  <a:solidFill>
                    <a:schemeClr val="bg1"/>
                  </a:solidFill>
                </a:rPr>
                <a:t>X t</a:t>
              </a:r>
            </a:p>
            <a:p>
              <a:r>
                <a:rPr lang="en-US" altLang="ko-KR" dirty="0">
                  <a:solidFill>
                    <a:schemeClr val="bg1"/>
                  </a:solidFill>
                </a:rPr>
                <a:t>  </a:t>
              </a:r>
              <a:r>
                <a:rPr lang="en-US" altLang="ko-KR" sz="2500" dirty="0">
                  <a:solidFill>
                    <a:schemeClr val="bg1"/>
                  </a:solidFill>
                </a:rPr>
                <a:t>     V</a:t>
              </a:r>
            </a:p>
            <a:p>
              <a:r>
                <a:rPr lang="en-US" altLang="ko-KR" dirty="0">
                  <a:solidFill>
                    <a:schemeClr val="bg1"/>
                  </a:solidFill>
                </a:rPr>
                <a:t>    </a:t>
              </a:r>
            </a:p>
            <a:p>
              <a:r>
                <a:rPr lang="en-US" altLang="ko-KR" sz="1000" dirty="0">
                  <a:solidFill>
                    <a:schemeClr val="bg1"/>
                  </a:solidFill>
                </a:rPr>
                <a:t>       -2      -1      0      1      2      3      4 </a:t>
              </a:r>
            </a:p>
          </p:txBody>
        </p:sp>
        <p:sp>
          <p:nvSpPr>
            <p:cNvPr id="27" name="직사각형 26">
              <a:extLst>
                <a:ext uri="{FF2B5EF4-FFF2-40B4-BE49-F238E27FC236}">
                  <a16:creationId xmlns:a16="http://schemas.microsoft.com/office/drawing/2014/main" id="{BD4D1721-91EF-E6D0-5BE6-72CEDD2912B8}"/>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cxnSp>
        <p:nvCxnSpPr>
          <p:cNvPr id="28" name="직선 연결선 27">
            <a:extLst>
              <a:ext uri="{FF2B5EF4-FFF2-40B4-BE49-F238E27FC236}">
                <a16:creationId xmlns:a16="http://schemas.microsoft.com/office/drawing/2014/main" id="{D494B526-F2C5-8317-9635-D64000A5AF70}"/>
              </a:ext>
            </a:extLst>
          </p:cNvPr>
          <p:cNvCxnSpPr/>
          <p:nvPr/>
        </p:nvCxnSpPr>
        <p:spPr>
          <a:xfrm>
            <a:off x="6954589" y="2647719"/>
            <a:ext cx="900000" cy="1588"/>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DC1A590-0C0A-BF50-1AC1-FB395890D37C}"/>
              </a:ext>
            </a:extLst>
          </p:cNvPr>
          <p:cNvSpPr txBox="1"/>
          <p:nvPr/>
        </p:nvSpPr>
        <p:spPr>
          <a:xfrm>
            <a:off x="8207707" y="2433405"/>
            <a:ext cx="1285884" cy="369332"/>
          </a:xfrm>
          <a:prstGeom prst="rect">
            <a:avLst/>
          </a:prstGeom>
          <a:noFill/>
        </p:spPr>
        <p:txBody>
          <a:bodyPr wrap="square" rtlCol="0">
            <a:spAutoFit/>
          </a:bodyPr>
          <a:lstStyle/>
          <a:p>
            <a:r>
              <a:rPr lang="en-US" altLang="ko-KR" b="1" dirty="0">
                <a:solidFill>
                  <a:schemeClr val="bg1"/>
                </a:solidFill>
              </a:rPr>
              <a:t>V = 47.1</a:t>
            </a:r>
            <a:endParaRPr lang="ko-KR" altLang="en-US" b="1" dirty="0">
              <a:solidFill>
                <a:schemeClr val="bg1"/>
              </a:solidFill>
            </a:endParaRPr>
          </a:p>
        </p:txBody>
      </p:sp>
      <p:grpSp>
        <p:nvGrpSpPr>
          <p:cNvPr id="30" name="그룹 71">
            <a:extLst>
              <a:ext uri="{FF2B5EF4-FFF2-40B4-BE49-F238E27FC236}">
                <a16:creationId xmlns:a16="http://schemas.microsoft.com/office/drawing/2014/main" id="{312C1AD9-3679-5DD3-9031-C81BE4D8AE33}"/>
              </a:ext>
            </a:extLst>
          </p:cNvPr>
          <p:cNvGrpSpPr/>
          <p:nvPr/>
        </p:nvGrpSpPr>
        <p:grpSpPr>
          <a:xfrm>
            <a:off x="2564105" y="4147917"/>
            <a:ext cx="3357587" cy="2071702"/>
            <a:chOff x="357158" y="1428736"/>
            <a:chExt cx="3357586" cy="2071702"/>
          </a:xfrm>
        </p:grpSpPr>
        <p:sp>
          <p:nvSpPr>
            <p:cNvPr id="31" name="직사각형 30">
              <a:extLst>
                <a:ext uri="{FF2B5EF4-FFF2-40B4-BE49-F238E27FC236}">
                  <a16:creationId xmlns:a16="http://schemas.microsoft.com/office/drawing/2014/main" id="{4D4F1F0F-ECD6-9333-73A5-C00FA203F415}"/>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32" name="TextBox 31">
              <a:extLst>
                <a:ext uri="{FF2B5EF4-FFF2-40B4-BE49-F238E27FC236}">
                  <a16:creationId xmlns:a16="http://schemas.microsoft.com/office/drawing/2014/main" id="{E9B8AE45-CAFF-6D67-F31B-543CA97FB73F}"/>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3/8   </a:t>
              </a:r>
              <a:endParaRPr lang="ko-KR" altLang="en-US" dirty="0">
                <a:solidFill>
                  <a:schemeClr val="bg1"/>
                </a:solidFill>
              </a:endParaRPr>
            </a:p>
          </p:txBody>
        </p:sp>
        <p:sp>
          <p:nvSpPr>
            <p:cNvPr id="33" name="이등변 삼각형 32">
              <a:extLst>
                <a:ext uri="{FF2B5EF4-FFF2-40B4-BE49-F238E27FC236}">
                  <a16:creationId xmlns:a16="http://schemas.microsoft.com/office/drawing/2014/main" id="{C5A369FB-D63A-3812-D66D-1AB7595F44CA}"/>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이등변 삼각형 33">
              <a:extLst>
                <a:ext uri="{FF2B5EF4-FFF2-40B4-BE49-F238E27FC236}">
                  <a16:creationId xmlns:a16="http://schemas.microsoft.com/office/drawing/2014/main" id="{6802AEA0-BA15-02DC-02D0-AFCDA9C6CBB5}"/>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5" name="Picture 5">
              <a:extLst>
                <a:ext uri="{FF2B5EF4-FFF2-40B4-BE49-F238E27FC236}">
                  <a16:creationId xmlns:a16="http://schemas.microsoft.com/office/drawing/2014/main" id="{2BE0B993-A4D9-15A0-98F2-5815961A1FF2}"/>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36" name="직선 연결선 35">
              <a:extLst>
                <a:ext uri="{FF2B5EF4-FFF2-40B4-BE49-F238E27FC236}">
                  <a16:creationId xmlns:a16="http://schemas.microsoft.com/office/drawing/2014/main" id="{C006D4FE-A439-B1D4-37C0-B315D9FCACAF}"/>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직사각형 36">
              <a:extLst>
                <a:ext uri="{FF2B5EF4-FFF2-40B4-BE49-F238E27FC236}">
                  <a16:creationId xmlns:a16="http://schemas.microsoft.com/office/drawing/2014/main" id="{8C118B62-BB72-EFC8-890E-F1C14090A35E}"/>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sp>
        <p:nvSpPr>
          <p:cNvPr id="38" name="TextBox 37">
            <a:extLst>
              <a:ext uri="{FF2B5EF4-FFF2-40B4-BE49-F238E27FC236}">
                <a16:creationId xmlns:a16="http://schemas.microsoft.com/office/drawing/2014/main" id="{E95E99D3-D8D6-586C-C279-8B2078078DBD}"/>
              </a:ext>
            </a:extLst>
          </p:cNvPr>
          <p:cNvSpPr txBox="1"/>
          <p:nvPr/>
        </p:nvSpPr>
        <p:spPr>
          <a:xfrm>
            <a:off x="2635543" y="4576547"/>
            <a:ext cx="3214711" cy="1138773"/>
          </a:xfrm>
          <a:prstGeom prst="rect">
            <a:avLst/>
          </a:prstGeom>
          <a:noFill/>
        </p:spPr>
        <p:txBody>
          <a:bodyPr wrap="square" rtlCol="0">
            <a:spAutoFit/>
          </a:bodyPr>
          <a:lstStyle/>
          <a:p>
            <a:r>
              <a:rPr lang="en-US" altLang="ko-KR" sz="1700" dirty="0">
                <a:solidFill>
                  <a:schemeClr val="bg1"/>
                </a:solidFill>
              </a:rPr>
              <a:t>OH        =           -2.3 L   (↓)</a:t>
            </a:r>
          </a:p>
          <a:p>
            <a:r>
              <a:rPr lang="en-US" altLang="ko-KR" sz="1700" dirty="0">
                <a:solidFill>
                  <a:schemeClr val="bg1"/>
                </a:solidFill>
              </a:rPr>
              <a:t>UF-</a:t>
            </a:r>
            <a:r>
              <a:rPr lang="en-US" altLang="ko-KR" sz="1700" dirty="0" err="1">
                <a:solidFill>
                  <a:schemeClr val="bg1"/>
                </a:solidFill>
              </a:rPr>
              <a:t>Vol</a:t>
            </a:r>
            <a:r>
              <a:rPr lang="en-US" altLang="ko-KR" sz="1700" dirty="0">
                <a:solidFill>
                  <a:schemeClr val="bg1"/>
                </a:solidFill>
              </a:rPr>
              <a:t>    =            +0 ml</a:t>
            </a:r>
          </a:p>
          <a:p>
            <a:r>
              <a:rPr lang="en-US" altLang="ko-KR" sz="1700" dirty="0">
                <a:solidFill>
                  <a:schemeClr val="bg1"/>
                </a:solidFill>
              </a:rPr>
              <a:t>BP         =   164 / 109 mmHg</a:t>
            </a:r>
          </a:p>
          <a:p>
            <a:r>
              <a:rPr lang="en-US" altLang="ko-KR" sz="1700" dirty="0">
                <a:solidFill>
                  <a:schemeClr val="bg1"/>
                </a:solidFill>
              </a:rPr>
              <a:t>OHPOST =           -2.3 L   (↓)</a:t>
            </a:r>
            <a:endParaRPr lang="ko-KR" altLang="en-US" sz="1700" dirty="0">
              <a:solidFill>
                <a:schemeClr val="bg1"/>
              </a:solidFill>
            </a:endParaRPr>
          </a:p>
        </p:txBody>
      </p:sp>
      <p:grpSp>
        <p:nvGrpSpPr>
          <p:cNvPr id="39" name="그룹 39">
            <a:extLst>
              <a:ext uri="{FF2B5EF4-FFF2-40B4-BE49-F238E27FC236}">
                <a16:creationId xmlns:a16="http://schemas.microsoft.com/office/drawing/2014/main" id="{C8D75973-E464-FA15-9638-E7F43D643D8B}"/>
              </a:ext>
            </a:extLst>
          </p:cNvPr>
          <p:cNvGrpSpPr/>
          <p:nvPr/>
        </p:nvGrpSpPr>
        <p:grpSpPr>
          <a:xfrm>
            <a:off x="6350318" y="4147917"/>
            <a:ext cx="3357587" cy="2071702"/>
            <a:chOff x="357158" y="1428736"/>
            <a:chExt cx="3357586" cy="2071702"/>
          </a:xfrm>
        </p:grpSpPr>
        <p:sp>
          <p:nvSpPr>
            <p:cNvPr id="40" name="직사각형 39">
              <a:extLst>
                <a:ext uri="{FF2B5EF4-FFF2-40B4-BE49-F238E27FC236}">
                  <a16:creationId xmlns:a16="http://schemas.microsoft.com/office/drawing/2014/main" id="{5674A8B8-172C-A4A6-C6AA-EB42B33A1271}"/>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41" name="TextBox 40">
              <a:extLst>
                <a:ext uri="{FF2B5EF4-FFF2-40B4-BE49-F238E27FC236}">
                  <a16:creationId xmlns:a16="http://schemas.microsoft.com/office/drawing/2014/main" id="{C0EB997B-1F41-E83F-60B3-E529E29329DC}"/>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4/8   </a:t>
              </a:r>
              <a:endParaRPr lang="ko-KR" altLang="en-US" dirty="0">
                <a:solidFill>
                  <a:schemeClr val="bg1"/>
                </a:solidFill>
              </a:endParaRPr>
            </a:p>
          </p:txBody>
        </p:sp>
        <p:sp>
          <p:nvSpPr>
            <p:cNvPr id="42" name="이등변 삼각형 41">
              <a:extLst>
                <a:ext uri="{FF2B5EF4-FFF2-40B4-BE49-F238E27FC236}">
                  <a16:creationId xmlns:a16="http://schemas.microsoft.com/office/drawing/2014/main" id="{9CACA08B-F704-A3EB-843D-F8AFE4A39055}"/>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이등변 삼각형 42">
              <a:extLst>
                <a:ext uri="{FF2B5EF4-FFF2-40B4-BE49-F238E27FC236}">
                  <a16:creationId xmlns:a16="http://schemas.microsoft.com/office/drawing/2014/main" id="{4782DD62-355A-5BE2-64AC-1669B515A653}"/>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4" name="Picture 5">
              <a:extLst>
                <a:ext uri="{FF2B5EF4-FFF2-40B4-BE49-F238E27FC236}">
                  <a16:creationId xmlns:a16="http://schemas.microsoft.com/office/drawing/2014/main" id="{23E4201F-9ACF-9F9A-BC5D-B4B8A3165F30}"/>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45" name="직선 연결선 44">
              <a:extLst>
                <a:ext uri="{FF2B5EF4-FFF2-40B4-BE49-F238E27FC236}">
                  <a16:creationId xmlns:a16="http://schemas.microsoft.com/office/drawing/2014/main" id="{F3F27889-8910-E8DA-DA78-38B88B4ADDFA}"/>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7E1D3C01-8E5B-FD7C-508F-799CB4598891}"/>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sp>
        <p:nvSpPr>
          <p:cNvPr id="47" name="TextBox 46">
            <a:extLst>
              <a:ext uri="{FF2B5EF4-FFF2-40B4-BE49-F238E27FC236}">
                <a16:creationId xmlns:a16="http://schemas.microsoft.com/office/drawing/2014/main" id="{161B04BA-D42A-5E90-1A0B-8EE3DD93199D}"/>
              </a:ext>
            </a:extLst>
          </p:cNvPr>
          <p:cNvSpPr txBox="1"/>
          <p:nvPr/>
        </p:nvSpPr>
        <p:spPr>
          <a:xfrm>
            <a:off x="6421758" y="4576547"/>
            <a:ext cx="3214711" cy="1138773"/>
          </a:xfrm>
          <a:prstGeom prst="rect">
            <a:avLst/>
          </a:prstGeom>
          <a:noFill/>
        </p:spPr>
        <p:txBody>
          <a:bodyPr wrap="square" rtlCol="0">
            <a:spAutoFit/>
          </a:bodyPr>
          <a:lstStyle/>
          <a:p>
            <a:r>
              <a:rPr lang="en-US" altLang="ko-KR" sz="1700" dirty="0">
                <a:solidFill>
                  <a:schemeClr val="bg1"/>
                </a:solidFill>
              </a:rPr>
              <a:t>TBW    =     47.1 L</a:t>
            </a:r>
          </a:p>
          <a:p>
            <a:r>
              <a:rPr lang="en-US" altLang="ko-KR" sz="1700" dirty="0">
                <a:solidFill>
                  <a:schemeClr val="bg1"/>
                </a:solidFill>
              </a:rPr>
              <a:t>ECW    =     17.9 L</a:t>
            </a:r>
          </a:p>
          <a:p>
            <a:r>
              <a:rPr lang="en-US" altLang="ko-KR" sz="1700" dirty="0">
                <a:solidFill>
                  <a:schemeClr val="bg1"/>
                </a:solidFill>
              </a:rPr>
              <a:t>ICW     =     29.2 L</a:t>
            </a:r>
          </a:p>
          <a:p>
            <a:r>
              <a:rPr lang="en-US" altLang="ko-KR" sz="1700" dirty="0">
                <a:solidFill>
                  <a:schemeClr val="bg1"/>
                </a:solidFill>
              </a:rPr>
              <a:t>E / I     =     0.61            (↓)</a:t>
            </a:r>
            <a:endParaRPr lang="ko-KR" altLang="en-US" sz="1700" dirty="0">
              <a:solidFill>
                <a:schemeClr val="bg1"/>
              </a:solidFill>
            </a:endParaRPr>
          </a:p>
        </p:txBody>
      </p:sp>
      <p:sp>
        <p:nvSpPr>
          <p:cNvPr id="48" name="왼쪽 화살표 65">
            <a:extLst>
              <a:ext uri="{FF2B5EF4-FFF2-40B4-BE49-F238E27FC236}">
                <a16:creationId xmlns:a16="http://schemas.microsoft.com/office/drawing/2014/main" id="{8E91E815-CC61-7642-A244-7B83387F4941}"/>
              </a:ext>
            </a:extLst>
          </p:cNvPr>
          <p:cNvSpPr/>
          <p:nvPr/>
        </p:nvSpPr>
        <p:spPr>
          <a:xfrm rot="20226242">
            <a:off x="9382563" y="4424758"/>
            <a:ext cx="1654199" cy="1087315"/>
          </a:xfrm>
          <a:prstGeom prst="leftArrow">
            <a:avLst/>
          </a:prstGeom>
          <a:solidFill>
            <a:srgbClr val="6776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bg1"/>
                </a:solidFill>
              </a:rPr>
              <a:t>Comparison to reference range</a:t>
            </a:r>
            <a:endParaRPr lang="ko-KR" altLang="en-US" sz="1200" b="1" dirty="0">
              <a:solidFill>
                <a:schemeClr val="bg1"/>
              </a:solidFill>
            </a:endParaRPr>
          </a:p>
        </p:txBody>
      </p:sp>
      <p:sp>
        <p:nvSpPr>
          <p:cNvPr id="49" name="사각형: 둥근 모서리 48">
            <a:extLst>
              <a:ext uri="{FF2B5EF4-FFF2-40B4-BE49-F238E27FC236}">
                <a16:creationId xmlns:a16="http://schemas.microsoft.com/office/drawing/2014/main" id="{38504364-84E3-EBD8-5BF3-4B1B0B8ABEC3}"/>
              </a:ext>
            </a:extLst>
          </p:cNvPr>
          <p:cNvSpPr/>
          <p:nvPr/>
        </p:nvSpPr>
        <p:spPr>
          <a:xfrm>
            <a:off x="923699" y="2337986"/>
            <a:ext cx="1159480" cy="647034"/>
          </a:xfrm>
          <a:prstGeom prst="roundRect">
            <a:avLst>
              <a:gd name="adj" fmla="val 50000"/>
            </a:avLst>
          </a:prstGeom>
          <a:solidFill>
            <a:srgbClr val="A011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TextBox 49">
            <a:extLst>
              <a:ext uri="{FF2B5EF4-FFF2-40B4-BE49-F238E27FC236}">
                <a16:creationId xmlns:a16="http://schemas.microsoft.com/office/drawing/2014/main" id="{AE93BBC5-12FF-9765-6BE1-5DFB32C586E7}"/>
              </a:ext>
            </a:extLst>
          </p:cNvPr>
          <p:cNvSpPr txBox="1"/>
          <p:nvPr/>
        </p:nvSpPr>
        <p:spPr>
          <a:xfrm>
            <a:off x="1043990" y="2369115"/>
            <a:ext cx="918897" cy="584775"/>
          </a:xfrm>
          <a:prstGeom prst="rect">
            <a:avLst/>
          </a:prstGeom>
          <a:noFill/>
        </p:spPr>
        <p:txBody>
          <a:bodyPr wrap="square" rtlCol="0">
            <a:spAutoFit/>
          </a:bodyPr>
          <a:lstStyle/>
          <a:p>
            <a:r>
              <a:rPr lang="en-US" altLang="ko-KR" sz="1600" b="1" dirty="0">
                <a:solidFill>
                  <a:schemeClr val="bg1"/>
                </a:solidFill>
                <a:latin typeface="Lato Black" panose="020F0502020204030203" pitchFamily="34" charset="0"/>
                <a:ea typeface="Lato" panose="020F0502020204030203" pitchFamily="34" charset="0"/>
                <a:cs typeface="Lato Black" panose="020F0502020204030203" pitchFamily="34" charset="0"/>
              </a:rPr>
              <a:t>Patient </a:t>
            </a:r>
          </a:p>
          <a:p>
            <a:r>
              <a:rPr lang="en-US" altLang="ko-KR" sz="1600" b="1" dirty="0">
                <a:solidFill>
                  <a:schemeClr val="bg1"/>
                </a:solidFill>
                <a:latin typeface="Lato Black" panose="020F0502020204030203" pitchFamily="34" charset="0"/>
                <a:ea typeface="Lato" panose="020F0502020204030203" pitchFamily="34" charset="0"/>
                <a:cs typeface="Lato Black" panose="020F0502020204030203" pitchFamily="34" charset="0"/>
              </a:rPr>
              <a:t>Results</a:t>
            </a:r>
            <a:endParaRPr lang="en-US" altLang="ko-KR" sz="1600" b="1" dirty="0">
              <a:solidFill>
                <a:schemeClr val="bg1"/>
              </a:solidFill>
              <a:latin typeface="Lato Black" panose="020F0502020204030203" pitchFamily="34" charset="0"/>
              <a:ea typeface="Lato Black" panose="020F0502020204030203" pitchFamily="34" charset="0"/>
              <a:cs typeface="Lato Black" panose="020F0502020204030203" pitchFamily="34" charset="0"/>
            </a:endParaRPr>
          </a:p>
        </p:txBody>
      </p:sp>
      <p:cxnSp>
        <p:nvCxnSpPr>
          <p:cNvPr id="52" name="직선 화살표 연결선 51">
            <a:extLst>
              <a:ext uri="{FF2B5EF4-FFF2-40B4-BE49-F238E27FC236}">
                <a16:creationId xmlns:a16="http://schemas.microsoft.com/office/drawing/2014/main" id="{DE77F725-9C7C-C40A-154A-8F6D2A555DDB}"/>
              </a:ext>
            </a:extLst>
          </p:cNvPr>
          <p:cNvCxnSpPr>
            <a:cxnSpLocks/>
          </p:cNvCxnSpPr>
          <p:nvPr/>
        </p:nvCxnSpPr>
        <p:spPr>
          <a:xfrm>
            <a:off x="1971242" y="2647719"/>
            <a:ext cx="991414" cy="0"/>
          </a:xfrm>
          <a:prstGeom prst="straightConnector1">
            <a:avLst/>
          </a:prstGeom>
          <a:ln w="12700">
            <a:solidFill>
              <a:srgbClr val="A0112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3889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ox(i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ox(i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ox(in)">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box(in)">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box(in)">
                                      <p:cBhvr>
                                        <p:cTn id="3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8"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B1FA25-AC6A-26AB-6FEB-11536AF609ED}"/>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583AAAD3-12BF-C00C-1006-7F0BC780EE2C}"/>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5CB2594B-E8FB-6E26-E493-485A19D5096F}"/>
              </a:ext>
            </a:extLst>
          </p:cNvPr>
          <p:cNvSpPr txBox="1"/>
          <p:nvPr/>
        </p:nvSpPr>
        <p:spPr>
          <a:xfrm>
            <a:off x="569847" y="638381"/>
            <a:ext cx="2083298"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BCM Screen Layout</a:t>
            </a:r>
          </a:p>
        </p:txBody>
      </p:sp>
      <p:grpSp>
        <p:nvGrpSpPr>
          <p:cNvPr id="17" name="그룹 49">
            <a:extLst>
              <a:ext uri="{FF2B5EF4-FFF2-40B4-BE49-F238E27FC236}">
                <a16:creationId xmlns:a16="http://schemas.microsoft.com/office/drawing/2014/main" id="{568894AF-6BEF-1B36-3E36-0FAE43158C22}"/>
              </a:ext>
            </a:extLst>
          </p:cNvPr>
          <p:cNvGrpSpPr/>
          <p:nvPr/>
        </p:nvGrpSpPr>
        <p:grpSpPr>
          <a:xfrm>
            <a:off x="2408657" y="1272409"/>
            <a:ext cx="3357587" cy="2071702"/>
            <a:chOff x="357158" y="1428736"/>
            <a:chExt cx="3357586" cy="2071702"/>
          </a:xfrm>
        </p:grpSpPr>
        <p:sp>
          <p:nvSpPr>
            <p:cNvPr id="51" name="직사각형 50">
              <a:extLst>
                <a:ext uri="{FF2B5EF4-FFF2-40B4-BE49-F238E27FC236}">
                  <a16:creationId xmlns:a16="http://schemas.microsoft.com/office/drawing/2014/main" id="{5C0C6323-31DF-091C-F52D-FBB9CAECD3FD}"/>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53" name="TextBox 52">
              <a:extLst>
                <a:ext uri="{FF2B5EF4-FFF2-40B4-BE49-F238E27FC236}">
                  <a16:creationId xmlns:a16="http://schemas.microsoft.com/office/drawing/2014/main" id="{BCFF4498-A40D-B901-61E9-C41A0C9E06A0}"/>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5/8   </a:t>
              </a:r>
              <a:endParaRPr lang="ko-KR" altLang="en-US" dirty="0">
                <a:solidFill>
                  <a:schemeClr val="bg1"/>
                </a:solidFill>
              </a:endParaRPr>
            </a:p>
          </p:txBody>
        </p:sp>
        <p:sp>
          <p:nvSpPr>
            <p:cNvPr id="54" name="이등변 삼각형 53">
              <a:extLst>
                <a:ext uri="{FF2B5EF4-FFF2-40B4-BE49-F238E27FC236}">
                  <a16:creationId xmlns:a16="http://schemas.microsoft.com/office/drawing/2014/main" id="{3C528052-1C43-12DF-6D01-91B1EDEAD2B6}"/>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이등변 삼각형 54">
              <a:extLst>
                <a:ext uri="{FF2B5EF4-FFF2-40B4-BE49-F238E27FC236}">
                  <a16:creationId xmlns:a16="http://schemas.microsoft.com/office/drawing/2014/main" id="{0142315E-D283-995C-076E-130A0D274A88}"/>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6" name="Picture 5">
              <a:extLst>
                <a:ext uri="{FF2B5EF4-FFF2-40B4-BE49-F238E27FC236}">
                  <a16:creationId xmlns:a16="http://schemas.microsoft.com/office/drawing/2014/main" id="{B1E1670D-AFB3-7551-09A9-A27625D922FA}"/>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57" name="직선 연결선 56">
              <a:extLst>
                <a:ext uri="{FF2B5EF4-FFF2-40B4-BE49-F238E27FC236}">
                  <a16:creationId xmlns:a16="http://schemas.microsoft.com/office/drawing/2014/main" id="{0C173953-516C-80AD-1DE1-CE10F429C38E}"/>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2370B42-20CA-6E76-388D-BEB9706B4E4F}"/>
                </a:ext>
              </a:extLst>
            </p:cNvPr>
            <p:cNvSpPr txBox="1"/>
            <p:nvPr/>
          </p:nvSpPr>
          <p:spPr>
            <a:xfrm>
              <a:off x="450630" y="1851716"/>
              <a:ext cx="3192675" cy="830997"/>
            </a:xfrm>
            <a:prstGeom prst="rect">
              <a:avLst/>
            </a:prstGeom>
            <a:noFill/>
          </p:spPr>
          <p:txBody>
            <a:bodyPr wrap="square" rtlCol="0">
              <a:spAutoFit/>
            </a:bodyPr>
            <a:lstStyle/>
            <a:p>
              <a:r>
                <a:rPr lang="en-US" altLang="ko-KR" dirty="0">
                  <a:solidFill>
                    <a:schemeClr val="bg1"/>
                  </a:solidFill>
                </a:rPr>
                <a:t> </a:t>
              </a:r>
            </a:p>
            <a:p>
              <a:endParaRPr lang="en-US" altLang="ko-KR" sz="1200" dirty="0">
                <a:solidFill>
                  <a:schemeClr val="bg1"/>
                </a:solidFill>
              </a:endParaRPr>
            </a:p>
            <a:p>
              <a:r>
                <a:rPr lang="en-US" altLang="ko-KR" dirty="0">
                  <a:solidFill>
                    <a:schemeClr val="bg1"/>
                  </a:solidFill>
                </a:rPr>
                <a:t>    </a:t>
              </a:r>
              <a:endParaRPr lang="en-US" altLang="ko-KR" sz="1000" dirty="0">
                <a:solidFill>
                  <a:schemeClr val="bg1"/>
                </a:solidFill>
              </a:endParaRPr>
            </a:p>
          </p:txBody>
        </p:sp>
        <p:sp>
          <p:nvSpPr>
            <p:cNvPr id="59" name="직사각형 58">
              <a:extLst>
                <a:ext uri="{FF2B5EF4-FFF2-40B4-BE49-F238E27FC236}">
                  <a16:creationId xmlns:a16="http://schemas.microsoft.com/office/drawing/2014/main" id="{892FDD4C-C277-2E69-A1A9-19E58375766B}"/>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grpSp>
        <p:nvGrpSpPr>
          <p:cNvPr id="60" name="그룹 54">
            <a:extLst>
              <a:ext uri="{FF2B5EF4-FFF2-40B4-BE49-F238E27FC236}">
                <a16:creationId xmlns:a16="http://schemas.microsoft.com/office/drawing/2014/main" id="{C214C539-321B-5434-CB4A-2C06CC3107A4}"/>
              </a:ext>
            </a:extLst>
          </p:cNvPr>
          <p:cNvGrpSpPr/>
          <p:nvPr/>
        </p:nvGrpSpPr>
        <p:grpSpPr>
          <a:xfrm>
            <a:off x="6216905" y="1280718"/>
            <a:ext cx="3357587" cy="2071702"/>
            <a:chOff x="357158" y="1428736"/>
            <a:chExt cx="3357586" cy="2071702"/>
          </a:xfrm>
        </p:grpSpPr>
        <p:sp>
          <p:nvSpPr>
            <p:cNvPr id="61" name="직사각형 60">
              <a:extLst>
                <a:ext uri="{FF2B5EF4-FFF2-40B4-BE49-F238E27FC236}">
                  <a16:creationId xmlns:a16="http://schemas.microsoft.com/office/drawing/2014/main" id="{CB3CBF04-C805-D575-BBF3-32AEBCFFC611}"/>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62" name="TextBox 61">
              <a:extLst>
                <a:ext uri="{FF2B5EF4-FFF2-40B4-BE49-F238E27FC236}">
                  <a16:creationId xmlns:a16="http://schemas.microsoft.com/office/drawing/2014/main" id="{EA949FFA-125A-ADAE-305D-34D5EF90AECA}"/>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6/8   </a:t>
              </a:r>
              <a:endParaRPr lang="ko-KR" altLang="en-US" dirty="0">
                <a:solidFill>
                  <a:schemeClr val="bg1"/>
                </a:solidFill>
              </a:endParaRPr>
            </a:p>
          </p:txBody>
        </p:sp>
        <p:sp>
          <p:nvSpPr>
            <p:cNvPr id="63" name="이등변 삼각형 62">
              <a:extLst>
                <a:ext uri="{FF2B5EF4-FFF2-40B4-BE49-F238E27FC236}">
                  <a16:creationId xmlns:a16="http://schemas.microsoft.com/office/drawing/2014/main" id="{BD7DCAC9-6AE1-7CD1-9AF8-BBCC78ABF35E}"/>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이등변 삼각형 63">
              <a:extLst>
                <a:ext uri="{FF2B5EF4-FFF2-40B4-BE49-F238E27FC236}">
                  <a16:creationId xmlns:a16="http://schemas.microsoft.com/office/drawing/2014/main" id="{9F186645-C245-7DE7-9ACB-329BCFD0B78A}"/>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5" name="Picture 5">
              <a:extLst>
                <a:ext uri="{FF2B5EF4-FFF2-40B4-BE49-F238E27FC236}">
                  <a16:creationId xmlns:a16="http://schemas.microsoft.com/office/drawing/2014/main" id="{1C3EA636-7D7F-54C7-6CDC-DC5D36D244D8}"/>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66" name="직선 연결선 65">
              <a:extLst>
                <a:ext uri="{FF2B5EF4-FFF2-40B4-BE49-F238E27FC236}">
                  <a16:creationId xmlns:a16="http://schemas.microsoft.com/office/drawing/2014/main" id="{FDF8EC38-FA40-35F0-42D6-87548FEBC94D}"/>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7" name="직사각형 66">
              <a:extLst>
                <a:ext uri="{FF2B5EF4-FFF2-40B4-BE49-F238E27FC236}">
                  <a16:creationId xmlns:a16="http://schemas.microsoft.com/office/drawing/2014/main" id="{C6998FA6-CDB4-171C-A460-6BB550AAF49F}"/>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grpSp>
        <p:nvGrpSpPr>
          <p:cNvPr id="68" name="그룹 71">
            <a:extLst>
              <a:ext uri="{FF2B5EF4-FFF2-40B4-BE49-F238E27FC236}">
                <a16:creationId xmlns:a16="http://schemas.microsoft.com/office/drawing/2014/main" id="{AE07FC7F-015C-1B4E-744B-7955A8A02F7B}"/>
              </a:ext>
            </a:extLst>
          </p:cNvPr>
          <p:cNvGrpSpPr/>
          <p:nvPr/>
        </p:nvGrpSpPr>
        <p:grpSpPr>
          <a:xfrm>
            <a:off x="2430690" y="3995362"/>
            <a:ext cx="3357587" cy="2071702"/>
            <a:chOff x="357158" y="1428736"/>
            <a:chExt cx="3357586" cy="2071702"/>
          </a:xfrm>
        </p:grpSpPr>
        <p:sp>
          <p:nvSpPr>
            <p:cNvPr id="69" name="직사각형 68">
              <a:extLst>
                <a:ext uri="{FF2B5EF4-FFF2-40B4-BE49-F238E27FC236}">
                  <a16:creationId xmlns:a16="http://schemas.microsoft.com/office/drawing/2014/main" id="{9BA72A8A-97BA-911D-9E53-1DD846B341C5}"/>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70" name="TextBox 69">
              <a:extLst>
                <a:ext uri="{FF2B5EF4-FFF2-40B4-BE49-F238E27FC236}">
                  <a16:creationId xmlns:a16="http://schemas.microsoft.com/office/drawing/2014/main" id="{A1B4328B-3E75-44CB-6896-9C9825D583C8}"/>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7/8   </a:t>
              </a:r>
              <a:endParaRPr lang="ko-KR" altLang="en-US" dirty="0">
                <a:solidFill>
                  <a:schemeClr val="bg1"/>
                </a:solidFill>
              </a:endParaRPr>
            </a:p>
          </p:txBody>
        </p:sp>
        <p:sp>
          <p:nvSpPr>
            <p:cNvPr id="71" name="이등변 삼각형 70">
              <a:extLst>
                <a:ext uri="{FF2B5EF4-FFF2-40B4-BE49-F238E27FC236}">
                  <a16:creationId xmlns:a16="http://schemas.microsoft.com/office/drawing/2014/main" id="{8BCA3D5A-07E9-DB73-99FC-0DF9A3AA5722}"/>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이등변 삼각형 71">
              <a:extLst>
                <a:ext uri="{FF2B5EF4-FFF2-40B4-BE49-F238E27FC236}">
                  <a16:creationId xmlns:a16="http://schemas.microsoft.com/office/drawing/2014/main" id="{7B973A6E-34A4-BDA8-E841-1C4F2EEE52A3}"/>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3" name="Picture 5">
              <a:extLst>
                <a:ext uri="{FF2B5EF4-FFF2-40B4-BE49-F238E27FC236}">
                  <a16:creationId xmlns:a16="http://schemas.microsoft.com/office/drawing/2014/main" id="{8C4423DC-4F26-6336-5465-C1B13EDEF766}"/>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74" name="직선 연결선 73">
              <a:extLst>
                <a:ext uri="{FF2B5EF4-FFF2-40B4-BE49-F238E27FC236}">
                  <a16:creationId xmlns:a16="http://schemas.microsoft.com/office/drawing/2014/main" id="{E50D66E5-F3F4-F0E6-8473-0C0A485F1EF4}"/>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5" name="직사각형 74">
              <a:extLst>
                <a:ext uri="{FF2B5EF4-FFF2-40B4-BE49-F238E27FC236}">
                  <a16:creationId xmlns:a16="http://schemas.microsoft.com/office/drawing/2014/main" id="{EE0A3360-C82F-63C7-C3A5-B2F91843D253}"/>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sp>
        <p:nvSpPr>
          <p:cNvPr id="76" name="TextBox 75">
            <a:extLst>
              <a:ext uri="{FF2B5EF4-FFF2-40B4-BE49-F238E27FC236}">
                <a16:creationId xmlns:a16="http://schemas.microsoft.com/office/drawing/2014/main" id="{0FD5B084-AADF-0D83-1A4B-E3358A3F0A16}"/>
              </a:ext>
            </a:extLst>
          </p:cNvPr>
          <p:cNvSpPr txBox="1"/>
          <p:nvPr/>
        </p:nvSpPr>
        <p:spPr>
          <a:xfrm>
            <a:off x="2502130" y="4709743"/>
            <a:ext cx="3214711" cy="615553"/>
          </a:xfrm>
          <a:prstGeom prst="rect">
            <a:avLst/>
          </a:prstGeom>
          <a:noFill/>
        </p:spPr>
        <p:txBody>
          <a:bodyPr wrap="square" rtlCol="0">
            <a:spAutoFit/>
          </a:bodyPr>
          <a:lstStyle/>
          <a:p>
            <a:r>
              <a:rPr lang="en-US" altLang="ko-KR" sz="1700" dirty="0">
                <a:solidFill>
                  <a:schemeClr val="bg1"/>
                </a:solidFill>
              </a:rPr>
              <a:t>Data quality:</a:t>
            </a:r>
          </a:p>
          <a:p>
            <a:r>
              <a:rPr lang="en-US" altLang="ko-KR" sz="1700" dirty="0">
                <a:solidFill>
                  <a:schemeClr val="bg1"/>
                </a:solidFill>
              </a:rPr>
              <a:t>Q =  87.625    ( Good )</a:t>
            </a:r>
            <a:endParaRPr lang="ko-KR" altLang="en-US" sz="1700" dirty="0">
              <a:solidFill>
                <a:schemeClr val="bg1"/>
              </a:solidFill>
            </a:endParaRPr>
          </a:p>
        </p:txBody>
      </p:sp>
      <p:grpSp>
        <p:nvGrpSpPr>
          <p:cNvPr id="77" name="그룹 39">
            <a:extLst>
              <a:ext uri="{FF2B5EF4-FFF2-40B4-BE49-F238E27FC236}">
                <a16:creationId xmlns:a16="http://schemas.microsoft.com/office/drawing/2014/main" id="{6D9D6807-311B-1092-680B-3400C39F387F}"/>
              </a:ext>
            </a:extLst>
          </p:cNvPr>
          <p:cNvGrpSpPr/>
          <p:nvPr/>
        </p:nvGrpSpPr>
        <p:grpSpPr>
          <a:xfrm>
            <a:off x="6216905" y="3995362"/>
            <a:ext cx="3357587" cy="2071702"/>
            <a:chOff x="357158" y="1428736"/>
            <a:chExt cx="3357586" cy="2071702"/>
          </a:xfrm>
        </p:grpSpPr>
        <p:sp>
          <p:nvSpPr>
            <p:cNvPr id="78" name="직사각형 77">
              <a:extLst>
                <a:ext uri="{FF2B5EF4-FFF2-40B4-BE49-F238E27FC236}">
                  <a16:creationId xmlns:a16="http://schemas.microsoft.com/office/drawing/2014/main" id="{14804AE6-1CDC-9F74-64FE-B55D7982B17C}"/>
                </a:ext>
              </a:extLst>
            </p:cNvPr>
            <p:cNvSpPr/>
            <p:nvPr/>
          </p:nvSpPr>
          <p:spPr>
            <a:xfrm>
              <a:off x="357158" y="1428736"/>
              <a:ext cx="3357586" cy="20717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ko-KR" dirty="0"/>
            </a:p>
          </p:txBody>
        </p:sp>
        <p:sp>
          <p:nvSpPr>
            <p:cNvPr id="79" name="TextBox 78">
              <a:extLst>
                <a:ext uri="{FF2B5EF4-FFF2-40B4-BE49-F238E27FC236}">
                  <a16:creationId xmlns:a16="http://schemas.microsoft.com/office/drawing/2014/main" id="{C15BC6CE-E676-026C-CE11-3F5E0BA3C70A}"/>
                </a:ext>
              </a:extLst>
            </p:cNvPr>
            <p:cNvSpPr txBox="1"/>
            <p:nvPr/>
          </p:nvSpPr>
          <p:spPr>
            <a:xfrm>
              <a:off x="500034" y="1432947"/>
              <a:ext cx="3071834" cy="369332"/>
            </a:xfrm>
            <a:prstGeom prst="rect">
              <a:avLst/>
            </a:prstGeom>
            <a:noFill/>
          </p:spPr>
          <p:txBody>
            <a:bodyPr wrap="square" rtlCol="0">
              <a:spAutoFit/>
            </a:bodyPr>
            <a:lstStyle/>
            <a:p>
              <a:r>
                <a:rPr lang="en-US" altLang="ko-KR" dirty="0">
                  <a:solidFill>
                    <a:schemeClr val="bg1"/>
                  </a:solidFill>
                </a:rPr>
                <a:t>               BCM          8/8   </a:t>
              </a:r>
              <a:endParaRPr lang="ko-KR" altLang="en-US" dirty="0">
                <a:solidFill>
                  <a:schemeClr val="bg1"/>
                </a:solidFill>
              </a:endParaRPr>
            </a:p>
          </p:txBody>
        </p:sp>
        <p:sp>
          <p:nvSpPr>
            <p:cNvPr id="80" name="이등변 삼각형 79">
              <a:extLst>
                <a:ext uri="{FF2B5EF4-FFF2-40B4-BE49-F238E27FC236}">
                  <a16:creationId xmlns:a16="http://schemas.microsoft.com/office/drawing/2014/main" id="{7DEF41CF-2514-3872-3E4F-3CEEA9759280}"/>
                </a:ext>
              </a:extLst>
            </p:cNvPr>
            <p:cNvSpPr/>
            <p:nvPr/>
          </p:nvSpPr>
          <p:spPr>
            <a:xfrm>
              <a:off x="2819101" y="1500174"/>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1" name="이등변 삼각형 80">
              <a:extLst>
                <a:ext uri="{FF2B5EF4-FFF2-40B4-BE49-F238E27FC236}">
                  <a16:creationId xmlns:a16="http://schemas.microsoft.com/office/drawing/2014/main" id="{2B6676BA-84A7-F745-8F52-6CC5152B8524}"/>
                </a:ext>
              </a:extLst>
            </p:cNvPr>
            <p:cNvSpPr/>
            <p:nvPr/>
          </p:nvSpPr>
          <p:spPr>
            <a:xfrm flipV="1">
              <a:off x="2819101" y="1637369"/>
              <a:ext cx="144000" cy="108000"/>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2" name="Picture 5">
              <a:extLst>
                <a:ext uri="{FF2B5EF4-FFF2-40B4-BE49-F238E27FC236}">
                  <a16:creationId xmlns:a16="http://schemas.microsoft.com/office/drawing/2014/main" id="{B1048172-886A-9086-CFC8-CE9B4CC2C138}"/>
                </a:ext>
              </a:extLst>
            </p:cNvPr>
            <p:cNvPicPr>
              <a:picLocks noChangeAspect="1" noChangeArrowheads="1"/>
            </p:cNvPicPr>
            <p:nvPr/>
          </p:nvPicPr>
          <p:blipFill>
            <a:blip r:embed="rId3" cstate="print"/>
            <a:srcRect/>
            <a:stretch>
              <a:fillRect/>
            </a:stretch>
          </p:blipFill>
          <p:spPr bwMode="auto">
            <a:xfrm>
              <a:off x="3417974" y="1505855"/>
              <a:ext cx="269100" cy="234000"/>
            </a:xfrm>
            <a:prstGeom prst="rect">
              <a:avLst/>
            </a:prstGeom>
            <a:noFill/>
            <a:ln w="9525">
              <a:noFill/>
              <a:miter lim="800000"/>
              <a:headEnd/>
              <a:tailEnd/>
            </a:ln>
            <a:effectLst/>
          </p:spPr>
        </p:pic>
        <p:cxnSp>
          <p:nvCxnSpPr>
            <p:cNvPr id="83" name="직선 연결선 82">
              <a:extLst>
                <a:ext uri="{FF2B5EF4-FFF2-40B4-BE49-F238E27FC236}">
                  <a16:creationId xmlns:a16="http://schemas.microsoft.com/office/drawing/2014/main" id="{8A78C4E5-8BFB-D926-7C7B-79DE1F394B9B}"/>
                </a:ext>
              </a:extLst>
            </p:cNvPr>
            <p:cNvCxnSpPr/>
            <p:nvPr/>
          </p:nvCxnSpPr>
          <p:spPr>
            <a:xfrm>
              <a:off x="417579" y="1807960"/>
              <a:ext cx="3240000" cy="158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직사각형 83">
              <a:extLst>
                <a:ext uri="{FF2B5EF4-FFF2-40B4-BE49-F238E27FC236}">
                  <a16:creationId xmlns:a16="http://schemas.microsoft.com/office/drawing/2014/main" id="{6CFE65A2-D978-E4E1-DF90-7FDE134E537D}"/>
                </a:ext>
              </a:extLst>
            </p:cNvPr>
            <p:cNvSpPr/>
            <p:nvPr/>
          </p:nvSpPr>
          <p:spPr>
            <a:xfrm>
              <a:off x="461647" y="3143248"/>
              <a:ext cx="3143272" cy="276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ko-KR" dirty="0">
                  <a:solidFill>
                    <a:schemeClr val="tx1"/>
                  </a:solidFill>
                </a:rPr>
                <a:t>&lt;Continue&gt;</a:t>
              </a:r>
              <a:endParaRPr lang="ko-KR" altLang="en-US" dirty="0">
                <a:solidFill>
                  <a:schemeClr val="tx1"/>
                </a:solidFill>
              </a:endParaRPr>
            </a:p>
          </p:txBody>
        </p:sp>
      </p:grpSp>
      <p:sp>
        <p:nvSpPr>
          <p:cNvPr id="85" name="TextBox 84">
            <a:extLst>
              <a:ext uri="{FF2B5EF4-FFF2-40B4-BE49-F238E27FC236}">
                <a16:creationId xmlns:a16="http://schemas.microsoft.com/office/drawing/2014/main" id="{2A6232E4-E3C6-464E-FC0A-03829D3D69CB}"/>
              </a:ext>
            </a:extLst>
          </p:cNvPr>
          <p:cNvSpPr txBox="1"/>
          <p:nvPr/>
        </p:nvSpPr>
        <p:spPr>
          <a:xfrm>
            <a:off x="6288343" y="4423992"/>
            <a:ext cx="3214711" cy="1138773"/>
          </a:xfrm>
          <a:prstGeom prst="rect">
            <a:avLst/>
          </a:prstGeom>
          <a:noFill/>
        </p:spPr>
        <p:txBody>
          <a:bodyPr wrap="square" rtlCol="0">
            <a:spAutoFit/>
          </a:bodyPr>
          <a:lstStyle/>
          <a:p>
            <a:r>
              <a:rPr lang="en-US" altLang="ko-KR" sz="1700" dirty="0">
                <a:solidFill>
                  <a:schemeClr val="bg1"/>
                </a:solidFill>
              </a:rPr>
              <a:t>Sex       =   Male</a:t>
            </a:r>
          </a:p>
          <a:p>
            <a:r>
              <a:rPr lang="en-US" altLang="ko-KR" sz="1700" dirty="0">
                <a:solidFill>
                  <a:schemeClr val="bg1"/>
                </a:solidFill>
              </a:rPr>
              <a:t>Weight  =   80.4 Kg</a:t>
            </a:r>
          </a:p>
          <a:p>
            <a:r>
              <a:rPr lang="en-US" altLang="ko-KR" sz="1700" dirty="0">
                <a:solidFill>
                  <a:schemeClr val="bg1"/>
                </a:solidFill>
              </a:rPr>
              <a:t>Height   =   182 cm</a:t>
            </a:r>
          </a:p>
          <a:p>
            <a:r>
              <a:rPr lang="en-US" altLang="ko-KR" sz="1700" dirty="0">
                <a:solidFill>
                  <a:schemeClr val="bg1"/>
                </a:solidFill>
              </a:rPr>
              <a:t>Age      =   25 years</a:t>
            </a:r>
            <a:endParaRPr lang="ko-KR" altLang="en-US" sz="1700" dirty="0">
              <a:solidFill>
                <a:schemeClr val="bg1"/>
              </a:solidFill>
            </a:endParaRPr>
          </a:p>
        </p:txBody>
      </p:sp>
      <p:sp>
        <p:nvSpPr>
          <p:cNvPr id="86" name="TextBox 85">
            <a:extLst>
              <a:ext uri="{FF2B5EF4-FFF2-40B4-BE49-F238E27FC236}">
                <a16:creationId xmlns:a16="http://schemas.microsoft.com/office/drawing/2014/main" id="{313CD285-6F68-B33E-11A5-C617511B5C14}"/>
              </a:ext>
            </a:extLst>
          </p:cNvPr>
          <p:cNvSpPr txBox="1"/>
          <p:nvPr/>
        </p:nvSpPr>
        <p:spPr>
          <a:xfrm>
            <a:off x="2480095" y="1709348"/>
            <a:ext cx="3214711" cy="877163"/>
          </a:xfrm>
          <a:prstGeom prst="rect">
            <a:avLst/>
          </a:prstGeom>
          <a:noFill/>
        </p:spPr>
        <p:txBody>
          <a:bodyPr wrap="square" rtlCol="0">
            <a:spAutoFit/>
          </a:bodyPr>
          <a:lstStyle/>
          <a:p>
            <a:r>
              <a:rPr lang="en-US" altLang="ko-KR" sz="1700" dirty="0">
                <a:solidFill>
                  <a:schemeClr val="bg1"/>
                </a:solidFill>
              </a:rPr>
              <a:t>BMI   =      24.3 Kg/m</a:t>
            </a:r>
            <a:r>
              <a:rPr lang="en-US" altLang="ko-KR" sz="1700" baseline="30000" dirty="0">
                <a:solidFill>
                  <a:schemeClr val="bg1"/>
                </a:solidFill>
              </a:rPr>
              <a:t>2</a:t>
            </a:r>
          </a:p>
          <a:p>
            <a:r>
              <a:rPr lang="en-US" altLang="ko-KR" sz="1700" dirty="0">
                <a:solidFill>
                  <a:schemeClr val="bg1"/>
                </a:solidFill>
              </a:rPr>
              <a:t>LTI    =       19.9 Kg/m</a:t>
            </a:r>
            <a:r>
              <a:rPr lang="en-US" altLang="ko-KR" sz="1700" baseline="30000" dirty="0">
                <a:solidFill>
                  <a:schemeClr val="bg1"/>
                </a:solidFill>
              </a:rPr>
              <a:t>2        </a:t>
            </a:r>
            <a:r>
              <a:rPr lang="en-US" altLang="ko-KR" sz="1700" dirty="0">
                <a:solidFill>
                  <a:schemeClr val="bg1"/>
                </a:solidFill>
              </a:rPr>
              <a:t>(=)</a:t>
            </a:r>
            <a:r>
              <a:rPr lang="en-US" altLang="ko-KR" sz="1700" baseline="30000" dirty="0">
                <a:solidFill>
                  <a:schemeClr val="bg1"/>
                </a:solidFill>
              </a:rPr>
              <a:t>   </a:t>
            </a:r>
            <a:endParaRPr lang="en-US" altLang="ko-KR" sz="1700" dirty="0">
              <a:solidFill>
                <a:schemeClr val="bg1"/>
              </a:solidFill>
            </a:endParaRPr>
          </a:p>
          <a:p>
            <a:r>
              <a:rPr lang="en-US" altLang="ko-KR" sz="1700" dirty="0">
                <a:solidFill>
                  <a:schemeClr val="bg1"/>
                </a:solidFill>
              </a:rPr>
              <a:t>FTI    =        5.4 Kg/m</a:t>
            </a:r>
            <a:r>
              <a:rPr lang="en-US" altLang="ko-KR" sz="1700" baseline="30000" dirty="0">
                <a:solidFill>
                  <a:schemeClr val="bg1"/>
                </a:solidFill>
              </a:rPr>
              <a:t>2</a:t>
            </a:r>
            <a:r>
              <a:rPr lang="ko-KR" altLang="en-US" sz="1700" dirty="0">
                <a:solidFill>
                  <a:schemeClr val="bg1"/>
                </a:solidFill>
              </a:rPr>
              <a:t>      </a:t>
            </a:r>
            <a:r>
              <a:rPr lang="en-US" altLang="ko-KR" sz="1700" dirty="0">
                <a:solidFill>
                  <a:schemeClr val="bg1"/>
                </a:solidFill>
              </a:rPr>
              <a:t>(=)</a:t>
            </a:r>
            <a:endParaRPr lang="en-US" altLang="ko-KR" sz="1700" baseline="30000" dirty="0">
              <a:solidFill>
                <a:schemeClr val="bg1"/>
              </a:solidFill>
            </a:endParaRPr>
          </a:p>
        </p:txBody>
      </p:sp>
      <p:sp>
        <p:nvSpPr>
          <p:cNvPr id="87" name="TextBox 86">
            <a:extLst>
              <a:ext uri="{FF2B5EF4-FFF2-40B4-BE49-F238E27FC236}">
                <a16:creationId xmlns:a16="http://schemas.microsoft.com/office/drawing/2014/main" id="{CB7CE45E-573E-06E3-9F0B-BC69AE832F62}"/>
              </a:ext>
            </a:extLst>
          </p:cNvPr>
          <p:cNvSpPr txBox="1"/>
          <p:nvPr/>
        </p:nvSpPr>
        <p:spPr>
          <a:xfrm>
            <a:off x="6266310" y="1709346"/>
            <a:ext cx="3214711" cy="1574790"/>
          </a:xfrm>
          <a:prstGeom prst="rect">
            <a:avLst/>
          </a:prstGeom>
          <a:noFill/>
        </p:spPr>
        <p:txBody>
          <a:bodyPr wrap="square" rtlCol="0">
            <a:spAutoFit/>
          </a:bodyPr>
          <a:lstStyle/>
          <a:p>
            <a:r>
              <a:rPr lang="en-US" altLang="ko-KR" sz="1700" dirty="0">
                <a:solidFill>
                  <a:schemeClr val="bg1"/>
                </a:solidFill>
              </a:rPr>
              <a:t>LTM    =     65.8 Kg      81.9%</a:t>
            </a:r>
            <a:endParaRPr lang="en-US" altLang="ko-KR" sz="1700" baseline="30000" dirty="0">
              <a:solidFill>
                <a:schemeClr val="bg1"/>
              </a:solidFill>
            </a:endParaRPr>
          </a:p>
          <a:p>
            <a:r>
              <a:rPr lang="en-US" altLang="ko-KR" sz="1700" dirty="0">
                <a:solidFill>
                  <a:schemeClr val="bg1"/>
                </a:solidFill>
              </a:rPr>
              <a:t>FAT     =     13.0 Kg      16.2%</a:t>
            </a:r>
          </a:p>
          <a:p>
            <a:r>
              <a:rPr lang="en-US" altLang="ko-KR" sz="1700" dirty="0">
                <a:solidFill>
                  <a:schemeClr val="bg1"/>
                </a:solidFill>
              </a:rPr>
              <a:t>ATM    =     17.7 Kg</a:t>
            </a:r>
          </a:p>
          <a:p>
            <a:r>
              <a:rPr lang="en-US" altLang="ko-KR" sz="1700" dirty="0">
                <a:solidFill>
                  <a:schemeClr val="bg1"/>
                </a:solidFill>
              </a:rPr>
              <a:t>BCM    =     39.4 Kg</a:t>
            </a:r>
          </a:p>
          <a:p>
            <a:endParaRPr lang="en-US" altLang="ko-KR" sz="1700" dirty="0">
              <a:solidFill>
                <a:schemeClr val="bg1"/>
              </a:solidFill>
            </a:endParaRPr>
          </a:p>
          <a:p>
            <a:endParaRPr lang="en-US" altLang="ko-KR" sz="1700" baseline="30000" dirty="0">
              <a:solidFill>
                <a:schemeClr val="bg1"/>
              </a:solidFill>
            </a:endParaRPr>
          </a:p>
        </p:txBody>
      </p:sp>
    </p:spTree>
    <p:extLst>
      <p:ext uri="{BB962C8B-B14F-4D97-AF65-F5344CB8AC3E}">
        <p14:creationId xmlns:p14="http://schemas.microsoft.com/office/powerpoint/2010/main" val="3400688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box(in)">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box(in)">
                                      <p:cBhvr>
                                        <p:cTn id="17" dur="5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77"/>
                                        </p:tgtEl>
                                        <p:attrNameLst>
                                          <p:attrName>style.visibility</p:attrName>
                                        </p:attrNameLst>
                                      </p:cBhvr>
                                      <p:to>
                                        <p:strVal val="visible"/>
                                      </p:to>
                                    </p:set>
                                    <p:animEffect transition="in" filter="box(in)">
                                      <p:cBhvr>
                                        <p:cTn id="22"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a:extLst>
              <a:ext uri="{FF2B5EF4-FFF2-40B4-BE49-F238E27FC236}">
                <a16:creationId xmlns:a16="http://schemas.microsoft.com/office/drawing/2014/main" id="{3A164FD5-A04C-37DA-C46E-44D26992353B}"/>
              </a:ext>
            </a:extLst>
          </p:cNvPr>
          <p:cNvGraphicFramePr>
            <a:graphicFrameLocks noGrp="1"/>
          </p:cNvGraphicFramePr>
          <p:nvPr/>
        </p:nvGraphicFramePr>
        <p:xfrm>
          <a:off x="236220" y="1046226"/>
          <a:ext cx="11772901" cy="5917600"/>
        </p:xfrm>
        <a:graphic>
          <a:graphicData uri="http://schemas.openxmlformats.org/drawingml/2006/table">
            <a:tbl>
              <a:tblPr firstRow="1" bandRow="1">
                <a:tableStyleId>{5940675A-B579-460E-94D1-54222C63F5DA}</a:tableStyleId>
              </a:tblPr>
              <a:tblGrid>
                <a:gridCol w="1596326">
                  <a:extLst>
                    <a:ext uri="{9D8B030D-6E8A-4147-A177-3AD203B41FA5}">
                      <a16:colId xmlns:a16="http://schemas.microsoft.com/office/drawing/2014/main" val="20000"/>
                    </a:ext>
                  </a:extLst>
                </a:gridCol>
                <a:gridCol w="4543870">
                  <a:extLst>
                    <a:ext uri="{9D8B030D-6E8A-4147-A177-3AD203B41FA5}">
                      <a16:colId xmlns:a16="http://schemas.microsoft.com/office/drawing/2014/main" val="20001"/>
                    </a:ext>
                  </a:extLst>
                </a:gridCol>
                <a:gridCol w="2261616">
                  <a:extLst>
                    <a:ext uri="{9D8B030D-6E8A-4147-A177-3AD203B41FA5}">
                      <a16:colId xmlns:a16="http://schemas.microsoft.com/office/drawing/2014/main" val="20002"/>
                    </a:ext>
                  </a:extLst>
                </a:gridCol>
                <a:gridCol w="3371089">
                  <a:extLst>
                    <a:ext uri="{9D8B030D-6E8A-4147-A177-3AD203B41FA5}">
                      <a16:colId xmlns:a16="http://schemas.microsoft.com/office/drawing/2014/main" val="20003"/>
                    </a:ext>
                  </a:extLst>
                </a:gridCol>
              </a:tblGrid>
              <a:tr h="596076">
                <a:tc>
                  <a:txBody>
                    <a:bodyPr/>
                    <a:lstStyle/>
                    <a:p>
                      <a:pPr algn="ctr" latinLnBrk="1"/>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rPr>
                        <a:t>BWA2.0</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A0112D"/>
                    </a:solidFill>
                  </a:tcPr>
                </a:tc>
                <a:tc>
                  <a:txBody>
                    <a:bodyPr/>
                    <a:lstStyle/>
                    <a:p>
                      <a:pPr algn="ctr" latinLnBrk="1"/>
                      <a:r>
                        <a:rPr lang="en-US" altLang="ko-KR" sz="1200" b="1" dirty="0">
                          <a:solidFill>
                            <a:schemeClr val="bg1"/>
                          </a:solidFill>
                          <a:latin typeface="Lato" panose="020F0502020204030203" pitchFamily="34" charset="0"/>
                        </a:rPr>
                        <a:t>BCM</a:t>
                      </a:r>
                    </a:p>
                    <a:p>
                      <a:pPr algn="ctr" latinLnBrk="1"/>
                      <a:r>
                        <a:rPr lang="en-US" altLang="ko-KR" sz="1200" b="1" dirty="0">
                          <a:solidFill>
                            <a:schemeClr val="bg1"/>
                          </a:solidFill>
                          <a:latin typeface="Lato" panose="020F0502020204030203" pitchFamily="34" charset="0"/>
                        </a:rPr>
                        <a:t>(Body Composition</a:t>
                      </a:r>
                      <a:r>
                        <a:rPr lang="en-US" altLang="ko-KR" sz="1200" b="1" baseline="0" dirty="0">
                          <a:solidFill>
                            <a:schemeClr val="bg1"/>
                          </a:solidFill>
                          <a:latin typeface="Lato" panose="020F0502020204030203" pitchFamily="34" charset="0"/>
                        </a:rPr>
                        <a:t> Monitor)</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rPr>
                        <a:t>BWA’s Special</a:t>
                      </a:r>
                      <a:r>
                        <a:rPr lang="en-US" altLang="ko-KR" sz="1200" b="1" baseline="0" dirty="0">
                          <a:solidFill>
                            <a:schemeClr val="bg1"/>
                          </a:solidFill>
                          <a:latin typeface="Lato" panose="020F0502020204030203" pitchFamily="34" charset="0"/>
                        </a:rPr>
                        <a:t> Features</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extLst>
                  <a:ext uri="{0D108BD9-81ED-4DB2-BD59-A6C34878D82A}">
                    <a16:rowId xmlns:a16="http://schemas.microsoft.com/office/drawing/2014/main" val="10000"/>
                  </a:ext>
                </a:extLst>
              </a:tr>
              <a:tr h="510922">
                <a:tc>
                  <a:txBody>
                    <a:bodyPr/>
                    <a:lstStyle/>
                    <a:p>
                      <a:pPr algn="ctr" latinLnBrk="1"/>
                      <a:r>
                        <a:rPr lang="en-US" altLang="ko-KR" sz="1200" b="1" dirty="0">
                          <a:latin typeface="Lato" panose="020F0502020204030203" pitchFamily="34" charset="0"/>
                        </a:rPr>
                        <a:t>Manufacturer</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25000"/>
                        </a:lnSpc>
                      </a:pPr>
                      <a:r>
                        <a:rPr lang="en-US" altLang="ko-KR" sz="1200" dirty="0" err="1">
                          <a:latin typeface="Lato" panose="020F0502020204030203" pitchFamily="34" charset="0"/>
                        </a:rPr>
                        <a:t>InBody</a:t>
                      </a:r>
                      <a:r>
                        <a:rPr lang="en-US" altLang="ko-KR" sz="1200" dirty="0">
                          <a:latin typeface="Lato" panose="020F0502020204030203" pitchFamily="34" charset="0"/>
                        </a:rPr>
                        <a:t> Co., Ltd.</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Manufactured by FMC Germany,</a:t>
                      </a:r>
                    </a:p>
                    <a:p>
                      <a:pPr algn="ctr" latinLnBrk="1">
                        <a:lnSpc>
                          <a:spcPct val="125000"/>
                        </a:lnSpc>
                      </a:pPr>
                      <a:r>
                        <a:rPr lang="en-US" altLang="ko-KR" sz="1200" dirty="0">
                          <a:latin typeface="Lato" panose="020F0502020204030203" pitchFamily="34" charset="0"/>
                        </a:rPr>
                        <a:t>distributed by FMC Korea</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1"/>
                  </a:ext>
                </a:extLst>
              </a:tr>
              <a:tr h="1553049">
                <a:tc>
                  <a:txBody>
                    <a:bodyPr/>
                    <a:lstStyle/>
                    <a:p>
                      <a:pPr algn="ctr" latinLnBrk="1"/>
                      <a:r>
                        <a:rPr lang="en-US" altLang="ko-KR" sz="1200" b="1" dirty="0">
                          <a:latin typeface="Lato" panose="020F0502020204030203" pitchFamily="34" charset="0"/>
                        </a:rPr>
                        <a:t>Frequency</a:t>
                      </a:r>
                      <a:r>
                        <a:rPr lang="en-US" altLang="ko-KR" sz="1200" b="1" baseline="0" dirty="0">
                          <a:latin typeface="Lato" panose="020F0502020204030203" pitchFamily="34" charset="0"/>
                        </a:rPr>
                        <a:t> Band</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25000"/>
                        </a:lnSpc>
                      </a:pPr>
                      <a:r>
                        <a:rPr lang="en-US" altLang="ko-KR" sz="1200" dirty="0">
                          <a:latin typeface="Lato" panose="020F0502020204030203" pitchFamily="34" charset="0"/>
                        </a:rPr>
                        <a:t>Multi-frequency</a:t>
                      </a:r>
                    </a:p>
                    <a:p>
                      <a:pPr algn="ctr" latinLnBrk="1">
                        <a:lnSpc>
                          <a:spcPct val="125000"/>
                        </a:lnSpc>
                      </a:pPr>
                      <a:r>
                        <a:rPr lang="en-US" altLang="ko-KR" sz="1200" dirty="0">
                          <a:latin typeface="Lato" panose="020F0502020204030203" pitchFamily="34" charset="0"/>
                        </a:rPr>
                        <a:t>(1, 5, 50, 250, 500, 1000kHz</a:t>
                      </a:r>
                    </a:p>
                    <a:p>
                      <a:pPr algn="ctr" latinLnBrk="1">
                        <a:lnSpc>
                          <a:spcPct val="125000"/>
                        </a:lnSpc>
                      </a:pPr>
                      <a:r>
                        <a:rPr lang="en-US" altLang="ko-KR" sz="1200" dirty="0">
                          <a:latin typeface="Lato" panose="020F0502020204030203" pitchFamily="34" charset="0"/>
                        </a:rPr>
                        <a:t>2000kHz, 3000kHz)</a:t>
                      </a:r>
                    </a:p>
                    <a:p>
                      <a:pPr algn="ctr" latinLnBrk="1">
                        <a:lnSpc>
                          <a:spcPct val="125000"/>
                        </a:lnSpc>
                      </a:pP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Multi-frequency</a:t>
                      </a:r>
                    </a:p>
                    <a:p>
                      <a:pPr algn="ctr" latinLnBrk="1">
                        <a:lnSpc>
                          <a:spcPct val="125000"/>
                        </a:lnSpc>
                      </a:pPr>
                      <a:r>
                        <a:rPr lang="en-US" altLang="ko-KR" sz="1200" dirty="0">
                          <a:latin typeface="Lato" panose="020F0502020204030203" pitchFamily="34" charset="0"/>
                        </a:rPr>
                        <a:t>(50 values </a:t>
                      </a:r>
                    </a:p>
                    <a:p>
                      <a:pPr algn="ctr" latinLnBrk="1">
                        <a:lnSpc>
                          <a:spcPct val="125000"/>
                        </a:lnSpc>
                      </a:pPr>
                      <a:r>
                        <a:rPr lang="en-US" altLang="ko-KR" sz="1200" dirty="0">
                          <a:latin typeface="Lato" panose="020F0502020204030203" pitchFamily="34" charset="0"/>
                        </a:rPr>
                        <a:t>within</a:t>
                      </a:r>
                      <a:r>
                        <a:rPr lang="en-US" altLang="ko-KR" sz="1200" baseline="0" dirty="0">
                          <a:latin typeface="Lato" panose="020F0502020204030203" pitchFamily="34" charset="0"/>
                        </a:rPr>
                        <a:t> the range of </a:t>
                      </a:r>
                      <a:r>
                        <a:rPr lang="en-US" altLang="ko-KR" sz="1200" dirty="0">
                          <a:latin typeface="Lato" panose="020F0502020204030203" pitchFamily="34" charset="0"/>
                        </a:rPr>
                        <a:t>5~1000kHz</a:t>
                      </a:r>
                      <a:r>
                        <a:rPr lang="en-US" altLang="ko-KR" sz="1200" baseline="0" dirty="0">
                          <a:latin typeface="Lato" panose="020F0502020204030203" pitchFamily="34" charset="0"/>
                        </a:rPr>
                        <a:t>)</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Although </a:t>
                      </a:r>
                      <a:r>
                        <a:rPr lang="en-US" altLang="ko-KR" sz="1200" dirty="0" err="1">
                          <a:latin typeface="Lato" panose="020F0502020204030203" pitchFamily="34" charset="0"/>
                        </a:rPr>
                        <a:t>InBody</a:t>
                      </a:r>
                      <a:r>
                        <a:rPr lang="en-US" altLang="ko-KR" sz="1200" baseline="0" dirty="0">
                          <a:latin typeface="Lato" panose="020F0502020204030203" pitchFamily="34" charset="0"/>
                        </a:rPr>
                        <a:t> is </a:t>
                      </a:r>
                      <a:r>
                        <a:rPr lang="en-US" altLang="ko-KR" sz="1200" dirty="0">
                          <a:latin typeface="Lato" panose="020F0502020204030203" pitchFamily="34" charset="0"/>
                        </a:rPr>
                        <a:t>capable of measuring multi-frequencies, conducting measurements for each body part takes a certain amount of time (currently 60 measurements per body part, per frequency). Thus, we utilize only the main 8 impedance values.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2"/>
                  </a:ext>
                </a:extLst>
              </a:tr>
              <a:tr h="701513">
                <a:tc>
                  <a:txBody>
                    <a:bodyPr/>
                    <a:lstStyle/>
                    <a:p>
                      <a:pPr algn="ctr" latinLnBrk="1"/>
                      <a:r>
                        <a:rPr lang="en-US" altLang="ko-KR" sz="1200" b="1" dirty="0">
                          <a:latin typeface="Lato" panose="020F0502020204030203" pitchFamily="34" charset="0"/>
                        </a:rPr>
                        <a:t>Measurement</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25000"/>
                        </a:lnSpc>
                      </a:pPr>
                      <a:r>
                        <a:rPr lang="en-US" altLang="ko-KR" sz="1200" dirty="0">
                          <a:latin typeface="Lato" panose="020F0502020204030203" pitchFamily="34" charset="0"/>
                        </a:rPr>
                        <a:t>Direct Segmental Multi-Frequency BIA(DSM-BIA)</a:t>
                      </a:r>
                    </a:p>
                    <a:p>
                      <a:pPr algn="ctr" latinLnBrk="1">
                        <a:lnSpc>
                          <a:spcPct val="125000"/>
                        </a:lnSpc>
                      </a:pPr>
                      <a:r>
                        <a:rPr lang="ko-KR" altLang="en-US" sz="1200" dirty="0">
                          <a:latin typeface="Lato" panose="020F0502020204030203" pitchFamily="34" charset="0"/>
                        </a:rPr>
                        <a:t>→ </a:t>
                      </a:r>
                      <a:r>
                        <a:rPr lang="en-US" altLang="ko-KR" sz="1200" dirty="0">
                          <a:latin typeface="Lato" panose="020F0502020204030203" pitchFamily="34" charset="0"/>
                        </a:rPr>
                        <a:t>A direct impedance measurement for each body</a:t>
                      </a:r>
                      <a:r>
                        <a:rPr lang="en-US" altLang="ko-KR" sz="1200" baseline="0" dirty="0">
                          <a:latin typeface="Lato" panose="020F0502020204030203" pitchFamily="34" charset="0"/>
                        </a:rPr>
                        <a:t> part</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Lower limb’s impedance measurement</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BIA equipment reaches higher accuracy</a:t>
                      </a:r>
                      <a:r>
                        <a:rPr lang="en-US" altLang="ko-KR" sz="1200" baseline="0" dirty="0">
                          <a:latin typeface="Lato" panose="020F0502020204030203" pitchFamily="34" charset="0"/>
                        </a:rPr>
                        <a:t> </a:t>
                      </a:r>
                      <a:r>
                        <a:rPr lang="en-US" altLang="ko-KR" sz="1200" dirty="0">
                          <a:latin typeface="Lato" panose="020F0502020204030203" pitchFamily="34" charset="0"/>
                        </a:rPr>
                        <a:t>when impedance is measured separately for each body part (have access to research papers)</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3"/>
                  </a:ext>
                </a:extLst>
              </a:tr>
              <a:tr h="2213995">
                <a:tc>
                  <a:txBody>
                    <a:bodyPr/>
                    <a:lstStyle/>
                    <a:p>
                      <a:pPr algn="ctr" latinLnBrk="1"/>
                      <a:r>
                        <a:rPr lang="en-US" altLang="ko-KR" sz="1200" b="1" dirty="0">
                          <a:latin typeface="Lato" panose="020F0502020204030203" pitchFamily="34" charset="0"/>
                        </a:rPr>
                        <a:t>Impedance</a:t>
                      </a:r>
                    </a:p>
                    <a:p>
                      <a:pPr algn="ctr" latinLnBrk="1"/>
                      <a:r>
                        <a:rPr lang="en-US" altLang="ko-KR" sz="1200" b="1" dirty="0">
                          <a:latin typeface="Lato" panose="020F0502020204030203" pitchFamily="34" charset="0"/>
                        </a:rPr>
                        <a:t>Measurement</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marL="171450" indent="-171450" latinLnBrk="0">
                        <a:lnSpc>
                          <a:spcPct val="125000"/>
                        </a:lnSpc>
                        <a:buFontTx/>
                        <a:buChar char="-"/>
                      </a:pPr>
                      <a:r>
                        <a:rPr lang="en-US" altLang="ko-KR" sz="1200" b="0" kern="1200" dirty="0">
                          <a:solidFill>
                            <a:schemeClr val="tx1"/>
                          </a:solidFill>
                          <a:latin typeface="Lato" panose="020F0502020204030203" pitchFamily="34" charset="0"/>
                          <a:ea typeface="+mn-ea"/>
                          <a:cs typeface="+mn-cs"/>
                        </a:rPr>
                        <a:t>Impedance</a:t>
                      </a:r>
                      <a:r>
                        <a:rPr lang="en-US" altLang="ko-KR" sz="1200" b="0" kern="1200" baseline="0" dirty="0">
                          <a:solidFill>
                            <a:schemeClr val="tx1"/>
                          </a:solidFill>
                          <a:latin typeface="Lato" panose="020F0502020204030203" pitchFamily="34" charset="0"/>
                          <a:ea typeface="+mn-ea"/>
                          <a:cs typeface="+mn-cs"/>
                        </a:rPr>
                        <a:t> values are provided for each body part(right arm, left arm, trunk, right leg, left leg) and frequency</a:t>
                      </a:r>
                      <a:r>
                        <a:rPr lang="en-US" altLang="ko-KR" sz="1200" b="0" kern="1200" dirty="0">
                          <a:solidFill>
                            <a:schemeClr val="tx1"/>
                          </a:solidFill>
                          <a:latin typeface="Lato" panose="020F0502020204030203" pitchFamily="34" charset="0"/>
                          <a:ea typeface="+mn-ea"/>
                          <a:cs typeface="+mn-cs"/>
                        </a:rPr>
                        <a:t>(1,5,50,250,500,</a:t>
                      </a:r>
                      <a:r>
                        <a:rPr lang="en-US" altLang="ko-KR" sz="1200" b="0" kern="1200" baseline="0" dirty="0">
                          <a:solidFill>
                            <a:schemeClr val="tx1"/>
                          </a:solidFill>
                          <a:latin typeface="Lato" panose="020F0502020204030203" pitchFamily="34" charset="0"/>
                          <a:ea typeface="+mn-ea"/>
                          <a:cs typeface="+mn-cs"/>
                        </a:rPr>
                        <a:t> </a:t>
                      </a:r>
                      <a:r>
                        <a:rPr lang="en-US" altLang="ko-KR" sz="1200" b="0" kern="1200" dirty="0">
                          <a:solidFill>
                            <a:schemeClr val="tx1"/>
                          </a:solidFill>
                          <a:latin typeface="Lato" panose="020F0502020204030203" pitchFamily="34" charset="0"/>
                          <a:ea typeface="+mn-ea"/>
                          <a:cs typeface="+mn-cs"/>
                        </a:rPr>
                        <a:t>1000KHz, 2000KHz, 3000KHz), a total</a:t>
                      </a:r>
                      <a:r>
                        <a:rPr lang="en-US" altLang="ko-KR" sz="1200" b="0" kern="1200" baseline="0" dirty="0">
                          <a:solidFill>
                            <a:schemeClr val="tx1"/>
                          </a:solidFill>
                          <a:latin typeface="Lato" panose="020F0502020204030203" pitchFamily="34" charset="0"/>
                          <a:ea typeface="+mn-ea"/>
                          <a:cs typeface="+mn-cs"/>
                        </a:rPr>
                        <a:t> of 40 values</a:t>
                      </a:r>
                    </a:p>
                    <a:p>
                      <a:pPr marL="171450" indent="-171450" latinLnBrk="0">
                        <a:lnSpc>
                          <a:spcPct val="125000"/>
                        </a:lnSpc>
                        <a:buFontTx/>
                        <a:buChar char="-"/>
                      </a:pPr>
                      <a:r>
                        <a:rPr lang="en-US" altLang="ko-KR" sz="1200" b="0" kern="1200" baseline="0" dirty="0">
                          <a:solidFill>
                            <a:schemeClr val="tx1"/>
                          </a:solidFill>
                          <a:latin typeface="Lato" panose="020F0502020204030203" pitchFamily="34" charset="0"/>
                          <a:ea typeface="+mn-ea"/>
                          <a:cs typeface="+mn-cs"/>
                        </a:rPr>
                        <a:t>Reactance values are provided for each body part and frequency</a:t>
                      </a:r>
                      <a:r>
                        <a:rPr lang="en-US" altLang="ko-KR" sz="1200" b="0" kern="1200" dirty="0">
                          <a:solidFill>
                            <a:schemeClr val="tx1"/>
                          </a:solidFill>
                          <a:latin typeface="Lato" panose="020F0502020204030203" pitchFamily="34" charset="0"/>
                          <a:ea typeface="+mn-ea"/>
                          <a:cs typeface="+mn-cs"/>
                        </a:rPr>
                        <a:t>(5,50,250KHz), a total of 15 values</a:t>
                      </a:r>
                    </a:p>
                    <a:p>
                      <a:pPr marL="171450" marR="0" lvl="0" indent="-171450" algn="l" defTabSz="914400" rtl="0" eaLnBrk="1" fontAlgn="auto" latinLnBrk="0" hangingPunct="1">
                        <a:lnSpc>
                          <a:spcPct val="125000"/>
                        </a:lnSpc>
                        <a:spcBef>
                          <a:spcPts val="0"/>
                        </a:spcBef>
                        <a:spcAft>
                          <a:spcPts val="0"/>
                        </a:spcAft>
                        <a:buClrTx/>
                        <a:buSzTx/>
                        <a:buFontTx/>
                        <a:buChar char="-"/>
                        <a:tabLst/>
                        <a:defRPr/>
                      </a:pPr>
                      <a:r>
                        <a:rPr lang="en-US" altLang="ko-KR" sz="1200" b="0" kern="1200" baseline="0" dirty="0">
                          <a:solidFill>
                            <a:schemeClr val="tx1"/>
                          </a:solidFill>
                          <a:latin typeface="Lato" panose="020F0502020204030203" pitchFamily="34" charset="0"/>
                          <a:ea typeface="+mn-ea"/>
                          <a:cs typeface="+mn-cs"/>
                        </a:rPr>
                        <a:t>Phase angle values are provided for each body part and frequency</a:t>
                      </a:r>
                      <a:r>
                        <a:rPr lang="en-US" altLang="ko-KR" sz="1200" b="0" kern="1200" dirty="0">
                          <a:solidFill>
                            <a:schemeClr val="tx1"/>
                          </a:solidFill>
                          <a:latin typeface="Lato" panose="020F0502020204030203" pitchFamily="34" charset="0"/>
                          <a:ea typeface="+mn-ea"/>
                          <a:cs typeface="+mn-cs"/>
                        </a:rPr>
                        <a:t>(5,50,250KHz), a total of 15 values</a:t>
                      </a:r>
                    </a:p>
                    <a:p>
                      <a:pPr marL="0" indent="0" latinLnBrk="0">
                        <a:lnSpc>
                          <a:spcPct val="125000"/>
                        </a:lnSpc>
                        <a:buFontTx/>
                        <a:buNone/>
                      </a:pPr>
                      <a:r>
                        <a:rPr lang="en-US" altLang="ko-KR" sz="1200" b="0" kern="1200" dirty="0">
                          <a:solidFill>
                            <a:schemeClr val="tx1"/>
                          </a:solidFill>
                          <a:latin typeface="Lato" panose="020F0502020204030203" pitchFamily="34" charset="0"/>
                          <a:ea typeface="+mn-ea"/>
                          <a:cs typeface="+mn-cs"/>
                          <a:sym typeface="Wingdings" panose="05000000000000000000" pitchFamily="2" charset="2"/>
                        </a:rPr>
                        <a:t> Enables</a:t>
                      </a:r>
                      <a:r>
                        <a:rPr lang="en-US" altLang="ko-KR" sz="1200" b="0" kern="1200" baseline="0" dirty="0">
                          <a:solidFill>
                            <a:schemeClr val="tx1"/>
                          </a:solidFill>
                          <a:latin typeface="Lato" panose="020F0502020204030203" pitchFamily="34" charset="0"/>
                          <a:ea typeface="+mn-ea"/>
                          <a:cs typeface="+mn-cs"/>
                          <a:sym typeface="Wingdings" panose="05000000000000000000" pitchFamily="2" charset="2"/>
                        </a:rPr>
                        <a:t> to recognize measurement errors through displayed values per frequency and body part impedance</a:t>
                      </a:r>
                      <a:endParaRPr lang="ko-KR" altLang="en-US" sz="1200" b="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Impedance</a:t>
                      </a:r>
                      <a:r>
                        <a:rPr lang="en-US" altLang="ko-KR" sz="1200" baseline="0" dirty="0">
                          <a:latin typeface="Lato" panose="020F0502020204030203" pitchFamily="34" charset="0"/>
                        </a:rPr>
                        <a:t> Unavailable</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BWA measures 5 body parts (limbs, trunk) using 8 different</a:t>
                      </a:r>
                      <a:r>
                        <a:rPr lang="en-US" altLang="ko-KR" sz="1200" baseline="0" dirty="0">
                          <a:latin typeface="Lato" panose="020F0502020204030203" pitchFamily="34" charset="0"/>
                        </a:rPr>
                        <a:t> </a:t>
                      </a:r>
                      <a:r>
                        <a:rPr lang="en-US" altLang="ko-KR" sz="1200" dirty="0">
                          <a:latin typeface="Lato" panose="020F0502020204030203" pitchFamily="34" charset="0"/>
                        </a:rPr>
                        <a:t>frequencies. Thus, it provides 40 impedance values; per body part</a:t>
                      </a:r>
                      <a:r>
                        <a:rPr lang="en-US" altLang="ko-KR" sz="1200" baseline="0" dirty="0">
                          <a:latin typeface="Lato" panose="020F0502020204030203" pitchFamily="34" charset="0"/>
                        </a:rPr>
                        <a:t> and </a:t>
                      </a:r>
                      <a:r>
                        <a:rPr lang="en-US" altLang="ko-KR" sz="1200" dirty="0">
                          <a:latin typeface="Lato" panose="020F0502020204030203" pitchFamily="34" charset="0"/>
                        </a:rPr>
                        <a:t>frequency.</a:t>
                      </a:r>
                    </a:p>
                    <a:p>
                      <a:pPr algn="ctr" latinLnBrk="1">
                        <a:lnSpc>
                          <a:spcPct val="125000"/>
                        </a:lnSpc>
                      </a:pPr>
                      <a:r>
                        <a:rPr lang="en-US" altLang="ko-KR" sz="1200" dirty="0">
                          <a:latin typeface="Lato" panose="020F0502020204030203" pitchFamily="34" charset="0"/>
                        </a:rPr>
                        <a:t>By providing all 40 impedance values that react to small</a:t>
                      </a:r>
                      <a:r>
                        <a:rPr lang="en-US" altLang="ko-KR" sz="1200" baseline="0" dirty="0">
                          <a:latin typeface="Lato" panose="020F0502020204030203" pitchFamily="34" charset="0"/>
                        </a:rPr>
                        <a:t> changes on result sheets</a:t>
                      </a:r>
                      <a:r>
                        <a:rPr lang="en-US" altLang="ko-KR" sz="1200" dirty="0">
                          <a:latin typeface="Lato" panose="020F0502020204030203" pitchFamily="34" charset="0"/>
                        </a:rPr>
                        <a:t>, it enables</a:t>
                      </a:r>
                      <a:r>
                        <a:rPr lang="en-US" altLang="ko-KR" sz="1200" baseline="0" dirty="0">
                          <a:latin typeface="Lato" panose="020F0502020204030203" pitchFamily="34" charset="0"/>
                        </a:rPr>
                        <a:t> </a:t>
                      </a:r>
                      <a:r>
                        <a:rPr lang="en-US" altLang="ko-KR" sz="1200" dirty="0">
                          <a:latin typeface="Lato" panose="020F0502020204030203" pitchFamily="34" charset="0"/>
                        </a:rPr>
                        <a:t>to intuitively confirm and determine the presence of measurement errors.</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A7AA2A8D-199F-333B-0CC8-E3D6C2BF8254}"/>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7" name="TextBox 6">
            <a:extLst>
              <a:ext uri="{FF2B5EF4-FFF2-40B4-BE49-F238E27FC236}">
                <a16:creationId xmlns:a16="http://schemas.microsoft.com/office/drawing/2014/main" id="{981A030C-7BBE-E344-8F2A-D6DBDB9233C8}"/>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8" name="TextBox 7">
            <a:extLst>
              <a:ext uri="{FF2B5EF4-FFF2-40B4-BE49-F238E27FC236}">
                <a16:creationId xmlns:a16="http://schemas.microsoft.com/office/drawing/2014/main" id="{35951EA4-4BA2-BB8A-788E-7F9CD1BD4E67}"/>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spTree>
    <p:extLst>
      <p:ext uri="{BB962C8B-B14F-4D97-AF65-F5344CB8AC3E}">
        <p14:creationId xmlns:p14="http://schemas.microsoft.com/office/powerpoint/2010/main" val="254555730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655F5-BA32-4D25-B17E-84205AFBF880}"/>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3487C0D9-8F95-1C56-5E27-00957AD86127}"/>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C57AE246-53E3-9198-6E2D-B40452D4B77F}"/>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graphicFrame>
        <p:nvGraphicFramePr>
          <p:cNvPr id="9" name="표 8">
            <a:extLst>
              <a:ext uri="{FF2B5EF4-FFF2-40B4-BE49-F238E27FC236}">
                <a16:creationId xmlns:a16="http://schemas.microsoft.com/office/drawing/2014/main" id="{3DC763FA-4BFC-15ED-AEEE-3FA684D1F75C}"/>
              </a:ext>
            </a:extLst>
          </p:cNvPr>
          <p:cNvGraphicFramePr>
            <a:graphicFrameLocks noGrp="1"/>
          </p:cNvGraphicFramePr>
          <p:nvPr/>
        </p:nvGraphicFramePr>
        <p:xfrm>
          <a:off x="347583" y="1061190"/>
          <a:ext cx="11621888" cy="5440680"/>
        </p:xfrm>
        <a:graphic>
          <a:graphicData uri="http://schemas.openxmlformats.org/drawingml/2006/table">
            <a:tbl>
              <a:tblPr firstRow="1" bandRow="1">
                <a:tableStyleId>{5940675A-B579-460E-94D1-54222C63F5DA}</a:tableStyleId>
              </a:tblPr>
              <a:tblGrid>
                <a:gridCol w="1575848">
                  <a:extLst>
                    <a:ext uri="{9D8B030D-6E8A-4147-A177-3AD203B41FA5}">
                      <a16:colId xmlns:a16="http://schemas.microsoft.com/office/drawing/2014/main" val="20000"/>
                    </a:ext>
                  </a:extLst>
                </a:gridCol>
                <a:gridCol w="3557152">
                  <a:extLst>
                    <a:ext uri="{9D8B030D-6E8A-4147-A177-3AD203B41FA5}">
                      <a16:colId xmlns:a16="http://schemas.microsoft.com/office/drawing/2014/main" val="20001"/>
                    </a:ext>
                  </a:extLst>
                </a:gridCol>
                <a:gridCol w="2925443">
                  <a:extLst>
                    <a:ext uri="{9D8B030D-6E8A-4147-A177-3AD203B41FA5}">
                      <a16:colId xmlns:a16="http://schemas.microsoft.com/office/drawing/2014/main" val="20002"/>
                    </a:ext>
                  </a:extLst>
                </a:gridCol>
                <a:gridCol w="3563445">
                  <a:extLst>
                    <a:ext uri="{9D8B030D-6E8A-4147-A177-3AD203B41FA5}">
                      <a16:colId xmlns:a16="http://schemas.microsoft.com/office/drawing/2014/main" val="20003"/>
                    </a:ext>
                  </a:extLst>
                </a:gridCol>
              </a:tblGrid>
              <a:tr h="182719">
                <a:tc>
                  <a:txBody>
                    <a:bodyPr/>
                    <a:lstStyle/>
                    <a:p>
                      <a:pPr algn="ctr" latinLnBrk="1"/>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rPr>
                        <a:t>BWA2.0</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A0112D"/>
                    </a:solidFill>
                  </a:tcPr>
                </a:tc>
                <a:tc>
                  <a:txBody>
                    <a:bodyPr/>
                    <a:lstStyle/>
                    <a:p>
                      <a:pPr algn="ctr" latinLnBrk="1"/>
                      <a:r>
                        <a:rPr lang="en-US" altLang="ko-KR" sz="1200" b="1" dirty="0">
                          <a:solidFill>
                            <a:schemeClr val="bg1"/>
                          </a:solidFill>
                          <a:latin typeface="Lato" panose="020F0502020204030203" pitchFamily="34" charset="0"/>
                        </a:rPr>
                        <a:t>BCM</a:t>
                      </a:r>
                    </a:p>
                    <a:p>
                      <a:pPr algn="ctr" latinLnBrk="1"/>
                      <a:r>
                        <a:rPr lang="en-US" altLang="ko-KR" sz="1200" b="1" dirty="0">
                          <a:solidFill>
                            <a:schemeClr val="bg1"/>
                          </a:solidFill>
                          <a:latin typeface="Lato" panose="020F0502020204030203" pitchFamily="34" charset="0"/>
                        </a:rPr>
                        <a:t>(Body Composition</a:t>
                      </a:r>
                      <a:r>
                        <a:rPr lang="en-US" altLang="ko-KR" sz="1200" b="1" baseline="0" dirty="0">
                          <a:solidFill>
                            <a:schemeClr val="bg1"/>
                          </a:solidFill>
                          <a:latin typeface="Lato" panose="020F0502020204030203" pitchFamily="34" charset="0"/>
                        </a:rPr>
                        <a:t> Monitor)</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rPr>
                        <a:t>BWA’s Special</a:t>
                      </a:r>
                      <a:r>
                        <a:rPr lang="en-US" altLang="ko-KR" sz="1200" b="1" baseline="0" dirty="0">
                          <a:solidFill>
                            <a:schemeClr val="bg1"/>
                          </a:solidFill>
                          <a:latin typeface="Lato" panose="020F0502020204030203" pitchFamily="34" charset="0"/>
                        </a:rPr>
                        <a:t> Features</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extLst>
                  <a:ext uri="{0D108BD9-81ED-4DB2-BD59-A6C34878D82A}">
                    <a16:rowId xmlns:a16="http://schemas.microsoft.com/office/drawing/2014/main" val="10000"/>
                  </a:ext>
                </a:extLst>
              </a:tr>
              <a:tr h="849212">
                <a:tc>
                  <a:txBody>
                    <a:bodyPr/>
                    <a:lstStyle/>
                    <a:p>
                      <a:pPr algn="ctr" latinLnBrk="1"/>
                      <a:r>
                        <a:rPr lang="en-US" altLang="ko-KR" sz="1200" b="1" dirty="0">
                          <a:latin typeface="Lato" panose="020F0502020204030203" pitchFamily="34" charset="0"/>
                        </a:rPr>
                        <a:t>Type of</a:t>
                      </a:r>
                    </a:p>
                    <a:p>
                      <a:pPr algn="ctr" latinLnBrk="1"/>
                      <a:r>
                        <a:rPr lang="en-US" altLang="ko-KR" sz="1200" b="1" dirty="0">
                          <a:latin typeface="Lato" panose="020F0502020204030203" pitchFamily="34" charset="0"/>
                        </a:rPr>
                        <a:t>Electrode</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25000"/>
                        </a:lnSpc>
                      </a:pPr>
                      <a:r>
                        <a:rPr lang="en-US" altLang="ko-KR" sz="1200" dirty="0">
                          <a:latin typeface="Lato" panose="020F0502020204030203" pitchFamily="34" charset="0"/>
                        </a:rPr>
                        <a:t>Body Part: Both wrists and ankles</a:t>
                      </a:r>
                    </a:p>
                    <a:p>
                      <a:pPr algn="ctr" latinLnBrk="1">
                        <a:lnSpc>
                          <a:spcPct val="125000"/>
                        </a:lnSpc>
                      </a:pPr>
                      <a:r>
                        <a:rPr lang="en-US" altLang="ko-KR" sz="1200" dirty="0">
                          <a:latin typeface="Lato" panose="020F0502020204030203" pitchFamily="34" charset="0"/>
                        </a:rPr>
                        <a:t>Method: Clamp electrode, clip-type electrode</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Body Part:</a:t>
                      </a:r>
                      <a:r>
                        <a:rPr lang="en-US" altLang="ko-KR" sz="1200" baseline="0" dirty="0">
                          <a:latin typeface="Lato" panose="020F0502020204030203" pitchFamily="34" charset="0"/>
                        </a:rPr>
                        <a:t> Right hand and right foot</a:t>
                      </a:r>
                      <a:endParaRPr lang="en-US" altLang="ko-KR" sz="1200" dirty="0">
                        <a:latin typeface="Lato" panose="020F0502020204030203" pitchFamily="34" charset="0"/>
                      </a:endParaRPr>
                    </a:p>
                    <a:p>
                      <a:pPr algn="ctr" latinLnBrk="1">
                        <a:lnSpc>
                          <a:spcPct val="125000"/>
                        </a:lnSpc>
                      </a:pPr>
                      <a:r>
                        <a:rPr lang="en-US" altLang="ko-KR" sz="1200" dirty="0">
                          <a:latin typeface="Lato" panose="020F0502020204030203" pitchFamily="34" charset="0"/>
                        </a:rPr>
                        <a:t>Method: Clip-type electrode</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just" latinLnBrk="1">
                        <a:lnSpc>
                          <a:spcPct val="125000"/>
                        </a:lnSpc>
                      </a:pPr>
                      <a:r>
                        <a:rPr lang="en-US" altLang="ko-KR" sz="1200" dirty="0">
                          <a:latin typeface="Lato" panose="020F0502020204030203" pitchFamily="34" charset="0"/>
                        </a:rPr>
                        <a:t>The 8-point clamp electrode of BWA always starts measurements from the same body</a:t>
                      </a:r>
                      <a:r>
                        <a:rPr lang="en-US" altLang="ko-KR" sz="1200" baseline="0" dirty="0">
                          <a:latin typeface="Lato" panose="020F0502020204030203" pitchFamily="34" charset="0"/>
                        </a:rPr>
                        <a:t> part</a:t>
                      </a:r>
                      <a:r>
                        <a:rPr lang="en-US" altLang="ko-KR" sz="1200" dirty="0">
                          <a:latin typeface="Lato" panose="020F0502020204030203" pitchFamily="34" charset="0"/>
                        </a:rPr>
                        <a:t>, enhancing reproducibility, which is an exclusive</a:t>
                      </a:r>
                      <a:r>
                        <a:rPr lang="en-US" altLang="ko-KR" sz="1200" baseline="0" dirty="0">
                          <a:latin typeface="Lato" panose="020F0502020204030203" pitchFamily="34" charset="0"/>
                        </a:rPr>
                        <a:t> technology</a:t>
                      </a:r>
                      <a:r>
                        <a:rPr lang="en-US" altLang="ko-KR" sz="1200" dirty="0">
                          <a:latin typeface="Lato" panose="020F0502020204030203" pitchFamily="34" charset="0"/>
                        </a:rPr>
                        <a:t>. In the case of clip-type electrodes, impedance measurement errors may occur depending on the electrode placement, leading to differences in body water values. Also, there are additional</a:t>
                      </a:r>
                      <a:r>
                        <a:rPr lang="en-US" altLang="ko-KR" sz="1200" baseline="0" dirty="0">
                          <a:latin typeface="Lato" panose="020F0502020204030203" pitchFamily="34" charset="0"/>
                        </a:rPr>
                        <a:t> fees as they are </a:t>
                      </a:r>
                      <a:r>
                        <a:rPr lang="en-US" altLang="ko-KR" sz="1200" dirty="0">
                          <a:latin typeface="Lato" panose="020F0502020204030203" pitchFamily="34" charset="0"/>
                        </a:rPr>
                        <a:t>consumable electrodes.</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1"/>
                  </a:ext>
                </a:extLst>
              </a:tr>
              <a:tr h="1270911">
                <a:tc>
                  <a:txBody>
                    <a:bodyPr/>
                    <a:lstStyle/>
                    <a:p>
                      <a:pPr algn="ctr" latinLnBrk="1"/>
                      <a:r>
                        <a:rPr lang="en-US" altLang="ko-KR" sz="1200" b="1" dirty="0">
                          <a:latin typeface="Lato" panose="020F0502020204030203" pitchFamily="34" charset="0"/>
                        </a:rPr>
                        <a:t>BIA Equation</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25000"/>
                        </a:lnSpc>
                      </a:pPr>
                      <a:r>
                        <a:rPr lang="en-US" altLang="ko-KR" sz="1200" dirty="0">
                          <a:latin typeface="Lato" panose="020F0502020204030203" pitchFamily="34" charset="0"/>
                        </a:rPr>
                        <a:t>The technology separately measures impedance for both limbs and the trunk, enabling accurate body composition analysis. Experimental variables like gender</a:t>
                      </a:r>
                      <a:r>
                        <a:rPr lang="en-US" altLang="ko-KR" sz="1200" baseline="0" dirty="0">
                          <a:latin typeface="Lato" panose="020F0502020204030203" pitchFamily="34" charset="0"/>
                        </a:rPr>
                        <a:t> or age are not incorporated </a:t>
                      </a:r>
                      <a:r>
                        <a:rPr lang="en-US" altLang="ko-KR" sz="1200" dirty="0">
                          <a:latin typeface="Lato" panose="020F0502020204030203" pitchFamily="34" charset="0"/>
                        </a:rPr>
                        <a:t>into the equation, making it all applicable to athletes, obese individuals, elderly, children, and patients alike.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rPr>
                        <a:t>Unavailable</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just">
                        <a:lnSpc>
                          <a:spcPct val="125000"/>
                        </a:lnSpc>
                      </a:pPr>
                      <a:r>
                        <a:rPr lang="en-US" altLang="ko-KR" sz="1200" b="0" dirty="0" err="1">
                          <a:latin typeface="Lato" panose="020F0502020204030203" pitchFamily="34" charset="0"/>
                        </a:rPr>
                        <a:t>InBody</a:t>
                      </a:r>
                      <a:r>
                        <a:rPr lang="en-US" altLang="ko-KR" sz="1200" b="0" dirty="0">
                          <a:latin typeface="Lato" panose="020F0502020204030203" pitchFamily="34" charset="0"/>
                        </a:rPr>
                        <a:t> Precision Data:</a:t>
                      </a:r>
                    </a:p>
                    <a:p>
                      <a:pPr algn="just">
                        <a:lnSpc>
                          <a:spcPct val="125000"/>
                        </a:lnSpc>
                      </a:pPr>
                      <a:endParaRPr lang="en-US" altLang="ko-KR" sz="1200" b="0" dirty="0">
                        <a:latin typeface="Lato" panose="020F0502020204030203" pitchFamily="34" charset="0"/>
                      </a:endParaRPr>
                    </a:p>
                    <a:p>
                      <a:pPr algn="just">
                        <a:lnSpc>
                          <a:spcPct val="125000"/>
                        </a:lnSpc>
                      </a:pPr>
                      <a:r>
                        <a:rPr lang="en-US" altLang="ko-KR" sz="1200" b="0" dirty="0">
                          <a:latin typeface="Lato" panose="020F0502020204030203" pitchFamily="34" charset="0"/>
                        </a:rPr>
                        <a:t>1)</a:t>
                      </a:r>
                      <a:r>
                        <a:rPr lang="en-US" altLang="ko-KR" sz="1200" b="0" baseline="0" dirty="0">
                          <a:latin typeface="Lato" panose="020F0502020204030203" pitchFamily="34" charset="0"/>
                        </a:rPr>
                        <a:t> </a:t>
                      </a:r>
                      <a:r>
                        <a:rPr lang="en-US" altLang="ko-KR" sz="1200" b="0" dirty="0">
                          <a:latin typeface="Lato" panose="020F0502020204030203" pitchFamily="34" charset="0"/>
                        </a:rPr>
                        <a:t>Correlation between </a:t>
                      </a:r>
                      <a:r>
                        <a:rPr lang="en-US" altLang="ko-KR" sz="1200" b="0" dirty="0" err="1">
                          <a:latin typeface="Lato" panose="020F0502020204030203" pitchFamily="34" charset="0"/>
                        </a:rPr>
                        <a:t>InBody</a:t>
                      </a:r>
                      <a:r>
                        <a:rPr lang="en-US" altLang="ko-KR" sz="1200" b="0" dirty="0">
                          <a:latin typeface="Lato" panose="020F0502020204030203" pitchFamily="34" charset="0"/>
                        </a:rPr>
                        <a:t> and </a:t>
                      </a:r>
                      <a:r>
                        <a:rPr lang="en-US" altLang="ko-KR" sz="1200" b="0" dirty="0" err="1">
                          <a:latin typeface="Lato" panose="020F0502020204030203" pitchFamily="34" charset="0"/>
                        </a:rPr>
                        <a:t>hydrometry</a:t>
                      </a:r>
                      <a:r>
                        <a:rPr lang="en-US" altLang="ko-KR" sz="1200" b="0" dirty="0">
                          <a:latin typeface="Lato" panose="020F0502020204030203" pitchFamily="34" charset="0"/>
                        </a:rPr>
                        <a:t> method </a:t>
                      </a:r>
                      <a:r>
                        <a:rPr lang="en-US" altLang="ko-KR" sz="1200" dirty="0">
                          <a:latin typeface="Lato" panose="020F0502020204030203" pitchFamily="34" charset="0"/>
                        </a:rPr>
                        <a:t>(have access to research papers</a:t>
                      </a:r>
                      <a:r>
                        <a:rPr lang="en-US" altLang="ko-KR" sz="1200" b="0" dirty="0">
                          <a:latin typeface="Lato" panose="020F0502020204030203" pitchFamily="34" charset="0"/>
                        </a:rPr>
                        <a:t>):</a:t>
                      </a:r>
                    </a:p>
                    <a:p>
                      <a:pPr algn="l">
                        <a:lnSpc>
                          <a:spcPct val="125000"/>
                        </a:lnSpc>
                      </a:pPr>
                      <a:r>
                        <a:rPr lang="en-US" altLang="ko-KR" sz="1200" b="0" dirty="0">
                          <a:latin typeface="Lato" panose="020F0502020204030203" pitchFamily="34" charset="0"/>
                          <a:sym typeface="Wingdings" panose="05000000000000000000" pitchFamily="2" charset="2"/>
                        </a:rPr>
                        <a:t> </a:t>
                      </a:r>
                      <a:r>
                        <a:rPr lang="en-US" altLang="ko-KR" sz="1200" b="0" dirty="0">
                          <a:latin typeface="Lato" panose="020F0502020204030203" pitchFamily="34" charset="0"/>
                        </a:rPr>
                        <a:t>Total Body Water (TBW): r=0.905 (r^2=0.82)</a:t>
                      </a:r>
                    </a:p>
                    <a:p>
                      <a:pPr algn="l">
                        <a:lnSpc>
                          <a:spcPct val="125000"/>
                        </a:lnSpc>
                      </a:pPr>
                      <a:r>
                        <a:rPr lang="en-US" altLang="ko-KR" sz="1200" b="0" dirty="0">
                          <a:latin typeface="Lato" panose="020F0502020204030203" pitchFamily="34" charset="0"/>
                        </a:rPr>
                        <a:t>Extracellular Water (ECW): r=0.932 (r^2=0.87)</a:t>
                      </a:r>
                    </a:p>
                    <a:p>
                      <a:pPr algn="l">
                        <a:lnSpc>
                          <a:spcPct val="125000"/>
                        </a:lnSpc>
                      </a:pPr>
                      <a:r>
                        <a:rPr lang="en-US" altLang="ko-KR" sz="1200" b="0" dirty="0">
                          <a:latin typeface="Lato" panose="020F0502020204030203" pitchFamily="34" charset="0"/>
                        </a:rPr>
                        <a:t>; In this study, significant correlations were observed not only in the subjects experimented upon the paper but also in</a:t>
                      </a:r>
                      <a:r>
                        <a:rPr lang="en-US" altLang="ko-KR" sz="1200" b="0" baseline="0" dirty="0">
                          <a:latin typeface="Lato" panose="020F0502020204030203" pitchFamily="34" charset="0"/>
                        </a:rPr>
                        <a:t> other </a:t>
                      </a:r>
                      <a:r>
                        <a:rPr lang="en-US" altLang="ko-KR" sz="1200" b="0" dirty="0">
                          <a:latin typeface="Lato" panose="020F0502020204030203" pitchFamily="34" charset="0"/>
                        </a:rPr>
                        <a:t>random groups, demonstrating</a:t>
                      </a:r>
                      <a:r>
                        <a:rPr lang="en-US" altLang="ko-KR" sz="1200" b="0" baseline="0" dirty="0">
                          <a:latin typeface="Lato" panose="020F0502020204030203" pitchFamily="34" charset="0"/>
                        </a:rPr>
                        <a:t> </a:t>
                      </a:r>
                      <a:r>
                        <a:rPr lang="en-US" altLang="ko-KR" sz="1200" b="0" dirty="0">
                          <a:latin typeface="Lato" panose="020F0502020204030203" pitchFamily="34" charset="0"/>
                        </a:rPr>
                        <a:t>high correlations. </a:t>
                      </a:r>
                    </a:p>
                    <a:p>
                      <a:pPr algn="just">
                        <a:lnSpc>
                          <a:spcPct val="125000"/>
                        </a:lnSpc>
                      </a:pPr>
                      <a:r>
                        <a:rPr lang="en-US" altLang="ko-KR" sz="1200" b="0" dirty="0">
                          <a:latin typeface="Lato" panose="020F0502020204030203" pitchFamily="34" charset="0"/>
                        </a:rPr>
                        <a:t>2)</a:t>
                      </a:r>
                      <a:r>
                        <a:rPr lang="en-US" altLang="ko-KR" sz="1200" b="0" baseline="0" dirty="0">
                          <a:latin typeface="Lato" panose="020F0502020204030203" pitchFamily="34" charset="0"/>
                        </a:rPr>
                        <a:t> </a:t>
                      </a:r>
                      <a:r>
                        <a:rPr lang="en-US" altLang="ko-KR" sz="1200" b="0" dirty="0">
                          <a:latin typeface="Lato" panose="020F0502020204030203" pitchFamily="34" charset="0"/>
                        </a:rPr>
                        <a:t>Correlation between </a:t>
                      </a:r>
                      <a:r>
                        <a:rPr lang="en-US" altLang="ko-KR" sz="1200" b="0" dirty="0" err="1">
                          <a:latin typeface="Lato" panose="020F0502020204030203" pitchFamily="34" charset="0"/>
                        </a:rPr>
                        <a:t>InBody</a:t>
                      </a:r>
                      <a:r>
                        <a:rPr lang="en-US" altLang="ko-KR" sz="1200" b="0" dirty="0">
                          <a:latin typeface="Lato" panose="020F0502020204030203" pitchFamily="34" charset="0"/>
                        </a:rPr>
                        <a:t> and DEXA </a:t>
                      </a:r>
                      <a:r>
                        <a:rPr lang="en-US" altLang="ko-KR" sz="1200" dirty="0">
                          <a:latin typeface="Lato" panose="020F0502020204030203" pitchFamily="34" charset="0"/>
                        </a:rPr>
                        <a:t>(have access to research papers</a:t>
                      </a:r>
                      <a:r>
                        <a:rPr lang="en-US" altLang="ko-KR" sz="1200" b="0" dirty="0">
                          <a:latin typeface="Lato" panose="020F0502020204030203" pitchFamily="34" charset="0"/>
                        </a:rPr>
                        <a:t>):</a:t>
                      </a:r>
                    </a:p>
                    <a:p>
                      <a:pPr algn="just">
                        <a:lnSpc>
                          <a:spcPct val="125000"/>
                        </a:lnSpc>
                      </a:pPr>
                      <a:r>
                        <a:rPr lang="en-US" altLang="ko-KR" sz="1200" b="0" dirty="0">
                          <a:latin typeface="Lato" panose="020F0502020204030203" pitchFamily="34" charset="0"/>
                          <a:sym typeface="Wingdings" panose="05000000000000000000" pitchFamily="2" charset="2"/>
                        </a:rPr>
                        <a:t> </a:t>
                      </a:r>
                      <a:r>
                        <a:rPr lang="en-US" altLang="ko-KR" sz="1200" b="0" dirty="0">
                          <a:latin typeface="Lato" panose="020F0502020204030203" pitchFamily="34" charset="0"/>
                        </a:rPr>
                        <a:t>Fat-Free Mass (FFM): r=0.959 (r^2=0.92)</a:t>
                      </a:r>
                      <a:endParaRPr lang="ko-KR" altLang="en-US" sz="1200" b="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976791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655F5-BA32-4D25-B17E-84205AFBF880}"/>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3487C0D9-8F95-1C56-5E27-00957AD86127}"/>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C57AE246-53E3-9198-6E2D-B40452D4B77F}"/>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graphicFrame>
        <p:nvGraphicFramePr>
          <p:cNvPr id="5" name="표 4">
            <a:extLst>
              <a:ext uri="{FF2B5EF4-FFF2-40B4-BE49-F238E27FC236}">
                <a16:creationId xmlns:a16="http://schemas.microsoft.com/office/drawing/2014/main" id="{D9E52EA8-48F9-D2B0-BDC3-DD2CD49CB116}"/>
              </a:ext>
            </a:extLst>
          </p:cNvPr>
          <p:cNvGraphicFramePr>
            <a:graphicFrameLocks noGrp="1"/>
          </p:cNvGraphicFramePr>
          <p:nvPr/>
        </p:nvGraphicFramePr>
        <p:xfrm>
          <a:off x="303276" y="992886"/>
          <a:ext cx="11585447" cy="5349240"/>
        </p:xfrm>
        <a:graphic>
          <a:graphicData uri="http://schemas.openxmlformats.org/drawingml/2006/table">
            <a:tbl>
              <a:tblPr firstRow="1" bandRow="1">
                <a:tableStyleId>{5940675A-B579-460E-94D1-54222C63F5DA}</a:tableStyleId>
              </a:tblPr>
              <a:tblGrid>
                <a:gridCol w="1570908">
                  <a:extLst>
                    <a:ext uri="{9D8B030D-6E8A-4147-A177-3AD203B41FA5}">
                      <a16:colId xmlns:a16="http://schemas.microsoft.com/office/drawing/2014/main" val="20000"/>
                    </a:ext>
                  </a:extLst>
                </a:gridCol>
                <a:gridCol w="3801192">
                  <a:extLst>
                    <a:ext uri="{9D8B030D-6E8A-4147-A177-3AD203B41FA5}">
                      <a16:colId xmlns:a16="http://schemas.microsoft.com/office/drawing/2014/main" val="20001"/>
                    </a:ext>
                  </a:extLst>
                </a:gridCol>
                <a:gridCol w="2834259">
                  <a:extLst>
                    <a:ext uri="{9D8B030D-6E8A-4147-A177-3AD203B41FA5}">
                      <a16:colId xmlns:a16="http://schemas.microsoft.com/office/drawing/2014/main" val="20002"/>
                    </a:ext>
                  </a:extLst>
                </a:gridCol>
                <a:gridCol w="3379088">
                  <a:extLst>
                    <a:ext uri="{9D8B030D-6E8A-4147-A177-3AD203B41FA5}">
                      <a16:colId xmlns:a16="http://schemas.microsoft.com/office/drawing/2014/main" val="20003"/>
                    </a:ext>
                  </a:extLst>
                </a:gridCol>
              </a:tblGrid>
              <a:tr h="430629">
                <a:tc>
                  <a:txBody>
                    <a:bodyPr/>
                    <a:lstStyle/>
                    <a:p>
                      <a:pPr algn="ctr" latinLnBrk="1"/>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rPr>
                        <a:t>BWA2.0</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A0112D"/>
                    </a:solidFill>
                  </a:tcPr>
                </a:tc>
                <a:tc>
                  <a:txBody>
                    <a:bodyPr/>
                    <a:lstStyle/>
                    <a:p>
                      <a:pPr algn="ctr" latinLnBrk="1"/>
                      <a:r>
                        <a:rPr lang="en-US" altLang="ko-KR" sz="1200" b="1" dirty="0">
                          <a:solidFill>
                            <a:schemeClr val="bg1"/>
                          </a:solidFill>
                          <a:latin typeface="Lato" panose="020F0502020204030203" pitchFamily="34" charset="0"/>
                        </a:rPr>
                        <a:t>BCM</a:t>
                      </a:r>
                    </a:p>
                    <a:p>
                      <a:pPr algn="ctr" latinLnBrk="1"/>
                      <a:r>
                        <a:rPr lang="en-US" altLang="ko-KR" sz="1200" b="1" dirty="0">
                          <a:solidFill>
                            <a:schemeClr val="bg1"/>
                          </a:solidFill>
                          <a:latin typeface="Lato" panose="020F0502020204030203" pitchFamily="34" charset="0"/>
                        </a:rPr>
                        <a:t>(Body Composition</a:t>
                      </a:r>
                      <a:r>
                        <a:rPr lang="en-US" altLang="ko-KR" sz="1200" b="1" baseline="0" dirty="0">
                          <a:solidFill>
                            <a:schemeClr val="bg1"/>
                          </a:solidFill>
                          <a:latin typeface="Lato" panose="020F0502020204030203" pitchFamily="34" charset="0"/>
                        </a:rPr>
                        <a:t> Monitor)</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rPr>
                        <a:t>BWA’s Special</a:t>
                      </a:r>
                      <a:r>
                        <a:rPr lang="en-US" altLang="ko-KR" sz="1200" b="1" baseline="0" dirty="0">
                          <a:solidFill>
                            <a:schemeClr val="bg1"/>
                          </a:solidFill>
                          <a:latin typeface="Lato" panose="020F0502020204030203" pitchFamily="34" charset="0"/>
                        </a:rPr>
                        <a:t> Features</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extLst>
                  <a:ext uri="{0D108BD9-81ED-4DB2-BD59-A6C34878D82A}">
                    <a16:rowId xmlns:a16="http://schemas.microsoft.com/office/drawing/2014/main" val="10000"/>
                  </a:ext>
                </a:extLst>
              </a:tr>
              <a:tr h="4800501">
                <a:tc>
                  <a:txBody>
                    <a:bodyPr/>
                    <a:lstStyle/>
                    <a:p>
                      <a:pPr algn="ctr" latinLnBrk="1"/>
                      <a:r>
                        <a:rPr lang="en-US" altLang="ko-KR" sz="1200" b="1" dirty="0">
                          <a:latin typeface="Lato" panose="020F0502020204030203" pitchFamily="34" charset="0"/>
                        </a:rPr>
                        <a:t>Result</a:t>
                      </a:r>
                      <a:r>
                        <a:rPr lang="ko-KR" altLang="en-US" sz="1200" b="1" baseline="0" dirty="0">
                          <a:latin typeface="Lato" panose="020F0502020204030203" pitchFamily="34" charset="0"/>
                        </a:rPr>
                        <a:t> </a:t>
                      </a:r>
                      <a:r>
                        <a:rPr lang="en-US" altLang="ko-KR" sz="1200" b="1" baseline="0" dirty="0">
                          <a:latin typeface="Lato" panose="020F0502020204030203" pitchFamily="34" charset="0"/>
                        </a:rPr>
                        <a:t>Sheet</a:t>
                      </a:r>
                      <a:endParaRPr lang="en-US" altLang="ko-KR"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marL="228600" indent="-228600" algn="l" latinLnBrk="1">
                        <a:lnSpc>
                          <a:spcPct val="125000"/>
                        </a:lnSpc>
                        <a:buAutoNum type="arabicPeriod"/>
                      </a:pPr>
                      <a:r>
                        <a:rPr lang="en-US" altLang="ko-KR" sz="1200" dirty="0">
                          <a:latin typeface="Lato" panose="020F0502020204030203" pitchFamily="34" charset="0"/>
                        </a:rPr>
                        <a:t>Body Water Result Sheet</a:t>
                      </a:r>
                    </a:p>
                    <a:p>
                      <a:pPr marL="228600" indent="-228600" algn="l" latinLnBrk="1">
                        <a:lnSpc>
                          <a:spcPct val="125000"/>
                        </a:lnSpc>
                        <a:buNone/>
                      </a:pPr>
                      <a:r>
                        <a:rPr lang="en-US" altLang="ko-KR" sz="1200" dirty="0">
                          <a:latin typeface="Lato" panose="020F0502020204030203" pitchFamily="34" charset="0"/>
                        </a:rPr>
                        <a:t>Total Body Water(TBW), </a:t>
                      </a:r>
                      <a:r>
                        <a:rPr lang="en-US" altLang="ko-KR" sz="1200" b="0" kern="100" dirty="0">
                          <a:latin typeface="Lato" panose="020F0502020204030203" pitchFamily="34" charset="0"/>
                          <a:ea typeface="맑은 고딕"/>
                          <a:cs typeface="Times New Roman"/>
                        </a:rPr>
                        <a:t>Intracellular Water</a:t>
                      </a:r>
                      <a:r>
                        <a:rPr lang="en-US" altLang="ko-KR" sz="1200" dirty="0">
                          <a:latin typeface="Lato" panose="020F0502020204030203" pitchFamily="34" charset="0"/>
                        </a:rPr>
                        <a:t>(ICW),</a:t>
                      </a:r>
                    </a:p>
                    <a:p>
                      <a:pPr marL="228600" indent="-228600" algn="l" latinLnBrk="1">
                        <a:lnSpc>
                          <a:spcPct val="125000"/>
                        </a:lnSpc>
                        <a:buNone/>
                      </a:pPr>
                      <a:r>
                        <a:rPr lang="en-US" altLang="ko-KR" sz="1200" b="0" kern="100" dirty="0">
                          <a:latin typeface="Lato" panose="020F0502020204030203" pitchFamily="34" charset="0"/>
                          <a:ea typeface="맑은 고딕"/>
                          <a:cs typeface="Times New Roman"/>
                        </a:rPr>
                        <a:t>Extracellular Water</a:t>
                      </a:r>
                      <a:r>
                        <a:rPr lang="en-US" altLang="ko-KR" sz="1200" dirty="0">
                          <a:latin typeface="Lato" panose="020F0502020204030203" pitchFamily="34" charset="0"/>
                        </a:rPr>
                        <a:t>(ECW), Body Water per</a:t>
                      </a:r>
                      <a:r>
                        <a:rPr lang="en-US" altLang="ko-KR" sz="1200" baseline="0" dirty="0">
                          <a:latin typeface="Lato" panose="020F0502020204030203" pitchFamily="34" charset="0"/>
                        </a:rPr>
                        <a:t> Body</a:t>
                      </a:r>
                    </a:p>
                    <a:p>
                      <a:pPr marL="228600" indent="-228600" algn="l" latinLnBrk="1">
                        <a:lnSpc>
                          <a:spcPct val="125000"/>
                        </a:lnSpc>
                        <a:buNone/>
                      </a:pPr>
                      <a:r>
                        <a:rPr lang="en-US" altLang="ko-KR" sz="1200" baseline="0" dirty="0">
                          <a:latin typeface="Lato" panose="020F0502020204030203" pitchFamily="34" charset="0"/>
                        </a:rPr>
                        <a:t>Water, Whole Body Water Ratio(ECW/TBW), </a:t>
                      </a:r>
                      <a:r>
                        <a:rPr lang="ko-KR" altLang="en-US" sz="1200" baseline="0" dirty="0">
                          <a:latin typeface="Lato" panose="020F0502020204030203" pitchFamily="34" charset="0"/>
                        </a:rPr>
                        <a:t> </a:t>
                      </a:r>
                      <a:endParaRPr lang="en-US" altLang="ko-KR" sz="1200" baseline="0" dirty="0">
                        <a:latin typeface="Lato" panose="020F0502020204030203" pitchFamily="34" charset="0"/>
                      </a:endParaRPr>
                    </a:p>
                    <a:p>
                      <a:pPr marL="228600" marR="0" lvl="0" indent="-228600" algn="l" defTabSz="914400" rtl="0" eaLnBrk="1" fontAlgn="auto" latinLnBrk="1" hangingPunct="1">
                        <a:lnSpc>
                          <a:spcPct val="125000"/>
                        </a:lnSpc>
                        <a:spcBef>
                          <a:spcPts val="0"/>
                        </a:spcBef>
                        <a:spcAft>
                          <a:spcPts val="0"/>
                        </a:spcAft>
                        <a:buClrTx/>
                        <a:buSzTx/>
                        <a:buFontTx/>
                        <a:buNone/>
                        <a:tabLst/>
                        <a:defRPr/>
                      </a:pPr>
                      <a:r>
                        <a:rPr lang="en-US" altLang="ko-KR" sz="1200" baseline="0" dirty="0">
                          <a:latin typeface="Lato" panose="020F0502020204030203" pitchFamily="34" charset="0"/>
                        </a:rPr>
                        <a:t>Body Part Water Ratio(ECW/TBW), TBW/FFM,</a:t>
                      </a:r>
                    </a:p>
                    <a:p>
                      <a:pPr marL="228600" indent="-228600" algn="l" latinLnBrk="1">
                        <a:lnSpc>
                          <a:spcPct val="125000"/>
                        </a:lnSpc>
                        <a:buNone/>
                      </a:pPr>
                      <a:r>
                        <a:rPr lang="en-US" altLang="ko-KR" sz="1200" baseline="0" dirty="0">
                          <a:latin typeface="Lato" panose="020F0502020204030203" pitchFamily="34" charset="0"/>
                        </a:rPr>
                        <a:t>Impedance by Body Part/Frequency, Reactance, </a:t>
                      </a:r>
                    </a:p>
                    <a:p>
                      <a:pPr marL="228600" indent="-228600" algn="l" latinLnBrk="1">
                        <a:lnSpc>
                          <a:spcPct val="125000"/>
                        </a:lnSpc>
                        <a:buNone/>
                      </a:pPr>
                      <a:r>
                        <a:rPr lang="en-US" altLang="ko-KR" sz="1200" baseline="0" dirty="0">
                          <a:latin typeface="Lato" panose="020F0502020204030203" pitchFamily="34" charset="0"/>
                        </a:rPr>
                        <a:t>Phase angle, </a:t>
                      </a:r>
                      <a:r>
                        <a:rPr lang="en-US" altLang="ko-KR" sz="1200" kern="1200" dirty="0">
                          <a:solidFill>
                            <a:schemeClr val="tx1"/>
                          </a:solidFill>
                          <a:latin typeface="Lato" panose="020F0502020204030203" pitchFamily="34" charset="0"/>
                          <a:ea typeface="+mn-ea"/>
                          <a:cs typeface="+mn-cs"/>
                        </a:rPr>
                        <a:t>θ</a:t>
                      </a:r>
                    </a:p>
                    <a:p>
                      <a:pPr marL="228600" indent="-228600" algn="l" latinLnBrk="1">
                        <a:lnSpc>
                          <a:spcPct val="125000"/>
                        </a:lnSpc>
                        <a:buNone/>
                      </a:pPr>
                      <a:endParaRPr lang="en-US" altLang="ko-KR" sz="1200" kern="1200" dirty="0">
                        <a:solidFill>
                          <a:schemeClr val="tx1"/>
                        </a:solidFill>
                        <a:latin typeface="Lato" panose="020F0502020204030203" pitchFamily="34" charset="0"/>
                        <a:ea typeface="+mn-ea"/>
                        <a:cs typeface="+mn-cs"/>
                      </a:endParaRPr>
                    </a:p>
                    <a:p>
                      <a:pPr marL="228600" indent="-228600" algn="l" latinLnBrk="1">
                        <a:lnSpc>
                          <a:spcPct val="125000"/>
                        </a:lnSpc>
                        <a:buNone/>
                      </a:pPr>
                      <a:r>
                        <a:rPr lang="en-US" altLang="ko-KR" sz="1200" kern="1200" baseline="0" dirty="0">
                          <a:solidFill>
                            <a:schemeClr val="tx1"/>
                          </a:solidFill>
                          <a:latin typeface="Lato" panose="020F0502020204030203" pitchFamily="34" charset="0"/>
                          <a:ea typeface="+mn-ea"/>
                          <a:cs typeface="+mn-cs"/>
                        </a:rPr>
                        <a:t>2. Body Composition Result Sheet</a:t>
                      </a:r>
                    </a:p>
                    <a:p>
                      <a:pPr marL="228600" indent="-228600" algn="l" latinLnBrk="1">
                        <a:lnSpc>
                          <a:spcPct val="125000"/>
                        </a:lnSpc>
                        <a:buNone/>
                      </a:pPr>
                      <a:endParaRPr lang="en-US" altLang="ko-KR" sz="1200" kern="1200" baseline="0" dirty="0">
                        <a:solidFill>
                          <a:schemeClr val="tx1"/>
                        </a:solidFill>
                        <a:latin typeface="Lato" panose="020F0502020204030203" pitchFamily="34" charset="0"/>
                        <a:ea typeface="+mn-ea"/>
                        <a:cs typeface="+mn-cs"/>
                      </a:endParaRPr>
                    </a:p>
                    <a:p>
                      <a:pPr marL="228600" indent="-228600" algn="l" latinLnBrk="1">
                        <a:lnSpc>
                          <a:spcPct val="125000"/>
                        </a:lnSpc>
                        <a:buNone/>
                      </a:pPr>
                      <a:r>
                        <a:rPr lang="en-US" altLang="ko-KR" sz="1200" kern="1200" baseline="0" dirty="0">
                          <a:solidFill>
                            <a:schemeClr val="tx1"/>
                          </a:solidFill>
                          <a:latin typeface="Lato" panose="020F0502020204030203" pitchFamily="34" charset="0"/>
                          <a:ea typeface="+mn-ea"/>
                          <a:cs typeface="+mn-cs"/>
                        </a:rPr>
                        <a:t>3. Result Sheets By Age</a:t>
                      </a:r>
                    </a:p>
                    <a:p>
                      <a:pPr marL="228600" indent="-228600" algn="l" latinLnBrk="1">
                        <a:lnSpc>
                          <a:spcPct val="125000"/>
                        </a:lnSpc>
                        <a:buNone/>
                      </a:pPr>
                      <a:endParaRPr lang="en-US" altLang="ko-KR" sz="1200" kern="1200" baseline="0" dirty="0">
                        <a:solidFill>
                          <a:schemeClr val="tx1"/>
                        </a:solidFill>
                        <a:latin typeface="Lato" panose="020F0502020204030203" pitchFamily="34" charset="0"/>
                        <a:ea typeface="+mn-ea"/>
                        <a:cs typeface="+mn-cs"/>
                      </a:endParaRPr>
                    </a:p>
                    <a:p>
                      <a:pPr algn="l" latinLnBrk="0">
                        <a:lnSpc>
                          <a:spcPct val="125000"/>
                        </a:lnSpc>
                      </a:pPr>
                      <a:r>
                        <a:rPr lang="en-US" sz="1200" b="0" kern="1200" dirty="0">
                          <a:solidFill>
                            <a:schemeClr val="tx1"/>
                          </a:solidFill>
                          <a:latin typeface="Lato" panose="020F0502020204030203" pitchFamily="34" charset="0"/>
                          <a:ea typeface="+mn-ea"/>
                          <a:cs typeface="+mn-cs"/>
                        </a:rPr>
                        <a:t>&lt;</a:t>
                      </a:r>
                      <a:r>
                        <a:rPr lang="en-US" altLang="ko-KR" sz="1200" b="0" kern="1200" baseline="0" dirty="0">
                          <a:solidFill>
                            <a:schemeClr val="tx1"/>
                          </a:solidFill>
                          <a:latin typeface="Lato" panose="020F0502020204030203" pitchFamily="34" charset="0"/>
                          <a:ea typeface="+mn-ea"/>
                          <a:cs typeface="+mn-cs"/>
                        </a:rPr>
                        <a:t>Changes in Body Composition</a:t>
                      </a:r>
                      <a:r>
                        <a:rPr lang="en-US" sz="1200" b="0" kern="1200" dirty="0">
                          <a:solidFill>
                            <a:schemeClr val="tx1"/>
                          </a:solidFill>
                          <a:latin typeface="Lato" panose="020F0502020204030203" pitchFamily="34" charset="0"/>
                          <a:ea typeface="+mn-ea"/>
                          <a:cs typeface="+mn-cs"/>
                        </a:rPr>
                        <a:t>&gt;</a:t>
                      </a:r>
                      <a:endParaRPr lang="ko-KR" altLang="en-US" sz="1200" b="0" kern="1200" dirty="0">
                        <a:solidFill>
                          <a:schemeClr val="tx1"/>
                        </a:solidFill>
                        <a:latin typeface="Lato" panose="020F0502020204030203" pitchFamily="34" charset="0"/>
                        <a:ea typeface="+mn-ea"/>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lang="en-US" altLang="ko-KR" sz="1200" b="0" kern="1200" dirty="0">
                          <a:solidFill>
                            <a:schemeClr val="tx1"/>
                          </a:solidFill>
                          <a:latin typeface="Lato" panose="020F0502020204030203" pitchFamily="34" charset="0"/>
                          <a:ea typeface="+mn-ea"/>
                          <a:cs typeface="+mn-cs"/>
                        </a:rPr>
                        <a:t>Have</a:t>
                      </a:r>
                      <a:r>
                        <a:rPr lang="en-US" altLang="ko-KR" sz="1200" b="0" kern="1200" baseline="0" dirty="0">
                          <a:solidFill>
                            <a:schemeClr val="tx1"/>
                          </a:solidFill>
                          <a:latin typeface="Lato" panose="020F0502020204030203" pitchFamily="34" charset="0"/>
                          <a:ea typeface="+mn-ea"/>
                          <a:cs typeface="+mn-cs"/>
                        </a:rPr>
                        <a:t> access to a c</a:t>
                      </a:r>
                      <a:r>
                        <a:rPr lang="en-US" altLang="ko-KR" sz="1200" b="0" kern="1200" dirty="0">
                          <a:solidFill>
                            <a:schemeClr val="tx1"/>
                          </a:solidFill>
                          <a:latin typeface="Lato" panose="020F0502020204030203" pitchFamily="34" charset="0"/>
                          <a:ea typeface="+mn-ea"/>
                          <a:cs typeface="+mn-cs"/>
                        </a:rPr>
                        <a:t>omparison</a:t>
                      </a:r>
                      <a:r>
                        <a:rPr lang="en-US" altLang="ko-KR" sz="1200" b="0" kern="1200" baseline="0" dirty="0">
                          <a:solidFill>
                            <a:schemeClr val="tx1"/>
                          </a:solidFill>
                          <a:latin typeface="Lato" panose="020F0502020204030203" pitchFamily="34" charset="0"/>
                          <a:ea typeface="+mn-ea"/>
                          <a:cs typeface="+mn-cs"/>
                        </a:rPr>
                        <a:t> of test results regarding 12 measurements on the LCD screen</a:t>
                      </a:r>
                    </a:p>
                    <a:p>
                      <a:pPr algn="l" latinLnBrk="0">
                        <a:lnSpc>
                          <a:spcPct val="125000"/>
                        </a:lnSpc>
                      </a:pPr>
                      <a:r>
                        <a:rPr lang="en-US" altLang="ko-KR" sz="1200" b="0" kern="1200" dirty="0">
                          <a:solidFill>
                            <a:schemeClr val="tx1"/>
                          </a:solidFill>
                          <a:latin typeface="Lato" panose="020F0502020204030203" pitchFamily="34" charset="0"/>
                          <a:ea typeface="+mn-ea"/>
                          <a:cs typeface="+mn-cs"/>
                          <a:sym typeface="Wingdings" panose="05000000000000000000" pitchFamily="2" charset="2"/>
                        </a:rPr>
                        <a:t> Access to</a:t>
                      </a:r>
                      <a:r>
                        <a:rPr lang="en-US" altLang="ko-KR" sz="1200" b="0" kern="1200" baseline="0" dirty="0">
                          <a:solidFill>
                            <a:schemeClr val="tx1"/>
                          </a:solidFill>
                          <a:latin typeface="Lato" panose="020F0502020204030203" pitchFamily="34" charset="0"/>
                          <a:ea typeface="+mn-ea"/>
                          <a:cs typeface="+mn-cs"/>
                          <a:sym typeface="Wingdings" panose="05000000000000000000" pitchFamily="2" charset="2"/>
                        </a:rPr>
                        <a:t> a </a:t>
                      </a:r>
                      <a:r>
                        <a:rPr lang="en-US" altLang="ko-KR" sz="1200" b="0" kern="1200" baseline="0" dirty="0">
                          <a:solidFill>
                            <a:schemeClr val="tx1"/>
                          </a:solidFill>
                          <a:latin typeface="Lato" panose="020F0502020204030203" pitchFamily="34" charset="0"/>
                          <a:ea typeface="+mn-ea"/>
                          <a:cs typeface="+mn-cs"/>
                        </a:rPr>
                        <a:t>comparison of body water and nutritional status based on measurement dates; provides test results regarding the latest 10 measurements on the result sheet</a:t>
                      </a:r>
                      <a:endParaRPr lang="ko-KR" altLang="en-US" sz="1200" b="0" kern="1200" dirty="0">
                        <a:solidFill>
                          <a:schemeClr val="tx1"/>
                        </a:solidFill>
                        <a:latin typeface="Lato" panose="020F0502020204030203" pitchFamily="34" charset="0"/>
                        <a:ea typeface="+mn-ea"/>
                        <a:cs typeface="+mn-cs"/>
                      </a:endParaRPr>
                    </a:p>
                    <a:p>
                      <a:pPr marL="0" marR="0" lvl="0" indent="0" algn="l" defTabSz="914400" rtl="0" eaLnBrk="1" fontAlgn="auto" latinLnBrk="1" hangingPunct="1">
                        <a:lnSpc>
                          <a:spcPct val="125000"/>
                        </a:lnSpc>
                        <a:spcBef>
                          <a:spcPts val="0"/>
                        </a:spcBef>
                        <a:spcAft>
                          <a:spcPts val="0"/>
                        </a:spcAft>
                        <a:buClrTx/>
                        <a:buSzTx/>
                        <a:buFont typeface="Wingdings" panose="05000000000000000000" pitchFamily="2" charset="2"/>
                        <a:buNone/>
                        <a:tabLst/>
                        <a:defRPr/>
                      </a:pPr>
                      <a:r>
                        <a:rPr lang="en-US" altLang="ko-KR" sz="1200" b="0" kern="1200" baseline="0" dirty="0">
                          <a:solidFill>
                            <a:schemeClr val="tx1"/>
                          </a:solidFill>
                          <a:latin typeface="Lato" panose="020F0502020204030203" pitchFamily="34" charset="0"/>
                          <a:ea typeface="+mn-ea"/>
                          <a:cs typeface="+mn-cs"/>
                          <a:sym typeface="Wingdings" panose="05000000000000000000" pitchFamily="2" charset="2"/>
                        </a:rPr>
                        <a:t></a:t>
                      </a:r>
                      <a:r>
                        <a:rPr lang="ko-KR" altLang="en-US" sz="1200" b="0" kern="1200" baseline="0" dirty="0">
                          <a:solidFill>
                            <a:schemeClr val="tx1"/>
                          </a:solidFill>
                          <a:latin typeface="Lato" panose="020F0502020204030203" pitchFamily="34" charset="0"/>
                          <a:ea typeface="+mn-ea"/>
                          <a:cs typeface="+mn-cs"/>
                        </a:rPr>
                        <a:t> </a:t>
                      </a:r>
                      <a:r>
                        <a:rPr lang="en-US" altLang="ko-KR" sz="1200" b="0" kern="1200" baseline="0" dirty="0">
                          <a:solidFill>
                            <a:schemeClr val="tx1"/>
                          </a:solidFill>
                          <a:latin typeface="Lato" panose="020F0502020204030203" pitchFamily="34" charset="0"/>
                          <a:ea typeface="+mn-ea"/>
                          <a:cs typeface="+mn-cs"/>
                        </a:rPr>
                        <a:t>Access to intracellular water, extracellular water, and TBW/FFM based on measurement dates</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indent="88900" algn="l" latinLnBrk="0">
                        <a:lnSpc>
                          <a:spcPct val="125000"/>
                        </a:lnSpc>
                        <a:spcAft>
                          <a:spcPts val="0"/>
                        </a:spcAft>
                        <a:tabLst>
                          <a:tab pos="762000" algn="l"/>
                        </a:tabLst>
                      </a:pPr>
                      <a:r>
                        <a:rPr lang="en-US" altLang="ko-KR" sz="1200" b="0" kern="100" dirty="0">
                          <a:latin typeface="Lato" panose="020F0502020204030203" pitchFamily="34" charset="0"/>
                          <a:ea typeface="맑은 고딕"/>
                          <a:cs typeface="Times New Roman"/>
                        </a:rPr>
                        <a:t>&lt;Body Composition</a:t>
                      </a:r>
                      <a:r>
                        <a:rPr lang="en-US" altLang="ko-KR" sz="1200" b="0" kern="100" baseline="0" dirty="0">
                          <a:latin typeface="Lato" panose="020F0502020204030203" pitchFamily="34" charset="0"/>
                          <a:ea typeface="맑은 고딕"/>
                          <a:cs typeface="Times New Roman"/>
                        </a:rPr>
                        <a:t> Measurements&gt;</a:t>
                      </a:r>
                      <a:endParaRPr lang="ko-KR" sz="1200" b="0" kern="100" dirty="0">
                        <a:latin typeface="Lato" panose="020F0502020204030203" pitchFamily="34" charset="0"/>
                        <a:ea typeface="맑은 고딕"/>
                        <a:cs typeface="Times New Roman"/>
                      </a:endParaRPr>
                    </a:p>
                    <a:p>
                      <a:pPr algn="just" latinLnBrk="0">
                        <a:lnSpc>
                          <a:spcPct val="125000"/>
                        </a:lnSpc>
                        <a:spcAft>
                          <a:spcPts val="0"/>
                        </a:spcAft>
                        <a:tabLst>
                          <a:tab pos="762000" algn="l"/>
                        </a:tabLst>
                      </a:pPr>
                      <a:r>
                        <a:rPr lang="en-US" altLang="ko-KR" sz="1200" b="0" kern="100" dirty="0">
                          <a:latin typeface="Lato" panose="020F0502020204030203" pitchFamily="34" charset="0"/>
                          <a:ea typeface="맑은 고딕"/>
                          <a:cs typeface="Times New Roman"/>
                        </a:rPr>
                        <a:t>Total Body Water</a:t>
                      </a:r>
                      <a:r>
                        <a:rPr lang="en-US" sz="1200" b="0" kern="100" dirty="0">
                          <a:latin typeface="Lato" panose="020F0502020204030203" pitchFamily="34" charset="0"/>
                          <a:ea typeface="맑은 고딕"/>
                          <a:cs typeface="Times New Roman"/>
                        </a:rPr>
                        <a:t>(TBW),</a:t>
                      </a:r>
                      <a:r>
                        <a:rPr lang="en-US" sz="1200" b="0" kern="100" baseline="0" dirty="0">
                          <a:latin typeface="Lato" panose="020F0502020204030203" pitchFamily="34" charset="0"/>
                          <a:ea typeface="맑은 고딕"/>
                          <a:cs typeface="Times New Roman"/>
                        </a:rPr>
                        <a:t> </a:t>
                      </a:r>
                    </a:p>
                    <a:p>
                      <a:pPr algn="l" latinLnBrk="0">
                        <a:lnSpc>
                          <a:spcPct val="125000"/>
                        </a:lnSpc>
                        <a:spcAft>
                          <a:spcPts val="0"/>
                        </a:spcAft>
                        <a:tabLst>
                          <a:tab pos="762000" algn="l"/>
                        </a:tabLst>
                      </a:pPr>
                      <a:r>
                        <a:rPr lang="en-US" altLang="ko-KR" sz="1200" b="0" kern="100" dirty="0">
                          <a:latin typeface="Lato" panose="020F0502020204030203" pitchFamily="34" charset="0"/>
                          <a:ea typeface="맑은 고딕"/>
                          <a:cs typeface="Times New Roman"/>
                        </a:rPr>
                        <a:t>Intracellular Water</a:t>
                      </a:r>
                      <a:r>
                        <a:rPr lang="en-US" sz="1200" b="0" kern="100" dirty="0">
                          <a:latin typeface="Lato" panose="020F0502020204030203" pitchFamily="34" charset="0"/>
                          <a:ea typeface="맑은 고딕"/>
                          <a:cs typeface="Times New Roman"/>
                        </a:rPr>
                        <a:t>(ICW), </a:t>
                      </a:r>
                      <a:r>
                        <a:rPr lang="en-US" altLang="ko-KR" sz="1200" b="0" kern="100" dirty="0">
                          <a:latin typeface="Lato" panose="020F0502020204030203" pitchFamily="34" charset="0"/>
                          <a:ea typeface="맑은 고딕"/>
                          <a:cs typeface="Times New Roman"/>
                        </a:rPr>
                        <a:t>Extracellular Water</a:t>
                      </a:r>
                      <a:r>
                        <a:rPr lang="en-US" sz="1200" b="0" kern="100" dirty="0">
                          <a:latin typeface="Lato" panose="020F0502020204030203" pitchFamily="34" charset="0"/>
                          <a:ea typeface="맑은 고딕"/>
                          <a:cs typeface="Times New Roman"/>
                        </a:rPr>
                        <a:t>(ECW),</a:t>
                      </a:r>
                      <a:r>
                        <a:rPr lang="en-US" sz="1200" b="0" kern="100" baseline="0" dirty="0">
                          <a:latin typeface="Lato" panose="020F0502020204030203" pitchFamily="34" charset="0"/>
                          <a:ea typeface="맑은 고딕"/>
                          <a:cs typeface="Times New Roman"/>
                        </a:rPr>
                        <a:t> </a:t>
                      </a:r>
                      <a:r>
                        <a:rPr lang="en-US" sz="1200" b="0" kern="100" dirty="0">
                          <a:latin typeface="Lato" panose="020F0502020204030203" pitchFamily="34" charset="0"/>
                          <a:ea typeface="맑은 고딕"/>
                          <a:cs typeface="Times New Roman"/>
                        </a:rPr>
                        <a:t>ECW/ICW</a:t>
                      </a:r>
                    </a:p>
                    <a:p>
                      <a:pPr algn="just" latinLnBrk="0">
                        <a:lnSpc>
                          <a:spcPct val="125000"/>
                        </a:lnSpc>
                        <a:spcAft>
                          <a:spcPts val="0"/>
                        </a:spcAft>
                        <a:tabLst>
                          <a:tab pos="762000" algn="l"/>
                        </a:tabLst>
                      </a:pPr>
                      <a:endParaRPr lang="en-US" altLang="ko-KR" sz="1200" b="0" kern="100" dirty="0">
                        <a:latin typeface="Lato" panose="020F0502020204030203" pitchFamily="34" charset="0"/>
                        <a:ea typeface="맑은 고딕"/>
                        <a:cs typeface="Times New Roman"/>
                      </a:endParaRPr>
                    </a:p>
                    <a:p>
                      <a:pPr indent="88900" algn="just" latinLnBrk="0">
                        <a:lnSpc>
                          <a:spcPct val="125000"/>
                        </a:lnSpc>
                        <a:spcAft>
                          <a:spcPts val="0"/>
                        </a:spcAft>
                        <a:tabLst>
                          <a:tab pos="762000" algn="l"/>
                        </a:tabLst>
                      </a:pPr>
                      <a:r>
                        <a:rPr lang="en-US" sz="1200" b="0" kern="100" dirty="0">
                          <a:latin typeface="Lato" panose="020F0502020204030203" pitchFamily="34" charset="0"/>
                          <a:ea typeface="맑은 고딕"/>
                          <a:cs typeface="Times New Roman"/>
                        </a:rPr>
                        <a:t>&lt;Nutrition Measurements&gt;</a:t>
                      </a:r>
                      <a:endParaRPr lang="ko-KR" altLang="en-US" sz="1200" b="0" kern="100" dirty="0">
                        <a:latin typeface="Lato" panose="020F0502020204030203" pitchFamily="34" charset="0"/>
                        <a:ea typeface="+mn-ea"/>
                        <a:cs typeface="Times New Roman"/>
                      </a:endParaRPr>
                    </a:p>
                    <a:p>
                      <a:pPr algn="just" latinLnBrk="0">
                        <a:lnSpc>
                          <a:spcPct val="125000"/>
                        </a:lnSpc>
                        <a:spcAft>
                          <a:spcPts val="0"/>
                        </a:spcAft>
                        <a:tabLst>
                          <a:tab pos="762000" algn="l"/>
                        </a:tabLst>
                      </a:pPr>
                      <a:r>
                        <a:rPr lang="en-US" sz="1200" b="0" kern="100" dirty="0">
                          <a:latin typeface="Lato" panose="020F0502020204030203" pitchFamily="34" charset="0"/>
                          <a:ea typeface="맑은 고딕"/>
                          <a:cs typeface="Times New Roman"/>
                        </a:rPr>
                        <a:t>Lean tissue mass, </a:t>
                      </a:r>
                    </a:p>
                    <a:p>
                      <a:pPr algn="just" latinLnBrk="0">
                        <a:lnSpc>
                          <a:spcPct val="125000"/>
                        </a:lnSpc>
                        <a:spcAft>
                          <a:spcPts val="0"/>
                        </a:spcAft>
                        <a:tabLst>
                          <a:tab pos="762000" algn="l"/>
                        </a:tabLst>
                      </a:pPr>
                      <a:r>
                        <a:rPr lang="en-US" sz="1200" b="0" kern="100" dirty="0">
                          <a:latin typeface="Lato" panose="020F0502020204030203" pitchFamily="34" charset="0"/>
                          <a:ea typeface="맑은 고딕"/>
                          <a:cs typeface="Times New Roman"/>
                        </a:rPr>
                        <a:t>Lean tissue index</a:t>
                      </a:r>
                      <a:endParaRPr lang="ko-KR" altLang="en-US" sz="1200" b="0" kern="100" dirty="0">
                        <a:latin typeface="Lato" panose="020F0502020204030203" pitchFamily="34" charset="0"/>
                        <a:ea typeface="+mn-ea"/>
                        <a:cs typeface="Times New Roman"/>
                      </a:endParaRPr>
                    </a:p>
                    <a:p>
                      <a:pPr algn="just" latinLnBrk="0">
                        <a:lnSpc>
                          <a:spcPct val="125000"/>
                        </a:lnSpc>
                        <a:spcAft>
                          <a:spcPts val="0"/>
                        </a:spcAft>
                        <a:tabLst>
                          <a:tab pos="762000" algn="l"/>
                        </a:tabLst>
                      </a:pPr>
                      <a:r>
                        <a:rPr lang="en-US" sz="1200" b="0" kern="100" dirty="0">
                          <a:latin typeface="Lato" panose="020F0502020204030203" pitchFamily="34" charset="0"/>
                          <a:ea typeface="맑은 고딕"/>
                          <a:cs typeface="Times New Roman"/>
                        </a:rPr>
                        <a:t>Fat mass, Fat tissue index</a:t>
                      </a:r>
                      <a:endParaRPr lang="ko-KR" altLang="en-US" sz="1200" b="0" kern="100" dirty="0">
                        <a:latin typeface="Lato" panose="020F0502020204030203" pitchFamily="34" charset="0"/>
                        <a:ea typeface="+mn-ea"/>
                        <a:cs typeface="Times New Roman"/>
                      </a:endParaRPr>
                    </a:p>
                    <a:p>
                      <a:pPr algn="just" latinLnBrk="0">
                        <a:lnSpc>
                          <a:spcPct val="125000"/>
                        </a:lnSpc>
                        <a:spcAft>
                          <a:spcPts val="0"/>
                        </a:spcAft>
                        <a:tabLst>
                          <a:tab pos="762000" algn="l"/>
                        </a:tabLst>
                      </a:pPr>
                      <a:r>
                        <a:rPr lang="en-US" sz="1200" b="0" kern="100" dirty="0">
                          <a:latin typeface="Lato" panose="020F0502020204030203" pitchFamily="34" charset="0"/>
                          <a:ea typeface="맑은 고딕"/>
                          <a:cs typeface="Times New Roman"/>
                        </a:rPr>
                        <a:t>Adipose tissue mass</a:t>
                      </a:r>
                      <a:endParaRPr lang="ko-KR" altLang="en-US" sz="1200" b="0" kern="100" dirty="0">
                        <a:latin typeface="Lato" panose="020F0502020204030203" pitchFamily="34" charset="0"/>
                        <a:ea typeface="+mn-ea"/>
                        <a:cs typeface="Times New Roman"/>
                      </a:endParaRPr>
                    </a:p>
                    <a:p>
                      <a:pPr algn="just" latinLnBrk="0">
                        <a:lnSpc>
                          <a:spcPct val="125000"/>
                        </a:lnSpc>
                        <a:spcAft>
                          <a:spcPts val="0"/>
                        </a:spcAft>
                        <a:tabLst>
                          <a:tab pos="482600" algn="l"/>
                        </a:tabLst>
                      </a:pPr>
                      <a:r>
                        <a:rPr lang="en-US" sz="1200" b="0" kern="100" dirty="0">
                          <a:latin typeface="Lato" panose="020F0502020204030203" pitchFamily="34" charset="0"/>
                          <a:ea typeface="맑은 고딕"/>
                          <a:cs typeface="Times New Roman"/>
                        </a:rPr>
                        <a:t>BCM(Body Cell Mass)</a:t>
                      </a:r>
                      <a:endParaRPr lang="ko-KR" altLang="en-US" sz="1200" b="0" kern="100" dirty="0">
                        <a:latin typeface="Lato" panose="020F0502020204030203" pitchFamily="34" charset="0"/>
                        <a:ea typeface="+mn-ea"/>
                        <a:cs typeface="Times New Roman"/>
                      </a:endParaRPr>
                    </a:p>
                    <a:p>
                      <a:pPr algn="just" latinLnBrk="0">
                        <a:lnSpc>
                          <a:spcPts val="1500"/>
                        </a:lnSpc>
                        <a:spcAft>
                          <a:spcPts val="0"/>
                        </a:spcAft>
                        <a:tabLst>
                          <a:tab pos="762000" algn="l"/>
                        </a:tabLst>
                      </a:pPr>
                      <a:endParaRPr lang="ko-KR" sz="1200" kern="100" dirty="0">
                        <a:latin typeface="Lato" panose="020F0502020204030203" pitchFamily="34" charset="0"/>
                        <a:ea typeface="맑은 고딕"/>
                        <a:cs typeface="Times New Roman"/>
                      </a:endParaRPr>
                    </a:p>
                  </a:txBody>
                  <a:tcPr marL="62865" marR="62865" marT="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marL="171450" indent="-171450" algn="just" latinLnBrk="1">
                        <a:lnSpc>
                          <a:spcPct val="125000"/>
                        </a:lnSpc>
                        <a:buFontTx/>
                        <a:buChar char="-"/>
                      </a:pPr>
                      <a:r>
                        <a:rPr lang="en-US" altLang="ko-KR" sz="1200" dirty="0">
                          <a:latin typeface="Lato" panose="020F0502020204030203" pitchFamily="34" charset="0"/>
                        </a:rPr>
                        <a:t>Changes in impedance due to conditions like edema or paralysis can affect body water</a:t>
                      </a:r>
                      <a:r>
                        <a:rPr lang="en-US" altLang="ko-KR" sz="1200" baseline="0" dirty="0">
                          <a:latin typeface="Lato" panose="020F0502020204030203" pitchFamily="34" charset="0"/>
                        </a:rPr>
                        <a:t> results per body parts</a:t>
                      </a:r>
                      <a:r>
                        <a:rPr lang="en-US" altLang="ko-KR" sz="1200" dirty="0">
                          <a:latin typeface="Lato" panose="020F0502020204030203" pitchFamily="34" charset="0"/>
                        </a:rPr>
                        <a:t>. Thus, it's required to observe changes in total body water and body water per body</a:t>
                      </a:r>
                      <a:r>
                        <a:rPr lang="en-US" altLang="ko-KR" sz="1200" baseline="0" dirty="0">
                          <a:latin typeface="Lato" panose="020F0502020204030203" pitchFamily="34" charset="0"/>
                        </a:rPr>
                        <a:t> part.</a:t>
                      </a:r>
                      <a:endParaRPr lang="en-US" altLang="ko-KR" sz="1200" dirty="0">
                        <a:latin typeface="Lato" panose="020F0502020204030203" pitchFamily="34" charset="0"/>
                      </a:endParaRPr>
                    </a:p>
                    <a:p>
                      <a:pPr marL="171450" indent="-171450" algn="just" latinLnBrk="1">
                        <a:lnSpc>
                          <a:spcPct val="125000"/>
                        </a:lnSpc>
                        <a:buFontTx/>
                        <a:buChar char="-"/>
                      </a:pPr>
                      <a:r>
                        <a:rPr lang="en-US" altLang="ko-KR" sz="1200" dirty="0">
                          <a:latin typeface="Lato" panose="020F0502020204030203" pitchFamily="34" charset="0"/>
                        </a:rPr>
                        <a:t>Leveraging its high precision When compared to the DEXA, the ‘Gold Standard’ in body composition analysis, </a:t>
                      </a:r>
                      <a:r>
                        <a:rPr lang="en-US" altLang="ko-KR" sz="1200" dirty="0" err="1">
                          <a:latin typeface="Lato" panose="020F0502020204030203" pitchFamily="34" charset="0"/>
                        </a:rPr>
                        <a:t>InBody</a:t>
                      </a:r>
                      <a:r>
                        <a:rPr lang="en-US" altLang="ko-KR" sz="1200" dirty="0">
                          <a:latin typeface="Lato" panose="020F0502020204030203" pitchFamily="34" charset="0"/>
                        </a:rPr>
                        <a:t> provides a variety of body composition parameters</a:t>
                      </a:r>
                      <a:r>
                        <a:rPr lang="en-US" altLang="ko-KR" sz="1200" baseline="0" dirty="0">
                          <a:latin typeface="Lato" panose="020F0502020204030203" pitchFamily="34" charset="0"/>
                        </a:rPr>
                        <a:t> based on high precisions.</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457425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655F5-BA32-4D25-B17E-84205AFBF880}"/>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3487C0D9-8F95-1C56-5E27-00957AD86127}"/>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C57AE246-53E3-9198-6E2D-B40452D4B77F}"/>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graphicFrame>
        <p:nvGraphicFramePr>
          <p:cNvPr id="6" name="표 5">
            <a:extLst>
              <a:ext uri="{FF2B5EF4-FFF2-40B4-BE49-F238E27FC236}">
                <a16:creationId xmlns:a16="http://schemas.microsoft.com/office/drawing/2014/main" id="{AD67868C-B60B-246D-886C-62D48A1F8428}"/>
              </a:ext>
            </a:extLst>
          </p:cNvPr>
          <p:cNvGraphicFramePr>
            <a:graphicFrameLocks noGrp="1"/>
          </p:cNvGraphicFramePr>
          <p:nvPr/>
        </p:nvGraphicFramePr>
        <p:xfrm>
          <a:off x="592278" y="1289289"/>
          <a:ext cx="11029745" cy="4585877"/>
        </p:xfrm>
        <a:graphic>
          <a:graphicData uri="http://schemas.openxmlformats.org/drawingml/2006/table">
            <a:tbl>
              <a:tblPr firstRow="1" bandRow="1">
                <a:tableStyleId>{5940675A-B579-460E-94D1-54222C63F5DA}</a:tableStyleId>
              </a:tblPr>
              <a:tblGrid>
                <a:gridCol w="2111377">
                  <a:extLst>
                    <a:ext uri="{9D8B030D-6E8A-4147-A177-3AD203B41FA5}">
                      <a16:colId xmlns:a16="http://schemas.microsoft.com/office/drawing/2014/main" val="20000"/>
                    </a:ext>
                  </a:extLst>
                </a:gridCol>
                <a:gridCol w="4765994">
                  <a:extLst>
                    <a:ext uri="{9D8B030D-6E8A-4147-A177-3AD203B41FA5}">
                      <a16:colId xmlns:a16="http://schemas.microsoft.com/office/drawing/2014/main" val="20001"/>
                    </a:ext>
                  </a:extLst>
                </a:gridCol>
                <a:gridCol w="4152374">
                  <a:extLst>
                    <a:ext uri="{9D8B030D-6E8A-4147-A177-3AD203B41FA5}">
                      <a16:colId xmlns:a16="http://schemas.microsoft.com/office/drawing/2014/main" val="20002"/>
                    </a:ext>
                  </a:extLst>
                </a:gridCol>
              </a:tblGrid>
              <a:tr h="664285">
                <a:tc>
                  <a:txBody>
                    <a:bodyPr/>
                    <a:lstStyle/>
                    <a:p>
                      <a:pPr algn="ctr" latinLnBrk="1"/>
                      <a:endParaRPr lang="ko-KR" altLang="en-US" sz="1200" b="1" dirty="0">
                        <a:solidFill>
                          <a:schemeClr val="bg1"/>
                        </a:solidFill>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r>
                        <a:rPr lang="en-US" altLang="ko-KR" sz="1200" b="1" dirty="0">
                          <a:solidFill>
                            <a:schemeClr val="bg1"/>
                          </a:solidFill>
                          <a:latin typeface="Lato" panose="020F0502020204030203" pitchFamily="34" charset="0"/>
                          <a:ea typeface="Lato" panose="020F0502020204030203" pitchFamily="34" charset="0"/>
                          <a:cs typeface="Lato" panose="020F0502020204030203" pitchFamily="34" charset="0"/>
                        </a:rPr>
                        <a:t>BWA2.0</a:t>
                      </a:r>
                      <a:endParaRPr lang="ko-KR" altLang="en-US" sz="1200" b="1" dirty="0">
                        <a:solidFill>
                          <a:schemeClr val="bg1"/>
                        </a:solidFill>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A0112D"/>
                    </a:solidFill>
                  </a:tcPr>
                </a:tc>
                <a:tc>
                  <a:txBody>
                    <a:bodyPr/>
                    <a:lstStyle/>
                    <a:p>
                      <a:pPr algn="ctr" latinLnBrk="1"/>
                      <a:r>
                        <a:rPr lang="en-US" altLang="ko-KR" sz="1200" b="1" dirty="0">
                          <a:solidFill>
                            <a:schemeClr val="bg1"/>
                          </a:solidFill>
                          <a:latin typeface="Lato" panose="020F0502020204030203" pitchFamily="34" charset="0"/>
                          <a:ea typeface="Lato" panose="020F0502020204030203" pitchFamily="34" charset="0"/>
                          <a:cs typeface="Lato" panose="020F0502020204030203" pitchFamily="34" charset="0"/>
                        </a:rPr>
                        <a:t>BCM</a:t>
                      </a:r>
                    </a:p>
                    <a:p>
                      <a:pPr algn="ctr" latinLnBrk="1"/>
                      <a:r>
                        <a:rPr lang="en-US" altLang="ko-KR" sz="1200" b="1" dirty="0">
                          <a:solidFill>
                            <a:schemeClr val="bg1"/>
                          </a:solidFill>
                          <a:latin typeface="Lato" panose="020F0502020204030203" pitchFamily="34" charset="0"/>
                          <a:ea typeface="Lato" panose="020F0502020204030203" pitchFamily="34" charset="0"/>
                          <a:cs typeface="Lato" panose="020F0502020204030203" pitchFamily="34" charset="0"/>
                        </a:rPr>
                        <a:t>(Body Composition</a:t>
                      </a:r>
                      <a:r>
                        <a:rPr lang="en-US" altLang="ko-KR" sz="1200" b="1" baseline="0" dirty="0">
                          <a:solidFill>
                            <a:schemeClr val="bg1"/>
                          </a:solidFill>
                          <a:latin typeface="Lato" panose="020F0502020204030203" pitchFamily="34" charset="0"/>
                          <a:ea typeface="Lato" panose="020F0502020204030203" pitchFamily="34" charset="0"/>
                          <a:cs typeface="Lato" panose="020F0502020204030203" pitchFamily="34" charset="0"/>
                        </a:rPr>
                        <a:t> Monitor)</a:t>
                      </a:r>
                      <a:endParaRPr lang="ko-KR" altLang="en-US" sz="1200" b="1" dirty="0">
                        <a:solidFill>
                          <a:schemeClr val="bg1"/>
                        </a:solidFill>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extLst>
                  <a:ext uri="{0D108BD9-81ED-4DB2-BD59-A6C34878D82A}">
                    <a16:rowId xmlns:a16="http://schemas.microsoft.com/office/drawing/2014/main" val="10000"/>
                  </a:ext>
                </a:extLst>
              </a:tr>
              <a:tr h="2652809">
                <a:tc>
                  <a:txBody>
                    <a:bodyPr/>
                    <a:lstStyle/>
                    <a:p>
                      <a:pPr algn="ctr" latinLnBrk="1"/>
                      <a:r>
                        <a:rPr lang="en-US" altLang="ko-KR" sz="1200" b="1" dirty="0">
                          <a:latin typeface="Lato" panose="020F0502020204030203" pitchFamily="34" charset="0"/>
                          <a:cs typeface="Lato" panose="020F0502020204030203" pitchFamily="34" charset="0"/>
                        </a:rPr>
                        <a:t>Features</a:t>
                      </a:r>
                      <a:endParaRPr lang="ko-KR" altLang="en-US" sz="1200" b="1"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50000"/>
                        </a:lnSpc>
                      </a:pPr>
                      <a:r>
                        <a:rPr lang="en-US" altLang="ko-KR" sz="1200" dirty="0">
                          <a:latin typeface="Lato" panose="020F0502020204030203" pitchFamily="34" charset="0"/>
                          <a:ea typeface="Lato" panose="020F0502020204030203" pitchFamily="34" charset="0"/>
                          <a:cs typeface="Lato" panose="020F0502020204030203" pitchFamily="34" charset="0"/>
                        </a:rPr>
                        <a:t>1. 7 Result Sheets: </a:t>
                      </a:r>
                      <a:r>
                        <a:rPr lang="en-US" altLang="ko-KR" sz="1200" b="0" kern="1200" dirty="0">
                          <a:solidFill>
                            <a:schemeClr val="tx1"/>
                          </a:solidFill>
                          <a:latin typeface="Lato" panose="020F0502020204030203" pitchFamily="34" charset="0"/>
                          <a:ea typeface="+mn-ea"/>
                          <a:cs typeface="Verdana" pitchFamily="34" charset="0"/>
                        </a:rPr>
                        <a:t>Body Water Result Sheet, </a:t>
                      </a:r>
                    </a:p>
                    <a:p>
                      <a:pPr algn="ctr" latinLnBrk="1">
                        <a:lnSpc>
                          <a:spcPct val="150000"/>
                        </a:lnSpc>
                      </a:pPr>
                      <a:r>
                        <a:rPr lang="en-US" altLang="ko-KR" sz="1200" b="0" kern="1200" dirty="0">
                          <a:solidFill>
                            <a:schemeClr val="tx1"/>
                          </a:solidFill>
                          <a:latin typeface="Lato" panose="020F0502020204030203" pitchFamily="34" charset="0"/>
                          <a:ea typeface="+mn-ea"/>
                          <a:cs typeface="Verdana" pitchFamily="34" charset="0"/>
                        </a:rPr>
                        <a:t>Body Composition Result Sheet, </a:t>
                      </a:r>
                      <a:r>
                        <a:rPr lang="en-US" altLang="ko-KR" sz="1200" b="0" kern="1200" dirty="0" err="1">
                          <a:solidFill>
                            <a:schemeClr val="tx1"/>
                          </a:solidFill>
                          <a:latin typeface="Lato" panose="020F0502020204030203" pitchFamily="34" charset="0"/>
                          <a:ea typeface="+mn-ea"/>
                          <a:cs typeface="Verdana" pitchFamily="34" charset="0"/>
                        </a:rPr>
                        <a:t>InBody</a:t>
                      </a:r>
                      <a:r>
                        <a:rPr lang="en-US" altLang="ko-KR" sz="1200" b="0" kern="1200" dirty="0">
                          <a:solidFill>
                            <a:schemeClr val="tx1"/>
                          </a:solidFill>
                          <a:latin typeface="Lato" panose="020F0502020204030203" pitchFamily="34" charset="0"/>
                          <a:ea typeface="+mn-ea"/>
                          <a:cs typeface="Verdana" pitchFamily="34" charset="0"/>
                        </a:rPr>
                        <a:t> Result Sheet for Children, Research Result Sheet for Researcher, Option Result Sheet, Comparison Result Sheet, Thermal Result Sheet (Optional)</a:t>
                      </a:r>
                      <a:endParaRPr lang="ko-KR" altLang="en-US" sz="1200" b="0" kern="1200" dirty="0">
                        <a:solidFill>
                          <a:schemeClr val="tx1"/>
                        </a:solidFill>
                        <a:latin typeface="Lato" panose="020F0502020204030203" pitchFamily="34" charset="0"/>
                        <a:ea typeface="+mn-ea"/>
                        <a:cs typeface="Verdana" pitchFamily="34" charset="0"/>
                      </a:endParaRPr>
                    </a:p>
                    <a:p>
                      <a:pPr marL="0" indent="0" algn="ctr" latinLnBrk="1">
                        <a:lnSpc>
                          <a:spcPct val="150000"/>
                        </a:lnSpc>
                        <a:buNone/>
                      </a:pPr>
                      <a:r>
                        <a:rPr lang="en-US" altLang="ko-KR" sz="1200" dirty="0">
                          <a:latin typeface="Lato" panose="020F0502020204030203" pitchFamily="34" charset="0"/>
                          <a:cs typeface="Lato" panose="020F0502020204030203" pitchFamily="34" charset="0"/>
                        </a:rPr>
                        <a:t>2. </a:t>
                      </a:r>
                      <a:r>
                        <a:rPr lang="en-US" altLang="ko-KR" sz="1200" dirty="0">
                          <a:effectLst/>
                          <a:latin typeface="Lato" panose="020F0502020204030203" pitchFamily="34" charset="0"/>
                        </a:rPr>
                        <a:t>Internal Storage Capability</a:t>
                      </a:r>
                      <a:r>
                        <a:rPr lang="en-US" altLang="ko-KR" sz="1200" dirty="0">
                          <a:latin typeface="Lato" panose="020F0502020204030203" pitchFamily="34" charset="0"/>
                          <a:ea typeface="Lato" panose="020F0502020204030203" pitchFamily="34" charset="0"/>
                          <a:cs typeface="Lato" panose="020F0502020204030203" pitchFamily="34" charset="0"/>
                        </a:rPr>
                        <a:t>: </a:t>
                      </a:r>
                      <a:r>
                        <a:rPr lang="en-US" altLang="ko-KR" sz="1200" dirty="0">
                          <a:effectLst/>
                          <a:latin typeface="Lato" panose="020F0502020204030203" pitchFamily="34" charset="0"/>
                          <a:ea typeface="+mn-ea"/>
                          <a:cs typeface="+mn-cs"/>
                        </a:rPr>
                        <a:t>S</a:t>
                      </a:r>
                      <a:r>
                        <a:rPr lang="en-US" altLang="ko-KR" sz="1200" dirty="0">
                          <a:effectLst/>
                          <a:latin typeface="Lato" panose="020F0502020204030203" pitchFamily="34" charset="0"/>
                        </a:rPr>
                        <a:t>tores up to 100,000 data</a:t>
                      </a:r>
                      <a:r>
                        <a:rPr lang="en-US" altLang="ko-KR" sz="1200" dirty="0">
                          <a:latin typeface="Lato" panose="020F0502020204030203" pitchFamily="34" charset="0"/>
                          <a:ea typeface="Lato" panose="020F0502020204030203" pitchFamily="34" charset="0"/>
                          <a:cs typeface="Lato" panose="020F0502020204030203" pitchFamily="34" charset="0"/>
                        </a:rPr>
                        <a:t>, LCD</a:t>
                      </a:r>
                      <a:r>
                        <a:rPr lang="ko-KR" altLang="en-US" sz="1200" dirty="0">
                          <a:latin typeface="Lato" panose="020F0502020204030203" pitchFamily="34" charset="0"/>
                          <a:cs typeface="Lato" panose="020F0502020204030203" pitchFamily="34" charset="0"/>
                        </a:rPr>
                        <a:t> </a:t>
                      </a:r>
                      <a:r>
                        <a:rPr lang="en-US" altLang="ko-KR" sz="1200" dirty="0">
                          <a:latin typeface="Lato" panose="020F0502020204030203" pitchFamily="34" charset="0"/>
                          <a:cs typeface="Lato" panose="020F0502020204030203" pitchFamily="34" charset="0"/>
                        </a:rPr>
                        <a:t>screen</a:t>
                      </a:r>
                      <a:r>
                        <a:rPr lang="en-US" altLang="ko-KR" sz="1200" dirty="0">
                          <a:latin typeface="Lato" panose="020F0502020204030203" pitchFamily="34" charset="0"/>
                          <a:ea typeface="Lato" panose="020F0502020204030203" pitchFamily="34" charset="0"/>
                          <a:cs typeface="Lato" panose="020F0502020204030203" pitchFamily="34" charset="0"/>
                        </a:rPr>
                        <a:t>, access to previous</a:t>
                      </a:r>
                      <a:r>
                        <a:rPr lang="en-US" altLang="ko-KR" sz="1200" baseline="0" dirty="0">
                          <a:latin typeface="Lato" panose="020F0502020204030203" pitchFamily="34" charset="0"/>
                          <a:ea typeface="Lato" panose="020F0502020204030203" pitchFamily="34" charset="0"/>
                          <a:cs typeface="Lato" panose="020F0502020204030203" pitchFamily="34" charset="0"/>
                        </a:rPr>
                        <a:t> test results on the result sheet</a:t>
                      </a:r>
                    </a:p>
                    <a:p>
                      <a:pPr marL="0" indent="0" algn="ctr" latinLnBrk="1">
                        <a:lnSpc>
                          <a:spcPct val="150000"/>
                        </a:lnSpc>
                        <a:buNone/>
                      </a:pPr>
                      <a:r>
                        <a:rPr lang="en-US" altLang="ko-KR" sz="1200" dirty="0">
                          <a:latin typeface="Lato" panose="020F0502020204030203" pitchFamily="34" charset="0"/>
                          <a:cs typeface="Lato" panose="020F0502020204030203" pitchFamily="34" charset="0"/>
                        </a:rPr>
                        <a:t>3. Portability:</a:t>
                      </a:r>
                      <a:r>
                        <a:rPr lang="en-US" altLang="ko-KR" sz="1200" baseline="0" dirty="0">
                          <a:latin typeface="Lato" panose="020F0502020204030203" pitchFamily="34" charset="0"/>
                          <a:cs typeface="Lato" panose="020F0502020204030203" pitchFamily="34" charset="0"/>
                        </a:rPr>
                        <a:t> Includes a portable </a:t>
                      </a:r>
                      <a:r>
                        <a:rPr lang="en-US" altLang="ko-KR" sz="1200" dirty="0">
                          <a:effectLst/>
                          <a:latin typeface="Lato" panose="020F0502020204030203" pitchFamily="34" charset="0"/>
                        </a:rPr>
                        <a:t>carrying case and cart for easier transportation.</a:t>
                      </a:r>
                      <a:endParaRPr lang="en-US" altLang="ko-KR" sz="1200"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marL="228600" indent="-228600" algn="ctr" latinLnBrk="1">
                        <a:lnSpc>
                          <a:spcPct val="125000"/>
                        </a:lnSpc>
                        <a:buAutoNum type="arabicPeriod"/>
                      </a:pPr>
                      <a:r>
                        <a:rPr lang="en-US" altLang="ko-KR" sz="1200" dirty="0">
                          <a:latin typeface="Lato" panose="020F0502020204030203" pitchFamily="34" charset="0"/>
                          <a:cs typeface="Lato" panose="020F0502020204030203" pitchFamily="34" charset="0"/>
                        </a:rPr>
                        <a:t>No Result</a:t>
                      </a:r>
                      <a:r>
                        <a:rPr lang="en-US" altLang="ko-KR" sz="1200" baseline="0" dirty="0">
                          <a:latin typeface="Lato" panose="020F0502020204030203" pitchFamily="34" charset="0"/>
                          <a:cs typeface="Lato" panose="020F0502020204030203" pitchFamily="34" charset="0"/>
                        </a:rPr>
                        <a:t> Sheets</a:t>
                      </a:r>
                    </a:p>
                    <a:p>
                      <a:pPr marL="228600" indent="-228600" algn="ctr" latinLnBrk="1">
                        <a:lnSpc>
                          <a:spcPct val="125000"/>
                        </a:lnSpc>
                        <a:buAutoNum type="arabicPeriod"/>
                      </a:pPr>
                      <a:r>
                        <a:rPr lang="en-US" altLang="ko-KR" sz="1200" baseline="0" dirty="0">
                          <a:latin typeface="Lato" panose="020F0502020204030203" pitchFamily="34" charset="0"/>
                          <a:cs typeface="Lato" panose="020F0502020204030203" pitchFamily="34" charset="0"/>
                        </a:rPr>
                        <a:t>10 Customer Cards</a:t>
                      </a:r>
                      <a:endParaRPr lang="ko-KR" altLang="en-US" sz="1200"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1"/>
                  </a:ext>
                </a:extLst>
              </a:tr>
              <a:tr h="811583">
                <a:tc>
                  <a:txBody>
                    <a:bodyPr/>
                    <a:lstStyle/>
                    <a:p>
                      <a:pPr algn="ctr" latinLnBrk="1"/>
                      <a:r>
                        <a:rPr lang="en-US" altLang="ko-KR" sz="1200" b="1" dirty="0">
                          <a:latin typeface="Lato" panose="020F0502020204030203" pitchFamily="34" charset="0"/>
                          <a:cs typeface="Lato" panose="020F0502020204030203" pitchFamily="34" charset="0"/>
                        </a:rPr>
                        <a:t>Time</a:t>
                      </a:r>
                      <a:r>
                        <a:rPr lang="en-US" altLang="ko-KR" sz="1200" b="1" baseline="0" dirty="0">
                          <a:latin typeface="Lato" panose="020F0502020204030203" pitchFamily="34" charset="0"/>
                          <a:cs typeface="Lato" panose="020F0502020204030203" pitchFamily="34" charset="0"/>
                        </a:rPr>
                        <a:t> Required</a:t>
                      </a:r>
                      <a:endParaRPr lang="ko-KR" altLang="en-US" sz="1200" b="1"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lnSpc>
                          <a:spcPct val="125000"/>
                        </a:lnSpc>
                      </a:pPr>
                      <a:r>
                        <a:rPr lang="en-US" altLang="ko-KR" sz="1200" dirty="0">
                          <a:latin typeface="Lato" panose="020F0502020204030203" pitchFamily="34" charset="0"/>
                          <a:ea typeface="Lato" panose="020F0502020204030203" pitchFamily="34" charset="0"/>
                          <a:cs typeface="Lato" panose="020F0502020204030203" pitchFamily="34" charset="0"/>
                        </a:rPr>
                        <a:t>1 min 30</a:t>
                      </a:r>
                      <a:r>
                        <a:rPr lang="en-US" altLang="ko-KR" sz="1200" baseline="0" dirty="0">
                          <a:latin typeface="Lato" panose="020F0502020204030203" pitchFamily="34" charset="0"/>
                          <a:ea typeface="Lato" panose="020F0502020204030203" pitchFamily="34" charset="0"/>
                          <a:cs typeface="Lato" panose="020F0502020204030203" pitchFamily="34" charset="0"/>
                        </a:rPr>
                        <a:t> seconds(including LCD screen overlooks)</a:t>
                      </a:r>
                      <a:endParaRPr lang="en-US" altLang="ko-KR" sz="1200" dirty="0">
                        <a:latin typeface="Lato" panose="020F0502020204030203" pitchFamily="34" charset="0"/>
                        <a:ea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altLang="ko-KR" sz="1200" dirty="0">
                          <a:latin typeface="Lato" panose="020F0502020204030203" pitchFamily="34" charset="0"/>
                          <a:ea typeface="Lato" panose="020F0502020204030203" pitchFamily="34" charset="0"/>
                          <a:cs typeface="Lato" panose="020F0502020204030203" pitchFamily="34" charset="0"/>
                        </a:rPr>
                        <a:t>10 seconds(measurement)</a:t>
                      </a:r>
                      <a:endParaRPr lang="en-US" altLang="ko-KR" sz="1200" baseline="0" dirty="0">
                        <a:latin typeface="Lato" panose="020F0502020204030203" pitchFamily="34" charset="0"/>
                        <a:ea typeface="Lato" panose="020F0502020204030203" pitchFamily="34" charset="0"/>
                        <a:cs typeface="Lato" panose="020F0502020204030203" pitchFamily="34" charset="0"/>
                      </a:endParaRPr>
                    </a:p>
                    <a:p>
                      <a:pPr algn="ctr" latinLnBrk="1">
                        <a:lnSpc>
                          <a:spcPct val="125000"/>
                        </a:lnSpc>
                      </a:pPr>
                      <a:r>
                        <a:rPr lang="en-US" altLang="ko-KR" sz="1200" baseline="0" dirty="0">
                          <a:latin typeface="Lato" panose="020F0502020204030203" pitchFamily="34" charset="0"/>
                          <a:ea typeface="Lato" panose="020F0502020204030203" pitchFamily="34" charset="0"/>
                          <a:cs typeface="Lato" panose="020F0502020204030203" pitchFamily="34" charset="0"/>
                        </a:rPr>
                        <a:t>2 minutes(results printed out)</a:t>
                      </a:r>
                      <a:endParaRPr lang="en-US" altLang="ko-KR" sz="1200" dirty="0">
                        <a:latin typeface="Lato" panose="020F0502020204030203" pitchFamily="34" charset="0"/>
                        <a:ea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2"/>
                  </a:ext>
                </a:extLst>
              </a:tr>
              <a:tr h="443338">
                <a:tc>
                  <a:txBody>
                    <a:bodyPr/>
                    <a:lstStyle/>
                    <a:p>
                      <a:pPr algn="ctr" latinLnBrk="1"/>
                      <a:r>
                        <a:rPr lang="en-US" altLang="ko-KR" sz="1200" b="1" dirty="0">
                          <a:latin typeface="Lato" panose="020F0502020204030203" pitchFamily="34" charset="0"/>
                          <a:ea typeface="Lato" panose="020F0502020204030203" pitchFamily="34" charset="0"/>
                          <a:cs typeface="Lato" panose="020F0502020204030203" pitchFamily="34" charset="0"/>
                        </a:rPr>
                        <a:t>Size</a:t>
                      </a:r>
                      <a:endParaRPr lang="ko-KR" altLang="en-US" sz="1200" b="1"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ctr" latinLnBrk="1"/>
                      <a:r>
                        <a:rPr lang="en-US" altLang="ko-KR" sz="1200" b="0" kern="1200" dirty="0">
                          <a:solidFill>
                            <a:schemeClr val="tx1"/>
                          </a:solidFill>
                          <a:latin typeface="Lato" panose="020F0502020204030203" pitchFamily="34" charset="0"/>
                          <a:ea typeface="+mn-ea"/>
                          <a:cs typeface="Verdana" pitchFamily="34" charset="0"/>
                        </a:rPr>
                        <a:t>322(W) X 282(L) X 81.5(H)</a:t>
                      </a:r>
                    </a:p>
                    <a:p>
                      <a:pPr algn="ctr" latinLnBrk="1"/>
                      <a:r>
                        <a:rPr lang="en-US" altLang="ko-KR" sz="1200" b="0" kern="1200" dirty="0">
                          <a:solidFill>
                            <a:schemeClr val="tx1"/>
                          </a:solidFill>
                          <a:latin typeface="Lato" panose="020F0502020204030203" pitchFamily="34" charset="0"/>
                          <a:ea typeface="+mn-ea"/>
                          <a:cs typeface="Verdana" pitchFamily="34" charset="0"/>
                        </a:rPr>
                        <a:t>(*Head</a:t>
                      </a:r>
                      <a:r>
                        <a:rPr lang="en-US" altLang="ko-KR" sz="1200" b="0" kern="1200" baseline="0" dirty="0">
                          <a:solidFill>
                            <a:schemeClr val="tx1"/>
                          </a:solidFill>
                          <a:latin typeface="Lato" panose="020F0502020204030203" pitchFamily="34" charset="0"/>
                          <a:ea typeface="+mn-ea"/>
                          <a:cs typeface="Verdana" pitchFamily="34" charset="0"/>
                        </a:rPr>
                        <a:t> Only)</a:t>
                      </a:r>
                      <a:endParaRPr lang="ko-KR" altLang="en-US" sz="1200"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r>
                        <a:rPr lang="en-US" sz="1200" kern="1200" dirty="0">
                          <a:solidFill>
                            <a:schemeClr val="tx1"/>
                          </a:solidFill>
                          <a:latin typeface="Lato" panose="020F0502020204030203" pitchFamily="34" charset="0"/>
                          <a:ea typeface="Lato" panose="020F0502020204030203" pitchFamily="34" charset="0"/>
                          <a:cs typeface="Lato" panose="020F0502020204030203" pitchFamily="34" charset="0"/>
                        </a:rPr>
                        <a:t>169(W)X272(L)X1112(H)</a:t>
                      </a:r>
                      <a:endParaRPr lang="ko-KR" altLang="en-US" sz="1200" dirty="0">
                        <a:latin typeface="Lato" panose="020F0502020204030203" pitchFamily="34" charset="0"/>
                        <a:cs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879947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655F5-BA32-4D25-B17E-84205AFBF880}"/>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3487C0D9-8F95-1C56-5E27-00957AD86127}"/>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C57AE246-53E3-9198-6E2D-B40452D4B77F}"/>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Specification</a:t>
            </a:r>
          </a:p>
        </p:txBody>
      </p:sp>
      <p:graphicFrame>
        <p:nvGraphicFramePr>
          <p:cNvPr id="5" name="표 4">
            <a:extLst>
              <a:ext uri="{FF2B5EF4-FFF2-40B4-BE49-F238E27FC236}">
                <a16:creationId xmlns:a16="http://schemas.microsoft.com/office/drawing/2014/main" id="{B4265EF6-2C2E-6031-3EDF-29A76EA8D5FE}"/>
              </a:ext>
            </a:extLst>
          </p:cNvPr>
          <p:cNvGraphicFramePr>
            <a:graphicFrameLocks noGrp="1"/>
          </p:cNvGraphicFramePr>
          <p:nvPr/>
        </p:nvGraphicFramePr>
        <p:xfrm>
          <a:off x="263235" y="992886"/>
          <a:ext cx="11720947" cy="6601763"/>
        </p:xfrm>
        <a:graphic>
          <a:graphicData uri="http://schemas.openxmlformats.org/drawingml/2006/table">
            <a:tbl>
              <a:tblPr firstRow="1" bandRow="1">
                <a:tableStyleId>{5940675A-B579-460E-94D1-54222C63F5DA}</a:tableStyleId>
              </a:tblPr>
              <a:tblGrid>
                <a:gridCol w="2243691">
                  <a:extLst>
                    <a:ext uri="{9D8B030D-6E8A-4147-A177-3AD203B41FA5}">
                      <a16:colId xmlns:a16="http://schemas.microsoft.com/office/drawing/2014/main" val="20000"/>
                    </a:ext>
                  </a:extLst>
                </a:gridCol>
                <a:gridCol w="5241957">
                  <a:extLst>
                    <a:ext uri="{9D8B030D-6E8A-4147-A177-3AD203B41FA5}">
                      <a16:colId xmlns:a16="http://schemas.microsoft.com/office/drawing/2014/main" val="20001"/>
                    </a:ext>
                  </a:extLst>
                </a:gridCol>
                <a:gridCol w="4235299">
                  <a:extLst>
                    <a:ext uri="{9D8B030D-6E8A-4147-A177-3AD203B41FA5}">
                      <a16:colId xmlns:a16="http://schemas.microsoft.com/office/drawing/2014/main" val="20002"/>
                    </a:ext>
                  </a:extLst>
                </a:gridCol>
              </a:tblGrid>
              <a:tr h="457199">
                <a:tc>
                  <a:txBody>
                    <a:bodyPr/>
                    <a:lstStyle/>
                    <a:p>
                      <a:pPr algn="ctr" latinLnBrk="1">
                        <a:lnSpc>
                          <a:spcPct val="125000"/>
                        </a:lnSpc>
                      </a:pP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tc>
                  <a:txBody>
                    <a:bodyPr/>
                    <a:lstStyle/>
                    <a:p>
                      <a:pPr algn="ctr" latinLnBrk="1">
                        <a:lnSpc>
                          <a:spcPct val="125000"/>
                        </a:lnSpc>
                      </a:pPr>
                      <a:r>
                        <a:rPr lang="en-US" altLang="ko-KR" sz="1200" b="1" dirty="0" err="1">
                          <a:solidFill>
                            <a:schemeClr val="bg1"/>
                          </a:solidFill>
                          <a:latin typeface="Lato" panose="020F0502020204030203" pitchFamily="34" charset="0"/>
                        </a:rPr>
                        <a:t>Lookin</a:t>
                      </a:r>
                      <a:r>
                        <a:rPr lang="en-US" altLang="ko-KR" sz="1200" b="1" baseline="0" dirty="0">
                          <a:solidFill>
                            <a:schemeClr val="bg1"/>
                          </a:solidFill>
                          <a:latin typeface="Lato" panose="020F0502020204030203" pitchFamily="34" charset="0"/>
                        </a:rPr>
                        <a:t> </a:t>
                      </a:r>
                      <a:r>
                        <a:rPr lang="en-US" altLang="ko-KR" sz="1200" b="1" dirty="0">
                          <a:solidFill>
                            <a:schemeClr val="bg1"/>
                          </a:solidFill>
                          <a:latin typeface="Lato" panose="020F0502020204030203" pitchFamily="34" charset="0"/>
                        </a:rPr>
                        <a:t>Body Program</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A0112D"/>
                    </a:solidFill>
                  </a:tcPr>
                </a:tc>
                <a:tc>
                  <a:txBody>
                    <a:bodyPr/>
                    <a:lstStyle/>
                    <a:p>
                      <a:pPr algn="ctr" latinLnBrk="1">
                        <a:lnSpc>
                          <a:spcPct val="125000"/>
                        </a:lnSpc>
                      </a:pPr>
                      <a:r>
                        <a:rPr lang="en-US" altLang="ko-KR" sz="1200" b="1" dirty="0">
                          <a:solidFill>
                            <a:schemeClr val="bg1"/>
                          </a:solidFill>
                          <a:latin typeface="Lato" panose="020F0502020204030203" pitchFamily="34" charset="0"/>
                        </a:rPr>
                        <a:t>Fluid</a:t>
                      </a:r>
                      <a:r>
                        <a:rPr lang="en-US" altLang="ko-KR" sz="1200" b="1" baseline="0" dirty="0">
                          <a:solidFill>
                            <a:schemeClr val="bg1"/>
                          </a:solidFill>
                          <a:latin typeface="Lato" panose="020F0502020204030203" pitchFamily="34" charset="0"/>
                        </a:rPr>
                        <a:t> Management Tool</a:t>
                      </a:r>
                      <a:endParaRPr lang="ko-KR" altLang="en-US" sz="1200" b="1" dirty="0">
                        <a:solidFill>
                          <a:schemeClr val="bg1"/>
                        </a:solidFill>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9BFC5"/>
                    </a:solidFill>
                  </a:tcPr>
                </a:tc>
                <a:extLst>
                  <a:ext uri="{0D108BD9-81ED-4DB2-BD59-A6C34878D82A}">
                    <a16:rowId xmlns:a16="http://schemas.microsoft.com/office/drawing/2014/main" val="10000"/>
                  </a:ext>
                </a:extLst>
              </a:tr>
              <a:tr h="1514817">
                <a:tc>
                  <a:txBody>
                    <a:bodyPr/>
                    <a:lstStyle/>
                    <a:p>
                      <a:pPr algn="ctr" latinLnBrk="1">
                        <a:lnSpc>
                          <a:spcPct val="125000"/>
                        </a:lnSpc>
                      </a:pPr>
                      <a:r>
                        <a:rPr lang="en-US" altLang="ko-KR" sz="1200" b="1" dirty="0">
                          <a:latin typeface="Lato" panose="020F0502020204030203" pitchFamily="34" charset="0"/>
                        </a:rPr>
                        <a:t>Body Water </a:t>
                      </a:r>
                    </a:p>
                    <a:p>
                      <a:pPr algn="ctr" latinLnBrk="1">
                        <a:lnSpc>
                          <a:spcPct val="125000"/>
                        </a:lnSpc>
                      </a:pPr>
                      <a:r>
                        <a:rPr lang="en-US" altLang="ko-KR" sz="1200" b="1" dirty="0">
                          <a:latin typeface="Lato" panose="020F0502020204030203" pitchFamily="34" charset="0"/>
                        </a:rPr>
                        <a:t>Management</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latinLnBrk="0">
                        <a:lnSpc>
                          <a:spcPct val="125000"/>
                        </a:lnSpc>
                      </a:pPr>
                      <a:r>
                        <a:rPr lang="en-US" altLang="ko-KR" sz="1200" b="0" kern="1200" dirty="0">
                          <a:solidFill>
                            <a:schemeClr val="tx1"/>
                          </a:solidFill>
                          <a:latin typeface="Lato" panose="020F0502020204030203" pitchFamily="34" charset="0"/>
                          <a:ea typeface="+mn-ea"/>
                          <a:cs typeface="+mn-cs"/>
                        </a:rPr>
                        <a:t>Body Water Results</a:t>
                      </a:r>
                      <a:endParaRPr lang="ko-KR" altLang="en-US" sz="1200" b="0" kern="1200" dirty="0">
                        <a:solidFill>
                          <a:schemeClr val="tx1"/>
                        </a:solidFill>
                        <a:latin typeface="Lato" panose="020F0502020204030203" pitchFamily="34" charset="0"/>
                        <a:ea typeface="+mn-ea"/>
                        <a:cs typeface="+mn-cs"/>
                      </a:endParaRPr>
                    </a:p>
                    <a:p>
                      <a:pPr>
                        <a:lnSpc>
                          <a:spcPct val="125000"/>
                        </a:lnSpc>
                      </a:pPr>
                      <a:r>
                        <a:rPr lang="en-US" altLang="ko-KR" sz="1200" b="0" dirty="0">
                          <a:latin typeface="Lato" panose="020F0502020204030203" pitchFamily="34" charset="0"/>
                        </a:rPr>
                        <a:t>- Provides measurements of Total Body Water, Intracellular Water, Extracellular Water, Body Water Per Body Part, Whole Body Extracellular Water Ratio, and Extracellular Water Ratio Per Body Part</a:t>
                      </a:r>
                    </a:p>
                    <a:p>
                      <a:pPr>
                        <a:lnSpc>
                          <a:spcPct val="125000"/>
                        </a:lnSpc>
                      </a:pPr>
                      <a:r>
                        <a:rPr lang="en-US" altLang="ko-KR" sz="1200" b="0" dirty="0">
                          <a:latin typeface="Lato" panose="020F0502020204030203" pitchFamily="34" charset="0"/>
                        </a:rPr>
                        <a:t>- Current Test</a:t>
                      </a:r>
                      <a:r>
                        <a:rPr lang="en-US" altLang="ko-KR" sz="1200" b="0" baseline="0" dirty="0">
                          <a:latin typeface="Lato" panose="020F0502020204030203" pitchFamily="34" charset="0"/>
                        </a:rPr>
                        <a:t> Result and Previous Test Results on the Screen</a:t>
                      </a:r>
                      <a:endParaRPr lang="en-US" altLang="ko-KR" sz="1200" b="0" dirty="0">
                        <a:latin typeface="Lato" panose="020F0502020204030203" pitchFamily="34" charset="0"/>
                      </a:endParaRPr>
                    </a:p>
                    <a:p>
                      <a:pPr marL="0" marR="0" lvl="0" indent="0" algn="l" defTabSz="914400" rtl="0" eaLnBrk="1" fontAlgn="auto" latinLnBrk="0" hangingPunct="1">
                        <a:lnSpc>
                          <a:spcPct val="125000"/>
                        </a:lnSpc>
                        <a:spcBef>
                          <a:spcPts val="0"/>
                        </a:spcBef>
                        <a:spcAft>
                          <a:spcPts val="0"/>
                        </a:spcAft>
                        <a:buClrTx/>
                        <a:buSzTx/>
                        <a:buFontTx/>
                        <a:buNone/>
                        <a:tabLst/>
                        <a:defRPr/>
                      </a:pPr>
                      <a:r>
                        <a:rPr lang="en-US" altLang="ko-KR" sz="1200" b="0" kern="1200" dirty="0">
                          <a:solidFill>
                            <a:schemeClr val="tx1"/>
                          </a:solidFill>
                          <a:latin typeface="Lato" panose="020F0502020204030203" pitchFamily="34" charset="0"/>
                          <a:ea typeface="+mn-ea"/>
                          <a:cs typeface="+mn-cs"/>
                        </a:rPr>
                        <a:t>- Standard Range, </a:t>
                      </a:r>
                      <a:r>
                        <a:rPr lang="en-US" altLang="ko-KR" sz="1200" b="0" dirty="0">
                          <a:latin typeface="Lato" panose="020F0502020204030203" pitchFamily="34" charset="0"/>
                        </a:rPr>
                        <a:t>Comparison with previous measurements</a:t>
                      </a:r>
                    </a:p>
                    <a:p>
                      <a:pPr>
                        <a:lnSpc>
                          <a:spcPct val="125000"/>
                        </a:lnSpc>
                      </a:pPr>
                      <a:r>
                        <a:rPr lang="en-US" altLang="ko-KR" sz="1200" b="0" dirty="0">
                          <a:latin typeface="Lato" panose="020F0502020204030203" pitchFamily="34" charset="0"/>
                        </a:rPr>
                        <a:t>- A feature of</a:t>
                      </a:r>
                      <a:r>
                        <a:rPr lang="en-US" altLang="ko-KR" sz="1200" b="0" baseline="0" dirty="0">
                          <a:latin typeface="Lato" panose="020F0502020204030203" pitchFamily="34" charset="0"/>
                        </a:rPr>
                        <a:t> </a:t>
                      </a:r>
                      <a:r>
                        <a:rPr lang="en-US" altLang="ko-KR" sz="1200" b="0" dirty="0">
                          <a:latin typeface="Lato" panose="020F0502020204030203" pitchFamily="34" charset="0"/>
                        </a:rPr>
                        <a:t>separate data into pre-, mid-, and post-dialysis sessions.</a:t>
                      </a:r>
                      <a:endParaRPr lang="ko-KR" altLang="en-US" sz="1200" b="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latinLnBrk="0">
                        <a:lnSpc>
                          <a:spcPct val="125000"/>
                        </a:lnSpc>
                      </a:pPr>
                      <a:r>
                        <a:rPr lang="en-US" sz="1200" b="1" kern="1200" dirty="0" err="1">
                          <a:solidFill>
                            <a:schemeClr val="tx1"/>
                          </a:solidFill>
                          <a:latin typeface="Lato" panose="020F0502020204030203" pitchFamily="34" charset="0"/>
                          <a:ea typeface="+mn-ea"/>
                          <a:cs typeface="+mn-cs"/>
                        </a:rPr>
                        <a:t>Overhydration</a:t>
                      </a:r>
                      <a:r>
                        <a:rPr lang="en-US" sz="1200" b="1" kern="1200" dirty="0">
                          <a:solidFill>
                            <a:schemeClr val="tx1"/>
                          </a:solidFill>
                          <a:latin typeface="Lato" panose="020F0502020204030203" pitchFamily="34" charset="0"/>
                          <a:ea typeface="+mn-ea"/>
                          <a:cs typeface="+mn-cs"/>
                        </a:rPr>
                        <a:t> time plot</a:t>
                      </a:r>
                      <a:endParaRPr lang="ko-KR" altLang="en-US" sz="1200" kern="1200" dirty="0">
                        <a:solidFill>
                          <a:schemeClr val="tx1"/>
                        </a:solidFill>
                        <a:latin typeface="Lato" panose="020F0502020204030203" pitchFamily="34" charset="0"/>
                        <a:ea typeface="+mn-ea"/>
                        <a:cs typeface="+mn-cs"/>
                      </a:endParaRPr>
                    </a:p>
                    <a:p>
                      <a:pPr lvl="0" latinLnBrk="0">
                        <a:lnSpc>
                          <a:spcPct val="125000"/>
                        </a:lnSpc>
                      </a:pPr>
                      <a:r>
                        <a:rPr lang="en-US" sz="1200" kern="1200" dirty="0">
                          <a:solidFill>
                            <a:schemeClr val="tx1"/>
                          </a:solidFill>
                          <a:latin typeface="Lato" panose="020F0502020204030203" pitchFamily="34" charset="0"/>
                          <a:ea typeface="+mn-ea"/>
                          <a:cs typeface="+mn-cs"/>
                        </a:rPr>
                        <a:t>- Provides</a:t>
                      </a:r>
                      <a:r>
                        <a:rPr lang="en-US" sz="1200" kern="1200" baseline="0" dirty="0">
                          <a:solidFill>
                            <a:schemeClr val="tx1"/>
                          </a:solidFill>
                          <a:latin typeface="Lato" panose="020F0502020204030203" pitchFamily="34" charset="0"/>
                          <a:ea typeface="+mn-ea"/>
                          <a:cs typeface="+mn-cs"/>
                        </a:rPr>
                        <a:t> a cumulative graph of </a:t>
                      </a:r>
                      <a:r>
                        <a:rPr lang="en-US" sz="1200" kern="1200" dirty="0" err="1">
                          <a:solidFill>
                            <a:schemeClr val="tx1"/>
                          </a:solidFill>
                          <a:latin typeface="Lato" panose="020F0502020204030203" pitchFamily="34" charset="0"/>
                          <a:ea typeface="+mn-ea"/>
                          <a:cs typeface="+mn-cs"/>
                        </a:rPr>
                        <a:t>Overhydration</a:t>
                      </a:r>
                      <a:r>
                        <a:rPr lang="ko-KR" altLang="en-US" sz="1200" kern="1200" dirty="0">
                          <a:solidFill>
                            <a:schemeClr val="tx1"/>
                          </a:solidFill>
                          <a:latin typeface="Lato" panose="020F0502020204030203" pitchFamily="34" charset="0"/>
                          <a:ea typeface="+mn-ea"/>
                          <a:cs typeface="+mn-cs"/>
                        </a:rPr>
                        <a:t> </a:t>
                      </a:r>
                      <a:r>
                        <a:rPr lang="en-US" altLang="ko-KR" sz="1200" kern="1200" dirty="0">
                          <a:solidFill>
                            <a:schemeClr val="tx1"/>
                          </a:solidFill>
                          <a:latin typeface="Lato" panose="020F0502020204030203" pitchFamily="34" charset="0"/>
                          <a:ea typeface="+mn-ea"/>
                          <a:cs typeface="+mn-cs"/>
                        </a:rPr>
                        <a:t>volume</a:t>
                      </a:r>
                      <a:endParaRPr lang="ko-KR" altLang="en-US" sz="1200" kern="1200" dirty="0">
                        <a:solidFill>
                          <a:schemeClr val="tx1"/>
                        </a:solidFill>
                        <a:latin typeface="Lato" panose="020F0502020204030203" pitchFamily="34" charset="0"/>
                        <a:ea typeface="+mn-ea"/>
                        <a:cs typeface="+mn-cs"/>
                      </a:endParaRPr>
                    </a:p>
                    <a:p>
                      <a:pPr>
                        <a:lnSpc>
                          <a:spcPct val="125000"/>
                        </a:lnSpc>
                      </a:pPr>
                      <a:r>
                        <a:rPr lang="en-US" altLang="ko-KR" sz="1200" kern="1200" dirty="0">
                          <a:solidFill>
                            <a:schemeClr val="tx1"/>
                          </a:solidFill>
                          <a:latin typeface="Lato" panose="020F0502020204030203" pitchFamily="34" charset="0"/>
                          <a:ea typeface="+mn-ea"/>
                          <a:cs typeface="+mn-cs"/>
                        </a:rPr>
                        <a:t>- A comparison</a:t>
                      </a:r>
                      <a:r>
                        <a:rPr lang="en-US" altLang="ko-KR" sz="1200" kern="1200" baseline="0" dirty="0">
                          <a:solidFill>
                            <a:schemeClr val="tx1"/>
                          </a:solidFill>
                          <a:latin typeface="Lato" panose="020F0502020204030203" pitchFamily="34" charset="0"/>
                          <a:ea typeface="+mn-ea"/>
                          <a:cs typeface="+mn-cs"/>
                        </a:rPr>
                        <a:t> of normal range for health individuals</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1"/>
                  </a:ext>
                </a:extLst>
              </a:tr>
              <a:tr h="1755444">
                <a:tc>
                  <a:txBody>
                    <a:bodyPr/>
                    <a:lstStyle/>
                    <a:p>
                      <a:pPr algn="ctr" latinLnBrk="1">
                        <a:lnSpc>
                          <a:spcPct val="125000"/>
                        </a:lnSpc>
                      </a:pPr>
                      <a:r>
                        <a:rPr lang="en-US" altLang="ko-KR" sz="1200" b="1" dirty="0">
                          <a:latin typeface="Lato" panose="020F0502020204030203" pitchFamily="34" charset="0"/>
                        </a:rPr>
                        <a:t>Nutrition</a:t>
                      </a:r>
                      <a:r>
                        <a:rPr lang="en-US" altLang="ko-KR" sz="1200" b="1" baseline="0" dirty="0">
                          <a:latin typeface="Lato" panose="020F0502020204030203" pitchFamily="34" charset="0"/>
                        </a:rPr>
                        <a:t> </a:t>
                      </a:r>
                    </a:p>
                    <a:p>
                      <a:pPr algn="ctr" latinLnBrk="1">
                        <a:lnSpc>
                          <a:spcPct val="125000"/>
                        </a:lnSpc>
                      </a:pPr>
                      <a:r>
                        <a:rPr lang="en-US" altLang="ko-KR" sz="1200" b="1" baseline="0" dirty="0">
                          <a:latin typeface="Lato" panose="020F0502020204030203" pitchFamily="34" charset="0"/>
                        </a:rPr>
                        <a:t>Management</a:t>
                      </a:r>
                      <a:endParaRPr lang="en-US" altLang="ko-KR"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latinLnBrk="0">
                        <a:lnSpc>
                          <a:spcPct val="125000"/>
                        </a:lnSpc>
                      </a:pPr>
                      <a:r>
                        <a:rPr lang="en-US" altLang="ko-KR" sz="1200" b="1" kern="1200" dirty="0">
                          <a:solidFill>
                            <a:schemeClr val="tx1"/>
                          </a:solidFill>
                          <a:latin typeface="Lato" panose="020F0502020204030203" pitchFamily="34" charset="0"/>
                          <a:ea typeface="+mn-ea"/>
                          <a:cs typeface="+mn-cs"/>
                        </a:rPr>
                        <a:t>Nutrition Results</a:t>
                      </a:r>
                      <a:endParaRPr lang="ko-KR" altLang="en-US" sz="1200" kern="1200" dirty="0">
                        <a:solidFill>
                          <a:schemeClr val="tx1"/>
                        </a:solidFill>
                        <a:latin typeface="Lato" panose="020F0502020204030203" pitchFamily="34" charset="0"/>
                        <a:ea typeface="+mn-ea"/>
                        <a:cs typeface="+mn-cs"/>
                      </a:endParaRPr>
                    </a:p>
                    <a:p>
                      <a:pPr latinLnBrk="0">
                        <a:lnSpc>
                          <a:spcPct val="125000"/>
                        </a:lnSpc>
                      </a:pPr>
                      <a:r>
                        <a:rPr lang="en-US" altLang="ko-KR" sz="1200" kern="1200" dirty="0">
                          <a:solidFill>
                            <a:schemeClr val="tx1"/>
                          </a:solidFill>
                          <a:latin typeface="Lato" panose="020F0502020204030203" pitchFamily="34" charset="0"/>
                          <a:ea typeface="+mn-ea"/>
                          <a:cs typeface="+mn-cs"/>
                        </a:rPr>
                        <a:t>- Provides measurements of Protein, Lean Body Mass, Muscle Mass, Fat-Free Mass, Mineral Mass, Skeletal Muscle Mass, Body Fat Mass, Muscle Mass/</a:t>
                      </a:r>
                      <a:r>
                        <a:rPr lang="en-US" altLang="ko-KR" sz="1200" kern="1200" baseline="0" dirty="0">
                          <a:solidFill>
                            <a:schemeClr val="tx1"/>
                          </a:solidFill>
                          <a:latin typeface="Lato" panose="020F0502020204030203" pitchFamily="34" charset="0"/>
                          <a:ea typeface="+mn-ea"/>
                          <a:cs typeface="+mn-cs"/>
                        </a:rPr>
                        <a:t>Fat Mass </a:t>
                      </a:r>
                      <a:r>
                        <a:rPr lang="en-US" altLang="ko-KR" sz="1200" kern="1200" dirty="0">
                          <a:solidFill>
                            <a:schemeClr val="tx1"/>
                          </a:solidFill>
                          <a:latin typeface="Lato" panose="020F0502020204030203" pitchFamily="34" charset="0"/>
                          <a:ea typeface="+mn-ea"/>
                          <a:cs typeface="+mn-cs"/>
                        </a:rPr>
                        <a:t>Per Body Part</a:t>
                      </a:r>
                      <a:endParaRPr lang="ko-KR" altLang="en-US" sz="1200" kern="1200" dirty="0">
                        <a:solidFill>
                          <a:schemeClr val="tx1"/>
                        </a:solidFill>
                        <a:latin typeface="Lato" panose="020F0502020204030203" pitchFamily="34" charset="0"/>
                        <a:ea typeface="+mn-ea"/>
                        <a:cs typeface="+mn-cs"/>
                      </a:endParaRPr>
                    </a:p>
                    <a:p>
                      <a:pPr>
                        <a:lnSpc>
                          <a:spcPct val="125000"/>
                        </a:lnSpc>
                      </a:pPr>
                      <a:r>
                        <a:rPr lang="en-US" altLang="ko-KR" sz="1200" b="0" dirty="0">
                          <a:latin typeface="Lato" panose="020F0502020204030203" pitchFamily="34" charset="0"/>
                        </a:rPr>
                        <a:t>- Current Test</a:t>
                      </a:r>
                      <a:r>
                        <a:rPr lang="en-US" altLang="ko-KR" sz="1200" b="0" baseline="0" dirty="0">
                          <a:latin typeface="Lato" panose="020F0502020204030203" pitchFamily="34" charset="0"/>
                        </a:rPr>
                        <a:t> Result and Previous Test Results on the Screen</a:t>
                      </a:r>
                      <a:endParaRPr lang="en-US" altLang="ko-KR" sz="1200" b="0" dirty="0">
                        <a:latin typeface="Lato" panose="020F0502020204030203" pitchFamily="34" charset="0"/>
                      </a:endParaRPr>
                    </a:p>
                    <a:p>
                      <a:pPr marL="0" marR="0" lvl="0" indent="0" algn="l" defTabSz="914400" rtl="0" eaLnBrk="1" fontAlgn="auto" latinLnBrk="0" hangingPunct="1">
                        <a:lnSpc>
                          <a:spcPct val="125000"/>
                        </a:lnSpc>
                        <a:spcBef>
                          <a:spcPts val="0"/>
                        </a:spcBef>
                        <a:spcAft>
                          <a:spcPts val="0"/>
                        </a:spcAft>
                        <a:buClrTx/>
                        <a:buSzTx/>
                        <a:buFontTx/>
                        <a:buNone/>
                        <a:tabLst/>
                        <a:defRPr/>
                      </a:pPr>
                      <a:r>
                        <a:rPr lang="en-US" altLang="ko-KR" sz="1200" b="0" kern="1200" dirty="0">
                          <a:solidFill>
                            <a:schemeClr val="tx1"/>
                          </a:solidFill>
                          <a:latin typeface="Lato" panose="020F0502020204030203" pitchFamily="34" charset="0"/>
                          <a:ea typeface="+mn-ea"/>
                          <a:cs typeface="+mn-cs"/>
                        </a:rPr>
                        <a:t>- Standard Range, </a:t>
                      </a:r>
                      <a:r>
                        <a:rPr lang="en-US" altLang="ko-KR" sz="1200" b="0" dirty="0">
                          <a:latin typeface="Lato" panose="020F0502020204030203" pitchFamily="34" charset="0"/>
                        </a:rPr>
                        <a:t>Comparison with previous measurements</a:t>
                      </a:r>
                    </a:p>
                    <a:p>
                      <a:pPr>
                        <a:lnSpc>
                          <a:spcPct val="125000"/>
                        </a:lnSpc>
                      </a:pPr>
                      <a:r>
                        <a:rPr lang="en-US" altLang="ko-KR" sz="1200" b="0" dirty="0">
                          <a:latin typeface="Lato" panose="020F0502020204030203" pitchFamily="34" charset="0"/>
                        </a:rPr>
                        <a:t>- A feature of</a:t>
                      </a:r>
                      <a:r>
                        <a:rPr lang="en-US" altLang="ko-KR" sz="1200" b="0" baseline="0" dirty="0">
                          <a:latin typeface="Lato" panose="020F0502020204030203" pitchFamily="34" charset="0"/>
                        </a:rPr>
                        <a:t> </a:t>
                      </a:r>
                      <a:r>
                        <a:rPr lang="en-US" altLang="ko-KR" sz="1200" b="0" dirty="0">
                          <a:latin typeface="Lato" panose="020F0502020204030203" pitchFamily="34" charset="0"/>
                        </a:rPr>
                        <a:t>separate data into pre-, mid-, and post-dialysis sessions.</a:t>
                      </a:r>
                      <a:endParaRPr lang="ko-KR" altLang="en-US" sz="1200" b="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latinLnBrk="0">
                        <a:lnSpc>
                          <a:spcPct val="125000"/>
                        </a:lnSpc>
                      </a:pPr>
                      <a:r>
                        <a:rPr lang="en-US" sz="1200" b="1" kern="1200" dirty="0">
                          <a:solidFill>
                            <a:schemeClr val="tx1"/>
                          </a:solidFill>
                          <a:latin typeface="Lato" panose="020F0502020204030203" pitchFamily="34" charset="0"/>
                          <a:ea typeface="+mn-ea"/>
                          <a:cs typeface="+mn-cs"/>
                        </a:rPr>
                        <a:t>Body composition plot</a:t>
                      </a:r>
                      <a:endParaRPr lang="ko-KR" altLang="en-US" sz="1200" kern="1200" dirty="0">
                        <a:solidFill>
                          <a:schemeClr val="tx1"/>
                        </a:solidFill>
                        <a:latin typeface="Lato" panose="020F0502020204030203" pitchFamily="34" charset="0"/>
                        <a:ea typeface="+mn-ea"/>
                        <a:cs typeface="+mn-cs"/>
                      </a:endParaRPr>
                    </a:p>
                    <a:p>
                      <a:pPr>
                        <a:lnSpc>
                          <a:spcPct val="125000"/>
                        </a:lnSpc>
                      </a:pPr>
                      <a:r>
                        <a:rPr lang="en-US" altLang="ko-KR" sz="1200" dirty="0">
                          <a:latin typeface="Lato" panose="020F0502020204030203" pitchFamily="34" charset="0"/>
                        </a:rPr>
                        <a:t>-</a:t>
                      </a:r>
                      <a:r>
                        <a:rPr lang="en-US" altLang="ko-KR" sz="1200" baseline="0" dirty="0">
                          <a:latin typeface="Lato" panose="020F0502020204030203" pitchFamily="34" charset="0"/>
                        </a:rPr>
                        <a:t> </a:t>
                      </a:r>
                      <a:r>
                        <a:rPr lang="en-US" altLang="ko-KR" sz="1200" dirty="0">
                          <a:latin typeface="Lato" panose="020F0502020204030203" pitchFamily="34" charset="0"/>
                        </a:rPr>
                        <a:t>Provides a cumulative graph of Fat Mass, Muscle Mass, and </a:t>
                      </a:r>
                      <a:r>
                        <a:rPr lang="en-US" altLang="ko-KR" sz="1200" dirty="0" err="1">
                          <a:latin typeface="Lato" panose="020F0502020204030203" pitchFamily="34" charset="0"/>
                        </a:rPr>
                        <a:t>Overhydration</a:t>
                      </a:r>
                      <a:r>
                        <a:rPr lang="en-US" altLang="ko-KR" sz="1200" dirty="0">
                          <a:latin typeface="Lato" panose="020F0502020204030203" pitchFamily="34" charset="0"/>
                        </a:rPr>
                        <a:t> volume, along with a display of systolic blood pressure.</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2"/>
                  </a:ext>
                </a:extLst>
              </a:tr>
              <a:tr h="1274189">
                <a:tc>
                  <a:txBody>
                    <a:bodyPr/>
                    <a:lstStyle/>
                    <a:p>
                      <a:pPr algn="ctr" latinLnBrk="1">
                        <a:lnSpc>
                          <a:spcPct val="125000"/>
                        </a:lnSpc>
                      </a:pPr>
                      <a:r>
                        <a:rPr lang="en-US" altLang="ko-KR" sz="1200" b="1" dirty="0">
                          <a:latin typeface="Lato" panose="020F0502020204030203" pitchFamily="34" charset="0"/>
                        </a:rPr>
                        <a:t>DW Settings</a:t>
                      </a:r>
                      <a:endParaRPr lang="ko-KR" altLang="en-US" sz="1200" b="1"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latinLnBrk="0">
                        <a:lnSpc>
                          <a:spcPct val="125000"/>
                        </a:lnSpc>
                      </a:pPr>
                      <a:r>
                        <a:rPr lang="en-US" sz="1200" b="1" kern="1200" dirty="0">
                          <a:solidFill>
                            <a:schemeClr val="tx1"/>
                          </a:solidFill>
                          <a:latin typeface="Lato" panose="020F0502020204030203" pitchFamily="34" charset="0"/>
                          <a:ea typeface="+mn-ea"/>
                          <a:cs typeface="+mn-cs"/>
                        </a:rPr>
                        <a:t>DW </a:t>
                      </a:r>
                      <a:r>
                        <a:rPr lang="en-US" altLang="ko-KR" sz="1200" b="1" kern="1200" dirty="0">
                          <a:solidFill>
                            <a:schemeClr val="tx1"/>
                          </a:solidFill>
                          <a:latin typeface="Lato" panose="020F0502020204030203" pitchFamily="34" charset="0"/>
                          <a:ea typeface="+mn-ea"/>
                          <a:cs typeface="+mn-cs"/>
                        </a:rPr>
                        <a:t>Settings</a:t>
                      </a:r>
                      <a:endParaRPr lang="ko-KR" altLang="en-US" sz="1200" kern="1200" dirty="0">
                        <a:solidFill>
                          <a:schemeClr val="tx1"/>
                        </a:solidFill>
                        <a:latin typeface="Lato" panose="020F0502020204030203" pitchFamily="34" charset="0"/>
                        <a:ea typeface="+mn-ea"/>
                        <a:cs typeface="+mn-cs"/>
                      </a:endParaRPr>
                    </a:p>
                    <a:p>
                      <a:pPr marL="171450" lvl="0" indent="-171450" latinLnBrk="0">
                        <a:lnSpc>
                          <a:spcPct val="125000"/>
                        </a:lnSpc>
                        <a:buFontTx/>
                        <a:buChar char="-"/>
                      </a:pPr>
                      <a:r>
                        <a:rPr lang="en-US" sz="1200" kern="1200" dirty="0">
                          <a:solidFill>
                            <a:schemeClr val="tx1"/>
                          </a:solidFill>
                          <a:latin typeface="Lato" panose="020F0502020204030203" pitchFamily="34" charset="0"/>
                          <a:ea typeface="+mn-ea"/>
                          <a:cs typeface="+mn-cs"/>
                        </a:rPr>
                        <a:t>Provides body</a:t>
                      </a:r>
                      <a:r>
                        <a:rPr lang="en-US" sz="1200" kern="1200" baseline="0" dirty="0">
                          <a:solidFill>
                            <a:schemeClr val="tx1"/>
                          </a:solidFill>
                          <a:latin typeface="Lato" panose="020F0502020204030203" pitchFamily="34" charset="0"/>
                          <a:ea typeface="+mn-ea"/>
                          <a:cs typeface="+mn-cs"/>
                        </a:rPr>
                        <a:t> weight adjustment based on </a:t>
                      </a:r>
                      <a:r>
                        <a:rPr lang="en-US" sz="1200" kern="1200" dirty="0">
                          <a:solidFill>
                            <a:schemeClr val="tx1"/>
                          </a:solidFill>
                          <a:latin typeface="Lato" panose="020F0502020204030203" pitchFamily="34" charset="0"/>
                          <a:ea typeface="+mn-ea"/>
                          <a:cs typeface="+mn-cs"/>
                        </a:rPr>
                        <a:t>ECW/TBW(</a:t>
                      </a:r>
                      <a:r>
                        <a:rPr lang="en-US" altLang="ko-KR" sz="1200" b="0" dirty="0">
                          <a:latin typeface="Lato" panose="020F0502020204030203" pitchFamily="34" charset="0"/>
                        </a:rPr>
                        <a:t>Extracellular Water Ratio)</a:t>
                      </a:r>
                    </a:p>
                    <a:p>
                      <a:pPr marL="171450" marR="0" lvl="0" indent="-171450" algn="l" defTabSz="914400" rtl="0" eaLnBrk="1" fontAlgn="auto" latinLnBrk="0" hangingPunct="1">
                        <a:lnSpc>
                          <a:spcPct val="125000"/>
                        </a:lnSpc>
                        <a:spcBef>
                          <a:spcPts val="0"/>
                        </a:spcBef>
                        <a:spcAft>
                          <a:spcPts val="0"/>
                        </a:spcAft>
                        <a:buClrTx/>
                        <a:buSzTx/>
                        <a:buFontTx/>
                        <a:buChar char="-"/>
                        <a:tabLst/>
                        <a:defRPr/>
                      </a:pPr>
                      <a:r>
                        <a:rPr lang="en-US" altLang="ko-KR" sz="1200" kern="1200" dirty="0">
                          <a:solidFill>
                            <a:schemeClr val="tx1"/>
                          </a:solidFill>
                          <a:latin typeface="Lato" panose="020F0502020204030203" pitchFamily="34" charset="0"/>
                          <a:ea typeface="+mn-ea"/>
                          <a:cs typeface="+mn-cs"/>
                        </a:rPr>
                        <a:t>Provides body</a:t>
                      </a:r>
                      <a:r>
                        <a:rPr lang="en-US" altLang="ko-KR" sz="1200" kern="1200" baseline="0" dirty="0">
                          <a:solidFill>
                            <a:schemeClr val="tx1"/>
                          </a:solidFill>
                          <a:latin typeface="Lato" panose="020F0502020204030203" pitchFamily="34" charset="0"/>
                          <a:ea typeface="+mn-ea"/>
                          <a:cs typeface="+mn-cs"/>
                        </a:rPr>
                        <a:t> weight adjustment based on increase in </a:t>
                      </a:r>
                      <a:r>
                        <a:rPr lang="en-US" altLang="ko-KR" sz="1200" b="0" dirty="0">
                          <a:latin typeface="Lato" panose="020F0502020204030203" pitchFamily="34" charset="0"/>
                        </a:rPr>
                        <a:t>Extracellular Water per</a:t>
                      </a:r>
                      <a:r>
                        <a:rPr lang="en-US" altLang="ko-KR" sz="1200" b="0" baseline="0" dirty="0">
                          <a:latin typeface="Lato" panose="020F0502020204030203" pitchFamily="34" charset="0"/>
                        </a:rPr>
                        <a:t> body weight</a:t>
                      </a:r>
                    </a:p>
                    <a:p>
                      <a:pPr marL="171450" marR="0" lvl="0" indent="-171450" algn="l" defTabSz="914400" rtl="0" eaLnBrk="1" fontAlgn="auto" latinLnBrk="0" hangingPunct="1">
                        <a:lnSpc>
                          <a:spcPct val="125000"/>
                        </a:lnSpc>
                        <a:spcBef>
                          <a:spcPts val="0"/>
                        </a:spcBef>
                        <a:spcAft>
                          <a:spcPts val="0"/>
                        </a:spcAft>
                        <a:buClrTx/>
                        <a:buSzTx/>
                        <a:buFontTx/>
                        <a:buChar char="-"/>
                        <a:tabLst/>
                        <a:defRPr/>
                      </a:pPr>
                      <a:r>
                        <a:rPr lang="en-US" altLang="ko-KR" sz="1200" b="0" kern="1200" baseline="0" dirty="0">
                          <a:solidFill>
                            <a:schemeClr val="tx1"/>
                          </a:solidFill>
                          <a:latin typeface="Lato" panose="020F0502020204030203" pitchFamily="34" charset="0"/>
                          <a:ea typeface="+mn-ea"/>
                          <a:cs typeface="+mn-cs"/>
                        </a:rPr>
                        <a:t>Comparison of </a:t>
                      </a:r>
                      <a:r>
                        <a:rPr lang="en-US" altLang="ko-KR" sz="1200" kern="1200" dirty="0">
                          <a:solidFill>
                            <a:schemeClr val="tx1"/>
                          </a:solidFill>
                          <a:latin typeface="Lato" panose="020F0502020204030203" pitchFamily="34" charset="0"/>
                          <a:ea typeface="+mn-ea"/>
                          <a:cs typeface="+mn-cs"/>
                        </a:rPr>
                        <a:t>Congestion Time Ratio (CTR), </a:t>
                      </a:r>
                      <a:r>
                        <a:rPr lang="en-US" altLang="ko-KR" sz="1200" kern="1200" dirty="0" err="1">
                          <a:solidFill>
                            <a:schemeClr val="tx1"/>
                          </a:solidFill>
                          <a:latin typeface="Lato" panose="020F0502020204030203" pitchFamily="34" charset="0"/>
                          <a:ea typeface="+mn-ea"/>
                          <a:cs typeface="+mn-cs"/>
                        </a:rPr>
                        <a:t>hANP</a:t>
                      </a:r>
                      <a:r>
                        <a:rPr lang="en-US" altLang="ko-KR" sz="1200" kern="1200" dirty="0">
                          <a:solidFill>
                            <a:schemeClr val="tx1"/>
                          </a:solidFill>
                          <a:latin typeface="Lato" panose="020F0502020204030203" pitchFamily="34" charset="0"/>
                          <a:ea typeface="+mn-ea"/>
                          <a:cs typeface="+mn-cs"/>
                        </a:rPr>
                        <a:t>, and ECW/TBW for indication of edema</a:t>
                      </a:r>
                    </a:p>
                    <a:p>
                      <a:pPr marL="171450" marR="0" lvl="0" indent="-171450" algn="l" defTabSz="914400" rtl="0" eaLnBrk="1" fontAlgn="auto" latinLnBrk="0" hangingPunct="1">
                        <a:lnSpc>
                          <a:spcPct val="125000"/>
                        </a:lnSpc>
                        <a:spcBef>
                          <a:spcPts val="0"/>
                        </a:spcBef>
                        <a:spcAft>
                          <a:spcPts val="0"/>
                        </a:spcAft>
                        <a:buClrTx/>
                        <a:buSzTx/>
                        <a:buFontTx/>
                        <a:buChar char="-"/>
                        <a:tabLst/>
                        <a:defRPr/>
                      </a:pPr>
                      <a:r>
                        <a:rPr lang="en-US" altLang="ko-KR" sz="1200" kern="1200" dirty="0">
                          <a:solidFill>
                            <a:schemeClr val="tx1"/>
                          </a:solidFill>
                          <a:latin typeface="Lato" panose="020F0502020204030203" pitchFamily="34" charset="0"/>
                          <a:ea typeface="+mn-ea"/>
                          <a:cs typeface="+mn-cs"/>
                        </a:rPr>
                        <a:t>Includes cumulative function for setting Dry Weight (DW) by</a:t>
                      </a:r>
                      <a:r>
                        <a:rPr lang="en-US" altLang="ko-KR" sz="1200" kern="1200" baseline="0" dirty="0">
                          <a:solidFill>
                            <a:schemeClr val="tx1"/>
                          </a:solidFill>
                          <a:latin typeface="Lato" panose="020F0502020204030203" pitchFamily="34" charset="0"/>
                          <a:ea typeface="+mn-ea"/>
                          <a:cs typeface="+mn-cs"/>
                        </a:rPr>
                        <a:t> a  </a:t>
                      </a:r>
                      <a:r>
                        <a:rPr lang="en-US" altLang="ko-KR" sz="1200" kern="1200" dirty="0">
                          <a:solidFill>
                            <a:schemeClr val="tx1"/>
                          </a:solidFill>
                          <a:latin typeface="Lato" panose="020F0502020204030203" pitchFamily="34" charset="0"/>
                          <a:ea typeface="+mn-ea"/>
                          <a:cs typeface="+mn-cs"/>
                        </a:rPr>
                        <a:t>physician, and comparison of post-dialysis weight with DW.</a:t>
                      </a:r>
                    </a:p>
                    <a:p>
                      <a:pPr marL="171450" marR="0" lvl="0" indent="-171450" algn="l" defTabSz="914400" rtl="0" eaLnBrk="1" fontAlgn="auto" latinLnBrk="0" hangingPunct="1">
                        <a:lnSpc>
                          <a:spcPct val="125000"/>
                        </a:lnSpc>
                        <a:spcBef>
                          <a:spcPts val="0"/>
                        </a:spcBef>
                        <a:spcAft>
                          <a:spcPts val="0"/>
                        </a:spcAft>
                        <a:buClrTx/>
                        <a:buSzTx/>
                        <a:buFontTx/>
                        <a:buChar char="-"/>
                        <a:tabLst/>
                        <a:defRPr/>
                      </a:pPr>
                      <a:r>
                        <a:rPr lang="en-US" altLang="ko-KR" sz="1200" kern="1200" dirty="0">
                          <a:solidFill>
                            <a:schemeClr val="tx1"/>
                          </a:solidFill>
                          <a:latin typeface="Lato" panose="020F0502020204030203" pitchFamily="34" charset="0"/>
                          <a:ea typeface="+mn-ea"/>
                          <a:cs typeface="+mn-cs"/>
                        </a:rPr>
                        <a:t>Management of reference data for DW setting and blood data. </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latinLnBrk="0">
                        <a:lnSpc>
                          <a:spcPct val="125000"/>
                        </a:lnSpc>
                      </a:pPr>
                      <a:r>
                        <a:rPr lang="en-US" sz="1200" b="1" kern="1200" dirty="0">
                          <a:solidFill>
                            <a:schemeClr val="tx1"/>
                          </a:solidFill>
                          <a:latin typeface="Lato" panose="020F0502020204030203" pitchFamily="34" charset="0"/>
                          <a:ea typeface="+mn-ea"/>
                          <a:cs typeface="+mn-cs"/>
                        </a:rPr>
                        <a:t>Hydration Reference plot</a:t>
                      </a:r>
                      <a:endParaRPr lang="ko-KR" altLang="en-US" sz="1200" kern="1200" dirty="0">
                        <a:solidFill>
                          <a:schemeClr val="tx1"/>
                        </a:solidFill>
                        <a:latin typeface="Lato" panose="020F0502020204030203" pitchFamily="34" charset="0"/>
                        <a:ea typeface="+mn-ea"/>
                        <a:cs typeface="+mn-cs"/>
                      </a:endParaRPr>
                    </a:p>
                    <a:p>
                      <a:pPr marL="0" indent="0">
                        <a:lnSpc>
                          <a:spcPct val="125000"/>
                        </a:lnSpc>
                        <a:buFontTx/>
                        <a:buNone/>
                      </a:pPr>
                      <a:r>
                        <a:rPr lang="en-US" altLang="ko-KR" sz="1200" dirty="0">
                          <a:latin typeface="Lato" panose="020F0502020204030203" pitchFamily="34" charset="0"/>
                        </a:rPr>
                        <a:t>- Provides a comparison between </a:t>
                      </a:r>
                      <a:r>
                        <a:rPr lang="en-US" altLang="ko-KR" sz="1200" dirty="0" err="1">
                          <a:latin typeface="Lato" panose="020F0502020204030203" pitchFamily="34" charset="0"/>
                        </a:rPr>
                        <a:t>Overhydration</a:t>
                      </a:r>
                      <a:r>
                        <a:rPr lang="en-US" altLang="ko-KR" sz="1200" dirty="0">
                          <a:latin typeface="Lato" panose="020F0502020204030203" pitchFamily="34" charset="0"/>
                        </a:rPr>
                        <a:t> and systolic blood pressure</a:t>
                      </a:r>
                    </a:p>
                    <a:p>
                      <a:pPr marL="0" indent="0">
                        <a:lnSpc>
                          <a:spcPct val="125000"/>
                        </a:lnSpc>
                        <a:buFontTx/>
                        <a:buNone/>
                      </a:pPr>
                      <a:r>
                        <a:rPr lang="en-US" altLang="ko-KR" sz="1200" dirty="0">
                          <a:latin typeface="Lato" panose="020F0502020204030203" pitchFamily="34" charset="0"/>
                        </a:rPr>
                        <a:t>- Comparison</a:t>
                      </a:r>
                      <a:r>
                        <a:rPr lang="en-US" altLang="ko-KR" sz="1200" baseline="0" dirty="0">
                          <a:latin typeface="Lato" panose="020F0502020204030203" pitchFamily="34" charset="0"/>
                        </a:rPr>
                        <a:t> of </a:t>
                      </a:r>
                      <a:r>
                        <a:rPr lang="en-US" altLang="ko-KR" sz="1200" dirty="0">
                          <a:latin typeface="Lato" panose="020F0502020204030203" pitchFamily="34" charset="0"/>
                        </a:rPr>
                        <a:t>normal ranges</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3"/>
                  </a:ext>
                </a:extLst>
              </a:tr>
              <a:tr h="311680">
                <a:tc>
                  <a:txBody>
                    <a:bodyPr/>
                    <a:lstStyle/>
                    <a:p>
                      <a:pPr algn="ctr" latinLnBrk="1">
                        <a:lnSpc>
                          <a:spcPct val="125000"/>
                        </a:lnSpc>
                      </a:pPr>
                      <a:r>
                        <a:rPr lang="ko-KR" altLang="en-US" sz="1200" b="1" dirty="0">
                          <a:latin typeface="Lato" panose="020F0502020204030203" pitchFamily="34" charset="0"/>
                        </a:rPr>
                        <a:t>기타 지표</a:t>
                      </a:r>
                      <a:r>
                        <a:rPr lang="en-US" altLang="ko-KR" sz="1200" b="1" dirty="0">
                          <a:latin typeface="Lato" panose="020F0502020204030203" pitchFamily="34" charset="0"/>
                        </a:rPr>
                        <a:t>/</a:t>
                      </a:r>
                      <a:r>
                        <a:rPr lang="ko-KR" altLang="en-US" sz="1200" b="1" dirty="0">
                          <a:latin typeface="Lato" panose="020F0502020204030203" pitchFamily="34" charset="0"/>
                        </a:rPr>
                        <a:t>입력 기능</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F4F4F6"/>
                    </a:solidFill>
                  </a:tcPr>
                </a:tc>
                <a:tc>
                  <a:txBody>
                    <a:bodyPr/>
                    <a:lstStyle/>
                    <a:p>
                      <a:pPr algn="l" latinLnBrk="1">
                        <a:lnSpc>
                          <a:spcPct val="125000"/>
                        </a:lnSpc>
                      </a:pPr>
                      <a:r>
                        <a:rPr lang="en-US" altLang="ko-KR" sz="1200" dirty="0">
                          <a:latin typeface="Lato" panose="020F0502020204030203" pitchFamily="34" charset="0"/>
                        </a:rPr>
                        <a:t>- </a:t>
                      </a:r>
                      <a:r>
                        <a:rPr lang="en-US" altLang="ko-KR" sz="1200" baseline="0" dirty="0">
                          <a:latin typeface="Lato" panose="020F0502020204030203" pitchFamily="34" charset="0"/>
                        </a:rPr>
                        <a:t> </a:t>
                      </a:r>
                      <a:r>
                        <a:rPr lang="en-US" altLang="ko-KR" sz="1200" dirty="0">
                          <a:latin typeface="Lato" panose="020F0502020204030203" pitchFamily="34" charset="0"/>
                        </a:rPr>
                        <a:t>Management of data references for DW</a:t>
                      </a:r>
                      <a:r>
                        <a:rPr lang="en-US" altLang="ko-KR" sz="1200" baseline="0" dirty="0">
                          <a:latin typeface="Lato" panose="020F0502020204030203" pitchFamily="34" charset="0"/>
                        </a:rPr>
                        <a:t> setting / Blood Data</a:t>
                      </a: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pPr algn="ctr" latinLnBrk="1">
                        <a:lnSpc>
                          <a:spcPct val="125000"/>
                        </a:lnSpc>
                      </a:pPr>
                      <a:endParaRPr lang="ko-KR" altLang="en-US" sz="1200" dirty="0">
                        <a:latin typeface="Lato" panose="020F0502020204030203" pitchFamily="34" charset="0"/>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3520977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655F5-BA32-4D25-B17E-84205AFBF880}"/>
              </a:ext>
            </a:extLst>
          </p:cNvPr>
          <p:cNvSpPr txBox="1"/>
          <p:nvPr/>
        </p:nvSpPr>
        <p:spPr>
          <a:xfrm>
            <a:off x="102887" y="210490"/>
            <a:ext cx="489392" cy="400110"/>
          </a:xfrm>
          <a:prstGeom prst="rect">
            <a:avLst/>
          </a:prstGeom>
          <a:noFill/>
        </p:spPr>
        <p:txBody>
          <a:bodyPr wrap="square" rtlCol="0">
            <a:spAutoFit/>
          </a:bodyPr>
          <a:lstStyle/>
          <a:p>
            <a:r>
              <a:rPr lang="en-US" altLang="ko-KR" sz="20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06</a:t>
            </a:r>
            <a:endParaRPr lang="ko-KR" altLang="en-US" sz="20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 name="TextBox 2">
            <a:extLst>
              <a:ext uri="{FF2B5EF4-FFF2-40B4-BE49-F238E27FC236}">
                <a16:creationId xmlns:a16="http://schemas.microsoft.com/office/drawing/2014/main" id="{3487C0D9-8F95-1C56-5E27-00957AD86127}"/>
              </a:ext>
            </a:extLst>
          </p:cNvPr>
          <p:cNvSpPr txBox="1"/>
          <p:nvPr/>
        </p:nvSpPr>
        <p:spPr>
          <a:xfrm>
            <a:off x="569847" y="222320"/>
            <a:ext cx="3015908" cy="400110"/>
          </a:xfrm>
          <a:prstGeom prst="rect">
            <a:avLst/>
          </a:prstGeom>
          <a:noFill/>
        </p:spPr>
        <p:txBody>
          <a:bodyPr wrap="square" rtlCol="0">
            <a:spAutoFit/>
          </a:bodyPr>
          <a:lstStyle/>
          <a:p>
            <a:r>
              <a:rPr lang="en-US" altLang="ko-KR" sz="2000" dirty="0">
                <a:solidFill>
                  <a:srgbClr val="3A3A38"/>
                </a:solidFill>
                <a:latin typeface="에스코어 드림 6 Bold" panose="020B0703030302020204" pitchFamily="34" charset="-127"/>
                <a:ea typeface="에스코어 드림 6 Bold" panose="020B0703030302020204" pitchFamily="34" charset="-127"/>
              </a:rPr>
              <a:t>BWA2.0 vs BCM</a:t>
            </a:r>
            <a:endParaRPr lang="ko-KR" altLang="en-US" sz="2000" dirty="0">
              <a:solidFill>
                <a:srgbClr val="3A3A38"/>
              </a:solidFill>
              <a:latin typeface="에스코어 드림 6 Bold" panose="020B0703030302020204" pitchFamily="34" charset="-127"/>
              <a:ea typeface="에스코어 드림 6 Bold" panose="020B0703030302020204" pitchFamily="34" charset="-127"/>
            </a:endParaRPr>
          </a:p>
        </p:txBody>
      </p:sp>
      <p:sp>
        <p:nvSpPr>
          <p:cNvPr id="4" name="TextBox 3">
            <a:extLst>
              <a:ext uri="{FF2B5EF4-FFF2-40B4-BE49-F238E27FC236}">
                <a16:creationId xmlns:a16="http://schemas.microsoft.com/office/drawing/2014/main" id="{C57AE246-53E3-9198-6E2D-B40452D4B77F}"/>
              </a:ext>
            </a:extLst>
          </p:cNvPr>
          <p:cNvSpPr txBox="1"/>
          <p:nvPr/>
        </p:nvSpPr>
        <p:spPr>
          <a:xfrm>
            <a:off x="569847" y="638381"/>
            <a:ext cx="1697865" cy="338554"/>
          </a:xfrm>
          <a:prstGeom prst="rect">
            <a:avLst/>
          </a:prstGeom>
          <a:noFill/>
        </p:spPr>
        <p:txBody>
          <a:bodyPr wrap="square" rtlCol="0">
            <a:spAutoFit/>
          </a:bodyPr>
          <a:lstStyle/>
          <a:p>
            <a:r>
              <a:rPr lang="en-US" altLang="ko-KR" sz="1600" dirty="0">
                <a:solidFill>
                  <a:srgbClr val="A0112D"/>
                </a:solidFill>
                <a:latin typeface="Lato" panose="020F0502020204030203" pitchFamily="34" charset="0"/>
                <a:ea typeface="Lato" panose="020F0502020204030203" pitchFamily="34" charset="0"/>
                <a:cs typeface="Lato" panose="020F0502020204030203" pitchFamily="34" charset="0"/>
              </a:rPr>
              <a:t>Summary</a:t>
            </a:r>
          </a:p>
        </p:txBody>
      </p:sp>
      <p:cxnSp>
        <p:nvCxnSpPr>
          <p:cNvPr id="10" name="직선 연결선 9">
            <a:extLst>
              <a:ext uri="{FF2B5EF4-FFF2-40B4-BE49-F238E27FC236}">
                <a16:creationId xmlns:a16="http://schemas.microsoft.com/office/drawing/2014/main" id="{BDFB2FF6-B21B-22A1-0E33-B7C3D0B46951}"/>
              </a:ext>
            </a:extLst>
          </p:cNvPr>
          <p:cNvCxnSpPr>
            <a:cxnSpLocks/>
            <a:stCxn id="12" idx="6"/>
            <a:endCxn id="16" idx="6"/>
          </p:cNvCxnSpPr>
          <p:nvPr/>
        </p:nvCxnSpPr>
        <p:spPr>
          <a:xfrm>
            <a:off x="871172" y="2056022"/>
            <a:ext cx="0" cy="3395500"/>
          </a:xfrm>
          <a:prstGeom prst="line">
            <a:avLst/>
          </a:prstGeom>
          <a:ln w="31750">
            <a:solidFill>
              <a:srgbClr val="9097A7"/>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EE0AEC73-D9BC-C203-62C2-AAE235333EA2}"/>
              </a:ext>
            </a:extLst>
          </p:cNvPr>
          <p:cNvGrpSpPr/>
          <p:nvPr/>
        </p:nvGrpSpPr>
        <p:grpSpPr>
          <a:xfrm>
            <a:off x="1218197" y="1553723"/>
            <a:ext cx="3690892" cy="883795"/>
            <a:chOff x="-3166140" y="2251723"/>
            <a:chExt cx="2792525" cy="1006408"/>
          </a:xfrm>
        </p:grpSpPr>
        <p:sp>
          <p:nvSpPr>
            <p:cNvPr id="31" name="사각형: 둥근 모서리 30">
              <a:extLst>
                <a:ext uri="{FF2B5EF4-FFF2-40B4-BE49-F238E27FC236}">
                  <a16:creationId xmlns:a16="http://schemas.microsoft.com/office/drawing/2014/main" id="{B3D1B287-23CA-D5EC-E1B7-8975267824AC}"/>
                </a:ext>
              </a:extLst>
            </p:cNvPr>
            <p:cNvSpPr/>
            <p:nvPr/>
          </p:nvSpPr>
          <p:spPr>
            <a:xfrm rot="5400000">
              <a:off x="-2270497" y="1407476"/>
              <a:ext cx="1006408"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32" name="그룹 31">
              <a:extLst>
                <a:ext uri="{FF2B5EF4-FFF2-40B4-BE49-F238E27FC236}">
                  <a16:creationId xmlns:a16="http://schemas.microsoft.com/office/drawing/2014/main" id="{09ED2D11-8D06-3E3F-9DD9-A0C58689D8F5}"/>
                </a:ext>
              </a:extLst>
            </p:cNvPr>
            <p:cNvGrpSpPr/>
            <p:nvPr/>
          </p:nvGrpSpPr>
          <p:grpSpPr>
            <a:xfrm rot="16200000">
              <a:off x="-2155269" y="1363793"/>
              <a:ext cx="770784" cy="2792525"/>
              <a:chOff x="-667702" y="1249712"/>
              <a:chExt cx="770784" cy="2297959"/>
            </a:xfrm>
          </p:grpSpPr>
          <p:sp>
            <p:nvSpPr>
              <p:cNvPr id="33" name="TextBox 32">
                <a:extLst>
                  <a:ext uri="{FF2B5EF4-FFF2-40B4-BE49-F238E27FC236}">
                    <a16:creationId xmlns:a16="http://schemas.microsoft.com/office/drawing/2014/main" id="{F2BE7FD2-353F-316D-3CFF-055321333BA0}"/>
                  </a:ext>
                </a:extLst>
              </p:cNvPr>
              <p:cNvSpPr txBox="1"/>
              <p:nvPr/>
            </p:nvSpPr>
            <p:spPr>
              <a:xfrm rot="5400000">
                <a:off x="-1575201" y="2157211"/>
                <a:ext cx="2297959" cy="482962"/>
              </a:xfrm>
              <a:prstGeom prst="rect">
                <a:avLst/>
              </a:prstGeom>
              <a:noFill/>
            </p:spPr>
            <p:txBody>
              <a:bodyPr wrap="square" rtlCol="0" anchor="ctr" anchorCtr="0">
                <a:noAutofit/>
              </a:bodyPr>
              <a:lstStyle/>
              <a:p>
                <a:pPr algn="ctr"/>
                <a:r>
                  <a:rPr lang="en-US" altLang="ko-KR"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rPr>
                  <a:t>Lower Limb Measurement</a:t>
                </a:r>
                <a:endParaRPr lang="ko-KR" altLang="en-US"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endParaRPr>
              </a:p>
            </p:txBody>
          </p:sp>
          <p:sp>
            <p:nvSpPr>
              <p:cNvPr id="34" name="사각형: 둥근 모서리 33">
                <a:extLst>
                  <a:ext uri="{FF2B5EF4-FFF2-40B4-BE49-F238E27FC236}">
                    <a16:creationId xmlns:a16="http://schemas.microsoft.com/office/drawing/2014/main" id="{AD6D2A01-11B9-A750-2C20-38B2F66E985A}"/>
                  </a:ext>
                </a:extLst>
              </p:cNvPr>
              <p:cNvSpPr/>
              <p:nvPr/>
            </p:nvSpPr>
            <p:spPr>
              <a:xfrm rot="5400000">
                <a:off x="-229937" y="2268593"/>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1</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sp>
        <p:nvSpPr>
          <p:cNvPr id="12" name="타원 11">
            <a:extLst>
              <a:ext uri="{FF2B5EF4-FFF2-40B4-BE49-F238E27FC236}">
                <a16:creationId xmlns:a16="http://schemas.microsoft.com/office/drawing/2014/main" id="{294D8A04-53D4-DC60-918F-741B96C1C0DB}"/>
              </a:ext>
            </a:extLst>
          </p:cNvPr>
          <p:cNvSpPr/>
          <p:nvPr/>
        </p:nvSpPr>
        <p:spPr>
          <a:xfrm rot="5400000">
            <a:off x="810769" y="1935215"/>
            <a:ext cx="120807" cy="120807"/>
          </a:xfrm>
          <a:prstGeom prst="ellipse">
            <a:avLst/>
          </a:prstGeom>
          <a:solidFill>
            <a:srgbClr val="9E0B28"/>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solidFill>
                <a:srgbClr val="4472C4"/>
              </a:solidFill>
            </a:endParaRPr>
          </a:p>
        </p:txBody>
      </p:sp>
      <p:grpSp>
        <p:nvGrpSpPr>
          <p:cNvPr id="13" name="그룹 12">
            <a:extLst>
              <a:ext uri="{FF2B5EF4-FFF2-40B4-BE49-F238E27FC236}">
                <a16:creationId xmlns:a16="http://schemas.microsoft.com/office/drawing/2014/main" id="{8F1A3DCB-77F9-FCA0-E026-0F0B6EB76EF6}"/>
              </a:ext>
            </a:extLst>
          </p:cNvPr>
          <p:cNvGrpSpPr/>
          <p:nvPr/>
        </p:nvGrpSpPr>
        <p:grpSpPr>
          <a:xfrm>
            <a:off x="1218203" y="2675865"/>
            <a:ext cx="3690892" cy="883797"/>
            <a:chOff x="-3166137" y="4079733"/>
            <a:chExt cx="2792525" cy="1006410"/>
          </a:xfrm>
        </p:grpSpPr>
        <p:sp>
          <p:nvSpPr>
            <p:cNvPr id="27" name="사각형: 둥근 모서리 26">
              <a:extLst>
                <a:ext uri="{FF2B5EF4-FFF2-40B4-BE49-F238E27FC236}">
                  <a16:creationId xmlns:a16="http://schemas.microsoft.com/office/drawing/2014/main" id="{109C36D5-5121-2AA9-825A-1A94054D08A3}"/>
                </a:ext>
              </a:extLst>
            </p:cNvPr>
            <p:cNvSpPr/>
            <p:nvPr/>
          </p:nvSpPr>
          <p:spPr>
            <a:xfrm rot="5400000">
              <a:off x="-2270500" y="3235487"/>
              <a:ext cx="1006410"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28" name="그룹 27">
              <a:extLst>
                <a:ext uri="{FF2B5EF4-FFF2-40B4-BE49-F238E27FC236}">
                  <a16:creationId xmlns:a16="http://schemas.microsoft.com/office/drawing/2014/main" id="{297A0AC1-8E17-1CDF-D7D9-62F38B0D4B9C}"/>
                </a:ext>
              </a:extLst>
            </p:cNvPr>
            <p:cNvGrpSpPr/>
            <p:nvPr/>
          </p:nvGrpSpPr>
          <p:grpSpPr>
            <a:xfrm rot="16200000">
              <a:off x="-2155267" y="3191805"/>
              <a:ext cx="770785" cy="2792525"/>
              <a:chOff x="-523632" y="4019047"/>
              <a:chExt cx="770785" cy="2297959"/>
            </a:xfrm>
          </p:grpSpPr>
          <p:sp>
            <p:nvSpPr>
              <p:cNvPr id="29" name="TextBox 28">
                <a:extLst>
                  <a:ext uri="{FF2B5EF4-FFF2-40B4-BE49-F238E27FC236}">
                    <a16:creationId xmlns:a16="http://schemas.microsoft.com/office/drawing/2014/main" id="{93A9B0D4-754B-4CBA-CF5A-86A726F1E47A}"/>
                  </a:ext>
                </a:extLst>
              </p:cNvPr>
              <p:cNvSpPr txBox="1"/>
              <p:nvPr/>
            </p:nvSpPr>
            <p:spPr>
              <a:xfrm rot="5400000">
                <a:off x="-1431130" y="4926545"/>
                <a:ext cx="2297959" cy="482964"/>
              </a:xfrm>
              <a:prstGeom prst="rect">
                <a:avLst/>
              </a:prstGeom>
              <a:noFill/>
            </p:spPr>
            <p:txBody>
              <a:bodyPr wrap="square" rtlCol="0" anchor="ctr" anchorCtr="0">
                <a:noAutofit/>
              </a:bodyPr>
              <a:lstStyle/>
              <a:p>
                <a:pPr algn="ctr"/>
                <a:r>
                  <a:rPr lang="en-US" altLang="ko-KR"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rPr>
                  <a:t>Patch Electrodes</a:t>
                </a:r>
                <a:endParaRPr lang="ko-KR" altLang="en-US"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endParaRPr>
              </a:p>
            </p:txBody>
          </p:sp>
          <p:sp>
            <p:nvSpPr>
              <p:cNvPr id="30" name="사각형: 둥근 모서리 29">
                <a:extLst>
                  <a:ext uri="{FF2B5EF4-FFF2-40B4-BE49-F238E27FC236}">
                    <a16:creationId xmlns:a16="http://schemas.microsoft.com/office/drawing/2014/main" id="{1C25CA55-046F-72BE-582C-2E79E9A86874}"/>
                  </a:ext>
                </a:extLst>
              </p:cNvPr>
              <p:cNvSpPr/>
              <p:nvPr/>
            </p:nvSpPr>
            <p:spPr>
              <a:xfrm rot="5400000">
                <a:off x="-85866" y="5037925"/>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2</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sp>
        <p:nvSpPr>
          <p:cNvPr id="14" name="타원 13">
            <a:extLst>
              <a:ext uri="{FF2B5EF4-FFF2-40B4-BE49-F238E27FC236}">
                <a16:creationId xmlns:a16="http://schemas.microsoft.com/office/drawing/2014/main" id="{FDFA5ADC-2ABC-AE03-790D-19CAEDB0A2CA}"/>
              </a:ext>
            </a:extLst>
          </p:cNvPr>
          <p:cNvSpPr/>
          <p:nvPr/>
        </p:nvSpPr>
        <p:spPr>
          <a:xfrm rot="5400000">
            <a:off x="810769" y="3057359"/>
            <a:ext cx="120807" cy="120807"/>
          </a:xfrm>
          <a:prstGeom prst="ellipse">
            <a:avLst/>
          </a:prstGeom>
          <a:solidFill>
            <a:srgbClr val="9E0B28"/>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solidFill>
                <a:srgbClr val="4472C4"/>
              </a:solidFill>
            </a:endParaRPr>
          </a:p>
        </p:txBody>
      </p:sp>
      <p:grpSp>
        <p:nvGrpSpPr>
          <p:cNvPr id="15" name="그룹 14">
            <a:extLst>
              <a:ext uri="{FF2B5EF4-FFF2-40B4-BE49-F238E27FC236}">
                <a16:creationId xmlns:a16="http://schemas.microsoft.com/office/drawing/2014/main" id="{9BF70DAD-966C-402F-C029-97C41595837F}"/>
              </a:ext>
            </a:extLst>
          </p:cNvPr>
          <p:cNvGrpSpPr/>
          <p:nvPr/>
        </p:nvGrpSpPr>
        <p:grpSpPr>
          <a:xfrm>
            <a:off x="1218197" y="3783889"/>
            <a:ext cx="3690892" cy="883795"/>
            <a:chOff x="-3166140" y="5906961"/>
            <a:chExt cx="2792525" cy="1006407"/>
          </a:xfrm>
        </p:grpSpPr>
        <p:sp>
          <p:nvSpPr>
            <p:cNvPr id="23" name="사각형: 둥근 모서리 22">
              <a:extLst>
                <a:ext uri="{FF2B5EF4-FFF2-40B4-BE49-F238E27FC236}">
                  <a16:creationId xmlns:a16="http://schemas.microsoft.com/office/drawing/2014/main" id="{C3848C9A-61D7-CAA5-E809-BBD2987D3F39}"/>
                </a:ext>
              </a:extLst>
            </p:cNvPr>
            <p:cNvSpPr/>
            <p:nvPr/>
          </p:nvSpPr>
          <p:spPr>
            <a:xfrm rot="5400000">
              <a:off x="-2270496" y="5062714"/>
              <a:ext cx="1006407"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24" name="그룹 23">
              <a:extLst>
                <a:ext uri="{FF2B5EF4-FFF2-40B4-BE49-F238E27FC236}">
                  <a16:creationId xmlns:a16="http://schemas.microsoft.com/office/drawing/2014/main" id="{448963AB-80F8-F7A2-92A6-D4CF203F258F}"/>
                </a:ext>
              </a:extLst>
            </p:cNvPr>
            <p:cNvGrpSpPr/>
            <p:nvPr/>
          </p:nvGrpSpPr>
          <p:grpSpPr>
            <a:xfrm rot="16200000">
              <a:off x="-2155266" y="5019031"/>
              <a:ext cx="770778" cy="2792525"/>
              <a:chOff x="-378770" y="6788377"/>
              <a:chExt cx="770778" cy="2297959"/>
            </a:xfrm>
          </p:grpSpPr>
          <p:sp>
            <p:nvSpPr>
              <p:cNvPr id="25" name="TextBox 24">
                <a:extLst>
                  <a:ext uri="{FF2B5EF4-FFF2-40B4-BE49-F238E27FC236}">
                    <a16:creationId xmlns:a16="http://schemas.microsoft.com/office/drawing/2014/main" id="{0DE83104-FDB5-4185-5F4C-4B0576FE3BE7}"/>
                  </a:ext>
                </a:extLst>
              </p:cNvPr>
              <p:cNvSpPr txBox="1"/>
              <p:nvPr/>
            </p:nvSpPr>
            <p:spPr>
              <a:xfrm rot="5400000">
                <a:off x="-1286268" y="7695875"/>
                <a:ext cx="2297959" cy="482963"/>
              </a:xfrm>
              <a:prstGeom prst="rect">
                <a:avLst/>
              </a:prstGeom>
              <a:noFill/>
            </p:spPr>
            <p:txBody>
              <a:bodyPr wrap="square" rtlCol="0" anchor="ctr" anchorCtr="0">
                <a:noAutofit/>
              </a:bodyPr>
              <a:lstStyle/>
              <a:p>
                <a:pPr algn="ctr"/>
                <a:r>
                  <a:rPr lang="en-US" altLang="ko-KR"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rPr>
                  <a:t>Experimental Variables </a:t>
                </a:r>
                <a:endParaRPr lang="ko-KR" altLang="en-US"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endParaRPr>
              </a:p>
            </p:txBody>
          </p:sp>
          <p:sp>
            <p:nvSpPr>
              <p:cNvPr id="26" name="사각형: 둥근 모서리 25">
                <a:extLst>
                  <a:ext uri="{FF2B5EF4-FFF2-40B4-BE49-F238E27FC236}">
                    <a16:creationId xmlns:a16="http://schemas.microsoft.com/office/drawing/2014/main" id="{49BE119F-FFE6-DE17-FB2C-3E972A194C72}"/>
                  </a:ext>
                </a:extLst>
              </p:cNvPr>
              <p:cNvSpPr/>
              <p:nvPr/>
            </p:nvSpPr>
            <p:spPr>
              <a:xfrm rot="5400000">
                <a:off x="58989" y="7807256"/>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3</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sp>
        <p:nvSpPr>
          <p:cNvPr id="16" name="타원 15">
            <a:extLst>
              <a:ext uri="{FF2B5EF4-FFF2-40B4-BE49-F238E27FC236}">
                <a16:creationId xmlns:a16="http://schemas.microsoft.com/office/drawing/2014/main" id="{11AEE4F2-5B7C-17AA-A5FD-45D22B1829DF}"/>
              </a:ext>
            </a:extLst>
          </p:cNvPr>
          <p:cNvSpPr/>
          <p:nvPr/>
        </p:nvSpPr>
        <p:spPr>
          <a:xfrm rot="5400000">
            <a:off x="810769" y="5330715"/>
            <a:ext cx="120807" cy="120807"/>
          </a:xfrm>
          <a:prstGeom prst="ellipse">
            <a:avLst/>
          </a:prstGeom>
          <a:solidFill>
            <a:srgbClr val="9E0B28"/>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solidFill>
                <a:srgbClr val="4472C4"/>
              </a:solidFill>
            </a:endParaRPr>
          </a:p>
        </p:txBody>
      </p:sp>
      <p:grpSp>
        <p:nvGrpSpPr>
          <p:cNvPr id="17" name="그룹 16">
            <a:extLst>
              <a:ext uri="{FF2B5EF4-FFF2-40B4-BE49-F238E27FC236}">
                <a16:creationId xmlns:a16="http://schemas.microsoft.com/office/drawing/2014/main" id="{0DFD57F8-FAF2-AE76-8248-A27F26157E15}"/>
              </a:ext>
            </a:extLst>
          </p:cNvPr>
          <p:cNvGrpSpPr/>
          <p:nvPr/>
        </p:nvGrpSpPr>
        <p:grpSpPr>
          <a:xfrm rot="16200000">
            <a:off x="5216811" y="1901274"/>
            <a:ext cx="300064" cy="271459"/>
            <a:chOff x="2061642" y="2996194"/>
            <a:chExt cx="369826" cy="334570"/>
          </a:xfrm>
        </p:grpSpPr>
        <p:sp>
          <p:nvSpPr>
            <p:cNvPr id="21" name="이등변 삼각형 34">
              <a:extLst>
                <a:ext uri="{FF2B5EF4-FFF2-40B4-BE49-F238E27FC236}">
                  <a16:creationId xmlns:a16="http://schemas.microsoft.com/office/drawing/2014/main" id="{54B2A9D5-DD61-42B6-FA0C-62060C59CD59}"/>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이등변 삼각형 34">
              <a:extLst>
                <a:ext uri="{FF2B5EF4-FFF2-40B4-BE49-F238E27FC236}">
                  <a16:creationId xmlns:a16="http://schemas.microsoft.com/office/drawing/2014/main" id="{3A199BA7-EC22-3A7D-D704-3FA8605FC11F}"/>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35" name="그룹 34">
            <a:extLst>
              <a:ext uri="{FF2B5EF4-FFF2-40B4-BE49-F238E27FC236}">
                <a16:creationId xmlns:a16="http://schemas.microsoft.com/office/drawing/2014/main" id="{42F44A38-1A38-9C68-F72F-C51F9347ADD3}"/>
              </a:ext>
            </a:extLst>
          </p:cNvPr>
          <p:cNvGrpSpPr/>
          <p:nvPr/>
        </p:nvGrpSpPr>
        <p:grpSpPr>
          <a:xfrm>
            <a:off x="1218197" y="4894776"/>
            <a:ext cx="3690892" cy="883795"/>
            <a:chOff x="-3166140" y="5906961"/>
            <a:chExt cx="2792525" cy="1006407"/>
          </a:xfrm>
        </p:grpSpPr>
        <p:sp>
          <p:nvSpPr>
            <p:cNvPr id="36" name="사각형: 둥근 모서리 35">
              <a:extLst>
                <a:ext uri="{FF2B5EF4-FFF2-40B4-BE49-F238E27FC236}">
                  <a16:creationId xmlns:a16="http://schemas.microsoft.com/office/drawing/2014/main" id="{7FB64553-3F29-3027-258B-3E549718D55A}"/>
                </a:ext>
              </a:extLst>
            </p:cNvPr>
            <p:cNvSpPr/>
            <p:nvPr/>
          </p:nvSpPr>
          <p:spPr>
            <a:xfrm rot="5400000">
              <a:off x="-2270496" y="5062714"/>
              <a:ext cx="1006407" cy="2694901"/>
            </a:xfrm>
            <a:prstGeom prst="round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endParaRPr>
            </a:p>
          </p:txBody>
        </p:sp>
        <p:grpSp>
          <p:nvGrpSpPr>
            <p:cNvPr id="37" name="그룹 36">
              <a:extLst>
                <a:ext uri="{FF2B5EF4-FFF2-40B4-BE49-F238E27FC236}">
                  <a16:creationId xmlns:a16="http://schemas.microsoft.com/office/drawing/2014/main" id="{35FD5461-AC8A-506D-B883-38FF7099A346}"/>
                </a:ext>
              </a:extLst>
            </p:cNvPr>
            <p:cNvGrpSpPr/>
            <p:nvPr/>
          </p:nvGrpSpPr>
          <p:grpSpPr>
            <a:xfrm rot="16200000">
              <a:off x="-2155266" y="5019031"/>
              <a:ext cx="770778" cy="2792525"/>
              <a:chOff x="-378770" y="6788377"/>
              <a:chExt cx="770778" cy="2297959"/>
            </a:xfrm>
          </p:grpSpPr>
          <p:sp>
            <p:nvSpPr>
              <p:cNvPr id="38" name="TextBox 37">
                <a:extLst>
                  <a:ext uri="{FF2B5EF4-FFF2-40B4-BE49-F238E27FC236}">
                    <a16:creationId xmlns:a16="http://schemas.microsoft.com/office/drawing/2014/main" id="{0F2714CC-24AF-3B00-C337-1045069BCF9C}"/>
                  </a:ext>
                </a:extLst>
              </p:cNvPr>
              <p:cNvSpPr txBox="1"/>
              <p:nvPr/>
            </p:nvSpPr>
            <p:spPr>
              <a:xfrm rot="5400000">
                <a:off x="-1286268" y="7695875"/>
                <a:ext cx="2297959" cy="482963"/>
              </a:xfrm>
              <a:prstGeom prst="rect">
                <a:avLst/>
              </a:prstGeom>
              <a:noFill/>
            </p:spPr>
            <p:txBody>
              <a:bodyPr wrap="square" rtlCol="0" anchor="ctr" anchorCtr="0">
                <a:noAutofit/>
              </a:bodyPr>
              <a:lstStyle/>
              <a:p>
                <a:pPr algn="ctr"/>
                <a:r>
                  <a:rPr lang="en-US" altLang="ko-KR"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rPr>
                  <a:t>Double Button Control</a:t>
                </a:r>
                <a:endParaRPr lang="ko-KR" altLang="en-US" sz="1600" b="1" dirty="0">
                  <a:ln>
                    <a:solidFill>
                      <a:schemeClr val="bg1">
                        <a:lumMod val="75000"/>
                        <a:alpha val="0"/>
                      </a:schemeClr>
                    </a:solidFill>
                  </a:ln>
                  <a:solidFill>
                    <a:srgbClr val="3C3C3A"/>
                  </a:solidFill>
                  <a:latin typeface="에스코어 드림 5 Medium" panose="020B0503030302020204" pitchFamily="34" charset="-127"/>
                  <a:ea typeface="에스코어 드림 5 Medium" panose="020B0503030302020204" pitchFamily="34" charset="-127"/>
                  <a:cs typeface="맑은 고딕" panose="020B0502040504020204" pitchFamily="34" charset="0"/>
                </a:endParaRPr>
              </a:p>
            </p:txBody>
          </p:sp>
          <p:sp>
            <p:nvSpPr>
              <p:cNvPr id="39" name="사각형: 둥근 모서리 38">
                <a:extLst>
                  <a:ext uri="{FF2B5EF4-FFF2-40B4-BE49-F238E27FC236}">
                    <a16:creationId xmlns:a16="http://schemas.microsoft.com/office/drawing/2014/main" id="{D230307E-CB79-A94A-0E07-36BC5BDFD82F}"/>
                  </a:ext>
                </a:extLst>
              </p:cNvPr>
              <p:cNvSpPr/>
              <p:nvPr/>
            </p:nvSpPr>
            <p:spPr>
              <a:xfrm rot="5400000">
                <a:off x="58989" y="7807256"/>
                <a:ext cx="405835" cy="260203"/>
              </a:xfrm>
              <a:prstGeom prst="roundRect">
                <a:avLst>
                  <a:gd name="adj" fmla="val 50000"/>
                </a:avLst>
              </a:prstGeom>
              <a:solidFill>
                <a:srgbClr val="9E0B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050" dirty="0">
                    <a:ln>
                      <a:solidFill>
                        <a:schemeClr val="bg1">
                          <a:lumMod val="75000"/>
                          <a:alpha val="0"/>
                        </a:schemeClr>
                      </a:solidFill>
                    </a:ln>
                    <a:latin typeface="Lato Black" panose="020F0502020204030203" pitchFamily="34" charset="0"/>
                    <a:ea typeface="Lato Black" panose="020F0502020204030203" pitchFamily="34" charset="0"/>
                    <a:cs typeface="Lato Black" panose="020F0502020204030203" pitchFamily="34" charset="0"/>
                  </a:rPr>
                  <a:t>4</a:t>
                </a:r>
                <a:endParaRPr lang="ko-KR" altLang="en-US" sz="1050" dirty="0">
                  <a:ln>
                    <a:solidFill>
                      <a:schemeClr val="bg1">
                        <a:lumMod val="75000"/>
                        <a:alpha val="0"/>
                      </a:schemeClr>
                    </a:solidFill>
                  </a:ln>
                  <a:latin typeface="Lato Black" panose="020F0502020204030203" pitchFamily="34" charset="0"/>
                  <a:ea typeface="맑은 고딕" panose="02000503000000020004" pitchFamily="2" charset="-127"/>
                  <a:cs typeface="Lato Black" panose="020F0502020204030203" pitchFamily="34" charset="0"/>
                </a:endParaRPr>
              </a:p>
            </p:txBody>
          </p:sp>
        </p:grpSp>
      </p:grpSp>
      <p:sp>
        <p:nvSpPr>
          <p:cNvPr id="40" name="타원 39">
            <a:extLst>
              <a:ext uri="{FF2B5EF4-FFF2-40B4-BE49-F238E27FC236}">
                <a16:creationId xmlns:a16="http://schemas.microsoft.com/office/drawing/2014/main" id="{93FB0FD1-905F-515E-4F69-B32DBF437FCE}"/>
              </a:ext>
            </a:extLst>
          </p:cNvPr>
          <p:cNvSpPr/>
          <p:nvPr/>
        </p:nvSpPr>
        <p:spPr>
          <a:xfrm rot="5400000">
            <a:off x="814928" y="4194037"/>
            <a:ext cx="120807" cy="120807"/>
          </a:xfrm>
          <a:prstGeom prst="ellipse">
            <a:avLst/>
          </a:prstGeom>
          <a:solidFill>
            <a:srgbClr val="9E0B28"/>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400">
              <a:ln>
                <a:solidFill>
                  <a:schemeClr val="bg1">
                    <a:lumMod val="75000"/>
                    <a:alpha val="0"/>
                  </a:schemeClr>
                </a:solidFill>
              </a:ln>
              <a:solidFill>
                <a:srgbClr val="4472C4"/>
              </a:solidFill>
            </a:endParaRPr>
          </a:p>
        </p:txBody>
      </p:sp>
      <p:sp>
        <p:nvSpPr>
          <p:cNvPr id="42" name="TextBox 41">
            <a:extLst>
              <a:ext uri="{FF2B5EF4-FFF2-40B4-BE49-F238E27FC236}">
                <a16:creationId xmlns:a16="http://schemas.microsoft.com/office/drawing/2014/main" id="{4C1A6482-E97F-9BD1-2FA2-BFBEECAEA75A}"/>
              </a:ext>
            </a:extLst>
          </p:cNvPr>
          <p:cNvSpPr txBox="1"/>
          <p:nvPr/>
        </p:nvSpPr>
        <p:spPr>
          <a:xfrm>
            <a:off x="5703037" y="1713836"/>
            <a:ext cx="6313698" cy="646331"/>
          </a:xfrm>
          <a:prstGeom prst="rect">
            <a:avLst/>
          </a:prstGeom>
          <a:noFill/>
        </p:spPr>
        <p:txBody>
          <a:bodyPr wrap="square" rtlCol="0">
            <a:spAutoFit/>
          </a:bodyPr>
          <a:lstStyle/>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Low accuracy for severe dialysis patients with significant left-right imbalances</a:t>
            </a:r>
            <a:endParaRPr lang="ko-KR" altLang="en-US" dirty="0">
              <a:solidFill>
                <a:srgbClr val="A0112D"/>
              </a:solidFill>
              <a:latin typeface="Lato Black" panose="020F0502020204030203" pitchFamily="34" charset="0"/>
              <a:cs typeface="Lato Black" panose="020F0502020204030203" pitchFamily="34" charset="0"/>
            </a:endParaRPr>
          </a:p>
        </p:txBody>
      </p:sp>
      <p:grpSp>
        <p:nvGrpSpPr>
          <p:cNvPr id="43" name="그룹 42">
            <a:extLst>
              <a:ext uri="{FF2B5EF4-FFF2-40B4-BE49-F238E27FC236}">
                <a16:creationId xmlns:a16="http://schemas.microsoft.com/office/drawing/2014/main" id="{C1069DA2-1FC9-D272-C0D0-AA32D467642A}"/>
              </a:ext>
            </a:extLst>
          </p:cNvPr>
          <p:cNvGrpSpPr/>
          <p:nvPr/>
        </p:nvGrpSpPr>
        <p:grpSpPr>
          <a:xfrm rot="16200000">
            <a:off x="5216811" y="3014274"/>
            <a:ext cx="300064" cy="271459"/>
            <a:chOff x="2061642" y="2996194"/>
            <a:chExt cx="369826" cy="334570"/>
          </a:xfrm>
        </p:grpSpPr>
        <p:sp>
          <p:nvSpPr>
            <p:cNvPr id="44" name="이등변 삼각형 34">
              <a:extLst>
                <a:ext uri="{FF2B5EF4-FFF2-40B4-BE49-F238E27FC236}">
                  <a16:creationId xmlns:a16="http://schemas.microsoft.com/office/drawing/2014/main" id="{D10F0E9B-D5AE-DD8A-629C-A5E220F39CA1}"/>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이등변 삼각형 34">
              <a:extLst>
                <a:ext uri="{FF2B5EF4-FFF2-40B4-BE49-F238E27FC236}">
                  <a16:creationId xmlns:a16="http://schemas.microsoft.com/office/drawing/2014/main" id="{B273304C-6105-9E2E-8ED5-DE706FBB8D36}"/>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6" name="TextBox 45">
            <a:extLst>
              <a:ext uri="{FF2B5EF4-FFF2-40B4-BE49-F238E27FC236}">
                <a16:creationId xmlns:a16="http://schemas.microsoft.com/office/drawing/2014/main" id="{82FEC5F1-3BFE-3866-4003-5AFD93F49131}"/>
              </a:ext>
            </a:extLst>
          </p:cNvPr>
          <p:cNvSpPr txBox="1"/>
          <p:nvPr/>
        </p:nvSpPr>
        <p:spPr>
          <a:xfrm>
            <a:off x="5703037" y="2826836"/>
            <a:ext cx="6588023" cy="646331"/>
          </a:xfrm>
          <a:prstGeom prst="rect">
            <a:avLst/>
          </a:prstGeom>
          <a:noFill/>
        </p:spPr>
        <p:txBody>
          <a:bodyPr wrap="square" rtlCol="0">
            <a:spAutoFit/>
          </a:bodyPr>
          <a:lstStyle/>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Poor reproducibility each measurement</a:t>
            </a:r>
          </a:p>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Additional fees for consumable patches</a:t>
            </a:r>
            <a:endParaRPr lang="ko-KR" altLang="en-US" dirty="0">
              <a:solidFill>
                <a:srgbClr val="A0112D"/>
              </a:solidFill>
              <a:latin typeface="Lato Black" panose="020F0502020204030203" pitchFamily="34" charset="0"/>
              <a:cs typeface="Lato Black" panose="020F0502020204030203" pitchFamily="34" charset="0"/>
            </a:endParaRPr>
          </a:p>
        </p:txBody>
      </p:sp>
      <p:grpSp>
        <p:nvGrpSpPr>
          <p:cNvPr id="47" name="그룹 46">
            <a:extLst>
              <a:ext uri="{FF2B5EF4-FFF2-40B4-BE49-F238E27FC236}">
                <a16:creationId xmlns:a16="http://schemas.microsoft.com/office/drawing/2014/main" id="{10DF9F8A-0DE4-298D-7F0A-7FAEFFB600FC}"/>
              </a:ext>
            </a:extLst>
          </p:cNvPr>
          <p:cNvGrpSpPr/>
          <p:nvPr/>
        </p:nvGrpSpPr>
        <p:grpSpPr>
          <a:xfrm rot="16200000">
            <a:off x="5216811" y="4039289"/>
            <a:ext cx="300064" cy="271459"/>
            <a:chOff x="2061642" y="2996194"/>
            <a:chExt cx="369826" cy="334570"/>
          </a:xfrm>
        </p:grpSpPr>
        <p:sp>
          <p:nvSpPr>
            <p:cNvPr id="48" name="이등변 삼각형 34">
              <a:extLst>
                <a:ext uri="{FF2B5EF4-FFF2-40B4-BE49-F238E27FC236}">
                  <a16:creationId xmlns:a16="http://schemas.microsoft.com/office/drawing/2014/main" id="{D2D6AA2F-59FE-5EC4-6153-D9DB4A5119C8}"/>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이등변 삼각형 34">
              <a:extLst>
                <a:ext uri="{FF2B5EF4-FFF2-40B4-BE49-F238E27FC236}">
                  <a16:creationId xmlns:a16="http://schemas.microsoft.com/office/drawing/2014/main" id="{DF39F93D-49F9-BF2A-AA20-3CB14CCE4F19}"/>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0" name="TextBox 49">
            <a:extLst>
              <a:ext uri="{FF2B5EF4-FFF2-40B4-BE49-F238E27FC236}">
                <a16:creationId xmlns:a16="http://schemas.microsoft.com/office/drawing/2014/main" id="{A4A6D193-3BBB-993F-B8A1-A04000F74473}"/>
              </a:ext>
            </a:extLst>
          </p:cNvPr>
          <p:cNvSpPr txBox="1"/>
          <p:nvPr/>
        </p:nvSpPr>
        <p:spPr>
          <a:xfrm>
            <a:off x="5703037" y="3851851"/>
            <a:ext cx="6181500" cy="646331"/>
          </a:xfrm>
          <a:prstGeom prst="rect">
            <a:avLst/>
          </a:prstGeom>
          <a:noFill/>
        </p:spPr>
        <p:txBody>
          <a:bodyPr wrap="square" rtlCol="0">
            <a:spAutoFit/>
          </a:bodyPr>
          <a:lstStyle/>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Lower sensitivity in test results</a:t>
            </a:r>
          </a:p>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Inaccurate results for extreme patient cases</a:t>
            </a:r>
            <a:endParaRPr lang="ko-KR" altLang="en-US" dirty="0">
              <a:solidFill>
                <a:srgbClr val="A0112D"/>
              </a:solidFill>
              <a:latin typeface="Lato Black" panose="020F0502020204030203" pitchFamily="34" charset="0"/>
              <a:cs typeface="Lato Black" panose="020F0502020204030203" pitchFamily="34" charset="0"/>
            </a:endParaRPr>
          </a:p>
        </p:txBody>
      </p:sp>
      <p:grpSp>
        <p:nvGrpSpPr>
          <p:cNvPr id="51" name="그룹 50">
            <a:extLst>
              <a:ext uri="{FF2B5EF4-FFF2-40B4-BE49-F238E27FC236}">
                <a16:creationId xmlns:a16="http://schemas.microsoft.com/office/drawing/2014/main" id="{C2660069-0118-A2ED-25B6-5C045CFE034F}"/>
              </a:ext>
            </a:extLst>
          </p:cNvPr>
          <p:cNvGrpSpPr/>
          <p:nvPr/>
        </p:nvGrpSpPr>
        <p:grpSpPr>
          <a:xfrm rot="16200000">
            <a:off x="5216811" y="5175967"/>
            <a:ext cx="300064" cy="271459"/>
            <a:chOff x="2061642" y="2996194"/>
            <a:chExt cx="369826" cy="334570"/>
          </a:xfrm>
        </p:grpSpPr>
        <p:sp>
          <p:nvSpPr>
            <p:cNvPr id="52" name="이등변 삼각형 34">
              <a:extLst>
                <a:ext uri="{FF2B5EF4-FFF2-40B4-BE49-F238E27FC236}">
                  <a16:creationId xmlns:a16="http://schemas.microsoft.com/office/drawing/2014/main" id="{A0AFDF1D-489C-F6FC-5282-51D0B88CAADB}"/>
                </a:ext>
              </a:extLst>
            </p:cNvPr>
            <p:cNvSpPr/>
            <p:nvPr/>
          </p:nvSpPr>
          <p:spPr>
            <a:xfrm rot="10800000">
              <a:off x="2061644" y="3146008"/>
              <a:ext cx="369824"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이등변 삼각형 34">
              <a:extLst>
                <a:ext uri="{FF2B5EF4-FFF2-40B4-BE49-F238E27FC236}">
                  <a16:creationId xmlns:a16="http://schemas.microsoft.com/office/drawing/2014/main" id="{38C0694C-79F9-D6CA-16C2-712A28AA8905}"/>
                </a:ext>
              </a:extLst>
            </p:cNvPr>
            <p:cNvSpPr/>
            <p:nvPr/>
          </p:nvSpPr>
          <p:spPr>
            <a:xfrm rot="10800000">
              <a:off x="2061642" y="2996194"/>
              <a:ext cx="369822" cy="184756"/>
            </a:xfrm>
            <a:custGeom>
              <a:avLst/>
              <a:gdLst>
                <a:gd name="connsiteX0" fmla="*/ 0 w 1178682"/>
                <a:gd name="connsiteY0" fmla="*/ 910053 h 910053"/>
                <a:gd name="connsiteX1" fmla="*/ 589341 w 1178682"/>
                <a:gd name="connsiteY1" fmla="*/ 0 h 910053"/>
                <a:gd name="connsiteX2" fmla="*/ 1178682 w 1178682"/>
                <a:gd name="connsiteY2" fmla="*/ 910053 h 910053"/>
                <a:gd name="connsiteX3" fmla="*/ 0 w 1178682"/>
                <a:gd name="connsiteY3" fmla="*/ 910053 h 910053"/>
                <a:gd name="connsiteX0" fmla="*/ 0 w 1178682"/>
                <a:gd name="connsiteY0" fmla="*/ 910053 h 1001493"/>
                <a:gd name="connsiteX1" fmla="*/ 589341 w 1178682"/>
                <a:gd name="connsiteY1" fmla="*/ 0 h 1001493"/>
                <a:gd name="connsiteX2" fmla="*/ 1178682 w 1178682"/>
                <a:gd name="connsiteY2" fmla="*/ 910053 h 1001493"/>
                <a:gd name="connsiteX3" fmla="*/ 91440 w 1178682"/>
                <a:gd name="connsiteY3" fmla="*/ 1001493 h 1001493"/>
                <a:gd name="connsiteX0" fmla="*/ 0 w 1178682"/>
                <a:gd name="connsiteY0" fmla="*/ 910053 h 910053"/>
                <a:gd name="connsiteX1" fmla="*/ 589341 w 1178682"/>
                <a:gd name="connsiteY1" fmla="*/ 0 h 910053"/>
                <a:gd name="connsiteX2" fmla="*/ 1178682 w 1178682"/>
                <a:gd name="connsiteY2" fmla="*/ 910053 h 910053"/>
              </a:gdLst>
              <a:ahLst/>
              <a:cxnLst>
                <a:cxn ang="0">
                  <a:pos x="connsiteX0" y="connsiteY0"/>
                </a:cxn>
                <a:cxn ang="0">
                  <a:pos x="connsiteX1" y="connsiteY1"/>
                </a:cxn>
                <a:cxn ang="0">
                  <a:pos x="connsiteX2" y="connsiteY2"/>
                </a:cxn>
              </a:cxnLst>
              <a:rect l="l" t="t" r="r" b="b"/>
              <a:pathLst>
                <a:path w="1178682" h="910053">
                  <a:moveTo>
                    <a:pt x="0" y="910053"/>
                  </a:moveTo>
                  <a:lnTo>
                    <a:pt x="589341" y="0"/>
                  </a:lnTo>
                  <a:lnTo>
                    <a:pt x="1178682" y="910053"/>
                  </a:lnTo>
                </a:path>
              </a:pathLst>
            </a:custGeom>
            <a:gradFill flip="none" rotWithShape="1">
              <a:gsLst>
                <a:gs pos="100000">
                  <a:srgbClr val="9097A7">
                    <a:alpha val="50000"/>
                  </a:srgbClr>
                </a:gs>
                <a:gs pos="0">
                  <a:srgbClr val="9097A7">
                    <a:alpha val="0"/>
                  </a:srgbClr>
                </a:gs>
              </a:gsLst>
              <a:lin ang="16200000" scaled="1"/>
              <a:tileRect/>
            </a:gradFill>
            <a:ln w="12700">
              <a:solidFill>
                <a:srgbClr val="656E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4" name="TextBox 53">
            <a:extLst>
              <a:ext uri="{FF2B5EF4-FFF2-40B4-BE49-F238E27FC236}">
                <a16:creationId xmlns:a16="http://schemas.microsoft.com/office/drawing/2014/main" id="{B4BD23BB-0B33-E886-926A-0CB0A0E6CCA2}"/>
              </a:ext>
            </a:extLst>
          </p:cNvPr>
          <p:cNvSpPr txBox="1"/>
          <p:nvPr/>
        </p:nvSpPr>
        <p:spPr>
          <a:xfrm>
            <a:off x="5703037" y="4988529"/>
            <a:ext cx="2707793" cy="646331"/>
          </a:xfrm>
          <a:prstGeom prst="rect">
            <a:avLst/>
          </a:prstGeom>
          <a:noFill/>
        </p:spPr>
        <p:txBody>
          <a:bodyPr wrap="none" rtlCol="0">
            <a:spAutoFit/>
          </a:bodyPr>
          <a:lstStyle/>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Limited accessibility</a:t>
            </a:r>
          </a:p>
          <a:p>
            <a:pPr marL="285750" indent="-285750">
              <a:buFontTx/>
              <a:buChar char="-"/>
            </a:pPr>
            <a:r>
              <a:rPr lang="en-US" altLang="ko-KR" dirty="0">
                <a:solidFill>
                  <a:srgbClr val="A0112D"/>
                </a:solidFill>
                <a:latin typeface="Lato Black" panose="020F0502020204030203" pitchFamily="34" charset="0"/>
                <a:cs typeface="Lato Black" panose="020F0502020204030203" pitchFamily="34" charset="0"/>
              </a:rPr>
              <a:t>Poor time efficiency</a:t>
            </a:r>
            <a:endParaRPr lang="ko-KR" altLang="en-US" dirty="0">
              <a:solidFill>
                <a:srgbClr val="A0112D"/>
              </a:solidFill>
              <a:latin typeface="Lato Black" panose="020F0502020204030203" pitchFamily="34" charset="0"/>
              <a:cs typeface="Lato Black" panose="020F0502020204030203" pitchFamily="34" charset="0"/>
            </a:endParaRPr>
          </a:p>
        </p:txBody>
      </p:sp>
    </p:spTree>
    <p:extLst>
      <p:ext uri="{BB962C8B-B14F-4D97-AF65-F5344CB8AC3E}">
        <p14:creationId xmlns:p14="http://schemas.microsoft.com/office/powerpoint/2010/main" val="38729302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4C31E62-CE78-8243-AB22-9D4C1B89F17B}"/>
              </a:ext>
            </a:extLst>
          </p:cNvPr>
          <p:cNvSpPr txBox="1"/>
          <p:nvPr/>
        </p:nvSpPr>
        <p:spPr>
          <a:xfrm>
            <a:off x="650642" y="306181"/>
            <a:ext cx="7205332" cy="461665"/>
          </a:xfrm>
          <a:prstGeom prst="rect">
            <a:avLst/>
          </a:prstGeom>
          <a:noFill/>
        </p:spPr>
        <p:txBody>
          <a:bodyPr wrap="square" rtlCol="0">
            <a:spAutoFit/>
          </a:bodyPr>
          <a:lstStyle/>
          <a:p>
            <a:r>
              <a:rPr kumimoji="1" lang="en-US" altLang="ko-KR" sz="2400" b="1" spc="-30" dirty="0">
                <a:ln>
                  <a:solidFill>
                    <a:srgbClr val="7E8080">
                      <a:alpha val="0"/>
                    </a:srgbClr>
                  </a:solidFill>
                </a:ln>
                <a:solidFill>
                  <a:srgbClr val="3C3C3A"/>
                </a:solidFill>
                <a:latin typeface="에스코어 드림 6 Bold" panose="020B0703030302020204" pitchFamily="34" charset="-127"/>
                <a:ea typeface="에스코어 드림 6 Bold" panose="020B0703030302020204" pitchFamily="34" charset="-127"/>
              </a:rPr>
              <a:t>Sales Strategy for Body Water Analyzer</a:t>
            </a:r>
          </a:p>
        </p:txBody>
      </p:sp>
      <p:sp>
        <p:nvSpPr>
          <p:cNvPr id="10" name="TextBox 9">
            <a:extLst>
              <a:ext uri="{FF2B5EF4-FFF2-40B4-BE49-F238E27FC236}">
                <a16:creationId xmlns:a16="http://schemas.microsoft.com/office/drawing/2014/main" id="{21A23155-F013-4647-A64C-638174D1B0A3}"/>
              </a:ext>
            </a:extLst>
          </p:cNvPr>
          <p:cNvSpPr txBox="1"/>
          <p:nvPr/>
        </p:nvSpPr>
        <p:spPr>
          <a:xfrm>
            <a:off x="170621" y="286931"/>
            <a:ext cx="704480" cy="461665"/>
          </a:xfrm>
          <a:prstGeom prst="rect">
            <a:avLst/>
          </a:prstGeom>
          <a:noFill/>
        </p:spPr>
        <p:txBody>
          <a:bodyPr wrap="square" rtlCol="0">
            <a:spAutoFit/>
          </a:bodyPr>
          <a:lstStyle/>
          <a:p>
            <a:r>
              <a:rPr lang="en-US" altLang="ko-KR" sz="2400" b="1">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24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cxnSp>
        <p:nvCxnSpPr>
          <p:cNvPr id="14" name="직선 연결선 13">
            <a:extLst>
              <a:ext uri="{FF2B5EF4-FFF2-40B4-BE49-F238E27FC236}">
                <a16:creationId xmlns:a16="http://schemas.microsoft.com/office/drawing/2014/main" id="{E1DAD475-3653-4274-AC92-62B3EDFE7277}"/>
              </a:ext>
            </a:extLst>
          </p:cNvPr>
          <p:cNvCxnSpPr>
            <a:cxnSpLocks/>
          </p:cNvCxnSpPr>
          <p:nvPr/>
        </p:nvCxnSpPr>
        <p:spPr>
          <a:xfrm flipH="1">
            <a:off x="-24811" y="3334689"/>
            <a:ext cx="12216811" cy="0"/>
          </a:xfrm>
          <a:prstGeom prst="line">
            <a:avLst/>
          </a:prstGeom>
          <a:solidFill>
            <a:schemeClr val="bg1"/>
          </a:solidFill>
          <a:ln w="9525">
            <a:solidFill>
              <a:srgbClr val="BDC2CD"/>
            </a:solidFill>
          </a:ln>
        </p:spPr>
        <p:style>
          <a:lnRef idx="2">
            <a:schemeClr val="accent1">
              <a:shade val="50000"/>
            </a:schemeClr>
          </a:lnRef>
          <a:fillRef idx="1">
            <a:schemeClr val="accent1"/>
          </a:fillRef>
          <a:effectRef idx="0">
            <a:schemeClr val="accent1"/>
          </a:effectRef>
          <a:fontRef idx="minor">
            <a:schemeClr val="lt1"/>
          </a:fontRef>
        </p:style>
      </p:cxnSp>
      <p:sp>
        <p:nvSpPr>
          <p:cNvPr id="15" name="타원 14">
            <a:extLst>
              <a:ext uri="{FF2B5EF4-FFF2-40B4-BE49-F238E27FC236}">
                <a16:creationId xmlns:a16="http://schemas.microsoft.com/office/drawing/2014/main" id="{15A63BE9-058C-7065-F2AA-EE44DDD4D352}"/>
              </a:ext>
            </a:extLst>
          </p:cNvPr>
          <p:cNvSpPr/>
          <p:nvPr/>
        </p:nvSpPr>
        <p:spPr>
          <a:xfrm>
            <a:off x="5759210" y="1986768"/>
            <a:ext cx="2955582" cy="2955580"/>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에스코어 드림 4 Regular" panose="020B0503030302020204" pitchFamily="34" charset="-127"/>
              <a:ea typeface="에스코어 드림 4 Regular" panose="020B0503030302020204" pitchFamily="34" charset="-127"/>
            </a:endParaRPr>
          </a:p>
        </p:txBody>
      </p:sp>
      <p:sp>
        <p:nvSpPr>
          <p:cNvPr id="16" name="타원 15">
            <a:extLst>
              <a:ext uri="{FF2B5EF4-FFF2-40B4-BE49-F238E27FC236}">
                <a16:creationId xmlns:a16="http://schemas.microsoft.com/office/drawing/2014/main" id="{47776D26-4E03-8A57-CBC4-39E5576E1C47}"/>
              </a:ext>
            </a:extLst>
          </p:cNvPr>
          <p:cNvSpPr/>
          <p:nvPr/>
        </p:nvSpPr>
        <p:spPr>
          <a:xfrm>
            <a:off x="934667" y="1986768"/>
            <a:ext cx="2955582" cy="2955580"/>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에스코어 드림 4 Regular" panose="020B0503030302020204" pitchFamily="34" charset="-127"/>
              <a:ea typeface="에스코어 드림 4 Regular" panose="020B0503030302020204" pitchFamily="34" charset="-127"/>
            </a:endParaRPr>
          </a:p>
        </p:txBody>
      </p:sp>
      <p:sp>
        <p:nvSpPr>
          <p:cNvPr id="17" name="타원 16">
            <a:extLst>
              <a:ext uri="{FF2B5EF4-FFF2-40B4-BE49-F238E27FC236}">
                <a16:creationId xmlns:a16="http://schemas.microsoft.com/office/drawing/2014/main" id="{D2520C14-8E3A-D9B5-94D2-1138DF43FD3F}"/>
              </a:ext>
            </a:extLst>
          </p:cNvPr>
          <p:cNvSpPr/>
          <p:nvPr/>
        </p:nvSpPr>
        <p:spPr>
          <a:xfrm>
            <a:off x="3346938" y="1986768"/>
            <a:ext cx="2955582" cy="2955580"/>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에스코어 드림 4 Regular" panose="020B0503030302020204" pitchFamily="34" charset="-127"/>
              <a:ea typeface="에스코어 드림 4 Regular" panose="020B0503030302020204" pitchFamily="34" charset="-127"/>
            </a:endParaRPr>
          </a:p>
        </p:txBody>
      </p:sp>
      <p:sp>
        <p:nvSpPr>
          <p:cNvPr id="18" name="TextBox 17">
            <a:extLst>
              <a:ext uri="{FF2B5EF4-FFF2-40B4-BE49-F238E27FC236}">
                <a16:creationId xmlns:a16="http://schemas.microsoft.com/office/drawing/2014/main" id="{F696BDF8-7089-D342-980F-AE5F952A04B1}"/>
              </a:ext>
            </a:extLst>
          </p:cNvPr>
          <p:cNvSpPr txBox="1"/>
          <p:nvPr/>
        </p:nvSpPr>
        <p:spPr>
          <a:xfrm>
            <a:off x="3572317" y="3733589"/>
            <a:ext cx="2530602" cy="683633"/>
          </a:xfrm>
          <a:prstGeom prst="rect">
            <a:avLst/>
          </a:prstGeom>
          <a:noFill/>
        </p:spPr>
        <p:txBody>
          <a:bodyPr wrap="square" tIns="0" bIns="0" anchor="ctr" anchorCtr="0">
            <a:noAutofit/>
          </a:bodyPr>
          <a:lstStyle/>
          <a:p>
            <a:pPr algn="ctr">
              <a:spcBef>
                <a:spcPts val="500"/>
              </a:spcBef>
            </a:pPr>
            <a:r>
              <a:rPr kumimoji="1" lang="en-US" altLang="ko-KR" sz="1600" spc="-150" dirty="0">
                <a:ln>
                  <a:solidFill>
                    <a:srgbClr val="7E8080">
                      <a:alpha val="0"/>
                    </a:srgbClr>
                  </a:solidFill>
                </a:ln>
                <a:solidFill>
                  <a:schemeClr val="bg1"/>
                </a:solidFill>
                <a:latin typeface="+mj-ea"/>
                <a:ea typeface="+mj-ea"/>
              </a:rPr>
              <a:t>Collect </a:t>
            </a:r>
            <a:r>
              <a:rPr kumimoji="1" lang="ko-KR" altLang="en-US" sz="1600" spc="-150" dirty="0">
                <a:ln>
                  <a:solidFill>
                    <a:srgbClr val="7E8080">
                      <a:alpha val="0"/>
                    </a:srgbClr>
                  </a:solidFill>
                </a:ln>
                <a:solidFill>
                  <a:schemeClr val="bg1"/>
                </a:solidFill>
                <a:latin typeface="+mj-ea"/>
                <a:ea typeface="+mj-ea"/>
              </a:rPr>
              <a:t> </a:t>
            </a:r>
            <a:r>
              <a:rPr kumimoji="1" lang="en-US" altLang="ko-KR" sz="1600" spc="-150" dirty="0">
                <a:ln>
                  <a:solidFill>
                    <a:srgbClr val="7E8080">
                      <a:alpha val="0"/>
                    </a:srgbClr>
                  </a:solidFill>
                </a:ln>
                <a:solidFill>
                  <a:schemeClr val="bg1"/>
                </a:solidFill>
                <a:latin typeface="+mj-ea"/>
                <a:ea typeface="+mj-ea"/>
              </a:rPr>
              <a:t>DB of Doctors</a:t>
            </a:r>
          </a:p>
        </p:txBody>
      </p:sp>
      <p:sp>
        <p:nvSpPr>
          <p:cNvPr id="19" name="TextBox 18">
            <a:extLst>
              <a:ext uri="{FF2B5EF4-FFF2-40B4-BE49-F238E27FC236}">
                <a16:creationId xmlns:a16="http://schemas.microsoft.com/office/drawing/2014/main" id="{6E99B4DC-D034-7ECA-B8BA-1514CEA01A7B}"/>
              </a:ext>
            </a:extLst>
          </p:cNvPr>
          <p:cNvSpPr txBox="1"/>
          <p:nvPr/>
        </p:nvSpPr>
        <p:spPr>
          <a:xfrm>
            <a:off x="1089348" y="3707367"/>
            <a:ext cx="2530602" cy="698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0" rIns="35718" bIns="0" numCol="1" spcCol="38100" rtlCol="0" anchor="ctr" anchorCtr="0">
            <a:noAutofit/>
          </a:bodyPr>
          <a:lstStyle/>
          <a:p>
            <a:pPr algn="ctr">
              <a:spcBef>
                <a:spcPts val="500"/>
              </a:spcBef>
            </a:pPr>
            <a:r>
              <a:rPr kumimoji="1" lang="en-US" altLang="ko-KR" sz="1600" spc="-150" dirty="0">
                <a:ln>
                  <a:solidFill>
                    <a:srgbClr val="7E8080">
                      <a:alpha val="0"/>
                    </a:srgbClr>
                  </a:solidFill>
                </a:ln>
                <a:solidFill>
                  <a:schemeClr val="bg1"/>
                </a:solidFill>
                <a:latin typeface="+mj-ea"/>
                <a:ea typeface="+mj-ea"/>
              </a:rPr>
              <a:t>Participate Conferences</a:t>
            </a:r>
            <a:endParaRPr kumimoji="1" lang="ko-KR" altLang="en-US" sz="1600" spc="-150" dirty="0">
              <a:ln>
                <a:solidFill>
                  <a:srgbClr val="7E8080">
                    <a:alpha val="0"/>
                  </a:srgbClr>
                </a:solidFill>
              </a:ln>
              <a:solidFill>
                <a:schemeClr val="bg1"/>
              </a:solidFill>
              <a:latin typeface="+mj-ea"/>
              <a:ea typeface="+mj-ea"/>
            </a:endParaRPr>
          </a:p>
        </p:txBody>
      </p:sp>
      <p:sp>
        <p:nvSpPr>
          <p:cNvPr id="20" name="TextBox 19">
            <a:extLst>
              <a:ext uri="{FF2B5EF4-FFF2-40B4-BE49-F238E27FC236}">
                <a16:creationId xmlns:a16="http://schemas.microsoft.com/office/drawing/2014/main" id="{2C26F5FB-CC52-4F70-082B-9A66B899B8E5}"/>
              </a:ext>
            </a:extLst>
          </p:cNvPr>
          <p:cNvSpPr txBox="1"/>
          <p:nvPr/>
        </p:nvSpPr>
        <p:spPr>
          <a:xfrm>
            <a:off x="5928866" y="3725933"/>
            <a:ext cx="2530602" cy="6989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0" rIns="35718" bIns="0" numCol="1" spcCol="38100" rtlCol="0" anchor="ctr" anchorCtr="0">
            <a:noAutofit/>
          </a:bodyPr>
          <a:lstStyle/>
          <a:p>
            <a:pPr algn="ctr">
              <a:spcBef>
                <a:spcPts val="500"/>
              </a:spcBef>
            </a:pPr>
            <a:r>
              <a:rPr kumimoji="1" lang="en-US" altLang="ko-KR" sz="1600" spc="-150" dirty="0">
                <a:ln>
                  <a:solidFill>
                    <a:srgbClr val="7E8080">
                      <a:alpha val="0"/>
                    </a:srgbClr>
                  </a:solidFill>
                </a:ln>
                <a:solidFill>
                  <a:schemeClr val="bg1"/>
                </a:solidFill>
                <a:latin typeface="+mj-ea"/>
                <a:ea typeface="+mj-ea"/>
              </a:rPr>
              <a:t>Propose of Research</a:t>
            </a:r>
            <a:endParaRPr kumimoji="1" lang="ko-KR" altLang="en-US" sz="1600" spc="-150" dirty="0">
              <a:ln>
                <a:solidFill>
                  <a:srgbClr val="7E8080">
                    <a:alpha val="0"/>
                  </a:srgbClr>
                </a:solidFill>
              </a:ln>
              <a:solidFill>
                <a:schemeClr val="bg1"/>
              </a:solidFill>
              <a:latin typeface="+mj-ea"/>
              <a:ea typeface="+mj-ea"/>
            </a:endParaRPr>
          </a:p>
        </p:txBody>
      </p:sp>
      <p:sp>
        <p:nvSpPr>
          <p:cNvPr id="21" name="TextBox 20">
            <a:extLst>
              <a:ext uri="{FF2B5EF4-FFF2-40B4-BE49-F238E27FC236}">
                <a16:creationId xmlns:a16="http://schemas.microsoft.com/office/drawing/2014/main" id="{1DDCEF2C-6690-EB8D-6B73-067FF895950A}"/>
              </a:ext>
            </a:extLst>
          </p:cNvPr>
          <p:cNvSpPr txBox="1"/>
          <p:nvPr/>
        </p:nvSpPr>
        <p:spPr bwMode="auto">
          <a:xfrm>
            <a:off x="1403657" y="2791164"/>
            <a:ext cx="2008457" cy="400110"/>
          </a:xfrm>
          <a:prstGeom prst="rect">
            <a:avLst/>
          </a:prstGeom>
          <a:noFill/>
        </p:spPr>
        <p:txBody>
          <a:bodyPr wrap="square" anchor="ctr">
            <a:spAutoFit/>
          </a:bodyPr>
          <a:lstStyle/>
          <a:p>
            <a:pPr algn="ctr"/>
            <a:r>
              <a:rPr kumimoji="1" lang="en-US" altLang="ko-KR" sz="2000" b="1">
                <a:ln>
                  <a:solidFill>
                    <a:srgbClr val="7E8080">
                      <a:alpha val="0"/>
                    </a:srgbClr>
                  </a:solidFill>
                </a:ln>
                <a:solidFill>
                  <a:schemeClr val="bg1"/>
                </a:solidFill>
                <a:latin typeface="+mj-ea"/>
                <a:ea typeface="+mj-ea"/>
                <a:cs typeface="Lato Black" panose="020F0502020204030203" pitchFamily="34" charset="0"/>
              </a:rPr>
              <a:t>Conferences</a:t>
            </a:r>
            <a:endParaRPr kumimoji="1" lang="en-US" altLang="ko-KR" sz="2000" b="1" dirty="0">
              <a:ln>
                <a:solidFill>
                  <a:srgbClr val="7E8080">
                    <a:alpha val="0"/>
                  </a:srgbClr>
                </a:solidFill>
              </a:ln>
              <a:solidFill>
                <a:schemeClr val="bg1"/>
              </a:solidFill>
              <a:latin typeface="+mj-ea"/>
              <a:ea typeface="+mj-ea"/>
              <a:cs typeface="Lato Black" panose="020F0502020204030203" pitchFamily="34" charset="0"/>
            </a:endParaRPr>
          </a:p>
        </p:txBody>
      </p:sp>
      <p:sp>
        <p:nvSpPr>
          <p:cNvPr id="22" name="TextBox 21">
            <a:extLst>
              <a:ext uri="{FF2B5EF4-FFF2-40B4-BE49-F238E27FC236}">
                <a16:creationId xmlns:a16="http://schemas.microsoft.com/office/drawing/2014/main" id="{1F9F103C-4B17-818A-9929-F7654C03391A}"/>
              </a:ext>
            </a:extLst>
          </p:cNvPr>
          <p:cNvSpPr txBox="1"/>
          <p:nvPr/>
        </p:nvSpPr>
        <p:spPr bwMode="auto">
          <a:xfrm>
            <a:off x="6223034" y="2791165"/>
            <a:ext cx="1965365" cy="400110"/>
          </a:xfrm>
          <a:prstGeom prst="rect">
            <a:avLst/>
          </a:prstGeom>
          <a:noFill/>
        </p:spPr>
        <p:txBody>
          <a:bodyPr wrap="square" anchor="ctr">
            <a:spAutoFit/>
          </a:bodyPr>
          <a:lstStyle/>
          <a:p>
            <a:pPr algn="ctr"/>
            <a:r>
              <a:rPr kumimoji="1" lang="en-US" altLang="ko-KR" sz="2000" b="1">
                <a:ln>
                  <a:solidFill>
                    <a:srgbClr val="7E8080">
                      <a:alpha val="0"/>
                    </a:srgbClr>
                  </a:solidFill>
                </a:ln>
                <a:solidFill>
                  <a:schemeClr val="bg1"/>
                </a:solidFill>
                <a:latin typeface="+mj-ea"/>
                <a:ea typeface="+mj-ea"/>
                <a:cs typeface="Lato Black" panose="020F0502020204030203" pitchFamily="34" charset="0"/>
              </a:rPr>
              <a:t>Research</a:t>
            </a:r>
            <a:endParaRPr kumimoji="1" lang="en-US" altLang="ko-KR" sz="2000" b="1" dirty="0">
              <a:ln>
                <a:solidFill>
                  <a:srgbClr val="7E8080">
                    <a:alpha val="0"/>
                  </a:srgbClr>
                </a:solidFill>
              </a:ln>
              <a:solidFill>
                <a:schemeClr val="bg1"/>
              </a:solidFill>
              <a:latin typeface="+mj-ea"/>
              <a:ea typeface="+mj-ea"/>
              <a:cs typeface="Lato Black" panose="020F0502020204030203" pitchFamily="34" charset="0"/>
            </a:endParaRPr>
          </a:p>
        </p:txBody>
      </p:sp>
      <p:sp>
        <p:nvSpPr>
          <p:cNvPr id="23" name="TextBox 22">
            <a:extLst>
              <a:ext uri="{FF2B5EF4-FFF2-40B4-BE49-F238E27FC236}">
                <a16:creationId xmlns:a16="http://schemas.microsoft.com/office/drawing/2014/main" id="{97B5CA85-FFD1-5F28-9A84-FE9E80DC52DC}"/>
              </a:ext>
            </a:extLst>
          </p:cNvPr>
          <p:cNvSpPr txBox="1"/>
          <p:nvPr/>
        </p:nvSpPr>
        <p:spPr bwMode="auto">
          <a:xfrm>
            <a:off x="3965312" y="2791164"/>
            <a:ext cx="1628992" cy="400110"/>
          </a:xfrm>
          <a:prstGeom prst="rect">
            <a:avLst/>
          </a:prstGeom>
          <a:noFill/>
        </p:spPr>
        <p:txBody>
          <a:bodyPr wrap="square" anchor="ctr">
            <a:spAutoFit/>
          </a:bodyPr>
          <a:lstStyle/>
          <a:p>
            <a:pPr algn="ctr"/>
            <a:r>
              <a:rPr kumimoji="1" lang="en-US" altLang="ko-KR" sz="2000" b="1">
                <a:ln>
                  <a:solidFill>
                    <a:srgbClr val="7E8080">
                      <a:alpha val="0"/>
                    </a:srgbClr>
                  </a:solidFill>
                </a:ln>
                <a:solidFill>
                  <a:schemeClr val="bg1"/>
                </a:solidFill>
                <a:latin typeface="+mj-ea"/>
                <a:ea typeface="+mj-ea"/>
                <a:cs typeface="Lato Black" panose="020F0502020204030203" pitchFamily="34" charset="0"/>
              </a:rPr>
              <a:t>Emailing</a:t>
            </a:r>
            <a:endParaRPr kumimoji="1" lang="en-US" altLang="ko-KR" sz="2000" b="1" dirty="0">
              <a:ln>
                <a:solidFill>
                  <a:srgbClr val="7E8080">
                    <a:alpha val="0"/>
                  </a:srgbClr>
                </a:solidFill>
              </a:ln>
              <a:solidFill>
                <a:schemeClr val="bg1"/>
              </a:solidFill>
              <a:latin typeface="+mj-ea"/>
              <a:ea typeface="+mj-ea"/>
              <a:cs typeface="Lato Black" panose="020F0502020204030203" pitchFamily="34" charset="0"/>
            </a:endParaRPr>
          </a:p>
        </p:txBody>
      </p:sp>
      <p:sp>
        <p:nvSpPr>
          <p:cNvPr id="24" name="자유형: 도형 38">
            <a:extLst>
              <a:ext uri="{FF2B5EF4-FFF2-40B4-BE49-F238E27FC236}">
                <a16:creationId xmlns:a16="http://schemas.microsoft.com/office/drawing/2014/main" id="{83B38BD4-A8E6-EA5A-F8DC-DDA9BFEBB6AB}"/>
              </a:ext>
            </a:extLst>
          </p:cNvPr>
          <p:cNvSpPr/>
          <p:nvPr/>
        </p:nvSpPr>
        <p:spPr>
          <a:xfrm>
            <a:off x="3346938" y="2612539"/>
            <a:ext cx="543311" cy="1704037"/>
          </a:xfrm>
          <a:custGeom>
            <a:avLst/>
            <a:gdLst>
              <a:gd name="connsiteX0" fmla="*/ 313103 w 626206"/>
              <a:gd name="connsiteY0" fmla="*/ 0 h 1964029"/>
              <a:gd name="connsiteX1" fmla="*/ 335316 w 626206"/>
              <a:gd name="connsiteY1" fmla="*/ 29704 h 1964029"/>
              <a:gd name="connsiteX2" fmla="*/ 626206 w 626206"/>
              <a:gd name="connsiteY2" fmla="*/ 982014 h 1964029"/>
              <a:gd name="connsiteX3" fmla="*/ 335316 w 626206"/>
              <a:gd name="connsiteY3" fmla="*/ 1934325 h 1964029"/>
              <a:gd name="connsiteX4" fmla="*/ 313103 w 626206"/>
              <a:gd name="connsiteY4" fmla="*/ 1964029 h 1964029"/>
              <a:gd name="connsiteX5" fmla="*/ 290891 w 626206"/>
              <a:gd name="connsiteY5" fmla="*/ 1934325 h 1964029"/>
              <a:gd name="connsiteX6" fmla="*/ 0 w 626206"/>
              <a:gd name="connsiteY6" fmla="*/ 982014 h 1964029"/>
              <a:gd name="connsiteX7" fmla="*/ 290891 w 626206"/>
              <a:gd name="connsiteY7" fmla="*/ 29704 h 19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06" h="1964029">
                <a:moveTo>
                  <a:pt x="313103" y="0"/>
                </a:moveTo>
                <a:lnTo>
                  <a:pt x="335316" y="29704"/>
                </a:lnTo>
                <a:cubicBezTo>
                  <a:pt x="518969" y="301546"/>
                  <a:pt x="626206" y="629257"/>
                  <a:pt x="626206" y="982014"/>
                </a:cubicBezTo>
                <a:cubicBezTo>
                  <a:pt x="626206" y="1334772"/>
                  <a:pt x="518969" y="1662482"/>
                  <a:pt x="335316" y="1934325"/>
                </a:cubicBezTo>
                <a:lnTo>
                  <a:pt x="313103" y="1964029"/>
                </a:lnTo>
                <a:lnTo>
                  <a:pt x="290891" y="1934325"/>
                </a:lnTo>
                <a:cubicBezTo>
                  <a:pt x="107238" y="1662482"/>
                  <a:pt x="0" y="1334772"/>
                  <a:pt x="0" y="982014"/>
                </a:cubicBezTo>
                <a:cubicBezTo>
                  <a:pt x="0" y="629257"/>
                  <a:pt x="107238" y="301546"/>
                  <a:pt x="290891" y="29704"/>
                </a:cubicBezTo>
                <a:close/>
              </a:path>
            </a:pathLst>
          </a:custGeom>
          <a:solidFill>
            <a:srgbClr val="484F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pc="-300" dirty="0">
              <a:ln>
                <a:solidFill>
                  <a:srgbClr val="7E8080">
                    <a:alpha val="0"/>
                  </a:srgbClr>
                </a:solidFill>
              </a:ln>
              <a:latin typeface="+mj-ea"/>
              <a:ea typeface="+mj-ea"/>
            </a:endParaRPr>
          </a:p>
        </p:txBody>
      </p:sp>
      <p:sp>
        <p:nvSpPr>
          <p:cNvPr id="25" name="자유형: 도형 39">
            <a:extLst>
              <a:ext uri="{FF2B5EF4-FFF2-40B4-BE49-F238E27FC236}">
                <a16:creationId xmlns:a16="http://schemas.microsoft.com/office/drawing/2014/main" id="{DCDA43B1-2364-3120-384C-77A641BB0474}"/>
              </a:ext>
            </a:extLst>
          </p:cNvPr>
          <p:cNvSpPr/>
          <p:nvPr/>
        </p:nvSpPr>
        <p:spPr>
          <a:xfrm>
            <a:off x="5759210" y="2612539"/>
            <a:ext cx="543311" cy="1704037"/>
          </a:xfrm>
          <a:custGeom>
            <a:avLst/>
            <a:gdLst>
              <a:gd name="connsiteX0" fmla="*/ 313103 w 626206"/>
              <a:gd name="connsiteY0" fmla="*/ 0 h 1964029"/>
              <a:gd name="connsiteX1" fmla="*/ 335316 w 626206"/>
              <a:gd name="connsiteY1" fmla="*/ 29704 h 1964029"/>
              <a:gd name="connsiteX2" fmla="*/ 626206 w 626206"/>
              <a:gd name="connsiteY2" fmla="*/ 982014 h 1964029"/>
              <a:gd name="connsiteX3" fmla="*/ 335316 w 626206"/>
              <a:gd name="connsiteY3" fmla="*/ 1934325 h 1964029"/>
              <a:gd name="connsiteX4" fmla="*/ 313103 w 626206"/>
              <a:gd name="connsiteY4" fmla="*/ 1964029 h 1964029"/>
              <a:gd name="connsiteX5" fmla="*/ 290891 w 626206"/>
              <a:gd name="connsiteY5" fmla="*/ 1934325 h 1964029"/>
              <a:gd name="connsiteX6" fmla="*/ 0 w 626206"/>
              <a:gd name="connsiteY6" fmla="*/ 982014 h 1964029"/>
              <a:gd name="connsiteX7" fmla="*/ 290891 w 626206"/>
              <a:gd name="connsiteY7" fmla="*/ 29704 h 19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06" h="1964029">
                <a:moveTo>
                  <a:pt x="313103" y="0"/>
                </a:moveTo>
                <a:lnTo>
                  <a:pt x="335316" y="29704"/>
                </a:lnTo>
                <a:cubicBezTo>
                  <a:pt x="518969" y="301546"/>
                  <a:pt x="626206" y="629257"/>
                  <a:pt x="626206" y="982014"/>
                </a:cubicBezTo>
                <a:cubicBezTo>
                  <a:pt x="626206" y="1334772"/>
                  <a:pt x="518969" y="1662482"/>
                  <a:pt x="335316" y="1934325"/>
                </a:cubicBezTo>
                <a:lnTo>
                  <a:pt x="313103" y="1964029"/>
                </a:lnTo>
                <a:lnTo>
                  <a:pt x="290891" y="1934325"/>
                </a:lnTo>
                <a:cubicBezTo>
                  <a:pt x="107238" y="1662482"/>
                  <a:pt x="0" y="1334772"/>
                  <a:pt x="0" y="982014"/>
                </a:cubicBezTo>
                <a:cubicBezTo>
                  <a:pt x="0" y="629257"/>
                  <a:pt x="107238" y="301546"/>
                  <a:pt x="290891" y="29704"/>
                </a:cubicBezTo>
                <a:close/>
              </a:path>
            </a:pathLst>
          </a:custGeom>
          <a:solidFill>
            <a:srgbClr val="484F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pc="-300" dirty="0">
              <a:ln>
                <a:solidFill>
                  <a:srgbClr val="7E8080">
                    <a:alpha val="0"/>
                  </a:srgbClr>
                </a:solidFill>
              </a:ln>
              <a:latin typeface="+mj-ea"/>
              <a:ea typeface="+mj-ea"/>
            </a:endParaRPr>
          </a:p>
        </p:txBody>
      </p:sp>
      <p:sp>
        <p:nvSpPr>
          <p:cNvPr id="26" name="타원 25">
            <a:extLst>
              <a:ext uri="{FF2B5EF4-FFF2-40B4-BE49-F238E27FC236}">
                <a16:creationId xmlns:a16="http://schemas.microsoft.com/office/drawing/2014/main" id="{15A63BE9-058C-7065-F2AA-EE44DDD4D352}"/>
              </a:ext>
            </a:extLst>
          </p:cNvPr>
          <p:cNvSpPr/>
          <p:nvPr/>
        </p:nvSpPr>
        <p:spPr>
          <a:xfrm>
            <a:off x="8171481" y="1986768"/>
            <a:ext cx="2955582" cy="2955580"/>
          </a:xfrm>
          <a:prstGeom prst="ellips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ln>
                <a:solidFill>
                  <a:srgbClr val="7E8080">
                    <a:alpha val="0"/>
                  </a:srgbClr>
                </a:solidFill>
              </a:ln>
              <a:latin typeface="에스코어 드림 4 Regular" panose="020B0503030302020204" pitchFamily="34" charset="-127"/>
              <a:ea typeface="에스코어 드림 4 Regular" panose="020B0503030302020204" pitchFamily="34" charset="-127"/>
            </a:endParaRPr>
          </a:p>
        </p:txBody>
      </p:sp>
      <p:sp>
        <p:nvSpPr>
          <p:cNvPr id="27" name="TextBox 26">
            <a:extLst>
              <a:ext uri="{FF2B5EF4-FFF2-40B4-BE49-F238E27FC236}">
                <a16:creationId xmlns:a16="http://schemas.microsoft.com/office/drawing/2014/main" id="{F696BDF8-7089-D342-980F-AE5F952A04B1}"/>
              </a:ext>
            </a:extLst>
          </p:cNvPr>
          <p:cNvSpPr txBox="1"/>
          <p:nvPr/>
        </p:nvSpPr>
        <p:spPr>
          <a:xfrm>
            <a:off x="8441779" y="3733589"/>
            <a:ext cx="2530602" cy="683633"/>
          </a:xfrm>
          <a:prstGeom prst="rect">
            <a:avLst/>
          </a:prstGeom>
          <a:noFill/>
        </p:spPr>
        <p:txBody>
          <a:bodyPr wrap="square" tIns="0" bIns="0" anchor="ctr" anchorCtr="0">
            <a:noAutofit/>
          </a:bodyPr>
          <a:lstStyle/>
          <a:p>
            <a:pPr algn="ctr">
              <a:spcBef>
                <a:spcPts val="500"/>
              </a:spcBef>
            </a:pPr>
            <a:r>
              <a:rPr kumimoji="1" lang="en-US" altLang="ko-KR" sz="1600" spc="-150" dirty="0">
                <a:ln>
                  <a:solidFill>
                    <a:srgbClr val="7E8080">
                      <a:alpha val="0"/>
                    </a:srgbClr>
                  </a:solidFill>
                </a:ln>
                <a:solidFill>
                  <a:schemeClr val="bg1"/>
                </a:solidFill>
                <a:latin typeface="+mj-ea"/>
                <a:ea typeface="+mj-ea"/>
              </a:rPr>
              <a:t>Door to Door visit</a:t>
            </a:r>
          </a:p>
        </p:txBody>
      </p:sp>
      <p:sp>
        <p:nvSpPr>
          <p:cNvPr id="28" name="TextBox 27">
            <a:extLst>
              <a:ext uri="{FF2B5EF4-FFF2-40B4-BE49-F238E27FC236}">
                <a16:creationId xmlns:a16="http://schemas.microsoft.com/office/drawing/2014/main" id="{97B5CA85-FFD1-5F28-9A84-FE9E80DC52DC}"/>
              </a:ext>
            </a:extLst>
          </p:cNvPr>
          <p:cNvSpPr txBox="1"/>
          <p:nvPr/>
        </p:nvSpPr>
        <p:spPr bwMode="auto">
          <a:xfrm>
            <a:off x="8726241" y="2791164"/>
            <a:ext cx="1961677" cy="400110"/>
          </a:xfrm>
          <a:prstGeom prst="rect">
            <a:avLst/>
          </a:prstGeom>
          <a:noFill/>
        </p:spPr>
        <p:txBody>
          <a:bodyPr wrap="square" anchor="ctr">
            <a:spAutoFit/>
          </a:bodyPr>
          <a:lstStyle/>
          <a:p>
            <a:pPr algn="ctr"/>
            <a:r>
              <a:rPr kumimoji="1" lang="en-US" altLang="ko-KR" sz="2000" b="1" dirty="0">
                <a:ln>
                  <a:solidFill>
                    <a:srgbClr val="7E8080">
                      <a:alpha val="0"/>
                    </a:srgbClr>
                  </a:solidFill>
                </a:ln>
                <a:solidFill>
                  <a:schemeClr val="bg1"/>
                </a:solidFill>
                <a:latin typeface="+mj-ea"/>
                <a:ea typeface="+mj-ea"/>
                <a:cs typeface="Lato Black" panose="020F0502020204030203" pitchFamily="34" charset="0"/>
              </a:rPr>
              <a:t>Cold Visit</a:t>
            </a:r>
          </a:p>
        </p:txBody>
      </p:sp>
      <p:sp>
        <p:nvSpPr>
          <p:cNvPr id="29" name="자유형: 도형 39">
            <a:extLst>
              <a:ext uri="{FF2B5EF4-FFF2-40B4-BE49-F238E27FC236}">
                <a16:creationId xmlns:a16="http://schemas.microsoft.com/office/drawing/2014/main" id="{DCDA43B1-2364-3120-384C-77A641BB0474}"/>
              </a:ext>
            </a:extLst>
          </p:cNvPr>
          <p:cNvSpPr/>
          <p:nvPr/>
        </p:nvSpPr>
        <p:spPr>
          <a:xfrm>
            <a:off x="8171481" y="2612539"/>
            <a:ext cx="543311" cy="1704037"/>
          </a:xfrm>
          <a:custGeom>
            <a:avLst/>
            <a:gdLst>
              <a:gd name="connsiteX0" fmla="*/ 313103 w 626206"/>
              <a:gd name="connsiteY0" fmla="*/ 0 h 1964029"/>
              <a:gd name="connsiteX1" fmla="*/ 335316 w 626206"/>
              <a:gd name="connsiteY1" fmla="*/ 29704 h 1964029"/>
              <a:gd name="connsiteX2" fmla="*/ 626206 w 626206"/>
              <a:gd name="connsiteY2" fmla="*/ 982014 h 1964029"/>
              <a:gd name="connsiteX3" fmla="*/ 335316 w 626206"/>
              <a:gd name="connsiteY3" fmla="*/ 1934325 h 1964029"/>
              <a:gd name="connsiteX4" fmla="*/ 313103 w 626206"/>
              <a:gd name="connsiteY4" fmla="*/ 1964029 h 1964029"/>
              <a:gd name="connsiteX5" fmla="*/ 290891 w 626206"/>
              <a:gd name="connsiteY5" fmla="*/ 1934325 h 1964029"/>
              <a:gd name="connsiteX6" fmla="*/ 0 w 626206"/>
              <a:gd name="connsiteY6" fmla="*/ 982014 h 1964029"/>
              <a:gd name="connsiteX7" fmla="*/ 290891 w 626206"/>
              <a:gd name="connsiteY7" fmla="*/ 29704 h 19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206" h="1964029">
                <a:moveTo>
                  <a:pt x="313103" y="0"/>
                </a:moveTo>
                <a:lnTo>
                  <a:pt x="335316" y="29704"/>
                </a:lnTo>
                <a:cubicBezTo>
                  <a:pt x="518969" y="301546"/>
                  <a:pt x="626206" y="629257"/>
                  <a:pt x="626206" y="982014"/>
                </a:cubicBezTo>
                <a:cubicBezTo>
                  <a:pt x="626206" y="1334772"/>
                  <a:pt x="518969" y="1662482"/>
                  <a:pt x="335316" y="1934325"/>
                </a:cubicBezTo>
                <a:lnTo>
                  <a:pt x="313103" y="1964029"/>
                </a:lnTo>
                <a:lnTo>
                  <a:pt x="290891" y="1934325"/>
                </a:lnTo>
                <a:cubicBezTo>
                  <a:pt x="107238" y="1662482"/>
                  <a:pt x="0" y="1334772"/>
                  <a:pt x="0" y="982014"/>
                </a:cubicBezTo>
                <a:cubicBezTo>
                  <a:pt x="0" y="629257"/>
                  <a:pt x="107238" y="301546"/>
                  <a:pt x="290891" y="29704"/>
                </a:cubicBezTo>
                <a:close/>
              </a:path>
            </a:pathLst>
          </a:custGeom>
          <a:solidFill>
            <a:srgbClr val="484F5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pc="-300" dirty="0">
              <a:ln>
                <a:solidFill>
                  <a:srgbClr val="7E8080">
                    <a:alpha val="0"/>
                  </a:srgbClr>
                </a:solidFill>
              </a:ln>
              <a:latin typeface="+mj-ea"/>
              <a:ea typeface="+mj-ea"/>
            </a:endParaRPr>
          </a:p>
        </p:txBody>
      </p:sp>
      <p:sp>
        <p:nvSpPr>
          <p:cNvPr id="30" name="사각형: 둥근 모서리 166">
            <a:extLst>
              <a:ext uri="{FF2B5EF4-FFF2-40B4-BE49-F238E27FC236}">
                <a16:creationId xmlns:a16="http://schemas.microsoft.com/office/drawing/2014/main" id="{4EDEA093-D6D2-98F7-AE94-60FAC29EFB6C}"/>
              </a:ext>
            </a:extLst>
          </p:cNvPr>
          <p:cNvSpPr/>
          <p:nvPr/>
        </p:nvSpPr>
        <p:spPr bwMode="auto">
          <a:xfrm>
            <a:off x="2164443" y="2276535"/>
            <a:ext cx="408120" cy="218130"/>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01</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1" name="사각형: 둥근 모서리 166">
            <a:extLst>
              <a:ext uri="{FF2B5EF4-FFF2-40B4-BE49-F238E27FC236}">
                <a16:creationId xmlns:a16="http://schemas.microsoft.com/office/drawing/2014/main" id="{4EDEA093-D6D2-98F7-AE94-60FAC29EFB6C}"/>
              </a:ext>
            </a:extLst>
          </p:cNvPr>
          <p:cNvSpPr/>
          <p:nvPr/>
        </p:nvSpPr>
        <p:spPr bwMode="auto">
          <a:xfrm>
            <a:off x="4597495" y="2276535"/>
            <a:ext cx="408120" cy="218130"/>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Lato Black" panose="020F0502020204030203" pitchFamily="34" charset="0"/>
                <a:cs typeface="Lato Black" panose="020F0502020204030203" pitchFamily="34" charset="0"/>
              </a:rPr>
              <a:t>02</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2" name="사각형: 둥근 모서리 166">
            <a:extLst>
              <a:ext uri="{FF2B5EF4-FFF2-40B4-BE49-F238E27FC236}">
                <a16:creationId xmlns:a16="http://schemas.microsoft.com/office/drawing/2014/main" id="{4EDEA093-D6D2-98F7-AE94-60FAC29EFB6C}"/>
              </a:ext>
            </a:extLst>
          </p:cNvPr>
          <p:cNvSpPr/>
          <p:nvPr/>
        </p:nvSpPr>
        <p:spPr bwMode="auto">
          <a:xfrm>
            <a:off x="6988985" y="2276535"/>
            <a:ext cx="408120" cy="218130"/>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rPr>
              <a:t>03</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
        <p:nvSpPr>
          <p:cNvPr id="33" name="사각형: 둥근 모서리 166">
            <a:extLst>
              <a:ext uri="{FF2B5EF4-FFF2-40B4-BE49-F238E27FC236}">
                <a16:creationId xmlns:a16="http://schemas.microsoft.com/office/drawing/2014/main" id="{4EDEA093-D6D2-98F7-AE94-60FAC29EFB6C}"/>
              </a:ext>
            </a:extLst>
          </p:cNvPr>
          <p:cNvSpPr/>
          <p:nvPr/>
        </p:nvSpPr>
        <p:spPr bwMode="auto">
          <a:xfrm>
            <a:off x="9397579" y="2276535"/>
            <a:ext cx="408120" cy="218130"/>
          </a:xfrm>
          <a:prstGeom prst="roundRect">
            <a:avLst>
              <a:gd name="adj" fmla="val 50000"/>
            </a:avLst>
          </a:prstGeom>
          <a:solidFill>
            <a:srgbClr val="9E0B28"/>
          </a:solidFill>
        </p:spPr>
        <p:txBody>
          <a:bodyPr wrap="square" lIns="0" rIns="0" anchor="ctr" anchorCtr="0">
            <a:noAutofit/>
          </a:bodyPr>
          <a:lstStyle/>
          <a:p>
            <a:pPr algn="ctr">
              <a:spcBef>
                <a:spcPts val="500"/>
              </a:spcBef>
            </a:pPr>
            <a:r>
              <a:rPr lang="en-US" altLang="ko-KR" sz="1050" b="1">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rPr>
              <a:t>04</a:t>
            </a:r>
            <a:endParaRPr lang="ko-KR" altLang="en-US" sz="1050" b="1" dirty="0">
              <a:ln>
                <a:solidFill>
                  <a:srgbClr val="B3CEDF">
                    <a:alpha val="0"/>
                  </a:srgbClr>
                </a:solidFill>
              </a:ln>
              <a:solidFill>
                <a:schemeClr val="bg1"/>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spTree>
    <p:extLst>
      <p:ext uri="{BB962C8B-B14F-4D97-AF65-F5344CB8AC3E}">
        <p14:creationId xmlns:p14="http://schemas.microsoft.com/office/powerpoint/2010/main" val="40040227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 name="그룹 108">
            <a:extLst>
              <a:ext uri="{FF2B5EF4-FFF2-40B4-BE49-F238E27FC236}">
                <a16:creationId xmlns:a16="http://schemas.microsoft.com/office/drawing/2014/main" id="{E55C4347-2116-534B-F85F-B6956CE9CD68}"/>
              </a:ext>
            </a:extLst>
          </p:cNvPr>
          <p:cNvGrpSpPr/>
          <p:nvPr/>
        </p:nvGrpSpPr>
        <p:grpSpPr>
          <a:xfrm>
            <a:off x="645628" y="1724066"/>
            <a:ext cx="10867614" cy="4303521"/>
            <a:chOff x="1206487" y="1552577"/>
            <a:chExt cx="10100660" cy="4306739"/>
          </a:xfrm>
        </p:grpSpPr>
        <p:grpSp>
          <p:nvGrpSpPr>
            <p:cNvPr id="74" name="그룹 73">
              <a:extLst>
                <a:ext uri="{FF2B5EF4-FFF2-40B4-BE49-F238E27FC236}">
                  <a16:creationId xmlns:a16="http://schemas.microsoft.com/office/drawing/2014/main" id="{76E3BF0B-35AC-27F5-FD7B-53502A057B28}"/>
                </a:ext>
              </a:extLst>
            </p:cNvPr>
            <p:cNvGrpSpPr/>
            <p:nvPr/>
          </p:nvGrpSpPr>
          <p:grpSpPr>
            <a:xfrm>
              <a:off x="1206487" y="1552577"/>
              <a:ext cx="2998865" cy="4306738"/>
              <a:chOff x="528600" y="1514095"/>
              <a:chExt cx="2710386" cy="3892444"/>
            </a:xfrm>
          </p:grpSpPr>
          <p:sp>
            <p:nvSpPr>
              <p:cNvPr id="39" name="직사각형 38">
                <a:extLst>
                  <a:ext uri="{FF2B5EF4-FFF2-40B4-BE49-F238E27FC236}">
                    <a16:creationId xmlns:a16="http://schemas.microsoft.com/office/drawing/2014/main" id="{D90FDB00-5D2A-E61A-CA42-01FFDB177212}"/>
                  </a:ext>
                </a:extLst>
              </p:cNvPr>
              <p:cNvSpPr/>
              <p:nvPr/>
            </p:nvSpPr>
            <p:spPr>
              <a:xfrm>
                <a:off x="604942" y="1514095"/>
                <a:ext cx="2557701" cy="3892444"/>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42" name="직사각형 41">
                <a:extLst>
                  <a:ext uri="{FF2B5EF4-FFF2-40B4-BE49-F238E27FC236}">
                    <a16:creationId xmlns:a16="http://schemas.microsoft.com/office/drawing/2014/main" id="{BA982E2C-40C6-4A36-F21B-3D77D9807FF4}"/>
                  </a:ext>
                </a:extLst>
              </p:cNvPr>
              <p:cNvSpPr/>
              <p:nvPr/>
            </p:nvSpPr>
            <p:spPr>
              <a:xfrm>
                <a:off x="882693" y="1673212"/>
                <a:ext cx="2002200" cy="1118562"/>
              </a:xfrm>
              <a:prstGeom prst="rect">
                <a:avLst/>
              </a:prstGeom>
              <a:solidFill>
                <a:srgbClr val="DDE0E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rPr>
                  <a:t>Budget Approval Took</a:t>
                </a:r>
              </a:p>
              <a:p>
                <a:pPr algn="ctr"/>
                <a:r>
                  <a:rPr lang="en-US" altLang="ko-KR"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rPr>
                  <a:t>3 Years from Application</a:t>
                </a:r>
                <a:endParaRPr lang="ko-KR" altLang="en-US"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endParaRPr>
              </a:p>
            </p:txBody>
          </p:sp>
          <p:sp>
            <p:nvSpPr>
              <p:cNvPr id="45" name="TextBox 44">
                <a:extLst>
                  <a:ext uri="{FF2B5EF4-FFF2-40B4-BE49-F238E27FC236}">
                    <a16:creationId xmlns:a16="http://schemas.microsoft.com/office/drawing/2014/main" id="{E2084274-60F1-EEC2-26E1-4298A45D1AC6}"/>
                  </a:ext>
                </a:extLst>
              </p:cNvPr>
              <p:cNvSpPr txBox="1"/>
              <p:nvPr/>
            </p:nvSpPr>
            <p:spPr>
              <a:xfrm>
                <a:off x="730682" y="3064166"/>
                <a:ext cx="2306222" cy="661720"/>
              </a:xfrm>
              <a:prstGeom prst="rect">
                <a:avLst/>
              </a:prstGeom>
              <a:noFill/>
            </p:spPr>
            <p:txBody>
              <a:bodyPr wrap="square" rIns="0" rtlCol="0">
                <a:noAutofit/>
              </a:bodyPr>
              <a:lstStyle/>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Case</a:t>
                </a:r>
                <a:r>
                  <a:rPr lang="ko-KR" altLang="en-US"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 </a:t>
                </a: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1: </a:t>
                </a:r>
              </a:p>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Kidney Transplant Center Research Lab at Oslo University Hospital, Norway </a:t>
                </a:r>
                <a:endParaRPr lang="ko-KR" altLang="en-US"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endParaRPr>
              </a:p>
            </p:txBody>
          </p:sp>
          <p:sp>
            <p:nvSpPr>
              <p:cNvPr id="46" name="TextBox 45">
                <a:extLst>
                  <a:ext uri="{FF2B5EF4-FFF2-40B4-BE49-F238E27FC236}">
                    <a16:creationId xmlns:a16="http://schemas.microsoft.com/office/drawing/2014/main" id="{4A57F482-0FEC-617F-76F6-5BCA8025BCFF}"/>
                  </a:ext>
                </a:extLst>
              </p:cNvPr>
              <p:cNvSpPr txBox="1"/>
              <p:nvPr/>
            </p:nvSpPr>
            <p:spPr>
              <a:xfrm>
                <a:off x="730682" y="3939081"/>
                <a:ext cx="2306222" cy="661720"/>
              </a:xfrm>
              <a:prstGeom prst="rect">
                <a:avLst/>
              </a:prstGeom>
              <a:noFill/>
            </p:spPr>
            <p:txBody>
              <a:bodyPr wrap="square" rIns="0" rtlCol="0">
                <a:noAutofit/>
              </a:bodyPr>
              <a:lstStyle/>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Outcome: </a:t>
                </a:r>
              </a:p>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Due to factors such as COVID-19 and changes in budget priority, it took 3 years.</a:t>
                </a:r>
              </a:p>
            </p:txBody>
          </p:sp>
          <p:sp>
            <p:nvSpPr>
              <p:cNvPr id="47" name="TextBox 46">
                <a:extLst>
                  <a:ext uri="{FF2B5EF4-FFF2-40B4-BE49-F238E27FC236}">
                    <a16:creationId xmlns:a16="http://schemas.microsoft.com/office/drawing/2014/main" id="{B1BAB0C0-EDF1-7FAA-4475-E4FE45CFE68A}"/>
                  </a:ext>
                </a:extLst>
              </p:cNvPr>
              <p:cNvSpPr txBox="1"/>
              <p:nvPr/>
            </p:nvSpPr>
            <p:spPr>
              <a:xfrm>
                <a:off x="528600" y="4716674"/>
                <a:ext cx="2710382" cy="683871"/>
              </a:xfrm>
              <a:prstGeom prst="rect">
                <a:avLst/>
              </a:prstGeom>
              <a:solidFill>
                <a:srgbClr val="9097A7"/>
              </a:solidFill>
            </p:spPr>
            <p:txBody>
              <a:bodyPr wrap="square" lIns="180000" tIns="0" bIns="0" rtlCol="0" anchor="ctr" anchorCtr="0">
                <a:noAutofit/>
              </a:bodyPr>
              <a:lstStyle/>
              <a:p>
                <a:pPr algn="ctr">
                  <a:spcBef>
                    <a:spcPts val="500"/>
                  </a:spcBef>
                </a:pPr>
                <a:r>
                  <a:rPr lang="en-US" altLang="ko-KR" sz="1200" b="1" dirty="0">
                    <a:ln>
                      <a:solidFill>
                        <a:srgbClr val="1E7678">
                          <a:alpha val="0"/>
                        </a:srgbClr>
                      </a:solidFill>
                    </a:ln>
                    <a:solidFill>
                      <a:schemeClr val="bg1"/>
                    </a:solidFill>
                    <a:latin typeface="에스코어 드림 6 Bold" panose="020B0703030302020204" pitchFamily="34" charset="-127"/>
                    <a:ea typeface="에스코어 드림 6 Bold" panose="020B0703030302020204" pitchFamily="34" charset="-127"/>
                  </a:rPr>
                  <a:t>The</a:t>
                </a:r>
                <a:r>
                  <a:rPr lang="ko-KR" altLang="en-US" sz="1200" b="1" dirty="0">
                    <a:ln>
                      <a:solidFill>
                        <a:srgbClr val="1E7678">
                          <a:alpha val="0"/>
                        </a:srgbClr>
                      </a:solidFill>
                    </a:ln>
                    <a:solidFill>
                      <a:schemeClr val="bg1"/>
                    </a:solidFill>
                    <a:latin typeface="에스코어 드림 6 Bold" panose="020B0703030302020204" pitchFamily="34" charset="-127"/>
                    <a:ea typeface="에스코어 드림 6 Bold" panose="020B0703030302020204" pitchFamily="34" charset="-127"/>
                  </a:rPr>
                  <a:t> </a:t>
                </a:r>
                <a:r>
                  <a:rPr lang="en-US" altLang="ko-KR" sz="1200" b="1" dirty="0">
                    <a:ln>
                      <a:solidFill>
                        <a:srgbClr val="1E7678">
                          <a:alpha val="0"/>
                        </a:srgbClr>
                      </a:solidFill>
                    </a:ln>
                    <a:solidFill>
                      <a:schemeClr val="bg1"/>
                    </a:solidFill>
                    <a:latin typeface="에스코어 드림 6 Bold" panose="020B0703030302020204" pitchFamily="34" charset="-127"/>
                    <a:ea typeface="에스코어 드림 6 Bold" panose="020B0703030302020204" pitchFamily="34" charset="-127"/>
                  </a:rPr>
                  <a:t>Purchase Process Can Take Long</a:t>
                </a:r>
              </a:p>
            </p:txBody>
          </p:sp>
          <p:cxnSp>
            <p:nvCxnSpPr>
              <p:cNvPr id="48" name="직선 연결선 47">
                <a:extLst>
                  <a:ext uri="{FF2B5EF4-FFF2-40B4-BE49-F238E27FC236}">
                    <a16:creationId xmlns:a16="http://schemas.microsoft.com/office/drawing/2014/main" id="{04A334E3-520F-8562-7EAA-E22F29EC01D4}"/>
                  </a:ext>
                </a:extLst>
              </p:cNvPr>
              <p:cNvCxnSpPr>
                <a:cxnSpLocks/>
              </p:cNvCxnSpPr>
              <p:nvPr/>
            </p:nvCxnSpPr>
            <p:spPr>
              <a:xfrm>
                <a:off x="701612" y="2957620"/>
                <a:ext cx="2364361"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80A36777-344E-A1DF-C711-4A0EA9CD063C}"/>
                  </a:ext>
                </a:extLst>
              </p:cNvPr>
              <p:cNvCxnSpPr>
                <a:cxnSpLocks/>
              </p:cNvCxnSpPr>
              <p:nvPr/>
            </p:nvCxnSpPr>
            <p:spPr>
              <a:xfrm>
                <a:off x="701612" y="3848870"/>
                <a:ext cx="2364361"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50" name="직각 삼각형 49">
                <a:extLst>
                  <a:ext uri="{FF2B5EF4-FFF2-40B4-BE49-F238E27FC236}">
                    <a16:creationId xmlns:a16="http://schemas.microsoft.com/office/drawing/2014/main" id="{5FBBED07-7E25-D5CF-BA29-73D4AB7D1BDC}"/>
                  </a:ext>
                </a:extLst>
              </p:cNvPr>
              <p:cNvSpPr/>
              <p:nvPr/>
            </p:nvSpPr>
            <p:spPr>
              <a:xfrm>
                <a:off x="3159759" y="4642325"/>
                <a:ext cx="79227" cy="79227"/>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51" name="직각 삼각형 50">
                <a:extLst>
                  <a:ext uri="{FF2B5EF4-FFF2-40B4-BE49-F238E27FC236}">
                    <a16:creationId xmlns:a16="http://schemas.microsoft.com/office/drawing/2014/main" id="{70B13FD3-1893-9138-A603-1C7FC23C7371}"/>
                  </a:ext>
                </a:extLst>
              </p:cNvPr>
              <p:cNvSpPr/>
              <p:nvPr/>
            </p:nvSpPr>
            <p:spPr>
              <a:xfrm flipH="1">
                <a:off x="528602" y="4642325"/>
                <a:ext cx="79227" cy="79227"/>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67" name="TextBox 66">
                <a:extLst>
                  <a:ext uri="{FF2B5EF4-FFF2-40B4-BE49-F238E27FC236}">
                    <a16:creationId xmlns:a16="http://schemas.microsoft.com/office/drawing/2014/main" id="{B9831EEA-9D65-F80A-4CEE-DE7587740E9F}"/>
                  </a:ext>
                </a:extLst>
              </p:cNvPr>
              <p:cNvSpPr txBox="1"/>
              <p:nvPr/>
            </p:nvSpPr>
            <p:spPr>
              <a:xfrm>
                <a:off x="780776" y="1603689"/>
                <a:ext cx="754868" cy="207367"/>
              </a:xfrm>
              <a:prstGeom prst="rect">
                <a:avLst/>
              </a:prstGeom>
              <a:solidFill>
                <a:srgbClr val="9E0B28"/>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1E7678">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Case 1</a:t>
                </a:r>
              </a:p>
            </p:txBody>
          </p:sp>
        </p:grpSp>
        <p:grpSp>
          <p:nvGrpSpPr>
            <p:cNvPr id="75" name="그룹 74">
              <a:extLst>
                <a:ext uri="{FF2B5EF4-FFF2-40B4-BE49-F238E27FC236}">
                  <a16:creationId xmlns:a16="http://schemas.microsoft.com/office/drawing/2014/main" id="{A925660A-5176-EEF0-7D2E-7BFF6A6125C0}"/>
                </a:ext>
              </a:extLst>
            </p:cNvPr>
            <p:cNvGrpSpPr/>
            <p:nvPr/>
          </p:nvGrpSpPr>
          <p:grpSpPr>
            <a:xfrm>
              <a:off x="4754304" y="1552578"/>
              <a:ext cx="2998863" cy="4306738"/>
              <a:chOff x="489636" y="1514095"/>
              <a:chExt cx="2710385" cy="3892444"/>
            </a:xfrm>
          </p:grpSpPr>
          <p:sp>
            <p:nvSpPr>
              <p:cNvPr id="76" name="직사각형 75">
                <a:extLst>
                  <a:ext uri="{FF2B5EF4-FFF2-40B4-BE49-F238E27FC236}">
                    <a16:creationId xmlns:a16="http://schemas.microsoft.com/office/drawing/2014/main" id="{416F98A0-EAB2-6F72-4E61-C69FF0B41590}"/>
                  </a:ext>
                </a:extLst>
              </p:cNvPr>
              <p:cNvSpPr/>
              <p:nvPr/>
            </p:nvSpPr>
            <p:spPr>
              <a:xfrm>
                <a:off x="565979" y="1514095"/>
                <a:ext cx="2557701" cy="3892444"/>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77" name="직사각형 76">
                <a:extLst>
                  <a:ext uri="{FF2B5EF4-FFF2-40B4-BE49-F238E27FC236}">
                    <a16:creationId xmlns:a16="http://schemas.microsoft.com/office/drawing/2014/main" id="{FC55D6A9-C79E-6AA3-4988-A985EDCB9C01}"/>
                  </a:ext>
                </a:extLst>
              </p:cNvPr>
              <p:cNvSpPr/>
              <p:nvPr/>
            </p:nvSpPr>
            <p:spPr>
              <a:xfrm>
                <a:off x="843730" y="1674496"/>
                <a:ext cx="2002200" cy="1118562"/>
              </a:xfrm>
              <a:prstGeom prst="rect">
                <a:avLst/>
              </a:prstGeom>
              <a:solidFill>
                <a:srgbClr val="DDE0E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rPr>
                  <a:t>Nephrology – X Budget</a:t>
                </a:r>
              </a:p>
              <a:p>
                <a:pPr algn="ctr"/>
                <a:r>
                  <a:rPr lang="en-US" altLang="ko-KR"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rPr>
                  <a:t>ICU – O Budget</a:t>
                </a:r>
                <a:endParaRPr lang="ko-KR" altLang="en-US" sz="16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endParaRPr>
              </a:p>
            </p:txBody>
          </p:sp>
          <p:sp>
            <p:nvSpPr>
              <p:cNvPr id="78" name="TextBox 77">
                <a:extLst>
                  <a:ext uri="{FF2B5EF4-FFF2-40B4-BE49-F238E27FC236}">
                    <a16:creationId xmlns:a16="http://schemas.microsoft.com/office/drawing/2014/main" id="{7A37B487-7DED-5C41-0DA2-089EB2BDC1A7}"/>
                  </a:ext>
                </a:extLst>
              </p:cNvPr>
              <p:cNvSpPr txBox="1"/>
              <p:nvPr/>
            </p:nvSpPr>
            <p:spPr>
              <a:xfrm>
                <a:off x="691719" y="3064167"/>
                <a:ext cx="2306222" cy="661720"/>
              </a:xfrm>
              <a:prstGeom prst="rect">
                <a:avLst/>
              </a:prstGeom>
              <a:noFill/>
            </p:spPr>
            <p:txBody>
              <a:bodyPr wrap="square" rIns="0" rtlCol="0">
                <a:noAutofit/>
              </a:bodyPr>
              <a:lstStyle/>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Case 2: </a:t>
                </a:r>
              </a:p>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Visiting a Dialysis Center in India Where the Doctor Also Treats ICU Patients</a:t>
                </a:r>
                <a:endParaRPr lang="ko-KR" altLang="en-US"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endParaRPr>
              </a:p>
            </p:txBody>
          </p:sp>
          <p:sp>
            <p:nvSpPr>
              <p:cNvPr id="79" name="TextBox 78">
                <a:extLst>
                  <a:ext uri="{FF2B5EF4-FFF2-40B4-BE49-F238E27FC236}">
                    <a16:creationId xmlns:a16="http://schemas.microsoft.com/office/drawing/2014/main" id="{6EB82F18-DA19-7335-0C10-1E40A9066E56}"/>
                  </a:ext>
                </a:extLst>
              </p:cNvPr>
              <p:cNvSpPr txBox="1"/>
              <p:nvPr/>
            </p:nvSpPr>
            <p:spPr>
              <a:xfrm>
                <a:off x="691719" y="3939081"/>
                <a:ext cx="2306222" cy="661720"/>
              </a:xfrm>
              <a:prstGeom prst="rect">
                <a:avLst/>
              </a:prstGeom>
              <a:noFill/>
            </p:spPr>
            <p:txBody>
              <a:bodyPr wrap="square" rIns="0" rtlCol="0">
                <a:noAutofit/>
              </a:bodyPr>
              <a:lstStyle/>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Outcome: </a:t>
                </a:r>
              </a:p>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Gained trust during dialysis demo, leading to an unplanned ICU demo as well. </a:t>
                </a:r>
                <a:endParaRPr lang="ko-KR" altLang="en-US"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endParaRPr>
              </a:p>
            </p:txBody>
          </p:sp>
          <p:sp>
            <p:nvSpPr>
              <p:cNvPr id="80" name="TextBox 79">
                <a:extLst>
                  <a:ext uri="{FF2B5EF4-FFF2-40B4-BE49-F238E27FC236}">
                    <a16:creationId xmlns:a16="http://schemas.microsoft.com/office/drawing/2014/main" id="{9108BEEF-E209-2346-6366-FA880AD932A7}"/>
                  </a:ext>
                </a:extLst>
              </p:cNvPr>
              <p:cNvSpPr txBox="1"/>
              <p:nvPr/>
            </p:nvSpPr>
            <p:spPr>
              <a:xfrm>
                <a:off x="489639" y="4716674"/>
                <a:ext cx="2710382" cy="683871"/>
              </a:xfrm>
              <a:prstGeom prst="rect">
                <a:avLst/>
              </a:prstGeom>
              <a:solidFill>
                <a:srgbClr val="9097A7"/>
              </a:solidFill>
            </p:spPr>
            <p:txBody>
              <a:bodyPr wrap="square" lIns="180000" tIns="0" bIns="0" rtlCol="0" anchor="ctr" anchorCtr="0">
                <a:noAutofit/>
              </a:bodyPr>
              <a:lstStyle/>
              <a:p>
                <a:pPr algn="ctr">
                  <a:spcBef>
                    <a:spcPts val="500"/>
                  </a:spcBef>
                </a:pPr>
                <a:r>
                  <a:rPr lang="en-US" altLang="ko-KR" sz="1200" b="1" spc="-70" dirty="0">
                    <a:ln>
                      <a:solidFill>
                        <a:srgbClr val="1E7678">
                          <a:alpha val="0"/>
                        </a:srgbClr>
                      </a:solidFill>
                    </a:ln>
                    <a:solidFill>
                      <a:schemeClr val="bg1"/>
                    </a:solidFill>
                    <a:latin typeface="에스코어 드림 6 Bold" panose="020B0703030302020204" pitchFamily="34" charset="-127"/>
                    <a:ea typeface="에스코어 드림 6 Bold" panose="020B0703030302020204" pitchFamily="34" charset="-127"/>
                  </a:rPr>
                  <a:t>Nephrology Specialists Are Often Involved with Other Departments</a:t>
                </a:r>
                <a:endParaRPr lang="ko-KR" altLang="en-US" sz="1200" spc="-70" dirty="0">
                  <a:ln>
                    <a:solidFill>
                      <a:srgbClr val="1E7678">
                        <a:alpha val="0"/>
                      </a:srgbClr>
                    </a:solidFill>
                  </a:ln>
                  <a:solidFill>
                    <a:schemeClr val="bg1"/>
                  </a:solidFill>
                  <a:latin typeface="에스코어 드림 6 Bold" panose="020B0703030302020204" pitchFamily="34" charset="-127"/>
                  <a:ea typeface="에스코어 드림 6 Bold" panose="020B0703030302020204" pitchFamily="34" charset="-127"/>
                </a:endParaRPr>
              </a:p>
            </p:txBody>
          </p:sp>
          <p:cxnSp>
            <p:nvCxnSpPr>
              <p:cNvPr id="81" name="직선 연결선 80">
                <a:extLst>
                  <a:ext uri="{FF2B5EF4-FFF2-40B4-BE49-F238E27FC236}">
                    <a16:creationId xmlns:a16="http://schemas.microsoft.com/office/drawing/2014/main" id="{633031CF-6FA5-E466-7EE0-EBC6F0990717}"/>
                  </a:ext>
                </a:extLst>
              </p:cNvPr>
              <p:cNvCxnSpPr>
                <a:cxnSpLocks/>
              </p:cNvCxnSpPr>
              <p:nvPr/>
            </p:nvCxnSpPr>
            <p:spPr>
              <a:xfrm>
                <a:off x="662649" y="2957620"/>
                <a:ext cx="2364361"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694B1894-8A60-67DF-FFE4-6F0F054C6A3D}"/>
                  </a:ext>
                </a:extLst>
              </p:cNvPr>
              <p:cNvCxnSpPr>
                <a:cxnSpLocks/>
              </p:cNvCxnSpPr>
              <p:nvPr/>
            </p:nvCxnSpPr>
            <p:spPr>
              <a:xfrm>
                <a:off x="662649" y="3848870"/>
                <a:ext cx="2364361"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83" name="직각 삼각형 82">
                <a:extLst>
                  <a:ext uri="{FF2B5EF4-FFF2-40B4-BE49-F238E27FC236}">
                    <a16:creationId xmlns:a16="http://schemas.microsoft.com/office/drawing/2014/main" id="{99134C40-AF6F-732E-780D-761F3B38204A}"/>
                  </a:ext>
                </a:extLst>
              </p:cNvPr>
              <p:cNvSpPr/>
              <p:nvPr/>
            </p:nvSpPr>
            <p:spPr>
              <a:xfrm>
                <a:off x="3120794" y="4642325"/>
                <a:ext cx="79227" cy="79227"/>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84" name="직각 삼각형 83">
                <a:extLst>
                  <a:ext uri="{FF2B5EF4-FFF2-40B4-BE49-F238E27FC236}">
                    <a16:creationId xmlns:a16="http://schemas.microsoft.com/office/drawing/2014/main" id="{2925FBFC-006F-334A-D8A6-89F29D3E9224}"/>
                  </a:ext>
                </a:extLst>
              </p:cNvPr>
              <p:cNvSpPr/>
              <p:nvPr/>
            </p:nvSpPr>
            <p:spPr>
              <a:xfrm flipH="1">
                <a:off x="489636" y="4642325"/>
                <a:ext cx="79227" cy="79227"/>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85" name="TextBox 84">
                <a:extLst>
                  <a:ext uri="{FF2B5EF4-FFF2-40B4-BE49-F238E27FC236}">
                    <a16:creationId xmlns:a16="http://schemas.microsoft.com/office/drawing/2014/main" id="{DF3F7D14-04C9-FF93-047A-94E455AF6A67}"/>
                  </a:ext>
                </a:extLst>
              </p:cNvPr>
              <p:cNvSpPr txBox="1"/>
              <p:nvPr/>
            </p:nvSpPr>
            <p:spPr>
              <a:xfrm>
                <a:off x="741812" y="1603687"/>
                <a:ext cx="754868" cy="207367"/>
              </a:xfrm>
              <a:prstGeom prst="rect">
                <a:avLst/>
              </a:prstGeom>
              <a:solidFill>
                <a:srgbClr val="9E0B28"/>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1E7678">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Case 2</a:t>
                </a:r>
              </a:p>
            </p:txBody>
          </p:sp>
        </p:grpSp>
        <p:grpSp>
          <p:nvGrpSpPr>
            <p:cNvPr id="86" name="그룹 85">
              <a:extLst>
                <a:ext uri="{FF2B5EF4-FFF2-40B4-BE49-F238E27FC236}">
                  <a16:creationId xmlns:a16="http://schemas.microsoft.com/office/drawing/2014/main" id="{39E7BEB0-C7E4-FE75-EEF5-701D746ED594}"/>
                </a:ext>
              </a:extLst>
            </p:cNvPr>
            <p:cNvGrpSpPr/>
            <p:nvPr/>
          </p:nvGrpSpPr>
          <p:grpSpPr>
            <a:xfrm>
              <a:off x="8308281" y="1552578"/>
              <a:ext cx="2998866" cy="4306737"/>
              <a:chOff x="456240" y="1514095"/>
              <a:chExt cx="2710386" cy="3892443"/>
            </a:xfrm>
          </p:grpSpPr>
          <p:sp>
            <p:nvSpPr>
              <p:cNvPr id="87" name="직사각형 86">
                <a:extLst>
                  <a:ext uri="{FF2B5EF4-FFF2-40B4-BE49-F238E27FC236}">
                    <a16:creationId xmlns:a16="http://schemas.microsoft.com/office/drawing/2014/main" id="{F9604F39-D8F2-A384-2C00-BB01A76AADC3}"/>
                  </a:ext>
                </a:extLst>
              </p:cNvPr>
              <p:cNvSpPr/>
              <p:nvPr/>
            </p:nvSpPr>
            <p:spPr>
              <a:xfrm>
                <a:off x="532583" y="1514095"/>
                <a:ext cx="2557701" cy="3892443"/>
              </a:xfrm>
              <a:prstGeom prst="rect">
                <a:avLst/>
              </a:prstGeom>
              <a:solidFill>
                <a:srgbClr val="F4F4F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88" name="직사각형 87">
                <a:extLst>
                  <a:ext uri="{FF2B5EF4-FFF2-40B4-BE49-F238E27FC236}">
                    <a16:creationId xmlns:a16="http://schemas.microsoft.com/office/drawing/2014/main" id="{1AC2FBA0-42BD-141C-96AC-D9D9C5405916}"/>
                  </a:ext>
                </a:extLst>
              </p:cNvPr>
              <p:cNvSpPr/>
              <p:nvPr/>
            </p:nvSpPr>
            <p:spPr>
              <a:xfrm>
                <a:off x="810334" y="1674496"/>
                <a:ext cx="2002200" cy="1118562"/>
              </a:xfrm>
              <a:prstGeom prst="rect">
                <a:avLst/>
              </a:prstGeom>
              <a:solidFill>
                <a:srgbClr val="DDE0E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altLang="ko-KR"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rPr>
                  <a:t>Securing Budgets in Collaboration with Other Departments</a:t>
                </a:r>
                <a:endParaRPr lang="ko-KR" altLang="en-US" sz="1400" b="1" dirty="0">
                  <a:ln>
                    <a:solidFill>
                      <a:srgbClr val="1E7678">
                        <a:alpha val="0"/>
                      </a:srgbClr>
                    </a:solidFill>
                  </a:ln>
                  <a:solidFill>
                    <a:srgbClr val="9097A7"/>
                  </a:solidFill>
                  <a:latin typeface="Lato" panose="020F0502020204030203" pitchFamily="34" charset="0"/>
                  <a:ea typeface="에스코어 드림 4 Regular" panose="020B0503030302020204" pitchFamily="34" charset="-127"/>
                  <a:cs typeface="Lato" panose="020F0502020204030203" pitchFamily="34" charset="0"/>
                </a:endParaRPr>
              </a:p>
            </p:txBody>
          </p:sp>
          <p:sp>
            <p:nvSpPr>
              <p:cNvPr id="89" name="TextBox 88">
                <a:extLst>
                  <a:ext uri="{FF2B5EF4-FFF2-40B4-BE49-F238E27FC236}">
                    <a16:creationId xmlns:a16="http://schemas.microsoft.com/office/drawing/2014/main" id="{94965E36-CE56-91F2-3A84-53FD46F5BDFB}"/>
                  </a:ext>
                </a:extLst>
              </p:cNvPr>
              <p:cNvSpPr txBox="1"/>
              <p:nvPr/>
            </p:nvSpPr>
            <p:spPr>
              <a:xfrm>
                <a:off x="658323" y="3064170"/>
                <a:ext cx="2306222" cy="661720"/>
              </a:xfrm>
              <a:prstGeom prst="rect">
                <a:avLst/>
              </a:prstGeom>
              <a:noFill/>
            </p:spPr>
            <p:txBody>
              <a:bodyPr wrap="square" rIns="0" rtlCol="0">
                <a:noAutofit/>
              </a:bodyPr>
              <a:lstStyle/>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Case 3: </a:t>
                </a:r>
              </a:p>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Unexpected Engagement with Transplant and Surgery Specialists</a:t>
                </a:r>
                <a:endParaRPr lang="ko-KR" altLang="en-US"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endParaRPr>
              </a:p>
            </p:txBody>
          </p:sp>
          <p:sp>
            <p:nvSpPr>
              <p:cNvPr id="90" name="TextBox 89">
                <a:extLst>
                  <a:ext uri="{FF2B5EF4-FFF2-40B4-BE49-F238E27FC236}">
                    <a16:creationId xmlns:a16="http://schemas.microsoft.com/office/drawing/2014/main" id="{6AC90ED3-E130-31D5-589F-B6776D3A24F8}"/>
                  </a:ext>
                </a:extLst>
              </p:cNvPr>
              <p:cNvSpPr txBox="1"/>
              <p:nvPr/>
            </p:nvSpPr>
            <p:spPr>
              <a:xfrm>
                <a:off x="658323" y="3939079"/>
                <a:ext cx="2306222" cy="661720"/>
              </a:xfrm>
              <a:prstGeom prst="rect">
                <a:avLst/>
              </a:prstGeom>
              <a:noFill/>
            </p:spPr>
            <p:txBody>
              <a:bodyPr wrap="square" rIns="0" rtlCol="0">
                <a:noAutofit/>
              </a:bodyPr>
              <a:lstStyle/>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Outcome: </a:t>
                </a:r>
              </a:p>
              <a:p>
                <a:pPr algn="l">
                  <a:lnSpc>
                    <a:spcPct val="120000"/>
                  </a:lnSpc>
                  <a:spcBef>
                    <a:spcPts val="300"/>
                  </a:spcBef>
                </a:pPr>
                <a:r>
                  <a:rPr lang="en-US" altLang="ko-KR"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rPr>
                  <a:t>Creating Budget by Departments Collaborating on Budget Allocation. </a:t>
                </a:r>
                <a:endParaRPr lang="ko-KR" altLang="en-US" sz="1100" kern="0" spc="-50" dirty="0">
                  <a:ln>
                    <a:solidFill>
                      <a:srgbClr val="1E7678">
                        <a:alpha val="0"/>
                      </a:srgbClr>
                    </a:solidFill>
                  </a:ln>
                  <a:solidFill>
                    <a:srgbClr val="3C3C3A"/>
                  </a:solidFill>
                  <a:latin typeface="에스코어 드림 4 Regular" panose="020B0503030302020204" pitchFamily="34" charset="-127"/>
                  <a:ea typeface="에스코어 드림 4 Regular" panose="020B0503030302020204" pitchFamily="34" charset="-127"/>
                </a:endParaRPr>
              </a:p>
            </p:txBody>
          </p:sp>
          <p:sp>
            <p:nvSpPr>
              <p:cNvPr id="91" name="TextBox 90">
                <a:extLst>
                  <a:ext uri="{FF2B5EF4-FFF2-40B4-BE49-F238E27FC236}">
                    <a16:creationId xmlns:a16="http://schemas.microsoft.com/office/drawing/2014/main" id="{F2512562-1D18-8B35-2E8C-4AD9092E7108}"/>
                  </a:ext>
                </a:extLst>
              </p:cNvPr>
              <p:cNvSpPr txBox="1"/>
              <p:nvPr/>
            </p:nvSpPr>
            <p:spPr>
              <a:xfrm>
                <a:off x="456243" y="4716674"/>
                <a:ext cx="2710382" cy="683871"/>
              </a:xfrm>
              <a:prstGeom prst="rect">
                <a:avLst/>
              </a:prstGeom>
              <a:solidFill>
                <a:srgbClr val="9097A7"/>
              </a:solidFill>
            </p:spPr>
            <p:txBody>
              <a:bodyPr wrap="square" lIns="180000" tIns="0" bIns="0" rtlCol="0" anchor="ctr" anchorCtr="0">
                <a:noAutofit/>
              </a:bodyPr>
              <a:lstStyle/>
              <a:p>
                <a:pPr algn="ctr">
                  <a:spcBef>
                    <a:spcPts val="500"/>
                  </a:spcBef>
                </a:pPr>
                <a:r>
                  <a:rPr lang="en-US" altLang="x-none" sz="1200" b="1" dirty="0">
                    <a:ln>
                      <a:solidFill>
                        <a:srgbClr val="1E7678">
                          <a:alpha val="0"/>
                        </a:srgbClr>
                      </a:solidFill>
                    </a:ln>
                    <a:solidFill>
                      <a:schemeClr val="bg1"/>
                    </a:solidFill>
                    <a:latin typeface="에스코어 드림 6 Bold" panose="020B0703030302020204" pitchFamily="34" charset="-127"/>
                    <a:ea typeface="에스코어 드림 6 Bold" panose="020B0703030302020204" pitchFamily="34" charset="-127"/>
                  </a:rPr>
                  <a:t>Budgets Can be Secured Through Collaboration with Other Departments</a:t>
                </a:r>
              </a:p>
            </p:txBody>
          </p:sp>
          <p:cxnSp>
            <p:nvCxnSpPr>
              <p:cNvPr id="92" name="직선 연결선 91">
                <a:extLst>
                  <a:ext uri="{FF2B5EF4-FFF2-40B4-BE49-F238E27FC236}">
                    <a16:creationId xmlns:a16="http://schemas.microsoft.com/office/drawing/2014/main" id="{822E4C68-3A64-8AD1-9762-95C56C82CEDD}"/>
                  </a:ext>
                </a:extLst>
              </p:cNvPr>
              <p:cNvCxnSpPr>
                <a:cxnSpLocks/>
              </p:cNvCxnSpPr>
              <p:nvPr/>
            </p:nvCxnSpPr>
            <p:spPr>
              <a:xfrm>
                <a:off x="629253" y="2957620"/>
                <a:ext cx="2364361"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cxnSp>
            <p:nvCxnSpPr>
              <p:cNvPr id="93" name="직선 연결선 92">
                <a:extLst>
                  <a:ext uri="{FF2B5EF4-FFF2-40B4-BE49-F238E27FC236}">
                    <a16:creationId xmlns:a16="http://schemas.microsoft.com/office/drawing/2014/main" id="{81C039B4-228F-A92E-79CC-97E15A9EB68E}"/>
                  </a:ext>
                </a:extLst>
              </p:cNvPr>
              <p:cNvCxnSpPr>
                <a:cxnSpLocks/>
              </p:cNvCxnSpPr>
              <p:nvPr/>
            </p:nvCxnSpPr>
            <p:spPr>
              <a:xfrm>
                <a:off x="629253" y="3848870"/>
                <a:ext cx="2364361" cy="0"/>
              </a:xfrm>
              <a:prstGeom prst="line">
                <a:avLst/>
              </a:prstGeom>
              <a:ln>
                <a:solidFill>
                  <a:srgbClr val="CDD2D6"/>
                </a:solidFill>
              </a:ln>
            </p:spPr>
            <p:style>
              <a:lnRef idx="1">
                <a:schemeClr val="accent1"/>
              </a:lnRef>
              <a:fillRef idx="0">
                <a:schemeClr val="accent1"/>
              </a:fillRef>
              <a:effectRef idx="0">
                <a:schemeClr val="accent1"/>
              </a:effectRef>
              <a:fontRef idx="minor">
                <a:schemeClr val="tx1"/>
              </a:fontRef>
            </p:style>
          </p:cxnSp>
          <p:sp>
            <p:nvSpPr>
              <p:cNvPr id="94" name="직각 삼각형 93">
                <a:extLst>
                  <a:ext uri="{FF2B5EF4-FFF2-40B4-BE49-F238E27FC236}">
                    <a16:creationId xmlns:a16="http://schemas.microsoft.com/office/drawing/2014/main" id="{959451C9-9BAE-3CB1-46DD-66DEADD5661E}"/>
                  </a:ext>
                </a:extLst>
              </p:cNvPr>
              <p:cNvSpPr/>
              <p:nvPr/>
            </p:nvSpPr>
            <p:spPr>
              <a:xfrm>
                <a:off x="3087399" y="4641342"/>
                <a:ext cx="79227" cy="79227"/>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95" name="직각 삼각형 94">
                <a:extLst>
                  <a:ext uri="{FF2B5EF4-FFF2-40B4-BE49-F238E27FC236}">
                    <a16:creationId xmlns:a16="http://schemas.microsoft.com/office/drawing/2014/main" id="{FECCE057-46DC-30E5-437A-5908B9AC199D}"/>
                  </a:ext>
                </a:extLst>
              </p:cNvPr>
              <p:cNvSpPr/>
              <p:nvPr/>
            </p:nvSpPr>
            <p:spPr>
              <a:xfrm flipH="1">
                <a:off x="456240" y="4641342"/>
                <a:ext cx="79227" cy="79227"/>
              </a:xfrm>
              <a:prstGeom prst="rtTriangle">
                <a:avLst/>
              </a:prstGeom>
              <a:solidFill>
                <a:srgbClr val="656E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ko-KR" altLang="en-US" sz="1600" dirty="0">
                  <a:ln>
                    <a:solidFill>
                      <a:srgbClr val="1E7678">
                        <a:alpha val="0"/>
                      </a:srgbClr>
                    </a:solidFill>
                  </a:ln>
                  <a:latin typeface="에스코어 드림 4 Regular" panose="020B0503030302020204" pitchFamily="34" charset="-127"/>
                  <a:ea typeface="에스코어 드림 4 Regular" panose="020B0503030302020204" pitchFamily="34" charset="-127"/>
                </a:endParaRPr>
              </a:p>
            </p:txBody>
          </p:sp>
          <p:sp>
            <p:nvSpPr>
              <p:cNvPr id="96" name="TextBox 95">
                <a:extLst>
                  <a:ext uri="{FF2B5EF4-FFF2-40B4-BE49-F238E27FC236}">
                    <a16:creationId xmlns:a16="http://schemas.microsoft.com/office/drawing/2014/main" id="{059ABA6B-336F-726E-5493-1EC8939F180D}"/>
                  </a:ext>
                </a:extLst>
              </p:cNvPr>
              <p:cNvSpPr txBox="1"/>
              <p:nvPr/>
            </p:nvSpPr>
            <p:spPr>
              <a:xfrm>
                <a:off x="708417" y="1603685"/>
                <a:ext cx="754868" cy="207367"/>
              </a:xfrm>
              <a:prstGeom prst="rect">
                <a:avLst/>
              </a:prstGeom>
              <a:solidFill>
                <a:srgbClr val="9E0B28"/>
              </a:solidFill>
              <a:effectLst>
                <a:outerShdw blurRad="127000" dist="38100" dir="2700000" algn="tl" rotWithShape="0">
                  <a:prstClr val="black">
                    <a:alpha val="30000"/>
                  </a:prstClr>
                </a:outerShdw>
              </a:effectLst>
            </p:spPr>
            <p:txBody>
              <a:bodyPr wrap="square" lIns="0" tIns="0" rIns="0" bIns="0" rtlCol="0" anchor="ctr" anchorCtr="0">
                <a:noAutofit/>
              </a:bodyPr>
              <a:lstStyle/>
              <a:p>
                <a:pPr algn="ctr">
                  <a:spcBef>
                    <a:spcPts val="0"/>
                  </a:spcBef>
                </a:pPr>
                <a:r>
                  <a:rPr kumimoji="1" lang="en-US" altLang="ko-KR" sz="1100" b="1" dirty="0">
                    <a:ln>
                      <a:solidFill>
                        <a:srgbClr val="1E7678">
                          <a:alpha val="0"/>
                        </a:srgbClr>
                      </a:solidFill>
                    </a:ln>
                    <a:solidFill>
                      <a:schemeClr val="bg1"/>
                    </a:solidFill>
                    <a:latin typeface="Lato" panose="020F0502020204030203" pitchFamily="34" charset="0"/>
                    <a:ea typeface="Lato" panose="020F0502020204030203" pitchFamily="34" charset="0"/>
                    <a:cs typeface="Lato" panose="020F0502020204030203" pitchFamily="34" charset="0"/>
                  </a:rPr>
                  <a:t>Case 3</a:t>
                </a:r>
              </a:p>
            </p:txBody>
          </p:sp>
        </p:grpSp>
      </p:grpSp>
      <p:grpSp>
        <p:nvGrpSpPr>
          <p:cNvPr id="55" name="그룹 54">
            <a:extLst>
              <a:ext uri="{FF2B5EF4-FFF2-40B4-BE49-F238E27FC236}">
                <a16:creationId xmlns:a16="http://schemas.microsoft.com/office/drawing/2014/main" id="{2F7BBDEC-90A2-A149-9720-E984FD432209}"/>
              </a:ext>
            </a:extLst>
          </p:cNvPr>
          <p:cNvGrpSpPr/>
          <p:nvPr/>
        </p:nvGrpSpPr>
        <p:grpSpPr>
          <a:xfrm>
            <a:off x="331487" y="523998"/>
            <a:ext cx="5764512" cy="480915"/>
            <a:chOff x="379112" y="671515"/>
            <a:chExt cx="5764512" cy="480915"/>
          </a:xfrm>
        </p:grpSpPr>
        <p:sp>
          <p:nvSpPr>
            <p:cNvPr id="56" name="TextBox 55">
              <a:extLst>
                <a:ext uri="{FF2B5EF4-FFF2-40B4-BE49-F238E27FC236}">
                  <a16:creationId xmlns:a16="http://schemas.microsoft.com/office/drawing/2014/main" id="{F698C2C5-BBEC-004B-ADA3-BB24C5599664}"/>
                </a:ext>
              </a:extLst>
            </p:cNvPr>
            <p:cNvSpPr txBox="1"/>
            <p:nvPr/>
          </p:nvSpPr>
          <p:spPr>
            <a:xfrm>
              <a:off x="859133" y="690765"/>
              <a:ext cx="5284491" cy="461665"/>
            </a:xfrm>
            <a:prstGeom prst="rect">
              <a:avLst/>
            </a:prstGeom>
            <a:noFill/>
          </p:spPr>
          <p:txBody>
            <a:bodyPr wrap="square" rtlCol="0">
              <a:spAutoFit/>
            </a:bodyPr>
            <a:lstStyle/>
            <a:p>
              <a:r>
                <a:rPr kumimoji="1" lang="en-US" altLang="ko-KR" sz="2400" b="1" spc="-30" dirty="0">
                  <a:ln>
                    <a:solidFill>
                      <a:srgbClr val="7E8080">
                        <a:alpha val="0"/>
                      </a:srgbClr>
                    </a:solidFill>
                  </a:ln>
                  <a:solidFill>
                    <a:srgbClr val="3C3C3A"/>
                  </a:solidFill>
                  <a:latin typeface="에스코어 드림 6 Bold" panose="020B0703030302020204" pitchFamily="34" charset="-127"/>
                  <a:ea typeface="에스코어 드림 6 Bold" panose="020B0703030302020204" pitchFamily="34" charset="-127"/>
                </a:rPr>
                <a:t>Purchase Process Support</a:t>
              </a:r>
            </a:p>
          </p:txBody>
        </p:sp>
        <p:sp>
          <p:nvSpPr>
            <p:cNvPr id="57" name="TextBox 56">
              <a:extLst>
                <a:ext uri="{FF2B5EF4-FFF2-40B4-BE49-F238E27FC236}">
                  <a16:creationId xmlns:a16="http://schemas.microsoft.com/office/drawing/2014/main" id="{E46F28C6-E021-4A45-BF83-4C1446E38748}"/>
                </a:ext>
              </a:extLst>
            </p:cNvPr>
            <p:cNvSpPr txBox="1"/>
            <p:nvPr/>
          </p:nvSpPr>
          <p:spPr>
            <a:xfrm>
              <a:off x="379112" y="671515"/>
              <a:ext cx="704480" cy="461665"/>
            </a:xfrm>
            <a:prstGeom prst="rect">
              <a:avLst/>
            </a:prstGeom>
            <a:noFill/>
          </p:spPr>
          <p:txBody>
            <a:bodyPr wrap="square" rtlCol="0">
              <a:spAutoFit/>
            </a:bodyPr>
            <a:lstStyle/>
            <a:p>
              <a:r>
                <a:rPr lang="en-US" altLang="ko-KR" sz="2400" b="1" dirty="0">
                  <a:ln>
                    <a:solidFill>
                      <a:schemeClr val="accent1">
                        <a:shade val="15000"/>
                        <a:alpha val="0"/>
                      </a:schemeClr>
                    </a:solidFill>
                  </a:ln>
                  <a:solidFill>
                    <a:srgbClr val="9E0B28"/>
                  </a:solidFill>
                  <a:latin typeface="Lato Black" panose="020F0502020204030203" pitchFamily="34" charset="0"/>
                  <a:ea typeface="Lato Black" panose="020F0502020204030203" pitchFamily="34" charset="0"/>
                  <a:cs typeface="Lato Black" panose="020F0502020204030203" pitchFamily="34" charset="0"/>
                </a:rPr>
                <a:t>04</a:t>
              </a:r>
              <a:endParaRPr lang="ko-KR" altLang="en-US" sz="2400" b="1" dirty="0">
                <a:ln>
                  <a:solidFill>
                    <a:schemeClr val="accent1">
                      <a:shade val="15000"/>
                      <a:alpha val="0"/>
                    </a:schemeClr>
                  </a:solidFill>
                </a:ln>
                <a:solidFill>
                  <a:srgbClr val="9E0B28"/>
                </a:solidFill>
                <a:latin typeface="Lato Black" panose="020F0502020204030203" pitchFamily="34" charset="0"/>
                <a:ea typeface="에스코어 드림 4 Regular" panose="020B0503030302020204" pitchFamily="34" charset="-127"/>
                <a:cs typeface="Lato Black" panose="020F0502020204030203" pitchFamily="34" charset="0"/>
              </a:endParaRPr>
            </a:p>
          </p:txBody>
        </p:sp>
      </p:grpSp>
      <p:sp>
        <p:nvSpPr>
          <p:cNvPr id="58" name="TextBox 57">
            <a:extLst>
              <a:ext uri="{FF2B5EF4-FFF2-40B4-BE49-F238E27FC236}">
                <a16:creationId xmlns:a16="http://schemas.microsoft.com/office/drawing/2014/main" id="{4333C477-B861-4045-972E-B2794E4F1427}"/>
              </a:ext>
            </a:extLst>
          </p:cNvPr>
          <p:cNvSpPr txBox="1"/>
          <p:nvPr/>
        </p:nvSpPr>
        <p:spPr>
          <a:xfrm>
            <a:off x="825992" y="985663"/>
            <a:ext cx="5270008" cy="338554"/>
          </a:xfrm>
          <a:prstGeom prst="rect">
            <a:avLst/>
          </a:prstGeom>
          <a:noFill/>
        </p:spPr>
        <p:txBody>
          <a:bodyPr wrap="square" rtlCol="0">
            <a:spAutoFit/>
          </a:bodyPr>
          <a:lstStyle/>
          <a:p>
            <a:r>
              <a:rPr kumimoji="1" lang="en-US" altLang="ko-KR" sz="1600" spc="-30" dirty="0">
                <a:ln>
                  <a:solidFill>
                    <a:srgbClr val="7E8080">
                      <a:alpha val="0"/>
                    </a:srgbClr>
                  </a:solidFill>
                </a:ln>
                <a:solidFill>
                  <a:srgbClr val="656E7D"/>
                </a:solidFill>
                <a:latin typeface="에스코어 드림 5 Medium" panose="020B0503030302020204" pitchFamily="34" charset="-127"/>
                <a:ea typeface="에스코어 드림 5 Medium" panose="020B0503030302020204" pitchFamily="34" charset="-127"/>
              </a:rPr>
              <a:t>Different Purchase Processes</a:t>
            </a:r>
          </a:p>
        </p:txBody>
      </p:sp>
      <p:sp>
        <p:nvSpPr>
          <p:cNvPr id="41" name="바닥글 개체 틀 2">
            <a:extLst>
              <a:ext uri="{FF2B5EF4-FFF2-40B4-BE49-F238E27FC236}">
                <a16:creationId xmlns:a16="http://schemas.microsoft.com/office/drawing/2014/main" id="{88D02EEB-3113-43ED-A7DB-FA0DC111B60C}"/>
              </a:ext>
            </a:extLst>
          </p:cNvPr>
          <p:cNvSpPr txBox="1">
            <a:spLocks/>
          </p:cNvSpPr>
          <p:nvPr/>
        </p:nvSpPr>
        <p:spPr>
          <a:xfrm>
            <a:off x="6943725" y="6356350"/>
            <a:ext cx="4114800" cy="365125"/>
          </a:xfrm>
          <a:prstGeom prst="rect">
            <a:avLst/>
          </a:prstGeom>
        </p:spPr>
        <p:txBody>
          <a:bodyPr vert="horz" lIns="91440" tIns="45720" rIns="91440" bIns="45720" rtlCol="0" anchor="ctr"/>
          <a:lstStyle>
            <a:defPPr>
              <a:defRPr lang="x-none"/>
            </a:defPPr>
            <a:lvl1pPr marL="0" algn="ctr" defTabSz="914400" rtl="0" eaLnBrk="1" latinLnBrk="0" hangingPunct="1">
              <a:defRPr sz="800" kern="1200">
                <a:solidFill>
                  <a:srgbClr val="656E7D"/>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gn="r">
              <a:lnSpc>
                <a:spcPct val="90000"/>
              </a:lnSpc>
              <a:spcBef>
                <a:spcPts val="1000"/>
              </a:spcBef>
              <a:buFont typeface="Arial" panose="020B0604020202020204" pitchFamily="34" charset="0"/>
              <a:buNone/>
            </a:pPr>
            <a:r>
              <a:rPr lang="en-US" altLang="ko-KR" b="1" dirty="0">
                <a:ln>
                  <a:solidFill>
                    <a:schemeClr val="tx1">
                      <a:lumMod val="65000"/>
                      <a:lumOff val="35000"/>
                      <a:alpha val="0"/>
                    </a:schemeClr>
                  </a:solidFill>
                </a:ln>
                <a:latin typeface="에스코어 드림 4 Regular" panose="020B0503030302020204" pitchFamily="34" charset="-127"/>
                <a:ea typeface="에스코어 드림 4 Regular" panose="020B0503030302020204" pitchFamily="34" charset="-127"/>
              </a:rPr>
              <a:t>Nephrology / Dialysis Center Clinical Sales – Alice Jung</a:t>
            </a:r>
            <a:endParaRPr lang="ko-KR" altLang="en-US" b="1" dirty="0">
              <a:ln>
                <a:solidFill>
                  <a:schemeClr val="tx1">
                    <a:lumMod val="65000"/>
                    <a:lumOff val="35000"/>
                    <a:alpha val="0"/>
                  </a:schemeClr>
                </a:solidFill>
              </a:ln>
              <a:latin typeface="에스코어 드림 4 Regular" panose="020B0503030302020204" pitchFamily="34" charset="-127"/>
              <a:ea typeface="에스코어 드림 4 Regular" panose="020B0503030302020204" pitchFamily="34" charset="-127"/>
            </a:endParaRPr>
          </a:p>
        </p:txBody>
      </p:sp>
    </p:spTree>
    <p:extLst>
      <p:ext uri="{BB962C8B-B14F-4D97-AF65-F5344CB8AC3E}">
        <p14:creationId xmlns:p14="http://schemas.microsoft.com/office/powerpoint/2010/main" val="353143207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텍스트 개체 틀 4">
            <a:extLst>
              <a:ext uri="{FF2B5EF4-FFF2-40B4-BE49-F238E27FC236}">
                <a16:creationId xmlns:a16="http://schemas.microsoft.com/office/drawing/2014/main" id="{5CA2EDD0-D101-1ED9-3BFD-12C28B19165F}"/>
              </a:ext>
            </a:extLst>
          </p:cNvPr>
          <p:cNvSpPr>
            <a:spLocks noGrp="1"/>
          </p:cNvSpPr>
          <p:nvPr>
            <p:ph type="body" sz="quarter" idx="17"/>
          </p:nvPr>
        </p:nvSpPr>
        <p:spPr>
          <a:xfrm>
            <a:off x="520721" y="2847422"/>
            <a:ext cx="4298168" cy="1163156"/>
          </a:xfrm>
        </p:spPr>
        <p:txBody>
          <a:bodyPr>
            <a:noAutofit/>
          </a:bodyPr>
          <a:lstStyle/>
          <a:p>
            <a:pPr>
              <a:lnSpc>
                <a:spcPct val="100000"/>
              </a:lnSpc>
            </a:pPr>
            <a:r>
              <a:rPr lang="en-US" altLang="ko-KR" sz="5000" dirty="0">
                <a:solidFill>
                  <a:srgbClr val="67767F"/>
                </a:solidFill>
                <a:latin typeface="Lato" panose="020F0502020204030203" pitchFamily="34" charset="0"/>
                <a:ea typeface="Lato" panose="020F0502020204030203" pitchFamily="34" charset="0"/>
                <a:cs typeface="Lato" panose="020F0502020204030203" pitchFamily="34" charset="0"/>
              </a:rPr>
              <a:t>Thank you</a:t>
            </a:r>
          </a:p>
        </p:txBody>
      </p:sp>
    </p:spTree>
    <p:extLst>
      <p:ext uri="{BB962C8B-B14F-4D97-AF65-F5344CB8AC3E}">
        <p14:creationId xmlns:p14="http://schemas.microsoft.com/office/powerpoint/2010/main" val="402894384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2740</TotalTime>
  <Words>10519</Words>
  <Application>Microsoft Office PowerPoint</Application>
  <PresentationFormat>Widescreen</PresentationFormat>
  <Paragraphs>1447</Paragraphs>
  <Slides>115</Slides>
  <Notes>70</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115</vt:i4>
      </vt:variant>
    </vt:vector>
  </HeadingPairs>
  <TitlesOfParts>
    <vt:vector size="137" baseType="lpstr">
      <vt:lpstr>맑은 고딕</vt:lpstr>
      <vt:lpstr>メイリオ</vt:lpstr>
      <vt:lpstr>MS Mincho</vt:lpstr>
      <vt:lpstr>Arial</vt:lpstr>
      <vt:lpstr>Arial Unicode MS</vt:lpstr>
      <vt:lpstr>Calibri</vt:lpstr>
      <vt:lpstr>HY견고딕</vt:lpstr>
      <vt:lpstr>Lato</vt:lpstr>
      <vt:lpstr>Lato Black</vt:lpstr>
      <vt:lpstr>Lato Bold</vt:lpstr>
      <vt:lpstr>lato light</vt:lpstr>
      <vt:lpstr>lato light</vt:lpstr>
      <vt:lpstr>Noto Sans KR</vt:lpstr>
      <vt:lpstr>S-Core Dream 5 Medium</vt:lpstr>
      <vt:lpstr>Times New Roman</vt:lpstr>
      <vt:lpstr>Verdana</vt:lpstr>
      <vt:lpstr>Wingdings</vt:lpstr>
      <vt:lpstr>에스코어 드림 4 Regular</vt:lpstr>
      <vt:lpstr>에스코어 드림 5 Medium</vt:lpstr>
      <vt:lpstr>에스코어 드림 6 Bold</vt:lpstr>
      <vt:lpstr>에스코어 드림 7 ExtraBold</vt: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민들레(Deulre Min)</dc:creator>
  <cp:lastModifiedBy>Shrutika Khedekar</cp:lastModifiedBy>
  <cp:revision>130</cp:revision>
  <dcterms:created xsi:type="dcterms:W3CDTF">2024-04-02T06:16:10Z</dcterms:created>
  <dcterms:modified xsi:type="dcterms:W3CDTF">2026-01-07T13:08:22Z</dcterms:modified>
</cp:coreProperties>
</file>