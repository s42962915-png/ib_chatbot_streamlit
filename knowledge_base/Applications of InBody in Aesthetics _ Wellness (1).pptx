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10" Type="http://schemas.openxmlformats.org/officeDocument/2006/relationships/image" Target="../media/image9.png"/><Relationship Id="rId9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2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4149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930747"/>
            <a:ext cx="342900" cy="28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54149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2247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925" y="482247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9725" y="482247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259359"/>
            <a:ext cx="930116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Applications of InBody in Aesthetics &amp; Wellness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588990"/>
            <a:ext cx="7524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Research-Backed Body Composition Precision for Body Contouring, Muscle Sculpting, and Anti-Aging Diagnostics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19200" y="1859309"/>
            <a:ext cx="4512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AESTHETIC MEDICINE &amp; CLINICAL WELLNESS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47750" y="4817715"/>
            <a:ext cx="1845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Contouring Precision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076575" y="4817715"/>
            <a:ext cx="2547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Cellular Health &amp; Phase Angle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86425" y="4817715"/>
            <a:ext cx="219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 Progress Proof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1911548"/>
            <a:ext cx="5286375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" y="3273623"/>
            <a:ext cx="5286375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4635698"/>
            <a:ext cx="5286375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1911548"/>
            <a:ext cx="38100" cy="1171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3273623"/>
            <a:ext cx="38100" cy="1171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4635698"/>
            <a:ext cx="38100" cy="11715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975" y="1859160"/>
            <a:ext cx="53054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68685"/>
            <a:ext cx="52863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 PARADIGM SHIFT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Moving Beyond Scale Weight in Aesthetic Consultations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76300" y="2140148"/>
            <a:ext cx="62882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Limitations of BMI &amp; Weight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2416373"/>
            <a:ext cx="4886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 weight fails to distinguish localized fat loss from muscle depletion.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3502223"/>
            <a:ext cx="62882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Medical-Grade BIA Accuracy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76300" y="3778448"/>
            <a:ext cx="4886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98.4% correlation with DEXA scans without radiation or complex setup.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76300" y="4864298"/>
            <a:ext cx="62882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Segmental Measurement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76300" y="5140523"/>
            <a:ext cx="4886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trunk, arms, and legs independently without empirical estimations.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609600" y="2730698"/>
            <a:ext cx="2600325" cy="2295525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400425" y="2730698"/>
            <a:ext cx="2600325" cy="2295525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191250" y="2730698"/>
            <a:ext cx="2600325" cy="2295525"/>
          </a:xfrm>
          <a:prstGeom prst="roundRect">
            <a:avLst>
              <a:gd fmla="val 663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982075" y="2840235"/>
            <a:ext cx="2600325" cy="2076450"/>
          </a:xfrm>
          <a:prstGeom prst="roundRect">
            <a:avLst>
              <a:gd fmla="val 733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0692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00692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00692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311646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12122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62375" y="312122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312122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58312" y="323076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PRACTICE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Applications in Aesthetic &amp; Wellness Practices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725" y="3578423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Body Contouring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7725" y="3873698"/>
            <a:ext cx="221932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 and post tracking for cryolipolysis and radiofrequency treatments.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638550" y="3578423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EMS Sculpting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638550" y="3873698"/>
            <a:ext cx="221932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Quantifies skeletal muscle mass gains from electromagnetic stimulation.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429375" y="3578423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Anti-Aging &amp; Longevity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29375" y="3873698"/>
            <a:ext cx="221932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angle monitoring for cellular vitality and biological age assessment.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220200" y="3687960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Post-Op Fluid Recovery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20200" y="3983235"/>
            <a:ext cx="22193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ECW/TBW ratio tracks post-procedural edema and lymphatic drainage.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6353175" y="1554360"/>
            <a:ext cx="5229225" cy="1028700"/>
          </a:xfrm>
          <a:prstGeom prst="roundRect">
            <a:avLst>
              <a:gd fmla="val 925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353175" y="2735460"/>
            <a:ext cx="5229225" cy="1028700"/>
          </a:xfrm>
          <a:prstGeom prst="roundRect">
            <a:avLst>
              <a:gd fmla="val 925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353175" y="3916560"/>
            <a:ext cx="5229225" cy="1028700"/>
          </a:xfrm>
          <a:prstGeom prst="roundRect">
            <a:avLst>
              <a:gd fmla="val 925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353175" y="5097660"/>
            <a:ext cx="5229225" cy="1028700"/>
          </a:xfrm>
          <a:prstGeom prst="roundRect">
            <a:avLst>
              <a:gd fmla="val 925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353175" y="1554360"/>
            <a:ext cx="28575" cy="102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353175" y="2735460"/>
            <a:ext cx="28575" cy="102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353175" y="3916560"/>
            <a:ext cx="28575" cy="102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353175" y="5097660"/>
            <a:ext cx="28575" cy="1028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92485"/>
            <a:ext cx="54006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325" y="1878210"/>
            <a:ext cx="522922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 BLUEPRINT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Metrics on the InBody Result Sheet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553200" y="1725810"/>
            <a:ext cx="5638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Muscle-Fat Analysis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553200" y="1973460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Compares weight, SMM, and body fat mass to identify 'C', 'I', or 'D' shaped profiles.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53200" y="2906910"/>
            <a:ext cx="5638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Visceral Fat Level (1–20 Scale)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553200" y="3154560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Measures internal abdominal organ fat linked to metabolic risk. Target is below 10.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553200" y="4088010"/>
            <a:ext cx="5638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Segmental Lean &amp; Fat Analysis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53200" y="4335660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Pinpoints exact fat stores and muscle balance across right arm, left arm, trunk, and legs.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553200" y="5269110"/>
            <a:ext cx="56388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ECW/TBW Hydration Ratio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553200" y="5516760"/>
            <a:ext cx="495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extracellular fluid balance to detect systemic inflammation or swelling.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609600" y="2854523"/>
            <a:ext cx="3505200" cy="2085975"/>
          </a:xfrm>
          <a:prstGeom prst="roundRect">
            <a:avLst>
              <a:gd fmla="val 73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343400" y="2744985"/>
            <a:ext cx="3505200" cy="2305050"/>
          </a:xfrm>
          <a:prstGeom prst="roundRect">
            <a:avLst>
              <a:gd fmla="val 66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077200" y="2744985"/>
            <a:ext cx="3505200" cy="2305050"/>
          </a:xfrm>
          <a:prstGeom prst="roundRect">
            <a:avLst>
              <a:gd fmla="val 66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RESEARCH-BACKED RELIABILITY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Evidence-Based Science &amp; Clinical Precision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16731" y="3206948"/>
            <a:ext cx="3690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98.4%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24457" y="3854648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DEXA Validation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16731" y="4149923"/>
            <a:ext cx="36909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Gold-standard correlation in clinical trials for fat and muscle evaluation.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4250531" y="3097410"/>
            <a:ext cx="3690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 Sec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4158257" y="374511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Non-Invasive Scan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250531" y="4040385"/>
            <a:ext cx="3690937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Rapid multi-frequency bioelectrical impedance testing without discomfort.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984331" y="3097410"/>
            <a:ext cx="3690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8-Point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7892057" y="374511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Tactile Electrodes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984331" y="4040385"/>
            <a:ext cx="3690937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Patented thumb and foot electrode setup yields 99% measurement reproducibility.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609600" y="2764035"/>
            <a:ext cx="3505200" cy="2266950"/>
          </a:xfrm>
          <a:prstGeom prst="roundRect">
            <a:avLst>
              <a:gd fmla="val 67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343400" y="2764035"/>
            <a:ext cx="3505200" cy="2266950"/>
          </a:xfrm>
          <a:prstGeom prst="roundRect">
            <a:avLst>
              <a:gd fmla="val 67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077200" y="2873573"/>
            <a:ext cx="3505200" cy="2047875"/>
          </a:xfrm>
          <a:prstGeom prst="roundRect">
            <a:avLst>
              <a:gd fmla="val 74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0783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0783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1878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937" y="320218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320218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0" y="3311723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PRACTICE GROWTH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Elevating Patient Adherence &amp; Clinic ROI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85825" y="372606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Tangible Proof of Results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85825" y="4059435"/>
            <a:ext cx="3048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fat reduction graphs justify multi-session body sculpting packages.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619625" y="372606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Customized Care Plans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619625" y="4059435"/>
            <a:ext cx="3048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Combines medical weight management with aesthetic treatments accurately.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353425" y="3835598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Long-Term Retention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353425" y="4168973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Serial progress scans keep patients motivated and coming back.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/>
          <p:nvPr/>
        </p:nvSpPr>
        <p:spPr>
          <a:xfrm>
            <a:off x="609600" y="3040260"/>
            <a:ext cx="3479750" cy="16383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356050" y="3040260"/>
            <a:ext cx="3479750" cy="16383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8102500" y="3149798"/>
            <a:ext cx="3479750" cy="1419225"/>
          </a:xfrm>
          <a:prstGeom prst="roundRect">
            <a:avLst>
              <a:gd fmla="val 1073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DIAGNOSTICS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09600" y="76200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Segmental Fat &amp; Muscle Analysis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85825" y="3354585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Trunk &amp; Abdominal Focus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85825" y="3707010"/>
            <a:ext cx="3022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Measures visceral fat and trunk fat mass before cryolipolysis or laser lipolysis.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4632275" y="3354585"/>
            <a:ext cx="3842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Limb Symmetry Evaluation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632275" y="3707010"/>
            <a:ext cx="3022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Detects muscle imbalances between left and right arms or legs for EMS tuning.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378725" y="3464123"/>
            <a:ext cx="38132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Edema vs. Fat Differentiation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378725" y="3816548"/>
            <a:ext cx="30225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Prevents confusing post-op fluid swelling with treatment inefficiency.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1524000" y="4012852"/>
            <a:ext cx="2844849" cy="1285875"/>
          </a:xfrm>
          <a:prstGeom prst="roundRect">
            <a:avLst>
              <a:gd fmla="val 1185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673649" y="4012852"/>
            <a:ext cx="2844849" cy="1285875"/>
          </a:xfrm>
          <a:prstGeom prst="roundRect">
            <a:avLst>
              <a:gd fmla="val 1185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823299" y="4012852"/>
            <a:ext cx="2844849" cy="1285875"/>
          </a:xfrm>
          <a:prstGeom prst="roundRect">
            <a:avLst>
              <a:gd fmla="val 1185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066109" y="1559272"/>
            <a:ext cx="2059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SUMMARY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70359" y="1845022"/>
            <a:ext cx="10251281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Transforming Aesthetic Medicine Through Objective Body Data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928812" y="3041302"/>
            <a:ext cx="833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Combining clinical-grade body composition analytics with modern aesthetic therapies for quantifiable client satisfaction and long-term wellness.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1466050" y="4289077"/>
            <a:ext cx="296074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466050" y="4822477"/>
            <a:ext cx="2960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 Proof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615699" y="4289077"/>
            <a:ext cx="296074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0%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615699" y="4822477"/>
            <a:ext cx="2960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Guesswork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765349" y="4289077"/>
            <a:ext cx="296074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98.4%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765349" y="4822477"/>
            <a:ext cx="2960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DEXA Accuracy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666875" y="1038225"/>
            <a:ext cx="952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https://mediaesthetic.com.my/wp-content/uploads/2026/07/Medi-Clinic-Johor-Bahru-doctor-led-aesthetic-consultation.jpg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666875" y="1238250"/>
            <a:ext cx="2893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mediaesthetic.com.my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666875" y="1809750"/>
            <a:ext cx="723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https://inbodyasia.com/wp-content/uploads/2024/08/Result-Sheets-InBody770-scaled-1.png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666875" y="2009775"/>
            <a:ext cx="2214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inbodyasia.com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