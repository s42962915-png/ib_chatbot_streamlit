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95" r:id="rId2"/>
    <p:sldId id="257" r:id="rId3"/>
    <p:sldId id="262" r:id="rId4"/>
    <p:sldId id="687" r:id="rId5"/>
    <p:sldId id="693" r:id="rId6"/>
    <p:sldId id="712" r:id="rId7"/>
    <p:sldId id="358" r:id="rId8"/>
    <p:sldId id="359" r:id="rId9"/>
    <p:sldId id="360" r:id="rId10"/>
    <p:sldId id="366" r:id="rId11"/>
    <p:sldId id="368" r:id="rId12"/>
    <p:sldId id="694" r:id="rId13"/>
    <p:sldId id="265" r:id="rId14"/>
    <p:sldId id="703" r:id="rId15"/>
    <p:sldId id="695" r:id="rId16"/>
    <p:sldId id="278" r:id="rId17"/>
    <p:sldId id="280" r:id="rId18"/>
    <p:sldId id="282" r:id="rId19"/>
    <p:sldId id="284" r:id="rId20"/>
    <p:sldId id="709" r:id="rId21"/>
    <p:sldId id="296" r:id="rId22"/>
    <p:sldId id="71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55" autoAdjust="0"/>
    <p:restoredTop sz="93559" autoAdjust="0"/>
  </p:normalViewPr>
  <p:slideViewPr>
    <p:cSldViewPr snapToGrid="0">
      <p:cViewPr>
        <p:scale>
          <a:sx n="81" d="100"/>
          <a:sy n="81" d="100"/>
        </p:scale>
        <p:origin x="368"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E32FBC-0C7A-4F4A-AF33-C2E9134170FE}" type="doc">
      <dgm:prSet loTypeId="urn:microsoft.com/office/officeart/2009/layout/CircleArrowProcess" loCatId="process" qsTypeId="urn:microsoft.com/office/officeart/2005/8/quickstyle/simple1" qsCatId="simple" csTypeId="urn:microsoft.com/office/officeart/2005/8/colors/colorful3" csCatId="colorful" phldr="1"/>
      <dgm:spPr/>
      <dgm:t>
        <a:bodyPr/>
        <a:lstStyle/>
        <a:p>
          <a:pPr latinLnBrk="1"/>
          <a:endParaRPr lang="ko-KR" altLang="en-US"/>
        </a:p>
      </dgm:t>
    </dgm:pt>
    <dgm:pt modelId="{73ED38B9-46AC-4727-91D8-E1B552D81804}">
      <dgm:prSet phldrT="[텍스트]"/>
      <dgm:spPr/>
      <dgm:t>
        <a:bodyPr/>
        <a:lstStyle/>
        <a:p>
          <a:pPr latinLnBrk="1"/>
          <a:r>
            <a:rPr lang="en-US" altLang="ko-KR" dirty="0"/>
            <a:t>Low leg muscle</a:t>
          </a:r>
          <a:endParaRPr lang="ko-KR" altLang="en-US" dirty="0"/>
        </a:p>
      </dgm:t>
    </dgm:pt>
    <dgm:pt modelId="{CDD3403A-C7B5-4690-BD8F-5DB447029C3E}" type="parTrans" cxnId="{699E32B3-551F-4775-B360-63E435A3CBDC}">
      <dgm:prSet/>
      <dgm:spPr/>
      <dgm:t>
        <a:bodyPr/>
        <a:lstStyle/>
        <a:p>
          <a:pPr latinLnBrk="1"/>
          <a:endParaRPr lang="ko-KR" altLang="en-US"/>
        </a:p>
      </dgm:t>
    </dgm:pt>
    <dgm:pt modelId="{B50518B6-AAC6-421C-BC06-250D58FB6E34}" type="sibTrans" cxnId="{699E32B3-551F-4775-B360-63E435A3CBDC}">
      <dgm:prSet/>
      <dgm:spPr/>
      <dgm:t>
        <a:bodyPr/>
        <a:lstStyle/>
        <a:p>
          <a:pPr latinLnBrk="1"/>
          <a:endParaRPr lang="ko-KR" altLang="en-US"/>
        </a:p>
      </dgm:t>
    </dgm:pt>
    <dgm:pt modelId="{AA1A54E5-228A-43FB-B51D-F0F9A8C55B68}">
      <dgm:prSet phldrT="[텍스트]"/>
      <dgm:spPr/>
      <dgm:t>
        <a:bodyPr/>
        <a:lstStyle/>
        <a:p>
          <a:pPr latinLnBrk="1"/>
          <a:r>
            <a:rPr lang="en-US" altLang="ko-KR" dirty="0"/>
            <a:t>Muscle weakness</a:t>
          </a:r>
          <a:endParaRPr lang="ko-KR" altLang="en-US" dirty="0"/>
        </a:p>
      </dgm:t>
    </dgm:pt>
    <dgm:pt modelId="{1D51D636-F4F8-4D64-AAF1-4BCC0C6CE06F}" type="parTrans" cxnId="{47582BF3-818F-4657-8932-81ED4C610212}">
      <dgm:prSet/>
      <dgm:spPr/>
      <dgm:t>
        <a:bodyPr/>
        <a:lstStyle/>
        <a:p>
          <a:pPr latinLnBrk="1"/>
          <a:endParaRPr lang="ko-KR" altLang="en-US"/>
        </a:p>
      </dgm:t>
    </dgm:pt>
    <dgm:pt modelId="{C615A4A8-4429-4672-A089-D0AAEEB894D3}" type="sibTrans" cxnId="{47582BF3-818F-4657-8932-81ED4C610212}">
      <dgm:prSet/>
      <dgm:spPr/>
      <dgm:t>
        <a:bodyPr/>
        <a:lstStyle/>
        <a:p>
          <a:pPr latinLnBrk="1"/>
          <a:endParaRPr lang="ko-KR" altLang="en-US"/>
        </a:p>
      </dgm:t>
    </dgm:pt>
    <dgm:pt modelId="{2ADE063D-3577-4ACB-B884-78D2CDC61E2E}">
      <dgm:prSet phldrT="[텍스트]"/>
      <dgm:spPr/>
      <dgm:t>
        <a:bodyPr/>
        <a:lstStyle/>
        <a:p>
          <a:pPr latinLnBrk="1"/>
          <a:r>
            <a:rPr lang="en-US" altLang="ko-KR" dirty="0"/>
            <a:t>Physical Activity ↓</a:t>
          </a:r>
          <a:endParaRPr lang="ko-KR" altLang="en-US" dirty="0"/>
        </a:p>
      </dgm:t>
    </dgm:pt>
    <dgm:pt modelId="{28D17306-589F-434D-BEBC-3D4082C5E682}" type="parTrans" cxnId="{03B4D81F-6B95-4D6C-B794-27DEE0B403F7}">
      <dgm:prSet/>
      <dgm:spPr/>
      <dgm:t>
        <a:bodyPr/>
        <a:lstStyle/>
        <a:p>
          <a:pPr latinLnBrk="1"/>
          <a:endParaRPr lang="ko-KR" altLang="en-US"/>
        </a:p>
      </dgm:t>
    </dgm:pt>
    <dgm:pt modelId="{98835283-887A-4C51-A705-056549FF75A5}" type="sibTrans" cxnId="{03B4D81F-6B95-4D6C-B794-27DEE0B403F7}">
      <dgm:prSet/>
      <dgm:spPr/>
      <dgm:t>
        <a:bodyPr/>
        <a:lstStyle/>
        <a:p>
          <a:pPr latinLnBrk="1"/>
          <a:endParaRPr lang="ko-KR" altLang="en-US"/>
        </a:p>
      </dgm:t>
    </dgm:pt>
    <dgm:pt modelId="{82CE8ED9-FFBC-4DBA-8499-EC9A33883FB9}">
      <dgm:prSet/>
      <dgm:spPr/>
      <dgm:t>
        <a:bodyPr/>
        <a:lstStyle/>
        <a:p>
          <a:pPr latinLnBrk="1"/>
          <a:r>
            <a:rPr lang="en-US" altLang="ko-KR" dirty="0"/>
            <a:t>Muscle loss</a:t>
          </a:r>
          <a:endParaRPr lang="ko-KR" altLang="en-US" dirty="0"/>
        </a:p>
      </dgm:t>
    </dgm:pt>
    <dgm:pt modelId="{EEE12CC0-F772-4C2C-A5A8-363EEDC913EA}" type="parTrans" cxnId="{70885F43-BDF0-4434-9C15-D67BF99AF156}">
      <dgm:prSet/>
      <dgm:spPr/>
      <dgm:t>
        <a:bodyPr/>
        <a:lstStyle/>
        <a:p>
          <a:pPr latinLnBrk="1"/>
          <a:endParaRPr lang="ko-KR" altLang="en-US"/>
        </a:p>
      </dgm:t>
    </dgm:pt>
    <dgm:pt modelId="{00DFA58D-B643-42AB-B3B9-9012B9DCCFBC}" type="sibTrans" cxnId="{70885F43-BDF0-4434-9C15-D67BF99AF156}">
      <dgm:prSet/>
      <dgm:spPr/>
      <dgm:t>
        <a:bodyPr/>
        <a:lstStyle/>
        <a:p>
          <a:pPr latinLnBrk="1"/>
          <a:endParaRPr lang="ko-KR" altLang="en-US"/>
        </a:p>
      </dgm:t>
    </dgm:pt>
    <dgm:pt modelId="{36D557F6-7FDC-4AA2-A1AA-5AFFBB282B2C}">
      <dgm:prSet/>
      <dgm:spPr/>
      <dgm:t>
        <a:bodyPr/>
        <a:lstStyle/>
        <a:p>
          <a:pPr latinLnBrk="1"/>
          <a:r>
            <a:rPr lang="en-US" altLang="ko-KR" dirty="0"/>
            <a:t>Insulin resistance </a:t>
          </a:r>
          <a:r>
            <a:rPr lang="en-US" altLang="ko-KR" dirty="0">
              <a:latin typeface="맑은 고딕" panose="020B0503020000020004" pitchFamily="50" charset="-127"/>
              <a:ea typeface="맑은 고딕" panose="020B0503020000020004" pitchFamily="50" charset="-127"/>
            </a:rPr>
            <a:t>↑</a:t>
          </a:r>
          <a:endParaRPr lang="ko-KR" altLang="en-US" dirty="0"/>
        </a:p>
      </dgm:t>
    </dgm:pt>
    <dgm:pt modelId="{2CD82DDF-424B-4C97-9C36-FB1AB1665A1F}" type="parTrans" cxnId="{9CC58635-1BA7-4C26-B8FF-3C56FBACC048}">
      <dgm:prSet/>
      <dgm:spPr/>
      <dgm:t>
        <a:bodyPr/>
        <a:lstStyle/>
        <a:p>
          <a:pPr latinLnBrk="1"/>
          <a:endParaRPr lang="ko-KR" altLang="en-US"/>
        </a:p>
      </dgm:t>
    </dgm:pt>
    <dgm:pt modelId="{081D0616-BC3F-4E56-AC3D-B2C33D3DBBE5}" type="sibTrans" cxnId="{9CC58635-1BA7-4C26-B8FF-3C56FBACC048}">
      <dgm:prSet/>
      <dgm:spPr/>
      <dgm:t>
        <a:bodyPr/>
        <a:lstStyle/>
        <a:p>
          <a:pPr latinLnBrk="1"/>
          <a:endParaRPr lang="ko-KR" altLang="en-US"/>
        </a:p>
      </dgm:t>
    </dgm:pt>
    <dgm:pt modelId="{C82FAD3A-E565-43BE-81F9-3F5CE07BBAF6}" type="pres">
      <dgm:prSet presAssocID="{09E32FBC-0C7A-4F4A-AF33-C2E9134170FE}" presName="Name0" presStyleCnt="0">
        <dgm:presLayoutVars>
          <dgm:chMax val="7"/>
          <dgm:chPref val="7"/>
          <dgm:dir/>
          <dgm:animLvl val="lvl"/>
        </dgm:presLayoutVars>
      </dgm:prSet>
      <dgm:spPr/>
    </dgm:pt>
    <dgm:pt modelId="{31DAB431-2C31-4CE9-B960-2A57B3A19E2A}" type="pres">
      <dgm:prSet presAssocID="{73ED38B9-46AC-4727-91D8-E1B552D81804}" presName="Accent1" presStyleCnt="0"/>
      <dgm:spPr/>
    </dgm:pt>
    <dgm:pt modelId="{D8492DCB-E75D-4E5F-AEB2-BE270ADB1883}" type="pres">
      <dgm:prSet presAssocID="{73ED38B9-46AC-4727-91D8-E1B552D81804}" presName="Accent" presStyleLbl="node1" presStyleIdx="0" presStyleCnt="5"/>
      <dgm:spPr/>
    </dgm:pt>
    <dgm:pt modelId="{4E950C64-4ED3-433F-A99A-54B9C741708B}" type="pres">
      <dgm:prSet presAssocID="{73ED38B9-46AC-4727-91D8-E1B552D81804}" presName="Parent1" presStyleLbl="revTx" presStyleIdx="0" presStyleCnt="5">
        <dgm:presLayoutVars>
          <dgm:chMax val="1"/>
          <dgm:chPref val="1"/>
          <dgm:bulletEnabled val="1"/>
        </dgm:presLayoutVars>
      </dgm:prSet>
      <dgm:spPr/>
    </dgm:pt>
    <dgm:pt modelId="{A3247463-E799-4815-941D-1E60302BCA88}" type="pres">
      <dgm:prSet presAssocID="{AA1A54E5-228A-43FB-B51D-F0F9A8C55B68}" presName="Accent2" presStyleCnt="0"/>
      <dgm:spPr/>
    </dgm:pt>
    <dgm:pt modelId="{C5D9B59F-5CAB-4E8D-B661-971601707954}" type="pres">
      <dgm:prSet presAssocID="{AA1A54E5-228A-43FB-B51D-F0F9A8C55B68}" presName="Accent" presStyleLbl="node1" presStyleIdx="1" presStyleCnt="5"/>
      <dgm:spPr/>
    </dgm:pt>
    <dgm:pt modelId="{DE007C6D-B6E8-4CDA-9716-D6819EBF8A3D}" type="pres">
      <dgm:prSet presAssocID="{AA1A54E5-228A-43FB-B51D-F0F9A8C55B68}" presName="Parent2" presStyleLbl="revTx" presStyleIdx="1" presStyleCnt="5">
        <dgm:presLayoutVars>
          <dgm:chMax val="1"/>
          <dgm:chPref val="1"/>
          <dgm:bulletEnabled val="1"/>
        </dgm:presLayoutVars>
      </dgm:prSet>
      <dgm:spPr/>
    </dgm:pt>
    <dgm:pt modelId="{FC53D90E-6DC7-4C36-AD4B-5F13EF9A2519}" type="pres">
      <dgm:prSet presAssocID="{2ADE063D-3577-4ACB-B884-78D2CDC61E2E}" presName="Accent3" presStyleCnt="0"/>
      <dgm:spPr/>
    </dgm:pt>
    <dgm:pt modelId="{443A8651-B42E-444D-B2E6-4D210C027DDC}" type="pres">
      <dgm:prSet presAssocID="{2ADE063D-3577-4ACB-B884-78D2CDC61E2E}" presName="Accent" presStyleLbl="node1" presStyleIdx="2" presStyleCnt="5"/>
      <dgm:spPr/>
    </dgm:pt>
    <dgm:pt modelId="{587F3996-99E6-4463-805C-100C15C26D43}" type="pres">
      <dgm:prSet presAssocID="{2ADE063D-3577-4ACB-B884-78D2CDC61E2E}" presName="Parent3" presStyleLbl="revTx" presStyleIdx="2" presStyleCnt="5">
        <dgm:presLayoutVars>
          <dgm:chMax val="1"/>
          <dgm:chPref val="1"/>
          <dgm:bulletEnabled val="1"/>
        </dgm:presLayoutVars>
      </dgm:prSet>
      <dgm:spPr/>
    </dgm:pt>
    <dgm:pt modelId="{0E13E6F0-3B22-460B-BC56-99AAADD602D1}" type="pres">
      <dgm:prSet presAssocID="{82CE8ED9-FFBC-4DBA-8499-EC9A33883FB9}" presName="Accent4" presStyleCnt="0"/>
      <dgm:spPr/>
    </dgm:pt>
    <dgm:pt modelId="{81192C55-60DF-4854-B114-BDE372C6F8CB}" type="pres">
      <dgm:prSet presAssocID="{82CE8ED9-FFBC-4DBA-8499-EC9A33883FB9}" presName="Accent" presStyleLbl="node1" presStyleIdx="3" presStyleCnt="5"/>
      <dgm:spPr/>
    </dgm:pt>
    <dgm:pt modelId="{ECD2D963-A95C-4533-8D65-1C50BE50587D}" type="pres">
      <dgm:prSet presAssocID="{82CE8ED9-FFBC-4DBA-8499-EC9A33883FB9}" presName="Parent4" presStyleLbl="revTx" presStyleIdx="3" presStyleCnt="5">
        <dgm:presLayoutVars>
          <dgm:chMax val="1"/>
          <dgm:chPref val="1"/>
          <dgm:bulletEnabled val="1"/>
        </dgm:presLayoutVars>
      </dgm:prSet>
      <dgm:spPr/>
    </dgm:pt>
    <dgm:pt modelId="{8EA00DBB-4FF2-411F-BE36-CAF428A3949A}" type="pres">
      <dgm:prSet presAssocID="{36D557F6-7FDC-4AA2-A1AA-5AFFBB282B2C}" presName="Accent5" presStyleCnt="0"/>
      <dgm:spPr/>
    </dgm:pt>
    <dgm:pt modelId="{32FCC25E-6FEE-43A8-BB20-0F2ECF131187}" type="pres">
      <dgm:prSet presAssocID="{36D557F6-7FDC-4AA2-A1AA-5AFFBB282B2C}" presName="Accent" presStyleLbl="node1" presStyleIdx="4" presStyleCnt="5"/>
      <dgm:spPr/>
    </dgm:pt>
    <dgm:pt modelId="{7725DA79-A855-4095-83CF-8DC8AA8A5751}" type="pres">
      <dgm:prSet presAssocID="{36D557F6-7FDC-4AA2-A1AA-5AFFBB282B2C}" presName="Parent5" presStyleLbl="revTx" presStyleIdx="4" presStyleCnt="5">
        <dgm:presLayoutVars>
          <dgm:chMax val="1"/>
          <dgm:chPref val="1"/>
          <dgm:bulletEnabled val="1"/>
        </dgm:presLayoutVars>
      </dgm:prSet>
      <dgm:spPr/>
    </dgm:pt>
  </dgm:ptLst>
  <dgm:cxnLst>
    <dgm:cxn modelId="{62E24C01-B38E-432C-A202-DC8D6518839C}" type="presOf" srcId="{AA1A54E5-228A-43FB-B51D-F0F9A8C55B68}" destId="{DE007C6D-B6E8-4CDA-9716-D6819EBF8A3D}" srcOrd="0" destOrd="0" presId="urn:microsoft.com/office/officeart/2009/layout/CircleArrowProcess"/>
    <dgm:cxn modelId="{43846009-C9DF-4EFB-8D16-1BC53D83C101}" type="presOf" srcId="{36D557F6-7FDC-4AA2-A1AA-5AFFBB282B2C}" destId="{7725DA79-A855-4095-83CF-8DC8AA8A5751}" srcOrd="0" destOrd="0" presId="urn:microsoft.com/office/officeart/2009/layout/CircleArrowProcess"/>
    <dgm:cxn modelId="{03B4D81F-6B95-4D6C-B794-27DEE0B403F7}" srcId="{09E32FBC-0C7A-4F4A-AF33-C2E9134170FE}" destId="{2ADE063D-3577-4ACB-B884-78D2CDC61E2E}" srcOrd="2" destOrd="0" parTransId="{28D17306-589F-434D-BEBC-3D4082C5E682}" sibTransId="{98835283-887A-4C51-A705-056549FF75A5}"/>
    <dgm:cxn modelId="{9CC58635-1BA7-4C26-B8FF-3C56FBACC048}" srcId="{09E32FBC-0C7A-4F4A-AF33-C2E9134170FE}" destId="{36D557F6-7FDC-4AA2-A1AA-5AFFBB282B2C}" srcOrd="4" destOrd="0" parTransId="{2CD82DDF-424B-4C97-9C36-FB1AB1665A1F}" sibTransId="{081D0616-BC3F-4E56-AC3D-B2C33D3DBBE5}"/>
    <dgm:cxn modelId="{70885F43-BDF0-4434-9C15-D67BF99AF156}" srcId="{09E32FBC-0C7A-4F4A-AF33-C2E9134170FE}" destId="{82CE8ED9-FFBC-4DBA-8499-EC9A33883FB9}" srcOrd="3" destOrd="0" parTransId="{EEE12CC0-F772-4C2C-A5A8-363EEDC913EA}" sibTransId="{00DFA58D-B643-42AB-B3B9-9012B9DCCFBC}"/>
    <dgm:cxn modelId="{28990C4C-FE49-4684-AF1C-501E3FA7BB9A}" type="presOf" srcId="{82CE8ED9-FFBC-4DBA-8499-EC9A33883FB9}" destId="{ECD2D963-A95C-4533-8D65-1C50BE50587D}" srcOrd="0" destOrd="0" presId="urn:microsoft.com/office/officeart/2009/layout/CircleArrowProcess"/>
    <dgm:cxn modelId="{D23F9C84-58E4-4917-AEE9-40DD15D15B40}" type="presOf" srcId="{2ADE063D-3577-4ACB-B884-78D2CDC61E2E}" destId="{587F3996-99E6-4463-805C-100C15C26D43}" srcOrd="0" destOrd="0" presId="urn:microsoft.com/office/officeart/2009/layout/CircleArrowProcess"/>
    <dgm:cxn modelId="{A76602B2-5811-4656-B03A-7192935A85D1}" type="presOf" srcId="{73ED38B9-46AC-4727-91D8-E1B552D81804}" destId="{4E950C64-4ED3-433F-A99A-54B9C741708B}" srcOrd="0" destOrd="0" presId="urn:microsoft.com/office/officeart/2009/layout/CircleArrowProcess"/>
    <dgm:cxn modelId="{699E32B3-551F-4775-B360-63E435A3CBDC}" srcId="{09E32FBC-0C7A-4F4A-AF33-C2E9134170FE}" destId="{73ED38B9-46AC-4727-91D8-E1B552D81804}" srcOrd="0" destOrd="0" parTransId="{CDD3403A-C7B5-4690-BD8F-5DB447029C3E}" sibTransId="{B50518B6-AAC6-421C-BC06-250D58FB6E34}"/>
    <dgm:cxn modelId="{C7215DEF-8772-4F1E-881A-4FF854514E7D}" type="presOf" srcId="{09E32FBC-0C7A-4F4A-AF33-C2E9134170FE}" destId="{C82FAD3A-E565-43BE-81F9-3F5CE07BBAF6}" srcOrd="0" destOrd="0" presId="urn:microsoft.com/office/officeart/2009/layout/CircleArrowProcess"/>
    <dgm:cxn modelId="{47582BF3-818F-4657-8932-81ED4C610212}" srcId="{09E32FBC-0C7A-4F4A-AF33-C2E9134170FE}" destId="{AA1A54E5-228A-43FB-B51D-F0F9A8C55B68}" srcOrd="1" destOrd="0" parTransId="{1D51D636-F4F8-4D64-AAF1-4BCC0C6CE06F}" sibTransId="{C615A4A8-4429-4672-A089-D0AAEEB894D3}"/>
    <dgm:cxn modelId="{8BDA0D89-7121-49B1-B6FD-777F3519EFB0}" type="presParOf" srcId="{C82FAD3A-E565-43BE-81F9-3F5CE07BBAF6}" destId="{31DAB431-2C31-4CE9-B960-2A57B3A19E2A}" srcOrd="0" destOrd="0" presId="urn:microsoft.com/office/officeart/2009/layout/CircleArrowProcess"/>
    <dgm:cxn modelId="{AFE66D27-F22A-46AB-A1EA-AF966739B8CD}" type="presParOf" srcId="{31DAB431-2C31-4CE9-B960-2A57B3A19E2A}" destId="{D8492DCB-E75D-4E5F-AEB2-BE270ADB1883}" srcOrd="0" destOrd="0" presId="urn:microsoft.com/office/officeart/2009/layout/CircleArrowProcess"/>
    <dgm:cxn modelId="{2B4A4A67-09A3-4F23-9149-9692F08E804A}" type="presParOf" srcId="{C82FAD3A-E565-43BE-81F9-3F5CE07BBAF6}" destId="{4E950C64-4ED3-433F-A99A-54B9C741708B}" srcOrd="1" destOrd="0" presId="urn:microsoft.com/office/officeart/2009/layout/CircleArrowProcess"/>
    <dgm:cxn modelId="{A60BFA97-31C8-4EAB-B98F-C000C0B7FED2}" type="presParOf" srcId="{C82FAD3A-E565-43BE-81F9-3F5CE07BBAF6}" destId="{A3247463-E799-4815-941D-1E60302BCA88}" srcOrd="2" destOrd="0" presId="urn:microsoft.com/office/officeart/2009/layout/CircleArrowProcess"/>
    <dgm:cxn modelId="{DA83E033-3888-413D-95D0-EFF428920467}" type="presParOf" srcId="{A3247463-E799-4815-941D-1E60302BCA88}" destId="{C5D9B59F-5CAB-4E8D-B661-971601707954}" srcOrd="0" destOrd="0" presId="urn:microsoft.com/office/officeart/2009/layout/CircleArrowProcess"/>
    <dgm:cxn modelId="{E6AC09DA-3DC7-4386-80F6-92ABEA9A309B}" type="presParOf" srcId="{C82FAD3A-E565-43BE-81F9-3F5CE07BBAF6}" destId="{DE007C6D-B6E8-4CDA-9716-D6819EBF8A3D}" srcOrd="3" destOrd="0" presId="urn:microsoft.com/office/officeart/2009/layout/CircleArrowProcess"/>
    <dgm:cxn modelId="{426EF413-1D3C-4442-A147-A3C424DA0671}" type="presParOf" srcId="{C82FAD3A-E565-43BE-81F9-3F5CE07BBAF6}" destId="{FC53D90E-6DC7-4C36-AD4B-5F13EF9A2519}" srcOrd="4" destOrd="0" presId="urn:microsoft.com/office/officeart/2009/layout/CircleArrowProcess"/>
    <dgm:cxn modelId="{E3ABBF6C-974C-45A2-821A-06CEEA1D5A9C}" type="presParOf" srcId="{FC53D90E-6DC7-4C36-AD4B-5F13EF9A2519}" destId="{443A8651-B42E-444D-B2E6-4D210C027DDC}" srcOrd="0" destOrd="0" presId="urn:microsoft.com/office/officeart/2009/layout/CircleArrowProcess"/>
    <dgm:cxn modelId="{F9EBE578-74C5-411F-B886-E0CDB2133C13}" type="presParOf" srcId="{C82FAD3A-E565-43BE-81F9-3F5CE07BBAF6}" destId="{587F3996-99E6-4463-805C-100C15C26D43}" srcOrd="5" destOrd="0" presId="urn:microsoft.com/office/officeart/2009/layout/CircleArrowProcess"/>
    <dgm:cxn modelId="{F8DCADE3-F65D-45F3-85B9-20DEF37F8437}" type="presParOf" srcId="{C82FAD3A-E565-43BE-81F9-3F5CE07BBAF6}" destId="{0E13E6F0-3B22-460B-BC56-99AAADD602D1}" srcOrd="6" destOrd="0" presId="urn:microsoft.com/office/officeart/2009/layout/CircleArrowProcess"/>
    <dgm:cxn modelId="{50CFD508-B8AE-45BF-862E-B8DA5A98B817}" type="presParOf" srcId="{0E13E6F0-3B22-460B-BC56-99AAADD602D1}" destId="{81192C55-60DF-4854-B114-BDE372C6F8CB}" srcOrd="0" destOrd="0" presId="urn:microsoft.com/office/officeart/2009/layout/CircleArrowProcess"/>
    <dgm:cxn modelId="{12F5FE43-FDA4-4CC6-86A2-7B83FD2AFEB0}" type="presParOf" srcId="{C82FAD3A-E565-43BE-81F9-3F5CE07BBAF6}" destId="{ECD2D963-A95C-4533-8D65-1C50BE50587D}" srcOrd="7" destOrd="0" presId="urn:microsoft.com/office/officeart/2009/layout/CircleArrowProcess"/>
    <dgm:cxn modelId="{6EFED188-A518-48AE-9B50-86ECF0F551ED}" type="presParOf" srcId="{C82FAD3A-E565-43BE-81F9-3F5CE07BBAF6}" destId="{8EA00DBB-4FF2-411F-BE36-CAF428A3949A}" srcOrd="8" destOrd="0" presId="urn:microsoft.com/office/officeart/2009/layout/CircleArrowProcess"/>
    <dgm:cxn modelId="{22E2F02A-5581-4623-8E28-2EF64A26EF4D}" type="presParOf" srcId="{8EA00DBB-4FF2-411F-BE36-CAF428A3949A}" destId="{32FCC25E-6FEE-43A8-BB20-0F2ECF131187}" srcOrd="0" destOrd="0" presId="urn:microsoft.com/office/officeart/2009/layout/CircleArrowProcess"/>
    <dgm:cxn modelId="{CD4A2B02-0D55-4900-B6D6-4312635C27BD}" type="presParOf" srcId="{C82FAD3A-E565-43BE-81F9-3F5CE07BBAF6}" destId="{7725DA79-A855-4095-83CF-8DC8AA8A5751}" srcOrd="9" destOrd="0" presId="urn:microsoft.com/office/officeart/2009/layout/Circle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492DCB-E75D-4E5F-AEB2-BE270ADB1883}">
      <dsp:nvSpPr>
        <dsp:cNvPr id="0" name=""/>
        <dsp:cNvSpPr/>
      </dsp:nvSpPr>
      <dsp:spPr>
        <a:xfrm>
          <a:off x="2556067" y="0"/>
          <a:ext cx="1714971" cy="1715058"/>
        </a:xfrm>
        <a:prstGeom prst="circularArrow">
          <a:avLst>
            <a:gd name="adj1" fmla="val 10980"/>
            <a:gd name="adj2" fmla="val 1142322"/>
            <a:gd name="adj3" fmla="val 4500000"/>
            <a:gd name="adj4" fmla="val 10800000"/>
            <a:gd name="adj5" fmla="val 125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950C64-4ED3-433F-A99A-54B9C741708B}">
      <dsp:nvSpPr>
        <dsp:cNvPr id="0" name=""/>
        <dsp:cNvSpPr/>
      </dsp:nvSpPr>
      <dsp:spPr>
        <a:xfrm>
          <a:off x="2934705" y="621141"/>
          <a:ext cx="957051" cy="4783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latinLnBrk="1">
            <a:lnSpc>
              <a:spcPct val="90000"/>
            </a:lnSpc>
            <a:spcBef>
              <a:spcPct val="0"/>
            </a:spcBef>
            <a:spcAft>
              <a:spcPct val="35000"/>
            </a:spcAft>
            <a:buNone/>
          </a:pPr>
          <a:r>
            <a:rPr lang="en-US" altLang="ko-KR" sz="1300" kern="1200" dirty="0"/>
            <a:t>Low leg muscle</a:t>
          </a:r>
          <a:endParaRPr lang="ko-KR" altLang="en-US" sz="1300" kern="1200" dirty="0"/>
        </a:p>
      </dsp:txBody>
      <dsp:txXfrm>
        <a:off x="2934705" y="621141"/>
        <a:ext cx="957051" cy="478311"/>
      </dsp:txXfrm>
    </dsp:sp>
    <dsp:sp modelId="{C5D9B59F-5CAB-4E8D-B661-971601707954}">
      <dsp:nvSpPr>
        <dsp:cNvPr id="0" name=""/>
        <dsp:cNvSpPr/>
      </dsp:nvSpPr>
      <dsp:spPr>
        <a:xfrm>
          <a:off x="2079632" y="985411"/>
          <a:ext cx="1714971" cy="1715058"/>
        </a:xfrm>
        <a:prstGeom prst="leftCircularArrow">
          <a:avLst>
            <a:gd name="adj1" fmla="val 10980"/>
            <a:gd name="adj2" fmla="val 1142322"/>
            <a:gd name="adj3" fmla="val 6300000"/>
            <a:gd name="adj4" fmla="val 18900000"/>
            <a:gd name="adj5" fmla="val 12500"/>
          </a:avLst>
        </a:prstGeom>
        <a:solidFill>
          <a:schemeClr val="accent3">
            <a:hueOff val="677650"/>
            <a:satOff val="25000"/>
            <a:lumOff val="-36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007C6D-B6E8-4CDA-9716-D6819EBF8A3D}">
      <dsp:nvSpPr>
        <dsp:cNvPr id="0" name=""/>
        <dsp:cNvSpPr/>
      </dsp:nvSpPr>
      <dsp:spPr>
        <a:xfrm>
          <a:off x="2456341" y="1608766"/>
          <a:ext cx="957051" cy="4783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latinLnBrk="1">
            <a:lnSpc>
              <a:spcPct val="90000"/>
            </a:lnSpc>
            <a:spcBef>
              <a:spcPct val="0"/>
            </a:spcBef>
            <a:spcAft>
              <a:spcPct val="35000"/>
            </a:spcAft>
            <a:buNone/>
          </a:pPr>
          <a:r>
            <a:rPr lang="en-US" altLang="ko-KR" sz="1300" kern="1200" dirty="0"/>
            <a:t>Muscle weakness</a:t>
          </a:r>
          <a:endParaRPr lang="ko-KR" altLang="en-US" sz="1300" kern="1200" dirty="0"/>
        </a:p>
      </dsp:txBody>
      <dsp:txXfrm>
        <a:off x="2456341" y="1608766"/>
        <a:ext cx="957051" cy="478311"/>
      </dsp:txXfrm>
    </dsp:sp>
    <dsp:sp modelId="{443A8651-B42E-444D-B2E6-4D210C027DDC}">
      <dsp:nvSpPr>
        <dsp:cNvPr id="0" name=""/>
        <dsp:cNvSpPr/>
      </dsp:nvSpPr>
      <dsp:spPr>
        <a:xfrm>
          <a:off x="2556067" y="1975250"/>
          <a:ext cx="1714971" cy="1715058"/>
        </a:xfrm>
        <a:prstGeom prst="circularArrow">
          <a:avLst>
            <a:gd name="adj1" fmla="val 10980"/>
            <a:gd name="adj2" fmla="val 1142322"/>
            <a:gd name="adj3" fmla="val 4500000"/>
            <a:gd name="adj4" fmla="val 13500000"/>
            <a:gd name="adj5" fmla="val 12500"/>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7F3996-99E6-4463-805C-100C15C26D43}">
      <dsp:nvSpPr>
        <dsp:cNvPr id="0" name=""/>
        <dsp:cNvSpPr/>
      </dsp:nvSpPr>
      <dsp:spPr>
        <a:xfrm>
          <a:off x="2934705" y="2595838"/>
          <a:ext cx="957051" cy="4783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latinLnBrk="1">
            <a:lnSpc>
              <a:spcPct val="90000"/>
            </a:lnSpc>
            <a:spcBef>
              <a:spcPct val="0"/>
            </a:spcBef>
            <a:spcAft>
              <a:spcPct val="35000"/>
            </a:spcAft>
            <a:buNone/>
          </a:pPr>
          <a:r>
            <a:rPr lang="en-US" altLang="ko-KR" sz="1300" kern="1200" dirty="0"/>
            <a:t>Physical Activity ↓</a:t>
          </a:r>
          <a:endParaRPr lang="ko-KR" altLang="en-US" sz="1300" kern="1200" dirty="0"/>
        </a:p>
      </dsp:txBody>
      <dsp:txXfrm>
        <a:off x="2934705" y="2595838"/>
        <a:ext cx="957051" cy="478311"/>
      </dsp:txXfrm>
    </dsp:sp>
    <dsp:sp modelId="{81192C55-60DF-4854-B114-BDE372C6F8CB}">
      <dsp:nvSpPr>
        <dsp:cNvPr id="0" name=""/>
        <dsp:cNvSpPr/>
      </dsp:nvSpPr>
      <dsp:spPr>
        <a:xfrm>
          <a:off x="2079632" y="2962322"/>
          <a:ext cx="1714971" cy="1715058"/>
        </a:xfrm>
        <a:prstGeom prst="leftCircularArrow">
          <a:avLst>
            <a:gd name="adj1" fmla="val 10980"/>
            <a:gd name="adj2" fmla="val 1142322"/>
            <a:gd name="adj3" fmla="val 6300000"/>
            <a:gd name="adj4" fmla="val 18900000"/>
            <a:gd name="adj5" fmla="val 12500"/>
          </a:avLst>
        </a:prstGeom>
        <a:solidFill>
          <a:schemeClr val="accent3">
            <a:hueOff val="2032949"/>
            <a:satOff val="75000"/>
            <a:lumOff val="-110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D2D963-A95C-4533-8D65-1C50BE50587D}">
      <dsp:nvSpPr>
        <dsp:cNvPr id="0" name=""/>
        <dsp:cNvSpPr/>
      </dsp:nvSpPr>
      <dsp:spPr>
        <a:xfrm>
          <a:off x="2456341" y="3583463"/>
          <a:ext cx="957051" cy="4783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latinLnBrk="1">
            <a:lnSpc>
              <a:spcPct val="90000"/>
            </a:lnSpc>
            <a:spcBef>
              <a:spcPct val="0"/>
            </a:spcBef>
            <a:spcAft>
              <a:spcPct val="35000"/>
            </a:spcAft>
            <a:buNone/>
          </a:pPr>
          <a:r>
            <a:rPr lang="en-US" altLang="ko-KR" sz="1300" kern="1200" dirty="0"/>
            <a:t>Muscle loss</a:t>
          </a:r>
          <a:endParaRPr lang="ko-KR" altLang="en-US" sz="1300" kern="1200" dirty="0"/>
        </a:p>
      </dsp:txBody>
      <dsp:txXfrm>
        <a:off x="2456341" y="3583463"/>
        <a:ext cx="957051" cy="478311"/>
      </dsp:txXfrm>
    </dsp:sp>
    <dsp:sp modelId="{32FCC25E-6FEE-43A8-BB20-0F2ECF131187}">
      <dsp:nvSpPr>
        <dsp:cNvPr id="0" name=""/>
        <dsp:cNvSpPr/>
      </dsp:nvSpPr>
      <dsp:spPr>
        <a:xfrm>
          <a:off x="2677990" y="4061775"/>
          <a:ext cx="1473376" cy="1474241"/>
        </a:xfrm>
        <a:prstGeom prst="blockArc">
          <a:avLst>
            <a:gd name="adj1" fmla="val 13500000"/>
            <a:gd name="adj2" fmla="val 10800000"/>
            <a:gd name="adj3" fmla="val 12740"/>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25DA79-A855-4095-83CF-8DC8AA8A5751}">
      <dsp:nvSpPr>
        <dsp:cNvPr id="0" name=""/>
        <dsp:cNvSpPr/>
      </dsp:nvSpPr>
      <dsp:spPr>
        <a:xfrm>
          <a:off x="2934705" y="4571089"/>
          <a:ext cx="957051" cy="4783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latinLnBrk="1">
            <a:lnSpc>
              <a:spcPct val="90000"/>
            </a:lnSpc>
            <a:spcBef>
              <a:spcPct val="0"/>
            </a:spcBef>
            <a:spcAft>
              <a:spcPct val="35000"/>
            </a:spcAft>
            <a:buNone/>
          </a:pPr>
          <a:r>
            <a:rPr lang="en-US" altLang="ko-KR" sz="1300" kern="1200" dirty="0"/>
            <a:t>Insulin resistance </a:t>
          </a:r>
          <a:r>
            <a:rPr lang="en-US" altLang="ko-KR" sz="1300" kern="1200" dirty="0">
              <a:latin typeface="맑은 고딕" panose="020B0503020000020004" pitchFamily="50" charset="-127"/>
              <a:ea typeface="맑은 고딕" panose="020B0503020000020004" pitchFamily="50" charset="-127"/>
            </a:rPr>
            <a:t>↑</a:t>
          </a:r>
          <a:endParaRPr lang="ko-KR" altLang="en-US" sz="1300" kern="1200" dirty="0"/>
        </a:p>
      </dsp:txBody>
      <dsp:txXfrm>
        <a:off x="2934705" y="4571089"/>
        <a:ext cx="957051" cy="478311"/>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489DC0-F516-47B7-88F2-767AC971E6A1}" type="datetimeFigureOut">
              <a:rPr lang="en-US" smtClean="0"/>
              <a:t>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93D6B5-BE96-4472-93CE-57013DAD8830}" type="slidenum">
              <a:rPr lang="en-US" smtClean="0"/>
              <a:t>‹#›</a:t>
            </a:fld>
            <a:endParaRPr lang="en-US"/>
          </a:p>
        </p:txBody>
      </p:sp>
    </p:spTree>
    <p:extLst>
      <p:ext uri="{BB962C8B-B14F-4D97-AF65-F5344CB8AC3E}">
        <p14:creationId xmlns:p14="http://schemas.microsoft.com/office/powerpoint/2010/main" val="264494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6"/>
        <p:cNvGrpSpPr/>
        <p:nvPr/>
      </p:nvGrpSpPr>
      <p:grpSpPr>
        <a:xfrm>
          <a:off x="0" y="0"/>
          <a:ext cx="0" cy="0"/>
          <a:chOff x="0" y="0"/>
          <a:chExt cx="0" cy="0"/>
        </a:xfrm>
      </p:grpSpPr>
      <p:sp>
        <p:nvSpPr>
          <p:cNvPr id="1507" name="Google Shape;1507;g22a18b0c75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8" name="Google Shape;1508;g22a18b0c75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438150" y="1252538"/>
            <a:ext cx="6013450" cy="3382962"/>
          </a:xfrm>
        </p:spPr>
      </p:sp>
      <p:sp>
        <p:nvSpPr>
          <p:cNvPr id="3" name="슬라이드 노트 개체 틀 2"/>
          <p:cNvSpPr>
            <a:spLocks noGrp="1"/>
          </p:cNvSpPr>
          <p:nvPr>
            <p:ph type="body" idx="1"/>
          </p:nvPr>
        </p:nvSpPr>
        <p:spPr/>
        <p:txBody>
          <a:bodyPr/>
          <a:lstStyle/>
          <a:p>
            <a:r>
              <a:rPr lang="ko-KR" altLang="en-US" dirty="0"/>
              <a:t>운동 후 </a:t>
            </a:r>
            <a:r>
              <a:rPr lang="en-US" altLang="ko-KR" dirty="0"/>
              <a:t>GLUT4, Insulin receptor expression</a:t>
            </a:r>
            <a:r>
              <a:rPr lang="ko-KR" altLang="en-US" dirty="0"/>
              <a:t>이 증가</a:t>
            </a:r>
            <a:endParaRPr lang="en-US" altLang="ko-KR" dirty="0"/>
          </a:p>
          <a:p>
            <a:r>
              <a:rPr lang="ko-KR" altLang="en-US" dirty="0" err="1"/>
              <a:t>근육량이</a:t>
            </a:r>
            <a:r>
              <a:rPr lang="ko-KR" altLang="en-US" dirty="0"/>
              <a:t> 늘어나면 이들의</a:t>
            </a:r>
            <a:r>
              <a:rPr lang="ko-KR" altLang="en-US" baseline="0" dirty="0"/>
              <a:t> 발현이 더욱 증가할 수 있기 때문에 </a:t>
            </a:r>
            <a:r>
              <a:rPr lang="ko-KR" altLang="en-US" baseline="0" dirty="0" err="1"/>
              <a:t>근육량이</a:t>
            </a:r>
            <a:r>
              <a:rPr lang="ko-KR" altLang="en-US" baseline="0" dirty="0"/>
              <a:t> 많은 경우 </a:t>
            </a:r>
            <a:r>
              <a:rPr lang="en-US" altLang="ko-KR" baseline="0" dirty="0"/>
              <a:t>Insulin sensitivity</a:t>
            </a:r>
            <a:r>
              <a:rPr lang="ko-KR" altLang="en-US" baseline="0" dirty="0"/>
              <a:t>가 증가한다고 말하는 것이고 </a:t>
            </a:r>
            <a:endParaRPr lang="en-US" altLang="ko-KR" baseline="0" dirty="0"/>
          </a:p>
          <a:p>
            <a:r>
              <a:rPr lang="ko-KR" altLang="en-US" baseline="0" dirty="0" err="1"/>
              <a:t>이런한</a:t>
            </a:r>
            <a:r>
              <a:rPr lang="ko-KR" altLang="en-US" baseline="0" dirty="0"/>
              <a:t> 증거들이 많음</a:t>
            </a:r>
            <a:r>
              <a:rPr lang="en-US" altLang="ko-KR" baseline="0" dirty="0"/>
              <a:t>.</a:t>
            </a:r>
          </a:p>
          <a:p>
            <a:endParaRPr lang="en-IN" altLang="ko-KR" baseline="0" dirty="0"/>
          </a:p>
          <a:p>
            <a:r>
              <a:rPr lang="ko-KR" altLang="en-US" baseline="0" dirty="0"/>
              <a:t>인슐린이 인슐린 </a:t>
            </a:r>
            <a:r>
              <a:rPr lang="ko-KR" altLang="en-US" baseline="0" dirty="0" err="1"/>
              <a:t>리셉터가</a:t>
            </a:r>
            <a:r>
              <a:rPr lang="ko-KR" altLang="en-US" baseline="0" dirty="0"/>
              <a:t> </a:t>
            </a:r>
            <a:r>
              <a:rPr lang="ko-KR" altLang="en-US" baseline="0" dirty="0" err="1"/>
              <a:t>글룻</a:t>
            </a:r>
            <a:r>
              <a:rPr lang="en-US" altLang="ko-KR" baseline="0" dirty="0"/>
              <a:t>4</a:t>
            </a:r>
            <a:r>
              <a:rPr lang="ko-KR" altLang="en-US" baseline="0" dirty="0"/>
              <a:t>가 경로가 되는 단백질</a:t>
            </a:r>
            <a:endParaRPr lang="en-IN" altLang="ko-KR" baseline="0" dirty="0"/>
          </a:p>
          <a:p>
            <a:r>
              <a:rPr lang="ko-KR" altLang="en-US" baseline="0" dirty="0"/>
              <a:t>포도당이 줄어들려면 </a:t>
            </a:r>
            <a:r>
              <a:rPr lang="ko-KR" altLang="en-US" baseline="0" dirty="0" err="1"/>
              <a:t>혈액속에</a:t>
            </a:r>
            <a:r>
              <a:rPr lang="ko-KR" altLang="en-US" baseline="0" dirty="0"/>
              <a:t> 있는 </a:t>
            </a:r>
            <a:r>
              <a:rPr lang="ko-KR" altLang="en-US" baseline="0" dirty="0" err="1"/>
              <a:t>포동아이</a:t>
            </a:r>
            <a:r>
              <a:rPr lang="ko-KR" altLang="en-US" baseline="0" dirty="0"/>
              <a:t> 들어와야 낮아지는데</a:t>
            </a:r>
            <a:endParaRPr lang="en-IN" altLang="ko-KR" baseline="0" dirty="0"/>
          </a:p>
          <a:p>
            <a:r>
              <a:rPr lang="ko-KR" altLang="en-US" baseline="0" dirty="0"/>
              <a:t>포도당이 </a:t>
            </a:r>
            <a:r>
              <a:rPr lang="ko-KR" altLang="en-US" baseline="0" dirty="0" err="1"/>
              <a:t>세포안으로</a:t>
            </a:r>
            <a:r>
              <a:rPr lang="ko-KR" altLang="en-US" baseline="0" dirty="0"/>
              <a:t> 들어오기 위해서 </a:t>
            </a:r>
            <a:r>
              <a:rPr lang="ko-KR" altLang="en-US" baseline="0" dirty="0" err="1"/>
              <a:t>글룻</a:t>
            </a:r>
            <a:r>
              <a:rPr lang="ko-KR" altLang="en-US" baseline="0" dirty="0"/>
              <a:t> </a:t>
            </a:r>
            <a:r>
              <a:rPr lang="en-US" altLang="ko-KR" baseline="0" dirty="0"/>
              <a:t>4</a:t>
            </a:r>
            <a:r>
              <a:rPr lang="ko-KR" altLang="en-US" baseline="0" dirty="0"/>
              <a:t>의 통로가 열려야 함</a:t>
            </a:r>
            <a:r>
              <a:rPr lang="en-US" altLang="ko-KR" baseline="0" dirty="0"/>
              <a:t>.</a:t>
            </a:r>
          </a:p>
          <a:p>
            <a:r>
              <a:rPr lang="ko-KR" altLang="en-US" baseline="0" dirty="0"/>
              <a:t>열기 위해서는 인슐린이 </a:t>
            </a:r>
            <a:r>
              <a:rPr lang="ko-KR" altLang="en-US" baseline="0" dirty="0" err="1"/>
              <a:t>리셉터에</a:t>
            </a:r>
            <a:r>
              <a:rPr lang="ko-KR" altLang="en-US" baseline="0" dirty="0"/>
              <a:t> 접함이 되어야 하고</a:t>
            </a:r>
            <a:r>
              <a:rPr lang="en-US" altLang="ko-KR" baseline="0" dirty="0"/>
              <a:t>,</a:t>
            </a:r>
            <a:r>
              <a:rPr lang="ko-KR" altLang="en-US" baseline="0" dirty="0"/>
              <a:t> </a:t>
            </a:r>
            <a:endParaRPr lang="en-IN" altLang="ko-KR" baseline="0" dirty="0"/>
          </a:p>
          <a:p>
            <a:r>
              <a:rPr lang="ko-KR" altLang="en-US" baseline="0" dirty="0"/>
              <a:t>그 시그널이 열리지 않는 경우가 두번째 케이스</a:t>
            </a:r>
            <a:r>
              <a:rPr lang="en-US" altLang="ko-KR" baseline="0" dirty="0"/>
              <a:t>.</a:t>
            </a:r>
          </a:p>
          <a:p>
            <a:endParaRPr lang="en-US" altLang="ko-KR" baseline="0" dirty="0"/>
          </a:p>
          <a:p>
            <a:r>
              <a:rPr lang="ko-KR" altLang="en-US" baseline="0" dirty="0"/>
              <a:t>근육이 </a:t>
            </a:r>
            <a:r>
              <a:rPr lang="ko-KR" altLang="en-US" baseline="0" dirty="0" err="1"/>
              <a:t>중요하다하라고</a:t>
            </a:r>
            <a:r>
              <a:rPr lang="ko-KR" altLang="en-US" baseline="0" dirty="0"/>
              <a:t> 얘기하는데 </a:t>
            </a:r>
            <a:endParaRPr lang="en-IN" altLang="ko-KR" baseline="0" dirty="0"/>
          </a:p>
          <a:p>
            <a:r>
              <a:rPr lang="ko-KR" altLang="en-US" baseline="0" dirty="0"/>
              <a:t>왜 중요한지 보는게 이 슬라이드</a:t>
            </a:r>
            <a:endParaRPr lang="en-IN" altLang="ko-KR" baseline="0" dirty="0"/>
          </a:p>
          <a:p>
            <a:r>
              <a:rPr lang="ko-KR" altLang="en-US" baseline="0" dirty="0"/>
              <a:t>인슐린 </a:t>
            </a:r>
            <a:r>
              <a:rPr lang="ko-KR" altLang="en-US" baseline="0" dirty="0" err="1"/>
              <a:t>리셉터나</a:t>
            </a:r>
            <a:r>
              <a:rPr lang="ko-KR" altLang="en-US" baseline="0" dirty="0"/>
              <a:t> </a:t>
            </a:r>
            <a:r>
              <a:rPr lang="ko-KR" altLang="en-US" baseline="0" dirty="0" err="1"/>
              <a:t>글룻</a:t>
            </a:r>
            <a:r>
              <a:rPr lang="en-US" altLang="ko-KR" baseline="0" dirty="0"/>
              <a:t>4</a:t>
            </a:r>
            <a:r>
              <a:rPr lang="ko-KR" altLang="en-US" baseline="0" dirty="0"/>
              <a:t>는 혈당 조절에 중요한 역할을 하는데 이 두개가 골격근에 주로 분포하고있음</a:t>
            </a:r>
            <a:r>
              <a:rPr lang="en-US" altLang="ko-KR" baseline="0" dirty="0"/>
              <a:t>.</a:t>
            </a:r>
          </a:p>
          <a:p>
            <a:r>
              <a:rPr lang="ko-KR" altLang="en-US" baseline="0" dirty="0"/>
              <a:t>그리고 실제로 운동을 해서 </a:t>
            </a:r>
            <a:r>
              <a:rPr lang="ko-KR" altLang="en-US" baseline="0" dirty="0" err="1"/>
              <a:t>근육량이</a:t>
            </a:r>
            <a:r>
              <a:rPr lang="ko-KR" altLang="en-US" baseline="0" dirty="0"/>
              <a:t> 늘어난 사람들</a:t>
            </a:r>
            <a:r>
              <a:rPr lang="en-US" altLang="ko-KR" baseline="0" dirty="0"/>
              <a:t>,</a:t>
            </a:r>
            <a:r>
              <a:rPr lang="ko-KR" altLang="en-US" baseline="0" dirty="0"/>
              <a:t> </a:t>
            </a:r>
            <a:r>
              <a:rPr lang="ko-KR" altLang="en-US" baseline="0" dirty="0" err="1"/>
              <a:t>머슬셀</a:t>
            </a:r>
            <a:r>
              <a:rPr lang="ko-KR" altLang="en-US" baseline="0" dirty="0"/>
              <a:t> 표면에 위치하고 있어</a:t>
            </a:r>
            <a:r>
              <a:rPr lang="en-US" altLang="ko-KR" baseline="0" dirty="0"/>
              <a:t>,</a:t>
            </a:r>
            <a:r>
              <a:rPr lang="ko-KR" altLang="en-US" baseline="0" dirty="0"/>
              <a:t> </a:t>
            </a:r>
            <a:r>
              <a:rPr lang="ko-KR" altLang="en-US" baseline="0" dirty="0" err="1"/>
              <a:t>머슬이</a:t>
            </a:r>
            <a:r>
              <a:rPr lang="ko-KR" altLang="en-US" baseline="0" dirty="0"/>
              <a:t> 늘어났을 때 발현도 늘어남</a:t>
            </a:r>
            <a:endParaRPr lang="en-IN" altLang="ko-KR" baseline="0" dirty="0"/>
          </a:p>
          <a:p>
            <a:endParaRPr lang="en-IN" altLang="ko-KR" baseline="0" dirty="0"/>
          </a:p>
          <a:p>
            <a:r>
              <a:rPr lang="ko-KR" altLang="en-US" baseline="0" dirty="0"/>
              <a:t>근육이 많아지면 인슐린 </a:t>
            </a:r>
            <a:r>
              <a:rPr lang="ko-KR" altLang="en-US" baseline="0" dirty="0" err="1"/>
              <a:t>리셉터</a:t>
            </a:r>
            <a:r>
              <a:rPr lang="ko-KR" altLang="en-US" baseline="0" dirty="0"/>
              <a:t> </a:t>
            </a:r>
            <a:r>
              <a:rPr lang="ko-KR" altLang="en-US" baseline="0" dirty="0" err="1"/>
              <a:t>글룻</a:t>
            </a:r>
            <a:r>
              <a:rPr lang="en-US" altLang="ko-KR" baseline="0" dirty="0"/>
              <a:t>4</a:t>
            </a:r>
            <a:r>
              <a:rPr lang="ko-KR" altLang="en-US" baseline="0" dirty="0"/>
              <a:t>도 늘어가고 혈당 조절도 쉽게 됨</a:t>
            </a:r>
            <a:r>
              <a:rPr lang="en-US" altLang="ko-KR" baseline="0" dirty="0"/>
              <a:t>.</a:t>
            </a:r>
          </a:p>
          <a:p>
            <a:r>
              <a:rPr lang="ko-KR" altLang="en-US" baseline="0" dirty="0"/>
              <a:t>그래서 근육이 중요하다고 얘기하는 것이고</a:t>
            </a:r>
            <a:r>
              <a:rPr lang="en-US" altLang="ko-KR" baseline="0" dirty="0"/>
              <a:t>,</a:t>
            </a:r>
            <a:r>
              <a:rPr lang="ko-KR" altLang="en-US" baseline="0" dirty="0"/>
              <a:t> 뒷받침 해주는 근거가 있다</a:t>
            </a:r>
            <a:r>
              <a:rPr lang="en-US" altLang="ko-KR" baseline="0" dirty="0"/>
              <a:t>.</a:t>
            </a:r>
          </a:p>
          <a:p>
            <a:endParaRPr lang="en-US" altLang="ko-KR" dirty="0"/>
          </a:p>
        </p:txBody>
      </p:sp>
      <p:sp>
        <p:nvSpPr>
          <p:cNvPr id="4" name="슬라이드 번호 개체 틀 3"/>
          <p:cNvSpPr>
            <a:spLocks noGrp="1"/>
          </p:cNvSpPr>
          <p:nvPr>
            <p:ph type="sldNum" sz="quarter" idx="10"/>
          </p:nvPr>
        </p:nvSpPr>
        <p:spPr/>
        <p:txBody>
          <a:bodyPr/>
          <a:lstStyle/>
          <a:p>
            <a:fld id="{493A263E-28DE-49B3-B84E-87978C2BD591}" type="slidenum">
              <a:rPr lang="ko-KR" altLang="en-US" smtClean="0"/>
              <a:t>7</a:t>
            </a:fld>
            <a:endParaRPr lang="ko-KR" altLang="en-US"/>
          </a:p>
        </p:txBody>
      </p:sp>
    </p:spTree>
    <p:extLst>
      <p:ext uri="{BB962C8B-B14F-4D97-AF65-F5344CB8AC3E}">
        <p14:creationId xmlns:p14="http://schemas.microsoft.com/office/powerpoint/2010/main" val="374323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190625" y="1252538"/>
            <a:ext cx="4508500" cy="3382962"/>
          </a:xfrm>
        </p:spPr>
      </p:sp>
      <p:sp>
        <p:nvSpPr>
          <p:cNvPr id="3" name="슬라이드 노트 개체 틀 2"/>
          <p:cNvSpPr>
            <a:spLocks noGrp="1"/>
          </p:cNvSpPr>
          <p:nvPr>
            <p:ph type="body" idx="1"/>
          </p:nvPr>
        </p:nvSpPr>
        <p:spPr/>
        <p:txBody>
          <a:bodyPr/>
          <a:lstStyle/>
          <a:p>
            <a:r>
              <a:rPr lang="ko-KR" altLang="en-US" dirty="0"/>
              <a:t>그렇기 </a:t>
            </a:r>
            <a:r>
              <a:rPr lang="ko-KR" altLang="en-US" dirty="0" err="1"/>
              <a:t>떄문에</a:t>
            </a:r>
            <a:r>
              <a:rPr lang="ko-KR" altLang="en-US" dirty="0"/>
              <a:t> 우리는 </a:t>
            </a:r>
            <a:r>
              <a:rPr lang="ko-KR" altLang="en-US" dirty="0" err="1"/>
              <a:t>근육량을</a:t>
            </a:r>
            <a:r>
              <a:rPr lang="ko-KR" altLang="en-US" dirty="0"/>
              <a:t> 통해 당뇨의 위험을 </a:t>
            </a:r>
            <a:r>
              <a:rPr lang="en-US" altLang="ko-KR" dirty="0"/>
              <a:t>Screening</a:t>
            </a:r>
            <a:r>
              <a:rPr lang="ko-KR" altLang="en-US" dirty="0"/>
              <a:t>하고</a:t>
            </a:r>
            <a:r>
              <a:rPr lang="en-US" altLang="ko-KR" dirty="0"/>
              <a:t>,</a:t>
            </a:r>
          </a:p>
          <a:p>
            <a:r>
              <a:rPr lang="ko-KR" altLang="en-US" dirty="0"/>
              <a:t>당뇨인 환자들의 </a:t>
            </a:r>
            <a:r>
              <a:rPr lang="ko-KR" altLang="en-US" dirty="0" err="1"/>
              <a:t>근육량이</a:t>
            </a:r>
            <a:r>
              <a:rPr lang="ko-KR" altLang="en-US" dirty="0"/>
              <a:t> 줄어들지 않도록</a:t>
            </a:r>
            <a:r>
              <a:rPr lang="en-US" altLang="ko-KR" dirty="0"/>
              <a:t>,</a:t>
            </a:r>
            <a:r>
              <a:rPr lang="en-US" altLang="ko-KR" baseline="0" dirty="0"/>
              <a:t> </a:t>
            </a:r>
            <a:r>
              <a:rPr lang="ko-KR" altLang="en-US" baseline="0" dirty="0" err="1"/>
              <a:t>저근육증이</a:t>
            </a:r>
            <a:r>
              <a:rPr lang="ko-KR" altLang="en-US" baseline="0" dirty="0"/>
              <a:t> 오지 않도록 </a:t>
            </a:r>
            <a:r>
              <a:rPr lang="ko-KR" altLang="en-US" baseline="0" dirty="0" err="1"/>
              <a:t>인바디를</a:t>
            </a:r>
            <a:r>
              <a:rPr lang="ko-KR" altLang="en-US" baseline="0" dirty="0"/>
              <a:t> 통해 </a:t>
            </a:r>
            <a:r>
              <a:rPr lang="ko-KR" altLang="en-US" baseline="0" dirty="0" err="1"/>
              <a:t>관리해야한다고</a:t>
            </a:r>
            <a:r>
              <a:rPr lang="ko-KR" altLang="en-US" baseline="0" dirty="0"/>
              <a:t> 말할 수 있는 것이다</a:t>
            </a:r>
            <a:r>
              <a:rPr lang="en-US" altLang="ko-KR" baseline="0" dirty="0"/>
              <a:t>.</a:t>
            </a:r>
            <a:endParaRPr lang="ko-KR" altLang="en-US" dirty="0"/>
          </a:p>
        </p:txBody>
      </p:sp>
      <p:sp>
        <p:nvSpPr>
          <p:cNvPr id="4" name="슬라이드 번호 개체 틀 3"/>
          <p:cNvSpPr>
            <a:spLocks noGrp="1"/>
          </p:cNvSpPr>
          <p:nvPr>
            <p:ph type="sldNum" sz="quarter" idx="10"/>
          </p:nvPr>
        </p:nvSpPr>
        <p:spPr/>
        <p:txBody>
          <a:bodyPr/>
          <a:lstStyle/>
          <a:p>
            <a:fld id="{493A263E-28DE-49B3-B84E-87978C2BD591}" type="slidenum">
              <a:rPr lang="ko-KR" altLang="en-US" smtClean="0"/>
              <a:t>8</a:t>
            </a:fld>
            <a:endParaRPr lang="ko-KR" altLang="en-US"/>
          </a:p>
        </p:txBody>
      </p:sp>
    </p:spTree>
    <p:extLst>
      <p:ext uri="{BB962C8B-B14F-4D97-AF65-F5344CB8AC3E}">
        <p14:creationId xmlns:p14="http://schemas.microsoft.com/office/powerpoint/2010/main" val="4067934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Journal of American Medical Directors Association</a:t>
            </a:r>
          </a:p>
        </p:txBody>
      </p:sp>
      <p:sp>
        <p:nvSpPr>
          <p:cNvPr id="4" name="Slide Number Placeholder 3"/>
          <p:cNvSpPr>
            <a:spLocks noGrp="1"/>
          </p:cNvSpPr>
          <p:nvPr>
            <p:ph type="sldNum" sz="quarter" idx="5"/>
          </p:nvPr>
        </p:nvSpPr>
        <p:spPr/>
        <p:txBody>
          <a:bodyPr/>
          <a:lstStyle/>
          <a:p>
            <a:fld id="{17DDFDAF-4661-4CE7-A376-FAEE126C6AD7}" type="slidenum">
              <a:rPr lang="ko-KR" altLang="en-US" smtClean="0"/>
              <a:t>9</a:t>
            </a:fld>
            <a:endParaRPr lang="ko-KR" altLang="en-US"/>
          </a:p>
        </p:txBody>
      </p:sp>
    </p:spTree>
    <p:extLst>
      <p:ext uri="{BB962C8B-B14F-4D97-AF65-F5344CB8AC3E}">
        <p14:creationId xmlns:p14="http://schemas.microsoft.com/office/powerpoint/2010/main" val="3346181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438150" y="1252538"/>
            <a:ext cx="6013450" cy="3382962"/>
          </a:xfrm>
        </p:spPr>
      </p:sp>
      <p:sp>
        <p:nvSpPr>
          <p:cNvPr id="3" name="슬라이드 노트 개체 틀 2"/>
          <p:cNvSpPr>
            <a:spLocks noGrp="1"/>
          </p:cNvSpPr>
          <p:nvPr>
            <p:ph type="body" idx="1"/>
          </p:nvPr>
        </p:nvSpPr>
        <p:spPr/>
        <p:txBody>
          <a:bodyPr/>
          <a:lstStyle/>
          <a:p>
            <a:r>
              <a:rPr lang="ko-KR" altLang="en-US" dirty="0"/>
              <a:t>전신 </a:t>
            </a:r>
            <a:r>
              <a:rPr lang="ko-KR" altLang="en-US" dirty="0" err="1"/>
              <a:t>근육량과</a:t>
            </a:r>
            <a:r>
              <a:rPr lang="ko-KR" altLang="en-US" dirty="0"/>
              <a:t> 골격근량을 </a:t>
            </a:r>
            <a:r>
              <a:rPr lang="ko-KR" altLang="en-US" dirty="0" err="1"/>
              <a:t>모니터링하는</a:t>
            </a:r>
            <a:r>
              <a:rPr lang="ko-KR" altLang="en-US" dirty="0"/>
              <a:t> 것도 중요하지만 그 중 다리 </a:t>
            </a:r>
            <a:r>
              <a:rPr lang="ko-KR" altLang="en-US" dirty="0" err="1"/>
              <a:t>근육량을</a:t>
            </a:r>
            <a:r>
              <a:rPr lang="ko-KR" altLang="en-US" dirty="0"/>
              <a:t> 집중적으로 모니터링 하는 것도 필요하다</a:t>
            </a:r>
            <a:endParaRPr lang="en-US" altLang="ko-KR" dirty="0"/>
          </a:p>
          <a:p>
            <a:r>
              <a:rPr lang="ko-KR" altLang="en-US" dirty="0"/>
              <a:t>왜</a:t>
            </a:r>
            <a:r>
              <a:rPr lang="en-US" altLang="ko-KR" dirty="0"/>
              <a:t>? </a:t>
            </a:r>
            <a:r>
              <a:rPr lang="ko-KR" altLang="en-US" dirty="0"/>
              <a:t>전체 근육의 </a:t>
            </a:r>
            <a:r>
              <a:rPr lang="en-US" altLang="ko-KR" dirty="0"/>
              <a:t>2/3</a:t>
            </a:r>
            <a:r>
              <a:rPr lang="ko-KR" altLang="en-US" dirty="0"/>
              <a:t>를 차지하고</a:t>
            </a:r>
            <a:r>
              <a:rPr lang="en-US" altLang="ko-KR" dirty="0"/>
              <a:t>, </a:t>
            </a:r>
            <a:r>
              <a:rPr lang="ko-KR" altLang="en-US" dirty="0"/>
              <a:t>많은 양을 차지하는 많은 </a:t>
            </a:r>
            <a:r>
              <a:rPr lang="en-US" altLang="ko-KR" dirty="0"/>
              <a:t>Glucose clearance</a:t>
            </a:r>
            <a:r>
              <a:rPr lang="ko-KR" altLang="en-US" dirty="0"/>
              <a:t>에 더 많이 관여</a:t>
            </a:r>
            <a:endParaRPr lang="en-US" altLang="ko-KR" dirty="0"/>
          </a:p>
          <a:p>
            <a:r>
              <a:rPr lang="ko-KR" altLang="en-US" dirty="0"/>
              <a:t>실제 연구들에 따르면 많은 당뇨 환자들에게서 </a:t>
            </a:r>
            <a:r>
              <a:rPr lang="en-US" altLang="ko-KR" dirty="0"/>
              <a:t>low leg muscle</a:t>
            </a:r>
            <a:r>
              <a:rPr lang="ko-KR" altLang="en-US" dirty="0"/>
              <a:t>을 보이고 실제 </a:t>
            </a:r>
            <a:endParaRPr lang="en-IN" altLang="ko-KR" dirty="0"/>
          </a:p>
          <a:p>
            <a:endParaRPr lang="en-IN" altLang="ko-KR" dirty="0"/>
          </a:p>
          <a:p>
            <a:r>
              <a:rPr lang="ko-KR" altLang="en-US" dirty="0"/>
              <a:t>허벅지 근육이 중요한데</a:t>
            </a:r>
            <a:r>
              <a:rPr lang="en-US" altLang="ko-KR" dirty="0"/>
              <a:t>,</a:t>
            </a:r>
            <a:r>
              <a:rPr lang="ko-KR" altLang="en-US" dirty="0"/>
              <a:t> 근육이 혈당을 저장하는 역할을 해주는 곳인데</a:t>
            </a:r>
            <a:endParaRPr lang="en-IN" altLang="ko-KR" dirty="0"/>
          </a:p>
          <a:p>
            <a:r>
              <a:rPr lang="ko-KR" altLang="en-US" dirty="0"/>
              <a:t>허벅지의 경우에는 총 </a:t>
            </a:r>
            <a:r>
              <a:rPr lang="ko-KR" altLang="en-US" dirty="0" err="1"/>
              <a:t>근육량의</a:t>
            </a:r>
            <a:r>
              <a:rPr lang="ko-KR" altLang="en-US" dirty="0"/>
              <a:t> </a:t>
            </a:r>
            <a:r>
              <a:rPr lang="en-US" altLang="ko-KR" dirty="0"/>
              <a:t>2/3</a:t>
            </a:r>
            <a:r>
              <a:rPr lang="ko-KR" altLang="en-US" dirty="0" err="1"/>
              <a:t>를</a:t>
            </a:r>
            <a:r>
              <a:rPr lang="ko-KR" altLang="en-US" dirty="0"/>
              <a:t> 차지하고 있다</a:t>
            </a:r>
            <a:r>
              <a:rPr lang="en-US" altLang="ko-KR" dirty="0"/>
              <a:t>.</a:t>
            </a:r>
          </a:p>
          <a:p>
            <a:r>
              <a:rPr lang="ko-KR" altLang="en-US" dirty="0"/>
              <a:t>허벅지 근육이 많으면 면적도 </a:t>
            </a:r>
            <a:r>
              <a:rPr lang="ko-KR" altLang="en-US" dirty="0" err="1"/>
              <a:t>넓다보니</a:t>
            </a:r>
            <a:r>
              <a:rPr lang="ko-KR" altLang="en-US" dirty="0"/>
              <a:t> 혈당이 높아졌을 때 저장을 더 많이 할 수 있다</a:t>
            </a:r>
            <a:r>
              <a:rPr lang="en-US" altLang="ko-KR" dirty="0"/>
              <a:t>.</a:t>
            </a:r>
          </a:p>
          <a:p>
            <a:r>
              <a:rPr lang="ko-KR" altLang="en-US" dirty="0"/>
              <a:t>허벅지 근육이 줄어들면 반대의 효과</a:t>
            </a:r>
            <a:endParaRPr lang="en-IN" altLang="ko-KR" dirty="0"/>
          </a:p>
          <a:p>
            <a:endParaRPr lang="en-IN" altLang="ko-KR" dirty="0"/>
          </a:p>
          <a:p>
            <a:endParaRPr lang="ko-KR" altLang="en-US" dirty="0"/>
          </a:p>
        </p:txBody>
      </p:sp>
      <p:sp>
        <p:nvSpPr>
          <p:cNvPr id="4" name="슬라이드 번호 개체 틀 3"/>
          <p:cNvSpPr>
            <a:spLocks noGrp="1"/>
          </p:cNvSpPr>
          <p:nvPr>
            <p:ph type="sldNum" sz="quarter" idx="10"/>
          </p:nvPr>
        </p:nvSpPr>
        <p:spPr/>
        <p:txBody>
          <a:bodyPr/>
          <a:lstStyle/>
          <a:p>
            <a:fld id="{74809FEF-92BA-45EF-8ED0-C0986AF8FC75}" type="slidenum">
              <a:rPr lang="ko-KR" altLang="en-US" smtClean="0"/>
              <a:t>10</a:t>
            </a:fld>
            <a:endParaRPr lang="ko-KR" altLang="en-US"/>
          </a:p>
        </p:txBody>
      </p:sp>
    </p:spTree>
    <p:extLst>
      <p:ext uri="{BB962C8B-B14F-4D97-AF65-F5344CB8AC3E}">
        <p14:creationId xmlns:p14="http://schemas.microsoft.com/office/powerpoint/2010/main" val="2191650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438150" y="1252538"/>
            <a:ext cx="6013450" cy="3382962"/>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74809FEF-92BA-45EF-8ED0-C0986AF8FC75}" type="slidenum">
              <a:rPr lang="ko-KR" altLang="en-US" smtClean="0"/>
              <a:t>11</a:t>
            </a:fld>
            <a:endParaRPr lang="ko-KR" altLang="en-US"/>
          </a:p>
        </p:txBody>
      </p:sp>
    </p:spTree>
    <p:extLst>
      <p:ext uri="{BB962C8B-B14F-4D97-AF65-F5344CB8AC3E}">
        <p14:creationId xmlns:p14="http://schemas.microsoft.com/office/powerpoint/2010/main" val="4102675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366F7-D3F5-4350-A187-166435739C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718375-AF48-4114-BD96-2C857A5FEC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216979E-FA4B-4BF7-9BBE-F72ED34427E0}"/>
              </a:ext>
            </a:extLst>
          </p:cNvPr>
          <p:cNvSpPr>
            <a:spLocks noGrp="1"/>
          </p:cNvSpPr>
          <p:nvPr>
            <p:ph type="dt" sz="half" idx="10"/>
          </p:nvPr>
        </p:nvSpPr>
        <p:spPr/>
        <p:txBody>
          <a:bodyPr/>
          <a:lstStyle/>
          <a:p>
            <a:fld id="{7A2A457A-5530-4721-BB37-B61BC7316E49}" type="datetimeFigureOut">
              <a:rPr lang="en-US" smtClean="0"/>
              <a:t>2/19/2025</a:t>
            </a:fld>
            <a:endParaRPr lang="en-US"/>
          </a:p>
        </p:txBody>
      </p:sp>
      <p:sp>
        <p:nvSpPr>
          <p:cNvPr id="5" name="Footer Placeholder 4">
            <a:extLst>
              <a:ext uri="{FF2B5EF4-FFF2-40B4-BE49-F238E27FC236}">
                <a16:creationId xmlns:a16="http://schemas.microsoft.com/office/drawing/2014/main" id="{829D1C1B-9390-4ABE-A863-A0491C6DAC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11D38E-F111-46F4-920F-D1C93B8D90A5}"/>
              </a:ext>
            </a:extLst>
          </p:cNvPr>
          <p:cNvSpPr>
            <a:spLocks noGrp="1"/>
          </p:cNvSpPr>
          <p:nvPr>
            <p:ph type="sldNum" sz="quarter" idx="12"/>
          </p:nvPr>
        </p:nvSpPr>
        <p:spPr/>
        <p:txBody>
          <a:bodyPr/>
          <a:lstStyle/>
          <a:p>
            <a:fld id="{663352E0-57C1-4814-94B4-22B331B044E0}" type="slidenum">
              <a:rPr lang="en-US" smtClean="0"/>
              <a:t>‹#›</a:t>
            </a:fld>
            <a:endParaRPr lang="en-US"/>
          </a:p>
        </p:txBody>
      </p:sp>
    </p:spTree>
    <p:extLst>
      <p:ext uri="{BB962C8B-B14F-4D97-AF65-F5344CB8AC3E}">
        <p14:creationId xmlns:p14="http://schemas.microsoft.com/office/powerpoint/2010/main" val="4022161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058FD-9327-4ABE-B151-18ABC35E45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311B81-55E1-40AA-9B09-88874433D9C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612CD5-0BFC-491E-AF66-7C37C26F36ED}"/>
              </a:ext>
            </a:extLst>
          </p:cNvPr>
          <p:cNvSpPr>
            <a:spLocks noGrp="1"/>
          </p:cNvSpPr>
          <p:nvPr>
            <p:ph type="dt" sz="half" idx="10"/>
          </p:nvPr>
        </p:nvSpPr>
        <p:spPr/>
        <p:txBody>
          <a:bodyPr/>
          <a:lstStyle/>
          <a:p>
            <a:fld id="{7A2A457A-5530-4721-BB37-B61BC7316E49}" type="datetimeFigureOut">
              <a:rPr lang="en-US" smtClean="0"/>
              <a:t>2/19/2025</a:t>
            </a:fld>
            <a:endParaRPr lang="en-US"/>
          </a:p>
        </p:txBody>
      </p:sp>
      <p:sp>
        <p:nvSpPr>
          <p:cNvPr id="5" name="Footer Placeholder 4">
            <a:extLst>
              <a:ext uri="{FF2B5EF4-FFF2-40B4-BE49-F238E27FC236}">
                <a16:creationId xmlns:a16="http://schemas.microsoft.com/office/drawing/2014/main" id="{98D21598-18B5-41BF-A1C0-F2210F46C7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808365-8F87-47F3-9E86-F4E8282BE57B}"/>
              </a:ext>
            </a:extLst>
          </p:cNvPr>
          <p:cNvSpPr>
            <a:spLocks noGrp="1"/>
          </p:cNvSpPr>
          <p:nvPr>
            <p:ph type="sldNum" sz="quarter" idx="12"/>
          </p:nvPr>
        </p:nvSpPr>
        <p:spPr/>
        <p:txBody>
          <a:bodyPr/>
          <a:lstStyle/>
          <a:p>
            <a:fld id="{663352E0-57C1-4814-94B4-22B331B044E0}" type="slidenum">
              <a:rPr lang="en-US" smtClean="0"/>
              <a:t>‹#›</a:t>
            </a:fld>
            <a:endParaRPr lang="en-US"/>
          </a:p>
        </p:txBody>
      </p:sp>
    </p:spTree>
    <p:extLst>
      <p:ext uri="{BB962C8B-B14F-4D97-AF65-F5344CB8AC3E}">
        <p14:creationId xmlns:p14="http://schemas.microsoft.com/office/powerpoint/2010/main" val="2399014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DF9E-2298-460D-B8E7-F7E2EACA48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C6D6FB-2565-4081-BA00-21E6690037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4840BE5-99A6-449F-9117-DA3CE7853E63}"/>
              </a:ext>
            </a:extLst>
          </p:cNvPr>
          <p:cNvSpPr>
            <a:spLocks noGrp="1"/>
          </p:cNvSpPr>
          <p:nvPr>
            <p:ph type="dt" sz="half" idx="10"/>
          </p:nvPr>
        </p:nvSpPr>
        <p:spPr/>
        <p:txBody>
          <a:bodyPr/>
          <a:lstStyle/>
          <a:p>
            <a:fld id="{7A2A457A-5530-4721-BB37-B61BC7316E49}" type="datetimeFigureOut">
              <a:rPr lang="en-US" smtClean="0"/>
              <a:t>2/19/2025</a:t>
            </a:fld>
            <a:endParaRPr lang="en-US"/>
          </a:p>
        </p:txBody>
      </p:sp>
      <p:sp>
        <p:nvSpPr>
          <p:cNvPr id="5" name="Footer Placeholder 4">
            <a:extLst>
              <a:ext uri="{FF2B5EF4-FFF2-40B4-BE49-F238E27FC236}">
                <a16:creationId xmlns:a16="http://schemas.microsoft.com/office/drawing/2014/main" id="{135D90B5-488B-4C4A-9EBA-ED3E6EE0C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6C0F95-55B3-4BBF-B80D-18237C2F15D9}"/>
              </a:ext>
            </a:extLst>
          </p:cNvPr>
          <p:cNvSpPr>
            <a:spLocks noGrp="1"/>
          </p:cNvSpPr>
          <p:nvPr>
            <p:ph type="sldNum" sz="quarter" idx="12"/>
          </p:nvPr>
        </p:nvSpPr>
        <p:spPr/>
        <p:txBody>
          <a:bodyPr/>
          <a:lstStyle/>
          <a:p>
            <a:fld id="{663352E0-57C1-4814-94B4-22B331B044E0}" type="slidenum">
              <a:rPr lang="en-US" smtClean="0"/>
              <a:t>‹#›</a:t>
            </a:fld>
            <a:endParaRPr lang="en-US"/>
          </a:p>
        </p:txBody>
      </p:sp>
    </p:spTree>
    <p:extLst>
      <p:ext uri="{BB962C8B-B14F-4D97-AF65-F5344CB8AC3E}">
        <p14:creationId xmlns:p14="http://schemas.microsoft.com/office/powerpoint/2010/main" val="103420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87AA3-51F2-4436-941B-879EA44D21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67682C-FB25-4CE8-8700-10D6428555E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A04DB7-8B0F-4373-B835-E6A27E7EC78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3E2028-7F8F-46C4-9116-E3B327DD4109}"/>
              </a:ext>
            </a:extLst>
          </p:cNvPr>
          <p:cNvSpPr>
            <a:spLocks noGrp="1"/>
          </p:cNvSpPr>
          <p:nvPr>
            <p:ph type="dt" sz="half" idx="10"/>
          </p:nvPr>
        </p:nvSpPr>
        <p:spPr/>
        <p:txBody>
          <a:bodyPr/>
          <a:lstStyle/>
          <a:p>
            <a:fld id="{7A2A457A-5530-4721-BB37-B61BC7316E49}" type="datetimeFigureOut">
              <a:rPr lang="en-US" smtClean="0"/>
              <a:t>2/19/2025</a:t>
            </a:fld>
            <a:endParaRPr lang="en-US"/>
          </a:p>
        </p:txBody>
      </p:sp>
      <p:sp>
        <p:nvSpPr>
          <p:cNvPr id="6" name="Footer Placeholder 5">
            <a:extLst>
              <a:ext uri="{FF2B5EF4-FFF2-40B4-BE49-F238E27FC236}">
                <a16:creationId xmlns:a16="http://schemas.microsoft.com/office/drawing/2014/main" id="{2567E781-227C-4433-9B71-30F4B44E8F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27BA51-FB4F-458A-8389-8DF6343BF201}"/>
              </a:ext>
            </a:extLst>
          </p:cNvPr>
          <p:cNvSpPr>
            <a:spLocks noGrp="1"/>
          </p:cNvSpPr>
          <p:nvPr>
            <p:ph type="sldNum" sz="quarter" idx="12"/>
          </p:nvPr>
        </p:nvSpPr>
        <p:spPr/>
        <p:txBody>
          <a:bodyPr/>
          <a:lstStyle/>
          <a:p>
            <a:fld id="{663352E0-57C1-4814-94B4-22B331B044E0}" type="slidenum">
              <a:rPr lang="en-US" smtClean="0"/>
              <a:t>‹#›</a:t>
            </a:fld>
            <a:endParaRPr lang="en-US"/>
          </a:p>
        </p:txBody>
      </p:sp>
    </p:spTree>
    <p:extLst>
      <p:ext uri="{BB962C8B-B14F-4D97-AF65-F5344CB8AC3E}">
        <p14:creationId xmlns:p14="http://schemas.microsoft.com/office/powerpoint/2010/main" val="1453985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33D78-EE23-4560-A3ED-6E1A115A16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22C350-E5FB-4EB5-97CC-D7606F714F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85C65EB-EED9-4EEE-81AD-C82E5DFB270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6857CD-C35E-499F-AC84-93E92FA1A1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5952938-78AD-40F2-89FB-04D6C967424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026841-0E92-48BA-8F65-E953EEB4FCD9}"/>
              </a:ext>
            </a:extLst>
          </p:cNvPr>
          <p:cNvSpPr>
            <a:spLocks noGrp="1"/>
          </p:cNvSpPr>
          <p:nvPr>
            <p:ph type="dt" sz="half" idx="10"/>
          </p:nvPr>
        </p:nvSpPr>
        <p:spPr/>
        <p:txBody>
          <a:bodyPr/>
          <a:lstStyle/>
          <a:p>
            <a:fld id="{7A2A457A-5530-4721-BB37-B61BC7316E49}" type="datetimeFigureOut">
              <a:rPr lang="en-US" smtClean="0"/>
              <a:t>2/19/2025</a:t>
            </a:fld>
            <a:endParaRPr lang="en-US"/>
          </a:p>
        </p:txBody>
      </p:sp>
      <p:sp>
        <p:nvSpPr>
          <p:cNvPr id="8" name="Footer Placeholder 7">
            <a:extLst>
              <a:ext uri="{FF2B5EF4-FFF2-40B4-BE49-F238E27FC236}">
                <a16:creationId xmlns:a16="http://schemas.microsoft.com/office/drawing/2014/main" id="{F87A8C0F-5A1D-4659-83AD-FE23981E0E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F35E7B0-208C-4D21-BD3E-8065847DA052}"/>
              </a:ext>
            </a:extLst>
          </p:cNvPr>
          <p:cNvSpPr>
            <a:spLocks noGrp="1"/>
          </p:cNvSpPr>
          <p:nvPr>
            <p:ph type="sldNum" sz="quarter" idx="12"/>
          </p:nvPr>
        </p:nvSpPr>
        <p:spPr/>
        <p:txBody>
          <a:bodyPr/>
          <a:lstStyle/>
          <a:p>
            <a:fld id="{663352E0-57C1-4814-94B4-22B331B044E0}" type="slidenum">
              <a:rPr lang="en-US" smtClean="0"/>
              <a:t>‹#›</a:t>
            </a:fld>
            <a:endParaRPr lang="en-US"/>
          </a:p>
        </p:txBody>
      </p:sp>
    </p:spTree>
    <p:extLst>
      <p:ext uri="{BB962C8B-B14F-4D97-AF65-F5344CB8AC3E}">
        <p14:creationId xmlns:p14="http://schemas.microsoft.com/office/powerpoint/2010/main" val="2219658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08A80-94DC-4AD2-8195-E9E6EA6947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F393D0-736D-4DD0-9245-9CBE490B452D}"/>
              </a:ext>
            </a:extLst>
          </p:cNvPr>
          <p:cNvSpPr>
            <a:spLocks noGrp="1"/>
          </p:cNvSpPr>
          <p:nvPr>
            <p:ph type="dt" sz="half" idx="10"/>
          </p:nvPr>
        </p:nvSpPr>
        <p:spPr/>
        <p:txBody>
          <a:bodyPr/>
          <a:lstStyle/>
          <a:p>
            <a:fld id="{7A2A457A-5530-4721-BB37-B61BC7316E49}" type="datetimeFigureOut">
              <a:rPr lang="en-US" smtClean="0"/>
              <a:t>2/19/2025</a:t>
            </a:fld>
            <a:endParaRPr lang="en-US"/>
          </a:p>
        </p:txBody>
      </p:sp>
      <p:sp>
        <p:nvSpPr>
          <p:cNvPr id="4" name="Footer Placeholder 3">
            <a:extLst>
              <a:ext uri="{FF2B5EF4-FFF2-40B4-BE49-F238E27FC236}">
                <a16:creationId xmlns:a16="http://schemas.microsoft.com/office/drawing/2014/main" id="{76C754A7-1970-4C30-BA0E-4C8FF7FFAF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4CFD87-254D-43B0-BEB7-B8E90026E601}"/>
              </a:ext>
            </a:extLst>
          </p:cNvPr>
          <p:cNvSpPr>
            <a:spLocks noGrp="1"/>
          </p:cNvSpPr>
          <p:nvPr>
            <p:ph type="sldNum" sz="quarter" idx="12"/>
          </p:nvPr>
        </p:nvSpPr>
        <p:spPr/>
        <p:txBody>
          <a:bodyPr/>
          <a:lstStyle/>
          <a:p>
            <a:fld id="{663352E0-57C1-4814-94B4-22B331B044E0}" type="slidenum">
              <a:rPr lang="en-US" smtClean="0"/>
              <a:t>‹#›</a:t>
            </a:fld>
            <a:endParaRPr lang="en-US"/>
          </a:p>
        </p:txBody>
      </p:sp>
    </p:spTree>
    <p:extLst>
      <p:ext uri="{BB962C8B-B14F-4D97-AF65-F5344CB8AC3E}">
        <p14:creationId xmlns:p14="http://schemas.microsoft.com/office/powerpoint/2010/main" val="1372963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27754F-54DF-44FA-954E-C45F6BBF3DE3}"/>
              </a:ext>
            </a:extLst>
          </p:cNvPr>
          <p:cNvSpPr>
            <a:spLocks noGrp="1"/>
          </p:cNvSpPr>
          <p:nvPr>
            <p:ph type="dt" sz="half" idx="10"/>
          </p:nvPr>
        </p:nvSpPr>
        <p:spPr/>
        <p:txBody>
          <a:bodyPr/>
          <a:lstStyle/>
          <a:p>
            <a:fld id="{7A2A457A-5530-4721-BB37-B61BC7316E49}" type="datetimeFigureOut">
              <a:rPr lang="en-US" smtClean="0"/>
              <a:t>2/19/2025</a:t>
            </a:fld>
            <a:endParaRPr lang="en-US"/>
          </a:p>
        </p:txBody>
      </p:sp>
      <p:sp>
        <p:nvSpPr>
          <p:cNvPr id="3" name="Footer Placeholder 2">
            <a:extLst>
              <a:ext uri="{FF2B5EF4-FFF2-40B4-BE49-F238E27FC236}">
                <a16:creationId xmlns:a16="http://schemas.microsoft.com/office/drawing/2014/main" id="{56D091BD-BB60-483E-92C6-2376E377B2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2166A9-B626-42C7-AE21-4F2BF8D3C91D}"/>
              </a:ext>
            </a:extLst>
          </p:cNvPr>
          <p:cNvSpPr>
            <a:spLocks noGrp="1"/>
          </p:cNvSpPr>
          <p:nvPr>
            <p:ph type="sldNum" sz="quarter" idx="12"/>
          </p:nvPr>
        </p:nvSpPr>
        <p:spPr/>
        <p:txBody>
          <a:bodyPr/>
          <a:lstStyle/>
          <a:p>
            <a:fld id="{663352E0-57C1-4814-94B4-22B331B044E0}" type="slidenum">
              <a:rPr lang="en-US" smtClean="0"/>
              <a:t>‹#›</a:t>
            </a:fld>
            <a:endParaRPr lang="en-US"/>
          </a:p>
        </p:txBody>
      </p:sp>
    </p:spTree>
    <p:extLst>
      <p:ext uri="{BB962C8B-B14F-4D97-AF65-F5344CB8AC3E}">
        <p14:creationId xmlns:p14="http://schemas.microsoft.com/office/powerpoint/2010/main" val="3154479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DF9DC-F596-45C1-B726-3B9FC8C586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60F3BE-B4B6-41CD-8696-A5EF0C2CAA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8ABACF-B0CC-4B66-AD34-5B88197B8D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40CB6D5-192D-495B-ACF4-F669385F953A}"/>
              </a:ext>
            </a:extLst>
          </p:cNvPr>
          <p:cNvSpPr>
            <a:spLocks noGrp="1"/>
          </p:cNvSpPr>
          <p:nvPr>
            <p:ph type="dt" sz="half" idx="10"/>
          </p:nvPr>
        </p:nvSpPr>
        <p:spPr/>
        <p:txBody>
          <a:bodyPr/>
          <a:lstStyle/>
          <a:p>
            <a:fld id="{7A2A457A-5530-4721-BB37-B61BC7316E49}" type="datetimeFigureOut">
              <a:rPr lang="en-US" smtClean="0"/>
              <a:t>2/19/2025</a:t>
            </a:fld>
            <a:endParaRPr lang="en-US"/>
          </a:p>
        </p:txBody>
      </p:sp>
      <p:sp>
        <p:nvSpPr>
          <p:cNvPr id="6" name="Footer Placeholder 5">
            <a:extLst>
              <a:ext uri="{FF2B5EF4-FFF2-40B4-BE49-F238E27FC236}">
                <a16:creationId xmlns:a16="http://schemas.microsoft.com/office/drawing/2014/main" id="{01081F5B-33A2-48E9-B3E6-FEA77345F6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511C32-E9A5-4788-9C5B-51306F708B86}"/>
              </a:ext>
            </a:extLst>
          </p:cNvPr>
          <p:cNvSpPr>
            <a:spLocks noGrp="1"/>
          </p:cNvSpPr>
          <p:nvPr>
            <p:ph type="sldNum" sz="quarter" idx="12"/>
          </p:nvPr>
        </p:nvSpPr>
        <p:spPr/>
        <p:txBody>
          <a:bodyPr/>
          <a:lstStyle/>
          <a:p>
            <a:fld id="{663352E0-57C1-4814-94B4-22B331B044E0}" type="slidenum">
              <a:rPr lang="en-US" smtClean="0"/>
              <a:t>‹#›</a:t>
            </a:fld>
            <a:endParaRPr lang="en-US"/>
          </a:p>
        </p:txBody>
      </p:sp>
    </p:spTree>
    <p:extLst>
      <p:ext uri="{BB962C8B-B14F-4D97-AF65-F5344CB8AC3E}">
        <p14:creationId xmlns:p14="http://schemas.microsoft.com/office/powerpoint/2010/main" val="62561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CC4FA-34D4-4C31-B81C-C8A535263E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561ACD-6290-4ED7-9096-398AB16B97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C508A4-09C0-4C23-AB9D-C523E8BF93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F71F4BB-BCF7-4D4B-A5AA-63A68A938051}"/>
              </a:ext>
            </a:extLst>
          </p:cNvPr>
          <p:cNvSpPr>
            <a:spLocks noGrp="1"/>
          </p:cNvSpPr>
          <p:nvPr>
            <p:ph type="dt" sz="half" idx="10"/>
          </p:nvPr>
        </p:nvSpPr>
        <p:spPr/>
        <p:txBody>
          <a:bodyPr/>
          <a:lstStyle/>
          <a:p>
            <a:fld id="{7A2A457A-5530-4721-BB37-B61BC7316E49}" type="datetimeFigureOut">
              <a:rPr lang="en-US" smtClean="0"/>
              <a:t>2/19/2025</a:t>
            </a:fld>
            <a:endParaRPr lang="en-US"/>
          </a:p>
        </p:txBody>
      </p:sp>
      <p:sp>
        <p:nvSpPr>
          <p:cNvPr id="6" name="Footer Placeholder 5">
            <a:extLst>
              <a:ext uri="{FF2B5EF4-FFF2-40B4-BE49-F238E27FC236}">
                <a16:creationId xmlns:a16="http://schemas.microsoft.com/office/drawing/2014/main" id="{046D3B8D-9182-49B3-8145-A19709A4A9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26894F-473F-4ECB-9887-35DDD8AE932B}"/>
              </a:ext>
            </a:extLst>
          </p:cNvPr>
          <p:cNvSpPr>
            <a:spLocks noGrp="1"/>
          </p:cNvSpPr>
          <p:nvPr>
            <p:ph type="sldNum" sz="quarter" idx="12"/>
          </p:nvPr>
        </p:nvSpPr>
        <p:spPr/>
        <p:txBody>
          <a:bodyPr/>
          <a:lstStyle/>
          <a:p>
            <a:fld id="{663352E0-57C1-4814-94B4-22B331B044E0}" type="slidenum">
              <a:rPr lang="en-US" smtClean="0"/>
              <a:t>‹#›</a:t>
            </a:fld>
            <a:endParaRPr lang="en-US"/>
          </a:p>
        </p:txBody>
      </p:sp>
    </p:spTree>
    <p:extLst>
      <p:ext uri="{BB962C8B-B14F-4D97-AF65-F5344CB8AC3E}">
        <p14:creationId xmlns:p14="http://schemas.microsoft.com/office/powerpoint/2010/main" val="3258344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093BF-001A-48CC-9686-8DA3BAFC1FC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3AC4E0-BFD3-4120-8FFD-D3D27791ABB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84F802-1169-4425-8055-75321D8A945E}"/>
              </a:ext>
            </a:extLst>
          </p:cNvPr>
          <p:cNvSpPr>
            <a:spLocks noGrp="1"/>
          </p:cNvSpPr>
          <p:nvPr>
            <p:ph type="dt" sz="half" idx="10"/>
          </p:nvPr>
        </p:nvSpPr>
        <p:spPr/>
        <p:txBody>
          <a:bodyPr/>
          <a:lstStyle/>
          <a:p>
            <a:fld id="{7A2A457A-5530-4721-BB37-B61BC7316E49}" type="datetimeFigureOut">
              <a:rPr lang="en-US" smtClean="0"/>
              <a:t>2/19/2025</a:t>
            </a:fld>
            <a:endParaRPr lang="en-US"/>
          </a:p>
        </p:txBody>
      </p:sp>
      <p:sp>
        <p:nvSpPr>
          <p:cNvPr id="5" name="Footer Placeholder 4">
            <a:extLst>
              <a:ext uri="{FF2B5EF4-FFF2-40B4-BE49-F238E27FC236}">
                <a16:creationId xmlns:a16="http://schemas.microsoft.com/office/drawing/2014/main" id="{D4AFC357-A7CB-4EEE-BBA3-611062410E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E6CCCD-EE74-456D-8C00-A26D7211E562}"/>
              </a:ext>
            </a:extLst>
          </p:cNvPr>
          <p:cNvSpPr>
            <a:spLocks noGrp="1"/>
          </p:cNvSpPr>
          <p:nvPr>
            <p:ph type="sldNum" sz="quarter" idx="12"/>
          </p:nvPr>
        </p:nvSpPr>
        <p:spPr/>
        <p:txBody>
          <a:bodyPr/>
          <a:lstStyle/>
          <a:p>
            <a:fld id="{663352E0-57C1-4814-94B4-22B331B044E0}" type="slidenum">
              <a:rPr lang="en-US" smtClean="0"/>
              <a:t>‹#›</a:t>
            </a:fld>
            <a:endParaRPr lang="en-US"/>
          </a:p>
        </p:txBody>
      </p:sp>
    </p:spTree>
    <p:extLst>
      <p:ext uri="{BB962C8B-B14F-4D97-AF65-F5344CB8AC3E}">
        <p14:creationId xmlns:p14="http://schemas.microsoft.com/office/powerpoint/2010/main" val="3023307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E21A13-EB26-4C39-B1F5-E74DE24BED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630E48-52A6-4CEC-A17C-35198BF411E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D244EC-DA3A-4084-9532-57DDFBFC9A37}"/>
              </a:ext>
            </a:extLst>
          </p:cNvPr>
          <p:cNvSpPr>
            <a:spLocks noGrp="1"/>
          </p:cNvSpPr>
          <p:nvPr>
            <p:ph type="dt" sz="half" idx="10"/>
          </p:nvPr>
        </p:nvSpPr>
        <p:spPr/>
        <p:txBody>
          <a:bodyPr/>
          <a:lstStyle/>
          <a:p>
            <a:fld id="{7A2A457A-5530-4721-BB37-B61BC7316E49}" type="datetimeFigureOut">
              <a:rPr lang="en-US" smtClean="0"/>
              <a:t>2/19/2025</a:t>
            </a:fld>
            <a:endParaRPr lang="en-US"/>
          </a:p>
        </p:txBody>
      </p:sp>
      <p:sp>
        <p:nvSpPr>
          <p:cNvPr id="5" name="Footer Placeholder 4">
            <a:extLst>
              <a:ext uri="{FF2B5EF4-FFF2-40B4-BE49-F238E27FC236}">
                <a16:creationId xmlns:a16="http://schemas.microsoft.com/office/drawing/2014/main" id="{50B1AE2A-DAFB-4846-83E6-09923DC6F8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268EE9-5ED8-4B29-8E55-F6C70C6AE78C}"/>
              </a:ext>
            </a:extLst>
          </p:cNvPr>
          <p:cNvSpPr>
            <a:spLocks noGrp="1"/>
          </p:cNvSpPr>
          <p:nvPr>
            <p:ph type="sldNum" sz="quarter" idx="12"/>
          </p:nvPr>
        </p:nvSpPr>
        <p:spPr/>
        <p:txBody>
          <a:bodyPr/>
          <a:lstStyle/>
          <a:p>
            <a:fld id="{663352E0-57C1-4814-94B4-22B331B044E0}" type="slidenum">
              <a:rPr lang="en-US" smtClean="0"/>
              <a:t>‹#›</a:t>
            </a:fld>
            <a:endParaRPr lang="en-US"/>
          </a:p>
        </p:txBody>
      </p:sp>
    </p:spTree>
    <p:extLst>
      <p:ext uri="{BB962C8B-B14F-4D97-AF65-F5344CB8AC3E}">
        <p14:creationId xmlns:p14="http://schemas.microsoft.com/office/powerpoint/2010/main" val="3268644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2/19/2025</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extLst>
      <p:ext uri="{BB962C8B-B14F-4D97-AF65-F5344CB8AC3E}">
        <p14:creationId xmlns:p14="http://schemas.microsoft.com/office/powerpoint/2010/main" val="3612283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사용자 지정 레이아웃">
    <p:spTree>
      <p:nvGrpSpPr>
        <p:cNvPr id="1" name=""/>
        <p:cNvGrpSpPr/>
        <p:nvPr/>
      </p:nvGrpSpPr>
      <p:grpSpPr>
        <a:xfrm>
          <a:off x="0" y="0"/>
          <a:ext cx="0" cy="0"/>
          <a:chOff x="0" y="0"/>
          <a:chExt cx="0" cy="0"/>
        </a:xfrm>
      </p:grpSpPr>
      <p:cxnSp>
        <p:nvCxnSpPr>
          <p:cNvPr id="6" name="직선 연결선 5"/>
          <p:cNvCxnSpPr/>
          <p:nvPr userDrawn="1"/>
        </p:nvCxnSpPr>
        <p:spPr>
          <a:xfrm>
            <a:off x="0" y="54868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4" descr="http://inbodylibrary.com/image/DetailImage/ztvys0vt.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65672" y="0"/>
            <a:ext cx="726329" cy="823454"/>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1"/>
          <p:cNvSpPr txBox="1">
            <a:spLocks/>
          </p:cNvSpPr>
          <p:nvPr userDrawn="1"/>
        </p:nvSpPr>
        <p:spPr>
          <a:xfrm>
            <a:off x="838201" y="6356353"/>
            <a:ext cx="2743200" cy="365125"/>
          </a:xfrm>
          <a:prstGeom prst="rect">
            <a:avLst/>
          </a:prstGeom>
        </p:spPr>
        <p:txBody>
          <a:bodyPr vert="horz" lIns="91440" tIns="45720" rIns="91440" bIns="45720" rtlCol="0" anchor="ctr"/>
          <a:lstStyle>
            <a:defPPr>
              <a:defRPr lang="ko-KR"/>
            </a:defPPr>
            <a:lvl1pPr marL="0" algn="l"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sz="1200" dirty="0"/>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42505" y="238667"/>
            <a:ext cx="1143067" cy="243963"/>
          </a:xfrm>
          <a:prstGeom prst="rect">
            <a:avLst/>
          </a:prstGeom>
        </p:spPr>
      </p:pic>
      <p:sp>
        <p:nvSpPr>
          <p:cNvPr id="11" name="직사각형 10"/>
          <p:cNvSpPr/>
          <p:nvPr userDrawn="1"/>
        </p:nvSpPr>
        <p:spPr>
          <a:xfrm>
            <a:off x="0" y="6721476"/>
            <a:ext cx="12192000" cy="14148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9" name="Slide Number Placeholder 6"/>
          <p:cNvSpPr>
            <a:spLocks noGrp="1"/>
          </p:cNvSpPr>
          <p:nvPr>
            <p:ph type="sldNum" sz="quarter" idx="12"/>
          </p:nvPr>
        </p:nvSpPr>
        <p:spPr>
          <a:xfrm>
            <a:off x="9448800" y="6609655"/>
            <a:ext cx="2743200" cy="365125"/>
          </a:xfrm>
        </p:spPr>
        <p:txBody>
          <a:bodyPr/>
          <a:lstStyle>
            <a:lvl1pPr>
              <a:defRPr>
                <a:solidFill>
                  <a:schemeClr val="bg1"/>
                </a:solidFill>
              </a:defRPr>
            </a:lvl1pPr>
          </a:lstStyle>
          <a:p>
            <a:fld id="{41072C47-7CEE-4DA9-AF89-22A17B894332}" type="slidenum">
              <a:rPr lang="ko-KR" altLang="en-US" smtClean="0"/>
              <a:pPr/>
              <a:t>‹#›</a:t>
            </a:fld>
            <a:endParaRPr lang="ko-KR" altLang="en-US" dirty="0"/>
          </a:p>
        </p:txBody>
      </p:sp>
    </p:spTree>
    <p:extLst>
      <p:ext uri="{BB962C8B-B14F-4D97-AF65-F5344CB8AC3E}">
        <p14:creationId xmlns:p14="http://schemas.microsoft.com/office/powerpoint/2010/main" val="650122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7A5391-3C08-490C-A010-831380E729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D78915-3105-4D85-8BDA-3694DCE345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7C3A2E-019A-48E6-B7FD-003D64B2D8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2A457A-5530-4721-BB37-B61BC7316E49}" type="datetimeFigureOut">
              <a:rPr lang="en-US" smtClean="0"/>
              <a:t>2/19/2025</a:t>
            </a:fld>
            <a:endParaRPr lang="en-US"/>
          </a:p>
        </p:txBody>
      </p:sp>
      <p:sp>
        <p:nvSpPr>
          <p:cNvPr id="5" name="Footer Placeholder 4">
            <a:extLst>
              <a:ext uri="{FF2B5EF4-FFF2-40B4-BE49-F238E27FC236}">
                <a16:creationId xmlns:a16="http://schemas.microsoft.com/office/drawing/2014/main" id="{020083C5-9B0A-4F1B-B668-C4975E30C6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32C3ED3-5556-48EA-8A70-AF9D2D441F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3352E0-57C1-4814-94B4-22B331B044E0}" type="slidenum">
              <a:rPr lang="en-US" smtClean="0"/>
              <a:t>‹#›</a:t>
            </a:fld>
            <a:endParaRPr lang="en-US"/>
          </a:p>
        </p:txBody>
      </p:sp>
    </p:spTree>
    <p:extLst>
      <p:ext uri="{BB962C8B-B14F-4D97-AF65-F5344CB8AC3E}">
        <p14:creationId xmlns:p14="http://schemas.microsoft.com/office/powerpoint/2010/main" val="2573431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6.jp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ncbi.nlm.nih.gov/pmc/articles/PMC6604847/" TargetMode="External"/><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hyperlink" Target="https://www.ncbi.nlm.nih.gov/pmc/articles/PMC6604847/table/t2-jomes-28-112/" TargetMode="Externa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29.jpeg"/><Relationship Id="rId4" Type="http://schemas.openxmlformats.org/officeDocument/2006/relationships/hyperlink" Target="https://abstracts.eurospe.org/hrp/0092/eposters/hrp0092p3-65_eposter.pdf"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B466AA-2734-454F-A51F-19212EC79C30}"/>
              </a:ext>
            </a:extLst>
          </p:cNvPr>
          <p:cNvSpPr txBox="1"/>
          <p:nvPr/>
        </p:nvSpPr>
        <p:spPr>
          <a:xfrm>
            <a:off x="656119" y="2249041"/>
            <a:ext cx="7630042" cy="3046988"/>
          </a:xfrm>
          <a:prstGeom prst="rect">
            <a:avLst/>
          </a:prstGeom>
          <a:noFill/>
        </p:spPr>
        <p:txBody>
          <a:bodyPr wrap="square" rtlCol="0">
            <a:spAutoFit/>
          </a:bodyPr>
          <a:lstStyle/>
          <a:p>
            <a:r>
              <a:rPr lang="en-IN" sz="4800" dirty="0">
                <a:solidFill>
                  <a:srgbClr val="C00000"/>
                </a:solidFill>
                <a:latin typeface="Baskerville Old Face" panose="02020602080505020303" pitchFamily="18" charset="0"/>
              </a:rPr>
              <a:t>Application of Body Composition Analysis in Diabetes</a:t>
            </a:r>
          </a:p>
          <a:p>
            <a:endParaRPr lang="en-US" sz="4800" dirty="0">
              <a:solidFill>
                <a:srgbClr val="971A30"/>
              </a:solidFill>
              <a:latin typeface="Lato" panose="020F0502020204030203"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5AEC5067-7649-4A10-88F2-E2E215CF48DE}"/>
              </a:ext>
            </a:extLst>
          </p:cNvPr>
          <p:cNvSpPr txBox="1"/>
          <p:nvPr/>
        </p:nvSpPr>
        <p:spPr>
          <a:xfrm>
            <a:off x="740960" y="5041633"/>
            <a:ext cx="6911546" cy="1384995"/>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Ms. Sakshi Mhatre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Clinical Dietitian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InBody India</a:t>
            </a:r>
          </a:p>
        </p:txBody>
      </p:sp>
      <p:pic>
        <p:nvPicPr>
          <p:cNvPr id="8" name="Picture 7">
            <a:extLst>
              <a:ext uri="{FF2B5EF4-FFF2-40B4-BE49-F238E27FC236}">
                <a16:creationId xmlns:a16="http://schemas.microsoft.com/office/drawing/2014/main" id="{2112A23D-A925-46D2-9F28-133D3C8C6C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46493" y="136525"/>
            <a:ext cx="2266461" cy="761782"/>
          </a:xfrm>
          <a:prstGeom prst="rect">
            <a:avLst/>
          </a:prstGeom>
        </p:spPr>
      </p:pic>
      <p:pic>
        <p:nvPicPr>
          <p:cNvPr id="1026" name="Picture 2" descr="InBody | Clem&amp;Thyme Nutrition">
            <a:extLst>
              <a:ext uri="{FF2B5EF4-FFF2-40B4-BE49-F238E27FC236}">
                <a16:creationId xmlns:a16="http://schemas.microsoft.com/office/drawing/2014/main" id="{744863DF-944C-44D4-8173-47DD71E9B2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7434" y="1517943"/>
            <a:ext cx="2567543" cy="5161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5571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9"/>
        <p:cNvGrpSpPr/>
        <p:nvPr/>
      </p:nvGrpSpPr>
      <p:grpSpPr>
        <a:xfrm>
          <a:off x="0" y="0"/>
          <a:ext cx="0" cy="0"/>
          <a:chOff x="0" y="0"/>
          <a:chExt cx="0" cy="0"/>
        </a:xfrm>
      </p:grpSpPr>
      <p:sp>
        <p:nvSpPr>
          <p:cNvPr id="1510" name="Google Shape;1510;p61"/>
          <p:cNvSpPr txBox="1">
            <a:spLocks noGrp="1"/>
          </p:cNvSpPr>
          <p:nvPr>
            <p:ph type="ctrTitle"/>
          </p:nvPr>
        </p:nvSpPr>
        <p:spPr>
          <a:xfrm>
            <a:off x="877433" y="69667"/>
            <a:ext cx="7605600" cy="964000"/>
          </a:xfrm>
          <a:prstGeom prst="rect">
            <a:avLst/>
          </a:prstGeom>
        </p:spPr>
        <p:txBody>
          <a:bodyPr spcFirstLastPara="1" vert="horz" wrap="square" lIns="121900" tIns="121900" rIns="121900" bIns="121900" rtlCol="0" anchor="b" anchorCtr="0">
            <a:noAutofit/>
          </a:bodyPr>
          <a:lstStyle/>
          <a:p>
            <a:pPr algn="l">
              <a:spcBef>
                <a:spcPts val="0"/>
              </a:spcBef>
            </a:pPr>
            <a:r>
              <a:rPr lang="en" sz="3733" b="1">
                <a:solidFill>
                  <a:srgbClr val="222222"/>
                </a:solidFill>
                <a:latin typeface="Times New Roman"/>
                <a:ea typeface="Times New Roman"/>
                <a:cs typeface="Times New Roman"/>
                <a:sym typeface="Times New Roman"/>
              </a:rPr>
              <a:t>What is type 2 Diabetes Mellitus ? </a:t>
            </a:r>
            <a:endParaRPr sz="3733" b="1">
              <a:solidFill>
                <a:srgbClr val="222222"/>
              </a:solidFill>
              <a:latin typeface="Times New Roman"/>
              <a:ea typeface="Times New Roman"/>
              <a:cs typeface="Times New Roman"/>
              <a:sym typeface="Times New Roman"/>
            </a:endParaRPr>
          </a:p>
        </p:txBody>
      </p:sp>
      <p:sp>
        <p:nvSpPr>
          <p:cNvPr id="1511" name="Google Shape;1511;p61"/>
          <p:cNvSpPr txBox="1">
            <a:spLocks noGrp="1"/>
          </p:cNvSpPr>
          <p:nvPr>
            <p:ph type="subTitle" idx="1"/>
          </p:nvPr>
        </p:nvSpPr>
        <p:spPr>
          <a:xfrm>
            <a:off x="877433" y="1518633"/>
            <a:ext cx="4905200" cy="653600"/>
          </a:xfrm>
          <a:prstGeom prst="rect">
            <a:avLst/>
          </a:prstGeom>
        </p:spPr>
        <p:txBody>
          <a:bodyPr spcFirstLastPara="1" vert="horz" wrap="square" lIns="121900" tIns="121900" rIns="121900" bIns="121900" rtlCol="0" anchor="t" anchorCtr="0">
            <a:noAutofit/>
          </a:bodyPr>
          <a:lstStyle/>
          <a:p>
            <a:pPr algn="just">
              <a:spcBef>
                <a:spcPts val="0"/>
              </a:spcBef>
            </a:pPr>
            <a:r>
              <a:rPr lang="en" sz="2000" dirty="0">
                <a:solidFill>
                  <a:srgbClr val="000000"/>
                </a:solidFill>
                <a:latin typeface="Times New Roman"/>
                <a:ea typeface="Times New Roman"/>
                <a:cs typeface="Times New Roman"/>
                <a:sym typeface="Times New Roman"/>
              </a:rPr>
              <a:t>Diabetes mellitus (DM) is a metabolic disease, involving inappropriately elevated blood glucose levels. </a:t>
            </a:r>
            <a:endParaRPr sz="2000" dirty="0">
              <a:solidFill>
                <a:srgbClr val="000000"/>
              </a:solidFill>
              <a:latin typeface="Times New Roman"/>
              <a:ea typeface="Times New Roman"/>
              <a:cs typeface="Times New Roman"/>
              <a:sym typeface="Times New Roman"/>
            </a:endParaRPr>
          </a:p>
          <a:p>
            <a:pPr algn="just">
              <a:spcBef>
                <a:spcPts val="0"/>
              </a:spcBef>
            </a:pPr>
            <a:endParaRPr sz="2000" dirty="0">
              <a:solidFill>
                <a:srgbClr val="000000"/>
              </a:solidFill>
              <a:latin typeface="Times New Roman"/>
              <a:ea typeface="Times New Roman"/>
              <a:cs typeface="Times New Roman"/>
              <a:sym typeface="Times New Roman"/>
            </a:endParaRPr>
          </a:p>
          <a:p>
            <a:pPr algn="just">
              <a:spcBef>
                <a:spcPts val="0"/>
              </a:spcBef>
            </a:pPr>
            <a:r>
              <a:rPr lang="en" sz="2000" dirty="0">
                <a:solidFill>
                  <a:srgbClr val="212121"/>
                </a:solidFill>
                <a:latin typeface="Times New Roman"/>
                <a:ea typeface="Times New Roman"/>
                <a:cs typeface="Times New Roman"/>
                <a:sym typeface="Times New Roman"/>
              </a:rPr>
              <a:t>Type 2 Diabetes Mellitus is one of the most common metabolic disorders caused by a combination of two primary factors : </a:t>
            </a:r>
            <a:endParaRPr sz="2000" dirty="0">
              <a:solidFill>
                <a:srgbClr val="212121"/>
              </a:solidFill>
              <a:latin typeface="Times New Roman"/>
              <a:ea typeface="Times New Roman"/>
              <a:cs typeface="Times New Roman"/>
              <a:sym typeface="Times New Roman"/>
            </a:endParaRPr>
          </a:p>
          <a:p>
            <a:pPr algn="l">
              <a:spcBef>
                <a:spcPts val="0"/>
              </a:spcBef>
            </a:pPr>
            <a:endParaRPr sz="2000" dirty="0">
              <a:solidFill>
                <a:srgbClr val="212121"/>
              </a:solidFill>
              <a:latin typeface="Times New Roman"/>
              <a:ea typeface="Times New Roman"/>
              <a:cs typeface="Times New Roman"/>
              <a:sym typeface="Times New Roman"/>
            </a:endParaRPr>
          </a:p>
          <a:p>
            <a:pPr marL="609585" indent="-431789" algn="l">
              <a:spcBef>
                <a:spcPts val="0"/>
              </a:spcBef>
              <a:buClr>
                <a:srgbClr val="212121"/>
              </a:buClr>
              <a:buSzPts val="1500"/>
              <a:buFont typeface="Times New Roman"/>
              <a:buChar char="●"/>
            </a:pPr>
            <a:r>
              <a:rPr lang="en" sz="2000" dirty="0">
                <a:solidFill>
                  <a:srgbClr val="212121"/>
                </a:solidFill>
                <a:latin typeface="Times New Roman"/>
                <a:ea typeface="Times New Roman"/>
                <a:cs typeface="Times New Roman"/>
                <a:sym typeface="Times New Roman"/>
              </a:rPr>
              <a:t>Defective insulin secretion by pancreatic β-cells</a:t>
            </a:r>
            <a:endParaRPr sz="2000" dirty="0">
              <a:solidFill>
                <a:srgbClr val="212121"/>
              </a:solidFill>
              <a:latin typeface="Times New Roman"/>
              <a:ea typeface="Times New Roman"/>
              <a:cs typeface="Times New Roman"/>
              <a:sym typeface="Times New Roman"/>
            </a:endParaRPr>
          </a:p>
          <a:p>
            <a:pPr marL="609585" indent="-431789" algn="l">
              <a:spcBef>
                <a:spcPts val="0"/>
              </a:spcBef>
              <a:buClr>
                <a:srgbClr val="212121"/>
              </a:buClr>
              <a:buSzPts val="1500"/>
              <a:buFont typeface="Times New Roman"/>
              <a:buChar char="●"/>
            </a:pPr>
            <a:r>
              <a:rPr lang="en" sz="2000" dirty="0">
                <a:solidFill>
                  <a:srgbClr val="212121"/>
                </a:solidFill>
                <a:latin typeface="Times New Roman"/>
                <a:ea typeface="Times New Roman"/>
                <a:cs typeface="Times New Roman"/>
                <a:sym typeface="Times New Roman"/>
              </a:rPr>
              <a:t>Inability of insulin-sensitive tissues to respond appropriately to insulin.</a:t>
            </a:r>
            <a:endParaRPr sz="2000" dirty="0">
              <a:latin typeface="Times New Roman"/>
              <a:ea typeface="Times New Roman"/>
              <a:cs typeface="Times New Roman"/>
              <a:sym typeface="Times New Roman"/>
            </a:endParaRPr>
          </a:p>
        </p:txBody>
      </p:sp>
      <p:sp>
        <p:nvSpPr>
          <p:cNvPr id="1512" name="Google Shape;1512;p61"/>
          <p:cNvSpPr txBox="1"/>
          <p:nvPr/>
        </p:nvSpPr>
        <p:spPr>
          <a:xfrm>
            <a:off x="710867" y="6070001"/>
            <a:ext cx="11729600" cy="812683"/>
          </a:xfrm>
          <a:prstGeom prst="rect">
            <a:avLst/>
          </a:prstGeom>
          <a:noFill/>
          <a:ln>
            <a:noFill/>
          </a:ln>
        </p:spPr>
        <p:txBody>
          <a:bodyPr spcFirstLastPara="1" wrap="square" lIns="121900" tIns="121900" rIns="121900" bIns="121900" anchor="t" anchorCtr="0">
            <a:spAutoFit/>
          </a:bodyPr>
          <a:lstStyle/>
          <a:p>
            <a:pPr marL="186262" marR="186262">
              <a:lnSpc>
                <a:spcPct val="115000"/>
              </a:lnSpc>
            </a:pPr>
            <a:r>
              <a:rPr lang="en" sz="1067">
                <a:solidFill>
                  <a:srgbClr val="222222"/>
                </a:solidFill>
                <a:latin typeface="Courier New"/>
                <a:ea typeface="Courier New"/>
                <a:cs typeface="Courier New"/>
                <a:sym typeface="Courier New"/>
              </a:rPr>
              <a:t>Sapra A, Bhandari P. Diabetes Mellitus. [Updated 2022 Jun 26]. In: StatPearls [Internet]. Treasure Island (FL): StatPearls Publishing; 2023 Jan-. Available from: https://www.ncbi.nlm.nih.gov/books/NBK551501/</a:t>
            </a:r>
            <a:endParaRPr sz="1067">
              <a:solidFill>
                <a:srgbClr val="222222"/>
              </a:solidFill>
              <a:latin typeface="Courier New"/>
              <a:ea typeface="Courier New"/>
              <a:cs typeface="Courier New"/>
              <a:sym typeface="Courier New"/>
            </a:endParaRPr>
          </a:p>
          <a:p>
            <a:pPr marL="186262" marR="186262">
              <a:lnSpc>
                <a:spcPct val="115000"/>
              </a:lnSpc>
            </a:pPr>
            <a:endParaRPr sz="1067">
              <a:solidFill>
                <a:srgbClr val="222222"/>
              </a:solidFill>
            </a:endParaRPr>
          </a:p>
        </p:txBody>
      </p:sp>
      <p:sp>
        <p:nvSpPr>
          <p:cNvPr id="1513" name="Google Shape;1513;p61"/>
          <p:cNvSpPr txBox="1"/>
          <p:nvPr/>
        </p:nvSpPr>
        <p:spPr>
          <a:xfrm>
            <a:off x="6301107" y="1305322"/>
            <a:ext cx="2065860" cy="595059"/>
          </a:xfrm>
          <a:prstGeom prst="rect">
            <a:avLst/>
          </a:prstGeom>
          <a:noFill/>
          <a:ln w="9525" cap="flat" cmpd="sng">
            <a:solidFill>
              <a:srgbClr val="000000"/>
            </a:solidFill>
            <a:prstDash val="solid"/>
            <a:round/>
            <a:headEnd type="none" w="sm" len="sm"/>
            <a:tailEnd type="none" w="sm" len="sm"/>
          </a:ln>
        </p:spPr>
        <p:txBody>
          <a:bodyPr spcFirstLastPara="1" wrap="square" lIns="121900" tIns="121900" rIns="121900" bIns="121900" anchor="t" anchorCtr="0">
            <a:spAutoFit/>
          </a:bodyPr>
          <a:lstStyle/>
          <a:p>
            <a:r>
              <a:rPr lang="en" sz="2267" b="1" dirty="0">
                <a:latin typeface="Times New Roman"/>
                <a:ea typeface="Times New Roman"/>
                <a:cs typeface="Times New Roman"/>
                <a:sym typeface="Times New Roman"/>
              </a:rPr>
              <a:t>Energy </a:t>
            </a:r>
            <a:r>
              <a:rPr lang="en-US" sz="2000" b="1" dirty="0">
                <a:latin typeface="Times New Roman"/>
                <a:ea typeface="Times New Roman"/>
                <a:cs typeface="Times New Roman"/>
                <a:sym typeface="Times New Roman"/>
              </a:rPr>
              <a:t>Source </a:t>
            </a:r>
          </a:p>
        </p:txBody>
      </p:sp>
      <p:sp>
        <p:nvSpPr>
          <p:cNvPr id="1514" name="Google Shape;1514;p61"/>
          <p:cNvSpPr txBox="1"/>
          <p:nvPr/>
        </p:nvSpPr>
        <p:spPr>
          <a:xfrm>
            <a:off x="-1174633" y="-361033"/>
            <a:ext cx="9541600" cy="615513"/>
          </a:xfrm>
          <a:prstGeom prst="rect">
            <a:avLst/>
          </a:prstGeom>
          <a:noFill/>
          <a:ln>
            <a:noFill/>
          </a:ln>
        </p:spPr>
        <p:txBody>
          <a:bodyPr spcFirstLastPara="1" wrap="square" lIns="121900" tIns="121900" rIns="121900" bIns="121900" anchor="t" anchorCtr="0">
            <a:spAutoFit/>
          </a:bodyPr>
          <a:lstStyle/>
          <a:p>
            <a:endParaRPr sz="2400">
              <a:latin typeface="Montserrat"/>
              <a:ea typeface="Montserrat"/>
              <a:cs typeface="Montserrat"/>
              <a:sym typeface="Montserrat"/>
            </a:endParaRPr>
          </a:p>
        </p:txBody>
      </p:sp>
      <p:cxnSp>
        <p:nvCxnSpPr>
          <p:cNvPr id="1515" name="Google Shape;1515;p61"/>
          <p:cNvCxnSpPr>
            <a:cxnSpLocks/>
            <a:stCxn id="1513" idx="2"/>
            <a:endCxn id="1516" idx="0"/>
          </p:cNvCxnSpPr>
          <p:nvPr/>
        </p:nvCxnSpPr>
        <p:spPr>
          <a:xfrm>
            <a:off x="7334037" y="1900381"/>
            <a:ext cx="0" cy="624552"/>
          </a:xfrm>
          <a:prstGeom prst="straightConnector1">
            <a:avLst/>
          </a:prstGeom>
          <a:noFill/>
          <a:ln w="9525" cap="flat" cmpd="sng">
            <a:solidFill>
              <a:schemeClr val="dk2"/>
            </a:solidFill>
            <a:prstDash val="solid"/>
            <a:round/>
            <a:headEnd type="none" w="med" len="med"/>
            <a:tailEnd type="triangle" w="med" len="med"/>
          </a:ln>
        </p:spPr>
      </p:cxnSp>
      <p:sp>
        <p:nvSpPr>
          <p:cNvPr id="1516" name="Google Shape;1516;p61"/>
          <p:cNvSpPr txBox="1"/>
          <p:nvPr/>
        </p:nvSpPr>
        <p:spPr>
          <a:xfrm>
            <a:off x="6134437" y="2524933"/>
            <a:ext cx="2399200" cy="553957"/>
          </a:xfrm>
          <a:prstGeom prst="rect">
            <a:avLst/>
          </a:prstGeom>
          <a:noFill/>
          <a:ln w="9525" cap="flat" cmpd="sng">
            <a:solidFill>
              <a:srgbClr val="000000"/>
            </a:solidFill>
            <a:prstDash val="solid"/>
            <a:round/>
            <a:headEnd type="none" w="sm" len="sm"/>
            <a:tailEnd type="none" w="sm" len="sm"/>
          </a:ln>
        </p:spPr>
        <p:txBody>
          <a:bodyPr spcFirstLastPara="1" wrap="square" lIns="121900" tIns="121900" rIns="121900" bIns="121900" anchor="t" anchorCtr="0">
            <a:spAutoFit/>
          </a:bodyPr>
          <a:lstStyle/>
          <a:p>
            <a:pPr algn="ctr"/>
            <a:r>
              <a:rPr lang="en" sz="2000" b="1" dirty="0">
                <a:latin typeface="Times New Roman"/>
                <a:ea typeface="Times New Roman"/>
                <a:cs typeface="Times New Roman"/>
                <a:sym typeface="Times New Roman"/>
              </a:rPr>
              <a:t>Glucose </a:t>
            </a:r>
            <a:r>
              <a:rPr lang="en-US" sz="2000" b="1" dirty="0">
                <a:latin typeface="Times New Roman"/>
                <a:ea typeface="Times New Roman"/>
                <a:cs typeface="Times New Roman"/>
                <a:sym typeface="Times New Roman"/>
              </a:rPr>
              <a:t>Imbalance</a:t>
            </a:r>
          </a:p>
        </p:txBody>
      </p:sp>
      <p:sp>
        <p:nvSpPr>
          <p:cNvPr id="1517" name="Google Shape;1517;p61"/>
          <p:cNvSpPr txBox="1"/>
          <p:nvPr/>
        </p:nvSpPr>
        <p:spPr>
          <a:xfrm>
            <a:off x="6134437" y="3917950"/>
            <a:ext cx="2399200" cy="553957"/>
          </a:xfrm>
          <a:prstGeom prst="rect">
            <a:avLst/>
          </a:prstGeom>
          <a:noFill/>
          <a:ln w="9525" cap="flat" cmpd="sng">
            <a:solidFill>
              <a:srgbClr val="000000"/>
            </a:solidFill>
            <a:prstDash val="solid"/>
            <a:round/>
            <a:headEnd type="none" w="sm" len="sm"/>
            <a:tailEnd type="none" w="sm" len="sm"/>
          </a:ln>
        </p:spPr>
        <p:txBody>
          <a:bodyPr spcFirstLastPara="1" wrap="square" lIns="121900" tIns="121900" rIns="121900" bIns="121900" anchor="t" anchorCtr="0">
            <a:spAutoFit/>
          </a:bodyPr>
          <a:lstStyle/>
          <a:p>
            <a:pPr algn="ctr"/>
            <a:r>
              <a:rPr lang="en" sz="2000" b="1" dirty="0">
                <a:latin typeface="Times New Roman"/>
                <a:ea typeface="Times New Roman"/>
                <a:cs typeface="Times New Roman"/>
                <a:sym typeface="Times New Roman"/>
              </a:rPr>
              <a:t>Diabetes Mellitus</a:t>
            </a:r>
            <a:endParaRPr sz="2000" b="1" dirty="0">
              <a:latin typeface="Times New Roman"/>
              <a:ea typeface="Times New Roman"/>
              <a:cs typeface="Times New Roman"/>
              <a:sym typeface="Times New Roman"/>
            </a:endParaRPr>
          </a:p>
        </p:txBody>
      </p:sp>
      <p:cxnSp>
        <p:nvCxnSpPr>
          <p:cNvPr id="1518" name="Google Shape;1518;p61"/>
          <p:cNvCxnSpPr/>
          <p:nvPr/>
        </p:nvCxnSpPr>
        <p:spPr>
          <a:xfrm>
            <a:off x="7314037" y="3114020"/>
            <a:ext cx="20000" cy="768800"/>
          </a:xfrm>
          <a:prstGeom prst="straightConnector1">
            <a:avLst/>
          </a:prstGeom>
          <a:noFill/>
          <a:ln w="9525" cap="flat" cmpd="sng">
            <a:solidFill>
              <a:schemeClr val="dk2"/>
            </a:solidFill>
            <a:prstDash val="solid"/>
            <a:round/>
            <a:headEnd type="none" w="med" len="med"/>
            <a:tailEnd type="triangle" w="med" len="med"/>
          </a:ln>
        </p:spPr>
      </p:cxnSp>
      <p:pic>
        <p:nvPicPr>
          <p:cNvPr id="1519" name="Google Shape;1519;p61"/>
          <p:cNvPicPr preferRelativeResize="0"/>
          <p:nvPr/>
        </p:nvPicPr>
        <p:blipFill>
          <a:blip r:embed="rId3">
            <a:alphaModFix/>
          </a:blip>
          <a:stretch>
            <a:fillRect/>
          </a:stretch>
        </p:blipFill>
        <p:spPr>
          <a:xfrm>
            <a:off x="8562734" y="2976351"/>
            <a:ext cx="2716700" cy="2716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503712" y="483305"/>
            <a:ext cx="6105017" cy="366703"/>
          </a:xfrm>
          <a:prstGeom prst="rect">
            <a:avLst/>
          </a:prstGeom>
        </p:spPr>
        <p:txBody>
          <a:bodyPr vert="horz" wrap="square" lIns="0" tIns="0" rIns="0" bIns="0" rtlCol="0">
            <a:spAutoFit/>
          </a:bodyPr>
          <a:lstStyle/>
          <a:p>
            <a:pPr marL="0" marR="0">
              <a:lnSpc>
                <a:spcPts val="2579"/>
              </a:lnSpc>
              <a:spcBef>
                <a:spcPts val="0"/>
              </a:spcBef>
              <a:spcAft>
                <a:spcPts val="0"/>
              </a:spcAft>
            </a:pPr>
            <a:r>
              <a:rPr lang="en-US" sz="4000" b="1" u="sng" dirty="0">
                <a:solidFill>
                  <a:srgbClr val="404040"/>
                </a:solidFill>
                <a:latin typeface="Cambria" panose="02040503050406030204" pitchFamily="18" charset="0"/>
                <a:ea typeface="Cambria" panose="02040503050406030204" pitchFamily="18" charset="0"/>
                <a:cs typeface="CQGIPG+Cambria"/>
              </a:rPr>
              <a:t>   </a:t>
            </a:r>
            <a:r>
              <a:rPr sz="4000" b="1" u="sng" dirty="0">
                <a:solidFill>
                  <a:srgbClr val="404040"/>
                </a:solidFill>
                <a:latin typeface="Cambria" panose="02040503050406030204" pitchFamily="18" charset="0"/>
                <a:ea typeface="Cambria" panose="02040503050406030204" pitchFamily="18" charset="0"/>
                <a:cs typeface="CQGIPG+Cambria"/>
              </a:rPr>
              <a:t>Diabetes</a:t>
            </a:r>
            <a:r>
              <a:rPr lang="en-IN" sz="4000" b="1" u="sng" dirty="0">
                <a:solidFill>
                  <a:srgbClr val="404040"/>
                </a:solidFill>
                <a:latin typeface="Cambria" panose="02040503050406030204" pitchFamily="18" charset="0"/>
                <a:ea typeface="Cambria" panose="02040503050406030204" pitchFamily="18" charset="0"/>
                <a:cs typeface="CQGIPG+Cambria"/>
              </a:rPr>
              <a:t> </a:t>
            </a:r>
            <a:r>
              <a:rPr lang="en-US" sz="4000" b="1" u="sng" dirty="0">
                <a:solidFill>
                  <a:srgbClr val="404040"/>
                </a:solidFill>
                <a:latin typeface="Cambria" panose="02040503050406030204" pitchFamily="18" charset="0"/>
                <a:ea typeface="Cambria" panose="02040503050406030204" pitchFamily="18" charset="0"/>
                <a:cs typeface="CQGIPG+Cambria"/>
              </a:rPr>
              <a:t>Monitoring</a:t>
            </a:r>
            <a:endParaRPr sz="4000" b="1" u="sng" dirty="0">
              <a:solidFill>
                <a:srgbClr val="404040"/>
              </a:solidFill>
              <a:latin typeface="Cambria" panose="02040503050406030204" pitchFamily="18" charset="0"/>
              <a:ea typeface="Cambria" panose="02040503050406030204" pitchFamily="18" charset="0"/>
              <a:cs typeface="CQGIPG+Cambria"/>
            </a:endParaRPr>
          </a:p>
        </p:txBody>
      </p:sp>
      <p:sp>
        <p:nvSpPr>
          <p:cNvPr id="4" name="object 4"/>
          <p:cNvSpPr txBox="1"/>
          <p:nvPr/>
        </p:nvSpPr>
        <p:spPr>
          <a:xfrm>
            <a:off x="3301371" y="1996890"/>
            <a:ext cx="1217588" cy="520163"/>
          </a:xfrm>
          <a:prstGeom prst="rect">
            <a:avLst/>
          </a:prstGeom>
        </p:spPr>
        <p:txBody>
          <a:bodyPr vert="horz" wrap="square" lIns="0" tIns="0" rIns="0" bIns="0" rtlCol="0">
            <a:spAutoFit/>
          </a:bodyPr>
          <a:lstStyle/>
          <a:p>
            <a:pPr marL="1389" marR="0">
              <a:lnSpc>
                <a:spcPts val="1875"/>
              </a:lnSpc>
              <a:spcBef>
                <a:spcPts val="0"/>
              </a:spcBef>
              <a:spcAft>
                <a:spcPts val="0"/>
              </a:spcAft>
            </a:pPr>
            <a:r>
              <a:rPr sz="1600" b="1" dirty="0">
                <a:solidFill>
                  <a:srgbClr val="000000"/>
                </a:solidFill>
                <a:latin typeface="Cambria"/>
                <a:cs typeface="Cambria"/>
              </a:rPr>
              <a:t>HbA1c Test</a:t>
            </a:r>
          </a:p>
          <a:p>
            <a:pPr marL="0" marR="0">
              <a:lnSpc>
                <a:spcPts val="1875"/>
              </a:lnSpc>
              <a:spcBef>
                <a:spcPts val="44"/>
              </a:spcBef>
              <a:spcAft>
                <a:spcPts val="0"/>
              </a:spcAft>
            </a:pPr>
            <a:r>
              <a:rPr sz="1600" b="1" dirty="0">
                <a:solidFill>
                  <a:srgbClr val="000000"/>
                </a:solidFill>
                <a:latin typeface="Cambria"/>
                <a:cs typeface="Cambria"/>
              </a:rPr>
              <a:t>(6.5 above)</a:t>
            </a:r>
          </a:p>
        </p:txBody>
      </p:sp>
      <p:sp>
        <p:nvSpPr>
          <p:cNvPr id="5" name="object 5"/>
          <p:cNvSpPr txBox="1"/>
          <p:nvPr/>
        </p:nvSpPr>
        <p:spPr>
          <a:xfrm>
            <a:off x="8030931" y="2273889"/>
            <a:ext cx="820638" cy="276324"/>
          </a:xfrm>
          <a:prstGeom prst="rect">
            <a:avLst/>
          </a:prstGeom>
        </p:spPr>
        <p:txBody>
          <a:bodyPr vert="horz" wrap="square" lIns="0" tIns="0" rIns="0" bIns="0" rtlCol="0">
            <a:spAutoFit/>
          </a:bodyPr>
          <a:lstStyle/>
          <a:p>
            <a:pPr marL="0" marR="0">
              <a:lnSpc>
                <a:spcPts val="1875"/>
              </a:lnSpc>
              <a:spcBef>
                <a:spcPts val="0"/>
              </a:spcBef>
              <a:spcAft>
                <a:spcPts val="0"/>
              </a:spcAft>
            </a:pPr>
            <a:r>
              <a:rPr sz="1600" b="1" dirty="0">
                <a:solidFill>
                  <a:srgbClr val="000000"/>
                </a:solidFill>
                <a:latin typeface="Cambria"/>
                <a:cs typeface="Cambria"/>
              </a:rPr>
              <a:t>Weight</a:t>
            </a:r>
          </a:p>
        </p:txBody>
      </p:sp>
      <p:sp>
        <p:nvSpPr>
          <p:cNvPr id="6" name="object 6"/>
          <p:cNvSpPr txBox="1"/>
          <p:nvPr/>
        </p:nvSpPr>
        <p:spPr>
          <a:xfrm>
            <a:off x="1850719" y="3330669"/>
            <a:ext cx="2326997" cy="276324"/>
          </a:xfrm>
          <a:prstGeom prst="rect">
            <a:avLst/>
          </a:prstGeom>
        </p:spPr>
        <p:txBody>
          <a:bodyPr vert="horz" wrap="square" lIns="0" tIns="0" rIns="0" bIns="0" rtlCol="0">
            <a:spAutoFit/>
          </a:bodyPr>
          <a:lstStyle/>
          <a:p>
            <a:pPr marL="0" marR="0">
              <a:lnSpc>
                <a:spcPts val="1875"/>
              </a:lnSpc>
              <a:spcBef>
                <a:spcPts val="0"/>
              </a:spcBef>
              <a:spcAft>
                <a:spcPts val="0"/>
              </a:spcAft>
            </a:pPr>
            <a:r>
              <a:rPr sz="1600" b="1" dirty="0">
                <a:solidFill>
                  <a:srgbClr val="000000"/>
                </a:solidFill>
                <a:latin typeface="Cambria"/>
                <a:cs typeface="Cambria"/>
              </a:rPr>
              <a:t>Fasting Plasma Glucose</a:t>
            </a:r>
          </a:p>
        </p:txBody>
      </p:sp>
      <p:sp>
        <p:nvSpPr>
          <p:cNvPr id="7" name="object 7"/>
          <p:cNvSpPr txBox="1"/>
          <p:nvPr/>
        </p:nvSpPr>
        <p:spPr>
          <a:xfrm>
            <a:off x="8338075" y="3449845"/>
            <a:ext cx="2082751" cy="276324"/>
          </a:xfrm>
          <a:prstGeom prst="rect">
            <a:avLst/>
          </a:prstGeom>
        </p:spPr>
        <p:txBody>
          <a:bodyPr vert="horz" wrap="square" lIns="0" tIns="0" rIns="0" bIns="0" rtlCol="0">
            <a:spAutoFit/>
          </a:bodyPr>
          <a:lstStyle/>
          <a:p>
            <a:pPr marL="0" marR="0">
              <a:lnSpc>
                <a:spcPts val="1875"/>
              </a:lnSpc>
              <a:spcBef>
                <a:spcPts val="0"/>
              </a:spcBef>
              <a:spcAft>
                <a:spcPts val="0"/>
              </a:spcAft>
            </a:pPr>
            <a:r>
              <a:rPr sz="1600" b="1" dirty="0">
                <a:solidFill>
                  <a:srgbClr val="000000"/>
                </a:solidFill>
                <a:latin typeface="Cambria"/>
                <a:cs typeface="Cambria"/>
              </a:rPr>
              <a:t>Waist circumference</a:t>
            </a:r>
          </a:p>
        </p:txBody>
      </p:sp>
      <p:sp>
        <p:nvSpPr>
          <p:cNvPr id="8" name="object 8"/>
          <p:cNvSpPr txBox="1"/>
          <p:nvPr/>
        </p:nvSpPr>
        <p:spPr>
          <a:xfrm>
            <a:off x="2639608" y="3574509"/>
            <a:ext cx="1537655" cy="276324"/>
          </a:xfrm>
          <a:prstGeom prst="rect">
            <a:avLst/>
          </a:prstGeom>
        </p:spPr>
        <p:txBody>
          <a:bodyPr vert="horz" wrap="square" lIns="0" tIns="0" rIns="0" bIns="0" rtlCol="0">
            <a:spAutoFit/>
          </a:bodyPr>
          <a:lstStyle/>
          <a:p>
            <a:pPr marL="0" marR="0">
              <a:lnSpc>
                <a:spcPts val="1875"/>
              </a:lnSpc>
              <a:spcBef>
                <a:spcPts val="0"/>
              </a:spcBef>
              <a:spcAft>
                <a:spcPts val="0"/>
              </a:spcAft>
            </a:pPr>
            <a:r>
              <a:rPr sz="1600" b="1" dirty="0">
                <a:solidFill>
                  <a:srgbClr val="000000"/>
                </a:solidFill>
                <a:latin typeface="Cambria"/>
                <a:cs typeface="Cambria"/>
              </a:rPr>
              <a:t>(126 or above)</a:t>
            </a:r>
          </a:p>
        </p:txBody>
      </p:sp>
      <p:sp>
        <p:nvSpPr>
          <p:cNvPr id="9" name="object 9"/>
          <p:cNvSpPr txBox="1"/>
          <p:nvPr/>
        </p:nvSpPr>
        <p:spPr>
          <a:xfrm>
            <a:off x="1796477" y="4698331"/>
            <a:ext cx="2767631" cy="520163"/>
          </a:xfrm>
          <a:prstGeom prst="rect">
            <a:avLst/>
          </a:prstGeom>
        </p:spPr>
        <p:txBody>
          <a:bodyPr vert="horz" wrap="square" lIns="0" tIns="0" rIns="0" bIns="0" rtlCol="0">
            <a:spAutoFit/>
          </a:bodyPr>
          <a:lstStyle/>
          <a:p>
            <a:pPr marL="0" marR="0">
              <a:lnSpc>
                <a:spcPts val="1875"/>
              </a:lnSpc>
              <a:spcBef>
                <a:spcPts val="0"/>
              </a:spcBef>
              <a:spcAft>
                <a:spcPts val="0"/>
              </a:spcAft>
            </a:pPr>
            <a:r>
              <a:rPr sz="1600" b="1" dirty="0">
                <a:solidFill>
                  <a:srgbClr val="000000"/>
                </a:solidFill>
                <a:latin typeface="Cambria"/>
                <a:cs typeface="Cambria"/>
              </a:rPr>
              <a:t>Oral Glucose Tolerance Test</a:t>
            </a:r>
          </a:p>
          <a:p>
            <a:pPr marL="1193601" marR="0">
              <a:lnSpc>
                <a:spcPts val="1875"/>
              </a:lnSpc>
              <a:spcBef>
                <a:spcPts val="44"/>
              </a:spcBef>
              <a:spcAft>
                <a:spcPts val="0"/>
              </a:spcAft>
            </a:pPr>
            <a:r>
              <a:rPr sz="1600" b="1" dirty="0">
                <a:solidFill>
                  <a:srgbClr val="000000"/>
                </a:solidFill>
                <a:latin typeface="Cambria"/>
                <a:cs typeface="Cambria"/>
              </a:rPr>
              <a:t>(200 or above)</a:t>
            </a:r>
          </a:p>
        </p:txBody>
      </p:sp>
      <p:sp>
        <p:nvSpPr>
          <p:cNvPr id="10" name="object 10"/>
          <p:cNvSpPr txBox="1"/>
          <p:nvPr/>
        </p:nvSpPr>
        <p:spPr>
          <a:xfrm>
            <a:off x="7919820" y="4821442"/>
            <a:ext cx="1579425" cy="276324"/>
          </a:xfrm>
          <a:prstGeom prst="rect">
            <a:avLst/>
          </a:prstGeom>
        </p:spPr>
        <p:txBody>
          <a:bodyPr vert="horz" wrap="square" lIns="0" tIns="0" rIns="0" bIns="0" rtlCol="0">
            <a:spAutoFit/>
          </a:bodyPr>
          <a:lstStyle/>
          <a:p>
            <a:pPr marL="0" marR="0">
              <a:lnSpc>
                <a:spcPts val="1875"/>
              </a:lnSpc>
              <a:spcBef>
                <a:spcPts val="0"/>
              </a:spcBef>
              <a:spcAft>
                <a:spcPts val="0"/>
              </a:spcAft>
            </a:pPr>
            <a:r>
              <a:rPr sz="1600" b="1" dirty="0">
                <a:solidFill>
                  <a:srgbClr val="000000"/>
                </a:solidFill>
                <a:latin typeface="Cambria"/>
                <a:cs typeface="Cambria"/>
              </a:rPr>
              <a:t>Blood Pressure</a:t>
            </a:r>
          </a:p>
        </p:txBody>
      </p:sp>
      <p:sp>
        <p:nvSpPr>
          <p:cNvPr id="11" name="Rectangle 10">
            <a:extLst>
              <a:ext uri="{FF2B5EF4-FFF2-40B4-BE49-F238E27FC236}">
                <a16:creationId xmlns:a16="http://schemas.microsoft.com/office/drawing/2014/main" id="{A68589FA-5107-4C11-8155-D0907446DE8C}"/>
              </a:ext>
            </a:extLst>
          </p:cNvPr>
          <p:cNvSpPr/>
          <p:nvPr/>
        </p:nvSpPr>
        <p:spPr>
          <a:xfrm>
            <a:off x="7715714" y="823444"/>
            <a:ext cx="4316053" cy="1016881"/>
          </a:xfrm>
          <a:prstGeom prst="rect">
            <a:avLst/>
          </a:prstGeom>
        </p:spPr>
        <p:txBody>
          <a:bodyPr wrap="none">
            <a:spAutoFit/>
          </a:bodyPr>
          <a:lstStyle/>
          <a:p>
            <a:pPr algn="ctr">
              <a:lnSpc>
                <a:spcPts val="8441"/>
              </a:lnSpc>
            </a:pPr>
            <a:r>
              <a:rPr lang="en-US" sz="4000" b="1" dirty="0">
                <a:solidFill>
                  <a:srgbClr val="404040"/>
                </a:solidFill>
                <a:latin typeface="Cambria"/>
                <a:cs typeface="Cambria"/>
              </a:rPr>
              <a:t>BUT, is it enough?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044E81E-0428-4A6B-A5C1-385AC2E03D94}"/>
              </a:ext>
            </a:extLst>
          </p:cNvPr>
          <p:cNvSpPr/>
          <p:nvPr/>
        </p:nvSpPr>
        <p:spPr>
          <a:xfrm>
            <a:off x="1524000" y="3238034"/>
            <a:ext cx="9144000" cy="38193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6" name="Oval 5">
            <a:extLst>
              <a:ext uri="{FF2B5EF4-FFF2-40B4-BE49-F238E27FC236}">
                <a16:creationId xmlns:a16="http://schemas.microsoft.com/office/drawing/2014/main" id="{05AF12DF-E515-4CB7-98AD-8AFD0E219394}"/>
              </a:ext>
            </a:extLst>
          </p:cNvPr>
          <p:cNvSpPr/>
          <p:nvPr/>
        </p:nvSpPr>
        <p:spPr>
          <a:xfrm>
            <a:off x="6800184" y="2388498"/>
            <a:ext cx="2163186" cy="2163186"/>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lumMod val="75000"/>
                </a:schemeClr>
              </a:solidFill>
            </a:endParaRPr>
          </a:p>
        </p:txBody>
      </p:sp>
      <p:sp>
        <p:nvSpPr>
          <p:cNvPr id="2" name="Flowchart: Manual Input 7">
            <a:extLst>
              <a:ext uri="{FF2B5EF4-FFF2-40B4-BE49-F238E27FC236}">
                <a16:creationId xmlns:a16="http://schemas.microsoft.com/office/drawing/2014/main" id="{9027244D-A52F-45F9-B979-23C5A3BAAD23}"/>
              </a:ext>
            </a:extLst>
          </p:cNvPr>
          <p:cNvSpPr/>
          <p:nvPr/>
        </p:nvSpPr>
        <p:spPr>
          <a:xfrm rot="5400000" flipH="1" flipV="1">
            <a:off x="2361014" y="821337"/>
            <a:ext cx="782750" cy="13137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3" name="TextBox 2">
            <a:extLst>
              <a:ext uri="{FF2B5EF4-FFF2-40B4-BE49-F238E27FC236}">
                <a16:creationId xmlns:a16="http://schemas.microsoft.com/office/drawing/2014/main" id="{DABBFD39-BC3E-4B9D-AE7D-B93EB62EB22E}"/>
              </a:ext>
            </a:extLst>
          </p:cNvPr>
          <p:cNvSpPr txBox="1"/>
          <p:nvPr/>
        </p:nvSpPr>
        <p:spPr>
          <a:xfrm>
            <a:off x="3504357" y="1189685"/>
            <a:ext cx="3900490" cy="600164"/>
          </a:xfrm>
          <a:prstGeom prst="rect">
            <a:avLst/>
          </a:prstGeom>
          <a:noFill/>
        </p:spPr>
        <p:txBody>
          <a:bodyPr wrap="square" rtlCol="0">
            <a:spAutoFit/>
          </a:bodyPr>
          <a:lstStyle/>
          <a:p>
            <a:r>
              <a:rPr lang="en-US" sz="33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Points of focus!</a:t>
            </a:r>
          </a:p>
        </p:txBody>
      </p:sp>
      <p:sp>
        <p:nvSpPr>
          <p:cNvPr id="8" name="Oval 7">
            <a:extLst>
              <a:ext uri="{FF2B5EF4-FFF2-40B4-BE49-F238E27FC236}">
                <a16:creationId xmlns:a16="http://schemas.microsoft.com/office/drawing/2014/main" id="{5631C776-488B-476C-BF39-1CE2CD337C28}"/>
              </a:ext>
            </a:extLst>
          </p:cNvPr>
          <p:cNvSpPr/>
          <p:nvPr/>
        </p:nvSpPr>
        <p:spPr>
          <a:xfrm>
            <a:off x="4760521" y="2402523"/>
            <a:ext cx="2205881" cy="2163186"/>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9" name="Oval 8">
            <a:extLst>
              <a:ext uri="{FF2B5EF4-FFF2-40B4-BE49-F238E27FC236}">
                <a16:creationId xmlns:a16="http://schemas.microsoft.com/office/drawing/2014/main" id="{C4309547-1EE0-4713-80BC-3F3FBD34C452}"/>
              </a:ext>
            </a:extLst>
          </p:cNvPr>
          <p:cNvSpPr/>
          <p:nvPr/>
        </p:nvSpPr>
        <p:spPr>
          <a:xfrm>
            <a:off x="2763551" y="2388498"/>
            <a:ext cx="2205880" cy="2163186"/>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16" name="Rectangle 15">
            <a:extLst>
              <a:ext uri="{FF2B5EF4-FFF2-40B4-BE49-F238E27FC236}">
                <a16:creationId xmlns:a16="http://schemas.microsoft.com/office/drawing/2014/main" id="{E4B24A1E-9653-43EB-9A11-9425620384A9}"/>
              </a:ext>
            </a:extLst>
          </p:cNvPr>
          <p:cNvSpPr/>
          <p:nvPr/>
        </p:nvSpPr>
        <p:spPr>
          <a:xfrm>
            <a:off x="3025404" y="3284061"/>
            <a:ext cx="1671409" cy="707886"/>
          </a:xfrm>
          <a:prstGeom prst="rect">
            <a:avLst/>
          </a:prstGeom>
        </p:spPr>
        <p:txBody>
          <a:bodyPr wrap="square">
            <a:spAutoFit/>
          </a:bodyPr>
          <a:lstStyle/>
          <a:p>
            <a:pPr algn="ctr"/>
            <a:r>
              <a:rPr lang="en-US" altLang="ko-KR" sz="2000" b="1" dirty="0">
                <a:solidFill>
                  <a:schemeClr val="bg1">
                    <a:lumMod val="95000"/>
                  </a:schemeClr>
                </a:solidFill>
                <a:latin typeface="Segoe UI" panose="020B0502040204020203" pitchFamily="34" charset="0"/>
                <a:ea typeface="Segoe UI" panose="020B0502040204020203" pitchFamily="34" charset="0"/>
                <a:cs typeface="Segoe UI" panose="020B0502040204020203" pitchFamily="34" charset="0"/>
              </a:rPr>
              <a:t>Muscle Mass</a:t>
            </a:r>
            <a:endParaRPr lang="en-US" sz="2000" dirty="0">
              <a:solidFill>
                <a:schemeClr val="bg1">
                  <a:lumMod val="95000"/>
                </a:schemeClr>
              </a:solidFill>
            </a:endParaRPr>
          </a:p>
        </p:txBody>
      </p:sp>
      <p:sp>
        <p:nvSpPr>
          <p:cNvPr id="39" name="Rectangle 38">
            <a:extLst>
              <a:ext uri="{FF2B5EF4-FFF2-40B4-BE49-F238E27FC236}">
                <a16:creationId xmlns:a16="http://schemas.microsoft.com/office/drawing/2014/main" id="{05F70194-5F2F-8643-BC27-B1F72CB7D6D7}"/>
              </a:ext>
            </a:extLst>
          </p:cNvPr>
          <p:cNvSpPr/>
          <p:nvPr/>
        </p:nvSpPr>
        <p:spPr>
          <a:xfrm>
            <a:off x="5096848" y="3238034"/>
            <a:ext cx="1605459" cy="400110"/>
          </a:xfrm>
          <a:prstGeom prst="rect">
            <a:avLst/>
          </a:prstGeom>
        </p:spPr>
        <p:txBody>
          <a:bodyPr wrap="square">
            <a:spAutoFit/>
          </a:bodyPr>
          <a:lstStyle/>
          <a:p>
            <a:pPr algn="ctr"/>
            <a:r>
              <a:rPr lang="en-US" sz="2000" b="1" dirty="0">
                <a:solidFill>
                  <a:srgbClr val="002060"/>
                </a:solidFill>
                <a:latin typeface="Segoe UI" panose="020B0502040204020203" pitchFamily="34" charset="0"/>
                <a:ea typeface="Segoe UI" panose="020B0502040204020203" pitchFamily="34" charset="0"/>
                <a:cs typeface="Segoe UI" panose="020B0502040204020203" pitchFamily="34" charset="0"/>
              </a:rPr>
              <a:t>Visceral Fat</a:t>
            </a:r>
          </a:p>
        </p:txBody>
      </p:sp>
      <p:sp>
        <p:nvSpPr>
          <p:cNvPr id="41" name="Rectangle 40">
            <a:extLst>
              <a:ext uri="{FF2B5EF4-FFF2-40B4-BE49-F238E27FC236}">
                <a16:creationId xmlns:a16="http://schemas.microsoft.com/office/drawing/2014/main" id="{6927B08C-B337-AC49-9DCE-990870C6026D}"/>
              </a:ext>
            </a:extLst>
          </p:cNvPr>
          <p:cNvSpPr/>
          <p:nvPr/>
        </p:nvSpPr>
        <p:spPr>
          <a:xfrm>
            <a:off x="7162156" y="3238034"/>
            <a:ext cx="1463744" cy="400110"/>
          </a:xfrm>
          <a:prstGeom prst="rect">
            <a:avLst/>
          </a:prstGeom>
        </p:spPr>
        <p:txBody>
          <a:bodyPr wrap="square">
            <a:spAutoFit/>
          </a:bodyPr>
          <a:lstStyle/>
          <a:p>
            <a:pPr algn="ctr"/>
            <a:r>
              <a:rPr lang="en-US" sz="2000" b="1" dirty="0">
                <a:solidFill>
                  <a:schemeClr val="bg1"/>
                </a:solidFill>
                <a:latin typeface="Segoe UI" panose="020B0502040204020203" pitchFamily="34" charset="0"/>
                <a:ea typeface="Segoe UI" panose="020B0502040204020203" pitchFamily="34" charset="0"/>
                <a:cs typeface="Segoe UI" panose="020B0502040204020203" pitchFamily="34" charset="0"/>
              </a:rPr>
              <a:t>ECW Ratio</a:t>
            </a:r>
          </a:p>
        </p:txBody>
      </p:sp>
    </p:spTree>
    <p:extLst>
      <p:ext uri="{BB962C8B-B14F-4D97-AF65-F5344CB8AC3E}">
        <p14:creationId xmlns:p14="http://schemas.microsoft.com/office/powerpoint/2010/main" val="3784936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80BF871-F5CA-4023-9AF0-B36BC2E37415}"/>
              </a:ext>
            </a:extLst>
          </p:cNvPr>
          <p:cNvGrpSpPr/>
          <p:nvPr/>
        </p:nvGrpSpPr>
        <p:grpSpPr>
          <a:xfrm>
            <a:off x="3910014" y="1243014"/>
            <a:ext cx="4371975" cy="4371975"/>
            <a:chOff x="4124325" y="752475"/>
            <a:chExt cx="5524500" cy="5524500"/>
          </a:xfrm>
        </p:grpSpPr>
        <p:sp>
          <p:nvSpPr>
            <p:cNvPr id="3" name="Oval 2">
              <a:extLst>
                <a:ext uri="{FF2B5EF4-FFF2-40B4-BE49-F238E27FC236}">
                  <a16:creationId xmlns:a16="http://schemas.microsoft.com/office/drawing/2014/main" id="{B93E09B7-780B-4BE0-A3B8-984113B89774}"/>
                </a:ext>
              </a:extLst>
            </p:cNvPr>
            <p:cNvSpPr/>
            <p:nvPr/>
          </p:nvSpPr>
          <p:spPr>
            <a:xfrm>
              <a:off x="4124325" y="752475"/>
              <a:ext cx="5524500" cy="5524500"/>
            </a:xfrm>
            <a:prstGeom prst="ellipse">
              <a:avLst/>
            </a:prstGeom>
            <a:pattFill prst="dotGrid">
              <a:fgClr>
                <a:schemeClr val="bg2">
                  <a:lumMod val="2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Oval 1">
              <a:extLst>
                <a:ext uri="{FF2B5EF4-FFF2-40B4-BE49-F238E27FC236}">
                  <a16:creationId xmlns:a16="http://schemas.microsoft.com/office/drawing/2014/main" id="{8C197961-26A7-496A-8635-40C7A0587D36}"/>
                </a:ext>
              </a:extLst>
            </p:cNvPr>
            <p:cNvSpPr/>
            <p:nvPr/>
          </p:nvSpPr>
          <p:spPr>
            <a:xfrm>
              <a:off x="4124325" y="752475"/>
              <a:ext cx="5524500" cy="5524500"/>
            </a:xfrm>
            <a:prstGeom prst="ellipse">
              <a:avLst/>
            </a:prstGeom>
            <a:solidFill>
              <a:schemeClr val="bg2">
                <a:lumMod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cxnSp>
        <p:nvCxnSpPr>
          <p:cNvPr id="6" name="Straight Connector 5">
            <a:extLst>
              <a:ext uri="{FF2B5EF4-FFF2-40B4-BE49-F238E27FC236}">
                <a16:creationId xmlns:a16="http://schemas.microsoft.com/office/drawing/2014/main" id="{C9B0CBD8-6C79-49F0-BC96-F62C87195F9D}"/>
              </a:ext>
            </a:extLst>
          </p:cNvPr>
          <p:cNvCxnSpPr/>
          <p:nvPr/>
        </p:nvCxnSpPr>
        <p:spPr>
          <a:xfrm>
            <a:off x="2324100" y="3429000"/>
            <a:ext cx="1314450" cy="0"/>
          </a:xfrm>
          <a:prstGeom prst="line">
            <a:avLst/>
          </a:prstGeom>
          <a:ln/>
        </p:spPr>
        <p:style>
          <a:lnRef idx="2">
            <a:schemeClr val="accent3"/>
          </a:lnRef>
          <a:fillRef idx="0">
            <a:schemeClr val="accent3"/>
          </a:fillRef>
          <a:effectRef idx="1">
            <a:schemeClr val="accent3"/>
          </a:effectRef>
          <a:fontRef idx="minor">
            <a:schemeClr val="tx1"/>
          </a:fontRef>
        </p:style>
      </p:cxnSp>
      <p:cxnSp>
        <p:nvCxnSpPr>
          <p:cNvPr id="7" name="Straight Connector 6">
            <a:extLst>
              <a:ext uri="{FF2B5EF4-FFF2-40B4-BE49-F238E27FC236}">
                <a16:creationId xmlns:a16="http://schemas.microsoft.com/office/drawing/2014/main" id="{6079A742-DD78-4414-88DE-69F5EBB0DE8C}"/>
              </a:ext>
            </a:extLst>
          </p:cNvPr>
          <p:cNvCxnSpPr/>
          <p:nvPr/>
        </p:nvCxnSpPr>
        <p:spPr>
          <a:xfrm>
            <a:off x="8510588" y="3429000"/>
            <a:ext cx="1314450" cy="0"/>
          </a:xfrm>
          <a:prstGeom prst="line">
            <a:avLst/>
          </a:prstGeom>
          <a:ln/>
        </p:spPr>
        <p:style>
          <a:lnRef idx="2">
            <a:schemeClr val="accent3"/>
          </a:lnRef>
          <a:fillRef idx="0">
            <a:schemeClr val="accent3"/>
          </a:fillRef>
          <a:effectRef idx="1">
            <a:schemeClr val="accent3"/>
          </a:effectRef>
          <a:fontRef idx="minor">
            <a:schemeClr val="tx1"/>
          </a:fontRef>
        </p:style>
      </p:cxnSp>
      <p:sp>
        <p:nvSpPr>
          <p:cNvPr id="8" name="TextBox 7">
            <a:extLst>
              <a:ext uri="{FF2B5EF4-FFF2-40B4-BE49-F238E27FC236}">
                <a16:creationId xmlns:a16="http://schemas.microsoft.com/office/drawing/2014/main" id="{35675C7E-62E0-44C6-9365-0680DBCBCF33}"/>
              </a:ext>
            </a:extLst>
          </p:cNvPr>
          <p:cNvSpPr txBox="1"/>
          <p:nvPr/>
        </p:nvSpPr>
        <p:spPr>
          <a:xfrm>
            <a:off x="4051387" y="2771128"/>
            <a:ext cx="4159364" cy="1338828"/>
          </a:xfrm>
          <a:prstGeom prst="rect">
            <a:avLst/>
          </a:prstGeom>
          <a:noFill/>
        </p:spPr>
        <p:txBody>
          <a:bodyPr wrap="square" rtlCol="0">
            <a:spAutoFit/>
          </a:bodyPr>
          <a:lstStyle/>
          <a:p>
            <a:pPr algn="ctr"/>
            <a:r>
              <a:rPr lang="en-US" altLang="ko-KR" sz="4050" dirty="0">
                <a:solidFill>
                  <a:schemeClr val="bg1"/>
                </a:solidFill>
                <a:latin typeface="Segoe UI Semibold" panose="020B0702040204020203" pitchFamily="34" charset="0"/>
              </a:rPr>
              <a:t>Muscle Mass and Diabetes</a:t>
            </a:r>
            <a:endParaRPr lang="en-US" sz="4050" dirty="0">
              <a:solidFill>
                <a:schemeClr val="bg1"/>
              </a:solidFill>
              <a:latin typeface="Segoe UI Semibold" panose="020B0702040204020203" pitchFamily="34" charset="0"/>
            </a:endParaRPr>
          </a:p>
        </p:txBody>
      </p:sp>
      <p:cxnSp>
        <p:nvCxnSpPr>
          <p:cNvPr id="10" name="Straight Connector 9">
            <a:extLst>
              <a:ext uri="{FF2B5EF4-FFF2-40B4-BE49-F238E27FC236}">
                <a16:creationId xmlns:a16="http://schemas.microsoft.com/office/drawing/2014/main" id="{206C1D4D-4093-4EA0-8FC1-9C1674CB5890}"/>
              </a:ext>
            </a:extLst>
          </p:cNvPr>
          <p:cNvCxnSpPr>
            <a:stCxn id="2" idx="0"/>
          </p:cNvCxnSpPr>
          <p:nvPr/>
        </p:nvCxnSpPr>
        <p:spPr>
          <a:xfrm>
            <a:off x="6096000" y="1243012"/>
            <a:ext cx="0" cy="814388"/>
          </a:xfrm>
          <a:prstGeom prst="line">
            <a:avLst/>
          </a:prstGeom>
          <a:ln/>
        </p:spPr>
        <p:style>
          <a:lnRef idx="2">
            <a:schemeClr val="accent3"/>
          </a:lnRef>
          <a:fillRef idx="0">
            <a:schemeClr val="accent3"/>
          </a:fillRef>
          <a:effectRef idx="1">
            <a:schemeClr val="accent3"/>
          </a:effectRef>
          <a:fontRef idx="minor">
            <a:schemeClr val="tx1"/>
          </a:fontRef>
        </p:style>
      </p:cxnSp>
      <p:sp>
        <p:nvSpPr>
          <p:cNvPr id="11" name="Oval 10">
            <a:extLst>
              <a:ext uri="{FF2B5EF4-FFF2-40B4-BE49-F238E27FC236}">
                <a16:creationId xmlns:a16="http://schemas.microsoft.com/office/drawing/2014/main" id="{AFFCD2CA-E7B9-4084-A238-9F2DE856CA8B}"/>
              </a:ext>
            </a:extLst>
          </p:cNvPr>
          <p:cNvSpPr/>
          <p:nvPr/>
        </p:nvSpPr>
        <p:spPr>
          <a:xfrm>
            <a:off x="5910264" y="2055020"/>
            <a:ext cx="371475" cy="371475"/>
          </a:xfrm>
          <a:prstGeom prst="ellipse">
            <a:avLst/>
          </a:prstGeom>
          <a:noFill/>
          <a:ln w="63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7" name="Group 16">
            <a:extLst>
              <a:ext uri="{FF2B5EF4-FFF2-40B4-BE49-F238E27FC236}">
                <a16:creationId xmlns:a16="http://schemas.microsoft.com/office/drawing/2014/main" id="{D6317CB4-94F0-4E81-BA3A-868E89759996}"/>
              </a:ext>
            </a:extLst>
          </p:cNvPr>
          <p:cNvGrpSpPr/>
          <p:nvPr/>
        </p:nvGrpSpPr>
        <p:grpSpPr>
          <a:xfrm>
            <a:off x="6025863" y="2202658"/>
            <a:ext cx="140277" cy="78581"/>
            <a:chOff x="6473825" y="955675"/>
            <a:chExt cx="342900" cy="139700"/>
          </a:xfrm>
        </p:grpSpPr>
        <p:cxnSp>
          <p:nvCxnSpPr>
            <p:cNvPr id="13" name="Straight Connector 12">
              <a:extLst>
                <a:ext uri="{FF2B5EF4-FFF2-40B4-BE49-F238E27FC236}">
                  <a16:creationId xmlns:a16="http://schemas.microsoft.com/office/drawing/2014/main" id="{ABAFFA72-BAE2-4848-9AC2-E579D72FA23C}"/>
                </a:ext>
              </a:extLst>
            </p:cNvPr>
            <p:cNvCxnSpPr/>
            <p:nvPr/>
          </p:nvCxnSpPr>
          <p:spPr>
            <a:xfrm>
              <a:off x="6473825" y="955675"/>
              <a:ext cx="171450" cy="139700"/>
            </a:xfrm>
            <a:prstGeom prst="line">
              <a:avLst/>
            </a:prstGeom>
            <a:ln/>
          </p:spPr>
          <p:style>
            <a:lnRef idx="2">
              <a:schemeClr val="accent3"/>
            </a:lnRef>
            <a:fillRef idx="0">
              <a:schemeClr val="accent3"/>
            </a:fillRef>
            <a:effectRef idx="1">
              <a:schemeClr val="accent3"/>
            </a:effectRef>
            <a:fontRef idx="minor">
              <a:schemeClr val="tx1"/>
            </a:fontRef>
          </p:style>
        </p:cxnSp>
        <p:cxnSp>
          <p:nvCxnSpPr>
            <p:cNvPr id="16" name="Straight Connector 15">
              <a:extLst>
                <a:ext uri="{FF2B5EF4-FFF2-40B4-BE49-F238E27FC236}">
                  <a16:creationId xmlns:a16="http://schemas.microsoft.com/office/drawing/2014/main" id="{C254F28B-3B7F-4C3D-A3AE-F975A1D9B48B}"/>
                </a:ext>
              </a:extLst>
            </p:cNvPr>
            <p:cNvCxnSpPr>
              <a:cxnSpLocks/>
            </p:cNvCxnSpPr>
            <p:nvPr/>
          </p:nvCxnSpPr>
          <p:spPr>
            <a:xfrm flipV="1">
              <a:off x="6645275" y="955675"/>
              <a:ext cx="171450" cy="139700"/>
            </a:xfrm>
            <a:prstGeom prst="line">
              <a:avLst/>
            </a:prstGeom>
            <a:ln/>
          </p:spPr>
          <p:style>
            <a:lnRef idx="2">
              <a:schemeClr val="accent3"/>
            </a:lnRef>
            <a:fillRef idx="0">
              <a:schemeClr val="accent3"/>
            </a:fillRef>
            <a:effectRef idx="1">
              <a:schemeClr val="accent3"/>
            </a:effectRef>
            <a:fontRef idx="minor">
              <a:schemeClr val="tx1"/>
            </a:fontRef>
          </p:style>
        </p:cxnSp>
      </p:grpSp>
    </p:spTree>
    <p:extLst>
      <p:ext uri="{BB962C8B-B14F-4D97-AF65-F5344CB8AC3E}">
        <p14:creationId xmlns:p14="http://schemas.microsoft.com/office/powerpoint/2010/main" val="2410184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98668" y="405652"/>
            <a:ext cx="5945403" cy="333425"/>
          </a:xfrm>
          <a:prstGeom prst="rect">
            <a:avLst/>
          </a:prstGeom>
        </p:spPr>
        <p:txBody>
          <a:bodyPr vert="horz" wrap="square" lIns="0" tIns="0" rIns="0" bIns="0" rtlCol="0">
            <a:spAutoFit/>
          </a:bodyPr>
          <a:lstStyle/>
          <a:p>
            <a:pPr marL="0" marR="0">
              <a:lnSpc>
                <a:spcPts val="2579"/>
              </a:lnSpc>
              <a:spcBef>
                <a:spcPts val="0"/>
              </a:spcBef>
              <a:spcAft>
                <a:spcPts val="0"/>
              </a:spcAft>
            </a:pPr>
            <a:r>
              <a:rPr sz="3600" b="1" dirty="0">
                <a:solidFill>
                  <a:srgbClr val="404040"/>
                </a:solidFill>
                <a:latin typeface="Cambria" panose="02040503050406030204" pitchFamily="18" charset="0"/>
                <a:ea typeface="Cambria" panose="02040503050406030204" pitchFamily="18" charset="0"/>
                <a:cs typeface="CQGIPG+Cambria"/>
              </a:rPr>
              <a:t>About</a:t>
            </a:r>
            <a:r>
              <a:rPr lang="en-IN" sz="3600" b="1" dirty="0">
                <a:solidFill>
                  <a:srgbClr val="404040"/>
                </a:solidFill>
                <a:latin typeface="Cambria" panose="02040503050406030204" pitchFamily="18" charset="0"/>
                <a:ea typeface="Cambria" panose="02040503050406030204" pitchFamily="18" charset="0"/>
                <a:cs typeface="CQGIPG+Cambria"/>
              </a:rPr>
              <a:t> </a:t>
            </a:r>
            <a:r>
              <a:rPr sz="3600" b="1" dirty="0">
                <a:solidFill>
                  <a:srgbClr val="404040"/>
                </a:solidFill>
                <a:latin typeface="Cambria" panose="02040503050406030204" pitchFamily="18" charset="0"/>
                <a:ea typeface="Cambria" panose="02040503050406030204" pitchFamily="18" charset="0"/>
                <a:cs typeface="CQGIPG+Cambria"/>
              </a:rPr>
              <a:t>Diabetes-Muscle</a:t>
            </a:r>
          </a:p>
        </p:txBody>
      </p:sp>
      <p:sp>
        <p:nvSpPr>
          <p:cNvPr id="4" name="object 4"/>
          <p:cNvSpPr txBox="1"/>
          <p:nvPr/>
        </p:nvSpPr>
        <p:spPr>
          <a:xfrm>
            <a:off x="6980266" y="3412039"/>
            <a:ext cx="1382707" cy="157212"/>
          </a:xfrm>
          <a:prstGeom prst="rect">
            <a:avLst/>
          </a:prstGeom>
        </p:spPr>
        <p:txBody>
          <a:bodyPr vert="horz" wrap="square" lIns="0" tIns="0" rIns="0" bIns="0" rtlCol="0">
            <a:spAutoFit/>
          </a:bodyPr>
          <a:lstStyle/>
          <a:p>
            <a:pPr marL="0" marR="0">
              <a:lnSpc>
                <a:spcPts val="937"/>
              </a:lnSpc>
              <a:spcBef>
                <a:spcPts val="0"/>
              </a:spcBef>
              <a:spcAft>
                <a:spcPts val="0"/>
              </a:spcAft>
            </a:pPr>
            <a:r>
              <a:rPr sz="800" i="1" dirty="0">
                <a:solidFill>
                  <a:srgbClr val="000000"/>
                </a:solidFill>
                <a:latin typeface="Cambria"/>
                <a:cs typeface="Cambria"/>
              </a:rPr>
              <a:t>J Clin Entocrinol Metab, 2011</a:t>
            </a:r>
          </a:p>
        </p:txBody>
      </p:sp>
      <p:sp>
        <p:nvSpPr>
          <p:cNvPr id="5" name="object 5"/>
          <p:cNvSpPr txBox="1"/>
          <p:nvPr/>
        </p:nvSpPr>
        <p:spPr>
          <a:xfrm>
            <a:off x="4916596" y="3520330"/>
            <a:ext cx="1491233" cy="491790"/>
          </a:xfrm>
          <a:prstGeom prst="rect">
            <a:avLst/>
          </a:prstGeom>
        </p:spPr>
        <p:txBody>
          <a:bodyPr vert="horz" wrap="square" lIns="0" tIns="0" rIns="0" bIns="0" rtlCol="0">
            <a:spAutoFit/>
          </a:bodyPr>
          <a:lstStyle/>
          <a:p>
            <a:pPr marL="0" marR="0">
              <a:lnSpc>
                <a:spcPts val="1172"/>
              </a:lnSpc>
              <a:spcBef>
                <a:spcPts val="0"/>
              </a:spcBef>
              <a:spcAft>
                <a:spcPts val="0"/>
              </a:spcAft>
            </a:pPr>
            <a:r>
              <a:rPr sz="1000" dirty="0">
                <a:solidFill>
                  <a:srgbClr val="000000"/>
                </a:solidFill>
                <a:latin typeface="CQGIPG+Cambria"/>
                <a:cs typeface="CQGIPG+Cambria"/>
              </a:rPr>
              <a:t>Everyꢀ10%ꢀincreaseꢀinꢀ</a:t>
            </a:r>
          </a:p>
          <a:p>
            <a:pPr marL="0" marR="0">
              <a:lnSpc>
                <a:spcPts val="1172"/>
              </a:lnSpc>
              <a:spcBef>
                <a:spcPts val="27"/>
              </a:spcBef>
              <a:spcAft>
                <a:spcPts val="0"/>
              </a:spcAft>
            </a:pPr>
            <a:r>
              <a:rPr sz="1000" dirty="0">
                <a:solidFill>
                  <a:srgbClr val="000000"/>
                </a:solidFill>
                <a:latin typeface="CQGIPG+Cambria"/>
                <a:cs typeface="CQGIPG+Cambria"/>
              </a:rPr>
              <a:t>muscleꢀmassꢀresultsꢀinꢀaꢀ</a:t>
            </a:r>
          </a:p>
          <a:p>
            <a:pPr marL="0" marR="0">
              <a:lnSpc>
                <a:spcPts val="1172"/>
              </a:lnSpc>
              <a:spcBef>
                <a:spcPts val="27"/>
              </a:spcBef>
              <a:spcAft>
                <a:spcPts val="0"/>
              </a:spcAft>
            </a:pPr>
            <a:r>
              <a:rPr sz="1000" dirty="0">
                <a:solidFill>
                  <a:srgbClr val="000000"/>
                </a:solidFill>
                <a:latin typeface="CQGIPG+Cambria"/>
                <a:cs typeface="CQGIPG+Cambria"/>
              </a:rPr>
              <a:t>decreaseꢀinꢀinsulinꢀ</a:t>
            </a:r>
          </a:p>
        </p:txBody>
      </p:sp>
      <p:sp>
        <p:nvSpPr>
          <p:cNvPr id="6" name="object 6"/>
          <p:cNvSpPr txBox="1"/>
          <p:nvPr/>
        </p:nvSpPr>
        <p:spPr>
          <a:xfrm>
            <a:off x="4916596" y="3977530"/>
            <a:ext cx="1202196" cy="186990"/>
          </a:xfrm>
          <a:prstGeom prst="rect">
            <a:avLst/>
          </a:prstGeom>
        </p:spPr>
        <p:txBody>
          <a:bodyPr vert="horz" wrap="square" lIns="0" tIns="0" rIns="0" bIns="0" rtlCol="0">
            <a:spAutoFit/>
          </a:bodyPr>
          <a:lstStyle/>
          <a:p>
            <a:pPr marL="0" marR="0">
              <a:lnSpc>
                <a:spcPts val="1172"/>
              </a:lnSpc>
              <a:spcBef>
                <a:spcPts val="0"/>
              </a:spcBef>
              <a:spcAft>
                <a:spcPts val="0"/>
              </a:spcAft>
            </a:pPr>
            <a:r>
              <a:rPr sz="1000" dirty="0">
                <a:solidFill>
                  <a:srgbClr val="000000"/>
                </a:solidFill>
                <a:latin typeface="CQGIPG+Cambria"/>
                <a:cs typeface="CQGIPG+Cambria"/>
              </a:rPr>
              <a:t>resistanceꢀbyꢀ11%.ꢀ</a:t>
            </a:r>
          </a:p>
        </p:txBody>
      </p:sp>
      <p:sp>
        <p:nvSpPr>
          <p:cNvPr id="7" name="object 7"/>
          <p:cNvSpPr txBox="1"/>
          <p:nvPr/>
        </p:nvSpPr>
        <p:spPr>
          <a:xfrm>
            <a:off x="5309400" y="4738191"/>
            <a:ext cx="837371" cy="436017"/>
          </a:xfrm>
          <a:prstGeom prst="rect">
            <a:avLst/>
          </a:prstGeom>
        </p:spPr>
        <p:txBody>
          <a:bodyPr vert="horz" wrap="square" lIns="0" tIns="0" rIns="0" bIns="0" rtlCol="0">
            <a:spAutoFit/>
          </a:bodyPr>
          <a:lstStyle/>
          <a:p>
            <a:pPr marL="0" marR="0" algn="ctr">
              <a:lnSpc>
                <a:spcPts val="1781"/>
              </a:lnSpc>
              <a:spcBef>
                <a:spcPts val="0"/>
              </a:spcBef>
              <a:spcAft>
                <a:spcPts val="0"/>
              </a:spcAft>
            </a:pPr>
            <a:r>
              <a:rPr sz="1500" dirty="0">
                <a:solidFill>
                  <a:srgbClr val="FFFFFF"/>
                </a:solidFill>
                <a:cs typeface="CQGIPG+Cambria"/>
              </a:rPr>
              <a:t>Healthy</a:t>
            </a:r>
          </a:p>
          <a:p>
            <a:pPr marL="38596" marR="0" algn="ctr">
              <a:lnSpc>
                <a:spcPts val="1641"/>
              </a:lnSpc>
              <a:spcBef>
                <a:spcPts val="0"/>
              </a:spcBef>
              <a:spcAft>
                <a:spcPts val="0"/>
              </a:spcAft>
            </a:pPr>
            <a:r>
              <a:rPr sz="1500" dirty="0">
                <a:solidFill>
                  <a:srgbClr val="FFFFFF"/>
                </a:solidFill>
                <a:cs typeface="CQGIPG+Cambria"/>
              </a:rPr>
              <a:t>people</a:t>
            </a:r>
          </a:p>
        </p:txBody>
      </p:sp>
      <p:sp>
        <p:nvSpPr>
          <p:cNvPr id="8" name="object 8"/>
          <p:cNvSpPr txBox="1"/>
          <p:nvPr/>
        </p:nvSpPr>
        <p:spPr>
          <a:xfrm>
            <a:off x="6744071" y="4738191"/>
            <a:ext cx="1062703" cy="461665"/>
          </a:xfrm>
          <a:prstGeom prst="rect">
            <a:avLst/>
          </a:prstGeom>
        </p:spPr>
        <p:txBody>
          <a:bodyPr vert="horz" wrap="square" lIns="0" tIns="0" rIns="0" bIns="0" rtlCol="0">
            <a:spAutoFit/>
          </a:bodyPr>
          <a:lstStyle/>
          <a:p>
            <a:pPr marL="111596" marR="0" algn="ctr">
              <a:lnSpc>
                <a:spcPts val="1781"/>
              </a:lnSpc>
              <a:spcBef>
                <a:spcPts val="0"/>
              </a:spcBef>
              <a:spcAft>
                <a:spcPts val="0"/>
              </a:spcAft>
            </a:pPr>
            <a:r>
              <a:rPr sz="1500" spc="10" dirty="0">
                <a:solidFill>
                  <a:srgbClr val="FFFFFF"/>
                </a:solidFill>
                <a:cs typeface="CQGIPG+Cambria"/>
              </a:rPr>
              <a:t>Low</a:t>
            </a:r>
            <a:endParaRPr lang="en-IN" sz="1500" spc="10" dirty="0">
              <a:solidFill>
                <a:srgbClr val="FFFFFF"/>
              </a:solidFill>
              <a:cs typeface="CQGIPG+Cambria"/>
            </a:endParaRPr>
          </a:p>
          <a:p>
            <a:pPr marL="111596" marR="0" algn="ctr">
              <a:lnSpc>
                <a:spcPts val="1781"/>
              </a:lnSpc>
              <a:spcBef>
                <a:spcPts val="0"/>
              </a:spcBef>
              <a:spcAft>
                <a:spcPts val="0"/>
              </a:spcAft>
            </a:pPr>
            <a:r>
              <a:rPr sz="1500" dirty="0">
                <a:solidFill>
                  <a:srgbClr val="FFFFFF"/>
                </a:solidFill>
                <a:cs typeface="CQGIPG+Cambria"/>
              </a:rPr>
              <a:t>Muscle</a:t>
            </a:r>
          </a:p>
        </p:txBody>
      </p:sp>
      <p:sp>
        <p:nvSpPr>
          <p:cNvPr id="9" name="object 9"/>
          <p:cNvSpPr txBox="1"/>
          <p:nvPr/>
        </p:nvSpPr>
        <p:spPr>
          <a:xfrm>
            <a:off x="8397130" y="4752858"/>
            <a:ext cx="1059119" cy="410369"/>
          </a:xfrm>
          <a:prstGeom prst="rect">
            <a:avLst/>
          </a:prstGeom>
        </p:spPr>
        <p:txBody>
          <a:bodyPr vert="horz" wrap="square" lIns="0" tIns="0" rIns="0" bIns="0" rtlCol="0">
            <a:spAutoFit/>
          </a:bodyPr>
          <a:lstStyle/>
          <a:p>
            <a:pPr marL="182521" marR="0">
              <a:lnSpc>
                <a:spcPts val="1664"/>
              </a:lnSpc>
              <a:spcBef>
                <a:spcPts val="0"/>
              </a:spcBef>
              <a:spcAft>
                <a:spcPts val="0"/>
              </a:spcAft>
            </a:pPr>
            <a:r>
              <a:rPr sz="1400" dirty="0">
                <a:solidFill>
                  <a:srgbClr val="FFFFFF"/>
                </a:solidFill>
                <a:cs typeface="CQGIPG+Cambria"/>
              </a:rPr>
              <a:t>Insulin</a:t>
            </a:r>
          </a:p>
          <a:p>
            <a:pPr marL="0" marR="0">
              <a:lnSpc>
                <a:spcPts val="1533"/>
              </a:lnSpc>
              <a:spcBef>
                <a:spcPts val="0"/>
              </a:spcBef>
              <a:spcAft>
                <a:spcPts val="0"/>
              </a:spcAft>
            </a:pPr>
            <a:r>
              <a:rPr sz="1400" dirty="0">
                <a:solidFill>
                  <a:srgbClr val="FFFFFF"/>
                </a:solidFill>
                <a:cs typeface="CQGIPG+Cambria"/>
              </a:rPr>
              <a:t>Resistance↑</a:t>
            </a:r>
          </a:p>
        </p:txBody>
      </p:sp>
      <p:sp>
        <p:nvSpPr>
          <p:cNvPr id="10" name="object 10"/>
          <p:cNvSpPr txBox="1"/>
          <p:nvPr/>
        </p:nvSpPr>
        <p:spPr>
          <a:xfrm>
            <a:off x="10046605" y="4848527"/>
            <a:ext cx="870267" cy="230832"/>
          </a:xfrm>
          <a:prstGeom prst="rect">
            <a:avLst/>
          </a:prstGeom>
        </p:spPr>
        <p:txBody>
          <a:bodyPr vert="horz" wrap="square" lIns="0" tIns="0" rIns="0" bIns="0" rtlCol="0">
            <a:spAutoFit/>
          </a:bodyPr>
          <a:lstStyle/>
          <a:p>
            <a:pPr marL="0" marR="0">
              <a:lnSpc>
                <a:spcPts val="1781"/>
              </a:lnSpc>
              <a:spcBef>
                <a:spcPts val="0"/>
              </a:spcBef>
              <a:spcAft>
                <a:spcPts val="0"/>
              </a:spcAft>
            </a:pPr>
            <a:r>
              <a:rPr sz="1500" dirty="0">
                <a:solidFill>
                  <a:srgbClr val="FFFFFF"/>
                </a:solidFill>
                <a:cs typeface="CQGIPG+Cambria"/>
              </a:rPr>
              <a:t>Diabetes</a:t>
            </a:r>
          </a:p>
        </p:txBody>
      </p:sp>
      <p:sp>
        <p:nvSpPr>
          <p:cNvPr id="11" name="object 11"/>
          <p:cNvSpPr txBox="1"/>
          <p:nvPr/>
        </p:nvSpPr>
        <p:spPr>
          <a:xfrm>
            <a:off x="5441734" y="5602287"/>
            <a:ext cx="837371" cy="436017"/>
          </a:xfrm>
          <a:prstGeom prst="rect">
            <a:avLst/>
          </a:prstGeom>
        </p:spPr>
        <p:txBody>
          <a:bodyPr vert="horz" wrap="square" lIns="0" tIns="0" rIns="0" bIns="0" rtlCol="0">
            <a:spAutoFit/>
          </a:bodyPr>
          <a:lstStyle/>
          <a:p>
            <a:pPr marL="0" marR="0">
              <a:lnSpc>
                <a:spcPts val="1781"/>
              </a:lnSpc>
              <a:spcBef>
                <a:spcPts val="0"/>
              </a:spcBef>
              <a:spcAft>
                <a:spcPts val="0"/>
              </a:spcAft>
            </a:pPr>
            <a:r>
              <a:rPr sz="1500" dirty="0">
                <a:solidFill>
                  <a:srgbClr val="FFFFFF"/>
                </a:solidFill>
                <a:cs typeface="CQGIPG+Cambria"/>
              </a:rPr>
              <a:t>Healthy</a:t>
            </a:r>
          </a:p>
          <a:p>
            <a:pPr marL="38596" marR="0">
              <a:lnSpc>
                <a:spcPts val="1641"/>
              </a:lnSpc>
              <a:spcBef>
                <a:spcPts val="0"/>
              </a:spcBef>
              <a:spcAft>
                <a:spcPts val="0"/>
              </a:spcAft>
            </a:pPr>
            <a:r>
              <a:rPr sz="1500" dirty="0">
                <a:solidFill>
                  <a:srgbClr val="FFFFFF"/>
                </a:solidFill>
                <a:cs typeface="CQGIPG+Cambria"/>
              </a:rPr>
              <a:t>people</a:t>
            </a:r>
          </a:p>
        </p:txBody>
      </p:sp>
      <p:sp>
        <p:nvSpPr>
          <p:cNvPr id="12" name="object 12"/>
          <p:cNvSpPr txBox="1"/>
          <p:nvPr/>
        </p:nvSpPr>
        <p:spPr>
          <a:xfrm>
            <a:off x="7026605" y="5602287"/>
            <a:ext cx="731048" cy="436017"/>
          </a:xfrm>
          <a:prstGeom prst="rect">
            <a:avLst/>
          </a:prstGeom>
        </p:spPr>
        <p:txBody>
          <a:bodyPr vert="horz" wrap="square" lIns="0" tIns="0" rIns="0" bIns="0" rtlCol="0">
            <a:spAutoFit/>
          </a:bodyPr>
          <a:lstStyle/>
          <a:p>
            <a:pPr marL="95909" marR="0">
              <a:lnSpc>
                <a:spcPts val="1781"/>
              </a:lnSpc>
              <a:spcBef>
                <a:spcPts val="0"/>
              </a:spcBef>
              <a:spcAft>
                <a:spcPts val="0"/>
              </a:spcAft>
            </a:pPr>
            <a:r>
              <a:rPr sz="1500" dirty="0">
                <a:solidFill>
                  <a:srgbClr val="FFFFFF"/>
                </a:solidFill>
                <a:cs typeface="CQGIPG+Cambria"/>
              </a:rPr>
              <a:t>High</a:t>
            </a:r>
          </a:p>
          <a:p>
            <a:pPr marL="0" marR="0">
              <a:lnSpc>
                <a:spcPts val="1641"/>
              </a:lnSpc>
              <a:spcBef>
                <a:spcPts val="0"/>
              </a:spcBef>
              <a:spcAft>
                <a:spcPts val="0"/>
              </a:spcAft>
            </a:pPr>
            <a:r>
              <a:rPr sz="1500" dirty="0">
                <a:solidFill>
                  <a:srgbClr val="FFFFFF"/>
                </a:solidFill>
                <a:cs typeface="CQGIPG+Cambria"/>
              </a:rPr>
              <a:t>Muscle</a:t>
            </a:r>
          </a:p>
        </p:txBody>
      </p:sp>
      <p:sp>
        <p:nvSpPr>
          <p:cNvPr id="13" name="object 13"/>
          <p:cNvSpPr txBox="1"/>
          <p:nvPr/>
        </p:nvSpPr>
        <p:spPr>
          <a:xfrm>
            <a:off x="8420520" y="5616954"/>
            <a:ext cx="1059119" cy="410369"/>
          </a:xfrm>
          <a:prstGeom prst="rect">
            <a:avLst/>
          </a:prstGeom>
        </p:spPr>
        <p:txBody>
          <a:bodyPr vert="horz" wrap="square" lIns="0" tIns="0" rIns="0" bIns="0" rtlCol="0">
            <a:spAutoFit/>
          </a:bodyPr>
          <a:lstStyle/>
          <a:p>
            <a:pPr marL="182521" marR="0">
              <a:lnSpc>
                <a:spcPts val="1664"/>
              </a:lnSpc>
              <a:spcBef>
                <a:spcPts val="0"/>
              </a:spcBef>
              <a:spcAft>
                <a:spcPts val="0"/>
              </a:spcAft>
            </a:pPr>
            <a:r>
              <a:rPr sz="1400" dirty="0">
                <a:solidFill>
                  <a:srgbClr val="FFFFFF"/>
                </a:solidFill>
                <a:cs typeface="CQGIPG+Cambria"/>
              </a:rPr>
              <a:t>Insulin</a:t>
            </a:r>
          </a:p>
          <a:p>
            <a:pPr marL="0" marR="0">
              <a:lnSpc>
                <a:spcPts val="1533"/>
              </a:lnSpc>
              <a:spcBef>
                <a:spcPts val="0"/>
              </a:spcBef>
              <a:spcAft>
                <a:spcPts val="0"/>
              </a:spcAft>
            </a:pPr>
            <a:r>
              <a:rPr sz="1400" dirty="0">
                <a:solidFill>
                  <a:srgbClr val="FFFFFF"/>
                </a:solidFill>
                <a:cs typeface="CQGIPG+Cambria"/>
              </a:rPr>
              <a:t>Resistance↓</a:t>
            </a:r>
          </a:p>
        </p:txBody>
      </p:sp>
      <p:sp>
        <p:nvSpPr>
          <p:cNvPr id="14" name="object 14"/>
          <p:cNvSpPr txBox="1"/>
          <p:nvPr/>
        </p:nvSpPr>
        <p:spPr>
          <a:xfrm>
            <a:off x="10069996" y="5608381"/>
            <a:ext cx="870267" cy="436017"/>
          </a:xfrm>
          <a:prstGeom prst="rect">
            <a:avLst/>
          </a:prstGeom>
        </p:spPr>
        <p:txBody>
          <a:bodyPr vert="horz" wrap="square" lIns="0" tIns="0" rIns="0" bIns="0" rtlCol="0">
            <a:spAutoFit/>
          </a:bodyPr>
          <a:lstStyle/>
          <a:p>
            <a:pPr marL="38318" marR="0">
              <a:lnSpc>
                <a:spcPts val="1781"/>
              </a:lnSpc>
              <a:spcBef>
                <a:spcPts val="0"/>
              </a:spcBef>
              <a:spcAft>
                <a:spcPts val="0"/>
              </a:spcAft>
            </a:pPr>
            <a:r>
              <a:rPr sz="1500" dirty="0">
                <a:solidFill>
                  <a:srgbClr val="FFFFFF"/>
                </a:solidFill>
                <a:cs typeface="CQGIPG+Cambria"/>
              </a:rPr>
              <a:t>Prevent</a:t>
            </a:r>
          </a:p>
          <a:p>
            <a:pPr marL="0" marR="0">
              <a:lnSpc>
                <a:spcPts val="1641"/>
              </a:lnSpc>
              <a:spcBef>
                <a:spcPts val="0"/>
              </a:spcBef>
              <a:spcAft>
                <a:spcPts val="0"/>
              </a:spcAft>
            </a:pPr>
            <a:r>
              <a:rPr sz="1500" dirty="0">
                <a:solidFill>
                  <a:srgbClr val="FFFFFF"/>
                </a:solidFill>
                <a:cs typeface="CQGIPG+Cambria"/>
              </a:rPr>
              <a:t>Diabetes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표 11"/>
          <p:cNvGraphicFramePr>
            <a:graphicFrameLocks noGrp="1"/>
          </p:cNvGraphicFramePr>
          <p:nvPr/>
        </p:nvGraphicFramePr>
        <p:xfrm>
          <a:off x="1764635" y="818680"/>
          <a:ext cx="8590545" cy="1989671"/>
        </p:xfrm>
        <a:graphic>
          <a:graphicData uri="http://schemas.openxmlformats.org/drawingml/2006/table">
            <a:tbl>
              <a:tblPr firstRow="1" bandRow="1">
                <a:tableStyleId>{7E9639D4-E3E2-4D34-9284-5A2195B3D0D7}</a:tableStyleId>
              </a:tblPr>
              <a:tblGrid>
                <a:gridCol w="1648325">
                  <a:extLst>
                    <a:ext uri="{9D8B030D-6E8A-4147-A177-3AD203B41FA5}">
                      <a16:colId xmlns:a16="http://schemas.microsoft.com/office/drawing/2014/main" val="20000"/>
                    </a:ext>
                  </a:extLst>
                </a:gridCol>
                <a:gridCol w="3080084">
                  <a:extLst>
                    <a:ext uri="{9D8B030D-6E8A-4147-A177-3AD203B41FA5}">
                      <a16:colId xmlns:a16="http://schemas.microsoft.com/office/drawing/2014/main" val="20001"/>
                    </a:ext>
                  </a:extLst>
                </a:gridCol>
                <a:gridCol w="3862136">
                  <a:extLst>
                    <a:ext uri="{9D8B030D-6E8A-4147-A177-3AD203B41FA5}">
                      <a16:colId xmlns:a16="http://schemas.microsoft.com/office/drawing/2014/main" val="20002"/>
                    </a:ext>
                  </a:extLst>
                </a:gridCol>
              </a:tblGrid>
              <a:tr h="375920">
                <a:tc>
                  <a:txBody>
                    <a:bodyPr/>
                    <a:lstStyle/>
                    <a:p>
                      <a:pPr algn="ctr" latinLnBrk="1"/>
                      <a:endParaRPr lang="ko-KR" altLang="en-US" sz="1900" dirty="0"/>
                    </a:p>
                  </a:txBody>
                  <a:tcPr>
                    <a:solidFill>
                      <a:srgbClr val="8A1C22"/>
                    </a:solidFill>
                  </a:tcPr>
                </a:tc>
                <a:tc>
                  <a:txBody>
                    <a:bodyPr/>
                    <a:lstStyle/>
                    <a:p>
                      <a:pPr algn="ctr" latinLnBrk="1"/>
                      <a:r>
                        <a:rPr lang="en-US" altLang="ko-KR" sz="1900" dirty="0"/>
                        <a:t>Insulin Receptor</a:t>
                      </a:r>
                      <a:endParaRPr lang="ko-KR" altLang="en-US" sz="1900" dirty="0"/>
                    </a:p>
                  </a:txBody>
                  <a:tcPr>
                    <a:solidFill>
                      <a:srgbClr val="8A1C22"/>
                    </a:solidFill>
                  </a:tcPr>
                </a:tc>
                <a:tc>
                  <a:txBody>
                    <a:bodyPr/>
                    <a:lstStyle/>
                    <a:p>
                      <a:pPr algn="ctr" latinLnBrk="1"/>
                      <a:r>
                        <a:rPr lang="en-US" altLang="ko-KR" sz="1900" dirty="0"/>
                        <a:t>GLUT4 (</a:t>
                      </a:r>
                      <a:r>
                        <a:rPr lang="en-US" altLang="ko-KR" sz="1900" kern="1200" dirty="0">
                          <a:effectLst/>
                        </a:rPr>
                        <a:t>Glucose transporter type 4)</a:t>
                      </a:r>
                      <a:endParaRPr lang="ko-KR" altLang="en-US" sz="1900" b="0" dirty="0"/>
                    </a:p>
                  </a:txBody>
                  <a:tcPr>
                    <a:solidFill>
                      <a:srgbClr val="8A1C22"/>
                    </a:solidFill>
                  </a:tcPr>
                </a:tc>
                <a:extLst>
                  <a:ext uri="{0D108BD9-81ED-4DB2-BD59-A6C34878D82A}">
                    <a16:rowId xmlns:a16="http://schemas.microsoft.com/office/drawing/2014/main" val="10000"/>
                  </a:ext>
                </a:extLst>
              </a:tr>
              <a:tr h="1608671">
                <a:tc>
                  <a:txBody>
                    <a:bodyPr/>
                    <a:lstStyle/>
                    <a:p>
                      <a:pPr algn="ctr" latinLnBrk="1"/>
                      <a:r>
                        <a:rPr lang="en-US" altLang="ko-KR" sz="1900" dirty="0"/>
                        <a:t>Characteristics</a:t>
                      </a:r>
                    </a:p>
                  </a:txBody>
                  <a:tcPr anchor="ctr"/>
                </a:tc>
                <a:tc>
                  <a:txBody>
                    <a:bodyPr/>
                    <a:lstStyle/>
                    <a:p>
                      <a:pPr marL="285750" indent="-285750" algn="l">
                        <a:buFontTx/>
                        <a:buChar char="-"/>
                      </a:pPr>
                      <a:r>
                        <a:rPr lang="en-US" altLang="ko-KR" sz="1900" dirty="0"/>
                        <a:t>Located in the plasma membrane</a:t>
                      </a:r>
                    </a:p>
                    <a:p>
                      <a:pPr marL="285750" indent="-285750" algn="l">
                        <a:buFontTx/>
                        <a:buChar char="-"/>
                      </a:pPr>
                      <a:r>
                        <a:rPr lang="en-US" altLang="ko-KR" sz="1900" dirty="0"/>
                        <a:t>Adipocytes, Hepatocytes, Skeletal muscle</a:t>
                      </a:r>
                    </a:p>
                    <a:p>
                      <a:pPr marL="285750" indent="-285750" algn="l">
                        <a:buFontTx/>
                        <a:buChar char="-"/>
                      </a:pPr>
                      <a:r>
                        <a:rPr lang="en-US" altLang="ko-KR" sz="1900" dirty="0"/>
                        <a:t>Organ cells…</a:t>
                      </a:r>
                    </a:p>
                  </a:txBody>
                  <a:tcPr/>
                </a:tc>
                <a:tc>
                  <a:txBody>
                    <a:bodyPr/>
                    <a:lstStyle/>
                    <a:p>
                      <a:pPr marL="285750" indent="-285750" algn="l">
                        <a:buFontTx/>
                        <a:buChar char="-"/>
                      </a:pPr>
                      <a:r>
                        <a:rPr lang="en-US" altLang="ko-KR" sz="1900" dirty="0"/>
                        <a:t>Located in the plasma membrane</a:t>
                      </a:r>
                    </a:p>
                    <a:p>
                      <a:pPr marL="285750" indent="-285750" algn="l">
                        <a:buFontTx/>
                        <a:buChar char="-"/>
                      </a:pPr>
                      <a:r>
                        <a:rPr lang="en-US" altLang="ko-KR" sz="1900" dirty="0"/>
                        <a:t>Skeletal muscle, Cardiac muscle, Adipose Tissues</a:t>
                      </a:r>
                    </a:p>
                    <a:p>
                      <a:pPr marL="285750" indent="-285750" algn="l">
                        <a:buFontTx/>
                        <a:buChar char="-"/>
                      </a:pPr>
                      <a:r>
                        <a:rPr lang="en-US" altLang="ko-KR" sz="1900" dirty="0"/>
                        <a:t>Insulin-regulated glucose transporter</a:t>
                      </a:r>
                    </a:p>
                  </a:txBody>
                  <a:tcPr/>
                </a:tc>
                <a:extLst>
                  <a:ext uri="{0D108BD9-81ED-4DB2-BD59-A6C34878D82A}">
                    <a16:rowId xmlns:a16="http://schemas.microsoft.com/office/drawing/2014/main" val="10001"/>
                  </a:ext>
                </a:extLst>
              </a:tr>
            </a:tbl>
          </a:graphicData>
        </a:graphic>
      </p:graphicFrame>
      <p:sp>
        <p:nvSpPr>
          <p:cNvPr id="13" name="아래쪽 화살표 12"/>
          <p:cNvSpPr/>
          <p:nvPr/>
        </p:nvSpPr>
        <p:spPr>
          <a:xfrm>
            <a:off x="5884410" y="2891381"/>
            <a:ext cx="516840" cy="379668"/>
          </a:xfrm>
          <a:prstGeom prst="downArrow">
            <a:avLst/>
          </a:prstGeom>
          <a:solidFill>
            <a:srgbClr val="8A1C22"/>
          </a:solidFill>
          <a:ln>
            <a:solidFill>
              <a:srgbClr val="8A1C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4" name="그림 13"/>
          <p:cNvPicPr>
            <a:picLocks noChangeAspect="1"/>
          </p:cNvPicPr>
          <p:nvPr/>
        </p:nvPicPr>
        <p:blipFill>
          <a:blip r:embed="rId3"/>
          <a:stretch>
            <a:fillRect/>
          </a:stretch>
        </p:blipFill>
        <p:spPr>
          <a:xfrm>
            <a:off x="1680552" y="3371499"/>
            <a:ext cx="8407717" cy="2424673"/>
          </a:xfrm>
          <a:prstGeom prst="rect">
            <a:avLst/>
          </a:prstGeom>
          <a:ln>
            <a:noFill/>
          </a:ln>
          <a:effectLst>
            <a:outerShdw blurRad="190500" algn="tl" rotWithShape="0">
              <a:srgbClr val="000000">
                <a:alpha val="70000"/>
              </a:srgbClr>
            </a:outerShdw>
          </a:effectLst>
        </p:spPr>
      </p:pic>
      <p:pic>
        <p:nvPicPr>
          <p:cNvPr id="15" name="그림 14"/>
          <p:cNvPicPr>
            <a:picLocks noChangeAspect="1"/>
          </p:cNvPicPr>
          <p:nvPr/>
        </p:nvPicPr>
        <p:blipFill>
          <a:blip r:embed="rId4"/>
          <a:stretch>
            <a:fillRect/>
          </a:stretch>
        </p:blipFill>
        <p:spPr>
          <a:xfrm>
            <a:off x="3606137" y="4211821"/>
            <a:ext cx="6129995" cy="2646179"/>
          </a:xfrm>
          <a:prstGeom prst="rect">
            <a:avLst/>
          </a:prstGeom>
          <a:ln>
            <a:noFill/>
          </a:ln>
          <a:effectLst>
            <a:outerShdw blurRad="190500" algn="tl" rotWithShape="0">
              <a:srgbClr val="000000">
                <a:alpha val="70000"/>
              </a:srgbClr>
            </a:outerShdw>
          </a:effectLst>
        </p:spPr>
      </p:pic>
      <p:sp>
        <p:nvSpPr>
          <p:cNvPr id="17" name="TextBox 16"/>
          <p:cNvSpPr txBox="1"/>
          <p:nvPr/>
        </p:nvSpPr>
        <p:spPr>
          <a:xfrm>
            <a:off x="1524000" y="531332"/>
            <a:ext cx="5997146" cy="246221"/>
          </a:xfrm>
          <a:prstGeom prst="rect">
            <a:avLst/>
          </a:prstGeom>
          <a:noFill/>
        </p:spPr>
        <p:txBody>
          <a:bodyPr wrap="square" rtlCol="0">
            <a:spAutoFit/>
          </a:bodyPr>
          <a:lstStyle/>
          <a:p>
            <a:r>
              <a:rPr lang="en-US" altLang="ko-KR" sz="1000" dirty="0"/>
              <a:t>(N </a:t>
            </a:r>
            <a:r>
              <a:rPr lang="en-US" altLang="ko-KR" sz="1000" dirty="0" err="1"/>
              <a:t>Engl</a:t>
            </a:r>
            <a:r>
              <a:rPr lang="en-US" altLang="ko-KR" sz="1000" dirty="0"/>
              <a:t> J Med. 1980 Apr 17;302(16):886-92 / </a:t>
            </a:r>
            <a:r>
              <a:rPr lang="en-US" altLang="ko-KR" sz="1000" dirty="0" err="1"/>
              <a:t>Physiol</a:t>
            </a:r>
            <a:r>
              <a:rPr lang="en-US" altLang="ko-KR" sz="1000" dirty="0"/>
              <a:t> Rev. 2013 Jul;93(3):993-1017)</a:t>
            </a:r>
            <a:endParaRPr lang="ko-KR" altLang="en-US" sz="1000" dirty="0"/>
          </a:p>
        </p:txBody>
      </p:sp>
      <p:sp>
        <p:nvSpPr>
          <p:cNvPr id="16" name="TextBox 15"/>
          <p:cNvSpPr txBox="1"/>
          <p:nvPr/>
        </p:nvSpPr>
        <p:spPr>
          <a:xfrm>
            <a:off x="1580458" y="188640"/>
            <a:ext cx="2259465" cy="369332"/>
          </a:xfrm>
          <a:prstGeom prst="rect">
            <a:avLst/>
          </a:prstGeom>
          <a:noFill/>
        </p:spPr>
        <p:txBody>
          <a:bodyPr wrap="none" rtlCol="0">
            <a:spAutoFit/>
          </a:bodyPr>
          <a:lstStyle/>
          <a:p>
            <a:r>
              <a:rPr lang="en-US" altLang="ko-KR" b="1" spc="-151" dirty="0">
                <a:ea typeface="+mj-ea"/>
                <a:cs typeface="+mj-cs"/>
              </a:rPr>
              <a:t>Muscle Mass and Diabetes</a:t>
            </a:r>
          </a:p>
        </p:txBody>
      </p:sp>
    </p:spTree>
    <p:extLst>
      <p:ext uri="{BB962C8B-B14F-4D97-AF65-F5344CB8AC3E}">
        <p14:creationId xmlns:p14="http://schemas.microsoft.com/office/powerpoint/2010/main" val="3454530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nvGraphicFramePr>
        <p:xfrm>
          <a:off x="2001796" y="931771"/>
          <a:ext cx="8188413" cy="1554480"/>
        </p:xfrm>
        <a:graphic>
          <a:graphicData uri="http://schemas.openxmlformats.org/drawingml/2006/table">
            <a:tbl>
              <a:tblPr firstRow="1" bandRow="1">
                <a:tableStyleId>{5940675A-B579-460E-94D1-54222C63F5DA}</a:tableStyleId>
              </a:tblPr>
              <a:tblGrid>
                <a:gridCol w="1101623">
                  <a:extLst>
                    <a:ext uri="{9D8B030D-6E8A-4147-A177-3AD203B41FA5}">
                      <a16:colId xmlns:a16="http://schemas.microsoft.com/office/drawing/2014/main" val="20000"/>
                    </a:ext>
                  </a:extLst>
                </a:gridCol>
                <a:gridCol w="1155545">
                  <a:extLst>
                    <a:ext uri="{9D8B030D-6E8A-4147-A177-3AD203B41FA5}">
                      <a16:colId xmlns:a16="http://schemas.microsoft.com/office/drawing/2014/main" val="20001"/>
                    </a:ext>
                  </a:extLst>
                </a:gridCol>
                <a:gridCol w="1622855">
                  <a:extLst>
                    <a:ext uri="{9D8B030D-6E8A-4147-A177-3AD203B41FA5}">
                      <a16:colId xmlns:a16="http://schemas.microsoft.com/office/drawing/2014/main" val="20002"/>
                    </a:ext>
                  </a:extLst>
                </a:gridCol>
                <a:gridCol w="2075935">
                  <a:extLst>
                    <a:ext uri="{9D8B030D-6E8A-4147-A177-3AD203B41FA5}">
                      <a16:colId xmlns:a16="http://schemas.microsoft.com/office/drawing/2014/main" val="20003"/>
                    </a:ext>
                  </a:extLst>
                </a:gridCol>
                <a:gridCol w="2232455">
                  <a:extLst>
                    <a:ext uri="{9D8B030D-6E8A-4147-A177-3AD203B41FA5}">
                      <a16:colId xmlns:a16="http://schemas.microsoft.com/office/drawing/2014/main" val="20004"/>
                    </a:ext>
                  </a:extLst>
                </a:gridCol>
              </a:tblGrid>
              <a:tr h="457200">
                <a:tc gridSpan="2">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kern="1200" dirty="0">
                          <a:solidFill>
                            <a:schemeClr val="tx1"/>
                          </a:solidFill>
                          <a:latin typeface="서울남산체 L" panose="02020603020101020101" pitchFamily="18" charset="-127"/>
                          <a:ea typeface="서울남산체 L" panose="02020603020101020101" pitchFamily="18" charset="-127"/>
                          <a:cs typeface="+mn-cs"/>
                        </a:rPr>
                        <a:t>Body Composition</a:t>
                      </a:r>
                    </a:p>
                  </a:txBody>
                  <a:tcPr anchor="ctr" anchorCtr="1">
                    <a:solidFill>
                      <a:schemeClr val="accent1">
                        <a:lumMod val="20000"/>
                        <a:lumOff val="80000"/>
                      </a:schemeClr>
                    </a:solidFill>
                  </a:tcPr>
                </a:tc>
                <a:tc hMerge="1">
                  <a:txBody>
                    <a:bodyPr/>
                    <a:lstStyle/>
                    <a:p>
                      <a:pPr algn="ctr" latinLnBrk="1"/>
                      <a:endParaRPr lang="ko-KR" altLang="en-US" b="1"/>
                    </a:p>
                  </a:txBody>
                  <a:tcPr anchor="ctr" anchorCtr="1">
                    <a:solidFill>
                      <a:schemeClr val="accent1">
                        <a:lumMod val="20000"/>
                        <a:lumOff val="80000"/>
                      </a:schemeClr>
                    </a:solidFill>
                  </a:tcPr>
                </a:tc>
                <a:tc>
                  <a:txBody>
                    <a:bodyPr/>
                    <a:lstStyle/>
                    <a:p>
                      <a:pPr algn="ctr" latinLnBrk="1"/>
                      <a:r>
                        <a:rPr lang="en-US" altLang="ko-KR" sz="1200" b="1" dirty="0">
                          <a:latin typeface="서울남산체 L" panose="02020603020101020101" pitchFamily="18" charset="-127"/>
                          <a:ea typeface="서울남산체 L" panose="02020603020101020101" pitchFamily="18" charset="-127"/>
                        </a:rPr>
                        <a:t>Symptoms</a:t>
                      </a:r>
                      <a:endParaRPr lang="ko-KR" altLang="en-US" sz="1200" b="1" dirty="0">
                        <a:latin typeface="서울남산체 L" panose="02020603020101020101" pitchFamily="18" charset="-127"/>
                        <a:ea typeface="서울남산체 L" panose="02020603020101020101" pitchFamily="18" charset="-127"/>
                      </a:endParaRPr>
                    </a:p>
                  </a:txBody>
                  <a:tcPr anchor="ctr" anchorCtr="1">
                    <a:solidFill>
                      <a:schemeClr val="accent1">
                        <a:lumMod val="20000"/>
                        <a:lumOff val="80000"/>
                      </a:schemeClr>
                    </a:solidFill>
                  </a:tcPr>
                </a:tc>
                <a:tc>
                  <a:txBody>
                    <a:bodyPr/>
                    <a:lstStyle/>
                    <a:p>
                      <a:pPr algn="ctr" latinLnBrk="1"/>
                      <a:r>
                        <a:rPr lang="en-US" altLang="ko-KR" sz="1200" b="1" dirty="0">
                          <a:latin typeface="서울남산체 L" panose="02020603020101020101" pitchFamily="18" charset="-127"/>
                          <a:ea typeface="서울남산체 L" panose="02020603020101020101" pitchFamily="18" charset="-127"/>
                        </a:rPr>
                        <a:t>Parameter provided</a:t>
                      </a:r>
                    </a:p>
                    <a:p>
                      <a:pPr algn="ctr" latinLnBrk="1"/>
                      <a:r>
                        <a:rPr lang="en-US" altLang="ko-KR" sz="1200" b="1" dirty="0">
                          <a:latin typeface="서울남산체 L" panose="02020603020101020101" pitchFamily="18" charset="-127"/>
                          <a:ea typeface="서울남산체 L" panose="02020603020101020101" pitchFamily="18" charset="-127"/>
                        </a:rPr>
                        <a:t>by </a:t>
                      </a:r>
                      <a:r>
                        <a:rPr lang="en-US" altLang="ko-KR" sz="1200" b="1" dirty="0" err="1">
                          <a:latin typeface="서울남산체 L" panose="02020603020101020101" pitchFamily="18" charset="-127"/>
                          <a:ea typeface="서울남산체 L" panose="02020603020101020101" pitchFamily="18" charset="-127"/>
                        </a:rPr>
                        <a:t>InBody</a:t>
                      </a:r>
                      <a:endParaRPr lang="ko-KR" altLang="en-US" sz="1200" b="1" dirty="0">
                        <a:latin typeface="서울남산체 L" panose="02020603020101020101" pitchFamily="18" charset="-127"/>
                        <a:ea typeface="서울남산체 L" panose="02020603020101020101" pitchFamily="18" charset="-127"/>
                      </a:endParaRPr>
                    </a:p>
                  </a:txBody>
                  <a:tcPr anchor="ctr" anchorCtr="1">
                    <a:solidFill>
                      <a:schemeClr val="accent1">
                        <a:lumMod val="20000"/>
                        <a:lumOff val="80000"/>
                      </a:schemeClr>
                    </a:solidFill>
                  </a:tcPr>
                </a:tc>
                <a:tc>
                  <a:txBody>
                    <a:bodyPr/>
                    <a:lstStyle/>
                    <a:p>
                      <a:pPr algn="ctr" latinLnBrk="1"/>
                      <a:r>
                        <a:rPr lang="en-US" altLang="ko-KR" sz="1200" b="1" dirty="0">
                          <a:latin typeface="서울남산체 L" panose="02020603020101020101" pitchFamily="18" charset="-127"/>
                          <a:ea typeface="서울남산체 L" panose="02020603020101020101" pitchFamily="18" charset="-127"/>
                        </a:rPr>
                        <a:t>Application</a:t>
                      </a:r>
                      <a:endParaRPr lang="ko-KR" altLang="en-US" sz="1200" b="1" dirty="0">
                        <a:latin typeface="서울남산체 L" panose="02020603020101020101" pitchFamily="18" charset="-127"/>
                        <a:ea typeface="서울남산체 L" panose="02020603020101020101" pitchFamily="18" charset="-127"/>
                      </a:endParaRPr>
                    </a:p>
                  </a:txBody>
                  <a:tcPr anchor="ctr" anchorCtr="1">
                    <a:solidFill>
                      <a:schemeClr val="accent1">
                        <a:lumMod val="20000"/>
                        <a:lumOff val="80000"/>
                      </a:schemeClr>
                    </a:solidFill>
                  </a:tcPr>
                </a:tc>
                <a:extLst>
                  <a:ext uri="{0D108BD9-81ED-4DB2-BD59-A6C34878D82A}">
                    <a16:rowId xmlns:a16="http://schemas.microsoft.com/office/drawing/2014/main" val="10000"/>
                  </a:ext>
                </a:extLst>
              </a:tr>
              <a:tr h="457200">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i="0" dirty="0">
                          <a:latin typeface="서울남산체 L" panose="02020603020101020101" pitchFamily="18" charset="-127"/>
                          <a:ea typeface="서울남산체 L" panose="02020603020101020101" pitchFamily="18" charset="-127"/>
                          <a:cs typeface="Arial" charset="0"/>
                        </a:rPr>
                        <a:t>Screening</a:t>
                      </a:r>
                    </a:p>
                  </a:txBody>
                  <a:tcPr anchor="ctr" anchorCtr="1"/>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tx2"/>
                          </a:solidFill>
                          <a:latin typeface="서울남산체 L" panose="02020603020101020101" pitchFamily="18" charset="-127"/>
                          <a:ea typeface="서울남산체 L" panose="02020603020101020101" pitchFamily="18" charset="-127"/>
                        </a:rPr>
                        <a:t>Risk of Diabetes</a:t>
                      </a:r>
                      <a:endParaRPr lang="ko-KR" altLang="en-US" sz="1200" b="1" dirty="0">
                        <a:solidFill>
                          <a:schemeClr val="tx2"/>
                        </a:solidFill>
                        <a:latin typeface="서울남산체 L" panose="02020603020101020101" pitchFamily="18" charset="-127"/>
                        <a:ea typeface="서울남산체 L" panose="02020603020101020101" pitchFamily="18" charset="-127"/>
                      </a:endParaRP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1" dirty="0">
                          <a:latin typeface="서울남산체 L" panose="02020603020101020101" pitchFamily="18" charset="-127"/>
                          <a:ea typeface="서울남산체 L" panose="02020603020101020101" pitchFamily="18" charset="-127"/>
                        </a:rPr>
                        <a:t>Low Muscle</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kumimoji="0" lang="en-US" altLang="ko-KR" sz="1200" b="1" dirty="0">
                          <a:solidFill>
                            <a:srgbClr val="9C1F00"/>
                          </a:solidFill>
                          <a:latin typeface="서울남산체 L" panose="02020603020101020101" pitchFamily="18" charset="-127"/>
                          <a:ea typeface="서울남산체 L" panose="02020603020101020101" pitchFamily="18" charset="-127"/>
                          <a:cs typeface="Arial" charset="0"/>
                        </a:rPr>
                        <a:t>SMM</a:t>
                      </a:r>
                    </a:p>
                    <a:p>
                      <a:pPr marL="0" marR="0" lvl="0" indent="0" algn="ctr" defTabSz="685783" rtl="0" eaLnBrk="1" fontAlgn="auto" latinLnBrk="1" hangingPunct="1">
                        <a:lnSpc>
                          <a:spcPct val="100000"/>
                        </a:lnSpc>
                        <a:spcBef>
                          <a:spcPts val="0"/>
                        </a:spcBef>
                        <a:spcAft>
                          <a:spcPts val="0"/>
                        </a:spcAft>
                        <a:buClrTx/>
                        <a:buSzTx/>
                        <a:buFontTx/>
                        <a:buNone/>
                        <a:tabLst/>
                        <a:defRPr/>
                      </a:pPr>
                      <a:r>
                        <a:rPr kumimoji="0" lang="en-US" altLang="ko-KR" sz="1200" b="1" dirty="0">
                          <a:solidFill>
                            <a:srgbClr val="9C1F00"/>
                          </a:solidFill>
                          <a:latin typeface="서울남산체 L" panose="02020603020101020101" pitchFamily="18" charset="-127"/>
                          <a:ea typeface="서울남산체 L" panose="02020603020101020101" pitchFamily="18" charset="-127"/>
                          <a:cs typeface="Arial" charset="0"/>
                        </a:rPr>
                        <a:t>(Skeletal</a:t>
                      </a:r>
                      <a:r>
                        <a:rPr kumimoji="0" lang="en-US" altLang="ko-KR" sz="1200" b="1" baseline="0" dirty="0">
                          <a:solidFill>
                            <a:srgbClr val="9C1F00"/>
                          </a:solidFill>
                          <a:latin typeface="서울남산체 L" panose="02020603020101020101" pitchFamily="18" charset="-127"/>
                          <a:ea typeface="서울남산체 L" panose="02020603020101020101" pitchFamily="18" charset="-127"/>
                          <a:cs typeface="Arial" charset="0"/>
                        </a:rPr>
                        <a:t> Muscle Mass)</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1" dirty="0">
                          <a:latin typeface="서울남산체 L" panose="02020603020101020101" pitchFamily="18" charset="-127"/>
                          <a:ea typeface="서울남산체 L" panose="02020603020101020101" pitchFamily="18" charset="-127"/>
                        </a:rPr>
                        <a:t>Insulin</a:t>
                      </a:r>
                      <a:r>
                        <a:rPr lang="en-US" altLang="ko-KR" sz="1200" b="1" baseline="0" dirty="0">
                          <a:latin typeface="서울남산체 L" panose="02020603020101020101" pitchFamily="18" charset="-127"/>
                          <a:ea typeface="서울남산체 L" panose="02020603020101020101" pitchFamily="18" charset="-127"/>
                        </a:rPr>
                        <a:t> resistance(sensitivity) related to low muscle mass</a:t>
                      </a:r>
                      <a:endParaRPr lang="ko-KR" altLang="en-US" sz="1200" b="1" dirty="0">
                        <a:latin typeface="서울남산체 L" panose="02020603020101020101" pitchFamily="18" charset="-127"/>
                        <a:ea typeface="서울남산체 L" panose="02020603020101020101" pitchFamily="18" charset="-127"/>
                      </a:endParaRPr>
                    </a:p>
                  </a:txBody>
                  <a:tcPr anchor="ctr" anchorCtr="1"/>
                </a:tc>
                <a:extLst>
                  <a:ext uri="{0D108BD9-81ED-4DB2-BD59-A6C34878D82A}">
                    <a16:rowId xmlns:a16="http://schemas.microsoft.com/office/drawing/2014/main" val="10001"/>
                  </a:ext>
                </a:extLst>
              </a:tr>
              <a:tr h="457200">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1" i="0" kern="1200" dirty="0">
                          <a:solidFill>
                            <a:schemeClr val="tx1"/>
                          </a:solidFill>
                          <a:latin typeface="서울남산체 L" panose="02020603020101020101" pitchFamily="18" charset="-127"/>
                          <a:ea typeface="서울남산체 L" panose="02020603020101020101" pitchFamily="18" charset="-127"/>
                          <a:cs typeface="Arial" charset="0"/>
                        </a:rPr>
                        <a:t>Monitoring</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1" dirty="0">
                          <a:solidFill>
                            <a:schemeClr val="tx2"/>
                          </a:solidFill>
                          <a:latin typeface="서울남산체 L" panose="02020603020101020101" pitchFamily="18" charset="-127"/>
                          <a:ea typeface="서울남산체 L" panose="02020603020101020101" pitchFamily="18" charset="-127"/>
                        </a:rPr>
                        <a:t>Muscle Wasting Disease</a:t>
                      </a:r>
                      <a:endParaRPr lang="ko-KR" altLang="en-US" sz="1200" b="1" i="1" dirty="0">
                        <a:solidFill>
                          <a:schemeClr val="tx2"/>
                        </a:solidFill>
                        <a:latin typeface="서울남산체 L" panose="02020603020101020101" pitchFamily="18" charset="-127"/>
                        <a:ea typeface="서울남산체 L" panose="02020603020101020101" pitchFamily="18" charset="-127"/>
                      </a:endParaRPr>
                    </a:p>
                  </a:txBody>
                  <a:tcPr anchor="ctr" anchorCtr="1"/>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kumimoji="0" lang="en-US" altLang="ko-KR" sz="1200" b="1" dirty="0">
                          <a:latin typeface="서울남산체 L" panose="02020603020101020101" pitchFamily="18" charset="-127"/>
                          <a:ea typeface="서울남산체 L" panose="02020603020101020101" pitchFamily="18" charset="-127"/>
                          <a:cs typeface="Arial" charset="0"/>
                        </a:rPr>
                        <a:t>Muscle Decrease</a:t>
                      </a:r>
                    </a:p>
                  </a:txBody>
                  <a:tcPr anchor="ctr" anchorCtr="1"/>
                </a:tc>
                <a:tc>
                  <a:txBody>
                    <a:bodyPr/>
                    <a:lstStyle/>
                    <a:p>
                      <a:pPr algn="ctr"/>
                      <a:r>
                        <a:rPr lang="en-US" altLang="ko-KR" sz="1200" b="1" dirty="0">
                          <a:solidFill>
                            <a:srgbClr val="9C1F00"/>
                          </a:solidFill>
                          <a:latin typeface="서울남산체 L" panose="02020603020101020101" pitchFamily="18" charset="-127"/>
                          <a:ea typeface="서울남산체 L" panose="02020603020101020101" pitchFamily="18" charset="-127"/>
                          <a:cs typeface="Arial" charset="0"/>
                        </a:rPr>
                        <a:t>SMI</a:t>
                      </a:r>
                    </a:p>
                    <a:p>
                      <a:pPr algn="ctr"/>
                      <a:r>
                        <a:rPr kumimoji="0" lang="en-US" altLang="ko-KR" sz="1200" b="1" dirty="0">
                          <a:solidFill>
                            <a:srgbClr val="9C1F00"/>
                          </a:solidFill>
                          <a:latin typeface="서울남산체 L" panose="02020603020101020101" pitchFamily="18" charset="-127"/>
                          <a:ea typeface="서울남산체 L" panose="02020603020101020101" pitchFamily="18" charset="-127"/>
                          <a:cs typeface="Arial" charset="0"/>
                        </a:rPr>
                        <a:t>(Skeletal Muscle</a:t>
                      </a:r>
                      <a:r>
                        <a:rPr kumimoji="0" lang="en-US" altLang="ko-KR" sz="1200" b="1" baseline="0" dirty="0">
                          <a:solidFill>
                            <a:srgbClr val="9C1F00"/>
                          </a:solidFill>
                          <a:latin typeface="서울남산체 L" panose="02020603020101020101" pitchFamily="18" charset="-127"/>
                          <a:ea typeface="서울남산체 L" panose="02020603020101020101" pitchFamily="18" charset="-127"/>
                          <a:cs typeface="Arial" charset="0"/>
                        </a:rPr>
                        <a:t> </a:t>
                      </a:r>
                      <a:r>
                        <a:rPr kumimoji="0" lang="en-US" altLang="ko-KR" sz="1200" b="1" dirty="0">
                          <a:solidFill>
                            <a:srgbClr val="9C1F00"/>
                          </a:solidFill>
                          <a:latin typeface="서울남산체 L" panose="02020603020101020101" pitchFamily="18" charset="-127"/>
                          <a:ea typeface="서울남산체 L" panose="02020603020101020101" pitchFamily="18" charset="-127"/>
                          <a:cs typeface="Arial" charset="0"/>
                        </a:rPr>
                        <a:t>Index)</a:t>
                      </a:r>
                    </a:p>
                  </a:txBody>
                  <a:tcPr anchor="ctr" anchorCtr="1"/>
                </a:tc>
                <a:tc>
                  <a:txBody>
                    <a:bodyPr/>
                    <a:lstStyle/>
                    <a:p>
                      <a:pPr algn="ctr" latinLnBrk="1"/>
                      <a:r>
                        <a:rPr lang="en-US" altLang="ko-KR" sz="1200" b="1" dirty="0">
                          <a:latin typeface="서울남산체 L" panose="02020603020101020101" pitchFamily="18" charset="-127"/>
                          <a:ea typeface="서울남산체 L" panose="02020603020101020101" pitchFamily="18" charset="-127"/>
                          <a:cs typeface="Arial" charset="0"/>
                        </a:rPr>
                        <a:t>Sarcopenia</a:t>
                      </a:r>
                      <a:r>
                        <a:rPr lang="en-US" altLang="ko-KR" sz="1200" b="1" baseline="0" dirty="0">
                          <a:latin typeface="서울남산체 L" panose="02020603020101020101" pitchFamily="18" charset="-127"/>
                          <a:ea typeface="서울남산체 L" panose="02020603020101020101" pitchFamily="18" charset="-127"/>
                          <a:cs typeface="Arial" charset="0"/>
                        </a:rPr>
                        <a:t> Evaluation</a:t>
                      </a:r>
                      <a:endParaRPr lang="ko-KR" altLang="en-US" sz="1200" dirty="0">
                        <a:latin typeface="서울남산체 L" panose="02020603020101020101" pitchFamily="18" charset="-127"/>
                        <a:ea typeface="서울남산체 L" panose="02020603020101020101" pitchFamily="18" charset="-127"/>
                      </a:endParaRPr>
                    </a:p>
                  </a:txBody>
                  <a:tcPr anchor="ctr" anchorCtr="1"/>
                </a:tc>
                <a:extLst>
                  <a:ext uri="{0D108BD9-81ED-4DB2-BD59-A6C34878D82A}">
                    <a16:rowId xmlns:a16="http://schemas.microsoft.com/office/drawing/2014/main" val="10002"/>
                  </a:ext>
                </a:extLst>
              </a:tr>
            </a:tbl>
          </a:graphicData>
        </a:graphic>
      </p:graphicFrame>
      <p:pic>
        <p:nvPicPr>
          <p:cNvPr id="9" name="Picture 2"/>
          <p:cNvPicPr>
            <a:picLocks noChangeAspect="1" noChangeArrowheads="1"/>
          </p:cNvPicPr>
          <p:nvPr/>
        </p:nvPicPr>
        <p:blipFill>
          <a:blip r:embed="rId3" cstate="print"/>
          <a:srcRect/>
          <a:stretch>
            <a:fillRect/>
          </a:stretch>
        </p:blipFill>
        <p:spPr bwMode="auto">
          <a:xfrm flipH="1">
            <a:off x="2377559" y="3631791"/>
            <a:ext cx="1296144" cy="2259383"/>
          </a:xfrm>
          <a:prstGeom prst="rect">
            <a:avLst/>
          </a:prstGeom>
          <a:noFill/>
          <a:ln w="9525">
            <a:noFill/>
            <a:miter lim="800000"/>
            <a:headEnd/>
            <a:tailEnd/>
          </a:ln>
        </p:spPr>
      </p:pic>
      <p:grpSp>
        <p:nvGrpSpPr>
          <p:cNvPr id="12" name="그룹 11"/>
          <p:cNvGrpSpPr/>
          <p:nvPr/>
        </p:nvGrpSpPr>
        <p:grpSpPr>
          <a:xfrm>
            <a:off x="2115264" y="2795499"/>
            <a:ext cx="1693541" cy="760024"/>
            <a:chOff x="658933" y="2833630"/>
            <a:chExt cx="1693541" cy="760023"/>
          </a:xfrm>
        </p:grpSpPr>
        <p:pic>
          <p:nvPicPr>
            <p:cNvPr id="10" name="그림 15" descr="logo_red[1].PNG"/>
            <p:cNvPicPr>
              <a:picLocks noChangeAspect="1"/>
            </p:cNvPicPr>
            <p:nvPr/>
          </p:nvPicPr>
          <p:blipFill>
            <a:blip r:embed="rId4" cstate="print"/>
            <a:srcRect/>
            <a:stretch>
              <a:fillRect/>
            </a:stretch>
          </p:blipFill>
          <p:spPr bwMode="auto">
            <a:xfrm>
              <a:off x="776245" y="2833630"/>
              <a:ext cx="1441128" cy="457771"/>
            </a:xfrm>
            <a:prstGeom prst="rect">
              <a:avLst/>
            </a:prstGeom>
            <a:noFill/>
            <a:ln w="9525">
              <a:noFill/>
              <a:miter lim="800000"/>
              <a:headEnd/>
              <a:tailEnd/>
            </a:ln>
          </p:spPr>
        </p:pic>
        <p:sp>
          <p:nvSpPr>
            <p:cNvPr id="11" name="직사각형 10"/>
            <p:cNvSpPr/>
            <p:nvPr/>
          </p:nvSpPr>
          <p:spPr>
            <a:xfrm>
              <a:off x="658933" y="3224321"/>
              <a:ext cx="1693541" cy="369332"/>
            </a:xfrm>
            <a:prstGeom prst="rect">
              <a:avLst/>
            </a:prstGeom>
          </p:spPr>
          <p:txBody>
            <a:bodyPr wrap="none">
              <a:spAutoFit/>
            </a:bodyPr>
            <a:lstStyle/>
            <a:p>
              <a:r>
                <a:rPr lang="en-US" altLang="ko-KR" b="1" dirty="0">
                  <a:solidFill>
                    <a:srgbClr val="9C1F00"/>
                  </a:solidFill>
                  <a:latin typeface="서울남산체 L" panose="02020603020101020101" pitchFamily="18" charset="-127"/>
                  <a:ea typeface="서울남산체 L" panose="02020603020101020101" pitchFamily="18" charset="-127"/>
                </a:rPr>
                <a:t>Measurement</a:t>
              </a:r>
              <a:endParaRPr lang="ko-KR" altLang="en-US" b="1" dirty="0">
                <a:solidFill>
                  <a:srgbClr val="9C1F00"/>
                </a:solidFill>
                <a:latin typeface="서울남산체 L" panose="02020603020101020101" pitchFamily="18" charset="-127"/>
                <a:ea typeface="서울남산체 L" panose="02020603020101020101" pitchFamily="18" charset="-127"/>
              </a:endParaRPr>
            </a:p>
          </p:txBody>
        </p:sp>
      </p:grpSp>
      <p:sp>
        <p:nvSpPr>
          <p:cNvPr id="15" name="오른쪽 화살표 14"/>
          <p:cNvSpPr/>
          <p:nvPr/>
        </p:nvSpPr>
        <p:spPr>
          <a:xfrm>
            <a:off x="3813941" y="4051771"/>
            <a:ext cx="572877" cy="66101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4" name="그림 13"/>
          <p:cNvPicPr>
            <a:picLocks noChangeAspect="1"/>
          </p:cNvPicPr>
          <p:nvPr/>
        </p:nvPicPr>
        <p:blipFill>
          <a:blip r:embed="rId5"/>
          <a:stretch>
            <a:fillRect/>
          </a:stretch>
        </p:blipFill>
        <p:spPr>
          <a:xfrm>
            <a:off x="4760956" y="2766951"/>
            <a:ext cx="5429251" cy="414597"/>
          </a:xfrm>
          <a:prstGeom prst="rect">
            <a:avLst/>
          </a:prstGeom>
        </p:spPr>
      </p:pic>
      <p:grpSp>
        <p:nvGrpSpPr>
          <p:cNvPr id="19" name="그룹 18"/>
          <p:cNvGrpSpPr/>
          <p:nvPr/>
        </p:nvGrpSpPr>
        <p:grpSpPr>
          <a:xfrm>
            <a:off x="4760956" y="3792283"/>
            <a:ext cx="5429251" cy="2619375"/>
            <a:chOff x="3236955" y="3675602"/>
            <a:chExt cx="5429250" cy="2619375"/>
          </a:xfrm>
        </p:grpSpPr>
        <p:pic>
          <p:nvPicPr>
            <p:cNvPr id="13" name="그림 12"/>
            <p:cNvPicPr>
              <a:picLocks noChangeAspect="1"/>
            </p:cNvPicPr>
            <p:nvPr/>
          </p:nvPicPr>
          <p:blipFill>
            <a:blip r:embed="rId6"/>
            <a:stretch>
              <a:fillRect/>
            </a:stretch>
          </p:blipFill>
          <p:spPr>
            <a:xfrm>
              <a:off x="3236955" y="3675602"/>
              <a:ext cx="5429250" cy="2619375"/>
            </a:xfrm>
            <a:prstGeom prst="rect">
              <a:avLst/>
            </a:prstGeom>
          </p:spPr>
        </p:pic>
        <p:sp>
          <p:nvSpPr>
            <p:cNvPr id="16" name="object 12"/>
            <p:cNvSpPr/>
            <p:nvPr/>
          </p:nvSpPr>
          <p:spPr>
            <a:xfrm>
              <a:off x="3334007" y="4119497"/>
              <a:ext cx="4543053" cy="827076"/>
            </a:xfrm>
            <a:custGeom>
              <a:avLst/>
              <a:gdLst/>
              <a:ahLst/>
              <a:cxnLst/>
              <a:rect l="l" t="t" r="r" b="b"/>
              <a:pathLst>
                <a:path w="1786254" h="1929129">
                  <a:moveTo>
                    <a:pt x="0" y="1928876"/>
                  </a:moveTo>
                  <a:lnTo>
                    <a:pt x="1786001" y="1928876"/>
                  </a:lnTo>
                  <a:lnTo>
                    <a:pt x="1786001" y="0"/>
                  </a:lnTo>
                  <a:lnTo>
                    <a:pt x="0" y="0"/>
                  </a:lnTo>
                  <a:lnTo>
                    <a:pt x="0" y="1928876"/>
                  </a:lnTo>
                  <a:close/>
                </a:path>
              </a:pathLst>
            </a:custGeom>
            <a:ln w="25400">
              <a:solidFill>
                <a:srgbClr val="C00000"/>
              </a:solidFill>
            </a:ln>
          </p:spPr>
          <p:txBody>
            <a:bodyPr wrap="square" lIns="0" tIns="0" rIns="0" bIns="0" rtlCol="0"/>
            <a:lstStyle/>
            <a:p>
              <a:endParaRPr/>
            </a:p>
          </p:txBody>
        </p:sp>
        <p:sp>
          <p:nvSpPr>
            <p:cNvPr id="17" name="object 12"/>
            <p:cNvSpPr/>
            <p:nvPr/>
          </p:nvSpPr>
          <p:spPr>
            <a:xfrm>
              <a:off x="3334006" y="5385838"/>
              <a:ext cx="4543053" cy="827076"/>
            </a:xfrm>
            <a:custGeom>
              <a:avLst/>
              <a:gdLst/>
              <a:ahLst/>
              <a:cxnLst/>
              <a:rect l="l" t="t" r="r" b="b"/>
              <a:pathLst>
                <a:path w="1786254" h="1929129">
                  <a:moveTo>
                    <a:pt x="0" y="1928876"/>
                  </a:moveTo>
                  <a:lnTo>
                    <a:pt x="1786001" y="1928876"/>
                  </a:lnTo>
                  <a:lnTo>
                    <a:pt x="1786001" y="0"/>
                  </a:lnTo>
                  <a:lnTo>
                    <a:pt x="0" y="0"/>
                  </a:lnTo>
                  <a:lnTo>
                    <a:pt x="0" y="1928876"/>
                  </a:lnTo>
                  <a:close/>
                </a:path>
              </a:pathLst>
            </a:custGeom>
            <a:ln w="25400">
              <a:solidFill>
                <a:srgbClr val="C00000"/>
              </a:solidFill>
            </a:ln>
          </p:spPr>
          <p:txBody>
            <a:bodyPr wrap="square" lIns="0" tIns="0" rIns="0" bIns="0" rtlCol="0"/>
            <a:lstStyle/>
            <a:p>
              <a:endParaRPr/>
            </a:p>
          </p:txBody>
        </p:sp>
      </p:grpSp>
      <p:sp>
        <p:nvSpPr>
          <p:cNvPr id="20" name="TextBox 19"/>
          <p:cNvSpPr txBox="1"/>
          <p:nvPr/>
        </p:nvSpPr>
        <p:spPr>
          <a:xfrm>
            <a:off x="4694683" y="3356427"/>
            <a:ext cx="5808065" cy="400110"/>
          </a:xfrm>
          <a:prstGeom prst="rect">
            <a:avLst/>
          </a:prstGeom>
          <a:noFill/>
        </p:spPr>
        <p:txBody>
          <a:bodyPr wrap="square" rtlCol="0">
            <a:spAutoFit/>
          </a:bodyPr>
          <a:lstStyle/>
          <a:p>
            <a:r>
              <a:rPr lang="en-US" altLang="ko-KR" sz="2000" dirty="0">
                <a:solidFill>
                  <a:srgbClr val="C00000"/>
                </a:solidFill>
              </a:rPr>
              <a:t>SMI = Appendicular Lean(RA + LA + RL + LL) / Height</a:t>
            </a:r>
            <a:r>
              <a:rPr lang="en-US" altLang="ko-KR" sz="2000" baseline="30000" dirty="0">
                <a:solidFill>
                  <a:srgbClr val="C00000"/>
                </a:solidFill>
              </a:rPr>
              <a:t>2</a:t>
            </a:r>
            <a:endParaRPr lang="ko-KR" altLang="en-US" sz="2000" baseline="30000" dirty="0">
              <a:solidFill>
                <a:srgbClr val="C00000"/>
              </a:solidFill>
            </a:endParaRPr>
          </a:p>
        </p:txBody>
      </p:sp>
      <p:sp>
        <p:nvSpPr>
          <p:cNvPr id="21" name="TextBox 20"/>
          <p:cNvSpPr txBox="1"/>
          <p:nvPr/>
        </p:nvSpPr>
        <p:spPr>
          <a:xfrm>
            <a:off x="1580458" y="188640"/>
            <a:ext cx="2259465" cy="369332"/>
          </a:xfrm>
          <a:prstGeom prst="rect">
            <a:avLst/>
          </a:prstGeom>
          <a:noFill/>
        </p:spPr>
        <p:txBody>
          <a:bodyPr wrap="none" rtlCol="0">
            <a:spAutoFit/>
          </a:bodyPr>
          <a:lstStyle/>
          <a:p>
            <a:r>
              <a:rPr lang="en-US" altLang="ko-KR" b="1" spc="-151" dirty="0"/>
              <a:t>Muscle Mass and Diabetes</a:t>
            </a:r>
          </a:p>
        </p:txBody>
      </p:sp>
    </p:spTree>
    <p:extLst>
      <p:ext uri="{BB962C8B-B14F-4D97-AF65-F5344CB8AC3E}">
        <p14:creationId xmlns:p14="http://schemas.microsoft.com/office/powerpoint/2010/main" val="2638948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728537" y="782053"/>
            <a:ext cx="7551339" cy="369332"/>
          </a:xfrm>
          <a:prstGeom prst="rect">
            <a:avLst/>
          </a:prstGeom>
          <a:noFill/>
        </p:spPr>
        <p:txBody>
          <a:bodyPr wrap="square" rtlCol="0">
            <a:spAutoFit/>
          </a:bodyPr>
          <a:lstStyle/>
          <a:p>
            <a:r>
              <a:rPr lang="en-US" altLang="ko-KR" b="1" dirty="0"/>
              <a:t>Cut-off for Sarcopenia (Asians)</a:t>
            </a:r>
          </a:p>
        </p:txBody>
      </p:sp>
      <p:pic>
        <p:nvPicPr>
          <p:cNvPr id="11" name="Picture 2"/>
          <p:cNvPicPr>
            <a:picLocks noChangeAspect="1" noChangeArrowheads="1"/>
          </p:cNvPicPr>
          <p:nvPr/>
        </p:nvPicPr>
        <p:blipFill>
          <a:blip r:embed="rId3" cstate="print"/>
          <a:srcRect t="1745" r="-96" b="40809"/>
          <a:stretch>
            <a:fillRect/>
          </a:stretch>
        </p:blipFill>
        <p:spPr bwMode="auto">
          <a:xfrm>
            <a:off x="1728535" y="1244596"/>
            <a:ext cx="5472608" cy="1800200"/>
          </a:xfrm>
          <a:prstGeom prst="rect">
            <a:avLst/>
          </a:prstGeom>
          <a:noFill/>
          <a:ln w="9525">
            <a:noFill/>
            <a:miter lim="800000"/>
            <a:headEnd/>
            <a:tailEnd/>
          </a:ln>
        </p:spPr>
      </p:pic>
      <p:grpSp>
        <p:nvGrpSpPr>
          <p:cNvPr id="12" name="그룹 11"/>
          <p:cNvGrpSpPr/>
          <p:nvPr/>
        </p:nvGrpSpPr>
        <p:grpSpPr>
          <a:xfrm>
            <a:off x="1728535" y="3189050"/>
            <a:ext cx="6336704" cy="1641899"/>
            <a:chOff x="395537" y="3231634"/>
            <a:chExt cx="6336704" cy="1641899"/>
          </a:xfrm>
        </p:grpSpPr>
        <p:pic>
          <p:nvPicPr>
            <p:cNvPr id="13" name="Picture 2"/>
            <p:cNvPicPr>
              <a:picLocks noChangeAspect="1" noChangeArrowheads="1"/>
            </p:cNvPicPr>
            <p:nvPr/>
          </p:nvPicPr>
          <p:blipFill>
            <a:blip r:embed="rId4" cstate="print"/>
            <a:srcRect/>
            <a:stretch>
              <a:fillRect/>
            </a:stretch>
          </p:blipFill>
          <p:spPr bwMode="auto">
            <a:xfrm>
              <a:off x="395537" y="3231634"/>
              <a:ext cx="6336704" cy="1641899"/>
            </a:xfrm>
            <a:prstGeom prst="rect">
              <a:avLst/>
            </a:prstGeom>
            <a:noFill/>
            <a:ln w="9525">
              <a:noFill/>
              <a:miter lim="800000"/>
              <a:headEnd/>
              <a:tailEnd/>
            </a:ln>
          </p:spPr>
        </p:pic>
        <p:cxnSp>
          <p:nvCxnSpPr>
            <p:cNvPr id="14" name="직선 연결선 13"/>
            <p:cNvCxnSpPr/>
            <p:nvPr/>
          </p:nvCxnSpPr>
          <p:spPr>
            <a:xfrm flipV="1">
              <a:off x="494548" y="4509120"/>
              <a:ext cx="6237692" cy="37460"/>
            </a:xfrm>
            <a:prstGeom prst="line">
              <a:avLst/>
            </a:prstGeom>
            <a:ln w="412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직선 연결선 14"/>
            <p:cNvCxnSpPr/>
            <p:nvPr/>
          </p:nvCxnSpPr>
          <p:spPr>
            <a:xfrm>
              <a:off x="494703" y="4796320"/>
              <a:ext cx="792088" cy="0"/>
            </a:xfrm>
            <a:prstGeom prst="line">
              <a:avLst/>
            </a:prstGeom>
            <a:ln w="412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직선 연결선 15"/>
            <p:cNvCxnSpPr/>
            <p:nvPr/>
          </p:nvCxnSpPr>
          <p:spPr>
            <a:xfrm>
              <a:off x="5004048" y="4293096"/>
              <a:ext cx="1728192" cy="0"/>
            </a:xfrm>
            <a:prstGeom prst="line">
              <a:avLst/>
            </a:prstGeom>
            <a:ln w="41275">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직사각형 16"/>
            <p:cNvSpPr/>
            <p:nvPr/>
          </p:nvSpPr>
          <p:spPr>
            <a:xfrm>
              <a:off x="5868144" y="4013701"/>
              <a:ext cx="504056" cy="2880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서울남산체 L" panose="02020603020101020101" pitchFamily="18" charset="-127"/>
                <a:ea typeface="서울남산체 L" panose="02020603020101020101" pitchFamily="18" charset="-127"/>
              </a:endParaRPr>
            </a:p>
          </p:txBody>
        </p:sp>
      </p:grpSp>
      <p:sp>
        <p:nvSpPr>
          <p:cNvPr id="18" name="직사각형 17"/>
          <p:cNvSpPr/>
          <p:nvPr/>
        </p:nvSpPr>
        <p:spPr>
          <a:xfrm>
            <a:off x="1827547" y="5170205"/>
            <a:ext cx="8248783" cy="109525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buNone/>
            </a:pPr>
            <a:r>
              <a:rPr lang="en-US" altLang="ko-KR" b="1" dirty="0">
                <a:solidFill>
                  <a:schemeClr val="tx2"/>
                </a:solidFill>
                <a:latin typeface="서울남산체 L" panose="02020603020101020101" pitchFamily="18" charset="-127"/>
                <a:ea typeface="서울남산체 L" panose="02020603020101020101" pitchFamily="18" charset="-127"/>
              </a:rPr>
              <a:t>* SMI(Skeletal Muscle Index) = Appendicular</a:t>
            </a:r>
            <a:r>
              <a:rPr lang="ko-KR" altLang="en-US" b="1" dirty="0">
                <a:solidFill>
                  <a:schemeClr val="tx2"/>
                </a:solidFill>
                <a:latin typeface="서울남산체 L" panose="02020603020101020101" pitchFamily="18" charset="-127"/>
                <a:ea typeface="서울남산체 L" panose="02020603020101020101" pitchFamily="18" charset="-127"/>
              </a:rPr>
              <a:t> </a:t>
            </a:r>
            <a:r>
              <a:rPr lang="en-US" altLang="ko-KR" b="1" dirty="0">
                <a:solidFill>
                  <a:schemeClr val="tx2"/>
                </a:solidFill>
                <a:latin typeface="서울남산체 L" panose="02020603020101020101" pitchFamily="18" charset="-127"/>
                <a:ea typeface="서울남산체 L" panose="02020603020101020101" pitchFamily="18" charset="-127"/>
              </a:rPr>
              <a:t>Skeletal Muscle Mass/height</a:t>
            </a:r>
            <a:r>
              <a:rPr lang="en-US" altLang="ko-KR" b="1" baseline="30000" dirty="0">
                <a:solidFill>
                  <a:schemeClr val="tx2"/>
                </a:solidFill>
                <a:latin typeface="서울남산체 L" panose="02020603020101020101" pitchFamily="18" charset="-127"/>
                <a:ea typeface="서울남산체 L" panose="02020603020101020101" pitchFamily="18" charset="-127"/>
              </a:rPr>
              <a:t>2 </a:t>
            </a:r>
          </a:p>
          <a:p>
            <a:pPr>
              <a:lnSpc>
                <a:spcPct val="150000"/>
              </a:lnSpc>
              <a:buNone/>
            </a:pPr>
            <a:r>
              <a:rPr lang="en-US" altLang="ko-KR" b="1" dirty="0">
                <a:solidFill>
                  <a:schemeClr val="tx1"/>
                </a:solidFill>
                <a:latin typeface="서울남산체 L" panose="02020603020101020101" pitchFamily="18" charset="-127"/>
                <a:ea typeface="서울남산체 L" panose="02020603020101020101" pitchFamily="18" charset="-127"/>
              </a:rPr>
              <a:t>Cutoff value : </a:t>
            </a:r>
            <a:r>
              <a:rPr lang="en-US" altLang="ko-KR" b="1" dirty="0">
                <a:solidFill>
                  <a:srgbClr val="9C1F00"/>
                </a:solidFill>
                <a:latin typeface="서울남산체 L" panose="02020603020101020101" pitchFamily="18" charset="-127"/>
                <a:ea typeface="서울남산체 L" panose="02020603020101020101" pitchFamily="18" charset="-127"/>
              </a:rPr>
              <a:t>Male</a:t>
            </a:r>
            <a:r>
              <a:rPr lang="ko-KR" altLang="en-US" b="1" dirty="0">
                <a:solidFill>
                  <a:srgbClr val="9C1F00"/>
                </a:solidFill>
                <a:latin typeface="서울남산체 L" panose="02020603020101020101" pitchFamily="18" charset="-127"/>
                <a:ea typeface="서울남산체 L" panose="02020603020101020101" pitchFamily="18" charset="-127"/>
              </a:rPr>
              <a:t> </a:t>
            </a:r>
            <a:r>
              <a:rPr lang="en-US" altLang="ko-KR" b="1" dirty="0">
                <a:solidFill>
                  <a:srgbClr val="9C1F00"/>
                </a:solidFill>
                <a:latin typeface="서울남산체 L" panose="02020603020101020101" pitchFamily="18" charset="-127"/>
                <a:ea typeface="서울남산체 L" panose="02020603020101020101" pitchFamily="18" charset="-127"/>
              </a:rPr>
              <a:t>: 7.0 kg/m</a:t>
            </a:r>
            <a:r>
              <a:rPr lang="en-US" altLang="ko-KR" b="1" baseline="30000" dirty="0">
                <a:solidFill>
                  <a:srgbClr val="9C1F00"/>
                </a:solidFill>
                <a:latin typeface="서울남산체 L" panose="02020603020101020101" pitchFamily="18" charset="-127"/>
                <a:ea typeface="서울남산체 L" panose="02020603020101020101" pitchFamily="18" charset="-127"/>
              </a:rPr>
              <a:t>2  </a:t>
            </a:r>
            <a:r>
              <a:rPr lang="en-US" altLang="ko-KR" b="1" dirty="0">
                <a:solidFill>
                  <a:srgbClr val="9C1F00"/>
                </a:solidFill>
                <a:latin typeface="서울남산체 L" panose="02020603020101020101" pitchFamily="18" charset="-127"/>
                <a:ea typeface="서울남산체 L" panose="02020603020101020101" pitchFamily="18" charset="-127"/>
              </a:rPr>
              <a:t>/ Female</a:t>
            </a:r>
            <a:r>
              <a:rPr lang="ko-KR" altLang="en-US" b="1" dirty="0">
                <a:solidFill>
                  <a:srgbClr val="9C1F00"/>
                </a:solidFill>
                <a:latin typeface="서울남산체 L" panose="02020603020101020101" pitchFamily="18" charset="-127"/>
                <a:ea typeface="서울남산체 L" panose="02020603020101020101" pitchFamily="18" charset="-127"/>
              </a:rPr>
              <a:t> </a:t>
            </a:r>
            <a:r>
              <a:rPr lang="en-US" altLang="ko-KR" b="1" dirty="0">
                <a:solidFill>
                  <a:srgbClr val="9C1F00"/>
                </a:solidFill>
                <a:latin typeface="서울남산체 L" panose="02020603020101020101" pitchFamily="18" charset="-127"/>
                <a:ea typeface="서울남산체 L" panose="02020603020101020101" pitchFamily="18" charset="-127"/>
              </a:rPr>
              <a:t>: 5.7 kg/m</a:t>
            </a:r>
            <a:r>
              <a:rPr lang="en-US" altLang="ko-KR" b="1" baseline="30000" dirty="0">
                <a:solidFill>
                  <a:srgbClr val="9C1F00"/>
                </a:solidFill>
                <a:latin typeface="서울남산체 L" panose="02020603020101020101" pitchFamily="18" charset="-127"/>
                <a:ea typeface="서울남산체 L" panose="02020603020101020101" pitchFamily="18" charset="-127"/>
              </a:rPr>
              <a:t>2</a:t>
            </a:r>
            <a:endParaRPr lang="ko-KR" altLang="en-US" dirty="0">
              <a:solidFill>
                <a:srgbClr val="9C1F00"/>
              </a:solidFill>
              <a:latin typeface="서울남산체 L" panose="02020603020101020101" pitchFamily="18" charset="-127"/>
              <a:ea typeface="서울남산체 L" panose="02020603020101020101" pitchFamily="18" charset="-127"/>
            </a:endParaRPr>
          </a:p>
        </p:txBody>
      </p:sp>
      <p:sp>
        <p:nvSpPr>
          <p:cNvPr id="20" name="TextBox 19"/>
          <p:cNvSpPr txBox="1"/>
          <p:nvPr/>
        </p:nvSpPr>
        <p:spPr>
          <a:xfrm>
            <a:off x="1524000" y="531332"/>
            <a:ext cx="5997146" cy="246221"/>
          </a:xfrm>
          <a:prstGeom prst="rect">
            <a:avLst/>
          </a:prstGeom>
          <a:noFill/>
        </p:spPr>
        <p:txBody>
          <a:bodyPr wrap="square" rtlCol="0">
            <a:spAutoFit/>
          </a:bodyPr>
          <a:lstStyle/>
          <a:p>
            <a:r>
              <a:rPr lang="en-US" altLang="ko-KR" sz="1000" dirty="0"/>
              <a:t>(J Am Med Dir Assoc. 2014 Feb;15(2):95-101)</a:t>
            </a:r>
            <a:endParaRPr lang="ko-KR" altLang="en-US" sz="1000" dirty="0"/>
          </a:p>
        </p:txBody>
      </p:sp>
      <p:sp>
        <p:nvSpPr>
          <p:cNvPr id="19" name="TextBox 18"/>
          <p:cNvSpPr txBox="1"/>
          <p:nvPr/>
        </p:nvSpPr>
        <p:spPr>
          <a:xfrm>
            <a:off x="1580457" y="188640"/>
            <a:ext cx="2259465" cy="369332"/>
          </a:xfrm>
          <a:prstGeom prst="rect">
            <a:avLst/>
          </a:prstGeom>
          <a:noFill/>
        </p:spPr>
        <p:txBody>
          <a:bodyPr wrap="none" rtlCol="0">
            <a:spAutoFit/>
          </a:bodyPr>
          <a:lstStyle/>
          <a:p>
            <a:r>
              <a:rPr lang="en-US" altLang="ko-KR" b="1" spc="-151" dirty="0"/>
              <a:t>Muscle Mass and Diabetes</a:t>
            </a:r>
          </a:p>
        </p:txBody>
      </p:sp>
    </p:spTree>
    <p:extLst>
      <p:ext uri="{BB962C8B-B14F-4D97-AF65-F5344CB8AC3E}">
        <p14:creationId xmlns:p14="http://schemas.microsoft.com/office/powerpoint/2010/main" val="1785202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728538" y="782053"/>
            <a:ext cx="5089359" cy="369332"/>
          </a:xfrm>
          <a:prstGeom prst="rect">
            <a:avLst/>
          </a:prstGeom>
          <a:noFill/>
        </p:spPr>
        <p:txBody>
          <a:bodyPr wrap="square" rtlCol="0">
            <a:spAutoFit/>
          </a:bodyPr>
          <a:lstStyle/>
          <a:p>
            <a:r>
              <a:rPr lang="en-US" altLang="ko-KR" b="1" dirty="0"/>
              <a:t>Leg Muscle and Diabetes</a:t>
            </a:r>
          </a:p>
        </p:txBody>
      </p:sp>
      <p:pic>
        <p:nvPicPr>
          <p:cNvPr id="23" name="그림 2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8538" y="1722357"/>
            <a:ext cx="4933979" cy="4018805"/>
          </a:xfrm>
          <a:prstGeom prst="rect">
            <a:avLst/>
          </a:prstGeom>
        </p:spPr>
      </p:pic>
      <p:grpSp>
        <p:nvGrpSpPr>
          <p:cNvPr id="15" name="그룹 14"/>
          <p:cNvGrpSpPr/>
          <p:nvPr/>
        </p:nvGrpSpPr>
        <p:grpSpPr>
          <a:xfrm>
            <a:off x="4860531" y="678634"/>
            <a:ext cx="6350672" cy="5536017"/>
            <a:chOff x="3769666" y="678631"/>
            <a:chExt cx="6350672" cy="5536017"/>
          </a:xfrm>
        </p:grpSpPr>
        <p:graphicFrame>
          <p:nvGraphicFramePr>
            <p:cNvPr id="13" name="다이어그램 12"/>
            <p:cNvGraphicFramePr/>
            <p:nvPr/>
          </p:nvGraphicFramePr>
          <p:xfrm>
            <a:off x="3769666" y="678631"/>
            <a:ext cx="6350672" cy="553601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4" name="왼쪽으로 구부러진 화살표 13"/>
            <p:cNvSpPr/>
            <p:nvPr/>
          </p:nvSpPr>
          <p:spPr>
            <a:xfrm flipV="1">
              <a:off x="8082678" y="2349412"/>
              <a:ext cx="1176824" cy="3361392"/>
            </a:xfrm>
            <a:prstGeom prst="curvedLeftArrow">
              <a:avLst/>
            </a:prstGeom>
            <a:solidFill>
              <a:srgbClr val="8A1C22"/>
            </a:solidFill>
            <a:ln>
              <a:solidFill>
                <a:srgbClr val="8A1C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16" name="TextBox 15"/>
          <p:cNvSpPr txBox="1"/>
          <p:nvPr/>
        </p:nvSpPr>
        <p:spPr>
          <a:xfrm>
            <a:off x="1580457" y="188640"/>
            <a:ext cx="2259465" cy="369332"/>
          </a:xfrm>
          <a:prstGeom prst="rect">
            <a:avLst/>
          </a:prstGeom>
          <a:noFill/>
        </p:spPr>
        <p:txBody>
          <a:bodyPr wrap="none" rtlCol="0">
            <a:spAutoFit/>
          </a:bodyPr>
          <a:lstStyle/>
          <a:p>
            <a:r>
              <a:rPr lang="en-US" altLang="ko-KR" b="1" spc="-151" dirty="0"/>
              <a:t>Muscle Mass and Diabetes</a:t>
            </a:r>
          </a:p>
        </p:txBody>
      </p:sp>
    </p:spTree>
    <p:extLst>
      <p:ext uri="{BB962C8B-B14F-4D97-AF65-F5344CB8AC3E}">
        <p14:creationId xmlns:p14="http://schemas.microsoft.com/office/powerpoint/2010/main" val="2380242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4149" y="659781"/>
            <a:ext cx="4071431" cy="5767039"/>
          </a:xfrm>
          <a:prstGeom prst="rect">
            <a:avLst/>
          </a:prstGeom>
          <a:ln>
            <a:noFill/>
          </a:ln>
          <a:effectLst>
            <a:outerShdw blurRad="292100" dist="139700" dir="2700000" algn="tl" rotWithShape="0">
              <a:srgbClr val="333333">
                <a:alpha val="65000"/>
              </a:srgbClr>
            </a:outerShdw>
          </a:effectLst>
        </p:spPr>
      </p:pic>
      <p:pic>
        <p:nvPicPr>
          <p:cNvPr id="20" name="그림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29087" y="678634"/>
            <a:ext cx="4077381" cy="5767039"/>
          </a:xfrm>
          <a:prstGeom prst="rect">
            <a:avLst/>
          </a:prstGeom>
          <a:ln>
            <a:noFill/>
          </a:ln>
          <a:effectLst>
            <a:outerShdw blurRad="292100" dist="139700" dir="2700000" algn="tl" rotWithShape="0">
              <a:srgbClr val="333333">
                <a:alpha val="65000"/>
              </a:srgbClr>
            </a:outerShdw>
          </a:effectLst>
        </p:spPr>
      </p:pic>
      <p:sp>
        <p:nvSpPr>
          <p:cNvPr id="21" name="직사각형 20"/>
          <p:cNvSpPr/>
          <p:nvPr/>
        </p:nvSpPr>
        <p:spPr>
          <a:xfrm>
            <a:off x="8239127" y="3803651"/>
            <a:ext cx="327024" cy="8953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직사각형 21"/>
          <p:cNvSpPr/>
          <p:nvPr/>
        </p:nvSpPr>
        <p:spPr>
          <a:xfrm>
            <a:off x="3940176" y="3833599"/>
            <a:ext cx="327024" cy="8826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p:cNvSpPr/>
          <p:nvPr/>
        </p:nvSpPr>
        <p:spPr>
          <a:xfrm>
            <a:off x="2397126" y="4997450"/>
            <a:ext cx="1870075" cy="1714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직사각형 23"/>
          <p:cNvSpPr/>
          <p:nvPr/>
        </p:nvSpPr>
        <p:spPr>
          <a:xfrm>
            <a:off x="6677026" y="4959350"/>
            <a:ext cx="1870075" cy="1714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p:cNvSpPr/>
          <p:nvPr/>
        </p:nvSpPr>
        <p:spPr>
          <a:xfrm>
            <a:off x="1898651" y="2667000"/>
            <a:ext cx="2368551" cy="177800"/>
          </a:xfrm>
          <a:prstGeom prst="rect">
            <a:avLst/>
          </a:prstGeom>
          <a:noFill/>
          <a:ln w="28575">
            <a:solidFill>
              <a:srgbClr val="8A1C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직사각형 25"/>
          <p:cNvSpPr/>
          <p:nvPr/>
        </p:nvSpPr>
        <p:spPr>
          <a:xfrm>
            <a:off x="6197602" y="2615791"/>
            <a:ext cx="2368551" cy="177800"/>
          </a:xfrm>
          <a:prstGeom prst="rect">
            <a:avLst/>
          </a:prstGeom>
          <a:noFill/>
          <a:ln w="28575">
            <a:solidFill>
              <a:srgbClr val="8A1C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p:cNvSpPr/>
          <p:nvPr/>
        </p:nvSpPr>
        <p:spPr>
          <a:xfrm>
            <a:off x="6146802" y="3543301"/>
            <a:ext cx="2419351" cy="1187451"/>
          </a:xfrm>
          <a:prstGeom prst="rect">
            <a:avLst/>
          </a:prstGeom>
          <a:noFill/>
          <a:ln w="28575">
            <a:solidFill>
              <a:srgbClr val="8A1C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p:cNvSpPr/>
          <p:nvPr/>
        </p:nvSpPr>
        <p:spPr>
          <a:xfrm>
            <a:off x="1898651" y="3587132"/>
            <a:ext cx="2368551" cy="1187451"/>
          </a:xfrm>
          <a:prstGeom prst="rect">
            <a:avLst/>
          </a:prstGeom>
          <a:noFill/>
          <a:ln w="28575">
            <a:solidFill>
              <a:srgbClr val="8A1C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0" name="직선 연결선 29"/>
          <p:cNvCxnSpPr/>
          <p:nvPr/>
        </p:nvCxnSpPr>
        <p:spPr>
          <a:xfrm>
            <a:off x="7002463" y="3860802"/>
            <a:ext cx="381000" cy="768351"/>
          </a:xfrm>
          <a:prstGeom prst="line">
            <a:avLst/>
          </a:prstGeom>
          <a:ln w="19050">
            <a:solidFill>
              <a:srgbClr val="8A1C22"/>
            </a:solidFill>
          </a:ln>
        </p:spPr>
        <p:style>
          <a:lnRef idx="1">
            <a:schemeClr val="accent1"/>
          </a:lnRef>
          <a:fillRef idx="0">
            <a:schemeClr val="accent1"/>
          </a:fillRef>
          <a:effectRef idx="0">
            <a:schemeClr val="accent1"/>
          </a:effectRef>
          <a:fontRef idx="minor">
            <a:schemeClr val="tx1"/>
          </a:fontRef>
        </p:style>
      </p:cxnSp>
      <p:cxnSp>
        <p:nvCxnSpPr>
          <p:cNvPr id="31" name="직선 연결선 30"/>
          <p:cNvCxnSpPr/>
          <p:nvPr/>
        </p:nvCxnSpPr>
        <p:spPr>
          <a:xfrm flipH="1">
            <a:off x="2658273" y="3883027"/>
            <a:ext cx="370681" cy="815975"/>
          </a:xfrm>
          <a:prstGeom prst="line">
            <a:avLst/>
          </a:prstGeom>
          <a:ln w="19050">
            <a:solidFill>
              <a:srgbClr val="8A1C22"/>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580458" y="188640"/>
            <a:ext cx="2259465" cy="369332"/>
          </a:xfrm>
          <a:prstGeom prst="rect">
            <a:avLst/>
          </a:prstGeom>
          <a:noFill/>
        </p:spPr>
        <p:txBody>
          <a:bodyPr wrap="none" rtlCol="0">
            <a:spAutoFit/>
          </a:bodyPr>
          <a:lstStyle/>
          <a:p>
            <a:r>
              <a:rPr lang="en-US" altLang="ko-KR" b="1" spc="-151" dirty="0"/>
              <a:t>Muscle Mass and Diabetes</a:t>
            </a:r>
          </a:p>
        </p:txBody>
      </p:sp>
    </p:spTree>
    <p:extLst>
      <p:ext uri="{BB962C8B-B14F-4D97-AF65-F5344CB8AC3E}">
        <p14:creationId xmlns:p14="http://schemas.microsoft.com/office/powerpoint/2010/main" val="3890412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80BF871-F5CA-4023-9AF0-B36BC2E37415}"/>
              </a:ext>
            </a:extLst>
          </p:cNvPr>
          <p:cNvGrpSpPr/>
          <p:nvPr/>
        </p:nvGrpSpPr>
        <p:grpSpPr>
          <a:xfrm>
            <a:off x="3910014" y="1243014"/>
            <a:ext cx="4371975" cy="4371975"/>
            <a:chOff x="4124325" y="752475"/>
            <a:chExt cx="5524500" cy="5524500"/>
          </a:xfrm>
        </p:grpSpPr>
        <p:sp>
          <p:nvSpPr>
            <p:cNvPr id="3" name="Oval 2">
              <a:extLst>
                <a:ext uri="{FF2B5EF4-FFF2-40B4-BE49-F238E27FC236}">
                  <a16:creationId xmlns:a16="http://schemas.microsoft.com/office/drawing/2014/main" id="{B93E09B7-780B-4BE0-A3B8-984113B89774}"/>
                </a:ext>
              </a:extLst>
            </p:cNvPr>
            <p:cNvSpPr/>
            <p:nvPr/>
          </p:nvSpPr>
          <p:spPr>
            <a:xfrm>
              <a:off x="4124325" y="752475"/>
              <a:ext cx="5524500" cy="5524500"/>
            </a:xfrm>
            <a:prstGeom prst="ellipse">
              <a:avLst/>
            </a:prstGeom>
            <a:pattFill prst="dotGrid">
              <a:fgClr>
                <a:schemeClr val="bg2">
                  <a:lumMod val="2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Oval 1">
              <a:extLst>
                <a:ext uri="{FF2B5EF4-FFF2-40B4-BE49-F238E27FC236}">
                  <a16:creationId xmlns:a16="http://schemas.microsoft.com/office/drawing/2014/main" id="{8C197961-26A7-496A-8635-40C7A0587D36}"/>
                </a:ext>
              </a:extLst>
            </p:cNvPr>
            <p:cNvSpPr/>
            <p:nvPr/>
          </p:nvSpPr>
          <p:spPr>
            <a:xfrm>
              <a:off x="4124325" y="752475"/>
              <a:ext cx="5524500" cy="5524500"/>
            </a:xfrm>
            <a:prstGeom prst="ellipse">
              <a:avLst/>
            </a:prstGeom>
            <a:solidFill>
              <a:schemeClr val="bg2">
                <a:lumMod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cxnSp>
        <p:nvCxnSpPr>
          <p:cNvPr id="6" name="Straight Connector 5">
            <a:extLst>
              <a:ext uri="{FF2B5EF4-FFF2-40B4-BE49-F238E27FC236}">
                <a16:creationId xmlns:a16="http://schemas.microsoft.com/office/drawing/2014/main" id="{C9B0CBD8-6C79-49F0-BC96-F62C87195F9D}"/>
              </a:ext>
            </a:extLst>
          </p:cNvPr>
          <p:cNvCxnSpPr/>
          <p:nvPr/>
        </p:nvCxnSpPr>
        <p:spPr>
          <a:xfrm>
            <a:off x="2324100" y="3429000"/>
            <a:ext cx="1314450" cy="0"/>
          </a:xfrm>
          <a:prstGeom prst="line">
            <a:avLst/>
          </a:prstGeom>
          <a:ln/>
        </p:spPr>
        <p:style>
          <a:lnRef idx="2">
            <a:schemeClr val="accent3"/>
          </a:lnRef>
          <a:fillRef idx="0">
            <a:schemeClr val="accent3"/>
          </a:fillRef>
          <a:effectRef idx="1">
            <a:schemeClr val="accent3"/>
          </a:effectRef>
          <a:fontRef idx="minor">
            <a:schemeClr val="tx1"/>
          </a:fontRef>
        </p:style>
      </p:cxnSp>
      <p:cxnSp>
        <p:nvCxnSpPr>
          <p:cNvPr id="7" name="Straight Connector 6">
            <a:extLst>
              <a:ext uri="{FF2B5EF4-FFF2-40B4-BE49-F238E27FC236}">
                <a16:creationId xmlns:a16="http://schemas.microsoft.com/office/drawing/2014/main" id="{6079A742-DD78-4414-88DE-69F5EBB0DE8C}"/>
              </a:ext>
            </a:extLst>
          </p:cNvPr>
          <p:cNvCxnSpPr/>
          <p:nvPr/>
        </p:nvCxnSpPr>
        <p:spPr>
          <a:xfrm>
            <a:off x="8510588" y="3429000"/>
            <a:ext cx="1314450" cy="0"/>
          </a:xfrm>
          <a:prstGeom prst="line">
            <a:avLst/>
          </a:prstGeom>
          <a:ln/>
        </p:spPr>
        <p:style>
          <a:lnRef idx="2">
            <a:schemeClr val="accent3"/>
          </a:lnRef>
          <a:fillRef idx="0">
            <a:schemeClr val="accent3"/>
          </a:fillRef>
          <a:effectRef idx="1">
            <a:schemeClr val="accent3"/>
          </a:effectRef>
          <a:fontRef idx="minor">
            <a:schemeClr val="tx1"/>
          </a:fontRef>
        </p:style>
      </p:cxnSp>
      <p:sp>
        <p:nvSpPr>
          <p:cNvPr id="8" name="TextBox 7">
            <a:extLst>
              <a:ext uri="{FF2B5EF4-FFF2-40B4-BE49-F238E27FC236}">
                <a16:creationId xmlns:a16="http://schemas.microsoft.com/office/drawing/2014/main" id="{35675C7E-62E0-44C6-9365-0680DBCBCF33}"/>
              </a:ext>
            </a:extLst>
          </p:cNvPr>
          <p:cNvSpPr txBox="1"/>
          <p:nvPr/>
        </p:nvSpPr>
        <p:spPr>
          <a:xfrm>
            <a:off x="4051387" y="2771128"/>
            <a:ext cx="4159364" cy="1338828"/>
          </a:xfrm>
          <a:prstGeom prst="rect">
            <a:avLst/>
          </a:prstGeom>
          <a:noFill/>
        </p:spPr>
        <p:txBody>
          <a:bodyPr wrap="square" rtlCol="0">
            <a:spAutoFit/>
          </a:bodyPr>
          <a:lstStyle/>
          <a:p>
            <a:pPr algn="ctr"/>
            <a:r>
              <a:rPr lang="en-US" altLang="ko-KR" sz="4050" dirty="0">
                <a:solidFill>
                  <a:schemeClr val="bg1"/>
                </a:solidFill>
                <a:latin typeface="Segoe UI Semibold" panose="020B0702040204020203" pitchFamily="34" charset="0"/>
              </a:rPr>
              <a:t>Visceral Fat and Diabetes</a:t>
            </a:r>
            <a:endParaRPr lang="en-US" sz="4050" dirty="0">
              <a:solidFill>
                <a:schemeClr val="bg1"/>
              </a:solidFill>
              <a:latin typeface="Segoe UI Semibold" panose="020B0702040204020203" pitchFamily="34" charset="0"/>
            </a:endParaRPr>
          </a:p>
        </p:txBody>
      </p:sp>
      <p:cxnSp>
        <p:nvCxnSpPr>
          <p:cNvPr id="10" name="Straight Connector 9">
            <a:extLst>
              <a:ext uri="{FF2B5EF4-FFF2-40B4-BE49-F238E27FC236}">
                <a16:creationId xmlns:a16="http://schemas.microsoft.com/office/drawing/2014/main" id="{206C1D4D-4093-4EA0-8FC1-9C1674CB5890}"/>
              </a:ext>
            </a:extLst>
          </p:cNvPr>
          <p:cNvCxnSpPr>
            <a:stCxn id="2" idx="0"/>
          </p:cNvCxnSpPr>
          <p:nvPr/>
        </p:nvCxnSpPr>
        <p:spPr>
          <a:xfrm>
            <a:off x="6096000" y="1243012"/>
            <a:ext cx="0" cy="814388"/>
          </a:xfrm>
          <a:prstGeom prst="line">
            <a:avLst/>
          </a:prstGeom>
          <a:ln/>
        </p:spPr>
        <p:style>
          <a:lnRef idx="2">
            <a:schemeClr val="accent3"/>
          </a:lnRef>
          <a:fillRef idx="0">
            <a:schemeClr val="accent3"/>
          </a:fillRef>
          <a:effectRef idx="1">
            <a:schemeClr val="accent3"/>
          </a:effectRef>
          <a:fontRef idx="minor">
            <a:schemeClr val="tx1"/>
          </a:fontRef>
        </p:style>
      </p:cxnSp>
      <p:sp>
        <p:nvSpPr>
          <p:cNvPr id="11" name="Oval 10">
            <a:extLst>
              <a:ext uri="{FF2B5EF4-FFF2-40B4-BE49-F238E27FC236}">
                <a16:creationId xmlns:a16="http://schemas.microsoft.com/office/drawing/2014/main" id="{AFFCD2CA-E7B9-4084-A238-9F2DE856CA8B}"/>
              </a:ext>
            </a:extLst>
          </p:cNvPr>
          <p:cNvSpPr/>
          <p:nvPr/>
        </p:nvSpPr>
        <p:spPr>
          <a:xfrm>
            <a:off x="5910264" y="2055020"/>
            <a:ext cx="371475" cy="371475"/>
          </a:xfrm>
          <a:prstGeom prst="ellipse">
            <a:avLst/>
          </a:prstGeom>
          <a:noFill/>
          <a:ln w="63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7" name="Group 16">
            <a:extLst>
              <a:ext uri="{FF2B5EF4-FFF2-40B4-BE49-F238E27FC236}">
                <a16:creationId xmlns:a16="http://schemas.microsoft.com/office/drawing/2014/main" id="{D6317CB4-94F0-4E81-BA3A-868E89759996}"/>
              </a:ext>
            </a:extLst>
          </p:cNvPr>
          <p:cNvGrpSpPr/>
          <p:nvPr/>
        </p:nvGrpSpPr>
        <p:grpSpPr>
          <a:xfrm>
            <a:off x="6025863" y="2202658"/>
            <a:ext cx="140277" cy="78581"/>
            <a:chOff x="6473825" y="955675"/>
            <a:chExt cx="342900" cy="139700"/>
          </a:xfrm>
        </p:grpSpPr>
        <p:cxnSp>
          <p:nvCxnSpPr>
            <p:cNvPr id="13" name="Straight Connector 12">
              <a:extLst>
                <a:ext uri="{FF2B5EF4-FFF2-40B4-BE49-F238E27FC236}">
                  <a16:creationId xmlns:a16="http://schemas.microsoft.com/office/drawing/2014/main" id="{ABAFFA72-BAE2-4848-9AC2-E579D72FA23C}"/>
                </a:ext>
              </a:extLst>
            </p:cNvPr>
            <p:cNvCxnSpPr/>
            <p:nvPr/>
          </p:nvCxnSpPr>
          <p:spPr>
            <a:xfrm>
              <a:off x="6473825" y="955675"/>
              <a:ext cx="171450" cy="139700"/>
            </a:xfrm>
            <a:prstGeom prst="line">
              <a:avLst/>
            </a:prstGeom>
            <a:ln/>
          </p:spPr>
          <p:style>
            <a:lnRef idx="2">
              <a:schemeClr val="accent3"/>
            </a:lnRef>
            <a:fillRef idx="0">
              <a:schemeClr val="accent3"/>
            </a:fillRef>
            <a:effectRef idx="1">
              <a:schemeClr val="accent3"/>
            </a:effectRef>
            <a:fontRef idx="minor">
              <a:schemeClr val="tx1"/>
            </a:fontRef>
          </p:style>
        </p:cxnSp>
        <p:cxnSp>
          <p:nvCxnSpPr>
            <p:cNvPr id="16" name="Straight Connector 15">
              <a:extLst>
                <a:ext uri="{FF2B5EF4-FFF2-40B4-BE49-F238E27FC236}">
                  <a16:creationId xmlns:a16="http://schemas.microsoft.com/office/drawing/2014/main" id="{C254F28B-3B7F-4C3D-A3AE-F975A1D9B48B}"/>
                </a:ext>
              </a:extLst>
            </p:cNvPr>
            <p:cNvCxnSpPr>
              <a:cxnSpLocks/>
            </p:cNvCxnSpPr>
            <p:nvPr/>
          </p:nvCxnSpPr>
          <p:spPr>
            <a:xfrm flipV="1">
              <a:off x="6645275" y="955675"/>
              <a:ext cx="171450" cy="139700"/>
            </a:xfrm>
            <a:prstGeom prst="line">
              <a:avLst/>
            </a:prstGeom>
            <a:ln/>
          </p:spPr>
          <p:style>
            <a:lnRef idx="2">
              <a:schemeClr val="accent3"/>
            </a:lnRef>
            <a:fillRef idx="0">
              <a:schemeClr val="accent3"/>
            </a:fillRef>
            <a:effectRef idx="1">
              <a:schemeClr val="accent3"/>
            </a:effectRef>
            <a:fontRef idx="minor">
              <a:schemeClr val="tx1"/>
            </a:fontRef>
          </p:style>
        </p:cxnSp>
      </p:grpSp>
    </p:spTree>
    <p:extLst>
      <p:ext uri="{BB962C8B-B14F-4D97-AF65-F5344CB8AC3E}">
        <p14:creationId xmlns:p14="http://schemas.microsoft.com/office/powerpoint/2010/main" val="44269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Body Fat and Diabetes Complication</a:t>
            </a:r>
            <a:endParaRPr lang="en-IN" dirty="0"/>
          </a:p>
        </p:txBody>
      </p:sp>
      <p:pic>
        <p:nvPicPr>
          <p:cNvPr id="5" name="Content Placeholder 4"/>
          <p:cNvPicPr>
            <a:picLocks noGrp="1" noChangeAspect="1"/>
          </p:cNvPicPr>
          <p:nvPr>
            <p:ph idx="1"/>
          </p:nvPr>
        </p:nvPicPr>
        <p:blipFill>
          <a:blip r:embed="rId2"/>
          <a:stretch>
            <a:fillRect/>
          </a:stretch>
        </p:blipFill>
        <p:spPr>
          <a:xfrm>
            <a:off x="838200" y="1980406"/>
            <a:ext cx="6048375" cy="1362075"/>
          </a:xfrm>
          <a:prstGeom prst="rect">
            <a:avLst/>
          </a:prstGeom>
        </p:spPr>
      </p:pic>
      <p:sp>
        <p:nvSpPr>
          <p:cNvPr id="4" name="Footer Placeholder 3"/>
          <p:cNvSpPr>
            <a:spLocks noGrp="1"/>
          </p:cNvSpPr>
          <p:nvPr>
            <p:ph type="ftr" sz="quarter" idx="11"/>
          </p:nvPr>
        </p:nvSpPr>
        <p:spPr/>
        <p:txBody>
          <a:bodyPr/>
          <a:lstStyle/>
          <a:p>
            <a:r>
              <a:rPr lang="en-IN"/>
              <a:t>www.inbody.in </a:t>
            </a:r>
          </a:p>
        </p:txBody>
      </p:sp>
      <p:sp>
        <p:nvSpPr>
          <p:cNvPr id="7" name="Rectangle 6"/>
          <p:cNvSpPr/>
          <p:nvPr/>
        </p:nvSpPr>
        <p:spPr>
          <a:xfrm>
            <a:off x="7941225" y="6527128"/>
            <a:ext cx="3919663" cy="276999"/>
          </a:xfrm>
          <a:prstGeom prst="rect">
            <a:avLst/>
          </a:prstGeom>
        </p:spPr>
        <p:txBody>
          <a:bodyPr wrap="none">
            <a:spAutoFit/>
          </a:bodyPr>
          <a:lstStyle/>
          <a:p>
            <a:r>
              <a:rPr lang="en-IN" sz="1200" dirty="0">
                <a:latin typeface="Source Sans Pro" panose="020B0503030403020204" pitchFamily="34" charset="0"/>
                <a:ea typeface="Source Sans Pro" panose="020B0503030403020204" pitchFamily="34" charset="0"/>
                <a:hlinkClick r:id="rId3"/>
              </a:rPr>
              <a:t>https://www.ncbi.nlm.nih.gov/pmc/articles/PMC6604847/</a:t>
            </a:r>
            <a:endParaRPr lang="en-IN" sz="1200" dirty="0">
              <a:latin typeface="Source Sans Pro" panose="020B0503030403020204" pitchFamily="34" charset="0"/>
              <a:ea typeface="Source Sans Pro" panose="020B0503030403020204" pitchFamily="34" charset="0"/>
            </a:endParaRPr>
          </a:p>
        </p:txBody>
      </p:sp>
      <p:pic>
        <p:nvPicPr>
          <p:cNvPr id="8" name="Picture 7"/>
          <p:cNvPicPr>
            <a:picLocks noChangeAspect="1"/>
          </p:cNvPicPr>
          <p:nvPr/>
        </p:nvPicPr>
        <p:blipFill>
          <a:blip r:embed="rId4"/>
          <a:stretch>
            <a:fillRect/>
          </a:stretch>
        </p:blipFill>
        <p:spPr>
          <a:xfrm>
            <a:off x="838200" y="3527038"/>
            <a:ext cx="4037853" cy="3194437"/>
          </a:xfrm>
          <a:prstGeom prst="rect">
            <a:avLst/>
          </a:prstGeom>
        </p:spPr>
      </p:pic>
      <p:sp>
        <p:nvSpPr>
          <p:cNvPr id="9" name="Rectangle 8"/>
          <p:cNvSpPr/>
          <p:nvPr/>
        </p:nvSpPr>
        <p:spPr>
          <a:xfrm>
            <a:off x="4893225" y="5140633"/>
            <a:ext cx="6096000" cy="1077218"/>
          </a:xfrm>
          <a:prstGeom prst="rect">
            <a:avLst/>
          </a:prstGeom>
        </p:spPr>
        <p:txBody>
          <a:bodyPr>
            <a:spAutoFit/>
          </a:bodyPr>
          <a:lstStyle/>
          <a:p>
            <a:r>
              <a:rPr lang="en-US" sz="1600" dirty="0">
                <a:solidFill>
                  <a:srgbClr val="642A8F"/>
                </a:solidFill>
                <a:latin typeface="Source Sans Pro" panose="020B0503030403020204" pitchFamily="34" charset="0"/>
                <a:ea typeface="Source Sans Pro" panose="020B0503030403020204" pitchFamily="34" charset="0"/>
                <a:hlinkClick r:id="rId5"/>
              </a:rPr>
              <a:t>Table 2</a:t>
            </a:r>
            <a:r>
              <a:rPr lang="en-US" sz="1600" dirty="0">
                <a:solidFill>
                  <a:srgbClr val="000000"/>
                </a:solidFill>
                <a:latin typeface="Source Sans Pro" panose="020B0503030403020204" pitchFamily="34" charset="0"/>
                <a:ea typeface="Source Sans Pro" panose="020B0503030403020204" pitchFamily="34" charset="0"/>
              </a:rPr>
              <a:t> shows body composition data (InBody 770). WC, fat mass, fat percent, and visceral fat area were significantly increased in the DPN (+) group than the DPN (−) group. However, lean body mass was not different between groups.</a:t>
            </a:r>
            <a:endParaRPr lang="en-IN" sz="1600" dirty="0">
              <a:latin typeface="Source Sans Pro" panose="020B0503030403020204" pitchFamily="34" charset="0"/>
              <a:ea typeface="Source Sans Pro" panose="020B0503030403020204" pitchFamily="34" charset="0"/>
            </a:endParaRPr>
          </a:p>
        </p:txBody>
      </p:sp>
      <p:sp>
        <p:nvSpPr>
          <p:cNvPr id="10" name="Rectangle 9"/>
          <p:cNvSpPr/>
          <p:nvPr/>
        </p:nvSpPr>
        <p:spPr>
          <a:xfrm>
            <a:off x="5210702" y="3247466"/>
            <a:ext cx="5461045" cy="1446550"/>
          </a:xfrm>
          <a:prstGeom prst="rect">
            <a:avLst/>
          </a:prstGeom>
        </p:spPr>
        <p:txBody>
          <a:bodyPr wrap="square">
            <a:spAutoFit/>
          </a:bodyPr>
          <a:lstStyle/>
          <a:p>
            <a:r>
              <a:rPr lang="en-US" sz="2200" dirty="0">
                <a:solidFill>
                  <a:srgbClr val="724128"/>
                </a:solidFill>
                <a:latin typeface="Source Sans Pro" panose="020B0503030403020204" pitchFamily="34" charset="0"/>
                <a:ea typeface="Source Sans Pro" panose="020B0503030403020204" pitchFamily="34" charset="0"/>
              </a:rPr>
              <a:t>Conclusion</a:t>
            </a:r>
          </a:p>
          <a:p>
            <a:r>
              <a:rPr lang="en-US" sz="2200" dirty="0">
                <a:solidFill>
                  <a:srgbClr val="000000"/>
                </a:solidFill>
                <a:latin typeface="Source Sans Pro" panose="020B0503030403020204" pitchFamily="34" charset="0"/>
                <a:ea typeface="Source Sans Pro" panose="020B0503030403020204" pitchFamily="34" charset="0"/>
              </a:rPr>
              <a:t>Abdominal obesity was associated with DPN. Insulin resistance might mediate obesity and DPN in middle aged subjects with T2DM.</a:t>
            </a:r>
            <a:endParaRPr lang="en-US" sz="2200" b="0" i="0" dirty="0">
              <a:solidFill>
                <a:srgbClr val="000000"/>
              </a:solidFill>
              <a:effectLst/>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83973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C724C0-2AAE-8347-932C-38F2A55DFC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7929" y="673033"/>
            <a:ext cx="5236143" cy="5776570"/>
          </a:xfrm>
          <a:prstGeom prst="rect">
            <a:avLst/>
          </a:prstGeom>
        </p:spPr>
      </p:pic>
      <p:sp>
        <p:nvSpPr>
          <p:cNvPr id="4" name="TextBox 3">
            <a:extLst>
              <a:ext uri="{FF2B5EF4-FFF2-40B4-BE49-F238E27FC236}">
                <a16:creationId xmlns:a16="http://schemas.microsoft.com/office/drawing/2014/main" id="{160F0A84-9A03-2D4D-8C7C-DB8F6A3AED61}"/>
              </a:ext>
            </a:extLst>
          </p:cNvPr>
          <p:cNvSpPr txBox="1"/>
          <p:nvPr/>
        </p:nvSpPr>
        <p:spPr>
          <a:xfrm>
            <a:off x="1580456" y="188640"/>
            <a:ext cx="2090380" cy="369332"/>
          </a:xfrm>
          <a:prstGeom prst="rect">
            <a:avLst/>
          </a:prstGeom>
          <a:noFill/>
        </p:spPr>
        <p:txBody>
          <a:bodyPr wrap="none" rtlCol="0">
            <a:spAutoFit/>
          </a:bodyPr>
          <a:lstStyle/>
          <a:p>
            <a:r>
              <a:rPr lang="en-US" altLang="ko-KR" b="1" spc="-151" dirty="0">
                <a:ea typeface="+mj-ea"/>
                <a:cs typeface="+mj-cs"/>
              </a:rPr>
              <a:t>Visceral Fat and Diabetes</a:t>
            </a:r>
          </a:p>
        </p:txBody>
      </p:sp>
      <p:grpSp>
        <p:nvGrpSpPr>
          <p:cNvPr id="16" name="Group 15">
            <a:extLst>
              <a:ext uri="{FF2B5EF4-FFF2-40B4-BE49-F238E27FC236}">
                <a16:creationId xmlns:a16="http://schemas.microsoft.com/office/drawing/2014/main" id="{0782F00A-CA92-E74F-99BF-93B19BB4C8AF}"/>
              </a:ext>
            </a:extLst>
          </p:cNvPr>
          <p:cNvGrpSpPr/>
          <p:nvPr/>
        </p:nvGrpSpPr>
        <p:grpSpPr>
          <a:xfrm>
            <a:off x="3543702" y="4514248"/>
            <a:ext cx="5083742" cy="941672"/>
            <a:chOff x="2019702" y="4514248"/>
            <a:chExt cx="5083742" cy="941672"/>
          </a:xfrm>
        </p:grpSpPr>
        <p:cxnSp>
          <p:nvCxnSpPr>
            <p:cNvPr id="6" name="Straight Connector 5">
              <a:extLst>
                <a:ext uri="{FF2B5EF4-FFF2-40B4-BE49-F238E27FC236}">
                  <a16:creationId xmlns:a16="http://schemas.microsoft.com/office/drawing/2014/main" id="{44C5CF56-B278-3B4A-99D4-78436E9F87EB}"/>
                </a:ext>
              </a:extLst>
            </p:cNvPr>
            <p:cNvCxnSpPr/>
            <p:nvPr/>
          </p:nvCxnSpPr>
          <p:spPr>
            <a:xfrm>
              <a:off x="4081112" y="4514248"/>
              <a:ext cx="3022332"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250B933A-A594-1049-A998-676A544EFF3B}"/>
                </a:ext>
              </a:extLst>
            </p:cNvPr>
            <p:cNvCxnSpPr>
              <a:cxnSpLocks/>
            </p:cNvCxnSpPr>
            <p:nvPr/>
          </p:nvCxnSpPr>
          <p:spPr>
            <a:xfrm>
              <a:off x="2019702" y="4743650"/>
              <a:ext cx="5083742"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9" name="Straight Connector 8">
              <a:extLst>
                <a:ext uri="{FF2B5EF4-FFF2-40B4-BE49-F238E27FC236}">
                  <a16:creationId xmlns:a16="http://schemas.microsoft.com/office/drawing/2014/main" id="{CD57FC03-84CE-7A43-A447-005B60701FAC}"/>
                </a:ext>
              </a:extLst>
            </p:cNvPr>
            <p:cNvCxnSpPr>
              <a:cxnSpLocks/>
            </p:cNvCxnSpPr>
            <p:nvPr/>
          </p:nvCxnSpPr>
          <p:spPr>
            <a:xfrm>
              <a:off x="2019702" y="4993907"/>
              <a:ext cx="5083742"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86CF14AB-0904-8745-A481-A46478516511}"/>
                </a:ext>
              </a:extLst>
            </p:cNvPr>
            <p:cNvCxnSpPr>
              <a:cxnSpLocks/>
            </p:cNvCxnSpPr>
            <p:nvPr/>
          </p:nvCxnSpPr>
          <p:spPr>
            <a:xfrm>
              <a:off x="2019702" y="5215288"/>
              <a:ext cx="5083742"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484001A2-0928-5042-80AA-9BD368B79215}"/>
                </a:ext>
              </a:extLst>
            </p:cNvPr>
            <p:cNvCxnSpPr>
              <a:cxnSpLocks/>
            </p:cNvCxnSpPr>
            <p:nvPr/>
          </p:nvCxnSpPr>
          <p:spPr>
            <a:xfrm>
              <a:off x="2019702" y="5455920"/>
              <a:ext cx="2148037"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grpSp>
      <p:pic>
        <p:nvPicPr>
          <p:cNvPr id="10" name="그림 16">
            <a:extLst>
              <a:ext uri="{FF2B5EF4-FFF2-40B4-BE49-F238E27FC236}">
                <a16:creationId xmlns:a16="http://schemas.microsoft.com/office/drawing/2014/main" id="{C8FDAF59-444E-6549-B6A3-8ED1B37DB84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4906" t="23247" b="58695"/>
          <a:stretch/>
        </p:blipFill>
        <p:spPr>
          <a:xfrm>
            <a:off x="156895" y="262275"/>
            <a:ext cx="3532784" cy="257487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51428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80BF871-F5CA-4023-9AF0-B36BC2E37415}"/>
              </a:ext>
            </a:extLst>
          </p:cNvPr>
          <p:cNvGrpSpPr/>
          <p:nvPr/>
        </p:nvGrpSpPr>
        <p:grpSpPr>
          <a:xfrm>
            <a:off x="3910014" y="1243014"/>
            <a:ext cx="4371975" cy="4371975"/>
            <a:chOff x="4124325" y="752475"/>
            <a:chExt cx="5524500" cy="5524500"/>
          </a:xfrm>
        </p:grpSpPr>
        <p:sp>
          <p:nvSpPr>
            <p:cNvPr id="3" name="Oval 2">
              <a:extLst>
                <a:ext uri="{FF2B5EF4-FFF2-40B4-BE49-F238E27FC236}">
                  <a16:creationId xmlns:a16="http://schemas.microsoft.com/office/drawing/2014/main" id="{B93E09B7-780B-4BE0-A3B8-984113B89774}"/>
                </a:ext>
              </a:extLst>
            </p:cNvPr>
            <p:cNvSpPr/>
            <p:nvPr/>
          </p:nvSpPr>
          <p:spPr>
            <a:xfrm>
              <a:off x="4124325" y="752475"/>
              <a:ext cx="5524500" cy="5524500"/>
            </a:xfrm>
            <a:prstGeom prst="ellipse">
              <a:avLst/>
            </a:prstGeom>
            <a:pattFill prst="dotGrid">
              <a:fgClr>
                <a:schemeClr val="bg2">
                  <a:lumMod val="2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Oval 1">
              <a:extLst>
                <a:ext uri="{FF2B5EF4-FFF2-40B4-BE49-F238E27FC236}">
                  <a16:creationId xmlns:a16="http://schemas.microsoft.com/office/drawing/2014/main" id="{8C197961-26A7-496A-8635-40C7A0587D36}"/>
                </a:ext>
              </a:extLst>
            </p:cNvPr>
            <p:cNvSpPr/>
            <p:nvPr/>
          </p:nvSpPr>
          <p:spPr>
            <a:xfrm>
              <a:off x="4124325" y="752475"/>
              <a:ext cx="5524500" cy="5524500"/>
            </a:xfrm>
            <a:prstGeom prst="ellipse">
              <a:avLst/>
            </a:prstGeom>
            <a:solidFill>
              <a:schemeClr val="bg2">
                <a:lumMod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cxnSp>
        <p:nvCxnSpPr>
          <p:cNvPr id="6" name="Straight Connector 5">
            <a:extLst>
              <a:ext uri="{FF2B5EF4-FFF2-40B4-BE49-F238E27FC236}">
                <a16:creationId xmlns:a16="http://schemas.microsoft.com/office/drawing/2014/main" id="{C9B0CBD8-6C79-49F0-BC96-F62C87195F9D}"/>
              </a:ext>
            </a:extLst>
          </p:cNvPr>
          <p:cNvCxnSpPr/>
          <p:nvPr/>
        </p:nvCxnSpPr>
        <p:spPr>
          <a:xfrm>
            <a:off x="2324100" y="3429000"/>
            <a:ext cx="1314450" cy="0"/>
          </a:xfrm>
          <a:prstGeom prst="line">
            <a:avLst/>
          </a:prstGeom>
          <a:ln/>
        </p:spPr>
        <p:style>
          <a:lnRef idx="2">
            <a:schemeClr val="accent3"/>
          </a:lnRef>
          <a:fillRef idx="0">
            <a:schemeClr val="accent3"/>
          </a:fillRef>
          <a:effectRef idx="1">
            <a:schemeClr val="accent3"/>
          </a:effectRef>
          <a:fontRef idx="minor">
            <a:schemeClr val="tx1"/>
          </a:fontRef>
        </p:style>
      </p:cxnSp>
      <p:cxnSp>
        <p:nvCxnSpPr>
          <p:cNvPr id="7" name="Straight Connector 6">
            <a:extLst>
              <a:ext uri="{FF2B5EF4-FFF2-40B4-BE49-F238E27FC236}">
                <a16:creationId xmlns:a16="http://schemas.microsoft.com/office/drawing/2014/main" id="{6079A742-DD78-4414-88DE-69F5EBB0DE8C}"/>
              </a:ext>
            </a:extLst>
          </p:cNvPr>
          <p:cNvCxnSpPr/>
          <p:nvPr/>
        </p:nvCxnSpPr>
        <p:spPr>
          <a:xfrm>
            <a:off x="8510588" y="3429000"/>
            <a:ext cx="1314450" cy="0"/>
          </a:xfrm>
          <a:prstGeom prst="line">
            <a:avLst/>
          </a:prstGeom>
          <a:ln/>
        </p:spPr>
        <p:style>
          <a:lnRef idx="2">
            <a:schemeClr val="accent3"/>
          </a:lnRef>
          <a:fillRef idx="0">
            <a:schemeClr val="accent3"/>
          </a:fillRef>
          <a:effectRef idx="1">
            <a:schemeClr val="accent3"/>
          </a:effectRef>
          <a:fontRef idx="minor">
            <a:schemeClr val="tx1"/>
          </a:fontRef>
        </p:style>
      </p:cxnSp>
      <p:sp>
        <p:nvSpPr>
          <p:cNvPr id="8" name="TextBox 7">
            <a:extLst>
              <a:ext uri="{FF2B5EF4-FFF2-40B4-BE49-F238E27FC236}">
                <a16:creationId xmlns:a16="http://schemas.microsoft.com/office/drawing/2014/main" id="{35675C7E-62E0-44C6-9365-0680DBCBCF33}"/>
              </a:ext>
            </a:extLst>
          </p:cNvPr>
          <p:cNvSpPr txBox="1"/>
          <p:nvPr/>
        </p:nvSpPr>
        <p:spPr>
          <a:xfrm>
            <a:off x="4051388" y="3071210"/>
            <a:ext cx="4159364" cy="715581"/>
          </a:xfrm>
          <a:prstGeom prst="rect">
            <a:avLst/>
          </a:prstGeom>
          <a:noFill/>
        </p:spPr>
        <p:txBody>
          <a:bodyPr wrap="square" rtlCol="0">
            <a:spAutoFit/>
          </a:bodyPr>
          <a:lstStyle/>
          <a:p>
            <a:pPr algn="ctr"/>
            <a:r>
              <a:rPr lang="en-US" altLang="ko-KR" sz="4050" dirty="0">
                <a:solidFill>
                  <a:schemeClr val="bg1"/>
                </a:solidFill>
                <a:latin typeface="Segoe UI Semibold" panose="020B0702040204020203" pitchFamily="34" charset="0"/>
              </a:rPr>
              <a:t>ECW Ratio</a:t>
            </a:r>
            <a:endParaRPr lang="en-US" sz="4050" dirty="0">
              <a:solidFill>
                <a:schemeClr val="bg1"/>
              </a:solidFill>
              <a:latin typeface="Segoe UI Semibold" panose="020B0702040204020203" pitchFamily="34" charset="0"/>
            </a:endParaRPr>
          </a:p>
        </p:txBody>
      </p:sp>
      <p:cxnSp>
        <p:nvCxnSpPr>
          <p:cNvPr id="10" name="Straight Connector 9">
            <a:extLst>
              <a:ext uri="{FF2B5EF4-FFF2-40B4-BE49-F238E27FC236}">
                <a16:creationId xmlns:a16="http://schemas.microsoft.com/office/drawing/2014/main" id="{206C1D4D-4093-4EA0-8FC1-9C1674CB5890}"/>
              </a:ext>
            </a:extLst>
          </p:cNvPr>
          <p:cNvCxnSpPr>
            <a:stCxn id="2" idx="0"/>
          </p:cNvCxnSpPr>
          <p:nvPr/>
        </p:nvCxnSpPr>
        <p:spPr>
          <a:xfrm>
            <a:off x="6096000" y="1243012"/>
            <a:ext cx="0" cy="814388"/>
          </a:xfrm>
          <a:prstGeom prst="line">
            <a:avLst/>
          </a:prstGeom>
          <a:ln/>
        </p:spPr>
        <p:style>
          <a:lnRef idx="2">
            <a:schemeClr val="accent3"/>
          </a:lnRef>
          <a:fillRef idx="0">
            <a:schemeClr val="accent3"/>
          </a:fillRef>
          <a:effectRef idx="1">
            <a:schemeClr val="accent3"/>
          </a:effectRef>
          <a:fontRef idx="minor">
            <a:schemeClr val="tx1"/>
          </a:fontRef>
        </p:style>
      </p:cxnSp>
      <p:sp>
        <p:nvSpPr>
          <p:cNvPr id="11" name="Oval 10">
            <a:extLst>
              <a:ext uri="{FF2B5EF4-FFF2-40B4-BE49-F238E27FC236}">
                <a16:creationId xmlns:a16="http://schemas.microsoft.com/office/drawing/2014/main" id="{AFFCD2CA-E7B9-4084-A238-9F2DE856CA8B}"/>
              </a:ext>
            </a:extLst>
          </p:cNvPr>
          <p:cNvSpPr/>
          <p:nvPr/>
        </p:nvSpPr>
        <p:spPr>
          <a:xfrm>
            <a:off x="5910264" y="2055020"/>
            <a:ext cx="371475" cy="371475"/>
          </a:xfrm>
          <a:prstGeom prst="ellipse">
            <a:avLst/>
          </a:prstGeom>
          <a:noFill/>
          <a:ln w="63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7" name="Group 16">
            <a:extLst>
              <a:ext uri="{FF2B5EF4-FFF2-40B4-BE49-F238E27FC236}">
                <a16:creationId xmlns:a16="http://schemas.microsoft.com/office/drawing/2014/main" id="{D6317CB4-94F0-4E81-BA3A-868E89759996}"/>
              </a:ext>
            </a:extLst>
          </p:cNvPr>
          <p:cNvGrpSpPr/>
          <p:nvPr/>
        </p:nvGrpSpPr>
        <p:grpSpPr>
          <a:xfrm>
            <a:off x="6025863" y="2202658"/>
            <a:ext cx="140277" cy="78581"/>
            <a:chOff x="6473825" y="955675"/>
            <a:chExt cx="342900" cy="139700"/>
          </a:xfrm>
        </p:grpSpPr>
        <p:cxnSp>
          <p:nvCxnSpPr>
            <p:cNvPr id="13" name="Straight Connector 12">
              <a:extLst>
                <a:ext uri="{FF2B5EF4-FFF2-40B4-BE49-F238E27FC236}">
                  <a16:creationId xmlns:a16="http://schemas.microsoft.com/office/drawing/2014/main" id="{ABAFFA72-BAE2-4848-9AC2-E579D72FA23C}"/>
                </a:ext>
              </a:extLst>
            </p:cNvPr>
            <p:cNvCxnSpPr/>
            <p:nvPr/>
          </p:nvCxnSpPr>
          <p:spPr>
            <a:xfrm>
              <a:off x="6473825" y="955675"/>
              <a:ext cx="171450" cy="139700"/>
            </a:xfrm>
            <a:prstGeom prst="line">
              <a:avLst/>
            </a:prstGeom>
            <a:ln/>
          </p:spPr>
          <p:style>
            <a:lnRef idx="2">
              <a:schemeClr val="accent3"/>
            </a:lnRef>
            <a:fillRef idx="0">
              <a:schemeClr val="accent3"/>
            </a:fillRef>
            <a:effectRef idx="1">
              <a:schemeClr val="accent3"/>
            </a:effectRef>
            <a:fontRef idx="minor">
              <a:schemeClr val="tx1"/>
            </a:fontRef>
          </p:style>
        </p:cxnSp>
        <p:cxnSp>
          <p:nvCxnSpPr>
            <p:cNvPr id="16" name="Straight Connector 15">
              <a:extLst>
                <a:ext uri="{FF2B5EF4-FFF2-40B4-BE49-F238E27FC236}">
                  <a16:creationId xmlns:a16="http://schemas.microsoft.com/office/drawing/2014/main" id="{C254F28B-3B7F-4C3D-A3AE-F975A1D9B48B}"/>
                </a:ext>
              </a:extLst>
            </p:cNvPr>
            <p:cNvCxnSpPr>
              <a:cxnSpLocks/>
            </p:cNvCxnSpPr>
            <p:nvPr/>
          </p:nvCxnSpPr>
          <p:spPr>
            <a:xfrm flipV="1">
              <a:off x="6645275" y="955675"/>
              <a:ext cx="171450" cy="139700"/>
            </a:xfrm>
            <a:prstGeom prst="line">
              <a:avLst/>
            </a:prstGeom>
            <a:ln/>
          </p:spPr>
          <p:style>
            <a:lnRef idx="2">
              <a:schemeClr val="accent3"/>
            </a:lnRef>
            <a:fillRef idx="0">
              <a:schemeClr val="accent3"/>
            </a:fillRef>
            <a:effectRef idx="1">
              <a:schemeClr val="accent3"/>
            </a:effectRef>
            <a:fontRef idx="minor">
              <a:schemeClr val="tx1"/>
            </a:fontRef>
          </p:style>
        </p:cxnSp>
      </p:grpSp>
    </p:spTree>
    <p:extLst>
      <p:ext uri="{BB962C8B-B14F-4D97-AF65-F5344CB8AC3E}">
        <p14:creationId xmlns:p14="http://schemas.microsoft.com/office/powerpoint/2010/main" val="1628345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l"/>
            <a:r>
              <a:rPr lang="en-US" dirty="0"/>
              <a:t>Water Retention</a:t>
            </a:r>
            <a:endParaRPr lang="en-IN" dirty="0"/>
          </a:p>
        </p:txBody>
      </p:sp>
      <p:sp>
        <p:nvSpPr>
          <p:cNvPr id="2" name="Footer Placeholder 1"/>
          <p:cNvSpPr>
            <a:spLocks noGrp="1"/>
          </p:cNvSpPr>
          <p:nvPr>
            <p:ph type="ftr" sz="quarter" idx="11"/>
          </p:nvPr>
        </p:nvSpPr>
        <p:spPr/>
        <p:txBody>
          <a:bodyPr/>
          <a:lstStyle/>
          <a:p>
            <a:r>
              <a:rPr lang="en-IN"/>
              <a:t>www.inbody.in </a:t>
            </a:r>
          </a:p>
        </p:txBody>
      </p:sp>
      <p:sp>
        <p:nvSpPr>
          <p:cNvPr id="3" name="TextBox 2">
            <a:extLst>
              <a:ext uri="{FF2B5EF4-FFF2-40B4-BE49-F238E27FC236}">
                <a16:creationId xmlns:a16="http://schemas.microsoft.com/office/drawing/2014/main" id="{18C77796-00CD-4A01-AEF8-5408DB1278B7}"/>
              </a:ext>
            </a:extLst>
          </p:cNvPr>
          <p:cNvSpPr txBox="1"/>
          <p:nvPr/>
        </p:nvSpPr>
        <p:spPr>
          <a:xfrm>
            <a:off x="537263" y="1690688"/>
            <a:ext cx="7007320" cy="1938992"/>
          </a:xfrm>
          <a:prstGeom prst="rect">
            <a:avLst/>
          </a:prstGeom>
          <a:noFill/>
        </p:spPr>
        <p:txBody>
          <a:bodyPr wrap="square" rtlCol="0">
            <a:spAutoFit/>
          </a:bodyPr>
          <a:lstStyle/>
          <a:p>
            <a:r>
              <a:rPr lang="en-US" altLang="ko-KR" sz="2400" dirty="0">
                <a:latin typeface="Source Sans Pro" panose="020B0503030403020204" pitchFamily="34" charset="0"/>
                <a:ea typeface="Source Sans Pro" panose="020B0503030403020204" pitchFamily="34" charset="0"/>
              </a:rPr>
              <a:t>Screening water accumulation in whole and segmental(arms, legs, trunk) parts. </a:t>
            </a:r>
          </a:p>
          <a:p>
            <a:r>
              <a:rPr lang="en-US" altLang="ko-KR" sz="2400" dirty="0">
                <a:latin typeface="Source Sans Pro" panose="020B0503030403020204" pitchFamily="34" charset="0"/>
                <a:ea typeface="Source Sans Pro" panose="020B0503030403020204" pitchFamily="34" charset="0"/>
              </a:rPr>
              <a:t>Diabetes damages body vessels and makes them leaky. As a result, fluid starts to leak out of them, which leads to fluid retention or edema</a:t>
            </a:r>
            <a:endParaRPr lang="ko-KR" altLang="en-US" sz="2400" dirty="0">
              <a:latin typeface="Source Sans Pro" panose="020B0503030403020204" pitchFamily="34" charset="0"/>
            </a:endParaRPr>
          </a:p>
        </p:txBody>
      </p:sp>
      <p:pic>
        <p:nvPicPr>
          <p:cNvPr id="4" name="그림 16">
            <a:extLst>
              <a:ext uri="{FF2B5EF4-FFF2-40B4-BE49-F238E27FC236}">
                <a16:creationId xmlns:a16="http://schemas.microsoft.com/office/drawing/2014/main" id="{31E1C415-7358-4E4D-815A-BB8832A42706}"/>
              </a:ext>
            </a:extLst>
          </p:cNvPr>
          <p:cNvPicPr>
            <a:picLocks noChangeAspect="1"/>
          </p:cNvPicPr>
          <p:nvPr/>
        </p:nvPicPr>
        <p:blipFill rotWithShape="1">
          <a:blip r:embed="rId2">
            <a:extLst>
              <a:ext uri="{28A0092B-C50C-407E-A947-70E740481C1C}">
                <a14:useLocalDpi xmlns:a14="http://schemas.microsoft.com/office/drawing/2010/main" val="0"/>
              </a:ext>
            </a:extLst>
          </a:blip>
          <a:srcRect l="13921" r="7525" b="6042"/>
          <a:stretch/>
        </p:blipFill>
        <p:spPr>
          <a:xfrm>
            <a:off x="7544583" y="944905"/>
            <a:ext cx="3662204" cy="3153870"/>
          </a:xfrm>
          <a:prstGeom prst="rect">
            <a:avLst/>
          </a:prstGeom>
        </p:spPr>
      </p:pic>
      <p:sp>
        <p:nvSpPr>
          <p:cNvPr id="5" name="직사각형 13">
            <a:extLst>
              <a:ext uri="{FF2B5EF4-FFF2-40B4-BE49-F238E27FC236}">
                <a16:creationId xmlns:a16="http://schemas.microsoft.com/office/drawing/2014/main" id="{ED5C6B59-8E5A-440D-BC16-94AB768707E4}"/>
              </a:ext>
            </a:extLst>
          </p:cNvPr>
          <p:cNvSpPr/>
          <p:nvPr/>
        </p:nvSpPr>
        <p:spPr>
          <a:xfrm>
            <a:off x="537263" y="4098775"/>
            <a:ext cx="10958931" cy="2352952"/>
          </a:xfrm>
          <a:prstGeom prst="rect">
            <a:avLst/>
          </a:prstGeom>
        </p:spPr>
        <p:txBody>
          <a:bodyPr wrap="square">
            <a:spAutoFit/>
          </a:bodyPr>
          <a:lstStyle/>
          <a:p>
            <a:pPr>
              <a:lnSpc>
                <a:spcPct val="150000"/>
              </a:lnSpc>
            </a:pPr>
            <a:r>
              <a:rPr lang="en-US" altLang="ko-KR" sz="2000" dirty="0">
                <a:latin typeface="Source Sans Pro" panose="020B0503030403020204" pitchFamily="34" charset="0"/>
                <a:ea typeface="Source Sans Pro" panose="020B0503030403020204" pitchFamily="34" charset="0"/>
              </a:rPr>
              <a:t>Human body is made up with 50~70% of body water composed of intra- cellular water(ICW) and Extra-cellular water(ECW). ICW is water inside muscle, ECW is sum of water in blood and interstitial fluid</a:t>
            </a:r>
            <a:r>
              <a:rPr lang="en-US" altLang="ko-KR" sz="2000" b="1" dirty="0">
                <a:solidFill>
                  <a:srgbClr val="C00000"/>
                </a:solidFill>
                <a:latin typeface="Source Sans Pro" panose="020B0503030403020204" pitchFamily="34" charset="0"/>
                <a:ea typeface="Source Sans Pro" panose="020B0503030403020204" pitchFamily="34" charset="0"/>
              </a:rPr>
              <a:t>.  The ratio of  ICW:ECW is 62:38 in healthy people.</a:t>
            </a:r>
            <a:r>
              <a:rPr lang="en-US" altLang="ko-KR" sz="2000" dirty="0">
                <a:latin typeface="Source Sans Pro" panose="020B0503030403020204" pitchFamily="34" charset="0"/>
                <a:ea typeface="Source Sans Pro" panose="020B0503030403020204" pitchFamily="34" charset="0"/>
              </a:rPr>
              <a:t> Many people suffering from diabetes complain about swelling in legs and feet. Chronic swelling and poor blood flow may often lead to the ulcers or infections of legs, foot or ankle. </a:t>
            </a:r>
            <a:r>
              <a:rPr lang="en-US" altLang="ko-KR" sz="2000" b="1" dirty="0">
                <a:latin typeface="Source Sans Pro" panose="020B0503030403020204" pitchFamily="34" charset="0"/>
                <a:ea typeface="Source Sans Pro" panose="020B0503030403020204" pitchFamily="34" charset="0"/>
              </a:rPr>
              <a:t>Therefore, it can be needed to monitor ECW ratio of legs. </a:t>
            </a:r>
            <a:endParaRPr lang="ko-KR" altLang="en-US" sz="2000" b="1" dirty="0">
              <a:solidFill>
                <a:srgbClr val="C00000"/>
              </a:solidFill>
              <a:latin typeface="Source Sans Pro" panose="020B0503030403020204" pitchFamily="34" charset="0"/>
            </a:endParaRPr>
          </a:p>
        </p:txBody>
      </p:sp>
    </p:spTree>
    <p:extLst>
      <p:ext uri="{BB962C8B-B14F-4D97-AF65-F5344CB8AC3E}">
        <p14:creationId xmlns:p14="http://schemas.microsoft.com/office/powerpoint/2010/main" val="1982758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7E64A8-AC99-4217-A982-4C7642C53C0C}"/>
              </a:ext>
            </a:extLst>
          </p:cNvPr>
          <p:cNvSpPr txBox="1"/>
          <p:nvPr/>
        </p:nvSpPr>
        <p:spPr>
          <a:xfrm>
            <a:off x="435038" y="97466"/>
            <a:ext cx="3504508" cy="338554"/>
          </a:xfrm>
          <a:prstGeom prst="rect">
            <a:avLst/>
          </a:prstGeom>
          <a:noFill/>
        </p:spPr>
        <p:txBody>
          <a:bodyPr wrap="square" rtlCol="0">
            <a:spAutoFit/>
          </a:bodyPr>
          <a:lstStyle/>
          <a:p>
            <a:r>
              <a:rPr lang="en-US" altLang="ko-KR" sz="1600" b="1" dirty="0"/>
              <a:t>Diabetes, 60y, female</a:t>
            </a:r>
            <a:endParaRPr lang="ko-KR" altLang="en-US" sz="1600" b="1" dirty="0"/>
          </a:p>
        </p:txBody>
      </p:sp>
      <p:sp>
        <p:nvSpPr>
          <p:cNvPr id="4" name="TextBox 3">
            <a:extLst>
              <a:ext uri="{FF2B5EF4-FFF2-40B4-BE49-F238E27FC236}">
                <a16:creationId xmlns:a16="http://schemas.microsoft.com/office/drawing/2014/main" id="{A12433BB-D8EA-4B41-BC3B-438C6398BA95}"/>
              </a:ext>
            </a:extLst>
          </p:cNvPr>
          <p:cNvSpPr txBox="1"/>
          <p:nvPr/>
        </p:nvSpPr>
        <p:spPr>
          <a:xfrm>
            <a:off x="400040" y="3654575"/>
            <a:ext cx="3504508" cy="338554"/>
          </a:xfrm>
          <a:prstGeom prst="rect">
            <a:avLst/>
          </a:prstGeom>
          <a:noFill/>
        </p:spPr>
        <p:txBody>
          <a:bodyPr wrap="square" rtlCol="0">
            <a:spAutoFit/>
          </a:bodyPr>
          <a:lstStyle/>
          <a:p>
            <a:r>
              <a:rPr lang="en-US" altLang="ko-KR" sz="1600" b="1" dirty="0"/>
              <a:t>Diabetes, 80y, male</a:t>
            </a:r>
            <a:endParaRPr lang="ko-KR" altLang="en-US" sz="1600" b="1" dirty="0"/>
          </a:p>
        </p:txBody>
      </p:sp>
      <p:pic>
        <p:nvPicPr>
          <p:cNvPr id="5" name="그림 4">
            <a:extLst>
              <a:ext uri="{FF2B5EF4-FFF2-40B4-BE49-F238E27FC236}">
                <a16:creationId xmlns:a16="http://schemas.microsoft.com/office/drawing/2014/main" id="{36D96B48-43FF-4B73-A1D9-8B494FB1F77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363" t="51043" r="36970" b="21622"/>
          <a:stretch/>
        </p:blipFill>
        <p:spPr>
          <a:xfrm>
            <a:off x="538572" y="491434"/>
            <a:ext cx="4629174" cy="3051047"/>
          </a:xfrm>
          <a:prstGeom prst="rect">
            <a:avLst/>
          </a:prstGeom>
        </p:spPr>
      </p:pic>
      <p:pic>
        <p:nvPicPr>
          <p:cNvPr id="6" name="그림 5">
            <a:extLst>
              <a:ext uri="{FF2B5EF4-FFF2-40B4-BE49-F238E27FC236}">
                <a16:creationId xmlns:a16="http://schemas.microsoft.com/office/drawing/2014/main" id="{EFB2BB9B-05E9-44C9-BD39-8DD8F5ECBBF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485" t="51300" r="37091" b="21622"/>
          <a:stretch/>
        </p:blipFill>
        <p:spPr>
          <a:xfrm>
            <a:off x="665233" y="3993129"/>
            <a:ext cx="4380217" cy="2871678"/>
          </a:xfrm>
          <a:prstGeom prst="rect">
            <a:avLst/>
          </a:prstGeom>
        </p:spPr>
      </p:pic>
      <p:sp>
        <p:nvSpPr>
          <p:cNvPr id="7" name="직사각형 8">
            <a:extLst>
              <a:ext uri="{FF2B5EF4-FFF2-40B4-BE49-F238E27FC236}">
                <a16:creationId xmlns:a16="http://schemas.microsoft.com/office/drawing/2014/main" id="{CF3095D3-0294-4F6C-B633-E6A373C64AB0}"/>
              </a:ext>
            </a:extLst>
          </p:cNvPr>
          <p:cNvSpPr/>
          <p:nvPr/>
        </p:nvSpPr>
        <p:spPr>
          <a:xfrm>
            <a:off x="4482269" y="5697272"/>
            <a:ext cx="508662" cy="314638"/>
          </a:xfrm>
          <a:prstGeom prst="rect">
            <a:avLst/>
          </a:prstGeom>
          <a:solidFill>
            <a:srgbClr val="FFFF00">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600"/>
          </a:p>
        </p:txBody>
      </p:sp>
      <p:sp>
        <p:nvSpPr>
          <p:cNvPr id="8" name="직사각형 9">
            <a:extLst>
              <a:ext uri="{FF2B5EF4-FFF2-40B4-BE49-F238E27FC236}">
                <a16:creationId xmlns:a16="http://schemas.microsoft.com/office/drawing/2014/main" id="{4AF8D0B7-7D40-4B71-8797-728947DC62DE}"/>
              </a:ext>
            </a:extLst>
          </p:cNvPr>
          <p:cNvSpPr/>
          <p:nvPr/>
        </p:nvSpPr>
        <p:spPr>
          <a:xfrm>
            <a:off x="4482269" y="1576462"/>
            <a:ext cx="563182" cy="1019539"/>
          </a:xfrm>
          <a:prstGeom prst="rect">
            <a:avLst/>
          </a:prstGeom>
          <a:solidFill>
            <a:srgbClr val="FFFF00">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600"/>
          </a:p>
        </p:txBody>
      </p:sp>
      <p:sp>
        <p:nvSpPr>
          <p:cNvPr id="9" name="正方形/長方形 19">
            <a:extLst>
              <a:ext uri="{FF2B5EF4-FFF2-40B4-BE49-F238E27FC236}">
                <a16:creationId xmlns:a16="http://schemas.microsoft.com/office/drawing/2014/main" id="{A3B61EE4-BE4B-4655-BA53-5726F83B637A}"/>
              </a:ext>
            </a:extLst>
          </p:cNvPr>
          <p:cNvSpPr/>
          <p:nvPr/>
        </p:nvSpPr>
        <p:spPr>
          <a:xfrm>
            <a:off x="5430982" y="4051567"/>
            <a:ext cx="6483927" cy="2800767"/>
          </a:xfrm>
          <a:prstGeom prst="rect">
            <a:avLst/>
          </a:prstGeom>
        </p:spPr>
        <p:txBody>
          <a:bodyPr wrap="square">
            <a:spAutoFit/>
          </a:bodyPr>
          <a:lstStyle/>
          <a:p>
            <a:r>
              <a:rPr lang="en-US" altLang="ko-KR" sz="2200" dirty="0">
                <a:latin typeface="Source Sans Pro" panose="020B0503030403020204" pitchFamily="34" charset="0"/>
                <a:ea typeface="Source Sans Pro" panose="020B0503030403020204" pitchFamily="34" charset="0"/>
                <a:cs typeface="メイリオ" pitchFamily="50" charset="-128"/>
              </a:rPr>
              <a:t>Whole ECW ratio is normal. </a:t>
            </a:r>
          </a:p>
          <a:p>
            <a:endParaRPr lang="en-US" altLang="ko-KR" sz="2200" dirty="0">
              <a:latin typeface="Source Sans Pro" panose="020B0503030403020204" pitchFamily="34" charset="0"/>
              <a:ea typeface="Source Sans Pro" panose="020B0503030403020204" pitchFamily="34" charset="0"/>
              <a:cs typeface="メイリオ" pitchFamily="50" charset="-128"/>
            </a:endParaRPr>
          </a:p>
          <a:p>
            <a:r>
              <a:rPr lang="en-US" altLang="ko-KR" sz="2200" dirty="0">
                <a:latin typeface="Source Sans Pro" panose="020B0503030403020204" pitchFamily="34" charset="0"/>
                <a:ea typeface="Source Sans Pro" panose="020B0503030403020204" pitchFamily="34" charset="0"/>
                <a:cs typeface="メイリオ" pitchFamily="50" charset="-128"/>
              </a:rPr>
              <a:t>But, ECW ratio of left leg is over 0.390.</a:t>
            </a:r>
          </a:p>
          <a:p>
            <a:endParaRPr lang="en-US" altLang="ja-JP" sz="2200" dirty="0">
              <a:solidFill>
                <a:srgbClr val="C00000"/>
              </a:solidFill>
              <a:latin typeface="Source Sans Pro" panose="020B0503030403020204" pitchFamily="34" charset="0"/>
              <a:ea typeface="Source Sans Pro" panose="020B0503030403020204" pitchFamily="34" charset="0"/>
              <a:cs typeface="メイリオ" pitchFamily="50" charset="-128"/>
            </a:endParaRPr>
          </a:p>
          <a:p>
            <a:r>
              <a:rPr lang="en-US" altLang="ja-JP" sz="2200" dirty="0">
                <a:solidFill>
                  <a:srgbClr val="C00000"/>
                </a:solidFill>
                <a:latin typeface="Source Sans Pro" panose="020B0503030403020204" pitchFamily="34" charset="0"/>
                <a:ea typeface="Source Sans Pro" panose="020B0503030403020204" pitchFamily="34" charset="0"/>
                <a:cs typeface="メイリオ" pitchFamily="50" charset="-128"/>
              </a:rPr>
              <a:t>Legs are moving part at the same time. It is difficult to show high ECW ratio in one side. </a:t>
            </a:r>
          </a:p>
          <a:p>
            <a:endParaRPr lang="en-US" altLang="ja-JP" sz="2200" dirty="0">
              <a:solidFill>
                <a:srgbClr val="C00000"/>
              </a:solidFill>
              <a:latin typeface="Source Sans Pro" panose="020B0503030403020204" pitchFamily="34" charset="0"/>
              <a:ea typeface="Source Sans Pro" panose="020B0503030403020204" pitchFamily="34" charset="0"/>
              <a:cs typeface="メイリオ" pitchFamily="50" charset="-128"/>
            </a:endParaRPr>
          </a:p>
          <a:p>
            <a:r>
              <a:rPr lang="en-US" altLang="ja-JP" sz="2200" dirty="0">
                <a:solidFill>
                  <a:srgbClr val="C00000"/>
                </a:solidFill>
                <a:latin typeface="Source Sans Pro" panose="020B0503030403020204" pitchFamily="34" charset="0"/>
                <a:ea typeface="Source Sans Pro" panose="020B0503030403020204" pitchFamily="34" charset="0"/>
                <a:cs typeface="メイリオ" pitchFamily="50" charset="-128"/>
                <a:sym typeface="Wingdings" panose="05000000000000000000" pitchFamily="2" charset="2"/>
              </a:rPr>
              <a:t> Possibility of Edema</a:t>
            </a:r>
            <a:endParaRPr lang="en-US" altLang="ja-JP" sz="2200" dirty="0">
              <a:solidFill>
                <a:srgbClr val="C00000"/>
              </a:solidFill>
              <a:latin typeface="Source Sans Pro" panose="020B0503030403020204" pitchFamily="34" charset="0"/>
              <a:ea typeface="Source Sans Pro" panose="020B0503030403020204" pitchFamily="34" charset="0"/>
              <a:cs typeface="メイリオ" pitchFamily="50" charset="-128"/>
            </a:endParaRPr>
          </a:p>
        </p:txBody>
      </p:sp>
      <p:sp>
        <p:nvSpPr>
          <p:cNvPr id="10" name="正方形/長方形 25">
            <a:extLst>
              <a:ext uri="{FF2B5EF4-FFF2-40B4-BE49-F238E27FC236}">
                <a16:creationId xmlns:a16="http://schemas.microsoft.com/office/drawing/2014/main" id="{55A8856D-4E7B-44C4-A583-F49E45228C20}"/>
              </a:ext>
            </a:extLst>
          </p:cNvPr>
          <p:cNvSpPr/>
          <p:nvPr/>
        </p:nvSpPr>
        <p:spPr>
          <a:xfrm>
            <a:off x="5430982" y="1007490"/>
            <a:ext cx="5902036" cy="1785104"/>
          </a:xfrm>
          <a:prstGeom prst="rect">
            <a:avLst/>
          </a:prstGeom>
        </p:spPr>
        <p:txBody>
          <a:bodyPr wrap="square">
            <a:spAutoFit/>
          </a:bodyPr>
          <a:lstStyle/>
          <a:p>
            <a:r>
              <a:rPr lang="en-US" altLang="ko-KR" sz="2200" dirty="0">
                <a:latin typeface="Source Sans Pro" panose="020B0503030403020204" pitchFamily="34" charset="0"/>
                <a:ea typeface="Source Sans Pro" panose="020B0503030403020204" pitchFamily="34" charset="0"/>
                <a:cs typeface="メイリオ" pitchFamily="50" charset="-128"/>
              </a:rPr>
              <a:t>Whole ECW ratio and ECW ratio of trunk and legs are over 0.390. </a:t>
            </a:r>
          </a:p>
          <a:p>
            <a:endParaRPr lang="en-US" altLang="ko-KR" sz="2200" dirty="0">
              <a:latin typeface="Source Sans Pro" panose="020B0503030403020204" pitchFamily="34" charset="0"/>
              <a:ea typeface="Source Sans Pro" panose="020B0503030403020204" pitchFamily="34" charset="0"/>
              <a:cs typeface="メイリオ" pitchFamily="50" charset="-128"/>
            </a:endParaRPr>
          </a:p>
          <a:p>
            <a:r>
              <a:rPr lang="en-US" altLang="ko-KR" sz="2200" dirty="0">
                <a:latin typeface="Source Sans Pro" panose="020B0503030403020204" pitchFamily="34" charset="0"/>
                <a:ea typeface="Source Sans Pro" panose="020B0503030403020204" pitchFamily="34" charset="0"/>
                <a:cs typeface="メイリオ" pitchFamily="50" charset="-128"/>
              </a:rPr>
              <a:t>Many diabetic patients tend to have slightly high ECW ratio. </a:t>
            </a:r>
          </a:p>
        </p:txBody>
      </p:sp>
    </p:spTree>
    <p:extLst>
      <p:ext uri="{BB962C8B-B14F-4D97-AF65-F5344CB8AC3E}">
        <p14:creationId xmlns:p14="http://schemas.microsoft.com/office/powerpoint/2010/main" val="2973002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2C0FFE-399D-478C-AB10-58D1A3A3E931}"/>
              </a:ext>
            </a:extLst>
          </p:cNvPr>
          <p:cNvSpPr txBox="1"/>
          <p:nvPr/>
        </p:nvSpPr>
        <p:spPr>
          <a:xfrm>
            <a:off x="445734" y="1758130"/>
            <a:ext cx="10849038" cy="1338828"/>
          </a:xfrm>
          <a:prstGeom prst="rect">
            <a:avLst/>
          </a:prstGeom>
          <a:noFill/>
        </p:spPr>
        <p:txBody>
          <a:bodyPr wrap="square" rtlCol="0">
            <a:spAutoFit/>
          </a:bodyPr>
          <a:lstStyle/>
          <a:p>
            <a:pPr>
              <a:lnSpc>
                <a:spcPct val="150000"/>
              </a:lnSpc>
            </a:pPr>
            <a:r>
              <a:rPr lang="en-US" altLang="ko-KR" dirty="0">
                <a:latin typeface="Source Sans Pro" panose="020B0503030403020204" pitchFamily="34" charset="0"/>
                <a:ea typeface="Source Sans Pro" panose="020B0503030403020204" pitchFamily="34" charset="0"/>
              </a:rPr>
              <a:t>Using the ECW ratio for early screening of diabetic nephropathy, one of the highest complication in diabetes.</a:t>
            </a:r>
          </a:p>
          <a:p>
            <a:pPr>
              <a:lnSpc>
                <a:spcPct val="150000"/>
              </a:lnSpc>
            </a:pPr>
            <a:r>
              <a:rPr lang="en-US" altLang="ko-KR" dirty="0">
                <a:latin typeface="Source Sans Pro" panose="020B0503030403020204" pitchFamily="34" charset="0"/>
                <a:ea typeface="Source Sans Pro" panose="020B0503030403020204" pitchFamily="34" charset="0"/>
              </a:rPr>
              <a:t>Diabetes is slowly emerging one of the leading causes of chronic kidney disease. When the kidney is damaged, it cannot filter blood properly, resulting in retention of fluids. </a:t>
            </a:r>
          </a:p>
        </p:txBody>
      </p:sp>
      <p:pic>
        <p:nvPicPr>
          <p:cNvPr id="3" name="그림 9">
            <a:extLst>
              <a:ext uri="{FF2B5EF4-FFF2-40B4-BE49-F238E27FC236}">
                <a16:creationId xmlns:a16="http://schemas.microsoft.com/office/drawing/2014/main" id="{45A78A6D-ADC3-4E21-9D39-F8AB66032FF6}"/>
              </a:ext>
            </a:extLst>
          </p:cNvPr>
          <p:cNvPicPr>
            <a:picLocks noChangeAspect="1"/>
          </p:cNvPicPr>
          <p:nvPr/>
        </p:nvPicPr>
        <p:blipFill>
          <a:blip r:embed="rId2"/>
          <a:stretch>
            <a:fillRect/>
          </a:stretch>
        </p:blipFill>
        <p:spPr>
          <a:xfrm>
            <a:off x="5643719" y="3200443"/>
            <a:ext cx="5389182" cy="2918006"/>
          </a:xfrm>
          <a:prstGeom prst="rect">
            <a:avLst/>
          </a:prstGeom>
        </p:spPr>
      </p:pic>
      <p:sp>
        <p:nvSpPr>
          <p:cNvPr id="4" name="Rectangle 3">
            <a:extLst>
              <a:ext uri="{FF2B5EF4-FFF2-40B4-BE49-F238E27FC236}">
                <a16:creationId xmlns:a16="http://schemas.microsoft.com/office/drawing/2014/main" id="{DF4DB154-622F-4E95-A298-CA3CD5DA179D}"/>
              </a:ext>
            </a:extLst>
          </p:cNvPr>
          <p:cNvSpPr/>
          <p:nvPr/>
        </p:nvSpPr>
        <p:spPr>
          <a:xfrm>
            <a:off x="9325669" y="3950302"/>
            <a:ext cx="1969103" cy="40275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mage result for segmental ECW">
            <a:extLst>
              <a:ext uri="{FF2B5EF4-FFF2-40B4-BE49-F238E27FC236}">
                <a16:creationId xmlns:a16="http://schemas.microsoft.com/office/drawing/2014/main" id="{1B919E5E-74FB-4D40-9C43-F9235B50F0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788" y="3702719"/>
            <a:ext cx="5089090" cy="1938227"/>
          </a:xfrm>
          <a:prstGeom prst="rect">
            <a:avLst/>
          </a:prstGeom>
          <a:noFill/>
          <a:extLst>
            <a:ext uri="{909E8E84-426E-40DD-AFC4-6F175D3DCCD1}">
              <a14:hiddenFill xmlns:a14="http://schemas.microsoft.com/office/drawing/2010/main">
                <a:solidFill>
                  <a:srgbClr val="FFFFFF"/>
                </a:solidFill>
              </a14:hiddenFill>
            </a:ext>
          </a:extLst>
        </p:spPr>
      </p:pic>
      <p:sp>
        <p:nvSpPr>
          <p:cNvPr id="6" name="Title 5"/>
          <p:cNvSpPr>
            <a:spLocks noGrp="1"/>
          </p:cNvSpPr>
          <p:nvPr>
            <p:ph type="title"/>
          </p:nvPr>
        </p:nvSpPr>
        <p:spPr/>
        <p:txBody>
          <a:bodyPr/>
          <a:lstStyle/>
          <a:p>
            <a:r>
              <a:rPr lang="en-US" dirty="0"/>
              <a:t>ECW Ratio &amp; Diabetes Complications </a:t>
            </a:r>
            <a:endParaRPr lang="en-IN" dirty="0"/>
          </a:p>
        </p:txBody>
      </p:sp>
    </p:spTree>
    <p:extLst>
      <p:ext uri="{BB962C8B-B14F-4D97-AF65-F5344CB8AC3E}">
        <p14:creationId xmlns:p14="http://schemas.microsoft.com/office/powerpoint/2010/main" val="584488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6079700" y="2515355"/>
            <a:ext cx="5266587" cy="3849735"/>
          </a:xfrm>
          <a:prstGeom prst="rect">
            <a:avLst/>
          </a:prstGeom>
        </p:spPr>
      </p:pic>
      <p:sp>
        <p:nvSpPr>
          <p:cNvPr id="4" name="Footer Placeholder 3"/>
          <p:cNvSpPr>
            <a:spLocks noGrp="1"/>
          </p:cNvSpPr>
          <p:nvPr>
            <p:ph type="ftr" sz="quarter" idx="11"/>
          </p:nvPr>
        </p:nvSpPr>
        <p:spPr/>
        <p:txBody>
          <a:bodyPr/>
          <a:lstStyle/>
          <a:p>
            <a:r>
              <a:rPr lang="en-IN"/>
              <a:t>www.inbody.in </a:t>
            </a:r>
          </a:p>
        </p:txBody>
      </p:sp>
      <p:pic>
        <p:nvPicPr>
          <p:cNvPr id="5" name="Picture 4"/>
          <p:cNvPicPr>
            <a:picLocks noChangeAspect="1"/>
          </p:cNvPicPr>
          <p:nvPr/>
        </p:nvPicPr>
        <p:blipFill>
          <a:blip r:embed="rId3"/>
          <a:stretch>
            <a:fillRect/>
          </a:stretch>
        </p:blipFill>
        <p:spPr>
          <a:xfrm>
            <a:off x="284945" y="234973"/>
            <a:ext cx="8485568" cy="2373212"/>
          </a:xfrm>
          <a:prstGeom prst="rect">
            <a:avLst/>
          </a:prstGeom>
        </p:spPr>
      </p:pic>
      <p:sp>
        <p:nvSpPr>
          <p:cNvPr id="7" name="Rectangle 6"/>
          <p:cNvSpPr/>
          <p:nvPr/>
        </p:nvSpPr>
        <p:spPr>
          <a:xfrm>
            <a:off x="6856390" y="6356350"/>
            <a:ext cx="5069446" cy="276999"/>
          </a:xfrm>
          <a:prstGeom prst="rect">
            <a:avLst/>
          </a:prstGeom>
        </p:spPr>
        <p:txBody>
          <a:bodyPr wrap="square">
            <a:spAutoFit/>
          </a:bodyPr>
          <a:lstStyle/>
          <a:p>
            <a:r>
              <a:rPr lang="en-IN" sz="1200" dirty="0">
                <a:latin typeface="Source Sans Pro" panose="020B0503030403020204" pitchFamily="34" charset="0"/>
                <a:ea typeface="Source Sans Pro" panose="020B0503030403020204" pitchFamily="34" charset="0"/>
                <a:hlinkClick r:id="rId4"/>
              </a:rPr>
              <a:t>https://abstracts.eurospe.org/hrp/0092/eposters/hrp0092p3-65_eposter.pdf</a:t>
            </a:r>
            <a:endParaRPr lang="en-IN" sz="1200" dirty="0">
              <a:latin typeface="Source Sans Pro" panose="020B0503030403020204" pitchFamily="34" charset="0"/>
              <a:ea typeface="Source Sans Pro" panose="020B0503030403020204" pitchFamily="34" charset="0"/>
            </a:endParaRPr>
          </a:p>
        </p:txBody>
      </p:sp>
      <p:pic>
        <p:nvPicPr>
          <p:cNvPr id="4098" name="Picture 2" descr="Insulin Toxicity in Type 2 Diabetes - ppt download"/>
          <p:cNvPicPr>
            <a:picLocks noChangeAspect="1" noChangeArrowheads="1"/>
          </p:cNvPicPr>
          <p:nvPr/>
        </p:nvPicPr>
        <p:blipFill rotWithShape="1">
          <a:blip r:embed="rId5">
            <a:extLst>
              <a:ext uri="{28A0092B-C50C-407E-A947-70E740481C1C}">
                <a14:useLocalDpi xmlns:a14="http://schemas.microsoft.com/office/drawing/2010/main" val="0"/>
              </a:ext>
            </a:extLst>
          </a:blip>
          <a:srcRect r="2327" b="14733"/>
          <a:stretch/>
        </p:blipFill>
        <p:spPr bwMode="auto">
          <a:xfrm>
            <a:off x="773761" y="2821278"/>
            <a:ext cx="5163400" cy="338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6615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B5F4C82-71D9-644C-984A-67AE29217F20}"/>
              </a:ext>
            </a:extLst>
          </p:cNvPr>
          <p:cNvPicPr>
            <a:picLocks noChangeAspect="1"/>
          </p:cNvPicPr>
          <p:nvPr/>
        </p:nvPicPr>
        <p:blipFill rotWithShape="1">
          <a:blip r:embed="rId2">
            <a:extLst>
              <a:ext uri="{28A0092B-C50C-407E-A947-70E740481C1C}">
                <a14:useLocalDpi xmlns:a14="http://schemas.microsoft.com/office/drawing/2010/main" val="0"/>
              </a:ext>
            </a:extLst>
          </a:blip>
          <a:srcRect l="4342" t="2627" r="3998" b="3030"/>
          <a:stretch/>
        </p:blipFill>
        <p:spPr>
          <a:xfrm>
            <a:off x="6096000" y="0"/>
            <a:ext cx="4572000" cy="6651476"/>
          </a:xfrm>
          <a:prstGeom prst="rect">
            <a:avLst/>
          </a:prstGeom>
        </p:spPr>
      </p:pic>
      <p:pic>
        <p:nvPicPr>
          <p:cNvPr id="8" name="Picture 7">
            <a:extLst>
              <a:ext uri="{FF2B5EF4-FFF2-40B4-BE49-F238E27FC236}">
                <a16:creationId xmlns:a16="http://schemas.microsoft.com/office/drawing/2014/main" id="{628393AF-FE3D-0E41-830B-DF9A075052F2}"/>
              </a:ext>
            </a:extLst>
          </p:cNvPr>
          <p:cNvPicPr>
            <a:picLocks noChangeAspect="1"/>
          </p:cNvPicPr>
          <p:nvPr/>
        </p:nvPicPr>
        <p:blipFill rotWithShape="1">
          <a:blip r:embed="rId3">
            <a:extLst>
              <a:ext uri="{28A0092B-C50C-407E-A947-70E740481C1C}">
                <a14:useLocalDpi xmlns:a14="http://schemas.microsoft.com/office/drawing/2010/main" val="0"/>
              </a:ext>
            </a:extLst>
          </a:blip>
          <a:srcRect l="3671" t="2627" r="4451" b="3031"/>
          <a:stretch/>
        </p:blipFill>
        <p:spPr>
          <a:xfrm>
            <a:off x="1524000" y="0"/>
            <a:ext cx="4572000" cy="6651474"/>
          </a:xfrm>
          <a:prstGeom prst="rect">
            <a:avLst/>
          </a:prstGeom>
        </p:spPr>
      </p:pic>
      <p:sp>
        <p:nvSpPr>
          <p:cNvPr id="9" name="Rectangle 8">
            <a:extLst>
              <a:ext uri="{FF2B5EF4-FFF2-40B4-BE49-F238E27FC236}">
                <a16:creationId xmlns:a16="http://schemas.microsoft.com/office/drawing/2014/main" id="{6AE28DC8-B981-A741-A692-F362692E077F}"/>
              </a:ext>
            </a:extLst>
          </p:cNvPr>
          <p:cNvSpPr/>
          <p:nvPr/>
        </p:nvSpPr>
        <p:spPr>
          <a:xfrm>
            <a:off x="4599710" y="1482436"/>
            <a:ext cx="1496291" cy="1302328"/>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CF9C399-9FD3-9C4B-849D-6F7366E37CB0}"/>
              </a:ext>
            </a:extLst>
          </p:cNvPr>
          <p:cNvSpPr/>
          <p:nvPr/>
        </p:nvSpPr>
        <p:spPr>
          <a:xfrm>
            <a:off x="6096001" y="3616036"/>
            <a:ext cx="2881745" cy="14547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F3EC95E-D4BB-3F4A-AED7-C9A7F1738FC3}"/>
              </a:ext>
            </a:extLst>
          </p:cNvPr>
          <p:cNvSpPr/>
          <p:nvPr/>
        </p:nvSpPr>
        <p:spPr>
          <a:xfrm>
            <a:off x="4087091" y="3546764"/>
            <a:ext cx="374074" cy="11914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92900D2-9E3C-C842-9DD4-A00DC9E96187}"/>
              </a:ext>
            </a:extLst>
          </p:cNvPr>
          <p:cNvSpPr/>
          <p:nvPr/>
        </p:nvSpPr>
        <p:spPr>
          <a:xfrm>
            <a:off x="1614054" y="4862945"/>
            <a:ext cx="2847111" cy="47105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2199746-D73A-904E-8B59-6B00A66876D3}"/>
              </a:ext>
            </a:extLst>
          </p:cNvPr>
          <p:cNvSpPr/>
          <p:nvPr/>
        </p:nvSpPr>
        <p:spPr>
          <a:xfrm>
            <a:off x="9116291" y="4184073"/>
            <a:ext cx="1246909" cy="138546"/>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6F898D5-2126-774E-B2F9-D03039D98E65}"/>
              </a:ext>
            </a:extLst>
          </p:cNvPr>
          <p:cNvSpPr/>
          <p:nvPr/>
        </p:nvSpPr>
        <p:spPr>
          <a:xfrm>
            <a:off x="1565565" y="2854035"/>
            <a:ext cx="2847111" cy="471054"/>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8838F1-925E-7743-A4E5-80153FB4905C}"/>
              </a:ext>
            </a:extLst>
          </p:cNvPr>
          <p:cNvSpPr/>
          <p:nvPr/>
        </p:nvSpPr>
        <p:spPr>
          <a:xfrm>
            <a:off x="9116291" y="3325089"/>
            <a:ext cx="1496291" cy="387930"/>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A83552F-A1C6-4F42-9D2B-7444F7EF5F1F}"/>
              </a:ext>
            </a:extLst>
          </p:cNvPr>
          <p:cNvSpPr/>
          <p:nvPr/>
        </p:nvSpPr>
        <p:spPr>
          <a:xfrm>
            <a:off x="1541317" y="3545470"/>
            <a:ext cx="2545774" cy="1192784"/>
          </a:xfrm>
          <a:prstGeom prst="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B7912F1-6D0A-3840-82B5-D67949468AA7}"/>
              </a:ext>
            </a:extLst>
          </p:cNvPr>
          <p:cNvSpPr/>
          <p:nvPr/>
        </p:nvSpPr>
        <p:spPr>
          <a:xfrm>
            <a:off x="6113317" y="2357305"/>
            <a:ext cx="2871358" cy="1192784"/>
          </a:xfrm>
          <a:prstGeom prst="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8045694C-FCA1-4FD6-8CF1-60707DCFB506}"/>
              </a:ext>
            </a:extLst>
          </p:cNvPr>
          <p:cNvSpPr/>
          <p:nvPr/>
        </p:nvSpPr>
        <p:spPr>
          <a:xfrm>
            <a:off x="9111222" y="598753"/>
            <a:ext cx="2503955" cy="369332"/>
          </a:xfrm>
          <a:prstGeom prst="rect">
            <a:avLst/>
          </a:prstGeom>
          <a:solidFill>
            <a:schemeClr val="bg1"/>
          </a:solidFill>
          <a:ln w="38100">
            <a:solidFill>
              <a:schemeClr val="tx1"/>
            </a:solidFill>
          </a:ln>
        </p:spPr>
        <p:txBody>
          <a:bodyPr wrap="none">
            <a:spAutoFit/>
          </a:bodyPr>
          <a:lstStyle/>
          <a:p>
            <a:r>
              <a:rPr lang="en-US" dirty="0"/>
              <a:t>Body Water Result Sheet</a:t>
            </a:r>
          </a:p>
        </p:txBody>
      </p:sp>
    </p:spTree>
    <p:extLst>
      <p:ext uri="{BB962C8B-B14F-4D97-AF65-F5344CB8AC3E}">
        <p14:creationId xmlns:p14="http://schemas.microsoft.com/office/powerpoint/2010/main" val="3025364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IN"/>
              <a:t>www.inbody.in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010"/>
            <a:ext cx="12192000" cy="7110484"/>
          </a:xfrm>
          <a:prstGeom prst="rect">
            <a:avLst/>
          </a:prstGeom>
        </p:spPr>
      </p:pic>
      <p:graphicFrame>
        <p:nvGraphicFramePr>
          <p:cNvPr id="8" name="표 3">
            <a:extLst>
              <a:ext uri="{FF2B5EF4-FFF2-40B4-BE49-F238E27FC236}">
                <a16:creationId xmlns:a16="http://schemas.microsoft.com/office/drawing/2014/main" id="{E79C0E38-4E34-4EB8-A287-5673C90E1EA9}"/>
              </a:ext>
            </a:extLst>
          </p:cNvPr>
          <p:cNvGraphicFramePr>
            <a:graphicFrameLocks noGrp="1"/>
          </p:cNvGraphicFramePr>
          <p:nvPr/>
        </p:nvGraphicFramePr>
        <p:xfrm>
          <a:off x="1017429" y="1825625"/>
          <a:ext cx="9939373" cy="4478193"/>
        </p:xfrm>
        <a:graphic>
          <a:graphicData uri="http://schemas.openxmlformats.org/drawingml/2006/table">
            <a:tbl>
              <a:tblPr firstRow="1" bandRow="1">
                <a:tableStyleId>{5940675A-B579-460E-94D1-54222C63F5DA}</a:tableStyleId>
              </a:tblPr>
              <a:tblGrid>
                <a:gridCol w="1359023">
                  <a:extLst>
                    <a:ext uri="{9D8B030D-6E8A-4147-A177-3AD203B41FA5}">
                      <a16:colId xmlns:a16="http://schemas.microsoft.com/office/drawing/2014/main" val="20000"/>
                    </a:ext>
                  </a:extLst>
                </a:gridCol>
                <a:gridCol w="1330750">
                  <a:extLst>
                    <a:ext uri="{9D8B030D-6E8A-4147-A177-3AD203B41FA5}">
                      <a16:colId xmlns:a16="http://schemas.microsoft.com/office/drawing/2014/main" val="20001"/>
                    </a:ext>
                  </a:extLst>
                </a:gridCol>
                <a:gridCol w="1368603">
                  <a:extLst>
                    <a:ext uri="{9D8B030D-6E8A-4147-A177-3AD203B41FA5}">
                      <a16:colId xmlns:a16="http://schemas.microsoft.com/office/drawing/2014/main" val="20002"/>
                    </a:ext>
                  </a:extLst>
                </a:gridCol>
                <a:gridCol w="1516353">
                  <a:extLst>
                    <a:ext uri="{9D8B030D-6E8A-4147-A177-3AD203B41FA5}">
                      <a16:colId xmlns:a16="http://schemas.microsoft.com/office/drawing/2014/main" val="20003"/>
                    </a:ext>
                  </a:extLst>
                </a:gridCol>
                <a:gridCol w="2103039">
                  <a:extLst>
                    <a:ext uri="{9D8B030D-6E8A-4147-A177-3AD203B41FA5}">
                      <a16:colId xmlns:a16="http://schemas.microsoft.com/office/drawing/2014/main" val="20004"/>
                    </a:ext>
                  </a:extLst>
                </a:gridCol>
                <a:gridCol w="2261605">
                  <a:extLst>
                    <a:ext uri="{9D8B030D-6E8A-4147-A177-3AD203B41FA5}">
                      <a16:colId xmlns:a16="http://schemas.microsoft.com/office/drawing/2014/main" val="20005"/>
                    </a:ext>
                  </a:extLst>
                </a:gridCol>
              </a:tblGrid>
              <a:tr h="587939">
                <a:tc gridSpan="2">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kern="1200" dirty="0">
                          <a:solidFill>
                            <a:schemeClr val="tx1"/>
                          </a:solidFill>
                          <a:latin typeface="Arial" panose="020B0604020202020204" pitchFamily="34" charset="0"/>
                          <a:ea typeface="서울남산체 L" panose="02020603020101020101" pitchFamily="18" charset="-127"/>
                          <a:cs typeface="Arial" panose="020B0604020202020204" pitchFamily="34" charset="0"/>
                        </a:rPr>
                        <a:t>Body Composition</a:t>
                      </a:r>
                    </a:p>
                  </a:txBody>
                  <a:tcPr anchor="ctr" anchorCtr="1">
                    <a:solidFill>
                      <a:schemeClr val="bg1">
                        <a:lumMod val="85000"/>
                      </a:schemeClr>
                    </a:solidFill>
                  </a:tcPr>
                </a:tc>
                <a:tc hMerge="1">
                  <a:txBody>
                    <a:bodyPr/>
                    <a:lstStyle/>
                    <a:p>
                      <a:pPr algn="ctr" latinLnBrk="1"/>
                      <a:endParaRPr lang="ko-KR" altLang="en-US" b="1"/>
                    </a:p>
                  </a:txBody>
                  <a:tcPr anchor="ctr" anchorCtr="1">
                    <a:solidFill>
                      <a:schemeClr val="accent1">
                        <a:lumMod val="20000"/>
                        <a:lumOff val="80000"/>
                      </a:schemeClr>
                    </a:solidFill>
                  </a:tcPr>
                </a:tc>
                <a:tc>
                  <a:txBody>
                    <a:bodyPr/>
                    <a:lstStyle/>
                    <a:p>
                      <a:pPr algn="ctr" latinLnBrk="1"/>
                      <a:r>
                        <a:rPr lang="en-US" altLang="ko-KR" sz="1200" b="1" dirty="0">
                          <a:latin typeface="Arial" panose="020B0604020202020204" pitchFamily="34" charset="0"/>
                          <a:ea typeface="서울남산체 L" panose="02020603020101020101" pitchFamily="18" charset="-127"/>
                          <a:cs typeface="Arial" panose="020B0604020202020204" pitchFamily="34" charset="0"/>
                        </a:rPr>
                        <a:t>Subjects</a:t>
                      </a:r>
                      <a:endParaRPr lang="ko-KR" altLang="en-US" sz="1200" b="1"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solidFill>
                      <a:schemeClr val="bg1">
                        <a:lumMod val="85000"/>
                      </a:schemeClr>
                    </a:solidFill>
                  </a:tcPr>
                </a:tc>
                <a:tc>
                  <a:txBody>
                    <a:bodyPr/>
                    <a:lstStyle/>
                    <a:p>
                      <a:pPr algn="ctr" latinLnBrk="1"/>
                      <a:r>
                        <a:rPr lang="en-US" altLang="ko-KR" sz="1200" b="1" dirty="0">
                          <a:latin typeface="Arial" panose="020B0604020202020204" pitchFamily="34" charset="0"/>
                          <a:ea typeface="서울남산체 L" panose="02020603020101020101" pitchFamily="18" charset="-127"/>
                          <a:cs typeface="Arial" panose="020B0604020202020204" pitchFamily="34" charset="0"/>
                        </a:rPr>
                        <a:t>Symptoms</a:t>
                      </a:r>
                      <a:endParaRPr lang="ko-KR" altLang="en-US" sz="1200" b="1"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solidFill>
                      <a:schemeClr val="bg1">
                        <a:lumMod val="85000"/>
                      </a:schemeClr>
                    </a:solidFill>
                  </a:tcPr>
                </a:tc>
                <a:tc>
                  <a:txBody>
                    <a:bodyPr/>
                    <a:lstStyle/>
                    <a:p>
                      <a:pPr algn="ctr" latinLnBrk="1"/>
                      <a:r>
                        <a:rPr lang="en-US" altLang="ko-KR" sz="1200" b="1" dirty="0">
                          <a:latin typeface="Arial" panose="020B0604020202020204" pitchFamily="34" charset="0"/>
                          <a:ea typeface="서울남산체 L" panose="02020603020101020101" pitchFamily="18" charset="-127"/>
                          <a:cs typeface="Arial" panose="020B0604020202020204" pitchFamily="34" charset="0"/>
                        </a:rPr>
                        <a:t>Parameter provided</a:t>
                      </a:r>
                    </a:p>
                    <a:p>
                      <a:pPr algn="ctr" latinLnBrk="1"/>
                      <a:r>
                        <a:rPr lang="en-US" altLang="ko-KR" sz="1200" b="1" dirty="0">
                          <a:latin typeface="Arial" panose="020B0604020202020204" pitchFamily="34" charset="0"/>
                          <a:ea typeface="서울남산체 L" panose="02020603020101020101" pitchFamily="18" charset="-127"/>
                          <a:cs typeface="Arial" panose="020B0604020202020204" pitchFamily="34" charset="0"/>
                        </a:rPr>
                        <a:t>by </a:t>
                      </a:r>
                      <a:r>
                        <a:rPr lang="en-US" altLang="ko-KR" sz="1200" b="1" dirty="0" err="1">
                          <a:latin typeface="Arial" panose="020B0604020202020204" pitchFamily="34" charset="0"/>
                          <a:ea typeface="서울남산체 L" panose="02020603020101020101" pitchFamily="18" charset="-127"/>
                          <a:cs typeface="Arial" panose="020B0604020202020204" pitchFamily="34" charset="0"/>
                        </a:rPr>
                        <a:t>InBody</a:t>
                      </a:r>
                      <a:endParaRPr lang="ko-KR" altLang="en-US" sz="1200" b="1"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solidFill>
                      <a:schemeClr val="bg1">
                        <a:lumMod val="85000"/>
                      </a:schemeClr>
                    </a:solidFill>
                  </a:tcPr>
                </a:tc>
                <a:tc>
                  <a:txBody>
                    <a:bodyPr/>
                    <a:lstStyle/>
                    <a:p>
                      <a:pPr algn="ctr" latinLnBrk="1"/>
                      <a:r>
                        <a:rPr lang="en-US" altLang="ko-KR" sz="1200" b="1" dirty="0">
                          <a:latin typeface="Arial" panose="020B0604020202020204" pitchFamily="34" charset="0"/>
                          <a:ea typeface="서울남산체 L" panose="02020603020101020101" pitchFamily="18" charset="-127"/>
                          <a:cs typeface="Arial" panose="020B0604020202020204" pitchFamily="34" charset="0"/>
                        </a:rPr>
                        <a:t>Application</a:t>
                      </a:r>
                      <a:endParaRPr lang="ko-KR" altLang="en-US" sz="1200" b="1"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solidFill>
                      <a:schemeClr val="bg1">
                        <a:lumMod val="85000"/>
                      </a:schemeClr>
                    </a:solidFill>
                  </a:tcPr>
                </a:tc>
                <a:extLst>
                  <a:ext uri="{0D108BD9-81ED-4DB2-BD59-A6C34878D82A}">
                    <a16:rowId xmlns:a16="http://schemas.microsoft.com/office/drawing/2014/main" val="10000"/>
                  </a:ext>
                </a:extLst>
              </a:tr>
              <a:tr h="929500">
                <a:tc rowSpan="2">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i="0" dirty="0">
                          <a:latin typeface="Arial" panose="020B0604020202020204" pitchFamily="34" charset="0"/>
                          <a:ea typeface="서울남산체 L" panose="02020603020101020101" pitchFamily="18" charset="-127"/>
                          <a:cs typeface="Arial" panose="020B0604020202020204" pitchFamily="34" charset="0"/>
                        </a:rPr>
                        <a:t>Screening</a:t>
                      </a:r>
                    </a:p>
                  </a:txBody>
                  <a:tcPr anchor="ctr" anchorCtr="1"/>
                </a:tc>
                <a:tc row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2"/>
                          </a:solidFill>
                          <a:latin typeface="Arial" panose="020B0604020202020204" pitchFamily="34" charset="0"/>
                          <a:ea typeface="서울남산체 L" panose="02020603020101020101" pitchFamily="18" charset="-127"/>
                          <a:cs typeface="Arial" panose="020B0604020202020204" pitchFamily="34" charset="0"/>
                        </a:rPr>
                        <a:t>Risk of Diabetes</a:t>
                      </a:r>
                      <a:endParaRPr lang="ko-KR" altLang="en-US" sz="1200" b="0" dirty="0">
                        <a:solidFill>
                          <a:schemeClr val="tx2"/>
                        </a:solidFill>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rowSpan="2">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dirty="0">
                          <a:latin typeface="Arial" panose="020B0604020202020204" pitchFamily="34" charset="0"/>
                          <a:ea typeface="서울남산체 L" panose="02020603020101020101" pitchFamily="18" charset="-127"/>
                          <a:cs typeface="Arial" panose="020B0604020202020204" pitchFamily="34" charset="0"/>
                        </a:rPr>
                        <a:t>Pre-diabetes</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dirty="0">
                          <a:latin typeface="Arial" panose="020B0604020202020204" pitchFamily="34" charset="0"/>
                          <a:ea typeface="서울남산체 L" panose="02020603020101020101" pitchFamily="18" charset="-127"/>
                          <a:cs typeface="Arial" panose="020B0604020202020204" pitchFamily="34" charset="0"/>
                        </a:rPr>
                        <a:t>Low Muscle</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kumimoji="0" lang="en-US" altLang="ko-KR" sz="1200" b="0" dirty="0">
                          <a:solidFill>
                            <a:srgbClr val="9C1F00"/>
                          </a:solidFill>
                          <a:latin typeface="Arial" panose="020B0604020202020204" pitchFamily="34" charset="0"/>
                          <a:ea typeface="서울남산체 L" panose="02020603020101020101" pitchFamily="18" charset="-127"/>
                          <a:cs typeface="Arial" panose="020B0604020202020204" pitchFamily="34" charset="0"/>
                        </a:rPr>
                        <a:t>SMM</a:t>
                      </a:r>
                    </a:p>
                    <a:p>
                      <a:pPr marL="0" marR="0" lvl="0" indent="0" algn="ctr" defTabSz="685783" rtl="0" eaLnBrk="1" fontAlgn="auto" latinLnBrk="1" hangingPunct="1">
                        <a:lnSpc>
                          <a:spcPct val="100000"/>
                        </a:lnSpc>
                        <a:spcBef>
                          <a:spcPts val="0"/>
                        </a:spcBef>
                        <a:spcAft>
                          <a:spcPts val="0"/>
                        </a:spcAft>
                        <a:buClrTx/>
                        <a:buSzTx/>
                        <a:buFontTx/>
                        <a:buNone/>
                        <a:tabLst/>
                        <a:defRPr/>
                      </a:pPr>
                      <a:r>
                        <a:rPr kumimoji="0" lang="en-US" altLang="ko-KR" sz="1200" b="0" dirty="0">
                          <a:solidFill>
                            <a:srgbClr val="9C1F00"/>
                          </a:solidFill>
                          <a:latin typeface="Arial" panose="020B0604020202020204" pitchFamily="34" charset="0"/>
                          <a:ea typeface="서울남산체 L" panose="02020603020101020101" pitchFamily="18" charset="-127"/>
                          <a:cs typeface="Arial" panose="020B0604020202020204" pitchFamily="34" charset="0"/>
                        </a:rPr>
                        <a:t>(Skeletal</a:t>
                      </a:r>
                      <a:r>
                        <a:rPr kumimoji="0" lang="en-US" altLang="ko-KR" sz="1200" b="0" baseline="0" dirty="0">
                          <a:solidFill>
                            <a:srgbClr val="9C1F00"/>
                          </a:solidFill>
                          <a:latin typeface="Arial" panose="020B0604020202020204" pitchFamily="34" charset="0"/>
                          <a:ea typeface="서울남산체 L" panose="02020603020101020101" pitchFamily="18" charset="-127"/>
                          <a:cs typeface="Arial" panose="020B0604020202020204" pitchFamily="34" charset="0"/>
                        </a:rPr>
                        <a:t> Muscle Mass)</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dirty="0">
                          <a:latin typeface="Arial" panose="020B0604020202020204" pitchFamily="34" charset="0"/>
                          <a:ea typeface="서울남산체 L" panose="02020603020101020101" pitchFamily="18" charset="-127"/>
                          <a:cs typeface="Arial" panose="020B0604020202020204" pitchFamily="34" charset="0"/>
                        </a:rPr>
                        <a:t>Insulin</a:t>
                      </a:r>
                      <a:r>
                        <a:rPr lang="en-US" altLang="ko-KR" sz="1200" b="0" baseline="0" dirty="0">
                          <a:latin typeface="Arial" panose="020B0604020202020204" pitchFamily="34" charset="0"/>
                          <a:ea typeface="서울남산체 L" panose="02020603020101020101" pitchFamily="18" charset="-127"/>
                          <a:cs typeface="Arial" panose="020B0604020202020204" pitchFamily="34" charset="0"/>
                        </a:rPr>
                        <a:t> resistance(sensitivity) related to low muscle mass</a:t>
                      </a: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extLst>
                  <a:ext uri="{0D108BD9-81ED-4DB2-BD59-A6C34878D82A}">
                    <a16:rowId xmlns:a16="http://schemas.microsoft.com/office/drawing/2014/main" val="10001"/>
                  </a:ext>
                </a:extLst>
              </a:tr>
              <a:tr h="823115">
                <a:tc vMerge="1">
                  <a:txBody>
                    <a:bodyPr/>
                    <a:lstStyle/>
                    <a:p>
                      <a:pPr latinLnBrk="1"/>
                      <a:endParaRPr lang="ko-KR" altLang="en-US"/>
                    </a:p>
                  </a:txBody>
                  <a:tcPr/>
                </a:tc>
                <a:tc vMerge="1">
                  <a:txBody>
                    <a:bodyPr/>
                    <a:lstStyle/>
                    <a:p>
                      <a:endParaRPr lang="ko-KR" altLang="en-US" dirty="0"/>
                    </a:p>
                  </a:txBody>
                  <a:tcPr anchor="ctr" anchorCtr="1"/>
                </a:tc>
                <a:tc vMerge="1">
                  <a:txBody>
                    <a:bodyPr/>
                    <a:lstStyle/>
                    <a:p>
                      <a:pPr marL="0" marR="0" lvl="0" indent="0" algn="l" defTabSz="685783" rtl="0" eaLnBrk="1" fontAlgn="auto" latinLnBrk="1" hangingPunct="1">
                        <a:lnSpc>
                          <a:spcPct val="100000"/>
                        </a:lnSpc>
                        <a:spcBef>
                          <a:spcPts val="0"/>
                        </a:spcBef>
                        <a:spcAft>
                          <a:spcPts val="0"/>
                        </a:spcAft>
                        <a:buClrTx/>
                        <a:buSzTx/>
                        <a:buFontTx/>
                        <a:buNone/>
                        <a:tabLst/>
                        <a:defRPr/>
                      </a:pP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a:txBody>
                    <a:bodyPr/>
                    <a:lstStyle/>
                    <a:p>
                      <a:pPr marL="0" marR="0" lvl="0" indent="0" algn="l" defTabSz="685783" rtl="0" eaLnBrk="1" fontAlgn="auto" latinLnBrk="1" hangingPunct="1">
                        <a:lnSpc>
                          <a:spcPct val="100000"/>
                        </a:lnSpc>
                        <a:spcBef>
                          <a:spcPts val="0"/>
                        </a:spcBef>
                        <a:spcAft>
                          <a:spcPts val="0"/>
                        </a:spcAft>
                        <a:buClrTx/>
                        <a:buSzTx/>
                        <a:buFontTx/>
                        <a:buNone/>
                        <a:tabLst/>
                        <a:defRPr/>
                      </a:pPr>
                      <a:r>
                        <a:rPr lang="en-US" altLang="ko-KR" sz="1200" b="0" dirty="0">
                          <a:latin typeface="Arial" panose="020B0604020202020204" pitchFamily="34" charset="0"/>
                          <a:ea typeface="서울남산체 L" panose="02020603020101020101" pitchFamily="18" charset="-127"/>
                          <a:cs typeface="Arial" panose="020B0604020202020204" pitchFamily="34" charset="0"/>
                        </a:rPr>
                        <a:t>High Body Fat</a:t>
                      </a: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a:txBody>
                    <a:bodyPr/>
                    <a:lstStyle/>
                    <a:p>
                      <a:pPr marL="0" marR="0" lvl="0" indent="0" algn="l" defTabSz="685783" rtl="0" eaLnBrk="1" fontAlgn="auto" latinLnBrk="1" hangingPunct="1">
                        <a:lnSpc>
                          <a:spcPct val="100000"/>
                        </a:lnSpc>
                        <a:spcBef>
                          <a:spcPts val="0"/>
                        </a:spcBef>
                        <a:spcAft>
                          <a:spcPts val="0"/>
                        </a:spcAft>
                        <a:buClrTx/>
                        <a:buSzTx/>
                        <a:buFontTx/>
                        <a:buNone/>
                        <a:tabLst/>
                        <a:defRPr/>
                      </a:pPr>
                      <a:r>
                        <a:rPr kumimoji="0" lang="en-US" altLang="ko-KR" sz="1200" b="0" baseline="0" dirty="0">
                          <a:solidFill>
                            <a:srgbClr val="9C1F00"/>
                          </a:solidFill>
                          <a:latin typeface="Arial" panose="020B0604020202020204" pitchFamily="34" charset="0"/>
                          <a:ea typeface="서울남산체 L" panose="02020603020101020101" pitchFamily="18" charset="-127"/>
                          <a:cs typeface="Arial" panose="020B0604020202020204" pitchFamily="34" charset="0"/>
                        </a:rPr>
                        <a:t>PBF</a:t>
                      </a:r>
                      <a:r>
                        <a:rPr kumimoji="0" lang="en-US" altLang="ko-KR" sz="1200" b="0" dirty="0">
                          <a:solidFill>
                            <a:srgbClr val="9C1F00"/>
                          </a:solidFill>
                          <a:latin typeface="Arial" panose="020B0604020202020204" pitchFamily="34" charset="0"/>
                          <a:ea typeface="서울남산체 L" panose="02020603020101020101" pitchFamily="18" charset="-127"/>
                          <a:cs typeface="Arial" panose="020B0604020202020204" pitchFamily="34" charset="0"/>
                        </a:rPr>
                        <a:t>(Percent Body Fat), VFA(Visceral</a:t>
                      </a:r>
                      <a:r>
                        <a:rPr kumimoji="0" lang="en-US" altLang="ko-KR" sz="1200" b="0" baseline="0" dirty="0">
                          <a:solidFill>
                            <a:srgbClr val="9C1F00"/>
                          </a:solidFill>
                          <a:latin typeface="Arial" panose="020B0604020202020204" pitchFamily="34" charset="0"/>
                          <a:ea typeface="서울남산체 L" panose="02020603020101020101" pitchFamily="18" charset="-127"/>
                          <a:cs typeface="Arial" panose="020B0604020202020204" pitchFamily="34" charset="0"/>
                        </a:rPr>
                        <a:t> Fat Area)</a:t>
                      </a:r>
                      <a:endParaRPr kumimoji="0" lang="en-US" altLang="ko-KR" sz="1200" b="0" dirty="0">
                        <a:solidFill>
                          <a:srgbClr val="9C1F00"/>
                        </a:solidFill>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a:txBody>
                    <a:bodyPr/>
                    <a:lstStyle/>
                    <a:p>
                      <a:pPr marL="0" marR="0" lvl="0" indent="0" algn="l" defTabSz="685783" rtl="0" eaLnBrk="1" fontAlgn="auto" latinLnBrk="1" hangingPunct="1">
                        <a:lnSpc>
                          <a:spcPct val="100000"/>
                        </a:lnSpc>
                        <a:spcBef>
                          <a:spcPts val="0"/>
                        </a:spcBef>
                        <a:spcAft>
                          <a:spcPts val="0"/>
                        </a:spcAft>
                        <a:buClrTx/>
                        <a:buSzTx/>
                        <a:buFontTx/>
                        <a:buNone/>
                        <a:tabLst/>
                        <a:defRPr/>
                      </a:pPr>
                      <a:r>
                        <a:rPr lang="en-US" altLang="ko-KR" sz="1200" b="0" kern="1200" dirty="0">
                          <a:solidFill>
                            <a:schemeClr val="tx1"/>
                          </a:solidFill>
                          <a:latin typeface="Arial" panose="020B0604020202020204" pitchFamily="34" charset="0"/>
                          <a:ea typeface="서울남산체 L" panose="02020603020101020101" pitchFamily="18" charset="-127"/>
                          <a:cs typeface="Arial" panose="020B0604020202020204" pitchFamily="34" charset="0"/>
                        </a:rPr>
                        <a:t>Obesity Evaluation</a:t>
                      </a:r>
                      <a:endParaRPr lang="ko-KR" altLang="en-US" sz="1200" b="0" kern="1200" dirty="0">
                        <a:solidFill>
                          <a:schemeClr val="tx1"/>
                        </a:solidFill>
                        <a:latin typeface="Arial" panose="020B0604020202020204" pitchFamily="34" charset="0"/>
                        <a:ea typeface="서울남산체 L" panose="02020603020101020101" pitchFamily="18" charset="-127"/>
                        <a:cs typeface="Arial" panose="020B0604020202020204" pitchFamily="34" charset="0"/>
                      </a:endParaRPr>
                    </a:p>
                  </a:txBody>
                  <a:tcPr anchor="ctr" anchorCtr="1"/>
                </a:tc>
                <a:extLst>
                  <a:ext uri="{0D108BD9-81ED-4DB2-BD59-A6C34878D82A}">
                    <a16:rowId xmlns:a16="http://schemas.microsoft.com/office/drawing/2014/main" val="10002"/>
                  </a:ext>
                </a:extLst>
              </a:tr>
              <a:tr h="587939">
                <a:tc rowSpan="2">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i="0" kern="1200" dirty="0">
                          <a:solidFill>
                            <a:schemeClr val="tx1"/>
                          </a:solidFill>
                          <a:latin typeface="Arial" panose="020B0604020202020204" pitchFamily="34" charset="0"/>
                          <a:ea typeface="서울남산체 L" panose="02020603020101020101" pitchFamily="18" charset="-127"/>
                          <a:cs typeface="Arial" panose="020B0604020202020204" pitchFamily="34" charset="0"/>
                        </a:rPr>
                        <a:t>Monitoring</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dirty="0">
                          <a:solidFill>
                            <a:schemeClr val="tx2"/>
                          </a:solidFill>
                          <a:latin typeface="Arial" panose="020B0604020202020204" pitchFamily="34" charset="0"/>
                          <a:ea typeface="서울남산체 L" panose="02020603020101020101" pitchFamily="18" charset="-127"/>
                          <a:cs typeface="Arial" panose="020B0604020202020204" pitchFamily="34" charset="0"/>
                        </a:rPr>
                        <a:t>Muscle Wasting Disease</a:t>
                      </a:r>
                      <a:endParaRPr lang="ko-KR" altLang="en-US" sz="1200" b="0" i="1" dirty="0">
                        <a:solidFill>
                          <a:schemeClr val="tx2"/>
                        </a:solidFill>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rowSpan="2">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kumimoji="0" lang="en-US" altLang="ko-KR" sz="1200" b="0" dirty="0">
                          <a:latin typeface="Arial" panose="020B0604020202020204" pitchFamily="34" charset="0"/>
                          <a:ea typeface="서울남산체 L" panose="02020603020101020101" pitchFamily="18" charset="-127"/>
                          <a:cs typeface="Arial" panose="020B0604020202020204" pitchFamily="34" charset="0"/>
                        </a:rPr>
                        <a:t>DM</a:t>
                      </a:r>
                      <a:r>
                        <a:rPr kumimoji="0" lang="en-US" altLang="ko-KR" sz="1200" b="0" baseline="0" dirty="0">
                          <a:latin typeface="Arial" panose="020B0604020202020204" pitchFamily="34" charset="0"/>
                          <a:ea typeface="서울남산체 L" panose="02020603020101020101" pitchFamily="18" charset="-127"/>
                          <a:cs typeface="Arial" panose="020B0604020202020204" pitchFamily="34" charset="0"/>
                        </a:rPr>
                        <a:t> patients</a:t>
                      </a:r>
                      <a:endParaRPr kumimoji="0" lang="en-US" altLang="ko-KR"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kumimoji="0" lang="en-US" altLang="ko-KR" sz="1200" b="0" dirty="0">
                          <a:latin typeface="Arial" panose="020B0604020202020204" pitchFamily="34" charset="0"/>
                          <a:ea typeface="서울남산체 L" panose="02020603020101020101" pitchFamily="18" charset="-127"/>
                          <a:cs typeface="Arial" panose="020B0604020202020204" pitchFamily="34" charset="0"/>
                        </a:rPr>
                        <a:t>Muscle Decrease</a:t>
                      </a:r>
                    </a:p>
                  </a:txBody>
                  <a:tcPr anchor="ctr" anchorCtr="1"/>
                </a:tc>
                <a:tc>
                  <a:txBody>
                    <a:bodyPr/>
                    <a:lstStyle/>
                    <a:p>
                      <a:pPr algn="ctr"/>
                      <a:r>
                        <a:rPr lang="en-US" altLang="ko-KR" sz="1200" b="0" dirty="0">
                          <a:solidFill>
                            <a:srgbClr val="9C1F00"/>
                          </a:solidFill>
                          <a:latin typeface="Arial" panose="020B0604020202020204" pitchFamily="34" charset="0"/>
                          <a:ea typeface="서울남산체 L" panose="02020603020101020101" pitchFamily="18" charset="-127"/>
                          <a:cs typeface="Arial" panose="020B0604020202020204" pitchFamily="34" charset="0"/>
                        </a:rPr>
                        <a:t>SMI</a:t>
                      </a:r>
                    </a:p>
                    <a:p>
                      <a:pPr algn="ctr"/>
                      <a:r>
                        <a:rPr kumimoji="0" lang="en-US" altLang="ko-KR" sz="1200" b="0" dirty="0">
                          <a:solidFill>
                            <a:srgbClr val="9C1F00"/>
                          </a:solidFill>
                          <a:latin typeface="Arial" panose="020B0604020202020204" pitchFamily="34" charset="0"/>
                          <a:ea typeface="서울남산체 L" panose="02020603020101020101" pitchFamily="18" charset="-127"/>
                          <a:cs typeface="Arial" panose="020B0604020202020204" pitchFamily="34" charset="0"/>
                        </a:rPr>
                        <a:t>(Skeletal Muscle</a:t>
                      </a:r>
                      <a:r>
                        <a:rPr kumimoji="0" lang="en-US" altLang="ko-KR" sz="1200" b="0" baseline="0" dirty="0">
                          <a:solidFill>
                            <a:srgbClr val="9C1F00"/>
                          </a:solidFill>
                          <a:latin typeface="Arial" panose="020B0604020202020204" pitchFamily="34" charset="0"/>
                          <a:ea typeface="서울남산체 L" panose="02020603020101020101" pitchFamily="18" charset="-127"/>
                          <a:cs typeface="Arial" panose="020B0604020202020204" pitchFamily="34" charset="0"/>
                        </a:rPr>
                        <a:t> </a:t>
                      </a:r>
                      <a:r>
                        <a:rPr kumimoji="0" lang="en-US" altLang="ko-KR" sz="1200" b="0" dirty="0">
                          <a:solidFill>
                            <a:srgbClr val="9C1F00"/>
                          </a:solidFill>
                          <a:latin typeface="Arial" panose="020B0604020202020204" pitchFamily="34" charset="0"/>
                          <a:ea typeface="서울남산체 L" panose="02020603020101020101" pitchFamily="18" charset="-127"/>
                          <a:cs typeface="Arial" panose="020B0604020202020204" pitchFamily="34" charset="0"/>
                        </a:rPr>
                        <a:t>Index)</a:t>
                      </a:r>
                    </a:p>
                  </a:txBody>
                  <a:tcPr anchor="ctr" anchorCtr="1"/>
                </a:tc>
                <a:tc>
                  <a:txBody>
                    <a:bodyPr/>
                    <a:lstStyle/>
                    <a:p>
                      <a:pPr algn="ctr" latinLnBrk="1"/>
                      <a:r>
                        <a:rPr lang="en-US" altLang="ko-KR" sz="1200" b="0" dirty="0">
                          <a:latin typeface="Arial" panose="020B0604020202020204" pitchFamily="34" charset="0"/>
                          <a:ea typeface="서울남산체 L" panose="02020603020101020101" pitchFamily="18" charset="-127"/>
                          <a:cs typeface="Arial" panose="020B0604020202020204" pitchFamily="34" charset="0"/>
                        </a:rPr>
                        <a:t>Sarcopenia</a:t>
                      </a:r>
                      <a:r>
                        <a:rPr lang="en-US" altLang="ko-KR" sz="1200" b="0" baseline="0" dirty="0">
                          <a:latin typeface="Arial" panose="020B0604020202020204" pitchFamily="34" charset="0"/>
                          <a:ea typeface="서울남산체 L" panose="02020603020101020101" pitchFamily="18" charset="-127"/>
                          <a:cs typeface="Arial" panose="020B0604020202020204" pitchFamily="34" charset="0"/>
                        </a:rPr>
                        <a:t> Evaluation</a:t>
                      </a: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extLst>
                  <a:ext uri="{0D108BD9-81ED-4DB2-BD59-A6C34878D82A}">
                    <a16:rowId xmlns:a16="http://schemas.microsoft.com/office/drawing/2014/main" val="10003"/>
                  </a:ext>
                </a:extLst>
              </a:tr>
              <a:tr h="732615">
                <a:tc vMerge="1">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endParaRPr lang="en-US" altLang="ko-KR" sz="1350" b="1" i="0" kern="1200" dirty="0">
                        <a:solidFill>
                          <a:schemeClr val="tx1"/>
                        </a:solidFill>
                        <a:latin typeface="서울남산체 L" panose="02020603020101020101" pitchFamily="18" charset="-127"/>
                        <a:ea typeface="서울남산체 L" panose="02020603020101020101" pitchFamily="18" charset="-127"/>
                        <a:cs typeface="Arial" charset="0"/>
                      </a:endParaRPr>
                    </a:p>
                  </a:txBody>
                  <a:tcPr anchor="ctr" anchorCtr="1"/>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2"/>
                          </a:solidFill>
                          <a:latin typeface="Arial" panose="020B0604020202020204" pitchFamily="34" charset="0"/>
                          <a:ea typeface="서울남산체 L" panose="02020603020101020101" pitchFamily="18" charset="-127"/>
                          <a:cs typeface="Arial" panose="020B0604020202020204" pitchFamily="34" charset="0"/>
                        </a:rPr>
                        <a:t>Risk of Complications</a:t>
                      </a:r>
                      <a:endParaRPr lang="ko-KR" altLang="en-US" sz="1200" b="0" dirty="0">
                        <a:solidFill>
                          <a:schemeClr val="tx2"/>
                        </a:solidFill>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vMerge="1">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dirty="0">
                          <a:latin typeface="Arial" panose="020B0604020202020204" pitchFamily="34" charset="0"/>
                          <a:ea typeface="서울남산체 L" panose="02020603020101020101" pitchFamily="18" charset="-127"/>
                          <a:cs typeface="Arial" panose="020B0604020202020204" pitchFamily="34" charset="0"/>
                        </a:rPr>
                        <a:t>Lower limb Edema</a:t>
                      </a: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kumimoji="0" lang="en-US" altLang="ko-KR" sz="1200" b="0" dirty="0">
                          <a:solidFill>
                            <a:srgbClr val="9C1F00"/>
                          </a:solidFill>
                          <a:latin typeface="Arial" panose="020B0604020202020204" pitchFamily="34" charset="0"/>
                          <a:ea typeface="서울남산체 L" panose="02020603020101020101" pitchFamily="18" charset="-127"/>
                          <a:cs typeface="Arial" panose="020B0604020202020204" pitchFamily="34" charset="0"/>
                        </a:rPr>
                        <a:t>Segmental ECW ratio</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dirty="0">
                          <a:latin typeface="Arial" panose="020B0604020202020204" pitchFamily="34" charset="0"/>
                          <a:ea typeface="서울남산체 L" panose="02020603020101020101" pitchFamily="18" charset="-127"/>
                          <a:cs typeface="Arial" panose="020B0604020202020204" pitchFamily="34" charset="0"/>
                        </a:rPr>
                        <a:t>Prevention of progress</a:t>
                      </a:r>
                      <a:r>
                        <a:rPr lang="en-US" altLang="ko-KR" sz="1200" b="0" baseline="0" dirty="0">
                          <a:latin typeface="Arial" panose="020B0604020202020204" pitchFamily="34" charset="0"/>
                          <a:ea typeface="서울남산체 L" panose="02020603020101020101" pitchFamily="18" charset="-127"/>
                          <a:cs typeface="Arial" panose="020B0604020202020204" pitchFamily="34" charset="0"/>
                        </a:rPr>
                        <a:t> to dialysis due to diabetes complications</a:t>
                      </a: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extLst>
                  <a:ext uri="{0D108BD9-81ED-4DB2-BD59-A6C34878D82A}">
                    <a16:rowId xmlns:a16="http://schemas.microsoft.com/office/drawing/2014/main" val="10004"/>
                  </a:ext>
                </a:extLst>
              </a:tr>
              <a:tr h="817085">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i="0" dirty="0">
                          <a:latin typeface="Arial" panose="020B0604020202020204" pitchFamily="34" charset="0"/>
                          <a:ea typeface="서울남산체 L" panose="02020603020101020101" pitchFamily="18" charset="-127"/>
                          <a:cs typeface="Arial" panose="020B0604020202020204" pitchFamily="34" charset="0"/>
                        </a:rPr>
                        <a:t>Motivating</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dirty="0">
                          <a:solidFill>
                            <a:schemeClr val="tx2"/>
                          </a:solidFill>
                          <a:latin typeface="Arial" panose="020B0604020202020204" pitchFamily="34" charset="0"/>
                          <a:ea typeface="서울남산체 L" panose="02020603020101020101" pitchFamily="18" charset="-127"/>
                          <a:cs typeface="Arial" panose="020B0604020202020204" pitchFamily="34" charset="0"/>
                        </a:rPr>
                        <a:t>Motivation for patients to</a:t>
                      </a:r>
                      <a:r>
                        <a:rPr lang="en-US" altLang="ko-KR" sz="1200" b="0" baseline="0" dirty="0">
                          <a:solidFill>
                            <a:schemeClr val="tx2"/>
                          </a:solidFill>
                          <a:latin typeface="Arial" panose="020B0604020202020204" pitchFamily="34" charset="0"/>
                          <a:ea typeface="서울남산체 L" panose="02020603020101020101" pitchFamily="18" charset="-127"/>
                          <a:cs typeface="Arial" panose="020B0604020202020204" pitchFamily="34" charset="0"/>
                        </a:rPr>
                        <a:t> </a:t>
                      </a:r>
                      <a:endParaRPr lang="ko-KR" altLang="en-US" sz="1200" b="0" dirty="0">
                        <a:solidFill>
                          <a:schemeClr val="tx2"/>
                        </a:solidFill>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a:txBody>
                    <a:bodyPr/>
                    <a:lstStyle/>
                    <a:p>
                      <a:pPr algn="ctr" latinLnBrk="1"/>
                      <a:r>
                        <a:rPr lang="en-US" altLang="ko-KR" sz="1200" b="0" dirty="0">
                          <a:latin typeface="Arial" panose="020B0604020202020204" pitchFamily="34" charset="0"/>
                          <a:ea typeface="서울남산체 L" panose="02020603020101020101" pitchFamily="18" charset="-127"/>
                          <a:cs typeface="Arial" panose="020B0604020202020204" pitchFamily="34" charset="0"/>
                        </a:rPr>
                        <a:t>DM patients</a:t>
                      </a: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gridSpan="3">
                  <a:txBody>
                    <a:bodyPr/>
                    <a:lstStyle/>
                    <a:p>
                      <a:pPr algn="ctr" latinLnBrk="1"/>
                      <a:r>
                        <a:rPr lang="en-US" altLang="ko-KR" sz="1200" b="0" dirty="0">
                          <a:latin typeface="Arial" panose="020B0604020202020204" pitchFamily="34" charset="0"/>
                          <a:ea typeface="서울남산체 L" panose="02020603020101020101" pitchFamily="18" charset="-127"/>
                          <a:cs typeface="Arial" panose="020B0604020202020204" pitchFamily="34" charset="0"/>
                        </a:rPr>
                        <a:t>To</a:t>
                      </a:r>
                      <a:r>
                        <a:rPr lang="en-US" altLang="ko-KR" sz="1200" b="0" baseline="0" dirty="0">
                          <a:latin typeface="Arial" panose="020B0604020202020204" pitchFamily="34" charset="0"/>
                          <a:ea typeface="서울남산체 L" panose="02020603020101020101" pitchFamily="18" charset="-127"/>
                          <a:cs typeface="Arial" panose="020B0604020202020204" pitchFamily="34" charset="0"/>
                        </a:rPr>
                        <a:t> motivate patients / people from understanding their risks for diabetes and complications that can occur with diabetes.</a:t>
                      </a: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hMerge="1">
                  <a:txBody>
                    <a:bodyPr/>
                    <a:lstStyle/>
                    <a:p>
                      <a:pPr algn="ctr"/>
                      <a:endParaRPr kumimoji="0" lang="en-US" altLang="ko-KR" sz="1500" b="1" dirty="0">
                        <a:solidFill>
                          <a:srgbClr val="9C1F00"/>
                        </a:solidFill>
                        <a:latin typeface="서울남산체 L" panose="02020603020101020101" pitchFamily="18" charset="-127"/>
                        <a:ea typeface="서울남산체 L" panose="02020603020101020101" pitchFamily="18" charset="-127"/>
                        <a:cs typeface="Arial" charset="0"/>
                      </a:endParaRPr>
                    </a:p>
                  </a:txBody>
                  <a:tcPr anchor="ctr" anchorCtr="1"/>
                </a:tc>
                <a:tc hMerge="1">
                  <a:txBody>
                    <a:bodyPr/>
                    <a:lstStyle/>
                    <a:p>
                      <a:pPr algn="ctr" latinLnBrk="1"/>
                      <a:endParaRPr lang="ko-KR" altLang="en-US" sz="1350" b="1" kern="1200" dirty="0">
                        <a:solidFill>
                          <a:schemeClr val="tx2"/>
                        </a:solidFill>
                        <a:latin typeface="서울남산체 L" panose="02020603020101020101" pitchFamily="18" charset="-127"/>
                        <a:ea typeface="서울남산체 L" panose="02020603020101020101" pitchFamily="18" charset="-127"/>
                        <a:cs typeface="+mn-cs"/>
                      </a:endParaRPr>
                    </a:p>
                  </a:txBody>
                  <a:tcPr anchor="ctr" anchorCtr="1"/>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60609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7C593-CDFA-413E-A007-51715BA581BC}"/>
              </a:ext>
            </a:extLst>
          </p:cNvPr>
          <p:cNvSpPr>
            <a:spLocks noGrp="1"/>
          </p:cNvSpPr>
          <p:nvPr>
            <p:ph type="title"/>
          </p:nvPr>
        </p:nvSpPr>
        <p:spPr>
          <a:xfrm>
            <a:off x="838200" y="1929974"/>
            <a:ext cx="10515600" cy="1325563"/>
          </a:xfrm>
        </p:spPr>
        <p:txBody>
          <a:bodyPr/>
          <a:lstStyle/>
          <a:p>
            <a:pPr algn="ctr"/>
            <a:r>
              <a:rPr lang="en-US" dirty="0"/>
              <a:t>Thank you </a:t>
            </a:r>
          </a:p>
        </p:txBody>
      </p:sp>
    </p:spTree>
    <p:extLst>
      <p:ext uri="{BB962C8B-B14F-4D97-AF65-F5344CB8AC3E}">
        <p14:creationId xmlns:p14="http://schemas.microsoft.com/office/powerpoint/2010/main" val="19030850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TotalTime>
  <Words>1252</Words>
  <Application>Microsoft Office PowerPoint</Application>
  <PresentationFormat>Widescreen</PresentationFormat>
  <Paragraphs>192</Paragraphs>
  <Slides>22</Slides>
  <Notes>6</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22</vt:i4>
      </vt:variant>
    </vt:vector>
  </HeadingPairs>
  <TitlesOfParts>
    <vt:vector size="38" baseType="lpstr">
      <vt:lpstr>맑은 고딕</vt:lpstr>
      <vt:lpstr>Arial</vt:lpstr>
      <vt:lpstr>Baskerville Old Face</vt:lpstr>
      <vt:lpstr>Calibri</vt:lpstr>
      <vt:lpstr>Calibri Light</vt:lpstr>
      <vt:lpstr>Cambria</vt:lpstr>
      <vt:lpstr>Courier New</vt:lpstr>
      <vt:lpstr>CQGIPG+Cambria</vt:lpstr>
      <vt:lpstr>Lato</vt:lpstr>
      <vt:lpstr>Montserrat</vt:lpstr>
      <vt:lpstr>Segoe UI</vt:lpstr>
      <vt:lpstr>Segoe UI Semibold</vt:lpstr>
      <vt:lpstr>Source Sans Pro</vt:lpstr>
      <vt:lpstr>Times New Roman</vt:lpstr>
      <vt:lpstr>서울남산체 L</vt:lpstr>
      <vt:lpstr>Office Theme</vt:lpstr>
      <vt:lpstr>PowerPoint Presentation</vt:lpstr>
      <vt:lpstr>What is type 2 Diabetes Mellitus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Body Fat and Diabetes Complication</vt:lpstr>
      <vt:lpstr>PowerPoint Presentation</vt:lpstr>
      <vt:lpstr>PowerPoint Presentation</vt:lpstr>
      <vt:lpstr>Water Retention</vt:lpstr>
      <vt:lpstr>PowerPoint Presentation</vt:lpstr>
      <vt:lpstr>ECW Ratio &amp; Diabetes Complications </vt:lpstr>
      <vt:lpstr>PowerPoint Presentation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Sakshi Mhatre</dc:creator>
  <cp:lastModifiedBy>Priyanshu Paras</cp:lastModifiedBy>
  <cp:revision>13</cp:revision>
  <dcterms:created xsi:type="dcterms:W3CDTF">2024-08-29T07:50:01Z</dcterms:created>
  <dcterms:modified xsi:type="dcterms:W3CDTF">2025-02-19T05:19:42Z</dcterms:modified>
</cp:coreProperties>
</file>