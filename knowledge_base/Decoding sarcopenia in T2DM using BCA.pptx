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2"/>
  </p:notesMasterIdLst>
  <p:sldIdLst>
    <p:sldId id="256" r:id="rId2"/>
    <p:sldId id="259" r:id="rId3"/>
    <p:sldId id="260" r:id="rId4"/>
    <p:sldId id="261" r:id="rId5"/>
    <p:sldId id="296" r:id="rId6"/>
    <p:sldId id="262" r:id="rId7"/>
    <p:sldId id="263" r:id="rId8"/>
    <p:sldId id="264" r:id="rId9"/>
    <p:sldId id="2146846890" r:id="rId10"/>
    <p:sldId id="2146846891" r:id="rId11"/>
    <p:sldId id="267" r:id="rId12"/>
    <p:sldId id="2146846897" r:id="rId13"/>
    <p:sldId id="303" r:id="rId14"/>
    <p:sldId id="298" r:id="rId15"/>
    <p:sldId id="299" r:id="rId16"/>
    <p:sldId id="300" r:id="rId17"/>
    <p:sldId id="301" r:id="rId18"/>
    <p:sldId id="359" r:id="rId19"/>
    <p:sldId id="302" r:id="rId20"/>
    <p:sldId id="2146846886" r:id="rId21"/>
    <p:sldId id="2146846887" r:id="rId22"/>
    <p:sldId id="2146846888" r:id="rId23"/>
    <p:sldId id="2146846889" r:id="rId24"/>
    <p:sldId id="2146846892" r:id="rId25"/>
    <p:sldId id="268" r:id="rId26"/>
    <p:sldId id="2146846893" r:id="rId27"/>
    <p:sldId id="269" r:id="rId28"/>
    <p:sldId id="272" r:id="rId29"/>
    <p:sldId id="2146846898" r:id="rId30"/>
    <p:sldId id="2146846899" r:id="rId31"/>
  </p:sldIdLst>
  <p:sldSz cx="9144000" cy="5143500" type="screen16x9"/>
  <p:notesSz cx="6858000" cy="9144000"/>
  <p:embeddedFontLst>
    <p:embeddedFont>
      <p:font typeface="맑은 고딕" panose="020B0503020000020004" pitchFamily="34" charset="-127"/>
      <p:regular r:id="rId33"/>
      <p:bold r:id="rId34"/>
    </p:embeddedFont>
    <p:embeddedFont>
      <p:font typeface="Albert Sans ExtraBold" panose="020B0604020202020204" charset="0"/>
      <p:bold r:id="rId35"/>
      <p:boldItalic r:id="rId36"/>
    </p:embeddedFont>
    <p:embeddedFont>
      <p:font typeface="Assistant" panose="020B0604020202020204" charset="-79"/>
      <p:regular r:id="rId37"/>
      <p:bold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Montserrat" panose="020B0604020202020204" charset="0"/>
      <p:regular r:id="rId43"/>
      <p:bold r:id="rId44"/>
      <p:italic r:id="rId45"/>
      <p:boldItalic r:id="rId46"/>
    </p:embeddedFont>
    <p:embeddedFont>
      <p:font typeface="Open Sans" panose="020B0604020202020204" charset="0"/>
      <p:regular r:id="rId47"/>
      <p:bold r:id="rId48"/>
      <p:italic r:id="rId49"/>
      <p:boldItalic r:id="rId50"/>
    </p:embeddedFont>
    <p:embeddedFont>
      <p:font typeface="Raleway" panose="020B0604020202020204" charset="0"/>
      <p:regular r:id="rId51"/>
      <p:bold r:id="rId52"/>
      <p:italic r:id="rId53"/>
      <p:boldItalic r:id="rId54"/>
    </p:embeddedFont>
    <p:embeddedFont>
      <p:font typeface="Roboto Serif" panose="020B060402020202020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83AED-DC88-4195-AA37-BBAFE95D6B62}">
  <a:tblStyle styleId="{1A283AED-DC88-4195-AA37-BBAFE95D6B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B6137C7-785B-4EFA-B221-050E941BD7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font" Target="fonts/font2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font" Target="fonts/font2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inbodykr-my.sharepoint.com/personal/shrutika_inbody_com/Documents/970%20Sarc%20dat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inbodykr-my.sharepoint.com/personal/shrutika_inbody_com/Documents/970%20Sarc%20data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https://inbodykr-my.sharepoint.com/personal/shrutika_inbody_com/Documents/970%20Sarc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FA-4750-80F9-EFBE285CF08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FA-4750-80F9-EFBE285CF0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 1'!$I$14:$J$14</c:f>
              <c:strCache>
                <c:ptCount val="2"/>
                <c:pt idx="0">
                  <c:v>Sarcopenic obese</c:v>
                </c:pt>
                <c:pt idx="1">
                  <c:v>Normal</c:v>
                </c:pt>
              </c:strCache>
            </c:strRef>
          </c:cat>
          <c:val>
            <c:numRef>
              <c:f>'Sheet 1'!$I$15:$J$15</c:f>
              <c:numCache>
                <c:formatCode>General</c:formatCode>
                <c:ptCount val="2"/>
                <c:pt idx="0">
                  <c:v>6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FA-4750-80F9-EFBE285CF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94-423E-9BD3-C2A3B987D3C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94-423E-9BD3-C2A3B987D3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 1'!$I$11:$J$11</c:f>
              <c:strCache>
                <c:ptCount val="2"/>
                <c:pt idx="0">
                  <c:v>Obese </c:v>
                </c:pt>
                <c:pt idx="1">
                  <c:v>Normal </c:v>
                </c:pt>
              </c:strCache>
            </c:strRef>
          </c:cat>
          <c:val>
            <c:numRef>
              <c:f>'Sheet 1'!$I$12:$J$12</c:f>
              <c:numCache>
                <c:formatCode>General</c:formatCode>
                <c:ptCount val="2"/>
                <c:pt idx="0">
                  <c:v>21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94-423E-9BD3-C2A3B987D3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565638670166228"/>
          <c:y val="0.11108705161854766"/>
          <c:w val="0.40535411198600174"/>
          <c:h val="0.67559018664333625"/>
        </c:manualLayout>
      </c:layout>
      <c:pieChart>
        <c:varyColors val="1"/>
        <c:ser>
          <c:idx val="0"/>
          <c:order val="0"/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FA-4D64-8EFB-E947F195D300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FA-4D64-8EFB-E947F195D3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 1'!$I$8:$J$8</c:f>
              <c:strCache>
                <c:ptCount val="2"/>
                <c:pt idx="0">
                  <c:v>Sarcopenic</c:v>
                </c:pt>
                <c:pt idx="1">
                  <c:v>Non- Sarcopenic</c:v>
                </c:pt>
              </c:strCache>
            </c:strRef>
          </c:cat>
          <c:val>
            <c:numRef>
              <c:f>'Sheet 1'!$I$9:$J$9</c:f>
              <c:numCache>
                <c:formatCode>General</c:formatCode>
                <c:ptCount val="2"/>
                <c:pt idx="0">
                  <c:v>2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FA-4D64-8EFB-E947F195D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437007874015749"/>
          <c:y val="0.89313466025080201"/>
          <c:w val="0.44348206474190727"/>
          <c:h val="8.37171916010498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B9EAD9-7BF4-4900-BC70-E3DD1FDDA869}" type="doc">
      <dgm:prSet loTypeId="urn:microsoft.com/office/officeart/2005/8/layout/pyramid1" loCatId="pyramid" qsTypeId="urn:microsoft.com/office/officeart/2005/8/quickstyle/simple1" qsCatId="simple" csTypeId="urn:microsoft.com/office/officeart/2005/8/colors/accent0_2" csCatId="mainScheme" phldr="1"/>
      <dgm:spPr/>
    </dgm:pt>
    <dgm:pt modelId="{6ECE5C45-044C-4E06-8137-691F5B027AE4}">
      <dgm:prSet phldrT="[Text]" phldr="0" custT="1"/>
      <dgm:spPr/>
      <dgm:t>
        <a:bodyPr/>
        <a:lstStyle/>
        <a:p>
          <a:pPr rtl="0"/>
          <a:endParaRPr lang="en-US" sz="900" b="1" dirty="0">
            <a:latin typeface="Aptos"/>
          </a:endParaRPr>
        </a:p>
        <a:p>
          <a:pPr rtl="0"/>
          <a:endParaRPr lang="en-US" sz="900" b="1" dirty="0">
            <a:latin typeface="Aptos"/>
          </a:endParaRPr>
        </a:p>
        <a:p>
          <a:pPr rtl="0"/>
          <a:endParaRPr lang="en-US" sz="900" b="1" dirty="0">
            <a:latin typeface="Aptos"/>
          </a:endParaRPr>
        </a:p>
        <a:p>
          <a:pPr rtl="0"/>
          <a:endParaRPr lang="en-US" sz="900" b="1" dirty="0">
            <a:latin typeface="Aptos"/>
          </a:endParaRPr>
        </a:p>
        <a:p>
          <a:pPr rtl="0"/>
          <a:r>
            <a:rPr lang="en-US" sz="900" b="1" dirty="0">
              <a:latin typeface="Aptos"/>
            </a:rPr>
            <a:t>Lifestyle Interventions</a:t>
          </a:r>
        </a:p>
        <a:p>
          <a:pPr rtl="0"/>
          <a:r>
            <a:rPr lang="en-US" sz="900" b="1" dirty="0">
              <a:latin typeface="Aptos"/>
            </a:rPr>
            <a:t> for Muscle Health</a:t>
          </a:r>
          <a:br>
            <a:rPr lang="en-US" sz="900" b="1" dirty="0">
              <a:latin typeface="Aptos"/>
            </a:rPr>
          </a:br>
          <a:r>
            <a:rPr lang="en-US" sz="900" b="1" dirty="0">
              <a:latin typeface="Aptos"/>
            </a:rPr>
            <a:t>Exercise &amp; Nutrition</a:t>
          </a:r>
          <a:endParaRPr lang="en-GB" sz="900" dirty="0"/>
        </a:p>
      </dgm:t>
    </dgm:pt>
    <dgm:pt modelId="{D8D2D9C0-FA7C-40A4-95A9-8420B2355A1D}" type="parTrans" cxnId="{3BD9308C-0AA2-40E7-B060-B604FD425BF6}">
      <dgm:prSet/>
      <dgm:spPr/>
      <dgm:t>
        <a:bodyPr/>
        <a:lstStyle/>
        <a:p>
          <a:endParaRPr lang="en-US"/>
        </a:p>
      </dgm:t>
    </dgm:pt>
    <dgm:pt modelId="{1AA15365-C1B8-45E7-BDD4-A37CA198CCEE}" type="sibTrans" cxnId="{3BD9308C-0AA2-40E7-B060-B604FD425BF6}">
      <dgm:prSet/>
      <dgm:spPr/>
      <dgm:t>
        <a:bodyPr/>
        <a:lstStyle/>
        <a:p>
          <a:endParaRPr lang="en-US"/>
        </a:p>
      </dgm:t>
    </dgm:pt>
    <dgm:pt modelId="{76DBE23A-1D1C-4E45-A99B-87A3A30BFCDE}">
      <dgm:prSet phldr="0" custT="1"/>
      <dgm:spPr/>
      <dgm:t>
        <a:bodyPr/>
        <a:lstStyle/>
        <a:p>
          <a:pPr algn="l" rtl="0"/>
          <a:r>
            <a:rPr lang="en-US" sz="1200" b="1" dirty="0">
              <a:latin typeface="Aptos"/>
            </a:rPr>
            <a:t>  Pharmacological Options &amp; Emerging Therapies</a:t>
          </a:r>
          <a:br>
            <a:rPr lang="en-US" sz="1400" b="1" dirty="0">
              <a:latin typeface="Aptos"/>
            </a:rPr>
          </a:br>
          <a:r>
            <a:rPr lang="en-US" sz="1400" dirty="0">
              <a:latin typeface="Aptos"/>
            </a:rPr>
            <a:t>New therapies include myostatin inhibitors, SARMs, and anti-inflammatory agents.</a:t>
          </a:r>
        </a:p>
      </dgm:t>
    </dgm:pt>
    <dgm:pt modelId="{E88FC241-5F5B-4F69-8B59-5B24AC83C787}" type="parTrans" cxnId="{7DCEDCEB-96B5-48A1-AEF0-9E2C79B62C30}">
      <dgm:prSet/>
      <dgm:spPr/>
      <dgm:t>
        <a:bodyPr/>
        <a:lstStyle/>
        <a:p>
          <a:endParaRPr lang="en-US"/>
        </a:p>
      </dgm:t>
    </dgm:pt>
    <dgm:pt modelId="{51668B92-C897-404A-BC87-F6B2A2B9E830}" type="sibTrans" cxnId="{7DCEDCEB-96B5-48A1-AEF0-9E2C79B62C30}">
      <dgm:prSet/>
      <dgm:spPr/>
      <dgm:t>
        <a:bodyPr/>
        <a:lstStyle/>
        <a:p>
          <a:endParaRPr lang="en-US"/>
        </a:p>
      </dgm:t>
    </dgm:pt>
    <dgm:pt modelId="{45A9D543-4C20-416C-B092-2C21D2AEDE14}">
      <dgm:prSet phldr="0"/>
      <dgm:spPr/>
      <dgm:t>
        <a:bodyPr/>
        <a:lstStyle/>
        <a:p>
          <a:pPr rtl="0"/>
          <a:r>
            <a:rPr lang="en-US" b="1" dirty="0">
              <a:latin typeface="Aptos"/>
            </a:rPr>
            <a:t>Regular Body Composition Monitoring</a:t>
          </a:r>
          <a:br>
            <a:rPr lang="en-US" b="1" dirty="0">
              <a:latin typeface="Aptos"/>
            </a:rPr>
          </a:br>
          <a:r>
            <a:rPr lang="en-US" sz="1100" dirty="0">
              <a:latin typeface="Calibri"/>
              <a:ea typeface="Calibri"/>
              <a:cs typeface="Calibri"/>
            </a:rPr>
            <a:t>complementary </a:t>
          </a:r>
          <a:r>
            <a:rPr lang="en-US" dirty="0">
              <a:latin typeface="Aptos"/>
            </a:rPr>
            <a:t>handgrip strength and gait speed  tests</a:t>
          </a:r>
        </a:p>
      </dgm:t>
    </dgm:pt>
    <dgm:pt modelId="{FC0B8880-8003-4811-9963-466CE9DDBD22}" type="parTrans" cxnId="{AA1EB662-F7F9-4E31-B316-5FA65BFF40D5}">
      <dgm:prSet/>
      <dgm:spPr/>
      <dgm:t>
        <a:bodyPr/>
        <a:lstStyle/>
        <a:p>
          <a:endParaRPr lang="en-US"/>
        </a:p>
      </dgm:t>
    </dgm:pt>
    <dgm:pt modelId="{BBA31F0A-2069-442E-A3BD-5F91CF139607}" type="sibTrans" cxnId="{AA1EB662-F7F9-4E31-B316-5FA65BFF40D5}">
      <dgm:prSet/>
      <dgm:spPr/>
      <dgm:t>
        <a:bodyPr/>
        <a:lstStyle/>
        <a:p>
          <a:endParaRPr lang="en-US"/>
        </a:p>
      </dgm:t>
    </dgm:pt>
    <dgm:pt modelId="{DA93A7AE-626D-4D3F-B061-7C3DED35589A}" type="pres">
      <dgm:prSet presAssocID="{A4B9EAD9-7BF4-4900-BC70-E3DD1FDDA869}" presName="Name0" presStyleCnt="0">
        <dgm:presLayoutVars>
          <dgm:dir/>
          <dgm:animLvl val="lvl"/>
          <dgm:resizeHandles val="exact"/>
        </dgm:presLayoutVars>
      </dgm:prSet>
      <dgm:spPr/>
    </dgm:pt>
    <dgm:pt modelId="{14B88A55-55F7-4BD1-BF02-65C730F9490A}" type="pres">
      <dgm:prSet presAssocID="{6ECE5C45-044C-4E06-8137-691F5B027AE4}" presName="Name8" presStyleCnt="0"/>
      <dgm:spPr/>
    </dgm:pt>
    <dgm:pt modelId="{888CD9F4-0DD6-4FE4-826D-A4DC55A8242F}" type="pres">
      <dgm:prSet presAssocID="{6ECE5C45-044C-4E06-8137-691F5B027AE4}" presName="level" presStyleLbl="node1" presStyleIdx="0" presStyleCnt="3">
        <dgm:presLayoutVars>
          <dgm:chMax val="1"/>
          <dgm:bulletEnabled val="1"/>
        </dgm:presLayoutVars>
      </dgm:prSet>
      <dgm:spPr/>
    </dgm:pt>
    <dgm:pt modelId="{9C54944F-9C31-4928-9D0F-C0A0424B6A20}" type="pres">
      <dgm:prSet presAssocID="{6ECE5C45-044C-4E06-8137-691F5B027AE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8B61374-AA86-4EF7-9568-B4A2657C2D72}" type="pres">
      <dgm:prSet presAssocID="{76DBE23A-1D1C-4E45-A99B-87A3A30BFCDE}" presName="Name8" presStyleCnt="0"/>
      <dgm:spPr/>
    </dgm:pt>
    <dgm:pt modelId="{773C349C-E465-44B1-BED3-20E1492601BD}" type="pres">
      <dgm:prSet presAssocID="{76DBE23A-1D1C-4E45-A99B-87A3A30BFCDE}" presName="level" presStyleLbl="node1" presStyleIdx="1" presStyleCnt="3">
        <dgm:presLayoutVars>
          <dgm:chMax val="1"/>
          <dgm:bulletEnabled val="1"/>
        </dgm:presLayoutVars>
      </dgm:prSet>
      <dgm:spPr/>
    </dgm:pt>
    <dgm:pt modelId="{2F3899C2-9F45-44F3-A9CC-3F65CF47E157}" type="pres">
      <dgm:prSet presAssocID="{76DBE23A-1D1C-4E45-A99B-87A3A30BFCD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78D0BF9-1768-4146-A1E6-4F89AD639EAA}" type="pres">
      <dgm:prSet presAssocID="{45A9D543-4C20-416C-B092-2C21D2AEDE14}" presName="Name8" presStyleCnt="0"/>
      <dgm:spPr/>
    </dgm:pt>
    <dgm:pt modelId="{6A5D08D2-B281-4373-8749-7ACFB6F26D66}" type="pres">
      <dgm:prSet presAssocID="{45A9D543-4C20-416C-B092-2C21D2AEDE14}" presName="level" presStyleLbl="node1" presStyleIdx="2" presStyleCnt="3">
        <dgm:presLayoutVars>
          <dgm:chMax val="1"/>
          <dgm:bulletEnabled val="1"/>
        </dgm:presLayoutVars>
      </dgm:prSet>
      <dgm:spPr/>
    </dgm:pt>
    <dgm:pt modelId="{C042868D-8C81-441D-BA4D-269ECDD04D84}" type="pres">
      <dgm:prSet presAssocID="{45A9D543-4C20-416C-B092-2C21D2AEDE1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5F2FA15-D193-4FD9-BBC4-A3709976962B}" type="presOf" srcId="{6ECE5C45-044C-4E06-8137-691F5B027AE4}" destId="{888CD9F4-0DD6-4FE4-826D-A4DC55A8242F}" srcOrd="0" destOrd="0" presId="urn:microsoft.com/office/officeart/2005/8/layout/pyramid1"/>
    <dgm:cxn modelId="{6E534A5C-A996-4E26-B344-B8D7520B3A5F}" type="presOf" srcId="{76DBE23A-1D1C-4E45-A99B-87A3A30BFCDE}" destId="{773C349C-E465-44B1-BED3-20E1492601BD}" srcOrd="0" destOrd="0" presId="urn:microsoft.com/office/officeart/2005/8/layout/pyramid1"/>
    <dgm:cxn modelId="{AA1EB662-F7F9-4E31-B316-5FA65BFF40D5}" srcId="{A4B9EAD9-7BF4-4900-BC70-E3DD1FDDA869}" destId="{45A9D543-4C20-416C-B092-2C21D2AEDE14}" srcOrd="2" destOrd="0" parTransId="{FC0B8880-8003-4811-9963-466CE9DDBD22}" sibTransId="{BBA31F0A-2069-442E-A3BD-5F91CF139607}"/>
    <dgm:cxn modelId="{93F9088A-1CB8-4FB5-96AA-B600B7DE1958}" type="presOf" srcId="{45A9D543-4C20-416C-B092-2C21D2AEDE14}" destId="{6A5D08D2-B281-4373-8749-7ACFB6F26D66}" srcOrd="0" destOrd="0" presId="urn:microsoft.com/office/officeart/2005/8/layout/pyramid1"/>
    <dgm:cxn modelId="{3BD9308C-0AA2-40E7-B060-B604FD425BF6}" srcId="{A4B9EAD9-7BF4-4900-BC70-E3DD1FDDA869}" destId="{6ECE5C45-044C-4E06-8137-691F5B027AE4}" srcOrd="0" destOrd="0" parTransId="{D8D2D9C0-FA7C-40A4-95A9-8420B2355A1D}" sibTransId="{1AA15365-C1B8-45E7-BDD4-A37CA198CCEE}"/>
    <dgm:cxn modelId="{E5C761AE-A2CD-44E7-B94F-99F4FDCD00F4}" type="presOf" srcId="{76DBE23A-1D1C-4E45-A99B-87A3A30BFCDE}" destId="{2F3899C2-9F45-44F3-A9CC-3F65CF47E157}" srcOrd="1" destOrd="0" presId="urn:microsoft.com/office/officeart/2005/8/layout/pyramid1"/>
    <dgm:cxn modelId="{7DCEDCEB-96B5-48A1-AEF0-9E2C79B62C30}" srcId="{A4B9EAD9-7BF4-4900-BC70-E3DD1FDDA869}" destId="{76DBE23A-1D1C-4E45-A99B-87A3A30BFCDE}" srcOrd="1" destOrd="0" parTransId="{E88FC241-5F5B-4F69-8B59-5B24AC83C787}" sibTransId="{51668B92-C897-404A-BC87-F6B2A2B9E830}"/>
    <dgm:cxn modelId="{077843F1-ADC3-41BF-AB08-089EC72708E8}" type="presOf" srcId="{A4B9EAD9-7BF4-4900-BC70-E3DD1FDDA869}" destId="{DA93A7AE-626D-4D3F-B061-7C3DED35589A}" srcOrd="0" destOrd="0" presId="urn:microsoft.com/office/officeart/2005/8/layout/pyramid1"/>
    <dgm:cxn modelId="{9D1ADEF6-FDA2-414A-A1F8-9388F9555F03}" type="presOf" srcId="{45A9D543-4C20-416C-B092-2C21D2AEDE14}" destId="{C042868D-8C81-441D-BA4D-269ECDD04D84}" srcOrd="1" destOrd="0" presId="urn:microsoft.com/office/officeart/2005/8/layout/pyramid1"/>
    <dgm:cxn modelId="{75A957FD-5628-4097-A178-F69F91DF2C9A}" type="presOf" srcId="{6ECE5C45-044C-4E06-8137-691F5B027AE4}" destId="{9C54944F-9C31-4928-9D0F-C0A0424B6A20}" srcOrd="1" destOrd="0" presId="urn:microsoft.com/office/officeart/2005/8/layout/pyramid1"/>
    <dgm:cxn modelId="{443940C6-5264-4CF7-95E8-9106FA9B2A8E}" type="presParOf" srcId="{DA93A7AE-626D-4D3F-B061-7C3DED35589A}" destId="{14B88A55-55F7-4BD1-BF02-65C730F9490A}" srcOrd="0" destOrd="0" presId="urn:microsoft.com/office/officeart/2005/8/layout/pyramid1"/>
    <dgm:cxn modelId="{9ED2D515-10AD-4680-BF0D-4A03D8C877B8}" type="presParOf" srcId="{14B88A55-55F7-4BD1-BF02-65C730F9490A}" destId="{888CD9F4-0DD6-4FE4-826D-A4DC55A8242F}" srcOrd="0" destOrd="0" presId="urn:microsoft.com/office/officeart/2005/8/layout/pyramid1"/>
    <dgm:cxn modelId="{1BDC43F8-5197-458C-9C79-A50345935D4F}" type="presParOf" srcId="{14B88A55-55F7-4BD1-BF02-65C730F9490A}" destId="{9C54944F-9C31-4928-9D0F-C0A0424B6A20}" srcOrd="1" destOrd="0" presId="urn:microsoft.com/office/officeart/2005/8/layout/pyramid1"/>
    <dgm:cxn modelId="{C67EB5E9-8EDE-4194-893D-3D8FDA5A664E}" type="presParOf" srcId="{DA93A7AE-626D-4D3F-B061-7C3DED35589A}" destId="{D8B61374-AA86-4EF7-9568-B4A2657C2D72}" srcOrd="1" destOrd="0" presId="urn:microsoft.com/office/officeart/2005/8/layout/pyramid1"/>
    <dgm:cxn modelId="{043FAA87-A300-4C68-8E90-7150E09D2AE4}" type="presParOf" srcId="{D8B61374-AA86-4EF7-9568-B4A2657C2D72}" destId="{773C349C-E465-44B1-BED3-20E1492601BD}" srcOrd="0" destOrd="0" presId="urn:microsoft.com/office/officeart/2005/8/layout/pyramid1"/>
    <dgm:cxn modelId="{82145E6E-83CD-45B2-AE66-E120C40C38D5}" type="presParOf" srcId="{D8B61374-AA86-4EF7-9568-B4A2657C2D72}" destId="{2F3899C2-9F45-44F3-A9CC-3F65CF47E157}" srcOrd="1" destOrd="0" presId="urn:microsoft.com/office/officeart/2005/8/layout/pyramid1"/>
    <dgm:cxn modelId="{2EF580FD-2EC2-49C2-8721-0821A65886C7}" type="presParOf" srcId="{DA93A7AE-626D-4D3F-B061-7C3DED35589A}" destId="{E78D0BF9-1768-4146-A1E6-4F89AD639EAA}" srcOrd="2" destOrd="0" presId="urn:microsoft.com/office/officeart/2005/8/layout/pyramid1"/>
    <dgm:cxn modelId="{1F64BD5E-E1CF-4AE8-93AF-0A6E9A19D3C5}" type="presParOf" srcId="{E78D0BF9-1768-4146-A1E6-4F89AD639EAA}" destId="{6A5D08D2-B281-4373-8749-7ACFB6F26D66}" srcOrd="0" destOrd="0" presId="urn:microsoft.com/office/officeart/2005/8/layout/pyramid1"/>
    <dgm:cxn modelId="{878F257C-174F-41DF-8E16-9D27A4473C49}" type="presParOf" srcId="{E78D0BF9-1768-4146-A1E6-4F89AD639EAA}" destId="{C042868D-8C81-441D-BA4D-269ECDD04D84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CD9F4-0DD6-4FE4-826D-A4DC55A8242F}">
      <dsp:nvSpPr>
        <dsp:cNvPr id="0" name=""/>
        <dsp:cNvSpPr/>
      </dsp:nvSpPr>
      <dsp:spPr>
        <a:xfrm>
          <a:off x="1524000" y="0"/>
          <a:ext cx="1523999" cy="1219199"/>
        </a:xfrm>
        <a:prstGeom prst="trapezoid">
          <a:avLst>
            <a:gd name="adj" fmla="val 6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latin typeface="Aptos"/>
          </a:endParaRP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latin typeface="Aptos"/>
          </a:endParaRP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latin typeface="Aptos"/>
          </a:endParaRP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latin typeface="Aptos"/>
          </a:endParaRP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/>
            </a:rPr>
            <a:t>Lifestyle Interventions</a:t>
          </a:r>
        </a:p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latin typeface="Aptos"/>
            </a:rPr>
            <a:t> for Muscle Health</a:t>
          </a:r>
          <a:br>
            <a:rPr lang="en-US" sz="900" b="1" kern="1200" dirty="0">
              <a:latin typeface="Aptos"/>
            </a:rPr>
          </a:br>
          <a:r>
            <a:rPr lang="en-US" sz="900" b="1" kern="1200" dirty="0">
              <a:latin typeface="Aptos"/>
            </a:rPr>
            <a:t>Exercise &amp; Nutrition</a:t>
          </a:r>
          <a:endParaRPr lang="en-GB" sz="900" kern="1200" dirty="0"/>
        </a:p>
      </dsp:txBody>
      <dsp:txXfrm>
        <a:off x="1524000" y="0"/>
        <a:ext cx="1523999" cy="1219199"/>
      </dsp:txXfrm>
    </dsp:sp>
    <dsp:sp modelId="{773C349C-E465-44B1-BED3-20E1492601BD}">
      <dsp:nvSpPr>
        <dsp:cNvPr id="0" name=""/>
        <dsp:cNvSpPr/>
      </dsp:nvSpPr>
      <dsp:spPr>
        <a:xfrm>
          <a:off x="762000" y="1219199"/>
          <a:ext cx="3047999" cy="1219199"/>
        </a:xfrm>
        <a:prstGeom prst="trapezoid">
          <a:avLst>
            <a:gd name="adj" fmla="val 6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Aptos"/>
            </a:rPr>
            <a:t>  Pharmacological Options &amp; Emerging Therapies</a:t>
          </a:r>
          <a:br>
            <a:rPr lang="en-US" sz="1400" b="1" kern="1200" dirty="0">
              <a:latin typeface="Aptos"/>
            </a:rPr>
          </a:br>
          <a:r>
            <a:rPr lang="en-US" sz="1400" kern="1200" dirty="0">
              <a:latin typeface="Aptos"/>
            </a:rPr>
            <a:t>New therapies include myostatin inhibitors, SARMs, and anti-inflammatory agents.</a:t>
          </a:r>
        </a:p>
      </dsp:txBody>
      <dsp:txXfrm>
        <a:off x="1295400" y="1219199"/>
        <a:ext cx="1981200" cy="1219199"/>
      </dsp:txXfrm>
    </dsp:sp>
    <dsp:sp modelId="{6A5D08D2-B281-4373-8749-7ACFB6F26D66}">
      <dsp:nvSpPr>
        <dsp:cNvPr id="0" name=""/>
        <dsp:cNvSpPr/>
      </dsp:nvSpPr>
      <dsp:spPr>
        <a:xfrm>
          <a:off x="0" y="2438399"/>
          <a:ext cx="4571999" cy="1219199"/>
        </a:xfrm>
        <a:prstGeom prst="trapezoid">
          <a:avLst>
            <a:gd name="adj" fmla="val 6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ptos"/>
            </a:rPr>
            <a:t>Regular Body Composition Monitoring</a:t>
          </a:r>
          <a:br>
            <a:rPr lang="en-US" sz="1900" b="1" kern="1200" dirty="0">
              <a:latin typeface="Aptos"/>
            </a:rPr>
          </a:br>
          <a:r>
            <a:rPr lang="en-US" sz="1900" kern="1200" dirty="0">
              <a:latin typeface="Calibri"/>
              <a:ea typeface="Calibri"/>
              <a:cs typeface="Calibri"/>
            </a:rPr>
            <a:t>complementary </a:t>
          </a:r>
          <a:r>
            <a:rPr lang="en-US" sz="1900" kern="1200" dirty="0">
              <a:latin typeface="Aptos"/>
            </a:rPr>
            <a:t>handgrip strength and gait speed  tests</a:t>
          </a:r>
        </a:p>
      </dsp:txBody>
      <dsp:txXfrm>
        <a:off x="800100" y="2438399"/>
        <a:ext cx="2971800" cy="1219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1:14.1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24564,'0'261'0,"426"-261"0,-426-261 0,-426 261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1:28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24495,'0'227'0,"743"-227"0,-743-227 0,-743 227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2:07.5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2:18.7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0,'300'22'0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1:14.1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24564,'0'261'0,"426"-261"0,-426-261 0,-426 261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1:28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24495,'0'227'0,"743"-227"0,-743-227 0,-743 227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3:42:07.5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0,'303'0'0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4:08:06.33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0,'303'0'0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4:08:12.63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0,'303'0'0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4:08:29.7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0,'303'0'0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0T04:16:04.1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0,'303'0'0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Sarcopenia and obesity frequently coexist in Type 2 Diabetes (T2D).</a:t>
            </a:r>
          </a:p>
          <a:p>
            <a:r>
              <a:rPr lang="en-US" dirty="0"/>
              <a:t>Body composition analysis (BCA) enables early detection of muscle–fat imbalance.</a:t>
            </a:r>
          </a:p>
          <a:p>
            <a:r>
              <a:rPr lang="en-US" dirty="0"/>
              <a:t>Understanding these interactions helps improve diabetic management and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90f68c5a7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90f68c5a7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Sarcopenia and obesity frequently coexist in Type 2 Diabetes (T2D).</a:t>
            </a:r>
          </a:p>
          <a:p>
            <a:r>
              <a:rPr lang="en-US" dirty="0"/>
              <a:t>Body composition analysis (BCA) enables early detection of muscle–fat imbalance.</a:t>
            </a:r>
          </a:p>
          <a:p>
            <a:r>
              <a:rPr lang="en-US" dirty="0"/>
              <a:t>Understanding these interactions helps improve diabetic management and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5897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0f68c5a7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90f68c5a7b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90f68c5a7b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90f68c5a7b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0f68c5a7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0f68c5a7b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Sarcopenia and obesity frequently coexist in Type 2 Diabetes (T2D).</a:t>
            </a:r>
          </a:p>
          <a:p>
            <a:r>
              <a:rPr lang="en-US" dirty="0"/>
              <a:t>Body composition analysis (BCA) enables early detection of muscle–fat imbalance.</a:t>
            </a:r>
          </a:p>
          <a:p>
            <a:r>
              <a:rPr lang="en-US" dirty="0"/>
              <a:t>Understanding these interactions helps improve diabetic management and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4655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90f68c5a7b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90f68c5a7b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410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Sarcopenia and obesity frequently coexist in Type 2 Diabetes (T2D).</a:t>
            </a:r>
          </a:p>
          <a:p>
            <a:r>
              <a:rPr lang="en-US" dirty="0"/>
              <a:t>Body composition analysis (BCA) enables early detection of muscle–fat imbalance.</a:t>
            </a:r>
          </a:p>
          <a:p>
            <a:r>
              <a:rPr lang="en-US" dirty="0"/>
              <a:t>Understanding these interactions helps improve diabetic management and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593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9fa940987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a9fa940987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InBody allows us to go beyond appearances and numbers on a scale.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detecs: Muscle analysis, fat analysis, SMI, Handgrip strength.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9fa940987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a9fa940987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studies showed the gradual degradation of Muscle mass can lead to mortality, </a:t>
            </a:r>
            <a:r>
              <a:rPr lang="en-US" dirty="0" err="1"/>
              <a:t>maa’am</a:t>
            </a:r>
            <a:r>
              <a:rPr lang="en-US" dirty="0"/>
              <a:t> this parameters will help u asses the skeletal muscle mass and segmental lean analysis.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f52c02522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4f52c02522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a9fa940987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a9fa940987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It helps us quantify muscle mass relative to height — a more meaningful indicator than BMI.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1252538"/>
            <a:ext cx="6013450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그렇기 </a:t>
            </a:r>
            <a:r>
              <a:rPr lang="ko-KR" altLang="en-US" dirty="0" err="1"/>
              <a:t>떄문에</a:t>
            </a:r>
            <a:r>
              <a:rPr lang="ko-KR" altLang="en-US" dirty="0"/>
              <a:t> 우리는 </a:t>
            </a:r>
            <a:r>
              <a:rPr lang="ko-KR" altLang="en-US" dirty="0" err="1"/>
              <a:t>근육량을</a:t>
            </a:r>
            <a:r>
              <a:rPr lang="ko-KR" altLang="en-US" dirty="0"/>
              <a:t> 통해 당뇨의 위험을 </a:t>
            </a:r>
            <a:r>
              <a:rPr lang="en-US" altLang="ko-KR" dirty="0"/>
              <a:t>Screening</a:t>
            </a:r>
            <a:r>
              <a:rPr lang="ko-KR" altLang="en-US" dirty="0"/>
              <a:t>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당뇨인 환자들의 </a:t>
            </a:r>
            <a:r>
              <a:rPr lang="ko-KR" altLang="en-US" dirty="0" err="1"/>
              <a:t>근육량이</a:t>
            </a:r>
            <a:r>
              <a:rPr lang="ko-KR" altLang="en-US" dirty="0"/>
              <a:t> 줄어들지 않도록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 err="1"/>
              <a:t>저근육증이</a:t>
            </a:r>
            <a:r>
              <a:rPr lang="ko-KR" altLang="en-US" baseline="0" dirty="0"/>
              <a:t> 오지 않도록 </a:t>
            </a:r>
            <a:r>
              <a:rPr lang="ko-KR" altLang="en-US" baseline="0" dirty="0" err="1"/>
              <a:t>인바디를</a:t>
            </a:r>
            <a:r>
              <a:rPr lang="ko-KR" altLang="en-US" baseline="0" dirty="0"/>
              <a:t> 통해 </a:t>
            </a:r>
            <a:r>
              <a:rPr lang="ko-KR" altLang="en-US" baseline="0" dirty="0" err="1"/>
              <a:t>관리해야한다고</a:t>
            </a:r>
            <a:r>
              <a:rPr lang="ko-KR" altLang="en-US" baseline="0" dirty="0"/>
              <a:t> 말할 수 있는 것이다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A263E-28DE-49B3-B84E-87978C2BD59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34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f52c02522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4f52c02522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Sarcopenia and obesity frequently coexist in Type 2 Diabetes (T2D).</a:t>
            </a:r>
          </a:p>
          <a:p>
            <a:r>
              <a:rPr lang="en-US" dirty="0"/>
              <a:t>Body composition analysis (BCA) enables early detection of muscle–fat imbalance.</a:t>
            </a:r>
          </a:p>
          <a:p>
            <a:r>
              <a:rPr lang="en-US" dirty="0"/>
              <a:t>Understanding these interactions helps improve diabetic management and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1415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90f68c5a7b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90f68c5a7b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Sarcopenia and obesity frequently coexist in Type 2 Diabetes (T2D).</a:t>
            </a:r>
          </a:p>
          <a:p>
            <a:r>
              <a:rPr lang="en-US" dirty="0"/>
              <a:t>Body composition analysis (BCA) enables early detection of muscle–fat imbalance.</a:t>
            </a:r>
          </a:p>
          <a:p>
            <a:r>
              <a:rPr lang="en-US" dirty="0"/>
              <a:t>Understanding these interactions helps improve diabetic management and outcomes.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4934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05afc42a3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105afc42a3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90f68c5a7b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90f68c5a7b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244300" y="507000"/>
            <a:ext cx="4127499" cy="412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3745200" y="0"/>
            <a:ext cx="1653600" cy="5143500"/>
            <a:chOff x="3745200" y="0"/>
            <a:chExt cx="1653600" cy="5143500"/>
          </a:xfrm>
        </p:grpSpPr>
        <p:sp>
          <p:nvSpPr>
            <p:cNvPr id="11" name="Google Shape;11;p2"/>
            <p:cNvSpPr/>
            <p:nvPr/>
          </p:nvSpPr>
          <p:spPr>
            <a:xfrm>
              <a:off x="3745200" y="0"/>
              <a:ext cx="1653600" cy="886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45200" y="4257300"/>
              <a:ext cx="1653600" cy="886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2787" y="1566725"/>
            <a:ext cx="5818500" cy="148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62713" y="3167276"/>
            <a:ext cx="581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311450" y="-247490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 rot="-5400000">
            <a:off x="-3837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412275" y="2301100"/>
            <a:ext cx="51399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 b="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300" b="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>
            <a:spLocks noGrp="1"/>
          </p:cNvSpPr>
          <p:nvPr>
            <p:ph type="pic" idx="3"/>
          </p:nvPr>
        </p:nvSpPr>
        <p:spPr>
          <a:xfrm>
            <a:off x="7030425" y="507000"/>
            <a:ext cx="2113500" cy="4129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789550" y="-213935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4275025" y="3053900"/>
            <a:ext cx="33345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720000" y="3053900"/>
            <a:ext cx="33345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720000" y="2327850"/>
            <a:ext cx="33345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275025" y="2327850"/>
            <a:ext cx="33345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907750" y="3303725"/>
            <a:ext cx="4127499" cy="41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871175" y="1689800"/>
            <a:ext cx="3759300" cy="19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0" y="507000"/>
            <a:ext cx="3203700" cy="4129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871175" y="445025"/>
            <a:ext cx="4552800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804450" y="50700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subTitle" idx="1"/>
          </p:nvPr>
        </p:nvSpPr>
        <p:spPr>
          <a:xfrm>
            <a:off x="3684700" y="1133525"/>
            <a:ext cx="3191400" cy="8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>
            <a:spLocks noGrp="1"/>
          </p:cNvSpPr>
          <p:nvPr>
            <p:ph type="pic" idx="2"/>
          </p:nvPr>
        </p:nvSpPr>
        <p:spPr>
          <a:xfrm>
            <a:off x="2786575" y="2676850"/>
            <a:ext cx="3680400" cy="24666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>
            <a:spLocks noGrp="1"/>
          </p:cNvSpPr>
          <p:nvPr>
            <p:ph type="pic" idx="3"/>
          </p:nvPr>
        </p:nvSpPr>
        <p:spPr>
          <a:xfrm>
            <a:off x="0" y="535000"/>
            <a:ext cx="3117300" cy="40737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3684700" y="445025"/>
            <a:ext cx="4744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730000" y="-2555150"/>
            <a:ext cx="4127499" cy="41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1"/>
          </p:nvPr>
        </p:nvSpPr>
        <p:spPr>
          <a:xfrm>
            <a:off x="720000" y="269930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subTitle" idx="2"/>
          </p:nvPr>
        </p:nvSpPr>
        <p:spPr>
          <a:xfrm>
            <a:off x="3190525" y="269930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3"/>
          </p:nvPr>
        </p:nvSpPr>
        <p:spPr>
          <a:xfrm>
            <a:off x="5661050" y="2699301"/>
            <a:ext cx="2175300" cy="19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ubTitle" idx="4"/>
          </p:nvPr>
        </p:nvSpPr>
        <p:spPr>
          <a:xfrm>
            <a:off x="720000" y="20467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5"/>
          </p:nvPr>
        </p:nvSpPr>
        <p:spPr>
          <a:xfrm>
            <a:off x="3190522" y="20467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ubTitle" idx="6"/>
          </p:nvPr>
        </p:nvSpPr>
        <p:spPr>
          <a:xfrm>
            <a:off x="5661050" y="20467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131950" y="2969550"/>
            <a:ext cx="4127499" cy="41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804450" y="50700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>
            <a:off x="720000" y="1427125"/>
            <a:ext cx="3194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2"/>
          </p:nvPr>
        </p:nvSpPr>
        <p:spPr>
          <a:xfrm>
            <a:off x="720000" y="1953025"/>
            <a:ext cx="3194700" cy="82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3"/>
          </p:nvPr>
        </p:nvSpPr>
        <p:spPr>
          <a:xfrm>
            <a:off x="4099495" y="1953025"/>
            <a:ext cx="3194700" cy="82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4"/>
          </p:nvPr>
        </p:nvSpPr>
        <p:spPr>
          <a:xfrm>
            <a:off x="720000" y="3548950"/>
            <a:ext cx="3194700" cy="82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5"/>
          </p:nvPr>
        </p:nvSpPr>
        <p:spPr>
          <a:xfrm>
            <a:off x="4099495" y="3548950"/>
            <a:ext cx="3194700" cy="82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6"/>
          </p:nvPr>
        </p:nvSpPr>
        <p:spPr>
          <a:xfrm>
            <a:off x="720000" y="3023050"/>
            <a:ext cx="3194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7"/>
          </p:nvPr>
        </p:nvSpPr>
        <p:spPr>
          <a:xfrm>
            <a:off x="4099495" y="1427125"/>
            <a:ext cx="3194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8"/>
          </p:nvPr>
        </p:nvSpPr>
        <p:spPr>
          <a:xfrm>
            <a:off x="4099495" y="3023050"/>
            <a:ext cx="3194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842625" y="334335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1"/>
          </p:nvPr>
        </p:nvSpPr>
        <p:spPr>
          <a:xfrm>
            <a:off x="720013" y="1777908"/>
            <a:ext cx="23115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2"/>
          </p:nvPr>
        </p:nvSpPr>
        <p:spPr>
          <a:xfrm>
            <a:off x="3164179" y="1777900"/>
            <a:ext cx="231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3"/>
          </p:nvPr>
        </p:nvSpPr>
        <p:spPr>
          <a:xfrm>
            <a:off x="5608346" y="1777900"/>
            <a:ext cx="231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4"/>
          </p:nvPr>
        </p:nvSpPr>
        <p:spPr>
          <a:xfrm>
            <a:off x="720000" y="1404025"/>
            <a:ext cx="2312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5"/>
          </p:nvPr>
        </p:nvSpPr>
        <p:spPr>
          <a:xfrm>
            <a:off x="3164169" y="1404025"/>
            <a:ext cx="2312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6"/>
          </p:nvPr>
        </p:nvSpPr>
        <p:spPr>
          <a:xfrm>
            <a:off x="5608338" y="1404025"/>
            <a:ext cx="2312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ubTitle" idx="7"/>
          </p:nvPr>
        </p:nvSpPr>
        <p:spPr>
          <a:xfrm>
            <a:off x="720013" y="3286108"/>
            <a:ext cx="23115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8"/>
          </p:nvPr>
        </p:nvSpPr>
        <p:spPr>
          <a:xfrm>
            <a:off x="3164179" y="3286100"/>
            <a:ext cx="231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9"/>
          </p:nvPr>
        </p:nvSpPr>
        <p:spPr>
          <a:xfrm>
            <a:off x="5608346" y="3286100"/>
            <a:ext cx="231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13"/>
          </p:nvPr>
        </p:nvSpPr>
        <p:spPr>
          <a:xfrm>
            <a:off x="720000" y="2912225"/>
            <a:ext cx="2312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14"/>
          </p:nvPr>
        </p:nvSpPr>
        <p:spPr>
          <a:xfrm>
            <a:off x="3164169" y="2912225"/>
            <a:ext cx="2312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5"/>
          </p:nvPr>
        </p:nvSpPr>
        <p:spPr>
          <a:xfrm>
            <a:off x="5608338" y="2912225"/>
            <a:ext cx="2312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15700" y="50700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/>
          <p:nvPr/>
        </p:nvSpPr>
        <p:spPr>
          <a:xfrm rot="-5400000">
            <a:off x="-3837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637150" y="507008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318800" y="-1800175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/>
          <p:nvPr/>
        </p:nvSpPr>
        <p:spPr>
          <a:xfrm rot="-5400000">
            <a:off x="-3837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789550" y="-213935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/>
          <p:nvPr/>
        </p:nvSpPr>
        <p:spPr>
          <a:xfrm rot="-5400000">
            <a:off x="7874100" y="2128650"/>
            <a:ext cx="1653600" cy="8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4"/>
          <p:cNvGrpSpPr/>
          <p:nvPr/>
        </p:nvGrpSpPr>
        <p:grpSpPr>
          <a:xfrm>
            <a:off x="3745200" y="0"/>
            <a:ext cx="1653600" cy="5143500"/>
            <a:chOff x="3745200" y="0"/>
            <a:chExt cx="1653600" cy="5143500"/>
          </a:xfrm>
        </p:grpSpPr>
        <p:sp>
          <p:nvSpPr>
            <p:cNvPr id="155" name="Google Shape;155;p24"/>
            <p:cNvSpPr/>
            <p:nvPr/>
          </p:nvSpPr>
          <p:spPr>
            <a:xfrm>
              <a:off x="3745200" y="0"/>
              <a:ext cx="1653600" cy="886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6" name="Google Shape;156;p24"/>
            <p:cNvSpPr/>
            <p:nvPr/>
          </p:nvSpPr>
          <p:spPr>
            <a:xfrm>
              <a:off x="3745200" y="4257300"/>
              <a:ext cx="1653600" cy="886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57" name="Google Shape;157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027250" y="507000"/>
            <a:ext cx="4127499" cy="41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Title and four columns 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3424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0" y="411510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http://inbodylibrary.com/image/DetailImage/ztvys0vt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254" y="0"/>
            <a:ext cx="544747" cy="61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1"/>
          <p:cNvSpPr txBox="1">
            <a:spLocks/>
          </p:cNvSpPr>
          <p:nvPr userDrawn="1"/>
        </p:nvSpPr>
        <p:spPr>
          <a:xfrm>
            <a:off x="628651" y="4767265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90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879" y="179001"/>
            <a:ext cx="857300" cy="182972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5041107"/>
            <a:ext cx="9144000" cy="10611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86600" y="4957242"/>
            <a:ext cx="20574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072C47-7CEE-4DA9-AF89-22A17B8943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407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ExtraBold"/>
              <a:buNone/>
              <a:defRPr sz="30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60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9" r:id="rId15"/>
    <p:sldLayoutId id="2147483670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emf"/><Relationship Id="rId5" Type="http://schemas.openxmlformats.org/officeDocument/2006/relationships/customXml" Target="../ink/ink2.xml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customXml" Target="../ink/ink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customXml" Target="../ink/ink1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emf"/><Relationship Id="rId11" Type="http://schemas.openxmlformats.org/officeDocument/2006/relationships/customXml" Target="../ink/ink10.xml"/><Relationship Id="rId5" Type="http://schemas.openxmlformats.org/officeDocument/2006/relationships/customXml" Target="../ink/ink6.xml"/><Relationship Id="rId10" Type="http://schemas.openxmlformats.org/officeDocument/2006/relationships/customXml" Target="../ink/ink9.xml"/><Relationship Id="rId4" Type="http://schemas.openxmlformats.org/officeDocument/2006/relationships/image" Target="../media/image31.emf"/><Relationship Id="rId9" Type="http://schemas.openxmlformats.org/officeDocument/2006/relationships/customXml" Target="../ink/ink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ctrTitle"/>
          </p:nvPr>
        </p:nvSpPr>
        <p:spPr>
          <a:xfrm>
            <a:off x="1579800" y="1419241"/>
            <a:ext cx="5984326" cy="148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Decoding Sarcopenic Obesity in Type 2 Diabetes through Body Composition Analysis</a:t>
            </a:r>
            <a:endParaRPr sz="3200" dirty="0"/>
          </a:p>
        </p:txBody>
      </p:sp>
      <p:sp>
        <p:nvSpPr>
          <p:cNvPr id="169" name="Google Shape;169;p28"/>
          <p:cNvSpPr txBox="1">
            <a:spLocks noGrp="1"/>
          </p:cNvSpPr>
          <p:nvPr>
            <p:ph type="subTitle" idx="1"/>
          </p:nvPr>
        </p:nvSpPr>
        <p:spPr>
          <a:xfrm>
            <a:off x="1662713" y="3167276"/>
            <a:ext cx="581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1412275" y="2301100"/>
            <a:ext cx="51399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Sarcopenic Obesity Prevalence </a:t>
            </a:r>
            <a:endParaRPr sz="4000" dirty="0"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7C0B0-ACB8-4F83-ADE7-822E706DB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82"/>
          <a:stretch/>
        </p:blipFill>
        <p:spPr>
          <a:xfrm>
            <a:off x="7049654" y="396571"/>
            <a:ext cx="2094346" cy="41514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2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078800" y="3153350"/>
            <a:ext cx="4127499" cy="41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xfrm>
            <a:off x="169606" y="52215"/>
            <a:ext cx="6418194" cy="5518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Prevalence</a:t>
            </a:r>
            <a:endParaRPr sz="2400" dirty="0"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1"/>
          </p:nvPr>
        </p:nvSpPr>
        <p:spPr>
          <a:xfrm>
            <a:off x="2553463" y="878549"/>
            <a:ext cx="3345892" cy="19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Meta-analysis (20 studies): Overall prevalence in T2D ≈ </a:t>
            </a:r>
            <a:r>
              <a:rPr lang="en-US" b="1" dirty="0"/>
              <a:t>27%</a:t>
            </a:r>
            <a:r>
              <a:rPr lang="en-US" dirty="0"/>
              <a:t>.</a:t>
            </a:r>
          </a:p>
          <a:p>
            <a:r>
              <a:rPr lang="en-US" dirty="0"/>
              <a:t>Higher in North America (~30%), variable by assessment method (e.g., BIA: 24%).</a:t>
            </a:r>
          </a:p>
          <a:p>
            <a:r>
              <a:rPr lang="en-US" dirty="0"/>
              <a:t>Elderly diabetics (≥65 years): </a:t>
            </a:r>
            <a:r>
              <a:rPr lang="en-US" b="1" dirty="0"/>
              <a:t>13–14% prevalence</a:t>
            </a:r>
            <a:r>
              <a:rPr lang="en-US" dirty="0"/>
              <a:t> with poorer function in men.</a:t>
            </a:r>
          </a:p>
          <a:p>
            <a:r>
              <a:rPr lang="en-US" dirty="0"/>
              <a:t>Some studies show rates up to </a:t>
            </a:r>
            <a:r>
              <a:rPr lang="en-US" b="1" dirty="0"/>
              <a:t>40%</a:t>
            </a:r>
            <a:r>
              <a:rPr lang="en-US" dirty="0"/>
              <a:t> in diabetic populations.</a:t>
            </a:r>
          </a:p>
          <a:p>
            <a:pPr marL="139700" indent="0">
              <a:buNone/>
            </a:pPr>
            <a:endParaRPr lang="en-US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71804C-9EC5-4DC6-BAA8-39605733167C}"/>
              </a:ext>
            </a:extLst>
          </p:cNvPr>
          <p:cNvSpPr/>
          <p:nvPr/>
        </p:nvSpPr>
        <p:spPr>
          <a:xfrm>
            <a:off x="427703" y="4601497"/>
            <a:ext cx="7875638" cy="40655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indent="0" algn="ctr">
              <a:buNone/>
            </a:pPr>
            <a:r>
              <a:rPr lang="en-US" dirty="0"/>
              <a:t>Sarcopenic obesity affects </a:t>
            </a:r>
            <a:r>
              <a:rPr lang="en-US" b="1" dirty="0"/>
              <a:t>13–40%</a:t>
            </a:r>
            <a:r>
              <a:rPr lang="en-US" dirty="0"/>
              <a:t> of people with diabetes, highlighting the need for screening.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497DB8-5AD9-46E9-B50E-4D3702226A2C}"/>
              </a:ext>
            </a:extLst>
          </p:cNvPr>
          <p:cNvSpPr/>
          <p:nvPr/>
        </p:nvSpPr>
        <p:spPr>
          <a:xfrm>
            <a:off x="84803" y="52215"/>
            <a:ext cx="84803" cy="55187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C563-324E-4623-AD5F-2831E6551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0" y="782152"/>
            <a:ext cx="2540168" cy="2540168"/>
          </a:xfrm>
          <a:prstGeom prst="round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B26F93-7E52-4804-878A-A91ED87DB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729" y="1661037"/>
            <a:ext cx="2940460" cy="2940460"/>
          </a:xfrm>
          <a:prstGeom prst="roundRect">
            <a:avLst/>
          </a:prstGeom>
        </p:spPr>
      </p:pic>
      <p:sp>
        <p:nvSpPr>
          <p:cNvPr id="15" name="Google Shape;210;p32">
            <a:extLst>
              <a:ext uri="{FF2B5EF4-FFF2-40B4-BE49-F238E27FC236}">
                <a16:creationId xmlns:a16="http://schemas.microsoft.com/office/drawing/2014/main" id="{6EC67BC0-4519-42AD-BFAF-E54E753A3820}"/>
              </a:ext>
            </a:extLst>
          </p:cNvPr>
          <p:cNvSpPr txBox="1">
            <a:spLocks/>
          </p:cNvSpPr>
          <p:nvPr/>
        </p:nvSpPr>
        <p:spPr>
          <a:xfrm>
            <a:off x="2600659" y="3099449"/>
            <a:ext cx="3681868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rgbClr val="434343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Community older adults (≥65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yrs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): SO ≈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5.4%–6.3%.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National survey (45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yrs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+): possible sarcopenia ≈ 41.9%; SO ≈ 8.7%.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Adults with T2D: sarcopenia ≈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60%; SO ≈ 40%.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3A4F8E-F926-4F17-8F36-7D136A467ABD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17" name="Google Shape;209;p32">
              <a:extLst>
                <a:ext uri="{FF2B5EF4-FFF2-40B4-BE49-F238E27FC236}">
                  <a16:creationId xmlns:a16="http://schemas.microsoft.com/office/drawing/2014/main" id="{C1333F3B-ADD4-4031-A658-EAD15260213D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Sarcopenia In T2DM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16063A-F945-4ECE-B914-778BA45B21C1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141908A7-8309-4021-9C88-821BC8DA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1120367"/>
            <a:ext cx="49047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200" dirty="0">
                <a:ea typeface="+mn-lt"/>
                <a:cs typeface="+mn-lt"/>
              </a:rPr>
              <a:t>Another study -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Reported prevalence: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15–44%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diabetics.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factors: inactivity, inflammation, poor glycemic control, mitochondrial dysfunction.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Sarcopenia linked with higher mortality and reduced quality of life.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199FF5D-DF9C-474F-8628-6ACFF4D59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90" r="-92" b="14869"/>
          <a:stretch>
            <a:fillRect/>
          </a:stretch>
        </p:blipFill>
        <p:spPr>
          <a:xfrm>
            <a:off x="4904788" y="509360"/>
            <a:ext cx="4239212" cy="218006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1A8BE6-5CE3-4364-9EB6-2151671E65DD}"/>
              </a:ext>
            </a:extLst>
          </p:cNvPr>
          <p:cNvSpPr/>
          <p:nvPr/>
        </p:nvSpPr>
        <p:spPr>
          <a:xfrm>
            <a:off x="127204" y="3152293"/>
            <a:ext cx="577751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+mn-lt"/>
                <a:ea typeface="+mn-lt"/>
                <a:cs typeface="+mn-lt"/>
              </a:rPr>
              <a:t>The treatment</a:t>
            </a:r>
            <a:r>
              <a:rPr lang="en-US" sz="1200" b="1" dirty="0">
                <a:latin typeface="+mn-lt"/>
                <a:ea typeface="+mn-lt"/>
                <a:cs typeface="+mn-lt"/>
              </a:rPr>
              <a:t> focusses on dietary protein intake (1.2-1.6 g/kg/day)</a:t>
            </a:r>
            <a:r>
              <a:rPr lang="en-US" sz="1200" dirty="0">
                <a:latin typeface="+mn-lt"/>
                <a:ea typeface="+mn-lt"/>
                <a:cs typeface="+mn-lt"/>
              </a:rPr>
              <a:t>, </a:t>
            </a:r>
            <a:r>
              <a:rPr lang="en-US" sz="1200" b="1" dirty="0">
                <a:latin typeface="+mn-lt"/>
                <a:ea typeface="+mn-lt"/>
                <a:cs typeface="+mn-lt"/>
              </a:rPr>
              <a:t>vitamin D supplements, resistance and aerobic exercise, weight management (careful calorie restriction to avoid muscle loss), and blood glucose control</a:t>
            </a:r>
            <a:r>
              <a:rPr lang="en-US" sz="1200" dirty="0">
                <a:latin typeface="+mn-lt"/>
                <a:ea typeface="+mn-lt"/>
                <a:cs typeface="+mn-lt"/>
              </a:rPr>
              <a:t>.</a:t>
            </a:r>
          </a:p>
          <a:p>
            <a:endParaRPr lang="en-US" sz="1200" dirty="0">
              <a:latin typeface="+mn-lt"/>
              <a:ea typeface="+mn-lt"/>
              <a:cs typeface="+mn-lt"/>
            </a:endParaRPr>
          </a:p>
          <a:p>
            <a:br>
              <a:rPr lang="en-US" sz="1200" dirty="0">
                <a:latin typeface="+mn-lt"/>
                <a:ea typeface="+mn-lt"/>
                <a:cs typeface="+mn-lt"/>
              </a:rPr>
            </a:br>
            <a:r>
              <a:rPr lang="en-US" sz="1200" dirty="0">
                <a:latin typeface="+mn-lt"/>
                <a:ea typeface="+mn-lt"/>
                <a:cs typeface="+mn-lt"/>
              </a:rPr>
              <a:t>Sarcopenia negatively impacts T2DM outcomes, including quality of life and mortality. Early detection and combined lifestyle and pharmacological therapies are critical for controlling sarcopenia in diabetes individuals.</a:t>
            </a: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endParaRPr lang="en-US" sz="12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1412275" y="2301100"/>
            <a:ext cx="5139900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Pathophysiology </a:t>
            </a:r>
            <a:br>
              <a:rPr lang="en-US" sz="4000" dirty="0"/>
            </a:br>
            <a:r>
              <a:rPr lang="en-US" sz="2400" dirty="0"/>
              <a:t>The Vicious Cycle</a:t>
            </a:r>
            <a:endParaRPr sz="4000" dirty="0"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7C0B0-ACB8-4F83-ADE7-822E706DB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82"/>
          <a:stretch/>
        </p:blipFill>
        <p:spPr>
          <a:xfrm>
            <a:off x="7049654" y="396571"/>
            <a:ext cx="2094346" cy="41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9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arcopenic Obesity: Epidemiologic Evidence, Pathophysiology, and  Therapeutic Perspectives | Current Obesity Reports">
            <a:extLst>
              <a:ext uri="{FF2B5EF4-FFF2-40B4-BE49-F238E27FC236}">
                <a16:creationId xmlns:a16="http://schemas.microsoft.com/office/drawing/2014/main" id="{8181A66E-05BB-4058-B0ED-A566C8C55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470" y="1788160"/>
            <a:ext cx="3899941" cy="19824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ACAC60D-9D7F-4BD8-8CFD-62E685148D22}"/>
              </a:ext>
            </a:extLst>
          </p:cNvPr>
          <p:cNvSpPr/>
          <p:nvPr/>
        </p:nvSpPr>
        <p:spPr>
          <a:xfrm>
            <a:off x="373550" y="979309"/>
            <a:ext cx="4800360" cy="3930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Sequence of events: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Excess adipose tissue → inflammatory cytokines (TNF-</a:t>
            </a:r>
            <a:r>
              <a:rPr lang="el-GR" dirty="0"/>
              <a:t>α, </a:t>
            </a:r>
            <a:r>
              <a:rPr lang="en-US" dirty="0"/>
              <a:t>IL-6).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Inflammation → muscle protein breakdown and suppressed synthesis.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Muscle loss → insulin resistance and reduced glucose disposal.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Insulin resistance → further fat accumulation and mitochondrial dysfunction.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Cycle perpetuates with aging, hormonal decline, and inactivity.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75C2784-9E47-4526-A723-2C903FBFBDF0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40" name="Google Shape;209;p32">
              <a:extLst>
                <a:ext uri="{FF2B5EF4-FFF2-40B4-BE49-F238E27FC236}">
                  <a16:creationId xmlns:a16="http://schemas.microsoft.com/office/drawing/2014/main" id="{09FD73BF-7DD3-49F9-9B88-F85475EB29EA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Pathophysiology – The vicious cycle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B6802F2-9B39-47A3-9B8A-ADDFB68D6264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4832A1A-B63E-4BE8-800B-49C2EFDD8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544" y="355600"/>
            <a:ext cx="3748496" cy="372993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10A4D5D-32D9-43EC-B9F1-FC7A1DECC581}"/>
              </a:ext>
            </a:extLst>
          </p:cNvPr>
          <p:cNvSpPr/>
          <p:nvPr/>
        </p:nvSpPr>
        <p:spPr>
          <a:xfrm>
            <a:off x="812800" y="4254687"/>
            <a:ext cx="70713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Physical inactivity and poor nutrition worsen anabolic resistance, amplifying muscle mass decline</a:t>
            </a:r>
            <a:r>
              <a:rPr lang="en-GB" dirty="0">
                <a:ea typeface="+mn-lt"/>
                <a:cs typeface="+mn-lt"/>
              </a:rPr>
              <a:t> and fat accumulation, creating a vicious cycle of sarcopenic obesity</a:t>
            </a:r>
            <a:endParaRPr lang="en-GB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572D488-E8EE-4709-9CC4-040B1E24F5B8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32" name="Google Shape;209;p32">
              <a:extLst>
                <a:ext uri="{FF2B5EF4-FFF2-40B4-BE49-F238E27FC236}">
                  <a16:creationId xmlns:a16="http://schemas.microsoft.com/office/drawing/2014/main" id="{13D0BF24-7D40-4279-B314-70CEDA57722E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Pathophysiology – The vicious cycle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B948035-3079-4C01-8008-316CA1A0E139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9D7D5ED-93FB-4A37-9A08-3D2822344289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16" name="Google Shape;209;p32">
              <a:extLst>
                <a:ext uri="{FF2B5EF4-FFF2-40B4-BE49-F238E27FC236}">
                  <a16:creationId xmlns:a16="http://schemas.microsoft.com/office/drawing/2014/main" id="{A6E70C3F-DDD6-49CB-B968-B5E85A814E2E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 Complications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124204C-0103-4534-89DF-F005C2CB33EB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B358775-6415-455F-8DDB-D99BEAD8DB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80"/>
          <a:stretch/>
        </p:blipFill>
        <p:spPr>
          <a:xfrm>
            <a:off x="5088890" y="753334"/>
            <a:ext cx="4055110" cy="38288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07AC500-FD6E-4CDE-BD9A-5B4283D29613}"/>
              </a:ext>
            </a:extLst>
          </p:cNvPr>
          <p:cNvSpPr/>
          <p:nvPr/>
        </p:nvSpPr>
        <p:spPr>
          <a:xfrm>
            <a:off x="84803" y="1165839"/>
            <a:ext cx="50698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ea typeface="+mn-lt"/>
                <a:cs typeface="+mn-lt"/>
              </a:rPr>
              <a:t>Reduced muscle strength and endurance causing difficulty in daily activities, slow walking speed, balance issues, and increased risk of falls and fractures.</a:t>
            </a:r>
          </a:p>
          <a:p>
            <a:endParaRPr lang="en-GB" sz="1200" dirty="0"/>
          </a:p>
          <a:p>
            <a:r>
              <a:rPr lang="en-GB" sz="1200" dirty="0">
                <a:ea typeface="+mn-lt"/>
                <a:cs typeface="+mn-lt"/>
              </a:rPr>
              <a:t>Excess fat leads to obesity-related symptoms like joint pain, limited physical function, fatigue, and respiratory difficulties.</a:t>
            </a:r>
          </a:p>
          <a:p>
            <a:endParaRPr lang="en-GB" sz="1200" dirty="0"/>
          </a:p>
          <a:p>
            <a:r>
              <a:rPr lang="en-GB" sz="1200" dirty="0">
                <a:ea typeface="+mn-lt"/>
                <a:cs typeface="+mn-lt"/>
              </a:rPr>
              <a:t>Increased risk of metabolic complications such as type 2 diabetes, </a:t>
            </a:r>
            <a:r>
              <a:rPr lang="en-GB" sz="1200" dirty="0" err="1">
                <a:ea typeface="+mn-lt"/>
                <a:cs typeface="+mn-lt"/>
              </a:rPr>
              <a:t>dyslipidemia</a:t>
            </a:r>
            <a:r>
              <a:rPr lang="en-GB" sz="1200" dirty="0">
                <a:ea typeface="+mn-lt"/>
                <a:cs typeface="+mn-lt"/>
              </a:rPr>
              <a:t>, hypertension, and insulin resistance due to combined muscle loss and fat gain.</a:t>
            </a:r>
          </a:p>
          <a:p>
            <a:endParaRPr lang="en-GB" sz="1200" dirty="0"/>
          </a:p>
          <a:p>
            <a:r>
              <a:rPr lang="en-GB" sz="1200" dirty="0">
                <a:ea typeface="+mn-lt"/>
                <a:cs typeface="+mn-lt"/>
              </a:rPr>
              <a:t>Higher likelihood of cardiovascular diseases including hypertension, atherosclerosis, heart failure, and increased all-cause mortality.</a:t>
            </a:r>
          </a:p>
          <a:p>
            <a:endParaRPr lang="en-GB" sz="1200" dirty="0"/>
          </a:p>
          <a:p>
            <a:r>
              <a:rPr lang="en-GB" sz="1200" dirty="0">
                <a:ea typeface="+mn-lt"/>
                <a:cs typeface="+mn-lt"/>
              </a:rPr>
              <a:t>Cognitive impairments and neurodegenerative risks caused by muscle loss reducing protective myokines and fat-induced inflammation leading to oxidative stress in the brain.</a:t>
            </a:r>
            <a:br>
              <a:rPr lang="en-GB" sz="1200" dirty="0">
                <a:ea typeface="+mn-lt"/>
                <a:cs typeface="+mn-lt"/>
              </a:rPr>
            </a:b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1087120" y="2109203"/>
            <a:ext cx="5586975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Diagnostic Criteria and Staging</a:t>
            </a:r>
            <a:endParaRPr sz="4000" dirty="0"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7C0B0-ACB8-4F83-ADE7-822E706DB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82"/>
          <a:stretch/>
        </p:blipFill>
        <p:spPr>
          <a:xfrm>
            <a:off x="7049654" y="396571"/>
            <a:ext cx="2094346" cy="41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99D83F4F-D92B-4A91-A2E3-58C9AF83077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130389" y="2435451"/>
            <a:ext cx="2175300" cy="1909200"/>
          </a:xfrm>
        </p:spPr>
        <p:txBody>
          <a:bodyPr/>
          <a:lstStyle/>
          <a:p>
            <a:r>
              <a:rPr lang="en-US" dirty="0"/>
              <a:t>Handgrip </a:t>
            </a:r>
            <a:r>
              <a:rPr lang="en-US" b="1" dirty="0"/>
              <a:t>&lt; 27 kg (men)</a:t>
            </a:r>
            <a:r>
              <a:rPr lang="en-US" dirty="0"/>
              <a:t>, </a:t>
            </a:r>
            <a:r>
              <a:rPr lang="en-US" b="1" dirty="0"/>
              <a:t>&lt; 16 kg (women).</a:t>
            </a:r>
          </a:p>
          <a:p>
            <a:r>
              <a:rPr lang="en-US" dirty="0"/>
              <a:t>Gait speed </a:t>
            </a:r>
            <a:r>
              <a:rPr lang="en-US" b="1" dirty="0"/>
              <a:t>&lt; 0.8 m/s </a:t>
            </a:r>
            <a:r>
              <a:rPr lang="en-US" dirty="0"/>
              <a:t>or</a:t>
            </a:r>
          </a:p>
          <a:p>
            <a:r>
              <a:rPr lang="en-US" dirty="0"/>
              <a:t> poor chair stand = functional impairment.</a:t>
            </a:r>
          </a:p>
          <a:p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193DBBA-325B-4581-B10D-1AFDE130F01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818213" y="2265139"/>
            <a:ext cx="2175300" cy="1909200"/>
          </a:xfrm>
        </p:spPr>
        <p:txBody>
          <a:bodyPr/>
          <a:lstStyle/>
          <a:p>
            <a:r>
              <a:rPr lang="en-US" b="1" dirty="0"/>
              <a:t>BMI ≥ 30 kg/m² </a:t>
            </a:r>
            <a:r>
              <a:rPr lang="en-US" dirty="0"/>
              <a:t>or high % body fat.</a:t>
            </a:r>
          </a:p>
          <a:p>
            <a:r>
              <a:rPr lang="en-US" dirty="0"/>
              <a:t>Visceral fat via waist circumference, BIA (</a:t>
            </a:r>
            <a:r>
              <a:rPr lang="en-US" b="1" dirty="0"/>
              <a:t>&gt;100cm2</a:t>
            </a:r>
            <a:r>
              <a:rPr lang="en-US" dirty="0"/>
              <a:t>) or CT/MRI.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56B5120-E0F3-4680-AD4E-D23C304B029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99725" y="1612589"/>
            <a:ext cx="2175300" cy="527700"/>
          </a:xfrm>
        </p:spPr>
        <p:txBody>
          <a:bodyPr/>
          <a:lstStyle/>
          <a:p>
            <a:r>
              <a:rPr lang="en-US" dirty="0"/>
              <a:t>Muscle mass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2878FE5-AB2E-483D-AA08-4E41303EBC82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130386" y="1782901"/>
            <a:ext cx="2175300" cy="527700"/>
          </a:xfrm>
        </p:spPr>
        <p:txBody>
          <a:bodyPr/>
          <a:lstStyle/>
          <a:p>
            <a:r>
              <a:rPr lang="en-US" dirty="0"/>
              <a:t>Muscle strength &amp; Function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6A9E208-6C7C-409D-940C-F737BD7B9685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818213" y="1612589"/>
            <a:ext cx="2175300" cy="527700"/>
          </a:xfrm>
        </p:spPr>
        <p:txBody>
          <a:bodyPr/>
          <a:lstStyle/>
          <a:p>
            <a:r>
              <a:rPr lang="en-US" dirty="0"/>
              <a:t>Obesity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4346D4C3-224A-4769-854C-D8FCD52BC309}"/>
              </a:ext>
            </a:extLst>
          </p:cNvPr>
          <p:cNvSpPr txBox="1">
            <a:spLocks/>
          </p:cNvSpPr>
          <p:nvPr/>
        </p:nvSpPr>
        <p:spPr>
          <a:xfrm>
            <a:off x="599725" y="2528887"/>
            <a:ext cx="2175300" cy="1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-US" dirty="0"/>
              <a:t>Measured by DXA or BIA.</a:t>
            </a:r>
          </a:p>
          <a:p>
            <a:r>
              <a:rPr lang="en-US" dirty="0"/>
              <a:t>Low ASMI: </a:t>
            </a:r>
            <a:r>
              <a:rPr lang="en-US" b="1" dirty="0"/>
              <a:t>&lt; 7.0 kg/m² </a:t>
            </a:r>
            <a:r>
              <a:rPr lang="en-US" dirty="0"/>
              <a:t>(men</a:t>
            </a:r>
            <a:r>
              <a:rPr lang="en-US" b="1" dirty="0"/>
              <a:t>), &lt; 5.7 kg/m² </a:t>
            </a:r>
            <a:r>
              <a:rPr lang="en-US" dirty="0"/>
              <a:t>(women).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F8281A-070B-4041-B353-15757E5F16F6}"/>
              </a:ext>
            </a:extLst>
          </p:cNvPr>
          <p:cNvCxnSpPr>
            <a:cxnSpLocks/>
          </p:cNvCxnSpPr>
          <p:nvPr/>
        </p:nvCxnSpPr>
        <p:spPr>
          <a:xfrm>
            <a:off x="2874123" y="1056649"/>
            <a:ext cx="1" cy="303020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2FA6C8-9BA7-4277-BEC8-9FF0B75E9806}"/>
              </a:ext>
            </a:extLst>
          </p:cNvPr>
          <p:cNvCxnSpPr>
            <a:cxnSpLocks/>
          </p:cNvCxnSpPr>
          <p:nvPr/>
        </p:nvCxnSpPr>
        <p:spPr>
          <a:xfrm>
            <a:off x="8374856" y="1145893"/>
            <a:ext cx="1" cy="303020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266A52-2BAB-4611-ADF8-C348C3794CF3}"/>
              </a:ext>
            </a:extLst>
          </p:cNvPr>
          <p:cNvCxnSpPr>
            <a:cxnSpLocks/>
          </p:cNvCxnSpPr>
          <p:nvPr/>
        </p:nvCxnSpPr>
        <p:spPr>
          <a:xfrm>
            <a:off x="5818209" y="1144138"/>
            <a:ext cx="1" cy="303020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DC5293-DD98-4A59-9073-88D72370168C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26" name="Google Shape;209;p32">
              <a:extLst>
                <a:ext uri="{FF2B5EF4-FFF2-40B4-BE49-F238E27FC236}">
                  <a16:creationId xmlns:a16="http://schemas.microsoft.com/office/drawing/2014/main" id="{CBD60633-4850-4358-93C5-23CA01C87FB5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Diagnostic Criteria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8238CF-793F-473F-8611-1AD1E3D267F3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211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Sarcopenia Diagnosis and Management in Hematological Malignancies and  Differences with Cachexia and Frailty">
            <a:extLst>
              <a:ext uri="{FF2B5EF4-FFF2-40B4-BE49-F238E27FC236}">
                <a16:creationId xmlns:a16="http://schemas.microsoft.com/office/drawing/2014/main" id="{1832BB71-7911-4D4C-8F58-4A83BF1EA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904" y="643539"/>
            <a:ext cx="6369854" cy="434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C95CF83-B217-4317-A9C7-D1ECF7098870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15" name="Google Shape;209;p32">
              <a:extLst>
                <a:ext uri="{FF2B5EF4-FFF2-40B4-BE49-F238E27FC236}">
                  <a16:creationId xmlns:a16="http://schemas.microsoft.com/office/drawing/2014/main" id="{846815DD-2C8E-4B36-9D3D-572D60DB38D8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 Diagnostic Criteria &amp; Staging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D214D89-81B7-420B-A98B-1E57FB72BAF9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629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806BF-50AF-4CA3-A48E-11D12EA9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461" y="742709"/>
            <a:ext cx="3939733" cy="39397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2BBCA9-6F3D-48CE-9DA7-7236965425E0}"/>
              </a:ext>
            </a:extLst>
          </p:cNvPr>
          <p:cNvSpPr/>
          <p:nvPr/>
        </p:nvSpPr>
        <p:spPr>
          <a:xfrm>
            <a:off x="127204" y="1317418"/>
            <a:ext cx="4572000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Staging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/>
              <a:t>Presarcopenia</a:t>
            </a:r>
            <a:r>
              <a:rPr lang="en-US" sz="1800" b="1" dirty="0"/>
              <a:t>:</a:t>
            </a:r>
            <a:r>
              <a:rPr lang="en-US" sz="1800" dirty="0"/>
              <a:t> Low muscle mass only.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Sarcopenia:</a:t>
            </a:r>
            <a:r>
              <a:rPr lang="en-US" sz="1800" dirty="0"/>
              <a:t> Low mass + low strength/performance.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Severe Sarcopenia:</a:t>
            </a:r>
            <a:r>
              <a:rPr lang="en-US" sz="1800" dirty="0"/>
              <a:t> All three criteria low.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Sarcopenic Obesity:</a:t>
            </a:r>
            <a:r>
              <a:rPr lang="en-US" sz="1800" dirty="0"/>
              <a:t> Sarcopenia + obesity coexist.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571470-DDE8-4E4F-BEF9-6FD7B4420EF0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6" name="Google Shape;209;p32">
              <a:extLst>
                <a:ext uri="{FF2B5EF4-FFF2-40B4-BE49-F238E27FC236}">
                  <a16:creationId xmlns:a16="http://schemas.microsoft.com/office/drawing/2014/main" id="{00F1067E-8643-4BC3-BA75-CB6B3CC5C83C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 Diagnostic Criteria &amp; Staging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2F6A1A-3099-4112-8D84-AEE9D3180727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826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1087120" y="2109203"/>
            <a:ext cx="5586975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4000" dirty="0"/>
              <a:t>InBody Applications in Sarcopenic Obesity</a:t>
            </a:r>
            <a:endParaRPr sz="4000" dirty="0"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7C0B0-ACB8-4F83-ADE7-822E706DB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82"/>
          <a:stretch/>
        </p:blipFill>
        <p:spPr>
          <a:xfrm>
            <a:off x="7049654" y="396571"/>
            <a:ext cx="2094346" cy="41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79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475500" y="243675"/>
            <a:ext cx="86685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InBody Applications in Sarcopenic Obesity</a:t>
            </a:r>
            <a:endParaRPr dirty="0"/>
          </a:p>
        </p:txBody>
      </p:sp>
      <p:grpSp>
        <p:nvGrpSpPr>
          <p:cNvPr id="222" name="Google Shape;222;p33"/>
          <p:cNvGrpSpPr/>
          <p:nvPr/>
        </p:nvGrpSpPr>
        <p:grpSpPr>
          <a:xfrm>
            <a:off x="6964823" y="1319195"/>
            <a:ext cx="2085750" cy="2214232"/>
            <a:chOff x="6077707" y="1644751"/>
            <a:chExt cx="1854000" cy="1854000"/>
          </a:xfrm>
        </p:grpSpPr>
        <p:sp>
          <p:nvSpPr>
            <p:cNvPr id="223" name="Google Shape;223;p33"/>
            <p:cNvSpPr/>
            <p:nvPr/>
          </p:nvSpPr>
          <p:spPr>
            <a:xfrm>
              <a:off x="6077707" y="1644751"/>
              <a:ext cx="1854000" cy="1854000"/>
            </a:xfrm>
            <a:prstGeom prst="ellipse">
              <a:avLst/>
            </a:prstGeom>
            <a:solidFill>
              <a:srgbClr val="C2C2C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/>
            </a:p>
          </p:txBody>
        </p:sp>
        <p:sp>
          <p:nvSpPr>
            <p:cNvPr id="224" name="Google Shape;224;p33"/>
            <p:cNvSpPr txBox="1"/>
            <p:nvPr/>
          </p:nvSpPr>
          <p:spPr>
            <a:xfrm>
              <a:off x="6386100" y="2311040"/>
              <a:ext cx="1290600" cy="5214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</a:rPr>
                <a:t>Hand Grip Strength</a:t>
              </a:r>
              <a:endParaRPr sz="18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25" name="Google Shape;225;p33"/>
          <p:cNvGrpSpPr/>
          <p:nvPr/>
        </p:nvGrpSpPr>
        <p:grpSpPr>
          <a:xfrm>
            <a:off x="5140295" y="1319195"/>
            <a:ext cx="2085750" cy="2214232"/>
            <a:chOff x="4455905" y="1644751"/>
            <a:chExt cx="1854000" cy="1854000"/>
          </a:xfrm>
        </p:grpSpPr>
        <p:sp>
          <p:nvSpPr>
            <p:cNvPr id="226" name="Google Shape;226;p33"/>
            <p:cNvSpPr/>
            <p:nvPr/>
          </p:nvSpPr>
          <p:spPr>
            <a:xfrm>
              <a:off x="4455905" y="1644751"/>
              <a:ext cx="1854000" cy="1854000"/>
            </a:xfrm>
            <a:prstGeom prst="ellipse">
              <a:avLst/>
            </a:prstGeom>
            <a:solidFill>
              <a:srgbClr val="C2C2C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/>
            </a:p>
          </p:txBody>
        </p:sp>
        <p:sp>
          <p:nvSpPr>
            <p:cNvPr id="227" name="Google Shape;227;p33"/>
            <p:cNvSpPr txBox="1"/>
            <p:nvPr/>
          </p:nvSpPr>
          <p:spPr>
            <a:xfrm>
              <a:off x="4764300" y="2311040"/>
              <a:ext cx="1290600" cy="5214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FFFF"/>
                  </a:solidFill>
                </a:rPr>
                <a:t>Skeletal Muscle Index</a:t>
              </a:r>
              <a:endParaRPr sz="18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28" name="Google Shape;228;p33"/>
          <p:cNvGrpSpPr/>
          <p:nvPr/>
        </p:nvGrpSpPr>
        <p:grpSpPr>
          <a:xfrm>
            <a:off x="3315768" y="1319208"/>
            <a:ext cx="2085750" cy="2214232"/>
            <a:chOff x="2834102" y="1644762"/>
            <a:chExt cx="1854000" cy="1854000"/>
          </a:xfrm>
        </p:grpSpPr>
        <p:sp>
          <p:nvSpPr>
            <p:cNvPr id="229" name="Google Shape;229;p33"/>
            <p:cNvSpPr/>
            <p:nvPr/>
          </p:nvSpPr>
          <p:spPr>
            <a:xfrm>
              <a:off x="2834102" y="1644762"/>
              <a:ext cx="1854000" cy="1854000"/>
            </a:xfrm>
            <a:prstGeom prst="ellipse">
              <a:avLst/>
            </a:prstGeom>
            <a:solidFill>
              <a:srgbClr val="C2C2C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/>
            </a:p>
          </p:txBody>
        </p:sp>
        <p:sp>
          <p:nvSpPr>
            <p:cNvPr id="230" name="Google Shape;230;p33"/>
            <p:cNvSpPr txBox="1"/>
            <p:nvPr/>
          </p:nvSpPr>
          <p:spPr>
            <a:xfrm>
              <a:off x="3142502" y="2311050"/>
              <a:ext cx="1290600" cy="5214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FFFFFF"/>
                  </a:solidFill>
                </a:rPr>
                <a:t>Fat Analysis</a:t>
              </a:r>
              <a:endParaRPr sz="18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31" name="Google Shape;231;p33"/>
          <p:cNvGrpSpPr/>
          <p:nvPr/>
        </p:nvGrpSpPr>
        <p:grpSpPr>
          <a:xfrm>
            <a:off x="1491240" y="1319208"/>
            <a:ext cx="2085750" cy="2214232"/>
            <a:chOff x="1212300" y="1644762"/>
            <a:chExt cx="1854000" cy="1854000"/>
          </a:xfrm>
        </p:grpSpPr>
        <p:sp>
          <p:nvSpPr>
            <p:cNvPr id="232" name="Google Shape;232;p33"/>
            <p:cNvSpPr/>
            <p:nvPr/>
          </p:nvSpPr>
          <p:spPr>
            <a:xfrm>
              <a:off x="1212300" y="1644762"/>
              <a:ext cx="1854000" cy="1854000"/>
            </a:xfrm>
            <a:prstGeom prst="ellipse">
              <a:avLst/>
            </a:prstGeom>
            <a:solidFill>
              <a:srgbClr val="C2C2C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/>
            </a:p>
          </p:txBody>
        </p:sp>
        <p:sp>
          <p:nvSpPr>
            <p:cNvPr id="233" name="Google Shape;233;p33"/>
            <p:cNvSpPr txBox="1"/>
            <p:nvPr/>
          </p:nvSpPr>
          <p:spPr>
            <a:xfrm>
              <a:off x="1430318" y="2311066"/>
              <a:ext cx="1558800" cy="5214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FFFFFF"/>
                  </a:solidFill>
                </a:rPr>
                <a:t>Muscle - Fat Analysis</a:t>
              </a:r>
              <a:endParaRPr sz="1800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34" name="Google Shape;234;p33" title="image-removebg-preview (8).png"/>
          <p:cNvPicPr preferRelativeResize="0"/>
          <p:nvPr/>
        </p:nvPicPr>
        <p:blipFill rotWithShape="1">
          <a:blip r:embed="rId3">
            <a:alphaModFix/>
          </a:blip>
          <a:srcRect r="53870"/>
          <a:stretch/>
        </p:blipFill>
        <p:spPr>
          <a:xfrm>
            <a:off x="-165832" y="702575"/>
            <a:ext cx="2262825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4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25" y="220850"/>
            <a:ext cx="3986900" cy="11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88" y="1899750"/>
            <a:ext cx="3722775" cy="17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4" title="image-removebg-preview (11).png"/>
          <p:cNvPicPr preferRelativeResize="0"/>
          <p:nvPr/>
        </p:nvPicPr>
        <p:blipFill rotWithShape="1">
          <a:blip r:embed="rId5">
            <a:alphaModFix/>
          </a:blip>
          <a:srcRect r="11071"/>
          <a:stretch/>
        </p:blipFill>
        <p:spPr>
          <a:xfrm>
            <a:off x="5130525" y="1590525"/>
            <a:ext cx="3821676" cy="3243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34"/>
          <p:cNvCxnSpPr/>
          <p:nvPr/>
        </p:nvCxnSpPr>
        <p:spPr>
          <a:xfrm>
            <a:off x="1923725" y="935725"/>
            <a:ext cx="2894400" cy="1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245" name="Google Shape;245;p34"/>
          <p:cNvSpPr txBox="1"/>
          <p:nvPr/>
        </p:nvSpPr>
        <p:spPr>
          <a:xfrm>
            <a:off x="4818125" y="574975"/>
            <a:ext cx="2789700" cy="73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Low Muscle mass </a:t>
            </a:r>
            <a:endParaRPr sz="18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High Body fat mass</a:t>
            </a:r>
            <a:endParaRPr sz="18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375200" y="3885525"/>
            <a:ext cx="3821700" cy="73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Detects Localized Muscle Loss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Identifies Imbalances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3621600" y="4622325"/>
            <a:ext cx="55224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51616"/>
                </a:solidFill>
                <a:latin typeface="Calibri"/>
                <a:ea typeface="Calibri"/>
                <a:cs typeface="Calibri"/>
                <a:sym typeface="Calibri"/>
              </a:rPr>
              <a:t>1. Stephen WC &amp;  Janssen I. J Nutr Health Aging May 2009;13(5):460e6  2. Villareal DT, et al.  Obes Res Jun 2004;12(6):913e2  3. Kyle UG et al. Clin Nutr Feb 2005;24(1):133e42.</a:t>
            </a:r>
            <a:endParaRPr sz="900">
              <a:solidFill>
                <a:srgbClr val="1516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5193375" cy="11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5"/>
          <p:cNvPicPr preferRelativeResize="0"/>
          <p:nvPr/>
        </p:nvPicPr>
        <p:blipFill rotWithShape="1">
          <a:blip r:embed="rId4">
            <a:alphaModFix/>
          </a:blip>
          <a:srcRect r="3119"/>
          <a:stretch/>
        </p:blipFill>
        <p:spPr>
          <a:xfrm>
            <a:off x="6459038" y="532175"/>
            <a:ext cx="2386436" cy="19901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4" name="Google Shape;25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522353"/>
            <a:ext cx="3929476" cy="19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3000" y="1354175"/>
            <a:ext cx="2608202" cy="18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/>
          <p:nvPr/>
        </p:nvSpPr>
        <p:spPr>
          <a:xfrm>
            <a:off x="222800" y="1178997"/>
            <a:ext cx="3744902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High PBF with low muscle = sarcopenic obesity</a:t>
            </a:r>
            <a:b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6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 visible on BMI</a:t>
            </a:r>
            <a:endParaRPr sz="16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6008100" y="3160375"/>
            <a:ext cx="2983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Often hidden in clients with normal BMI or “skinny fat” body types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/>
        </p:nvSpPr>
        <p:spPr>
          <a:xfrm>
            <a:off x="180175" y="207375"/>
            <a:ext cx="8963824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SMI</a:t>
            </a:r>
            <a:r>
              <a:rPr lang="en" sz="1600" dirty="0">
                <a:solidFill>
                  <a:schemeClr val="dk1"/>
                </a:solidFill>
              </a:rPr>
              <a:t> (Skeletal Muscle Mass Index) is a key parameter used in diagnosing sarcopenia and sarcopenic obesity.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595959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25950"/>
            <a:ext cx="4034850" cy="276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/>
          <p:nvPr/>
        </p:nvSpPr>
        <p:spPr>
          <a:xfrm>
            <a:off x="180175" y="4492575"/>
            <a:ext cx="4035000" cy="498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2" name="Google Shape;27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775" y="1300275"/>
            <a:ext cx="5036224" cy="15619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73" name="Google Shape;27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6275" y="2987675"/>
            <a:ext cx="4427726" cy="2155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501347" y="698828"/>
          <a:ext cx="6141309" cy="1165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6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4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+mn-cs"/>
                        </a:rPr>
                        <a:t>Body Composition</a:t>
                      </a:r>
                    </a:p>
                  </a:txBody>
                  <a:tcPr marL="68580" marR="68580" marT="34290" marB="3429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1"/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Symptoms</a:t>
                      </a:r>
                      <a:endParaRPr lang="ko-KR" altLang="en-US" sz="900" b="1" dirty="0"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Parameter provided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by </a:t>
                      </a:r>
                      <a:r>
                        <a:rPr lang="en-US" altLang="ko-KR" sz="900" b="1" dirty="0" err="1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InBody</a:t>
                      </a:r>
                      <a:endParaRPr lang="ko-KR" altLang="en-US" sz="900" b="1" dirty="0"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Application</a:t>
                      </a:r>
                      <a:endParaRPr lang="ko-KR" altLang="en-US" sz="900" b="1" dirty="0"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Screening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2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Risk of Diabetes</a:t>
                      </a:r>
                      <a:endParaRPr lang="ko-KR" altLang="en-US" sz="900" b="1" dirty="0">
                        <a:solidFill>
                          <a:schemeClr val="tx2"/>
                        </a:solidFill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Low Muscle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SMM</a:t>
                      </a:r>
                    </a:p>
                    <a:p>
                      <a:pPr marL="0" marR="0" lvl="0" indent="0" algn="ctr" defTabSz="68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(Skeletal</a:t>
                      </a:r>
                      <a:r>
                        <a:rPr kumimoji="0" lang="en-US" altLang="ko-KR" sz="900" b="1" baseline="0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 Muscle Mass)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Insulin</a:t>
                      </a:r>
                      <a:r>
                        <a:rPr lang="en-US" altLang="ko-KR" sz="900" b="1" baseline="0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 resistance(sensitivity) related to low muscle mass</a:t>
                      </a:r>
                      <a:endParaRPr lang="ko-KR" altLang="en-US" sz="900" b="1" dirty="0"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Monitoring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2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</a:rPr>
                        <a:t>Muscle Wasting Disease</a:t>
                      </a:r>
                      <a:endParaRPr lang="ko-KR" altLang="en-US" sz="900" b="1" i="1" dirty="0">
                        <a:solidFill>
                          <a:schemeClr val="tx2"/>
                        </a:solidFill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Muscle Decrease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SMI</a:t>
                      </a:r>
                    </a:p>
                    <a:p>
                      <a:pPr algn="ctr"/>
                      <a:r>
                        <a:rPr kumimoji="0" lang="en-US" altLang="ko-KR" sz="900" b="1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(Skeletal Muscle</a:t>
                      </a:r>
                      <a:r>
                        <a:rPr kumimoji="0" lang="en-US" altLang="ko-KR" sz="900" b="1" baseline="0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 </a:t>
                      </a:r>
                      <a:r>
                        <a:rPr kumimoji="0" lang="en-US" altLang="ko-KR" sz="900" b="1" dirty="0">
                          <a:solidFill>
                            <a:srgbClr val="9C1F00"/>
                          </a:solidFill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Index)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Sarcopenia</a:t>
                      </a:r>
                      <a:r>
                        <a:rPr lang="en-US" altLang="ko-KR" sz="900" b="1" baseline="0" dirty="0">
                          <a:latin typeface="서울남산체 L" panose="02020603020101020101" pitchFamily="18" charset="-127"/>
                          <a:ea typeface="서울남산체 L" panose="02020603020101020101" pitchFamily="18" charset="-127"/>
                          <a:cs typeface="Arial" charset="0"/>
                        </a:rPr>
                        <a:t> Evaluation</a:t>
                      </a:r>
                      <a:endParaRPr lang="ko-KR" altLang="en-US" sz="900" dirty="0">
                        <a:latin typeface="서울남산체 L" panose="02020603020101020101" pitchFamily="18" charset="-127"/>
                        <a:ea typeface="서울남산체 L" panose="02020603020101020101" pitchFamily="18" charset="-127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783169" y="2723844"/>
            <a:ext cx="972108" cy="169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그룹 11"/>
          <p:cNvGrpSpPr/>
          <p:nvPr/>
        </p:nvGrpSpPr>
        <p:grpSpPr>
          <a:xfrm>
            <a:off x="1586448" y="2096627"/>
            <a:ext cx="1168830" cy="546935"/>
            <a:chOff x="658933" y="2833630"/>
            <a:chExt cx="1558440" cy="729245"/>
          </a:xfrm>
        </p:grpSpPr>
        <p:pic>
          <p:nvPicPr>
            <p:cNvPr id="10" name="그림 15" descr="logo_red[1].PNG"/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76245" y="2833630"/>
              <a:ext cx="1441128" cy="457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직사각형 10"/>
            <p:cNvSpPr/>
            <p:nvPr/>
          </p:nvSpPr>
          <p:spPr>
            <a:xfrm>
              <a:off x="658933" y="3224321"/>
              <a:ext cx="141962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50" b="1" dirty="0">
                  <a:solidFill>
                    <a:srgbClr val="9C1F00"/>
                  </a:solidFill>
                  <a:latin typeface="서울남산체 L" panose="02020603020101020101" pitchFamily="18" charset="-127"/>
                  <a:ea typeface="서울남산체 L" panose="02020603020101020101" pitchFamily="18" charset="-127"/>
                </a:rPr>
                <a:t>Measurement</a:t>
              </a:r>
              <a:endParaRPr lang="ko-KR" altLang="en-US" sz="1050" b="1" dirty="0">
                <a:solidFill>
                  <a:srgbClr val="9C1F00"/>
                </a:solidFill>
                <a:latin typeface="서울남산체 L" panose="02020603020101020101" pitchFamily="18" charset="-127"/>
                <a:ea typeface="서울남산체 L" panose="02020603020101020101" pitchFamily="18" charset="-127"/>
              </a:endParaRPr>
            </a:p>
          </p:txBody>
        </p:sp>
      </p:grpSp>
      <p:sp>
        <p:nvSpPr>
          <p:cNvPr id="15" name="오른쪽 화살표 14"/>
          <p:cNvSpPr/>
          <p:nvPr/>
        </p:nvSpPr>
        <p:spPr>
          <a:xfrm>
            <a:off x="2860456" y="3038828"/>
            <a:ext cx="429658" cy="49575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18" y="2075214"/>
            <a:ext cx="4071938" cy="310948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3570718" y="2844213"/>
            <a:ext cx="4071938" cy="1964531"/>
            <a:chOff x="3236955" y="3675602"/>
            <a:chExt cx="5429250" cy="2619375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36955" y="3675602"/>
              <a:ext cx="5429250" cy="2619375"/>
            </a:xfrm>
            <a:prstGeom prst="rect">
              <a:avLst/>
            </a:prstGeom>
          </p:spPr>
        </p:pic>
        <p:sp>
          <p:nvSpPr>
            <p:cNvPr id="16" name="object 12"/>
            <p:cNvSpPr/>
            <p:nvPr/>
          </p:nvSpPr>
          <p:spPr>
            <a:xfrm>
              <a:off x="3334007" y="4119497"/>
              <a:ext cx="4543053" cy="827076"/>
            </a:xfrm>
            <a:custGeom>
              <a:avLst/>
              <a:gdLst/>
              <a:ahLst/>
              <a:cxnLst/>
              <a:rect l="l" t="t" r="r" b="b"/>
              <a:pathLst>
                <a:path w="1786254" h="1929129">
                  <a:moveTo>
                    <a:pt x="0" y="1928876"/>
                  </a:moveTo>
                  <a:lnTo>
                    <a:pt x="1786001" y="1928876"/>
                  </a:lnTo>
                  <a:lnTo>
                    <a:pt x="1786001" y="0"/>
                  </a:lnTo>
                  <a:lnTo>
                    <a:pt x="0" y="0"/>
                  </a:lnTo>
                  <a:lnTo>
                    <a:pt x="0" y="1928876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sp>
          <p:nvSpPr>
            <p:cNvPr id="17" name="object 12"/>
            <p:cNvSpPr/>
            <p:nvPr/>
          </p:nvSpPr>
          <p:spPr>
            <a:xfrm>
              <a:off x="3334006" y="5385838"/>
              <a:ext cx="4543053" cy="827076"/>
            </a:xfrm>
            <a:custGeom>
              <a:avLst/>
              <a:gdLst/>
              <a:ahLst/>
              <a:cxnLst/>
              <a:rect l="l" t="t" r="r" b="b"/>
              <a:pathLst>
                <a:path w="1786254" h="1929129">
                  <a:moveTo>
                    <a:pt x="0" y="1928876"/>
                  </a:moveTo>
                  <a:lnTo>
                    <a:pt x="1786001" y="1928876"/>
                  </a:lnTo>
                  <a:lnTo>
                    <a:pt x="1786001" y="0"/>
                  </a:lnTo>
                  <a:lnTo>
                    <a:pt x="0" y="0"/>
                  </a:lnTo>
                  <a:lnTo>
                    <a:pt x="0" y="1928876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05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521013" y="2517321"/>
            <a:ext cx="43560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C00000"/>
                </a:solidFill>
              </a:rPr>
              <a:t>SMI = Appendicular Lean(RA + LA + RL + LL) / Height</a:t>
            </a:r>
            <a:r>
              <a:rPr lang="en-US" altLang="ko-KR" sz="1500" baseline="30000" dirty="0">
                <a:solidFill>
                  <a:srgbClr val="C00000"/>
                </a:solidFill>
              </a:rPr>
              <a:t>2</a:t>
            </a:r>
            <a:endParaRPr lang="ko-KR" altLang="en-US" sz="1500" baseline="30000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5344" y="141480"/>
            <a:ext cx="15440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pc="-113" dirty="0"/>
              <a:t>Muscle Mass and Diabetes</a:t>
            </a:r>
          </a:p>
        </p:txBody>
      </p:sp>
    </p:spTree>
    <p:extLst>
      <p:ext uri="{BB962C8B-B14F-4D97-AF65-F5344CB8AC3E}">
        <p14:creationId xmlns:p14="http://schemas.microsoft.com/office/powerpoint/2010/main" val="2638948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717900" y="240849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Hand Grip Strength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80" name="Google Shape;2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69" y="877499"/>
            <a:ext cx="1941413" cy="38828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 txBox="1"/>
          <p:nvPr/>
        </p:nvSpPr>
        <p:spPr>
          <a:xfrm>
            <a:off x="2894325" y="1282488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 key indicator of </a:t>
            </a:r>
            <a:r>
              <a:rPr lang="en" sz="1800" b="1">
                <a:solidFill>
                  <a:schemeClr val="dk1"/>
                </a:solidFill>
              </a:rPr>
              <a:t>overall muscle strength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/>
          </a:p>
        </p:txBody>
      </p:sp>
      <p:sp>
        <p:nvSpPr>
          <p:cNvPr id="282" name="Google Shape;282;p38"/>
          <p:cNvSpPr txBox="1"/>
          <p:nvPr/>
        </p:nvSpPr>
        <p:spPr>
          <a:xfrm>
            <a:off x="2894325" y="2248656"/>
            <a:ext cx="4841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Low grip strength = low muscle function, even if body weight seems fine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It’s a diagnostic criterion for sarcopenia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Strong predictor of frailty, falls, and disability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2965150" y="3917925"/>
            <a:ext cx="3000000" cy="96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Cut-offs: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Men: &lt;28 kg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Women: &lt;18 kg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84" name="Google Shape;28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7824" y="1218563"/>
            <a:ext cx="3287325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17194-100D-3425-8894-AFCB6D04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2DCAA8-F799-FA5D-CC41-CACE4830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1"/>
            <a:ext cx="5722455" cy="6261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STUDY : 01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364BB-FB66-772A-5BCF-E6D08E035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3" b="6304"/>
          <a:stretch/>
        </p:blipFill>
        <p:spPr>
          <a:xfrm>
            <a:off x="168719" y="534435"/>
            <a:ext cx="3286559" cy="41967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737E742-8974-D5C3-F285-0A1EA474D8C2}"/>
                  </a:ext>
                </a:extLst>
              </p14:cNvPr>
              <p14:cNvContentPartPr/>
              <p14:nvPr/>
            </p14:nvContentPartPr>
            <p14:xfrm>
              <a:off x="879959" y="2092062"/>
              <a:ext cx="153630" cy="9423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737E742-8974-D5C3-F285-0A1EA474D8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642" y="2087746"/>
                <a:ext cx="162265" cy="102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1BD95D9-7CB1-6965-BD25-3C28F29C3801}"/>
                  </a:ext>
                </a:extLst>
              </p14:cNvPr>
              <p14:cNvContentPartPr/>
              <p14:nvPr/>
            </p14:nvContentPartPr>
            <p14:xfrm>
              <a:off x="2749712" y="3685526"/>
              <a:ext cx="267954" cy="82097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1BD95D9-7CB1-6965-BD25-3C28F29C38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5390" y="3681205"/>
                <a:ext cx="276598" cy="90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4994A70-939D-4134-EB23-6D6755317DC6}"/>
                  </a:ext>
                </a:extLst>
              </p14:cNvPr>
              <p14:cNvContentPartPr/>
              <p14:nvPr/>
            </p14:nvContentPartPr>
            <p14:xfrm>
              <a:off x="1379931" y="2714389"/>
              <a:ext cx="109350" cy="27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4994A70-939D-4134-EB23-6D6755317D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3961" y="2660389"/>
                <a:ext cx="180931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5E66D80-D7E9-3C97-3759-14CFDF110649}"/>
                  </a:ext>
                </a:extLst>
              </p14:cNvPr>
              <p14:cNvContentPartPr/>
              <p14:nvPr/>
            </p14:nvContentPartPr>
            <p14:xfrm>
              <a:off x="825824" y="1336389"/>
              <a:ext cx="108270" cy="837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5E66D80-D7E9-3C97-3759-14CFDF1106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9854" y="1263606"/>
                <a:ext cx="179850" cy="153571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C1E8BC6-5017-8B9B-AB45-1DF26E632F68}"/>
              </a:ext>
            </a:extLst>
          </p:cNvPr>
          <p:cNvSpPr txBox="1"/>
          <p:nvPr/>
        </p:nvSpPr>
        <p:spPr>
          <a:xfrm>
            <a:off x="3963434" y="1444262"/>
            <a:ext cx="41456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u="sng" dirty="0">
                <a:highlight>
                  <a:srgbClr val="FFFF00"/>
                </a:highlight>
              </a:rPr>
              <a:t>Case 1 : 25 </a:t>
            </a:r>
            <a:r>
              <a:rPr lang="en-IN" sz="1050" b="1" u="sng" dirty="0" err="1">
                <a:highlight>
                  <a:srgbClr val="FFFF00"/>
                </a:highlight>
              </a:rPr>
              <a:t>yo</a:t>
            </a:r>
            <a:r>
              <a:rPr lang="en-IN" sz="1050" b="1" u="sng" dirty="0">
                <a:highlight>
                  <a:srgbClr val="FFFF00"/>
                </a:highlight>
              </a:rPr>
              <a:t>, F , unable to gain weight</a:t>
            </a:r>
            <a:br>
              <a:rPr lang="en-IN" sz="1050" b="1" u="sng" dirty="0">
                <a:highlight>
                  <a:srgbClr val="FFFF00"/>
                </a:highlight>
              </a:rPr>
            </a:br>
            <a:br>
              <a:rPr lang="en-IN" sz="1050" dirty="0"/>
            </a:br>
            <a:r>
              <a:rPr lang="en-IN" sz="1050" dirty="0"/>
              <a:t>The patient had visited the clinic complaining that she is unable to gain weight even on continuous good diets.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Upon BCA examination , we found that the protein levels were indicating </a:t>
            </a:r>
            <a:r>
              <a:rPr lang="en-IN" sz="1050" b="1" dirty="0"/>
              <a:t>Under at 6.4kg</a:t>
            </a:r>
            <a:r>
              <a:rPr lang="en-IN" sz="1050" dirty="0"/>
              <a:t>.</a:t>
            </a:r>
            <a:br>
              <a:rPr lang="en-IN" sz="1050" dirty="0"/>
            </a:br>
            <a:r>
              <a:rPr lang="en-IN" sz="1050" dirty="0"/>
              <a:t>The SMM was also severely under and the PBF has just crossed the border at </a:t>
            </a:r>
            <a:r>
              <a:rPr lang="en-IN" sz="1050" b="1" dirty="0"/>
              <a:t>29.5%</a:t>
            </a:r>
            <a:r>
              <a:rPr lang="en-IN" sz="1050" dirty="0"/>
              <a:t> .(Ideal Range 18-28%)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While the VFA is low the increased sub-cutaneous fat levels are concerning.</a:t>
            </a:r>
            <a:br>
              <a:rPr lang="en-IN" sz="1050" dirty="0"/>
            </a:br>
            <a:r>
              <a:rPr lang="en-IN" sz="1050" dirty="0"/>
              <a:t>The SMI is at </a:t>
            </a:r>
            <a:r>
              <a:rPr lang="en-IN" sz="1050" b="1" dirty="0"/>
              <a:t>5.2 kg/m</a:t>
            </a:r>
            <a:r>
              <a:rPr lang="en-IN" sz="1050" b="1" baseline="30000" dirty="0"/>
              <a:t>2</a:t>
            </a:r>
            <a:r>
              <a:rPr lang="en-IN" sz="1050" dirty="0"/>
              <a:t> indicating the presence of Sarcopenia .</a:t>
            </a:r>
            <a:br>
              <a:rPr lang="en-IN" sz="1050" dirty="0"/>
            </a:br>
            <a:br>
              <a:rPr lang="en-IN" sz="1050" dirty="0"/>
            </a:br>
            <a:br>
              <a:rPr lang="en-IN" sz="1050" dirty="0"/>
            </a:b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883349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E8F6-8C3B-A517-C7B0-F34B4E079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8A757F-48D1-C55E-470F-33FECB5F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1"/>
            <a:ext cx="5722455" cy="6261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 STUDY : 02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002F0F-8F93-6E60-C9B4-4414866117AF}"/>
              </a:ext>
            </a:extLst>
          </p:cNvPr>
          <p:cNvSpPr txBox="1"/>
          <p:nvPr/>
        </p:nvSpPr>
        <p:spPr>
          <a:xfrm>
            <a:off x="3902720" y="1282378"/>
            <a:ext cx="49642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u="sng" dirty="0">
                <a:highlight>
                  <a:srgbClr val="FFFF00"/>
                </a:highlight>
              </a:rPr>
              <a:t>Case 2 : F , 84Yo Age related muscle loss</a:t>
            </a:r>
            <a:br>
              <a:rPr lang="en-IN" sz="1050" b="1" u="sng" dirty="0">
                <a:highlight>
                  <a:srgbClr val="FFFF00"/>
                </a:highlight>
              </a:rPr>
            </a:br>
            <a:br>
              <a:rPr lang="en-IN" sz="1050" dirty="0"/>
            </a:br>
            <a:r>
              <a:rPr lang="en-IN" sz="1050" dirty="0"/>
              <a:t>84 year old female was examined BCA on routine exam. She had difficulty in walking </a:t>
            </a:r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Upon BCA examination , we found the age old muscle depletion  had taken place and mostly the lower limbs muscle loss was prominent with ECW ratio crossing the normal ranges </a:t>
            </a:r>
            <a:r>
              <a:rPr lang="en-IN" sz="1050" b="1" dirty="0"/>
              <a:t>(0.360 – 0.390)</a:t>
            </a:r>
            <a:r>
              <a:rPr lang="en-IN" sz="1050" dirty="0"/>
              <a:t>.</a:t>
            </a:r>
            <a:br>
              <a:rPr lang="en-IN" sz="1050" dirty="0"/>
            </a:br>
            <a:r>
              <a:rPr lang="en-IN" sz="1050" dirty="0"/>
              <a:t>The PBF was at a whopping </a:t>
            </a:r>
            <a:r>
              <a:rPr lang="en-IN" sz="1050" b="1" dirty="0"/>
              <a:t>50.1%.</a:t>
            </a:r>
            <a:br>
              <a:rPr lang="en-IN" sz="1050" b="1" dirty="0"/>
            </a:br>
            <a:br>
              <a:rPr lang="en-IN" sz="1050" dirty="0"/>
            </a:br>
            <a:r>
              <a:rPr lang="en-IN" sz="1050" dirty="0"/>
              <a:t>Even when we see the Visceral fat levels they were through the roof  at </a:t>
            </a:r>
            <a:r>
              <a:rPr lang="en-IN" sz="1050" b="1" dirty="0"/>
              <a:t>184 kg/m</a:t>
            </a:r>
            <a:r>
              <a:rPr lang="en-IN" sz="1050" b="1" baseline="30000" dirty="0"/>
              <a:t>2</a:t>
            </a:r>
            <a:r>
              <a:rPr lang="en-IN" sz="1050" dirty="0"/>
              <a:t> and also the Phase Angle levels were </a:t>
            </a:r>
            <a:r>
              <a:rPr lang="en-IN" sz="1050" b="1" dirty="0"/>
              <a:t>3.6</a:t>
            </a:r>
            <a:r>
              <a:rPr lang="en-IN" sz="1050" dirty="0"/>
              <a:t> , indicating tissue loss and cellular damage.</a:t>
            </a:r>
            <a:br>
              <a:rPr lang="en-IN" sz="1050" dirty="0"/>
            </a:br>
            <a:br>
              <a:rPr lang="en-IN" sz="1050" dirty="0"/>
            </a:br>
            <a:br>
              <a:rPr lang="en-IN" sz="1050" dirty="0"/>
            </a:br>
            <a:endParaRPr lang="en-IN" sz="10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3F178B-A1A0-1815-F5D6-BF3692F86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42" y="523875"/>
            <a:ext cx="3256020" cy="4567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4F52852-83CB-E173-A97E-CE13697BA91F}"/>
                  </a:ext>
                </a:extLst>
              </p14:cNvPr>
              <p14:cNvContentPartPr/>
              <p14:nvPr/>
            </p14:nvContentPartPr>
            <p14:xfrm>
              <a:off x="1107756" y="2081213"/>
              <a:ext cx="153630" cy="9423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4F52852-83CB-E173-A97E-CE13697BA9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3439" y="2076897"/>
                <a:ext cx="162265" cy="102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22EF47C-2194-6159-2440-6A5650486803}"/>
                  </a:ext>
                </a:extLst>
              </p14:cNvPr>
              <p14:cNvContentPartPr/>
              <p14:nvPr/>
            </p14:nvContentPartPr>
            <p14:xfrm>
              <a:off x="2849206" y="3674165"/>
              <a:ext cx="267954" cy="82097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22EF47C-2194-6159-2440-6A56504868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44884" y="3669844"/>
                <a:ext cx="276598" cy="90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F81AAE6-FEEA-BAC3-8F9B-2ADEA778AFD2}"/>
                  </a:ext>
                </a:extLst>
              </p14:cNvPr>
              <p14:cNvContentPartPr/>
              <p14:nvPr/>
            </p14:nvContentPartPr>
            <p14:xfrm>
              <a:off x="2122881" y="3604976"/>
              <a:ext cx="109350" cy="27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F81AAE6-FEEA-BAC3-8F9B-2ADEA778AF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6911" y="3550976"/>
                <a:ext cx="180931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1A1B09-1874-C642-AA98-0D1AC63378A7}"/>
                  </a:ext>
                </a:extLst>
              </p14:cNvPr>
              <p14:cNvContentPartPr/>
              <p14:nvPr/>
            </p14:nvContentPartPr>
            <p14:xfrm>
              <a:off x="2122881" y="3462101"/>
              <a:ext cx="10935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1A1B09-1874-C642-AA98-0D1AC63378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6911" y="3408101"/>
                <a:ext cx="180931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DE04F6-8F75-704A-62F9-CC699D6433D6}"/>
                  </a:ext>
                </a:extLst>
              </p14:cNvPr>
              <p14:cNvContentPartPr/>
              <p14:nvPr/>
            </p14:nvContentPartPr>
            <p14:xfrm>
              <a:off x="2122881" y="3303588"/>
              <a:ext cx="109350" cy="27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DE04F6-8F75-704A-62F9-CC699D6433D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6911" y="3249588"/>
                <a:ext cx="180931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B3CEFE-2D17-AC77-BB69-B594C3E50E77}"/>
                  </a:ext>
                </a:extLst>
              </p14:cNvPr>
              <p14:cNvContentPartPr/>
              <p14:nvPr/>
            </p14:nvContentPartPr>
            <p14:xfrm>
              <a:off x="3227781" y="1627188"/>
              <a:ext cx="109350" cy="27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B3CEFE-2D17-AC77-BB69-B594C3E50E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91811" y="1573188"/>
                <a:ext cx="180931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566D80-3845-3542-2A31-773287F653FB}"/>
                  </a:ext>
                </a:extLst>
              </p14:cNvPr>
              <p14:cNvContentPartPr/>
              <p14:nvPr/>
            </p14:nvContentPartPr>
            <p14:xfrm>
              <a:off x="2013531" y="2665413"/>
              <a:ext cx="109350" cy="27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566D80-3845-3542-2A31-773287F653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77561" y="2611413"/>
                <a:ext cx="180931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081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2C4E497-C8EE-437C-8B48-74930C86B6C9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4" name="Google Shape;209;p32">
              <a:extLst>
                <a:ext uri="{FF2B5EF4-FFF2-40B4-BE49-F238E27FC236}">
                  <a16:creationId xmlns:a16="http://schemas.microsoft.com/office/drawing/2014/main" id="{056EB6E0-06D3-46CC-9E3B-BF1AACB88759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 The Muscle ratio, Visceral fat and HbA1c control in T2DM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2633CE-DAF1-43E6-B959-B34F9897AB15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23E28C14-59BD-4514-B1F0-42A5B09C9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2700230"/>
            <a:ext cx="5597668" cy="2274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44.8% of individuals met target HbA1c ≤ 7.0%.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skeletal muscle ratio (SMR) in target-group: 37.7% vs 36.5%.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visceral fat area (VFA) in target-group: 100.2 vs 113.8 cm².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physical activity increased likelihood of meeting HbA1c target (OR 0.551 before body composition adjustment).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adjusting for SMR and VFA: only SMR remained significant mediator (OR 0.920, 95% CI 0.848-0.998). Indirect effect of SMR = -0.238 (95% CI -0.525 to -0.020).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D96E3-DC04-43ED-8019-EF313654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690" y="1189990"/>
            <a:ext cx="3242310" cy="3242310"/>
          </a:xfrm>
          <a:prstGeom prst="rect">
            <a:avLst/>
          </a:prstGeom>
        </p:spPr>
      </p:pic>
      <p:pic>
        <p:nvPicPr>
          <p:cNvPr id="9" name="Picture 8" descr="A close-up of a document&#10;&#10;AI-generated content may be incorrect.">
            <a:extLst>
              <a:ext uri="{FF2B5EF4-FFF2-40B4-BE49-F238E27FC236}">
                <a16:creationId xmlns:a16="http://schemas.microsoft.com/office/drawing/2014/main" id="{B42F5576-656B-49A9-9A06-D70940F41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06" y="953121"/>
            <a:ext cx="4988560" cy="185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4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6092D48-A672-40DB-AB90-6BC99D913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" y="1941378"/>
            <a:ext cx="6537960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184 healthy participants aged 21-70 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measured for SMM, % body fat, VFA, phase angle, extracellular water.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Females had higher body fat (41 %), VFA (134.8 cm²) and lower SMM (19.4 kg) than males. Mean BMI nearly equal (26.5 vs 25.5).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correlation between BMI and % body fat (~0.8) but only moderate link with SMM (~0.45).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BIA is effective for detecting and monitoring sarcopenic obesity; BMI alone may mislead.</a:t>
            </a:r>
          </a:p>
        </p:txBody>
      </p:sp>
      <p:pic>
        <p:nvPicPr>
          <p:cNvPr id="4" name="Picture 3" descr="A close up of a website&#10;&#10;AI-generated content may be incorrect.">
            <a:extLst>
              <a:ext uri="{FF2B5EF4-FFF2-40B4-BE49-F238E27FC236}">
                <a16:creationId xmlns:a16="http://schemas.microsoft.com/office/drawing/2014/main" id="{3D9BA24E-5CF5-4088-9E20-1372426DF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911" t="25556" r="2911" b="-25556"/>
          <a:stretch/>
        </p:blipFill>
        <p:spPr>
          <a:xfrm>
            <a:off x="3200400" y="483050"/>
            <a:ext cx="5758627" cy="137155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F1DDC13-FEB0-483B-8450-10F0624016AE}"/>
              </a:ext>
            </a:extLst>
          </p:cNvPr>
          <p:cNvGrpSpPr/>
          <p:nvPr/>
        </p:nvGrpSpPr>
        <p:grpSpPr>
          <a:xfrm>
            <a:off x="84803" y="52215"/>
            <a:ext cx="7878579" cy="551874"/>
            <a:chOff x="84803" y="52215"/>
            <a:chExt cx="7878579" cy="551874"/>
          </a:xfrm>
        </p:grpSpPr>
        <p:sp>
          <p:nvSpPr>
            <p:cNvPr id="6" name="Google Shape;209;p32">
              <a:extLst>
                <a:ext uri="{FF2B5EF4-FFF2-40B4-BE49-F238E27FC236}">
                  <a16:creationId xmlns:a16="http://schemas.microsoft.com/office/drawing/2014/main" id="{6906E79B-9B88-47B9-A98E-DCD1289D7157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7861782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 Early Detection of Sarcopenic Obesity via  BIA in Healthy Adults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0711E0-FD48-4476-AAD9-C57FA7D33B76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5620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1087120" y="2109203"/>
            <a:ext cx="5586975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Clinical Implication in Diabetes Care</a:t>
            </a:r>
            <a:endParaRPr sz="4000" dirty="0"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7C0B0-ACB8-4F83-ADE7-822E706DB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82"/>
          <a:stretch/>
        </p:blipFill>
        <p:spPr>
          <a:xfrm>
            <a:off x="7049654" y="396571"/>
            <a:ext cx="2094346" cy="41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46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F87D5F-5DD9-45E9-8416-FADFBF2D1142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8" name="Google Shape;209;p32">
              <a:extLst>
                <a:ext uri="{FF2B5EF4-FFF2-40B4-BE49-F238E27FC236}">
                  <a16:creationId xmlns:a16="http://schemas.microsoft.com/office/drawing/2014/main" id="{61E1857E-5AD4-444E-B14C-5AB877B9DCE7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Clinical implication in Diabetes Care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C395BA-3477-48D0-B595-51681FD743A0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4287D54-791F-4D1E-993F-26B66FF495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8503" y="4374233"/>
            <a:ext cx="897439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Sarcopenic obesity worsens insulin resistance, glycemic control, and mobility.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BCA-based screening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tailor exercise and nutrition plans.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approach: endocrinologist + dietitian + physiotherapist for muscle preservation.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D873D-71D3-4CFB-B713-474C92B5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73" y="760797"/>
            <a:ext cx="4611502" cy="3456728"/>
          </a:xfrm>
          <a:prstGeom prst="rect">
            <a:avLst/>
          </a:prstGeom>
        </p:spPr>
      </p:pic>
      <p:pic>
        <p:nvPicPr>
          <p:cNvPr id="15" name="Picture 14" descr="A person holding his shoulder&#10;&#10;AI-generated content may be incorrect.">
            <a:extLst>
              <a:ext uri="{FF2B5EF4-FFF2-40B4-BE49-F238E27FC236}">
                <a16:creationId xmlns:a16="http://schemas.microsoft.com/office/drawing/2014/main" id="{FFAA9366-621B-4B7B-B132-FF79AF0B0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1828800"/>
            <a:ext cx="1383582" cy="12441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1087120" y="2109203"/>
            <a:ext cx="5586975" cy="14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Management – </a:t>
            </a:r>
            <a:br>
              <a:rPr lang="en-US" sz="4000" dirty="0"/>
            </a:br>
            <a:r>
              <a:rPr lang="en-US" sz="4000" dirty="0"/>
              <a:t>Tri- faced approach</a:t>
            </a:r>
            <a:endParaRPr sz="4000" dirty="0"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1412275" y="1391303"/>
            <a:ext cx="14790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87C0B0-ACB8-4F83-ADE7-822E706DB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82"/>
          <a:stretch/>
        </p:blipFill>
        <p:spPr>
          <a:xfrm>
            <a:off x="7049654" y="396571"/>
            <a:ext cx="2094346" cy="41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54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1622505-0A02-4A78-A4D0-DAE0605B40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15357"/>
              </p:ext>
            </p:extLst>
          </p:nvPr>
        </p:nvGraphicFramePr>
        <p:xfrm>
          <a:off x="4572000" y="1314192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6DDFFBC-AF31-457A-9E61-9319308C4B2B}"/>
              </a:ext>
            </a:extLst>
          </p:cNvPr>
          <p:cNvSpPr/>
          <p:nvPr/>
        </p:nvSpPr>
        <p:spPr>
          <a:xfrm>
            <a:off x="295154" y="1001675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1. Lifestyle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Resistance and aerobic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Protein intake 1.2–1.6 g/kg/day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Vitamin D supplementation</a:t>
            </a:r>
          </a:p>
          <a:p>
            <a:endParaRPr lang="en-US" sz="1600" dirty="0"/>
          </a:p>
          <a:p>
            <a:r>
              <a:rPr lang="en-US" sz="1600" b="1" dirty="0"/>
              <a:t>2. Pharmacological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Optimize diabetes medications (minimize lean mass loss)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Emerging: Myostatin inhibitors, SARMs, anti-inflammatory drugs</a:t>
            </a:r>
          </a:p>
          <a:p>
            <a:endParaRPr lang="en-US" sz="1600" dirty="0"/>
          </a:p>
          <a:p>
            <a:r>
              <a:rPr lang="en-US" sz="1600" b="1" dirty="0"/>
              <a:t>3. Regular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BIA/DXA for body composition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Functional tests: handgrip strength, gait speed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821F87-8BCA-4DAE-91A3-1FA83D0F8F3D}"/>
              </a:ext>
            </a:extLst>
          </p:cNvPr>
          <p:cNvGrpSpPr/>
          <p:nvPr/>
        </p:nvGrpSpPr>
        <p:grpSpPr>
          <a:xfrm>
            <a:off x="84803" y="52215"/>
            <a:ext cx="6502997" cy="551874"/>
            <a:chOff x="84803" y="52215"/>
            <a:chExt cx="6502997" cy="551874"/>
          </a:xfrm>
        </p:grpSpPr>
        <p:sp>
          <p:nvSpPr>
            <p:cNvPr id="9" name="Google Shape;209;p32">
              <a:extLst>
                <a:ext uri="{FF2B5EF4-FFF2-40B4-BE49-F238E27FC236}">
                  <a16:creationId xmlns:a16="http://schemas.microsoft.com/office/drawing/2014/main" id="{1FAD508B-5154-4387-9858-C796E92403EA}"/>
                </a:ext>
              </a:extLst>
            </p:cNvPr>
            <p:cNvSpPr txBox="1">
              <a:spLocks/>
            </p:cNvSpPr>
            <p:nvPr/>
          </p:nvSpPr>
          <p:spPr>
            <a:xfrm>
              <a:off x="101600" y="52215"/>
              <a:ext cx="6486200" cy="551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lbert Sans ExtraBold"/>
                <a:buNone/>
                <a:defRPr sz="3000" b="0" i="0" u="none" strike="noStrike" cap="none">
                  <a:solidFill>
                    <a:schemeClr val="dk1"/>
                  </a:solidFill>
                  <a:latin typeface="Albert Sans ExtraBold"/>
                  <a:ea typeface="Albert Sans ExtraBold"/>
                  <a:cs typeface="Albert Sans ExtraBold"/>
                  <a:sym typeface="Albert Sans ExtraBold"/>
                </a:defRPr>
              </a:lvl9pPr>
            </a:lstStyle>
            <a:p>
              <a:r>
                <a:rPr lang="en-US" sz="2400" dirty="0"/>
                <a:t>Management- Tri- faced Approach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5A4AC3-DC90-4F0A-B001-4427FFF3A482}"/>
                </a:ext>
              </a:extLst>
            </p:cNvPr>
            <p:cNvSpPr/>
            <p:nvPr/>
          </p:nvSpPr>
          <p:spPr>
            <a:xfrm>
              <a:off x="84803" y="52215"/>
              <a:ext cx="84803" cy="5518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3117302" y="445025"/>
            <a:ext cx="63276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Summary &amp; Take Home Message</a:t>
            </a:r>
            <a:endParaRPr sz="2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753D36-C95D-46AE-B773-2B3B653E7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852" y="1505218"/>
            <a:ext cx="478820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Routine screening for sarcopenic obesity in T2D is essential.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muscle gain and fat reduction simultaneously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resistance training + high-quality protein + caloric moderation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Angle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VFA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ECW Ratio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early intervention.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BCA as a precision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diabetes management and prognosis.</a:t>
            </a:r>
          </a:p>
        </p:txBody>
      </p:sp>
      <p:pic>
        <p:nvPicPr>
          <p:cNvPr id="11267" name="Picture 3" descr="Muscle Matters: Cracking the Code of Sarcopenia - NIHR Birmingham  Biomedical Research Centre">
            <a:extLst>
              <a:ext uri="{FF2B5EF4-FFF2-40B4-BE49-F238E27FC236}">
                <a16:creationId xmlns:a16="http://schemas.microsoft.com/office/drawing/2014/main" id="{ED07CCB4-4CB1-4280-9E31-D20F6E087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/>
          <a:stretch/>
        </p:blipFill>
        <p:spPr bwMode="auto">
          <a:xfrm>
            <a:off x="-92597" y="1472692"/>
            <a:ext cx="3935392" cy="292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CE365-E57E-4073-BFDF-8EFE274016EB}"/>
              </a:ext>
            </a:extLst>
          </p:cNvPr>
          <p:cNvSpPr txBox="1"/>
          <p:nvPr/>
        </p:nvSpPr>
        <p:spPr>
          <a:xfrm>
            <a:off x="2523281" y="2063918"/>
            <a:ext cx="5150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3196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2EF337-10A7-4A1B-A307-9A88D738D7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698694"/>
              </p:ext>
            </p:extLst>
          </p:nvPr>
        </p:nvGraphicFramePr>
        <p:xfrm>
          <a:off x="4815348" y="1200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6A49A05-1CE0-427A-B1E8-02730CD8A5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167414"/>
              </p:ext>
            </p:extLst>
          </p:nvPr>
        </p:nvGraphicFramePr>
        <p:xfrm>
          <a:off x="-798286" y="1200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57D7654-A819-4D58-AB49-98106005EF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3951192"/>
              </p:ext>
            </p:extLst>
          </p:nvPr>
        </p:nvGraphicFramePr>
        <p:xfrm>
          <a:off x="2411361" y="1200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89085456"/>
      </p:ext>
    </p:extLst>
  </p:cSld>
  <p:clrMapOvr>
    <a:masterClrMapping/>
  </p:clrMapOvr>
</p:sld>
</file>

<file path=ppt/theme/theme1.xml><?xml version="1.0" encoding="utf-8"?>
<a:theme xmlns:a="http://schemas.openxmlformats.org/drawingml/2006/main" name="Respiratory Infections: Croup by Slidesgo">
  <a:themeElements>
    <a:clrScheme name="Simple Light">
      <a:dk1>
        <a:srgbClr val="191919"/>
      </a:dk1>
      <a:lt1>
        <a:srgbClr val="F5F5F5"/>
      </a:lt1>
      <a:dk2>
        <a:srgbClr val="E0666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1836</Words>
  <Application>Microsoft Office PowerPoint</Application>
  <PresentationFormat>On-screen Show (16:9)</PresentationFormat>
  <Paragraphs>186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Calibri</vt:lpstr>
      <vt:lpstr>서울남산체 L</vt:lpstr>
      <vt:lpstr>맑은 고딕</vt:lpstr>
      <vt:lpstr>Raleway</vt:lpstr>
      <vt:lpstr>Aptos</vt:lpstr>
      <vt:lpstr>Albert Sans ExtraBold</vt:lpstr>
      <vt:lpstr>Roboto Serif</vt:lpstr>
      <vt:lpstr>Montserrat</vt:lpstr>
      <vt:lpstr>Open Sans</vt:lpstr>
      <vt:lpstr>Assistant</vt:lpstr>
      <vt:lpstr>Respiratory Infections: Croup by Slidesgo</vt:lpstr>
      <vt:lpstr>Decoding Sarcopenic Obesity in Type 2 Diabetes through Body Composition Analysis</vt:lpstr>
      <vt:lpstr>Sarcopenic Obesity Prevalence </vt:lpstr>
      <vt:lpstr>Prevalence</vt:lpstr>
      <vt:lpstr>PowerPoint Presentation</vt:lpstr>
      <vt:lpstr>Pathophysiology  The Vicious Cycle</vt:lpstr>
      <vt:lpstr>PowerPoint Presentation</vt:lpstr>
      <vt:lpstr>PowerPoint Presentation</vt:lpstr>
      <vt:lpstr>PowerPoint Presentation</vt:lpstr>
      <vt:lpstr>Diagnostic Criteria and Staging</vt:lpstr>
      <vt:lpstr>PowerPoint Presentation</vt:lpstr>
      <vt:lpstr>PowerPoint Presentation</vt:lpstr>
      <vt:lpstr>PowerPoint Presentation</vt:lpstr>
      <vt:lpstr>InBody Applications in Sarcopenic Obesity</vt:lpstr>
      <vt:lpstr>InBody Applications in Sarcopenic Obesity</vt:lpstr>
      <vt:lpstr>PowerPoint Presentation</vt:lpstr>
      <vt:lpstr>PowerPoint Presentation</vt:lpstr>
      <vt:lpstr>PowerPoint Presentation</vt:lpstr>
      <vt:lpstr>PowerPoint Presentation</vt:lpstr>
      <vt:lpstr>Hand Grip Strength</vt:lpstr>
      <vt:lpstr>CASE STUDY : 01 </vt:lpstr>
      <vt:lpstr>CASE STUDY : 02</vt:lpstr>
      <vt:lpstr>PowerPoint Presentation</vt:lpstr>
      <vt:lpstr>PowerPoint Presentation</vt:lpstr>
      <vt:lpstr>Clinical Implication in Diabetes Care</vt:lpstr>
      <vt:lpstr>PowerPoint Presentation</vt:lpstr>
      <vt:lpstr>Management –  Tri- faced approach</vt:lpstr>
      <vt:lpstr>PowerPoint Presentation</vt:lpstr>
      <vt:lpstr>Summary &amp; Take Home Message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Sarcopenic Obesity in Type 2 Diabetes through Body Composition Analysis</dc:title>
  <cp:lastModifiedBy>Shrutika Khedekar</cp:lastModifiedBy>
  <cp:revision>15</cp:revision>
  <dcterms:modified xsi:type="dcterms:W3CDTF">2025-10-25T06:03:14Z</dcterms:modified>
</cp:coreProperties>
</file>