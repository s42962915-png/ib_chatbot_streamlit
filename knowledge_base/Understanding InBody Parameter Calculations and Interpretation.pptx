
<file path=[Content_Types].xml><?xml version="1.0" encoding="utf-8"?>
<Types xmlns="http://schemas.openxmlformats.org/package/2006/content-types">
  <Default Extension="png" ContentType="image/png"/>
  <Default Extension="tmp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66" r:id="rId6"/>
    <p:sldId id="382" r:id="rId7"/>
    <p:sldId id="383" r:id="rId8"/>
    <p:sldId id="265" r:id="rId9"/>
    <p:sldId id="263" r:id="rId10"/>
    <p:sldId id="385" r:id="rId11"/>
    <p:sldId id="384" r:id="rId12"/>
    <p:sldId id="386" r:id="rId13"/>
    <p:sldId id="3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67EAE-C62F-4500-BB9C-AAF112740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6AF9F-CF45-4320-9496-C7CE24953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43CDB-F6CF-4AFB-8588-C63DE927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82EE-E5CD-42B6-B02B-D4C5A654EC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3AAA5-C9E2-42DD-A52F-65AAFC512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7309D-D3A0-4E70-94D6-D46613C42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4B6EC-F63C-4F49-AD78-F03BC9031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6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37B6-C869-4F02-BED2-84C411DF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07A76-FAAB-4216-9F81-E79CBB257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177CE-80D9-42A4-853D-3102533B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82EE-E5CD-42B6-B02B-D4C5A654EC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72B98-DD5C-4AFB-888A-19B89537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F67EF-ECC7-4DCF-938C-08F3BD7C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4B6EC-F63C-4F49-AD78-F03BC9031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41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1026F-C1F7-418E-9706-5A6CDA08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1B605-A95B-470B-8C9A-E00E47477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337CB-9164-4B67-83A7-A19C61007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82EE-E5CD-42B6-B02B-D4C5A654EC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3E7F8-8E91-4C4A-BEB1-D949E4FAA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29301-57CC-48B3-A0F6-265DBB1E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4B6EC-F63C-4F49-AD78-F03BC9031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3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A3CB-71C5-46D6-83F3-88F7553A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19969-1361-4107-9A6A-955371900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9BBE0-BE19-4005-8E54-920E4DAF9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2160A-6EE3-4554-9BD3-A6624AA8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82EE-E5CD-42B6-B02B-D4C5A654EC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8F47B-0503-4CB1-80EB-56FC65943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C43E6-B966-4D0F-A9BA-C215CFFCF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4B6EC-F63C-4F49-AD78-F03BC9031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1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9EBD-4DDC-45ED-943D-1EAC36AB8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A3910-BFDA-4EFF-BBD4-585BF3EF9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24859-6660-415A-8F5A-2CEBA8275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5455F-8B6C-4B9F-8765-E785834BC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A8AF8-27F8-4655-A1F7-9DA4538B36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C6C637-36DD-420C-AC86-32F46FF8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82EE-E5CD-42B6-B02B-D4C5A654EC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586C7-E352-4D4C-8D4A-64530D555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183F4-0ED1-44FC-A632-B51BC0EE3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4B6EC-F63C-4F49-AD78-F03BC9031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5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EC1C-F478-4D52-8A08-EDA7229D8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AF39F-8971-47D5-9EA1-814D079B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82EE-E5CD-42B6-B02B-D4C5A654EC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3D16C-E8E4-4107-A2ED-F9311B7E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92903-0EC3-4457-8165-C3F939AC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4B6EC-F63C-4F49-AD78-F03BC9031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89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0E3BF0-09F2-4614-B046-FBB3C2D40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82EE-E5CD-42B6-B02B-D4C5A654EC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2A7651-31AF-4943-BCA7-4CDA4D76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63954-BF06-4830-AEA1-CEB8AC35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4B6EC-F63C-4F49-AD78-F03BC9031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46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3B46-0A0B-47ED-86F4-5997D7BF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C46EA-61C9-4543-B4AE-2F2D6B540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1221F-CC90-4887-B3CF-44DAE88F5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A77FC-0A2C-4724-B92C-1C6981FA2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82EE-E5CD-42B6-B02B-D4C5A654EC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053E6-BDF3-4F78-A170-AD8C94BB1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873FB-8B9F-4FA4-A16C-91A13612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4B6EC-F63C-4F49-AD78-F03BC9031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2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AC91-5149-4FEE-A8F1-03D8080A6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336396-D10C-4BC0-9956-028F33640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8FC62-A174-4554-8AEC-A5DEFAFE7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D95BA-F08A-4631-BCA8-834BD5FAC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82EE-E5CD-42B6-B02B-D4C5A654EC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D952D-06E6-43A5-9128-CA17F64F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C6ED0-2CB1-4AD0-8F1E-338E1525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4B6EC-F63C-4F49-AD78-F03BC9031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FC21-9D09-4A07-990C-87BD634E5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C6B7E-F56F-4328-A861-7057677F2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0E101-A3DC-4874-8E47-2008D7664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82EE-E5CD-42B6-B02B-D4C5A654EC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A95D4-E8A9-45AB-AADA-A407623B6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052DD-3013-469D-95C5-DB0DFF77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4B6EC-F63C-4F49-AD78-F03BC9031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22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A81EF5-0EB1-444D-98FB-A7E307AE9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E8E7C-59DF-43DE-B850-C59A5C755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79D6B-9BB7-46F0-ACFC-5F6445234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82EE-E5CD-42B6-B02B-D4C5A654EC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0C130-F4EA-4223-BA8B-EECDF2D8E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8EF8F-6BC5-4250-AC23-32C836D4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4B6EC-F63C-4F49-AD78-F03BC9031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31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하단 대제목 수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64E376-B9E3-E14A-BEEB-3D128A87DD6D}"/>
              </a:ext>
            </a:extLst>
          </p:cNvPr>
          <p:cNvSpPr/>
          <p:nvPr userDrawn="1"/>
        </p:nvSpPr>
        <p:spPr>
          <a:xfrm flipH="1">
            <a:off x="-2" y="-4"/>
            <a:ext cx="12192002" cy="54000"/>
          </a:xfrm>
          <a:prstGeom prst="rect">
            <a:avLst/>
          </a:prstGeom>
          <a:solidFill>
            <a:srgbClr val="656E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C5F8EB-8389-3544-A205-74CB1A11A6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234315" y="6371029"/>
            <a:ext cx="773724" cy="27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3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80BF27-07EE-41BF-B57B-56A203B5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AC27D-B368-4E3E-9686-B7C45684A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2BA1B-AE2C-4868-8A63-2A013294C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182EE-E5CD-42B6-B02B-D4C5A654EC3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20454-17B6-4C61-9A44-C44ED6939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DC0D5-B92E-4275-969E-A056DDA8A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4B6EC-F63C-4F49-AD78-F03BC9031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78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9E8D-BE07-494A-8ADD-DCA9ED4A6D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Understanding </a:t>
            </a:r>
            <a:r>
              <a:rPr lang="en-US" b="1" dirty="0" err="1"/>
              <a:t>InBody</a:t>
            </a:r>
            <a:r>
              <a:rPr lang="en-US" b="1" dirty="0"/>
              <a:t> Parameter Calculations and Interpretation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DDD3B-67F3-4464-B191-C1ACB91752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08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A23155-F013-4647-A64C-638174D1B0A3}"/>
              </a:ext>
            </a:extLst>
          </p:cNvPr>
          <p:cNvSpPr txBox="1"/>
          <p:nvPr/>
        </p:nvSpPr>
        <p:spPr>
          <a:xfrm>
            <a:off x="102887" y="210490"/>
            <a:ext cx="70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02</a:t>
            </a:r>
            <a:endParaRPr lang="ko-KR" altLang="en-US" sz="20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9E0B28"/>
              </a:solidFill>
              <a:latin typeface="Lato Black" panose="020F0502020204030203" pitchFamily="34" charset="0"/>
              <a:ea typeface="에스코어 드림 4 Regular" panose="020B0503030302020204" pitchFamily="34" charset="-127"/>
              <a:cs typeface="Lato Black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31E62-CE78-8243-AB22-9D4C1B89F17B}"/>
              </a:ext>
            </a:extLst>
          </p:cNvPr>
          <p:cNvSpPr txBox="1"/>
          <p:nvPr/>
        </p:nvSpPr>
        <p:spPr>
          <a:xfrm>
            <a:off x="569846" y="222320"/>
            <a:ext cx="5122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3A3A38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Application of </a:t>
            </a:r>
            <a:r>
              <a:rPr lang="en-US" altLang="ko-KR" sz="2000" dirty="0" err="1">
                <a:solidFill>
                  <a:srgbClr val="3A3A38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InBody</a:t>
            </a:r>
            <a:r>
              <a:rPr lang="en-US" altLang="ko-KR" sz="2000" dirty="0">
                <a:solidFill>
                  <a:srgbClr val="3A3A38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Parameters – Phase angle</a:t>
            </a:r>
            <a:endParaRPr lang="ko-KR" altLang="en-US" sz="2000" dirty="0">
              <a:solidFill>
                <a:srgbClr val="3A3A38"/>
              </a:solidFill>
              <a:latin typeface="Lato Black" panose="020F0502020204030203" pitchFamily="34" charset="0"/>
              <a:ea typeface="S-Core Dream 5 Medium" panose="020B0503030302020204" pitchFamily="34" charset="-127"/>
              <a:cs typeface="Lato Black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71BDF-AC03-4748-8C05-1D490119D647}"/>
              </a:ext>
            </a:extLst>
          </p:cNvPr>
          <p:cNvSpPr txBox="1"/>
          <p:nvPr/>
        </p:nvSpPr>
        <p:spPr>
          <a:xfrm>
            <a:off x="935856" y="655181"/>
            <a:ext cx="2378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 dirty="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A0112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Severity Check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637860" y="640289"/>
            <a:ext cx="2745420" cy="353446"/>
          </a:xfrm>
          <a:prstGeom prst="roundRect">
            <a:avLst>
              <a:gd name="adj" fmla="val 50000"/>
            </a:avLst>
          </a:prstGeom>
          <a:noFill/>
          <a:ln>
            <a:solidFill>
              <a:srgbClr val="B9BF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A35B15D-C61D-7E8E-32F1-6B31D0093544}"/>
              </a:ext>
            </a:extLst>
          </p:cNvPr>
          <p:cNvSpPr/>
          <p:nvPr/>
        </p:nvSpPr>
        <p:spPr>
          <a:xfrm rot="5400000">
            <a:off x="757326" y="719124"/>
            <a:ext cx="199307" cy="199307"/>
          </a:xfrm>
          <a:prstGeom prst="ellipse">
            <a:avLst/>
          </a:prstGeom>
          <a:solidFill>
            <a:srgbClr val="E7E8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2166" y="680277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</a:t>
            </a:r>
            <a:endParaRPr lang="ko-KR" altLang="en-US" sz="1200">
              <a:solidFill>
                <a:schemeClr val="bg1">
                  <a:lumMod val="50000"/>
                </a:schemeClr>
              </a:solidFill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7220AE-0618-086C-6C9A-B3731E51121D}"/>
              </a:ext>
            </a:extLst>
          </p:cNvPr>
          <p:cNvSpPr/>
          <p:nvPr/>
        </p:nvSpPr>
        <p:spPr>
          <a:xfrm>
            <a:off x="1189881" y="1139399"/>
            <a:ext cx="9686606" cy="1477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+mj-ea"/>
                <a:cs typeface="Lato" panose="020F0502020204030203" pitchFamily="34" charset="0"/>
              </a:rPr>
              <a:t>In the human body, the cell membrane consists of two layers of lipoproteins. Inside, there's a lipid layer, while the outer layers on both sides are composed of water-friendly protein layers, serving as a scaffold. </a:t>
            </a:r>
            <a:r>
              <a:rPr lang="en-US" altLang="ko-KR" sz="1400" b="1" dirty="0" err="1">
                <a:solidFill>
                  <a:srgbClr val="4B4F5A"/>
                </a:solidFill>
                <a:latin typeface="Lato" panose="020F0502020204030203" pitchFamily="34" charset="0"/>
                <a:ea typeface="+mj-ea"/>
                <a:cs typeface="Lato" panose="020F0502020204030203" pitchFamily="34" charset="0"/>
              </a:rPr>
              <a:t>Xc</a:t>
            </a: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+mj-ea"/>
                <a:cs typeface="Lato" panose="020F0502020204030203" pitchFamily="34" charset="0"/>
              </a:rPr>
              <a:t> represents the resistance component generated in the scaffold-like cell membrane, and </a:t>
            </a:r>
            <a:r>
              <a:rPr lang="en-US" altLang="ko-KR" sz="1400" b="1" dirty="0" err="1">
                <a:solidFill>
                  <a:srgbClr val="4B4F5A"/>
                </a:solidFill>
                <a:latin typeface="Lato" panose="020F0502020204030203" pitchFamily="34" charset="0"/>
                <a:ea typeface="+mj-ea"/>
                <a:cs typeface="Lato" panose="020F0502020204030203" pitchFamily="34" charset="0"/>
              </a:rPr>
              <a:t>PhA</a:t>
            </a: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+mj-ea"/>
                <a:cs typeface="Lato" panose="020F0502020204030203" pitchFamily="34" charset="0"/>
              </a:rPr>
              <a:t> is proportional to </a:t>
            </a:r>
            <a:r>
              <a:rPr lang="en-US" altLang="ko-KR" sz="1400" b="1" dirty="0" err="1">
                <a:solidFill>
                  <a:srgbClr val="4B4F5A"/>
                </a:solidFill>
                <a:latin typeface="Lato" panose="020F0502020204030203" pitchFamily="34" charset="0"/>
                <a:ea typeface="+mj-ea"/>
                <a:cs typeface="Lato" panose="020F0502020204030203" pitchFamily="34" charset="0"/>
              </a:rPr>
              <a:t>Xc</a:t>
            </a: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+mj-ea"/>
                <a:cs typeface="Lato" panose="020F0502020204030203" pitchFamily="34" charset="0"/>
              </a:rPr>
              <a:t>. </a:t>
            </a:r>
            <a:r>
              <a:rPr lang="en-US" altLang="ko-KR" sz="1400" b="1" dirty="0" err="1">
                <a:solidFill>
                  <a:srgbClr val="4B4F5A"/>
                </a:solidFill>
                <a:latin typeface="Lato" panose="020F0502020204030203" pitchFamily="34" charset="0"/>
                <a:ea typeface="+mj-ea"/>
                <a:cs typeface="Lato" panose="020F0502020204030203" pitchFamily="34" charset="0"/>
              </a:rPr>
              <a:t>PhA</a:t>
            </a: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+mj-ea"/>
                <a:cs typeface="Lato" panose="020F0502020204030203" pitchFamily="34" charset="0"/>
              </a:rPr>
              <a:t> is correlated with cell/cellular membrane health.</a:t>
            </a:r>
            <a:endParaRPr lang="en-US" altLang="ko-KR" sz="1400" b="1" dirty="0">
              <a:solidFill>
                <a:srgbClr val="A0112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17341FD-5CB6-FD6B-EC53-DDC188C48602}"/>
              </a:ext>
            </a:extLst>
          </p:cNvPr>
          <p:cNvGrpSpPr/>
          <p:nvPr/>
        </p:nvGrpSpPr>
        <p:grpSpPr>
          <a:xfrm>
            <a:off x="2010570" y="2808837"/>
            <a:ext cx="7931655" cy="3862000"/>
            <a:chOff x="2751910" y="2414975"/>
            <a:chExt cx="6552728" cy="3190587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F335677-44F6-C409-B650-9C236F2173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4832"/>
            <a:stretch/>
          </p:blipFill>
          <p:spPr>
            <a:xfrm>
              <a:off x="2751910" y="2414975"/>
              <a:ext cx="6078369" cy="1656505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17491BA-ECA6-555B-3FD7-04B30B6B25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7262" r="54309"/>
            <a:stretch/>
          </p:blipFill>
          <p:spPr>
            <a:xfrm>
              <a:off x="2756058" y="4257855"/>
              <a:ext cx="1900763" cy="1323716"/>
            </a:xfrm>
            <a:prstGeom prst="rect">
              <a:avLst/>
            </a:prstGeom>
          </p:spPr>
        </p:pic>
        <p:pic>
          <p:nvPicPr>
            <p:cNvPr id="18" name="그림 17" descr="화면 캡처">
              <a:extLst>
                <a:ext uri="{FF2B5EF4-FFF2-40B4-BE49-F238E27FC236}">
                  <a16:creationId xmlns:a16="http://schemas.microsoft.com/office/drawing/2014/main" id="{D5F00E56-EF10-EDFE-07BC-87B2A9C51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8134" y="4230613"/>
              <a:ext cx="4536504" cy="1374949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A944FE9-CE0F-80A5-6E19-951ED4E1F009}"/>
              </a:ext>
            </a:extLst>
          </p:cNvPr>
          <p:cNvSpPr txBox="1"/>
          <p:nvPr/>
        </p:nvSpPr>
        <p:spPr>
          <a:xfrm>
            <a:off x="10013181" y="6222976"/>
            <a:ext cx="187583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ko-KR" sz="800" i="1" dirty="0"/>
              <a:t>Clinical Nutrition 2004;23:1226-1243</a:t>
            </a:r>
            <a:endParaRPr lang="ko-KR" altLang="en-US" sz="800" i="1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34CD576-A5E6-9BA7-52ED-749152BFF4DE}"/>
              </a:ext>
            </a:extLst>
          </p:cNvPr>
          <p:cNvGrpSpPr/>
          <p:nvPr/>
        </p:nvGrpSpPr>
        <p:grpSpPr>
          <a:xfrm>
            <a:off x="1003233" y="1274399"/>
            <a:ext cx="233727" cy="233726"/>
            <a:chOff x="2701227" y="-1816305"/>
            <a:chExt cx="7728206" cy="7728208"/>
          </a:xfrm>
        </p:grpSpPr>
        <p:sp>
          <p:nvSpPr>
            <p:cNvPr id="21" name="자유형: 도형 22">
              <a:extLst>
                <a:ext uri="{FF2B5EF4-FFF2-40B4-BE49-F238E27FC236}">
                  <a16:creationId xmlns:a16="http://schemas.microsoft.com/office/drawing/2014/main" id="{0D17F2DD-3F7A-3CB2-6958-68DD373F3DBE}"/>
                </a:ext>
              </a:extLst>
            </p:cNvPr>
            <p:cNvSpPr/>
            <p:nvPr/>
          </p:nvSpPr>
          <p:spPr>
            <a:xfrm>
              <a:off x="2701227" y="-1816305"/>
              <a:ext cx="7728206" cy="7728208"/>
            </a:xfrm>
            <a:custGeom>
              <a:avLst/>
              <a:gdLst>
                <a:gd name="connsiteX0" fmla="*/ 3864103 w 7728206"/>
                <a:gd name="connsiteY0" fmla="*/ 0 h 7728208"/>
                <a:gd name="connsiteX1" fmla="*/ 7728206 w 7728206"/>
                <a:gd name="connsiteY1" fmla="*/ 3864104 h 7728208"/>
                <a:gd name="connsiteX2" fmla="*/ 3864103 w 7728206"/>
                <a:gd name="connsiteY2" fmla="*/ 7728208 h 7728208"/>
                <a:gd name="connsiteX3" fmla="*/ 0 w 7728206"/>
                <a:gd name="connsiteY3" fmla="*/ 3864104 h 7728208"/>
                <a:gd name="connsiteX4" fmla="*/ 559419 w 7728206"/>
                <a:gd name="connsiteY4" fmla="*/ 1860426 h 7728208"/>
                <a:gd name="connsiteX5" fmla="*/ 561881 w 7728206"/>
                <a:gd name="connsiteY5" fmla="*/ 1856585 h 7728208"/>
                <a:gd name="connsiteX6" fmla="*/ 589139 w 7728206"/>
                <a:gd name="connsiteY6" fmla="*/ 1902712 h 7728208"/>
                <a:gd name="connsiteX7" fmla="*/ 711453 w 7728206"/>
                <a:gd name="connsiteY7" fmla="*/ 2052452 h 7728208"/>
                <a:gd name="connsiteX8" fmla="*/ 1114641 w 7728206"/>
                <a:gd name="connsiteY8" fmla="*/ 2292712 h 7728208"/>
                <a:gd name="connsiteX9" fmla="*/ 1116820 w 7728206"/>
                <a:gd name="connsiteY9" fmla="*/ 2293244 h 7728208"/>
                <a:gd name="connsiteX10" fmla="*/ 1079530 w 7728206"/>
                <a:gd name="connsiteY10" fmla="*/ 2354625 h 7728208"/>
                <a:gd name="connsiteX11" fmla="*/ 697316 w 7728206"/>
                <a:gd name="connsiteY11" fmla="*/ 3864104 h 7728208"/>
                <a:gd name="connsiteX12" fmla="*/ 3864103 w 7728206"/>
                <a:gd name="connsiteY12" fmla="*/ 7030892 h 7728208"/>
                <a:gd name="connsiteX13" fmla="*/ 7030890 w 7728206"/>
                <a:gd name="connsiteY13" fmla="*/ 3864104 h 7728208"/>
                <a:gd name="connsiteX14" fmla="*/ 3864103 w 7728206"/>
                <a:gd name="connsiteY14" fmla="*/ 697316 h 7728208"/>
                <a:gd name="connsiteX15" fmla="*/ 2354625 w 7728206"/>
                <a:gd name="connsiteY15" fmla="*/ 1079530 h 7728208"/>
                <a:gd name="connsiteX16" fmla="*/ 2302902 w 7728206"/>
                <a:gd name="connsiteY16" fmla="*/ 1110953 h 7728208"/>
                <a:gd name="connsiteX17" fmla="*/ 2301626 w 7728206"/>
                <a:gd name="connsiteY17" fmla="*/ 1105727 h 7728208"/>
                <a:gd name="connsiteX18" fmla="*/ 2061365 w 7728206"/>
                <a:gd name="connsiteY18" fmla="*/ 702540 h 7728208"/>
                <a:gd name="connsiteX19" fmla="*/ 1911626 w 7728206"/>
                <a:gd name="connsiteY19" fmla="*/ 580225 h 7728208"/>
                <a:gd name="connsiteX20" fmla="*/ 1868530 w 7728206"/>
                <a:gd name="connsiteY20" fmla="*/ 554759 h 7728208"/>
                <a:gd name="connsiteX21" fmla="*/ 2022242 w 7728206"/>
                <a:gd name="connsiteY21" fmla="*/ 466377 h 7728208"/>
                <a:gd name="connsiteX22" fmla="*/ 3864103 w 7728206"/>
                <a:gd name="connsiteY22" fmla="*/ 0 h 772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728206" h="7728208">
                  <a:moveTo>
                    <a:pt x="3864103" y="0"/>
                  </a:moveTo>
                  <a:cubicBezTo>
                    <a:pt x="5998188" y="0"/>
                    <a:pt x="7728206" y="1730018"/>
                    <a:pt x="7728206" y="3864104"/>
                  </a:cubicBezTo>
                  <a:cubicBezTo>
                    <a:pt x="7728206" y="5998190"/>
                    <a:pt x="5998188" y="7728208"/>
                    <a:pt x="3864103" y="7728208"/>
                  </a:cubicBezTo>
                  <a:cubicBezTo>
                    <a:pt x="1730018" y="7728208"/>
                    <a:pt x="0" y="5998190"/>
                    <a:pt x="0" y="3864104"/>
                  </a:cubicBezTo>
                  <a:cubicBezTo>
                    <a:pt x="0" y="3130512"/>
                    <a:pt x="204426" y="2444666"/>
                    <a:pt x="559419" y="1860426"/>
                  </a:cubicBezTo>
                  <a:lnTo>
                    <a:pt x="561881" y="1856585"/>
                  </a:lnTo>
                  <a:lnTo>
                    <a:pt x="589139" y="1902712"/>
                  </a:lnTo>
                  <a:cubicBezTo>
                    <a:pt x="624086" y="1955641"/>
                    <a:pt x="664857" y="2005856"/>
                    <a:pt x="711453" y="2052452"/>
                  </a:cubicBezTo>
                  <a:cubicBezTo>
                    <a:pt x="827943" y="2168942"/>
                    <a:pt x="967051" y="2249029"/>
                    <a:pt x="1114641" y="2292712"/>
                  </a:cubicBezTo>
                  <a:lnTo>
                    <a:pt x="1116820" y="2293244"/>
                  </a:lnTo>
                  <a:lnTo>
                    <a:pt x="1079530" y="2354625"/>
                  </a:lnTo>
                  <a:cubicBezTo>
                    <a:pt x="835775" y="2803337"/>
                    <a:pt x="697316" y="3317551"/>
                    <a:pt x="697316" y="3864104"/>
                  </a:cubicBezTo>
                  <a:cubicBezTo>
                    <a:pt x="697316" y="5613073"/>
                    <a:pt x="2115135" y="7030892"/>
                    <a:pt x="3864103" y="7030892"/>
                  </a:cubicBezTo>
                  <a:cubicBezTo>
                    <a:pt x="5613071" y="7030892"/>
                    <a:pt x="7030890" y="5613073"/>
                    <a:pt x="7030890" y="3864104"/>
                  </a:cubicBezTo>
                  <a:cubicBezTo>
                    <a:pt x="7030890" y="2115135"/>
                    <a:pt x="5613071" y="697316"/>
                    <a:pt x="3864103" y="697316"/>
                  </a:cubicBezTo>
                  <a:cubicBezTo>
                    <a:pt x="3317551" y="697316"/>
                    <a:pt x="2803337" y="835775"/>
                    <a:pt x="2354625" y="1079530"/>
                  </a:cubicBezTo>
                  <a:lnTo>
                    <a:pt x="2302902" y="1110953"/>
                  </a:lnTo>
                  <a:lnTo>
                    <a:pt x="2301626" y="1105727"/>
                  </a:lnTo>
                  <a:cubicBezTo>
                    <a:pt x="2257942" y="958138"/>
                    <a:pt x="2177855" y="819030"/>
                    <a:pt x="2061365" y="702540"/>
                  </a:cubicBezTo>
                  <a:cubicBezTo>
                    <a:pt x="2014769" y="655944"/>
                    <a:pt x="1964555" y="615172"/>
                    <a:pt x="1911626" y="580225"/>
                  </a:cubicBezTo>
                  <a:lnTo>
                    <a:pt x="1868530" y="554759"/>
                  </a:lnTo>
                  <a:lnTo>
                    <a:pt x="2022242" y="466377"/>
                  </a:lnTo>
                  <a:cubicBezTo>
                    <a:pt x="2569760" y="168947"/>
                    <a:pt x="3197202" y="0"/>
                    <a:pt x="3864103" y="0"/>
                  </a:cubicBezTo>
                  <a:close/>
                </a:path>
              </a:pathLst>
            </a:custGeom>
            <a:solidFill>
              <a:srgbClr val="D6D9DE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ko-KR" altLang="en-US" sz="1600" dirty="0">
                <a:ln w="12700"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Lato Black" panose="020F0502020204030203" pitchFamily="34" charset="0"/>
                <a:ea typeface="에스코어 드림 7 ExtraBold" panose="020B0803030302020204" pitchFamily="34" charset="-127"/>
                <a:cs typeface="Lato Black" panose="020F0502020204030203" pitchFamily="34" charset="0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510E3BDE-301A-A129-3D2C-6D440451936D}"/>
                </a:ext>
              </a:extLst>
            </p:cNvPr>
            <p:cNvSpPr/>
            <p:nvPr/>
          </p:nvSpPr>
          <p:spPr>
            <a:xfrm rot="13500000">
              <a:off x="3399765" y="-1151937"/>
              <a:ext cx="1375744" cy="1375744"/>
            </a:xfrm>
            <a:prstGeom prst="ellipse">
              <a:avLst/>
            </a:prstGeom>
            <a:solidFill>
              <a:srgbClr val="9E0B28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ko-KR" altLang="en-US" sz="1600" dirty="0">
                <a:ln w="12700"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Lato Black" panose="020F0502020204030203" pitchFamily="34" charset="0"/>
                <a:ea typeface="에스코어 드림 7 ExtraBold" panose="020B0803030302020204" pitchFamily="34" charset="-127"/>
                <a:cs typeface="Lato Black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84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A23155-F013-4647-A64C-638174D1B0A3}"/>
              </a:ext>
            </a:extLst>
          </p:cNvPr>
          <p:cNvSpPr txBox="1"/>
          <p:nvPr/>
        </p:nvSpPr>
        <p:spPr>
          <a:xfrm>
            <a:off x="102887" y="210490"/>
            <a:ext cx="70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02</a:t>
            </a:r>
            <a:endParaRPr lang="ko-KR" altLang="en-US" sz="20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9E0B28"/>
              </a:solidFill>
              <a:latin typeface="Lato Black" panose="020F0502020204030203" pitchFamily="34" charset="0"/>
              <a:ea typeface="에스코어 드림 4 Regular" panose="020B0503030302020204" pitchFamily="34" charset="-127"/>
              <a:cs typeface="Lato Black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31E62-CE78-8243-AB22-9D4C1B89F17B}"/>
              </a:ext>
            </a:extLst>
          </p:cNvPr>
          <p:cNvSpPr txBox="1"/>
          <p:nvPr/>
        </p:nvSpPr>
        <p:spPr>
          <a:xfrm>
            <a:off x="569846" y="222320"/>
            <a:ext cx="5122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rgbClr val="3A3A38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Application of BWA in Dialysis Patients</a:t>
            </a:r>
            <a:endParaRPr lang="ko-KR" altLang="en-US" sz="2000" dirty="0">
              <a:solidFill>
                <a:srgbClr val="3A3A38"/>
              </a:solidFill>
              <a:latin typeface="Lato Black" panose="020F0502020204030203" pitchFamily="34" charset="0"/>
              <a:ea typeface="S-Core Dream 5 Medium" panose="020B0503030302020204" pitchFamily="34" charset="-127"/>
              <a:cs typeface="Lato Black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71BDF-AC03-4748-8C05-1D490119D647}"/>
              </a:ext>
            </a:extLst>
          </p:cNvPr>
          <p:cNvSpPr txBox="1"/>
          <p:nvPr/>
        </p:nvSpPr>
        <p:spPr>
          <a:xfrm>
            <a:off x="935856" y="655181"/>
            <a:ext cx="2378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A0112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Severity Check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A0112D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637860" y="640289"/>
            <a:ext cx="2745420" cy="353446"/>
          </a:xfrm>
          <a:prstGeom prst="roundRect">
            <a:avLst>
              <a:gd name="adj" fmla="val 50000"/>
            </a:avLst>
          </a:prstGeom>
          <a:noFill/>
          <a:ln>
            <a:solidFill>
              <a:srgbClr val="B9BF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A35B15D-C61D-7E8E-32F1-6B31D0093544}"/>
              </a:ext>
            </a:extLst>
          </p:cNvPr>
          <p:cNvSpPr/>
          <p:nvPr/>
        </p:nvSpPr>
        <p:spPr>
          <a:xfrm rot="5400000">
            <a:off x="757326" y="719124"/>
            <a:ext cx="199307" cy="199307"/>
          </a:xfrm>
          <a:prstGeom prst="ellipse">
            <a:avLst/>
          </a:prstGeom>
          <a:solidFill>
            <a:srgbClr val="E7E8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2166" y="680277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</a:t>
            </a:r>
            <a:endParaRPr lang="ko-KR" altLang="en-US" sz="1200">
              <a:solidFill>
                <a:schemeClr val="bg1">
                  <a:lumMod val="50000"/>
                </a:schemeClr>
              </a:solidFill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7220AE-0618-086C-6C9A-B3731E51121D}"/>
              </a:ext>
            </a:extLst>
          </p:cNvPr>
          <p:cNvSpPr/>
          <p:nvPr/>
        </p:nvSpPr>
        <p:spPr>
          <a:xfrm>
            <a:off x="1189881" y="1139399"/>
            <a:ext cx="9686606" cy="1117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Using the BIA method, sending alternating current through the human body yields impedance (Z) values, which can be distinguished into resistance (R) and reactance (</a:t>
            </a:r>
            <a:r>
              <a:rPr lang="en-US" altLang="ko-KR" sz="1400" b="1" dirty="0" err="1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Xc</a:t>
            </a: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). Since </a:t>
            </a:r>
            <a:r>
              <a:rPr lang="en-US" altLang="ko-KR" sz="1400" b="1" dirty="0" err="1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PhA</a:t>
            </a: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represents the relative </a:t>
            </a:r>
            <a:r>
              <a:rPr lang="en-US" altLang="ko-KR" sz="1400" b="1" dirty="0" err="1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Xc</a:t>
            </a: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value to R, </a:t>
            </a:r>
            <a:r>
              <a:rPr lang="en-US" altLang="ko-KR" sz="1400" b="1" dirty="0" err="1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PhA</a:t>
            </a: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increases as </a:t>
            </a:r>
            <a:r>
              <a:rPr lang="en-US" altLang="ko-KR" sz="1400" b="1" dirty="0" err="1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Xc</a:t>
            </a: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increases, and </a:t>
            </a:r>
            <a:r>
              <a:rPr lang="en-US" altLang="ko-KR" sz="1400" b="1" dirty="0" err="1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PhA</a:t>
            </a: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decreases proportionally as </a:t>
            </a:r>
            <a:r>
              <a:rPr lang="en-US" altLang="ko-KR" sz="1400" b="1" dirty="0" err="1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Xc</a:t>
            </a:r>
            <a:r>
              <a:rPr lang="en-US" altLang="ko-KR" sz="1400" b="1" dirty="0">
                <a:solidFill>
                  <a:srgbClr val="4B4F5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decreases.</a:t>
            </a:r>
            <a:endParaRPr lang="en-US" altLang="ko-KR" sz="1400" b="1" dirty="0">
              <a:solidFill>
                <a:srgbClr val="A0112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4383A-F5D0-4782-7C72-9229A907BAFA}"/>
              </a:ext>
            </a:extLst>
          </p:cNvPr>
          <p:cNvSpPr txBox="1"/>
          <p:nvPr/>
        </p:nvSpPr>
        <p:spPr>
          <a:xfrm>
            <a:off x="9830591" y="5923432"/>
            <a:ext cx="187583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ko-KR" sz="800" i="1" dirty="0"/>
              <a:t>Clinical Nutrition 2004;23:1226-1243</a:t>
            </a:r>
            <a:endParaRPr lang="ko-KR" altLang="en-US" sz="800" i="1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70B3D17-378B-5B31-BA0E-681E32D51101}"/>
              </a:ext>
            </a:extLst>
          </p:cNvPr>
          <p:cNvGrpSpPr/>
          <p:nvPr/>
        </p:nvGrpSpPr>
        <p:grpSpPr>
          <a:xfrm>
            <a:off x="6359892" y="2387046"/>
            <a:ext cx="5009468" cy="3182792"/>
            <a:chOff x="3740394" y="3200928"/>
            <a:chExt cx="5395036" cy="3283863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44767465-14DE-5307-D2F5-996D467396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8855" t="47262" b="16244"/>
            <a:stretch/>
          </p:blipFill>
          <p:spPr>
            <a:xfrm>
              <a:off x="3740394" y="3200928"/>
              <a:ext cx="5395036" cy="2390980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4F77E958-E9B4-D6F5-74BC-B2B9BF8756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8856" t="84281" r="6490" b="1786"/>
            <a:stretch/>
          </p:blipFill>
          <p:spPr>
            <a:xfrm>
              <a:off x="4332927" y="5714302"/>
              <a:ext cx="3975804" cy="770489"/>
            </a:xfrm>
            <a:prstGeom prst="rect">
              <a:avLst/>
            </a:prstGeom>
          </p:spPr>
        </p:pic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7730AF8-B4F1-F7F7-2911-81412CA18DD7}"/>
                </a:ext>
              </a:extLst>
            </p:cNvPr>
            <p:cNvSpPr/>
            <p:nvPr/>
          </p:nvSpPr>
          <p:spPr>
            <a:xfrm>
              <a:off x="6717323" y="6365631"/>
              <a:ext cx="1591408" cy="119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2074B77C-C42E-7E38-3242-46F35FA12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60" y="2590593"/>
            <a:ext cx="5543550" cy="300990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DE5C3A09-BC8F-0340-AD45-38939ED9A7A2}"/>
              </a:ext>
            </a:extLst>
          </p:cNvPr>
          <p:cNvGrpSpPr/>
          <p:nvPr/>
        </p:nvGrpSpPr>
        <p:grpSpPr>
          <a:xfrm>
            <a:off x="1003233" y="1274399"/>
            <a:ext cx="233727" cy="233726"/>
            <a:chOff x="2701227" y="-1816305"/>
            <a:chExt cx="7728206" cy="7728208"/>
          </a:xfrm>
        </p:grpSpPr>
        <p:sp>
          <p:nvSpPr>
            <p:cNvPr id="29" name="자유형: 도형 22">
              <a:extLst>
                <a:ext uri="{FF2B5EF4-FFF2-40B4-BE49-F238E27FC236}">
                  <a16:creationId xmlns:a16="http://schemas.microsoft.com/office/drawing/2014/main" id="{60FB04CC-7B0D-E185-8E4F-773822F081EE}"/>
                </a:ext>
              </a:extLst>
            </p:cNvPr>
            <p:cNvSpPr/>
            <p:nvPr/>
          </p:nvSpPr>
          <p:spPr>
            <a:xfrm>
              <a:off x="2701227" y="-1816305"/>
              <a:ext cx="7728206" cy="7728208"/>
            </a:xfrm>
            <a:custGeom>
              <a:avLst/>
              <a:gdLst>
                <a:gd name="connsiteX0" fmla="*/ 3864103 w 7728206"/>
                <a:gd name="connsiteY0" fmla="*/ 0 h 7728208"/>
                <a:gd name="connsiteX1" fmla="*/ 7728206 w 7728206"/>
                <a:gd name="connsiteY1" fmla="*/ 3864104 h 7728208"/>
                <a:gd name="connsiteX2" fmla="*/ 3864103 w 7728206"/>
                <a:gd name="connsiteY2" fmla="*/ 7728208 h 7728208"/>
                <a:gd name="connsiteX3" fmla="*/ 0 w 7728206"/>
                <a:gd name="connsiteY3" fmla="*/ 3864104 h 7728208"/>
                <a:gd name="connsiteX4" fmla="*/ 559419 w 7728206"/>
                <a:gd name="connsiteY4" fmla="*/ 1860426 h 7728208"/>
                <a:gd name="connsiteX5" fmla="*/ 561881 w 7728206"/>
                <a:gd name="connsiteY5" fmla="*/ 1856585 h 7728208"/>
                <a:gd name="connsiteX6" fmla="*/ 589139 w 7728206"/>
                <a:gd name="connsiteY6" fmla="*/ 1902712 h 7728208"/>
                <a:gd name="connsiteX7" fmla="*/ 711453 w 7728206"/>
                <a:gd name="connsiteY7" fmla="*/ 2052452 h 7728208"/>
                <a:gd name="connsiteX8" fmla="*/ 1114641 w 7728206"/>
                <a:gd name="connsiteY8" fmla="*/ 2292712 h 7728208"/>
                <a:gd name="connsiteX9" fmla="*/ 1116820 w 7728206"/>
                <a:gd name="connsiteY9" fmla="*/ 2293244 h 7728208"/>
                <a:gd name="connsiteX10" fmla="*/ 1079530 w 7728206"/>
                <a:gd name="connsiteY10" fmla="*/ 2354625 h 7728208"/>
                <a:gd name="connsiteX11" fmla="*/ 697316 w 7728206"/>
                <a:gd name="connsiteY11" fmla="*/ 3864104 h 7728208"/>
                <a:gd name="connsiteX12" fmla="*/ 3864103 w 7728206"/>
                <a:gd name="connsiteY12" fmla="*/ 7030892 h 7728208"/>
                <a:gd name="connsiteX13" fmla="*/ 7030890 w 7728206"/>
                <a:gd name="connsiteY13" fmla="*/ 3864104 h 7728208"/>
                <a:gd name="connsiteX14" fmla="*/ 3864103 w 7728206"/>
                <a:gd name="connsiteY14" fmla="*/ 697316 h 7728208"/>
                <a:gd name="connsiteX15" fmla="*/ 2354625 w 7728206"/>
                <a:gd name="connsiteY15" fmla="*/ 1079530 h 7728208"/>
                <a:gd name="connsiteX16" fmla="*/ 2302902 w 7728206"/>
                <a:gd name="connsiteY16" fmla="*/ 1110953 h 7728208"/>
                <a:gd name="connsiteX17" fmla="*/ 2301626 w 7728206"/>
                <a:gd name="connsiteY17" fmla="*/ 1105727 h 7728208"/>
                <a:gd name="connsiteX18" fmla="*/ 2061365 w 7728206"/>
                <a:gd name="connsiteY18" fmla="*/ 702540 h 7728208"/>
                <a:gd name="connsiteX19" fmla="*/ 1911626 w 7728206"/>
                <a:gd name="connsiteY19" fmla="*/ 580225 h 7728208"/>
                <a:gd name="connsiteX20" fmla="*/ 1868530 w 7728206"/>
                <a:gd name="connsiteY20" fmla="*/ 554759 h 7728208"/>
                <a:gd name="connsiteX21" fmla="*/ 2022242 w 7728206"/>
                <a:gd name="connsiteY21" fmla="*/ 466377 h 7728208"/>
                <a:gd name="connsiteX22" fmla="*/ 3864103 w 7728206"/>
                <a:gd name="connsiteY22" fmla="*/ 0 h 772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728206" h="7728208">
                  <a:moveTo>
                    <a:pt x="3864103" y="0"/>
                  </a:moveTo>
                  <a:cubicBezTo>
                    <a:pt x="5998188" y="0"/>
                    <a:pt x="7728206" y="1730018"/>
                    <a:pt x="7728206" y="3864104"/>
                  </a:cubicBezTo>
                  <a:cubicBezTo>
                    <a:pt x="7728206" y="5998190"/>
                    <a:pt x="5998188" y="7728208"/>
                    <a:pt x="3864103" y="7728208"/>
                  </a:cubicBezTo>
                  <a:cubicBezTo>
                    <a:pt x="1730018" y="7728208"/>
                    <a:pt x="0" y="5998190"/>
                    <a:pt x="0" y="3864104"/>
                  </a:cubicBezTo>
                  <a:cubicBezTo>
                    <a:pt x="0" y="3130512"/>
                    <a:pt x="204426" y="2444666"/>
                    <a:pt x="559419" y="1860426"/>
                  </a:cubicBezTo>
                  <a:lnTo>
                    <a:pt x="561881" y="1856585"/>
                  </a:lnTo>
                  <a:lnTo>
                    <a:pt x="589139" y="1902712"/>
                  </a:lnTo>
                  <a:cubicBezTo>
                    <a:pt x="624086" y="1955641"/>
                    <a:pt x="664857" y="2005856"/>
                    <a:pt x="711453" y="2052452"/>
                  </a:cubicBezTo>
                  <a:cubicBezTo>
                    <a:pt x="827943" y="2168942"/>
                    <a:pt x="967051" y="2249029"/>
                    <a:pt x="1114641" y="2292712"/>
                  </a:cubicBezTo>
                  <a:lnTo>
                    <a:pt x="1116820" y="2293244"/>
                  </a:lnTo>
                  <a:lnTo>
                    <a:pt x="1079530" y="2354625"/>
                  </a:lnTo>
                  <a:cubicBezTo>
                    <a:pt x="835775" y="2803337"/>
                    <a:pt x="697316" y="3317551"/>
                    <a:pt x="697316" y="3864104"/>
                  </a:cubicBezTo>
                  <a:cubicBezTo>
                    <a:pt x="697316" y="5613073"/>
                    <a:pt x="2115135" y="7030892"/>
                    <a:pt x="3864103" y="7030892"/>
                  </a:cubicBezTo>
                  <a:cubicBezTo>
                    <a:pt x="5613071" y="7030892"/>
                    <a:pt x="7030890" y="5613073"/>
                    <a:pt x="7030890" y="3864104"/>
                  </a:cubicBezTo>
                  <a:cubicBezTo>
                    <a:pt x="7030890" y="2115135"/>
                    <a:pt x="5613071" y="697316"/>
                    <a:pt x="3864103" y="697316"/>
                  </a:cubicBezTo>
                  <a:cubicBezTo>
                    <a:pt x="3317551" y="697316"/>
                    <a:pt x="2803337" y="835775"/>
                    <a:pt x="2354625" y="1079530"/>
                  </a:cubicBezTo>
                  <a:lnTo>
                    <a:pt x="2302902" y="1110953"/>
                  </a:lnTo>
                  <a:lnTo>
                    <a:pt x="2301626" y="1105727"/>
                  </a:lnTo>
                  <a:cubicBezTo>
                    <a:pt x="2257942" y="958138"/>
                    <a:pt x="2177855" y="819030"/>
                    <a:pt x="2061365" y="702540"/>
                  </a:cubicBezTo>
                  <a:cubicBezTo>
                    <a:pt x="2014769" y="655944"/>
                    <a:pt x="1964555" y="615172"/>
                    <a:pt x="1911626" y="580225"/>
                  </a:cubicBezTo>
                  <a:lnTo>
                    <a:pt x="1868530" y="554759"/>
                  </a:lnTo>
                  <a:lnTo>
                    <a:pt x="2022242" y="466377"/>
                  </a:lnTo>
                  <a:cubicBezTo>
                    <a:pt x="2569760" y="168947"/>
                    <a:pt x="3197202" y="0"/>
                    <a:pt x="3864103" y="0"/>
                  </a:cubicBezTo>
                  <a:close/>
                </a:path>
              </a:pathLst>
            </a:custGeom>
            <a:solidFill>
              <a:srgbClr val="D6D9DE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ko-KR" altLang="en-US" sz="1600" dirty="0">
                <a:ln w="12700"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Lato Black" panose="020F0502020204030203" pitchFamily="34" charset="0"/>
                <a:ea typeface="에스코어 드림 7 ExtraBold" panose="020B0803030302020204" pitchFamily="34" charset="-127"/>
                <a:cs typeface="Lato Black" panose="020F0502020204030203" pitchFamily="34" charset="0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FAE18E7-DB43-7D5E-E3CD-AFC50CFCE214}"/>
                </a:ext>
              </a:extLst>
            </p:cNvPr>
            <p:cNvSpPr/>
            <p:nvPr/>
          </p:nvSpPr>
          <p:spPr>
            <a:xfrm rot="13500000">
              <a:off x="3399765" y="-1151937"/>
              <a:ext cx="1375744" cy="1375744"/>
            </a:xfrm>
            <a:prstGeom prst="ellipse">
              <a:avLst/>
            </a:prstGeom>
            <a:solidFill>
              <a:srgbClr val="9E0B28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ko-KR" altLang="en-US" sz="1600" dirty="0">
                <a:ln w="12700"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Lato Black" panose="020F0502020204030203" pitchFamily="34" charset="0"/>
                <a:ea typeface="에스코어 드림 7 ExtraBold" panose="020B0803030302020204" pitchFamily="34" charset="-127"/>
                <a:cs typeface="Lato Black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430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id="{D6D50E1B-1CB0-89AC-1745-65978E86E2BD}"/>
              </a:ext>
            </a:extLst>
          </p:cNvPr>
          <p:cNvSpPr/>
          <p:nvPr/>
        </p:nvSpPr>
        <p:spPr>
          <a:xfrm>
            <a:off x="8013552" y="5701649"/>
            <a:ext cx="2221992" cy="307237"/>
          </a:xfrm>
          <a:prstGeom prst="rect">
            <a:avLst/>
          </a:prstGeom>
          <a:solidFill>
            <a:srgbClr val="A011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330FCA7-E093-3C89-B7FF-82D85A03C9F7}"/>
              </a:ext>
            </a:extLst>
          </p:cNvPr>
          <p:cNvSpPr/>
          <p:nvPr/>
        </p:nvSpPr>
        <p:spPr>
          <a:xfrm>
            <a:off x="7653528" y="5340163"/>
            <a:ext cx="2221992" cy="307237"/>
          </a:xfrm>
          <a:prstGeom prst="rect">
            <a:avLst/>
          </a:prstGeom>
          <a:solidFill>
            <a:srgbClr val="A011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A23155-F013-4647-A64C-638174D1B0A3}"/>
              </a:ext>
            </a:extLst>
          </p:cNvPr>
          <p:cNvSpPr txBox="1"/>
          <p:nvPr/>
        </p:nvSpPr>
        <p:spPr>
          <a:xfrm>
            <a:off x="102887" y="210490"/>
            <a:ext cx="70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9E0B28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02</a:t>
            </a:r>
            <a:endParaRPr lang="ko-KR" altLang="en-US" sz="20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9E0B28"/>
              </a:solidFill>
              <a:latin typeface="Lato Black" panose="020F0502020204030203" pitchFamily="34" charset="0"/>
              <a:ea typeface="에스코어 드림 4 Regular" panose="020B0503030302020204" pitchFamily="34" charset="-127"/>
              <a:cs typeface="Lato Black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31E62-CE78-8243-AB22-9D4C1B89F17B}"/>
              </a:ext>
            </a:extLst>
          </p:cNvPr>
          <p:cNvSpPr txBox="1"/>
          <p:nvPr/>
        </p:nvSpPr>
        <p:spPr>
          <a:xfrm>
            <a:off x="569846" y="222320"/>
            <a:ext cx="5122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rgbClr val="3A3A38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Application of BWA in Dialysis Patients</a:t>
            </a:r>
            <a:endParaRPr lang="ko-KR" altLang="en-US" sz="2000" dirty="0">
              <a:solidFill>
                <a:srgbClr val="3A3A38"/>
              </a:solidFill>
              <a:latin typeface="Lato Black" panose="020F0502020204030203" pitchFamily="34" charset="0"/>
              <a:ea typeface="S-Core Dream 5 Medium" panose="020B0503030302020204" pitchFamily="34" charset="-127"/>
              <a:cs typeface="Lato Black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71BDF-AC03-4748-8C05-1D490119D647}"/>
              </a:ext>
            </a:extLst>
          </p:cNvPr>
          <p:cNvSpPr txBox="1"/>
          <p:nvPr/>
        </p:nvSpPr>
        <p:spPr>
          <a:xfrm>
            <a:off x="935856" y="655181"/>
            <a:ext cx="2378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spc="-30">
                <a:ln>
                  <a:solidFill>
                    <a:srgbClr val="7E8080">
                      <a:alpha val="0"/>
                    </a:srgbClr>
                  </a:solidFill>
                </a:ln>
                <a:solidFill>
                  <a:srgbClr val="A0112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Severity Check</a:t>
            </a:r>
            <a:endParaRPr kumimoji="1" lang="en-US" altLang="ko-KR" sz="1600" spc="-30" dirty="0">
              <a:ln>
                <a:solidFill>
                  <a:srgbClr val="7E8080">
                    <a:alpha val="0"/>
                  </a:srgbClr>
                </a:solidFill>
              </a:ln>
              <a:solidFill>
                <a:srgbClr val="A0112D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637860" y="640289"/>
            <a:ext cx="2745420" cy="353446"/>
          </a:xfrm>
          <a:prstGeom prst="roundRect">
            <a:avLst>
              <a:gd name="adj" fmla="val 50000"/>
            </a:avLst>
          </a:prstGeom>
          <a:noFill/>
          <a:ln>
            <a:solidFill>
              <a:srgbClr val="B9BF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A35B15D-C61D-7E8E-32F1-6B31D0093544}"/>
              </a:ext>
            </a:extLst>
          </p:cNvPr>
          <p:cNvSpPr/>
          <p:nvPr/>
        </p:nvSpPr>
        <p:spPr>
          <a:xfrm rot="5400000">
            <a:off x="757326" y="719124"/>
            <a:ext cx="199307" cy="199307"/>
          </a:xfrm>
          <a:prstGeom prst="ellipse">
            <a:avLst/>
          </a:prstGeom>
          <a:solidFill>
            <a:srgbClr val="E7E8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2166" y="680277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4</a:t>
            </a:r>
            <a:endParaRPr lang="ko-KR" altLang="en-US" sz="1200">
              <a:solidFill>
                <a:schemeClr val="bg1">
                  <a:lumMod val="50000"/>
                </a:schemeClr>
              </a:solidFill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7220AE-0618-086C-6C9A-B3731E51121D}"/>
              </a:ext>
            </a:extLst>
          </p:cNvPr>
          <p:cNvSpPr/>
          <p:nvPr/>
        </p:nvSpPr>
        <p:spPr>
          <a:xfrm>
            <a:off x="1236960" y="1206710"/>
            <a:ext cx="10761327" cy="332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400" dirty="0">
                <a:solidFill>
                  <a:srgbClr val="A0112D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Phase angle represents structural integrity and physiological functionality of the cells Used for nutritional assessment.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E5C3A09-BC8F-0340-AD45-38939ED9A7A2}"/>
              </a:ext>
            </a:extLst>
          </p:cNvPr>
          <p:cNvGrpSpPr/>
          <p:nvPr/>
        </p:nvGrpSpPr>
        <p:grpSpPr>
          <a:xfrm>
            <a:off x="1003233" y="1274399"/>
            <a:ext cx="233727" cy="233726"/>
            <a:chOff x="2701227" y="-1816305"/>
            <a:chExt cx="7728206" cy="7728208"/>
          </a:xfrm>
        </p:grpSpPr>
        <p:sp>
          <p:nvSpPr>
            <p:cNvPr id="29" name="자유형: 도형 22">
              <a:extLst>
                <a:ext uri="{FF2B5EF4-FFF2-40B4-BE49-F238E27FC236}">
                  <a16:creationId xmlns:a16="http://schemas.microsoft.com/office/drawing/2014/main" id="{60FB04CC-7B0D-E185-8E4F-773822F081EE}"/>
                </a:ext>
              </a:extLst>
            </p:cNvPr>
            <p:cNvSpPr/>
            <p:nvPr/>
          </p:nvSpPr>
          <p:spPr>
            <a:xfrm>
              <a:off x="2701227" y="-1816305"/>
              <a:ext cx="7728206" cy="7728208"/>
            </a:xfrm>
            <a:custGeom>
              <a:avLst/>
              <a:gdLst>
                <a:gd name="connsiteX0" fmla="*/ 3864103 w 7728206"/>
                <a:gd name="connsiteY0" fmla="*/ 0 h 7728208"/>
                <a:gd name="connsiteX1" fmla="*/ 7728206 w 7728206"/>
                <a:gd name="connsiteY1" fmla="*/ 3864104 h 7728208"/>
                <a:gd name="connsiteX2" fmla="*/ 3864103 w 7728206"/>
                <a:gd name="connsiteY2" fmla="*/ 7728208 h 7728208"/>
                <a:gd name="connsiteX3" fmla="*/ 0 w 7728206"/>
                <a:gd name="connsiteY3" fmla="*/ 3864104 h 7728208"/>
                <a:gd name="connsiteX4" fmla="*/ 559419 w 7728206"/>
                <a:gd name="connsiteY4" fmla="*/ 1860426 h 7728208"/>
                <a:gd name="connsiteX5" fmla="*/ 561881 w 7728206"/>
                <a:gd name="connsiteY5" fmla="*/ 1856585 h 7728208"/>
                <a:gd name="connsiteX6" fmla="*/ 589139 w 7728206"/>
                <a:gd name="connsiteY6" fmla="*/ 1902712 h 7728208"/>
                <a:gd name="connsiteX7" fmla="*/ 711453 w 7728206"/>
                <a:gd name="connsiteY7" fmla="*/ 2052452 h 7728208"/>
                <a:gd name="connsiteX8" fmla="*/ 1114641 w 7728206"/>
                <a:gd name="connsiteY8" fmla="*/ 2292712 h 7728208"/>
                <a:gd name="connsiteX9" fmla="*/ 1116820 w 7728206"/>
                <a:gd name="connsiteY9" fmla="*/ 2293244 h 7728208"/>
                <a:gd name="connsiteX10" fmla="*/ 1079530 w 7728206"/>
                <a:gd name="connsiteY10" fmla="*/ 2354625 h 7728208"/>
                <a:gd name="connsiteX11" fmla="*/ 697316 w 7728206"/>
                <a:gd name="connsiteY11" fmla="*/ 3864104 h 7728208"/>
                <a:gd name="connsiteX12" fmla="*/ 3864103 w 7728206"/>
                <a:gd name="connsiteY12" fmla="*/ 7030892 h 7728208"/>
                <a:gd name="connsiteX13" fmla="*/ 7030890 w 7728206"/>
                <a:gd name="connsiteY13" fmla="*/ 3864104 h 7728208"/>
                <a:gd name="connsiteX14" fmla="*/ 3864103 w 7728206"/>
                <a:gd name="connsiteY14" fmla="*/ 697316 h 7728208"/>
                <a:gd name="connsiteX15" fmla="*/ 2354625 w 7728206"/>
                <a:gd name="connsiteY15" fmla="*/ 1079530 h 7728208"/>
                <a:gd name="connsiteX16" fmla="*/ 2302902 w 7728206"/>
                <a:gd name="connsiteY16" fmla="*/ 1110953 h 7728208"/>
                <a:gd name="connsiteX17" fmla="*/ 2301626 w 7728206"/>
                <a:gd name="connsiteY17" fmla="*/ 1105727 h 7728208"/>
                <a:gd name="connsiteX18" fmla="*/ 2061365 w 7728206"/>
                <a:gd name="connsiteY18" fmla="*/ 702540 h 7728208"/>
                <a:gd name="connsiteX19" fmla="*/ 1911626 w 7728206"/>
                <a:gd name="connsiteY19" fmla="*/ 580225 h 7728208"/>
                <a:gd name="connsiteX20" fmla="*/ 1868530 w 7728206"/>
                <a:gd name="connsiteY20" fmla="*/ 554759 h 7728208"/>
                <a:gd name="connsiteX21" fmla="*/ 2022242 w 7728206"/>
                <a:gd name="connsiteY21" fmla="*/ 466377 h 7728208"/>
                <a:gd name="connsiteX22" fmla="*/ 3864103 w 7728206"/>
                <a:gd name="connsiteY22" fmla="*/ 0 h 772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728206" h="7728208">
                  <a:moveTo>
                    <a:pt x="3864103" y="0"/>
                  </a:moveTo>
                  <a:cubicBezTo>
                    <a:pt x="5998188" y="0"/>
                    <a:pt x="7728206" y="1730018"/>
                    <a:pt x="7728206" y="3864104"/>
                  </a:cubicBezTo>
                  <a:cubicBezTo>
                    <a:pt x="7728206" y="5998190"/>
                    <a:pt x="5998188" y="7728208"/>
                    <a:pt x="3864103" y="7728208"/>
                  </a:cubicBezTo>
                  <a:cubicBezTo>
                    <a:pt x="1730018" y="7728208"/>
                    <a:pt x="0" y="5998190"/>
                    <a:pt x="0" y="3864104"/>
                  </a:cubicBezTo>
                  <a:cubicBezTo>
                    <a:pt x="0" y="3130512"/>
                    <a:pt x="204426" y="2444666"/>
                    <a:pt x="559419" y="1860426"/>
                  </a:cubicBezTo>
                  <a:lnTo>
                    <a:pt x="561881" y="1856585"/>
                  </a:lnTo>
                  <a:lnTo>
                    <a:pt x="589139" y="1902712"/>
                  </a:lnTo>
                  <a:cubicBezTo>
                    <a:pt x="624086" y="1955641"/>
                    <a:pt x="664857" y="2005856"/>
                    <a:pt x="711453" y="2052452"/>
                  </a:cubicBezTo>
                  <a:cubicBezTo>
                    <a:pt x="827943" y="2168942"/>
                    <a:pt x="967051" y="2249029"/>
                    <a:pt x="1114641" y="2292712"/>
                  </a:cubicBezTo>
                  <a:lnTo>
                    <a:pt x="1116820" y="2293244"/>
                  </a:lnTo>
                  <a:lnTo>
                    <a:pt x="1079530" y="2354625"/>
                  </a:lnTo>
                  <a:cubicBezTo>
                    <a:pt x="835775" y="2803337"/>
                    <a:pt x="697316" y="3317551"/>
                    <a:pt x="697316" y="3864104"/>
                  </a:cubicBezTo>
                  <a:cubicBezTo>
                    <a:pt x="697316" y="5613073"/>
                    <a:pt x="2115135" y="7030892"/>
                    <a:pt x="3864103" y="7030892"/>
                  </a:cubicBezTo>
                  <a:cubicBezTo>
                    <a:pt x="5613071" y="7030892"/>
                    <a:pt x="7030890" y="5613073"/>
                    <a:pt x="7030890" y="3864104"/>
                  </a:cubicBezTo>
                  <a:cubicBezTo>
                    <a:pt x="7030890" y="2115135"/>
                    <a:pt x="5613071" y="697316"/>
                    <a:pt x="3864103" y="697316"/>
                  </a:cubicBezTo>
                  <a:cubicBezTo>
                    <a:pt x="3317551" y="697316"/>
                    <a:pt x="2803337" y="835775"/>
                    <a:pt x="2354625" y="1079530"/>
                  </a:cubicBezTo>
                  <a:lnTo>
                    <a:pt x="2302902" y="1110953"/>
                  </a:lnTo>
                  <a:lnTo>
                    <a:pt x="2301626" y="1105727"/>
                  </a:lnTo>
                  <a:cubicBezTo>
                    <a:pt x="2257942" y="958138"/>
                    <a:pt x="2177855" y="819030"/>
                    <a:pt x="2061365" y="702540"/>
                  </a:cubicBezTo>
                  <a:cubicBezTo>
                    <a:pt x="2014769" y="655944"/>
                    <a:pt x="1964555" y="615172"/>
                    <a:pt x="1911626" y="580225"/>
                  </a:cubicBezTo>
                  <a:lnTo>
                    <a:pt x="1868530" y="554759"/>
                  </a:lnTo>
                  <a:lnTo>
                    <a:pt x="2022242" y="466377"/>
                  </a:lnTo>
                  <a:cubicBezTo>
                    <a:pt x="2569760" y="168947"/>
                    <a:pt x="3197202" y="0"/>
                    <a:pt x="3864103" y="0"/>
                  </a:cubicBezTo>
                  <a:close/>
                </a:path>
              </a:pathLst>
            </a:custGeom>
            <a:solidFill>
              <a:srgbClr val="D6D9DE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ko-KR" altLang="en-US" sz="1600" dirty="0">
                <a:ln w="12700"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Lato Black" panose="020F0502020204030203" pitchFamily="34" charset="0"/>
                <a:ea typeface="에스코어 드림 7 ExtraBold" panose="020B0803030302020204" pitchFamily="34" charset="-127"/>
                <a:cs typeface="Lato Black" panose="020F0502020204030203" pitchFamily="34" charset="0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FAE18E7-DB43-7D5E-E3CD-AFC50CFCE214}"/>
                </a:ext>
              </a:extLst>
            </p:cNvPr>
            <p:cNvSpPr/>
            <p:nvPr/>
          </p:nvSpPr>
          <p:spPr>
            <a:xfrm rot="13500000">
              <a:off x="3399765" y="-1151937"/>
              <a:ext cx="1375744" cy="1375744"/>
            </a:xfrm>
            <a:prstGeom prst="ellipse">
              <a:avLst/>
            </a:prstGeom>
            <a:solidFill>
              <a:srgbClr val="9E0B28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ko-KR" altLang="en-US" sz="1600" dirty="0">
                <a:ln w="12700"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Lato Black" panose="020F0502020204030203" pitchFamily="34" charset="0"/>
                <a:ea typeface="에스코어 드림 7 ExtraBold" panose="020B0803030302020204" pitchFamily="34" charset="-127"/>
                <a:cs typeface="Lato Black" panose="020F0502020204030203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F2444CA-BE42-CF18-EEE1-A4C3FE0443AF}"/>
              </a:ext>
            </a:extLst>
          </p:cNvPr>
          <p:cNvSpPr txBox="1"/>
          <p:nvPr/>
        </p:nvSpPr>
        <p:spPr>
          <a:xfrm>
            <a:off x="1563116" y="5276155"/>
            <a:ext cx="9065767" cy="750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Improvements in cell membrane and functionality </a:t>
            </a:r>
            <a:r>
              <a:rPr lang="en-US" altLang="ko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Phase angle increase</a:t>
            </a:r>
          </a:p>
          <a:p>
            <a:pPr algn="ctr">
              <a:lnSpc>
                <a:spcPct val="125000"/>
              </a:lnSpc>
            </a:pPr>
            <a:r>
              <a:rPr lang="en-US" altLang="ko-KR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Deterioration cellular integrity and selective permeability  </a:t>
            </a:r>
            <a:r>
              <a:rPr lang="en-US" altLang="ko-KR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Phase angle decrease</a:t>
            </a:r>
            <a:endParaRPr lang="en-US" altLang="ko-KR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429B97-38CE-2666-FA5F-FCE8A07CCF8B}"/>
              </a:ext>
            </a:extLst>
          </p:cNvPr>
          <p:cNvSpPr/>
          <p:nvPr/>
        </p:nvSpPr>
        <p:spPr>
          <a:xfrm>
            <a:off x="2125938" y="2759086"/>
            <a:ext cx="58060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04040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50KHz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E8E051F-C40B-D4F2-69E0-B12AE28C48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026"/>
          <a:stretch/>
        </p:blipFill>
        <p:spPr>
          <a:xfrm>
            <a:off x="2423921" y="2669709"/>
            <a:ext cx="3210764" cy="109342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94D00B-0C41-60AE-B75F-0282A838A37A}"/>
              </a:ext>
            </a:extLst>
          </p:cNvPr>
          <p:cNvSpPr/>
          <p:nvPr/>
        </p:nvSpPr>
        <p:spPr>
          <a:xfrm>
            <a:off x="3268753" y="2132416"/>
            <a:ext cx="13660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90001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Healthy Cell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4C7316-4642-C310-7AC3-71F20A154695}"/>
              </a:ext>
            </a:extLst>
          </p:cNvPr>
          <p:cNvSpPr/>
          <p:nvPr/>
        </p:nvSpPr>
        <p:spPr>
          <a:xfrm>
            <a:off x="2587859" y="2461964"/>
            <a:ext cx="81464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04040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Membrane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19CF90A-B9C6-71F9-94B3-5221DA9D8684}"/>
              </a:ext>
            </a:extLst>
          </p:cNvPr>
          <p:cNvCxnSpPr/>
          <p:nvPr/>
        </p:nvCxnSpPr>
        <p:spPr>
          <a:xfrm>
            <a:off x="3381887" y="2590933"/>
            <a:ext cx="160721" cy="138499"/>
          </a:xfrm>
          <a:prstGeom prst="straightConnector1">
            <a:avLst/>
          </a:prstGeom>
          <a:ln>
            <a:solidFill>
              <a:srgbClr val="04040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D294BD7-B383-8D78-5C4A-A886C44BF546}"/>
              </a:ext>
            </a:extLst>
          </p:cNvPr>
          <p:cNvCxnSpPr/>
          <p:nvPr/>
        </p:nvCxnSpPr>
        <p:spPr>
          <a:xfrm>
            <a:off x="4481313" y="2716731"/>
            <a:ext cx="0" cy="237900"/>
          </a:xfrm>
          <a:prstGeom prst="straightConnector1">
            <a:avLst/>
          </a:prstGeom>
          <a:ln>
            <a:solidFill>
              <a:srgbClr val="04040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B2CECAB-1EE7-355D-06D2-6CF3058FFE80}"/>
              </a:ext>
            </a:extLst>
          </p:cNvPr>
          <p:cNvCxnSpPr/>
          <p:nvPr/>
        </p:nvCxnSpPr>
        <p:spPr>
          <a:xfrm>
            <a:off x="4621013" y="2716731"/>
            <a:ext cx="0" cy="237900"/>
          </a:xfrm>
          <a:prstGeom prst="straightConnector1">
            <a:avLst/>
          </a:prstGeom>
          <a:ln>
            <a:solidFill>
              <a:srgbClr val="04040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6C2101-8FEF-72EE-AE7A-2EFFA3D5C1A8}"/>
              </a:ext>
            </a:extLst>
          </p:cNvPr>
          <p:cNvSpPr/>
          <p:nvPr/>
        </p:nvSpPr>
        <p:spPr>
          <a:xfrm>
            <a:off x="4043474" y="2489749"/>
            <a:ext cx="55816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04040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 max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9285174-436A-A002-0AAD-ED76BFE46AE3}"/>
              </a:ext>
            </a:extLst>
          </p:cNvPr>
          <p:cNvSpPr/>
          <p:nvPr/>
        </p:nvSpPr>
        <p:spPr>
          <a:xfrm>
            <a:off x="4500572" y="2489749"/>
            <a:ext cx="50366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04040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 max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0B72A8C-8D69-5577-38F4-327348FD4103}"/>
              </a:ext>
            </a:extLst>
          </p:cNvPr>
          <p:cNvCxnSpPr/>
          <p:nvPr/>
        </p:nvCxnSpPr>
        <p:spPr>
          <a:xfrm>
            <a:off x="4625001" y="3436241"/>
            <a:ext cx="0" cy="144000"/>
          </a:xfrm>
          <a:prstGeom prst="line">
            <a:avLst/>
          </a:prstGeom>
          <a:ln>
            <a:solidFill>
              <a:srgbClr val="0404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B8D2BEE-4A7F-E248-5DFF-F8DDA65E90FE}"/>
              </a:ext>
            </a:extLst>
          </p:cNvPr>
          <p:cNvCxnSpPr/>
          <p:nvPr/>
        </p:nvCxnSpPr>
        <p:spPr>
          <a:xfrm>
            <a:off x="4838361" y="3436241"/>
            <a:ext cx="0" cy="144000"/>
          </a:xfrm>
          <a:prstGeom prst="line">
            <a:avLst/>
          </a:prstGeom>
          <a:ln>
            <a:solidFill>
              <a:srgbClr val="0404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857268B-9EA2-C4D6-7A52-D08B2F0DA39C}"/>
              </a:ext>
            </a:extLst>
          </p:cNvPr>
          <p:cNvCxnSpPr/>
          <p:nvPr/>
        </p:nvCxnSpPr>
        <p:spPr>
          <a:xfrm>
            <a:off x="4621014" y="3493001"/>
            <a:ext cx="221481" cy="0"/>
          </a:xfrm>
          <a:prstGeom prst="straightConnector1">
            <a:avLst/>
          </a:prstGeom>
          <a:ln>
            <a:solidFill>
              <a:srgbClr val="04040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5279E94-FE0B-1E04-7735-73F45D51CEB8}"/>
              </a:ext>
            </a:extLst>
          </p:cNvPr>
          <p:cNvSpPr/>
          <p:nvPr/>
        </p:nvSpPr>
        <p:spPr>
          <a:xfrm>
            <a:off x="4299396" y="3588553"/>
            <a:ext cx="9060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04040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Phase Angle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47EFAA6-785E-8665-141E-E83DABCC42DD}"/>
              </a:ext>
            </a:extLst>
          </p:cNvPr>
          <p:cNvCxnSpPr/>
          <p:nvPr/>
        </p:nvCxnSpPr>
        <p:spPr>
          <a:xfrm>
            <a:off x="3347716" y="2107016"/>
            <a:ext cx="1219523" cy="0"/>
          </a:xfrm>
          <a:prstGeom prst="line">
            <a:avLst/>
          </a:prstGeom>
          <a:ln>
            <a:solidFill>
              <a:srgbClr val="0404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CE2C8A4-F24D-BD55-B228-45332A0A457A}"/>
              </a:ext>
            </a:extLst>
          </p:cNvPr>
          <p:cNvCxnSpPr/>
          <p:nvPr/>
        </p:nvCxnSpPr>
        <p:spPr>
          <a:xfrm>
            <a:off x="3347716" y="2470970"/>
            <a:ext cx="1219523" cy="0"/>
          </a:xfrm>
          <a:prstGeom prst="line">
            <a:avLst/>
          </a:prstGeom>
          <a:ln>
            <a:solidFill>
              <a:srgbClr val="0404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D76C382-A271-B792-08B3-D09260937679}"/>
              </a:ext>
            </a:extLst>
          </p:cNvPr>
          <p:cNvSpPr/>
          <p:nvPr/>
        </p:nvSpPr>
        <p:spPr>
          <a:xfrm>
            <a:off x="2693805" y="4491413"/>
            <a:ext cx="2338903" cy="307237"/>
          </a:xfrm>
          <a:prstGeom prst="rect">
            <a:avLst/>
          </a:prstGeom>
          <a:solidFill>
            <a:srgbClr val="3539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81F1490-071B-8146-02D2-6B2EB5AEC8B4}"/>
              </a:ext>
            </a:extLst>
          </p:cNvPr>
          <p:cNvSpPr/>
          <p:nvPr/>
        </p:nvSpPr>
        <p:spPr>
          <a:xfrm>
            <a:off x="2423921" y="3945524"/>
            <a:ext cx="30768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>
                <a:solidFill>
                  <a:srgbClr val="04040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Intact cells with high membrane integrity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D1D1FAA-1189-40DA-4FF8-E9A0DD3992EA}"/>
              </a:ext>
            </a:extLst>
          </p:cNvPr>
          <p:cNvSpPr/>
          <p:nvPr/>
        </p:nvSpPr>
        <p:spPr>
          <a:xfrm>
            <a:off x="2773152" y="4427912"/>
            <a:ext cx="22092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High Phase Angle</a:t>
            </a:r>
          </a:p>
        </p:txBody>
      </p: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2595FF1D-9B47-04AD-B635-792EFE6864E8}"/>
              </a:ext>
            </a:extLst>
          </p:cNvPr>
          <p:cNvSpPr/>
          <p:nvPr/>
        </p:nvSpPr>
        <p:spPr>
          <a:xfrm rot="10800000">
            <a:off x="3775026" y="4236294"/>
            <a:ext cx="205513" cy="17716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A61B290-DABB-DB90-1318-880C1F8C15BF}"/>
              </a:ext>
            </a:extLst>
          </p:cNvPr>
          <p:cNvSpPr/>
          <p:nvPr/>
        </p:nvSpPr>
        <p:spPr>
          <a:xfrm>
            <a:off x="7304585" y="4491336"/>
            <a:ext cx="2338903" cy="307237"/>
          </a:xfrm>
          <a:prstGeom prst="rect">
            <a:avLst/>
          </a:prstGeom>
          <a:solidFill>
            <a:srgbClr val="3539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778F9663-2FC3-3D14-1F99-E46A7CB2FA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099"/>
          <a:stretch/>
        </p:blipFill>
        <p:spPr>
          <a:xfrm>
            <a:off x="7114246" y="2525047"/>
            <a:ext cx="3066091" cy="1156052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C56553E4-296E-5F06-3BCE-F8A21FC4B98C}"/>
              </a:ext>
            </a:extLst>
          </p:cNvPr>
          <p:cNvSpPr/>
          <p:nvPr/>
        </p:nvSpPr>
        <p:spPr>
          <a:xfrm>
            <a:off x="7815809" y="2123517"/>
            <a:ext cx="14574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90001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Damaged Cell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1F30EB4-7567-4D62-42AA-716E64F0CCA0}"/>
              </a:ext>
            </a:extLst>
          </p:cNvPr>
          <p:cNvSpPr/>
          <p:nvPr/>
        </p:nvSpPr>
        <p:spPr>
          <a:xfrm>
            <a:off x="7304585" y="3921976"/>
            <a:ext cx="24833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>
                <a:solidFill>
                  <a:srgbClr val="04040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Damaged cell or low cell density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939B2C5-7A32-907C-BD18-AB11711057AB}"/>
              </a:ext>
            </a:extLst>
          </p:cNvPr>
          <p:cNvSpPr/>
          <p:nvPr/>
        </p:nvSpPr>
        <p:spPr>
          <a:xfrm>
            <a:off x="7385984" y="4427835"/>
            <a:ext cx="21515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Low Phase Angle</a:t>
            </a:r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366B9D02-CDD6-E4D8-99BA-C52E2E031238}"/>
              </a:ext>
            </a:extLst>
          </p:cNvPr>
          <p:cNvSpPr/>
          <p:nvPr/>
        </p:nvSpPr>
        <p:spPr>
          <a:xfrm rot="10800000">
            <a:off x="8441778" y="4258762"/>
            <a:ext cx="205513" cy="17716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BA2A5DD1-24C7-0DC1-618D-72EF6C09DB97}"/>
              </a:ext>
            </a:extLst>
          </p:cNvPr>
          <p:cNvCxnSpPr/>
          <p:nvPr/>
        </p:nvCxnSpPr>
        <p:spPr>
          <a:xfrm>
            <a:off x="8040732" y="2118956"/>
            <a:ext cx="1059033" cy="0"/>
          </a:xfrm>
          <a:prstGeom prst="line">
            <a:avLst/>
          </a:prstGeom>
          <a:ln>
            <a:solidFill>
              <a:srgbClr val="0404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A663C5B-E2C7-F1C3-1B60-787460FE2FA4}"/>
              </a:ext>
            </a:extLst>
          </p:cNvPr>
          <p:cNvCxnSpPr/>
          <p:nvPr/>
        </p:nvCxnSpPr>
        <p:spPr>
          <a:xfrm>
            <a:off x="8040732" y="2468262"/>
            <a:ext cx="1059033" cy="0"/>
          </a:xfrm>
          <a:prstGeom prst="line">
            <a:avLst/>
          </a:prstGeom>
          <a:ln>
            <a:solidFill>
              <a:srgbClr val="0404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7C67EE3-C408-4D3D-6FA9-5551EAB6F8B7}"/>
              </a:ext>
            </a:extLst>
          </p:cNvPr>
          <p:cNvSpPr/>
          <p:nvPr/>
        </p:nvSpPr>
        <p:spPr>
          <a:xfrm>
            <a:off x="6652261" y="2791806"/>
            <a:ext cx="58060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04040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50KHz</a:t>
            </a:r>
          </a:p>
        </p:txBody>
      </p:sp>
    </p:spTree>
    <p:extLst>
      <p:ext uri="{BB962C8B-B14F-4D97-AF65-F5344CB8AC3E}">
        <p14:creationId xmlns:p14="http://schemas.microsoft.com/office/powerpoint/2010/main" val="1582627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68246" y="6372732"/>
            <a:ext cx="913984" cy="310101"/>
            <a:chOff x="0" y="0"/>
            <a:chExt cx="1827968" cy="6202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7968" cy="620202"/>
            </a:xfrm>
            <a:custGeom>
              <a:avLst/>
              <a:gdLst/>
              <a:ahLst/>
              <a:cxnLst/>
              <a:rect l="l" t="t" r="r" b="b"/>
              <a:pathLst>
                <a:path w="1827968" h="620202">
                  <a:moveTo>
                    <a:pt x="0" y="0"/>
                  </a:moveTo>
                  <a:lnTo>
                    <a:pt x="1827968" y="0"/>
                  </a:lnTo>
                  <a:lnTo>
                    <a:pt x="1827968" y="620202"/>
                  </a:lnTo>
                  <a:lnTo>
                    <a:pt x="0" y="6202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827968" cy="6392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80"/>
                </a:lnSpc>
              </a:pPr>
              <a:r>
                <a:rPr lang="en-US" sz="900">
                  <a:solidFill>
                    <a:srgbClr val="656E7D"/>
                  </a:solidFill>
                  <a:latin typeface="Arimo"/>
                  <a:ea typeface="Arimo"/>
                  <a:cs typeface="Arimo"/>
                  <a:sym typeface="Arimo"/>
                </a:rPr>
                <a:t>‹#›/34</a:t>
              </a:r>
            </a:p>
          </p:txBody>
        </p:sp>
      </p:grpSp>
      <p:sp>
        <p:nvSpPr>
          <p:cNvPr id="5" name="AutoShape 5"/>
          <p:cNvSpPr/>
          <p:nvPr/>
        </p:nvSpPr>
        <p:spPr>
          <a:xfrm rot="10798210">
            <a:off x="-3175" y="6231814"/>
            <a:ext cx="12198351" cy="0"/>
          </a:xfrm>
          <a:prstGeom prst="line">
            <a:avLst/>
          </a:prstGeom>
          <a:ln w="9525" cap="rnd">
            <a:solidFill>
              <a:srgbClr val="DDE0E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-2" y="-4"/>
            <a:ext cx="12192002" cy="54000"/>
            <a:chOff x="0" y="0"/>
            <a:chExt cx="24384004" cy="108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07950"/>
            </a:xfrm>
            <a:custGeom>
              <a:avLst/>
              <a:gdLst/>
              <a:ahLst/>
              <a:cxnLst/>
              <a:rect l="l" t="t" r="r" b="b"/>
              <a:pathLst>
                <a:path w="24384000" h="107950">
                  <a:moveTo>
                    <a:pt x="24384000" y="0"/>
                  </a:moveTo>
                  <a:lnTo>
                    <a:pt x="0" y="0"/>
                  </a:lnTo>
                  <a:lnTo>
                    <a:pt x="0" y="107950"/>
                  </a:lnTo>
                  <a:lnTo>
                    <a:pt x="24384000" y="107950"/>
                  </a:lnTo>
                  <a:close/>
                </a:path>
              </a:pathLst>
            </a:custGeom>
            <a:solidFill>
              <a:srgbClr val="656E7D"/>
            </a:solidFill>
          </p:spPr>
        </p:sp>
      </p:grpSp>
      <p:sp>
        <p:nvSpPr>
          <p:cNvPr id="8" name="AutoShape 8"/>
          <p:cNvSpPr/>
          <p:nvPr/>
        </p:nvSpPr>
        <p:spPr>
          <a:xfrm rot="10703206">
            <a:off x="5701274" y="6225465"/>
            <a:ext cx="789452" cy="0"/>
          </a:xfrm>
          <a:prstGeom prst="line">
            <a:avLst/>
          </a:prstGeom>
          <a:ln w="19050" cap="rnd">
            <a:solidFill>
              <a:srgbClr val="ADB3B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356235" y="6379590"/>
            <a:ext cx="773724" cy="279659"/>
            <a:chOff x="0" y="0"/>
            <a:chExt cx="1547448" cy="5593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47495" cy="559308"/>
            </a:xfrm>
            <a:custGeom>
              <a:avLst/>
              <a:gdLst/>
              <a:ahLst/>
              <a:cxnLst/>
              <a:rect l="l" t="t" r="r" b="b"/>
              <a:pathLst>
                <a:path w="1547495" h="559308">
                  <a:moveTo>
                    <a:pt x="0" y="0"/>
                  </a:moveTo>
                  <a:lnTo>
                    <a:pt x="1547495" y="0"/>
                  </a:lnTo>
                  <a:lnTo>
                    <a:pt x="1547495" y="559308"/>
                  </a:lnTo>
                  <a:lnTo>
                    <a:pt x="0" y="55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r="3" b="-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2" y="-4"/>
            <a:ext cx="12192002" cy="54000"/>
            <a:chOff x="0" y="0"/>
            <a:chExt cx="24384004" cy="108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07950"/>
            </a:xfrm>
            <a:custGeom>
              <a:avLst/>
              <a:gdLst/>
              <a:ahLst/>
              <a:cxnLst/>
              <a:rect l="l" t="t" r="r" b="b"/>
              <a:pathLst>
                <a:path w="24384000" h="107950">
                  <a:moveTo>
                    <a:pt x="24384000" y="0"/>
                  </a:moveTo>
                  <a:lnTo>
                    <a:pt x="0" y="0"/>
                  </a:lnTo>
                  <a:lnTo>
                    <a:pt x="0" y="107950"/>
                  </a:lnTo>
                  <a:lnTo>
                    <a:pt x="24384000" y="107950"/>
                  </a:lnTo>
                  <a:close/>
                </a:path>
              </a:pathLst>
            </a:custGeom>
            <a:solidFill>
              <a:srgbClr val="656E7D"/>
            </a:solidFill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9176105" y="711053"/>
            <a:ext cx="199307" cy="199307"/>
            <a:chOff x="0" y="0"/>
            <a:chExt cx="398614" cy="39861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8653" cy="398653"/>
            </a:xfrm>
            <a:custGeom>
              <a:avLst/>
              <a:gdLst/>
              <a:ahLst/>
              <a:cxnLst/>
              <a:rect l="l" t="t" r="r" b="b"/>
              <a:pathLst>
                <a:path w="398653" h="398653">
                  <a:moveTo>
                    <a:pt x="0" y="199263"/>
                  </a:moveTo>
                  <a:cubicBezTo>
                    <a:pt x="0" y="89281"/>
                    <a:pt x="89281" y="0"/>
                    <a:pt x="199263" y="0"/>
                  </a:cubicBezTo>
                  <a:cubicBezTo>
                    <a:pt x="309245" y="0"/>
                    <a:pt x="398653" y="89281"/>
                    <a:pt x="398653" y="199263"/>
                  </a:cubicBezTo>
                  <a:cubicBezTo>
                    <a:pt x="398653" y="309245"/>
                    <a:pt x="309372" y="398653"/>
                    <a:pt x="199263" y="398653"/>
                  </a:cubicBezTo>
                  <a:cubicBezTo>
                    <a:pt x="89154" y="398653"/>
                    <a:pt x="0" y="309372"/>
                    <a:pt x="0" y="199263"/>
                  </a:cubicBezTo>
                  <a:close/>
                </a:path>
              </a:pathLst>
            </a:custGeom>
            <a:solidFill>
              <a:srgbClr val="E7E8EC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003234" y="1500770"/>
            <a:ext cx="233727" cy="233726"/>
          </a:xfrm>
          <a:custGeom>
            <a:avLst/>
            <a:gdLst/>
            <a:ahLst/>
            <a:cxnLst/>
            <a:rect l="l" t="t" r="r" b="b"/>
            <a:pathLst>
              <a:path w="350591" h="350589">
                <a:moveTo>
                  <a:pt x="0" y="0"/>
                </a:moveTo>
                <a:lnTo>
                  <a:pt x="350590" y="0"/>
                </a:lnTo>
                <a:lnTo>
                  <a:pt x="350590" y="350588"/>
                </a:lnTo>
                <a:lnTo>
                  <a:pt x="0" y="350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249468" y="1400160"/>
            <a:ext cx="9978826" cy="400110"/>
            <a:chOff x="0" y="0"/>
            <a:chExt cx="19957652" cy="8002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957652" cy="800220"/>
            </a:xfrm>
            <a:custGeom>
              <a:avLst/>
              <a:gdLst/>
              <a:ahLst/>
              <a:cxnLst/>
              <a:rect l="l" t="t" r="r" b="b"/>
              <a:pathLst>
                <a:path w="19957652" h="800220">
                  <a:moveTo>
                    <a:pt x="0" y="0"/>
                  </a:moveTo>
                  <a:lnTo>
                    <a:pt x="19957652" y="0"/>
                  </a:lnTo>
                  <a:lnTo>
                    <a:pt x="19957652" y="800220"/>
                  </a:lnTo>
                  <a:lnTo>
                    <a:pt x="0" y="800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19957652" cy="876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400"/>
                </a:lnSpc>
              </a:pPr>
              <a:r>
                <a:rPr lang="en-US" sz="1600" b="1" spc="-30">
                  <a:solidFill>
                    <a:srgbClr val="A0112D"/>
                  </a:solidFill>
                  <a:latin typeface="Lato Bold"/>
                  <a:ea typeface="Lato Bold"/>
                  <a:cs typeface="Lato Bold"/>
                  <a:sym typeface="Lato Bold"/>
                </a:rPr>
                <a:t>Skeletal Muscle Mass Index (SMI)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17196" y="633843"/>
            <a:ext cx="473363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92"/>
              </a:lnSpc>
            </a:pPr>
            <a:r>
              <a:rPr lang="en-US" sz="2400" spc="-29">
                <a:solidFill>
                  <a:srgbClr val="A0112D"/>
                </a:solidFill>
                <a:latin typeface="Lato"/>
                <a:ea typeface="Lato"/>
                <a:cs typeface="Lato"/>
                <a:sym typeface="Lato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2468" y="624573"/>
            <a:ext cx="6115284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92"/>
              </a:lnSpc>
            </a:pPr>
            <a:r>
              <a:rPr lang="en-US" sz="2400" spc="-29" dirty="0">
                <a:solidFill>
                  <a:srgbClr val="3A3A38"/>
                </a:solidFill>
                <a:latin typeface="Lato"/>
                <a:ea typeface="Lato"/>
                <a:cs typeface="Lato"/>
                <a:sym typeface="Lato"/>
              </a:rPr>
              <a:t>Application of </a:t>
            </a:r>
            <a:r>
              <a:rPr lang="en-US" sz="2400" spc="-29" dirty="0" err="1">
                <a:solidFill>
                  <a:srgbClr val="3A3A38"/>
                </a:solidFill>
                <a:latin typeface="Lato"/>
                <a:ea typeface="Lato"/>
                <a:cs typeface="Lato"/>
                <a:sym typeface="Lato"/>
              </a:rPr>
              <a:t>InBody</a:t>
            </a:r>
            <a:r>
              <a:rPr lang="en-US" sz="2400" spc="-29" dirty="0">
                <a:solidFill>
                  <a:srgbClr val="3A3A38"/>
                </a:solidFill>
                <a:latin typeface="Lato"/>
                <a:ea typeface="Lato"/>
                <a:cs typeface="Lato"/>
                <a:sym typeface="Lato"/>
              </a:rPr>
              <a:t> parameters - SMI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11508" y="975511"/>
            <a:ext cx="4318546" cy="313932"/>
            <a:chOff x="0" y="0"/>
            <a:chExt cx="8637092" cy="6278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637092" cy="627864"/>
            </a:xfrm>
            <a:custGeom>
              <a:avLst/>
              <a:gdLst/>
              <a:ahLst/>
              <a:cxnLst/>
              <a:rect l="l" t="t" r="r" b="b"/>
              <a:pathLst>
                <a:path w="8637092" h="627864">
                  <a:moveTo>
                    <a:pt x="0" y="0"/>
                  </a:moveTo>
                  <a:lnTo>
                    <a:pt x="8637092" y="0"/>
                  </a:lnTo>
                  <a:lnTo>
                    <a:pt x="8637092" y="627864"/>
                  </a:lnTo>
                  <a:lnTo>
                    <a:pt x="0" y="6278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28575"/>
              <a:ext cx="8637092" cy="59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728"/>
                </a:lnSpc>
              </a:pPr>
              <a:r>
                <a:rPr lang="en-US" sz="1600" spc="-30">
                  <a:solidFill>
                    <a:srgbClr val="A0112D"/>
                  </a:solidFill>
                  <a:latin typeface="Lato"/>
                  <a:ea typeface="Lato"/>
                  <a:cs typeface="Lato"/>
                  <a:sym typeface="Lato"/>
                </a:rPr>
                <a:t>SMI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949698" y="1983653"/>
            <a:ext cx="2398285" cy="285976"/>
            <a:chOff x="0" y="0"/>
            <a:chExt cx="4796570" cy="57195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796536" cy="572008"/>
            </a:xfrm>
            <a:custGeom>
              <a:avLst/>
              <a:gdLst/>
              <a:ahLst/>
              <a:cxnLst/>
              <a:rect l="l" t="t" r="r" b="b"/>
              <a:pathLst>
                <a:path w="4796536" h="572008">
                  <a:moveTo>
                    <a:pt x="0" y="286004"/>
                  </a:moveTo>
                  <a:cubicBezTo>
                    <a:pt x="0" y="128016"/>
                    <a:pt x="128016" y="0"/>
                    <a:pt x="286004" y="0"/>
                  </a:cubicBezTo>
                  <a:lnTo>
                    <a:pt x="4510532" y="0"/>
                  </a:lnTo>
                  <a:cubicBezTo>
                    <a:pt x="4668520" y="0"/>
                    <a:pt x="4796536" y="128016"/>
                    <a:pt x="4796536" y="286004"/>
                  </a:cubicBezTo>
                  <a:cubicBezTo>
                    <a:pt x="4796536" y="443992"/>
                    <a:pt x="4668520" y="572008"/>
                    <a:pt x="4510532" y="572008"/>
                  </a:cubicBezTo>
                  <a:lnTo>
                    <a:pt x="286004" y="572008"/>
                  </a:lnTo>
                  <a:cubicBezTo>
                    <a:pt x="128016" y="572008"/>
                    <a:pt x="0" y="443865"/>
                    <a:pt x="0" y="286004"/>
                  </a:cubicBezTo>
                  <a:close/>
                </a:path>
              </a:pathLst>
            </a:custGeom>
            <a:solidFill>
              <a:srgbClr val="67767F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1806074" y="4815412"/>
            <a:ext cx="3483909" cy="26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Limb SMM ÷ height squared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96770" y="5519558"/>
            <a:ext cx="4304870" cy="26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(2.50 + 2.61 + 6.45 + 6.43) ÷ 2.99 = </a:t>
            </a:r>
            <a:r>
              <a:rPr lang="en-US" b="1">
                <a:solidFill>
                  <a:srgbClr val="A0112D"/>
                </a:solidFill>
                <a:latin typeface="Lato Bold"/>
                <a:ea typeface="Lato Bold"/>
                <a:cs typeface="Lato Bold"/>
                <a:sym typeface="Lato Bold"/>
              </a:rPr>
              <a:t>6.01</a:t>
            </a:r>
          </a:p>
        </p:txBody>
      </p:sp>
      <p:sp>
        <p:nvSpPr>
          <p:cNvPr id="40" name="AutoShape 40"/>
          <p:cNvSpPr/>
          <p:nvPr/>
        </p:nvSpPr>
        <p:spPr>
          <a:xfrm rot="5342368">
            <a:off x="2356349" y="5307762"/>
            <a:ext cx="378799" cy="0"/>
          </a:xfrm>
          <a:prstGeom prst="line">
            <a:avLst/>
          </a:prstGeom>
          <a:ln w="9525" cap="rnd">
            <a:solidFill>
              <a:srgbClr val="C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1" name="AutoShape 41"/>
          <p:cNvSpPr/>
          <p:nvPr/>
        </p:nvSpPr>
        <p:spPr>
          <a:xfrm rot="5306584">
            <a:off x="4229094" y="5392465"/>
            <a:ext cx="233713" cy="0"/>
          </a:xfrm>
          <a:prstGeom prst="line">
            <a:avLst/>
          </a:prstGeom>
          <a:ln w="9525" cap="rnd">
            <a:solidFill>
              <a:srgbClr val="C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2" name="AutoShape 42"/>
          <p:cNvSpPr/>
          <p:nvPr/>
        </p:nvSpPr>
        <p:spPr>
          <a:xfrm rot="-5261696">
            <a:off x="4021706" y="5205271"/>
            <a:ext cx="157882" cy="0"/>
          </a:xfrm>
          <a:prstGeom prst="line">
            <a:avLst/>
          </a:prstGeom>
          <a:ln w="9525" cap="rnd">
            <a:solidFill>
              <a:srgbClr val="C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/>
          <p:cNvSpPr/>
          <p:nvPr/>
        </p:nvSpPr>
        <p:spPr>
          <a:xfrm rot="10718474">
            <a:off x="4095142" y="5281113"/>
            <a:ext cx="256053" cy="0"/>
          </a:xfrm>
          <a:prstGeom prst="line">
            <a:avLst/>
          </a:prstGeom>
          <a:ln w="9525" cap="rnd">
            <a:solidFill>
              <a:srgbClr val="C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4" name="Group 44"/>
          <p:cNvGrpSpPr>
            <a:grpSpLocks noChangeAspect="1"/>
          </p:cNvGrpSpPr>
          <p:nvPr/>
        </p:nvGrpSpPr>
        <p:grpSpPr>
          <a:xfrm>
            <a:off x="1015741" y="2465159"/>
            <a:ext cx="4666080" cy="2115751"/>
            <a:chOff x="0" y="0"/>
            <a:chExt cx="9332160" cy="4231501"/>
          </a:xfrm>
        </p:grpSpPr>
        <p:sp>
          <p:nvSpPr>
            <p:cNvPr id="45" name="Freeform 45" descr="텍스트, 번호, 스크린샷, 폰트이(가) 표시된 사진  자동 생성된 설명"/>
            <p:cNvSpPr/>
            <p:nvPr/>
          </p:nvSpPr>
          <p:spPr>
            <a:xfrm>
              <a:off x="0" y="0"/>
              <a:ext cx="9332214" cy="4231513"/>
            </a:xfrm>
            <a:custGeom>
              <a:avLst/>
              <a:gdLst/>
              <a:ahLst/>
              <a:cxnLst/>
              <a:rect l="l" t="t" r="r" b="b"/>
              <a:pathLst>
                <a:path w="9332214" h="4231513">
                  <a:moveTo>
                    <a:pt x="0" y="0"/>
                  </a:moveTo>
                  <a:lnTo>
                    <a:pt x="9332214" y="0"/>
                  </a:lnTo>
                  <a:lnTo>
                    <a:pt x="9332214" y="4231513"/>
                  </a:lnTo>
                  <a:lnTo>
                    <a:pt x="0" y="4231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51" t="-250419" r="-59172" b="-139955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126286" y="2809375"/>
            <a:ext cx="3855379" cy="684482"/>
            <a:chOff x="0" y="0"/>
            <a:chExt cx="7710758" cy="136896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710805" cy="1370584"/>
            </a:xfrm>
            <a:custGeom>
              <a:avLst/>
              <a:gdLst/>
              <a:ahLst/>
              <a:cxnLst/>
              <a:rect l="l" t="t" r="r" b="b"/>
              <a:pathLst>
                <a:path w="7710805" h="1370584">
                  <a:moveTo>
                    <a:pt x="19050" y="0"/>
                  </a:moveTo>
                  <a:lnTo>
                    <a:pt x="7691755" y="0"/>
                  </a:lnTo>
                  <a:cubicBezTo>
                    <a:pt x="7702297" y="0"/>
                    <a:pt x="7710805" y="8509"/>
                    <a:pt x="7710805" y="19050"/>
                  </a:cubicBezTo>
                  <a:lnTo>
                    <a:pt x="7710805" y="1351534"/>
                  </a:lnTo>
                  <a:cubicBezTo>
                    <a:pt x="7710805" y="1362075"/>
                    <a:pt x="7702297" y="1370584"/>
                    <a:pt x="7691755" y="1370584"/>
                  </a:cubicBezTo>
                  <a:lnTo>
                    <a:pt x="19050" y="1370584"/>
                  </a:lnTo>
                  <a:cubicBezTo>
                    <a:pt x="8509" y="1370584"/>
                    <a:pt x="0" y="1362075"/>
                    <a:pt x="0" y="135153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351534"/>
                  </a:lnTo>
                  <a:lnTo>
                    <a:pt x="19050" y="1351534"/>
                  </a:lnTo>
                  <a:lnTo>
                    <a:pt x="19050" y="1332484"/>
                  </a:lnTo>
                  <a:lnTo>
                    <a:pt x="7691755" y="1332484"/>
                  </a:lnTo>
                  <a:lnTo>
                    <a:pt x="7691755" y="1351534"/>
                  </a:lnTo>
                  <a:lnTo>
                    <a:pt x="7672705" y="1351534"/>
                  </a:lnTo>
                  <a:lnTo>
                    <a:pt x="7672705" y="19050"/>
                  </a:lnTo>
                  <a:lnTo>
                    <a:pt x="7691755" y="19050"/>
                  </a:lnTo>
                  <a:lnTo>
                    <a:pt x="7691755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A0112D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126286" y="3795775"/>
            <a:ext cx="3855379" cy="684481"/>
            <a:chOff x="0" y="0"/>
            <a:chExt cx="7710758" cy="136896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710805" cy="1370584"/>
            </a:xfrm>
            <a:custGeom>
              <a:avLst/>
              <a:gdLst/>
              <a:ahLst/>
              <a:cxnLst/>
              <a:rect l="l" t="t" r="r" b="b"/>
              <a:pathLst>
                <a:path w="7710805" h="1370584">
                  <a:moveTo>
                    <a:pt x="19050" y="0"/>
                  </a:moveTo>
                  <a:lnTo>
                    <a:pt x="7691755" y="0"/>
                  </a:lnTo>
                  <a:cubicBezTo>
                    <a:pt x="7702297" y="0"/>
                    <a:pt x="7710805" y="8509"/>
                    <a:pt x="7710805" y="19050"/>
                  </a:cubicBezTo>
                  <a:lnTo>
                    <a:pt x="7710805" y="1351534"/>
                  </a:lnTo>
                  <a:cubicBezTo>
                    <a:pt x="7710805" y="1362075"/>
                    <a:pt x="7702297" y="1370584"/>
                    <a:pt x="7691755" y="1370584"/>
                  </a:cubicBezTo>
                  <a:lnTo>
                    <a:pt x="19050" y="1370584"/>
                  </a:lnTo>
                  <a:cubicBezTo>
                    <a:pt x="8509" y="1370584"/>
                    <a:pt x="0" y="1362075"/>
                    <a:pt x="0" y="135153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351534"/>
                  </a:lnTo>
                  <a:lnTo>
                    <a:pt x="19050" y="1351534"/>
                  </a:lnTo>
                  <a:lnTo>
                    <a:pt x="19050" y="1332484"/>
                  </a:lnTo>
                  <a:lnTo>
                    <a:pt x="7691755" y="1332484"/>
                  </a:lnTo>
                  <a:lnTo>
                    <a:pt x="7691755" y="1351534"/>
                  </a:lnTo>
                  <a:lnTo>
                    <a:pt x="7672705" y="1351534"/>
                  </a:lnTo>
                  <a:lnTo>
                    <a:pt x="7672705" y="19050"/>
                  </a:lnTo>
                  <a:lnTo>
                    <a:pt x="7691755" y="19050"/>
                  </a:lnTo>
                  <a:lnTo>
                    <a:pt x="7691755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A0112D"/>
            </a:solidFill>
          </p:spPr>
        </p:sp>
      </p:grpSp>
      <p:sp>
        <p:nvSpPr>
          <p:cNvPr id="50" name="TextBox 50"/>
          <p:cNvSpPr txBox="1"/>
          <p:nvPr/>
        </p:nvSpPr>
        <p:spPr>
          <a:xfrm>
            <a:off x="2101798" y="1985165"/>
            <a:ext cx="212529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Age 41, 173cm, 64kg</a:t>
            </a:r>
          </a:p>
        </p:txBody>
      </p:sp>
      <p:grpSp>
        <p:nvGrpSpPr>
          <p:cNvPr id="53" name="Group 32">
            <a:extLst>
              <a:ext uri="{FF2B5EF4-FFF2-40B4-BE49-F238E27FC236}">
                <a16:creationId xmlns:a16="http://schemas.microsoft.com/office/drawing/2014/main" id="{A64251CA-42C2-46EC-BAAC-8BA9285FDEBB}"/>
              </a:ext>
            </a:extLst>
          </p:cNvPr>
          <p:cNvGrpSpPr>
            <a:grpSpLocks noChangeAspect="1"/>
          </p:cNvGrpSpPr>
          <p:nvPr/>
        </p:nvGrpSpPr>
        <p:grpSpPr>
          <a:xfrm>
            <a:off x="7067157" y="1211222"/>
            <a:ext cx="4185831" cy="4298057"/>
            <a:chOff x="0" y="0"/>
            <a:chExt cx="7597068" cy="7800753"/>
          </a:xfrm>
        </p:grpSpPr>
        <p:sp>
          <p:nvSpPr>
            <p:cNvPr id="54" name="Freeform 33" descr="화면 캡처">
              <a:extLst>
                <a:ext uri="{FF2B5EF4-FFF2-40B4-BE49-F238E27FC236}">
                  <a16:creationId xmlns:a16="http://schemas.microsoft.com/office/drawing/2014/main" id="{3C95257E-A656-40C9-8DCD-81369BEFD999}"/>
                </a:ext>
              </a:extLst>
            </p:cNvPr>
            <p:cNvSpPr/>
            <p:nvPr/>
          </p:nvSpPr>
          <p:spPr>
            <a:xfrm>
              <a:off x="0" y="0"/>
              <a:ext cx="7597013" cy="7800721"/>
            </a:xfrm>
            <a:custGeom>
              <a:avLst/>
              <a:gdLst/>
              <a:ahLst/>
              <a:cxnLst/>
              <a:rect l="l" t="t" r="r" b="b"/>
              <a:pathLst>
                <a:path w="7597013" h="7800721">
                  <a:moveTo>
                    <a:pt x="0" y="0"/>
                  </a:moveTo>
                  <a:lnTo>
                    <a:pt x="7597013" y="0"/>
                  </a:lnTo>
                  <a:lnTo>
                    <a:pt x="7597013" y="7800721"/>
                  </a:lnTo>
                  <a:lnTo>
                    <a:pt x="0" y="7800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3786" b="-17036"/>
              </a:stretch>
            </a:blipFill>
          </p:spPr>
        </p:sp>
      </p:grpSp>
      <p:sp>
        <p:nvSpPr>
          <p:cNvPr id="55" name="TextBox 34">
            <a:extLst>
              <a:ext uri="{FF2B5EF4-FFF2-40B4-BE49-F238E27FC236}">
                <a16:creationId xmlns:a16="http://schemas.microsoft.com/office/drawing/2014/main" id="{1314CF71-4541-4F56-B3B7-B79B9C37C2B2}"/>
              </a:ext>
            </a:extLst>
          </p:cNvPr>
          <p:cNvSpPr txBox="1"/>
          <p:nvPr/>
        </p:nvSpPr>
        <p:spPr>
          <a:xfrm>
            <a:off x="6381661" y="5872601"/>
            <a:ext cx="7193868" cy="26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Fig 1. AWGS 2019 algorithm for sarcopenia. F, female; M, male. (</a:t>
            </a:r>
            <a:r>
              <a:rPr lang="en-US" sz="1050" i="1" dirty="0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Chen et al., 2020</a:t>
            </a:r>
            <a:r>
              <a:rPr lang="en-US" sz="105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728004" y="1388066"/>
            <a:ext cx="8118439" cy="4500176"/>
          </a:xfrm>
          <a:custGeom>
            <a:avLst/>
            <a:gdLst/>
            <a:ahLst/>
            <a:cxnLst/>
            <a:rect l="l" t="t" r="r" b="b"/>
            <a:pathLst>
              <a:path w="12177659" h="6750264">
                <a:moveTo>
                  <a:pt x="0" y="0"/>
                </a:moveTo>
                <a:lnTo>
                  <a:pt x="12177660" y="0"/>
                </a:lnTo>
                <a:lnTo>
                  <a:pt x="12177660" y="6750264"/>
                </a:lnTo>
                <a:lnTo>
                  <a:pt x="0" y="6750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82" r="-2195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99764" y="253338"/>
            <a:ext cx="7574921" cy="75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16"/>
              </a:lnSpc>
              <a:spcBef>
                <a:spcPct val="0"/>
              </a:spcBef>
            </a:pPr>
            <a:r>
              <a:rPr lang="en-US" sz="4649" b="1" spc="232">
                <a:solidFill>
                  <a:srgbClr val="9D1F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Skeletal Muscle Index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DE93-95F3-4646-B4E4-2E5C04B0B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Target Weight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994624-3F32-4C5E-B679-4CDEF4B75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130" y="365125"/>
            <a:ext cx="11829739" cy="6312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8671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28C978-3EA0-40E4-BD21-CFB3E01D8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10" y="330979"/>
            <a:ext cx="11320040" cy="619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77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7601D-D75C-48C5-BAC9-AED00A75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Obesity Degree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AFA4A-85B8-4B70-8300-5418D768C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14050"/>
            <a:ext cx="113538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Obesity Degree is an index that indicates the level of obesity by comparing the standard weight and the current weight, without taking body composition into account.</a:t>
            </a:r>
          </a:p>
          <a:p>
            <a:pPr marL="0" indent="0">
              <a:buNone/>
            </a:pPr>
            <a:r>
              <a:rPr lang="en-US" dirty="0"/>
              <a:t>Formula: (Current body weight) / (Standard weight)*Standard weight : Male: 22 * (height)² (m²)Female: 21 * (height)² (m²) </a:t>
            </a:r>
          </a:p>
          <a:p>
            <a:pPr marL="0" indent="0">
              <a:buNone/>
            </a:pPr>
            <a:r>
              <a:rPr lang="en-US" dirty="0"/>
              <a:t>Evaluation:</a:t>
            </a:r>
          </a:p>
          <a:p>
            <a:pPr marL="0" indent="0">
              <a:buNone/>
            </a:pPr>
            <a:r>
              <a:rPr lang="en-US" dirty="0"/>
              <a:t> below 90% : Underweight</a:t>
            </a:r>
          </a:p>
          <a:p>
            <a:pPr marL="0" indent="0">
              <a:buNone/>
            </a:pPr>
            <a:r>
              <a:rPr lang="en-US" dirty="0"/>
              <a:t>90-110% : normal </a:t>
            </a:r>
          </a:p>
          <a:p>
            <a:pPr marL="0" indent="0">
              <a:buNone/>
            </a:pPr>
            <a:r>
              <a:rPr lang="en-US" dirty="0"/>
              <a:t>above 110% : Overweight</a:t>
            </a:r>
          </a:p>
          <a:p>
            <a:pPr marL="0" indent="0">
              <a:buNone/>
            </a:pPr>
            <a:r>
              <a:rPr lang="en-US" dirty="0"/>
              <a:t>above 120% : Obese</a:t>
            </a:r>
          </a:p>
        </p:txBody>
      </p:sp>
    </p:spTree>
    <p:extLst>
      <p:ext uri="{BB962C8B-B14F-4D97-AF65-F5344CB8AC3E}">
        <p14:creationId xmlns:p14="http://schemas.microsoft.com/office/powerpoint/2010/main" val="2458182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7F3B-AC87-47F0-832C-674FD737C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1-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A51DB9-E2DD-4C53-AC9A-C9C47B82B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393" y="1319833"/>
            <a:ext cx="3704775" cy="49420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4F9A31-CA81-4978-B52B-376B89FA10F0}"/>
              </a:ext>
            </a:extLst>
          </p:cNvPr>
          <p:cNvSpPr/>
          <p:nvPr/>
        </p:nvSpPr>
        <p:spPr>
          <a:xfrm>
            <a:off x="838200" y="259053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case:</a:t>
            </a:r>
          </a:p>
          <a:p>
            <a:r>
              <a:rPr lang="en-US" dirty="0"/>
              <a:t>Standard weight: 22 * 1.67 * 1.67 = 61.3558 kg</a:t>
            </a:r>
          </a:p>
          <a:p>
            <a:r>
              <a:rPr lang="en-US" dirty="0"/>
              <a:t>Current weight: 58.6 kg</a:t>
            </a:r>
          </a:p>
          <a:p>
            <a:r>
              <a:rPr lang="en-US" dirty="0"/>
              <a:t>Obesity degree : 58.6 / 61.3558 = 0.95508 = 96% (round up)</a:t>
            </a:r>
          </a:p>
        </p:txBody>
      </p:sp>
    </p:spTree>
    <p:extLst>
      <p:ext uri="{BB962C8B-B14F-4D97-AF65-F5344CB8AC3E}">
        <p14:creationId xmlns:p14="http://schemas.microsoft.com/office/powerpoint/2010/main" val="2348545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D42C5E06049C0418F6BA80E4DDD693D" ma:contentTypeVersion="10" ma:contentTypeDescription="새 문서를 만듭니다." ma:contentTypeScope="" ma:versionID="bef5688b4d99f578f8ee3617d69f0196">
  <xsd:schema xmlns:xsd="http://www.w3.org/2001/XMLSchema" xmlns:xs="http://www.w3.org/2001/XMLSchema" xmlns:p="http://schemas.microsoft.com/office/2006/metadata/properties" xmlns:ns3="ca080657-3426-4774-821e-73c75b3ebcef" targetNamespace="http://schemas.microsoft.com/office/2006/metadata/properties" ma:root="true" ma:fieldsID="1ffa83ddaa7925a94add727edd25cc2d" ns3:_="">
    <xsd:import namespace="ca080657-3426-4774-821e-73c75b3ebce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080657-3426-4774-821e-73c75b3ebce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080657-3426-4774-821e-73c75b3ebcef" xsi:nil="true"/>
  </documentManagement>
</p:properties>
</file>

<file path=customXml/itemProps1.xml><?xml version="1.0" encoding="utf-8"?>
<ds:datastoreItem xmlns:ds="http://schemas.openxmlformats.org/officeDocument/2006/customXml" ds:itemID="{5285CA84-A32C-4BE6-910C-759361D420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9A7B9E-4B78-4058-8DCF-9243CB56EF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080657-3426-4774-821e-73c75b3ebc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685F5F-46BB-44EB-AC6C-545C4F1A34A0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ca080657-3426-4774-821e-73c75b3ebce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432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5" baseType="lpstr">
      <vt:lpstr>Arial</vt:lpstr>
      <vt:lpstr>Arimo</vt:lpstr>
      <vt:lpstr>Calibri</vt:lpstr>
      <vt:lpstr>Calibri Light</vt:lpstr>
      <vt:lpstr>Canva Sans Bold</vt:lpstr>
      <vt:lpstr>Lato</vt:lpstr>
      <vt:lpstr>Lato Black</vt:lpstr>
      <vt:lpstr>Lato Bold</vt:lpstr>
      <vt:lpstr>Lato Italics</vt:lpstr>
      <vt:lpstr>Malgun Gothic</vt:lpstr>
      <vt:lpstr>S-Core Dream 5 Medium</vt:lpstr>
      <vt:lpstr>Wingdings</vt:lpstr>
      <vt:lpstr>에스코어 드림 4 Regular</vt:lpstr>
      <vt:lpstr>에스코어 드림 7 ExtraBold</vt:lpstr>
      <vt:lpstr>Office Theme</vt:lpstr>
      <vt:lpstr>Understanding InBody Parameter Calculations and Interpretation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Target Weight</vt:lpstr>
      <vt:lpstr>PowerPoint Presentation</vt:lpstr>
      <vt:lpstr>Obesity Degree</vt:lpstr>
      <vt:lpstr>Case 1-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InBody</dc:title>
  <dc:creator>Shrutika Khedekar</dc:creator>
  <cp:lastModifiedBy>Shrutika Khedekar</cp:lastModifiedBy>
  <cp:revision>4</cp:revision>
  <dcterms:created xsi:type="dcterms:W3CDTF">2025-12-23T16:54:23Z</dcterms:created>
  <dcterms:modified xsi:type="dcterms:W3CDTF">2026-02-23T11:14:26Z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0x0101003D42C5E06049C0418F6BA80E4DDD693D</vt:lpwstr>
  </property>
</Properties>
</file>