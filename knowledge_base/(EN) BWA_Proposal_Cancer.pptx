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9F112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9F112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9F112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9F112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5051" y="570103"/>
            <a:ext cx="342836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9F112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8.png"/><Relationship Id="rId26" Type="http://schemas.openxmlformats.org/officeDocument/2006/relationships/image" Target="../media/image29.png"/><Relationship Id="rId27" Type="http://schemas.openxmlformats.org/officeDocument/2006/relationships/image" Target="../media/image30.png"/><Relationship Id="rId28" Type="http://schemas.openxmlformats.org/officeDocument/2006/relationships/image" Target="../media/image31.png"/><Relationship Id="rId29" Type="http://schemas.openxmlformats.org/officeDocument/2006/relationships/image" Target="../media/image3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37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56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Relationship Id="rId22" Type="http://schemas.openxmlformats.org/officeDocument/2006/relationships/image" Target="../media/image59.png"/><Relationship Id="rId23" Type="http://schemas.openxmlformats.org/officeDocument/2006/relationships/image" Target="../media/image60.png"/><Relationship Id="rId24" Type="http://schemas.openxmlformats.org/officeDocument/2006/relationships/image" Target="../media/image61.png"/><Relationship Id="rId25" Type="http://schemas.openxmlformats.org/officeDocument/2006/relationships/image" Target="../media/image62.png"/><Relationship Id="rId26" Type="http://schemas.openxmlformats.org/officeDocument/2006/relationships/image" Target="../media/image6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70.png"/><Relationship Id="rId6" Type="http://schemas.openxmlformats.org/officeDocument/2006/relationships/image" Target="../media/image71.jp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jpg"/><Relationship Id="rId11" Type="http://schemas.openxmlformats.org/officeDocument/2006/relationships/image" Target="../media/image7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jpg"/><Relationship Id="rId10" Type="http://schemas.openxmlformats.org/officeDocument/2006/relationships/image" Target="../media/image83.jpg"/><Relationship Id="rId11" Type="http://schemas.openxmlformats.org/officeDocument/2006/relationships/image" Target="../media/image8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jpg"/><Relationship Id="rId14" Type="http://schemas.openxmlformats.org/officeDocument/2006/relationships/image" Target="../media/image91.png"/><Relationship Id="rId15" Type="http://schemas.openxmlformats.org/officeDocument/2006/relationships/image" Target="../media/image9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94.png"/><Relationship Id="rId6" Type="http://schemas.openxmlformats.org/officeDocument/2006/relationships/image" Target="../media/image36.png"/><Relationship Id="rId7" Type="http://schemas.openxmlformats.org/officeDocument/2006/relationships/image" Target="../media/image95.png"/><Relationship Id="rId8" Type="http://schemas.openxmlformats.org/officeDocument/2006/relationships/image" Target="../media/image80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Relationship Id="rId13" Type="http://schemas.openxmlformats.org/officeDocument/2006/relationships/image" Target="../media/image100.png"/><Relationship Id="rId14" Type="http://schemas.openxmlformats.org/officeDocument/2006/relationships/image" Target="../media/image101.jpg"/><Relationship Id="rId15" Type="http://schemas.openxmlformats.org/officeDocument/2006/relationships/image" Target="../media/image102.jpg"/><Relationship Id="rId16" Type="http://schemas.openxmlformats.org/officeDocument/2006/relationships/image" Target="../media/image10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95.png"/><Relationship Id="rId7" Type="http://schemas.openxmlformats.org/officeDocument/2006/relationships/image" Target="../media/image80.png"/><Relationship Id="rId8" Type="http://schemas.openxmlformats.org/officeDocument/2006/relationships/image" Target="../media/image96.png"/><Relationship Id="rId9" Type="http://schemas.openxmlformats.org/officeDocument/2006/relationships/image" Target="../media/image105.jpg"/><Relationship Id="rId10" Type="http://schemas.openxmlformats.org/officeDocument/2006/relationships/image" Target="../media/image106.jpg"/><Relationship Id="rId11" Type="http://schemas.openxmlformats.org/officeDocument/2006/relationships/image" Target="../media/image107.png"/><Relationship Id="rId12" Type="http://schemas.openxmlformats.org/officeDocument/2006/relationships/image" Target="../media/image108.png"/><Relationship Id="rId13" Type="http://schemas.openxmlformats.org/officeDocument/2006/relationships/image" Target="../media/image10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95.png"/><Relationship Id="rId7" Type="http://schemas.openxmlformats.org/officeDocument/2006/relationships/image" Target="../media/image80.png"/><Relationship Id="rId8" Type="http://schemas.openxmlformats.org/officeDocument/2006/relationships/image" Target="../media/image96.png"/><Relationship Id="rId9" Type="http://schemas.openxmlformats.org/officeDocument/2006/relationships/image" Target="../media/image111.jpg"/><Relationship Id="rId10" Type="http://schemas.openxmlformats.org/officeDocument/2006/relationships/image" Target="../media/image112.jpg"/><Relationship Id="rId11" Type="http://schemas.openxmlformats.org/officeDocument/2006/relationships/image" Target="../media/image113.png"/><Relationship Id="rId12" Type="http://schemas.openxmlformats.org/officeDocument/2006/relationships/image" Target="../media/image11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5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95.png"/><Relationship Id="rId7" Type="http://schemas.openxmlformats.org/officeDocument/2006/relationships/image" Target="../media/image80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2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95.png"/><Relationship Id="rId7" Type="http://schemas.openxmlformats.org/officeDocument/2006/relationships/image" Target="../media/image80.png"/><Relationship Id="rId8" Type="http://schemas.openxmlformats.org/officeDocument/2006/relationships/image" Target="../media/image123.png"/><Relationship Id="rId9" Type="http://schemas.openxmlformats.org/officeDocument/2006/relationships/image" Target="../media/image124.jpg"/><Relationship Id="rId10" Type="http://schemas.openxmlformats.org/officeDocument/2006/relationships/image" Target="../media/image125.png"/><Relationship Id="rId11" Type="http://schemas.openxmlformats.org/officeDocument/2006/relationships/image" Target="../media/image126.jpg"/><Relationship Id="rId12" Type="http://schemas.openxmlformats.org/officeDocument/2006/relationships/image" Target="../media/image127.png"/><Relationship Id="rId13" Type="http://schemas.openxmlformats.org/officeDocument/2006/relationships/image" Target="../media/image128.png"/><Relationship Id="rId14" Type="http://schemas.openxmlformats.org/officeDocument/2006/relationships/image" Target="../media/image12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95.png"/><Relationship Id="rId7" Type="http://schemas.openxmlformats.org/officeDocument/2006/relationships/image" Target="../media/image8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png"/><Relationship Id="rId11" Type="http://schemas.openxmlformats.org/officeDocument/2006/relationships/image" Target="../media/image134.png"/><Relationship Id="rId12" Type="http://schemas.openxmlformats.org/officeDocument/2006/relationships/image" Target="../media/image135.png"/><Relationship Id="rId13" Type="http://schemas.openxmlformats.org/officeDocument/2006/relationships/image" Target="../media/image136.png"/><Relationship Id="rId14" Type="http://schemas.openxmlformats.org/officeDocument/2006/relationships/image" Target="../media/image137.png"/><Relationship Id="rId15" Type="http://schemas.openxmlformats.org/officeDocument/2006/relationships/image" Target="../media/image138.png"/><Relationship Id="rId16" Type="http://schemas.openxmlformats.org/officeDocument/2006/relationships/image" Target="../media/image139.jpg"/><Relationship Id="rId17" Type="http://schemas.openxmlformats.org/officeDocument/2006/relationships/image" Target="../media/image140.jpg"/><Relationship Id="rId18" Type="http://schemas.openxmlformats.org/officeDocument/2006/relationships/image" Target="../media/image141.png"/><Relationship Id="rId19" Type="http://schemas.openxmlformats.org/officeDocument/2006/relationships/image" Target="../media/image14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95.png"/><Relationship Id="rId7" Type="http://schemas.openxmlformats.org/officeDocument/2006/relationships/image" Target="../media/image80.png"/><Relationship Id="rId8" Type="http://schemas.openxmlformats.org/officeDocument/2006/relationships/image" Target="../media/image144.png"/><Relationship Id="rId9" Type="http://schemas.openxmlformats.org/officeDocument/2006/relationships/image" Target="../media/image145.png"/><Relationship Id="rId10" Type="http://schemas.openxmlformats.org/officeDocument/2006/relationships/image" Target="../media/image146.png"/><Relationship Id="rId11" Type="http://schemas.openxmlformats.org/officeDocument/2006/relationships/image" Target="../media/image147.png"/><Relationship Id="rId12" Type="http://schemas.openxmlformats.org/officeDocument/2006/relationships/image" Target="../media/image148.jpg"/><Relationship Id="rId13" Type="http://schemas.openxmlformats.org/officeDocument/2006/relationships/image" Target="../media/image14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8" Type="http://schemas.openxmlformats.org/officeDocument/2006/relationships/image" Target="../media/image154.jpg"/><Relationship Id="rId9" Type="http://schemas.openxmlformats.org/officeDocument/2006/relationships/image" Target="../media/image155.png"/><Relationship Id="rId10" Type="http://schemas.openxmlformats.org/officeDocument/2006/relationships/image" Target="../media/image156.jpg"/><Relationship Id="rId11" Type="http://schemas.openxmlformats.org/officeDocument/2006/relationships/image" Target="../media/image157.png"/><Relationship Id="rId12" Type="http://schemas.openxmlformats.org/officeDocument/2006/relationships/image" Target="../media/image158.jpg"/><Relationship Id="rId13" Type="http://schemas.openxmlformats.org/officeDocument/2006/relationships/image" Target="../media/image7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9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160.png"/><Relationship Id="rId7" Type="http://schemas.openxmlformats.org/officeDocument/2006/relationships/image" Target="../media/image79.png"/><Relationship Id="rId8" Type="http://schemas.openxmlformats.org/officeDocument/2006/relationships/image" Target="../media/image161.png"/><Relationship Id="rId9" Type="http://schemas.openxmlformats.org/officeDocument/2006/relationships/image" Target="../media/image162.png"/><Relationship Id="rId10" Type="http://schemas.openxmlformats.org/officeDocument/2006/relationships/image" Target="../media/image163.png"/><Relationship Id="rId11" Type="http://schemas.openxmlformats.org/officeDocument/2006/relationships/image" Target="../media/image164.jpg"/><Relationship Id="rId12" Type="http://schemas.openxmlformats.org/officeDocument/2006/relationships/image" Target="../media/image16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160.png"/><Relationship Id="rId8" Type="http://schemas.openxmlformats.org/officeDocument/2006/relationships/image" Target="../media/image167.png"/><Relationship Id="rId9" Type="http://schemas.openxmlformats.org/officeDocument/2006/relationships/image" Target="../media/image168.jpg"/><Relationship Id="rId10" Type="http://schemas.openxmlformats.org/officeDocument/2006/relationships/image" Target="../media/image165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9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94.png"/><Relationship Id="rId6" Type="http://schemas.openxmlformats.org/officeDocument/2006/relationships/image" Target="../media/image36.png"/><Relationship Id="rId7" Type="http://schemas.openxmlformats.org/officeDocument/2006/relationships/image" Target="../media/image170.png"/><Relationship Id="rId8" Type="http://schemas.openxmlformats.org/officeDocument/2006/relationships/image" Target="../media/image160.png"/><Relationship Id="rId9" Type="http://schemas.openxmlformats.org/officeDocument/2006/relationships/image" Target="../media/image171.png"/><Relationship Id="rId10" Type="http://schemas.openxmlformats.org/officeDocument/2006/relationships/image" Target="../media/image172.jpg"/><Relationship Id="rId11" Type="http://schemas.openxmlformats.org/officeDocument/2006/relationships/image" Target="../media/image173.jpg"/><Relationship Id="rId12" Type="http://schemas.openxmlformats.org/officeDocument/2006/relationships/image" Target="../media/image174.png"/><Relationship Id="rId13" Type="http://schemas.openxmlformats.org/officeDocument/2006/relationships/image" Target="../media/image175.png"/><Relationship Id="rId14" Type="http://schemas.openxmlformats.org/officeDocument/2006/relationships/image" Target="../media/image176.png"/><Relationship Id="rId15" Type="http://schemas.openxmlformats.org/officeDocument/2006/relationships/image" Target="../media/image17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8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170.png"/><Relationship Id="rId7" Type="http://schemas.openxmlformats.org/officeDocument/2006/relationships/image" Target="../media/image160.png"/><Relationship Id="rId8" Type="http://schemas.openxmlformats.org/officeDocument/2006/relationships/image" Target="../media/image171.png"/><Relationship Id="rId9" Type="http://schemas.openxmlformats.org/officeDocument/2006/relationships/image" Target="../media/image179.png"/><Relationship Id="rId10" Type="http://schemas.openxmlformats.org/officeDocument/2006/relationships/image" Target="../media/image180.png"/><Relationship Id="rId11" Type="http://schemas.openxmlformats.org/officeDocument/2006/relationships/image" Target="../media/image181.png"/><Relationship Id="rId12" Type="http://schemas.openxmlformats.org/officeDocument/2006/relationships/image" Target="../media/image182.png"/><Relationship Id="rId13" Type="http://schemas.openxmlformats.org/officeDocument/2006/relationships/image" Target="../media/image183.png"/><Relationship Id="rId14" Type="http://schemas.openxmlformats.org/officeDocument/2006/relationships/image" Target="../media/image184.png"/><Relationship Id="rId15" Type="http://schemas.openxmlformats.org/officeDocument/2006/relationships/image" Target="../media/image185.png"/><Relationship Id="rId16" Type="http://schemas.openxmlformats.org/officeDocument/2006/relationships/image" Target="../media/image186.png"/><Relationship Id="rId17" Type="http://schemas.openxmlformats.org/officeDocument/2006/relationships/image" Target="../media/image18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8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170.png"/><Relationship Id="rId7" Type="http://schemas.openxmlformats.org/officeDocument/2006/relationships/image" Target="../media/image160.png"/><Relationship Id="rId8" Type="http://schemas.openxmlformats.org/officeDocument/2006/relationships/image" Target="../media/image189.jpg"/><Relationship Id="rId9" Type="http://schemas.openxmlformats.org/officeDocument/2006/relationships/image" Target="../media/image190.png"/><Relationship Id="rId10" Type="http://schemas.openxmlformats.org/officeDocument/2006/relationships/image" Target="../media/image191.png"/><Relationship Id="rId11" Type="http://schemas.openxmlformats.org/officeDocument/2006/relationships/image" Target="../media/image192.png"/><Relationship Id="rId12" Type="http://schemas.openxmlformats.org/officeDocument/2006/relationships/image" Target="../media/image193.jpg"/><Relationship Id="rId13" Type="http://schemas.openxmlformats.org/officeDocument/2006/relationships/image" Target="../media/image194.jpg"/><Relationship Id="rId14" Type="http://schemas.openxmlformats.org/officeDocument/2006/relationships/image" Target="../media/image195.jpg"/><Relationship Id="rId15" Type="http://schemas.openxmlformats.org/officeDocument/2006/relationships/image" Target="../media/image196.jpg"/><Relationship Id="rId16" Type="http://schemas.openxmlformats.org/officeDocument/2006/relationships/image" Target="../media/image197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8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170.png"/><Relationship Id="rId7" Type="http://schemas.openxmlformats.org/officeDocument/2006/relationships/image" Target="../media/image160.png"/><Relationship Id="rId8" Type="http://schemas.openxmlformats.org/officeDocument/2006/relationships/image" Target="../media/image199.jpg"/><Relationship Id="rId9" Type="http://schemas.openxmlformats.org/officeDocument/2006/relationships/image" Target="../media/image200.jpg"/><Relationship Id="rId10" Type="http://schemas.openxmlformats.org/officeDocument/2006/relationships/image" Target="../media/image201.jpg"/><Relationship Id="rId11" Type="http://schemas.openxmlformats.org/officeDocument/2006/relationships/image" Target="../media/image202.png"/><Relationship Id="rId12" Type="http://schemas.openxmlformats.org/officeDocument/2006/relationships/image" Target="../media/image203.png"/><Relationship Id="rId13" Type="http://schemas.openxmlformats.org/officeDocument/2006/relationships/image" Target="../media/image204.png"/><Relationship Id="rId14" Type="http://schemas.openxmlformats.org/officeDocument/2006/relationships/image" Target="../media/image205.png"/><Relationship Id="rId15" Type="http://schemas.openxmlformats.org/officeDocument/2006/relationships/image" Target="../media/image206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208.jpg"/><Relationship Id="rId6" Type="http://schemas.openxmlformats.org/officeDocument/2006/relationships/image" Target="../media/image209.png"/><Relationship Id="rId7" Type="http://schemas.openxmlformats.org/officeDocument/2006/relationships/image" Target="../media/image210.png"/><Relationship Id="rId8" Type="http://schemas.openxmlformats.org/officeDocument/2006/relationships/image" Target="../media/image211.png"/><Relationship Id="rId9" Type="http://schemas.openxmlformats.org/officeDocument/2006/relationships/image" Target="../media/image212.png"/><Relationship Id="rId10" Type="http://schemas.openxmlformats.org/officeDocument/2006/relationships/image" Target="../media/image213.png"/><Relationship Id="rId11" Type="http://schemas.openxmlformats.org/officeDocument/2006/relationships/image" Target="../media/image214.png"/><Relationship Id="rId12" Type="http://schemas.openxmlformats.org/officeDocument/2006/relationships/image" Target="../media/image215.png"/><Relationship Id="rId13" Type="http://schemas.openxmlformats.org/officeDocument/2006/relationships/image" Target="../media/image76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6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217.png"/><Relationship Id="rId8" Type="http://schemas.openxmlformats.org/officeDocument/2006/relationships/image" Target="../media/image218.png"/><Relationship Id="rId9" Type="http://schemas.openxmlformats.org/officeDocument/2006/relationships/image" Target="../media/image219.jpg"/><Relationship Id="rId10" Type="http://schemas.openxmlformats.org/officeDocument/2006/relationships/image" Target="../media/image220.png"/><Relationship Id="rId11" Type="http://schemas.openxmlformats.org/officeDocument/2006/relationships/image" Target="../media/image221.jpg"/><Relationship Id="rId12" Type="http://schemas.openxmlformats.org/officeDocument/2006/relationships/image" Target="../media/image222.png"/><Relationship Id="rId13" Type="http://schemas.openxmlformats.org/officeDocument/2006/relationships/image" Target="../media/image223.png"/><Relationship Id="rId14" Type="http://schemas.openxmlformats.org/officeDocument/2006/relationships/image" Target="../media/image224.jpg"/><Relationship Id="rId15" Type="http://schemas.openxmlformats.org/officeDocument/2006/relationships/image" Target="../media/image225.jpg"/><Relationship Id="rId16" Type="http://schemas.openxmlformats.org/officeDocument/2006/relationships/image" Target="../media/image226.png"/><Relationship Id="rId17" Type="http://schemas.openxmlformats.org/officeDocument/2006/relationships/image" Target="../media/image227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8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217.png"/><Relationship Id="rId8" Type="http://schemas.openxmlformats.org/officeDocument/2006/relationships/image" Target="../media/image218.png"/><Relationship Id="rId9" Type="http://schemas.openxmlformats.org/officeDocument/2006/relationships/image" Target="../media/image229.jpg"/><Relationship Id="rId10" Type="http://schemas.openxmlformats.org/officeDocument/2006/relationships/image" Target="../media/image230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1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217.png"/><Relationship Id="rId8" Type="http://schemas.openxmlformats.org/officeDocument/2006/relationships/image" Target="../media/image232.png"/><Relationship Id="rId9" Type="http://schemas.openxmlformats.org/officeDocument/2006/relationships/image" Target="../media/image233.png"/><Relationship Id="rId10" Type="http://schemas.openxmlformats.org/officeDocument/2006/relationships/image" Target="../media/image234.png"/><Relationship Id="rId11" Type="http://schemas.openxmlformats.org/officeDocument/2006/relationships/image" Target="../media/image235.png"/><Relationship Id="rId12" Type="http://schemas.openxmlformats.org/officeDocument/2006/relationships/image" Target="../media/image236.jpg"/><Relationship Id="rId13" Type="http://schemas.openxmlformats.org/officeDocument/2006/relationships/image" Target="../media/image237.jpg"/><Relationship Id="rId14" Type="http://schemas.openxmlformats.org/officeDocument/2006/relationships/image" Target="../media/image238.png"/><Relationship Id="rId15" Type="http://schemas.openxmlformats.org/officeDocument/2006/relationships/image" Target="../media/image239.png"/><Relationship Id="rId16" Type="http://schemas.openxmlformats.org/officeDocument/2006/relationships/image" Target="../media/image240.png"/><Relationship Id="rId17" Type="http://schemas.openxmlformats.org/officeDocument/2006/relationships/image" Target="../media/image241.png"/><Relationship Id="rId18" Type="http://schemas.openxmlformats.org/officeDocument/2006/relationships/image" Target="../media/image242.png"/><Relationship Id="rId19" Type="http://schemas.openxmlformats.org/officeDocument/2006/relationships/image" Target="../media/image243.png"/><Relationship Id="rId20" Type="http://schemas.openxmlformats.org/officeDocument/2006/relationships/image" Target="../media/image244.png"/><Relationship Id="rId21" Type="http://schemas.openxmlformats.org/officeDocument/2006/relationships/image" Target="../media/image245.png"/><Relationship Id="rId22" Type="http://schemas.openxmlformats.org/officeDocument/2006/relationships/image" Target="../media/image246.png"/><Relationship Id="rId23" Type="http://schemas.openxmlformats.org/officeDocument/2006/relationships/image" Target="../media/image247.png"/><Relationship Id="rId24" Type="http://schemas.openxmlformats.org/officeDocument/2006/relationships/image" Target="../media/image248.png"/><Relationship Id="rId25" Type="http://schemas.openxmlformats.org/officeDocument/2006/relationships/image" Target="../media/image249.png"/><Relationship Id="rId26" Type="http://schemas.openxmlformats.org/officeDocument/2006/relationships/image" Target="../media/image250.png"/><Relationship Id="rId27" Type="http://schemas.openxmlformats.org/officeDocument/2006/relationships/image" Target="../media/image251.png"/><Relationship Id="rId28" Type="http://schemas.openxmlformats.org/officeDocument/2006/relationships/image" Target="../media/image252.png"/><Relationship Id="rId29" Type="http://schemas.openxmlformats.org/officeDocument/2006/relationships/image" Target="../media/image253.png"/><Relationship Id="rId30" Type="http://schemas.openxmlformats.org/officeDocument/2006/relationships/image" Target="../media/image254.png"/><Relationship Id="rId31" Type="http://schemas.openxmlformats.org/officeDocument/2006/relationships/image" Target="../media/image255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6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217.png"/><Relationship Id="rId8" Type="http://schemas.openxmlformats.org/officeDocument/2006/relationships/image" Target="../media/image257.png"/><Relationship Id="rId9" Type="http://schemas.openxmlformats.org/officeDocument/2006/relationships/image" Target="../media/image258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9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217.png"/><Relationship Id="rId8" Type="http://schemas.openxmlformats.org/officeDocument/2006/relationships/image" Target="../media/image260.png"/><Relationship Id="rId9" Type="http://schemas.openxmlformats.org/officeDocument/2006/relationships/image" Target="../media/image261.png"/><Relationship Id="rId10" Type="http://schemas.openxmlformats.org/officeDocument/2006/relationships/image" Target="../media/image262.jpg"/><Relationship Id="rId11" Type="http://schemas.openxmlformats.org/officeDocument/2006/relationships/image" Target="../media/image263.png"/><Relationship Id="rId12" Type="http://schemas.openxmlformats.org/officeDocument/2006/relationships/image" Target="../media/image264.png"/><Relationship Id="rId13" Type="http://schemas.openxmlformats.org/officeDocument/2006/relationships/image" Target="../media/image265.png"/><Relationship Id="rId14" Type="http://schemas.openxmlformats.org/officeDocument/2006/relationships/image" Target="../media/image266.png"/><Relationship Id="rId15" Type="http://schemas.openxmlformats.org/officeDocument/2006/relationships/image" Target="../media/image267.png"/><Relationship Id="rId16" Type="http://schemas.openxmlformats.org/officeDocument/2006/relationships/image" Target="../media/image268.png"/><Relationship Id="rId17" Type="http://schemas.openxmlformats.org/officeDocument/2006/relationships/image" Target="../media/image269.png"/><Relationship Id="rId18" Type="http://schemas.openxmlformats.org/officeDocument/2006/relationships/image" Target="../media/image27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1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78.png"/><Relationship Id="rId6" Type="http://schemas.openxmlformats.org/officeDocument/2006/relationships/image" Target="../media/image36.png"/><Relationship Id="rId7" Type="http://schemas.openxmlformats.org/officeDocument/2006/relationships/image" Target="../media/image79.png"/><Relationship Id="rId8" Type="http://schemas.openxmlformats.org/officeDocument/2006/relationships/image" Target="../media/image217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72.png"/><Relationship Id="rId12" Type="http://schemas.openxmlformats.org/officeDocument/2006/relationships/image" Target="../media/image273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4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217.png"/><Relationship Id="rId7" Type="http://schemas.openxmlformats.org/officeDocument/2006/relationships/image" Target="../media/image275.png"/><Relationship Id="rId8" Type="http://schemas.openxmlformats.org/officeDocument/2006/relationships/image" Target="../media/image276.png"/><Relationship Id="rId9" Type="http://schemas.openxmlformats.org/officeDocument/2006/relationships/image" Target="../media/image277.png"/><Relationship Id="rId10" Type="http://schemas.openxmlformats.org/officeDocument/2006/relationships/image" Target="../media/image278.png"/><Relationship Id="rId11" Type="http://schemas.openxmlformats.org/officeDocument/2006/relationships/image" Target="../media/image279.png"/><Relationship Id="rId12" Type="http://schemas.openxmlformats.org/officeDocument/2006/relationships/image" Target="../media/image280.png"/><Relationship Id="rId13" Type="http://schemas.openxmlformats.org/officeDocument/2006/relationships/image" Target="../media/image281.png"/><Relationship Id="rId14" Type="http://schemas.openxmlformats.org/officeDocument/2006/relationships/image" Target="../media/image282.jpg"/><Relationship Id="rId15" Type="http://schemas.openxmlformats.org/officeDocument/2006/relationships/image" Target="../media/image283.jpg"/><Relationship Id="rId16" Type="http://schemas.openxmlformats.org/officeDocument/2006/relationships/image" Target="../media/image284.jpg"/><Relationship Id="rId17" Type="http://schemas.openxmlformats.org/officeDocument/2006/relationships/image" Target="../media/image285.jpg"/><Relationship Id="rId18" Type="http://schemas.openxmlformats.org/officeDocument/2006/relationships/image" Target="../media/image286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7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217.png"/><Relationship Id="rId7" Type="http://schemas.openxmlformats.org/officeDocument/2006/relationships/image" Target="../media/image275.png"/><Relationship Id="rId8" Type="http://schemas.openxmlformats.org/officeDocument/2006/relationships/image" Target="../media/image276.png"/><Relationship Id="rId9" Type="http://schemas.openxmlformats.org/officeDocument/2006/relationships/image" Target="../media/image288.png"/><Relationship Id="rId10" Type="http://schemas.openxmlformats.org/officeDocument/2006/relationships/image" Target="../media/image289.png"/><Relationship Id="rId11" Type="http://schemas.openxmlformats.org/officeDocument/2006/relationships/image" Target="../media/image290.png"/><Relationship Id="rId12" Type="http://schemas.openxmlformats.org/officeDocument/2006/relationships/image" Target="../media/image291.png"/><Relationship Id="rId13" Type="http://schemas.openxmlformats.org/officeDocument/2006/relationships/image" Target="../media/image292.png"/><Relationship Id="rId14" Type="http://schemas.openxmlformats.org/officeDocument/2006/relationships/image" Target="../media/image293.png"/><Relationship Id="rId15" Type="http://schemas.openxmlformats.org/officeDocument/2006/relationships/image" Target="../media/image294.png"/><Relationship Id="rId16" Type="http://schemas.openxmlformats.org/officeDocument/2006/relationships/image" Target="../media/image295.jpg"/><Relationship Id="rId17" Type="http://schemas.openxmlformats.org/officeDocument/2006/relationships/image" Target="../media/image296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7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217.png"/><Relationship Id="rId7" Type="http://schemas.openxmlformats.org/officeDocument/2006/relationships/image" Target="../media/image275.png"/><Relationship Id="rId8" Type="http://schemas.openxmlformats.org/officeDocument/2006/relationships/image" Target="../media/image276.png"/><Relationship Id="rId9" Type="http://schemas.openxmlformats.org/officeDocument/2006/relationships/image" Target="../media/image298.png"/><Relationship Id="rId10" Type="http://schemas.openxmlformats.org/officeDocument/2006/relationships/image" Target="../media/image299.png"/><Relationship Id="rId11" Type="http://schemas.openxmlformats.org/officeDocument/2006/relationships/image" Target="../media/image300.png"/><Relationship Id="rId12" Type="http://schemas.openxmlformats.org/officeDocument/2006/relationships/image" Target="../media/image301.jpg"/><Relationship Id="rId13" Type="http://schemas.openxmlformats.org/officeDocument/2006/relationships/image" Target="../media/image302.png"/><Relationship Id="rId14" Type="http://schemas.openxmlformats.org/officeDocument/2006/relationships/image" Target="../media/image303.png"/><Relationship Id="rId15" Type="http://schemas.openxmlformats.org/officeDocument/2006/relationships/image" Target="../media/image304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5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217.png"/><Relationship Id="rId7" Type="http://schemas.openxmlformats.org/officeDocument/2006/relationships/image" Target="../media/image306.png"/><Relationship Id="rId8" Type="http://schemas.openxmlformats.org/officeDocument/2006/relationships/image" Target="../media/image276.png"/><Relationship Id="rId9" Type="http://schemas.openxmlformats.org/officeDocument/2006/relationships/image" Target="../media/image307.jpg"/><Relationship Id="rId10" Type="http://schemas.openxmlformats.org/officeDocument/2006/relationships/image" Target="../media/image308.jpg"/><Relationship Id="rId11" Type="http://schemas.openxmlformats.org/officeDocument/2006/relationships/image" Target="../media/image309.png"/><Relationship Id="rId12" Type="http://schemas.openxmlformats.org/officeDocument/2006/relationships/image" Target="../media/image310.jp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6.png"/><Relationship Id="rId3" Type="http://schemas.openxmlformats.org/officeDocument/2006/relationships/image" Target="../media/image35.png"/><Relationship Id="rId4" Type="http://schemas.openxmlformats.org/officeDocument/2006/relationships/image" Target="../media/image94.png"/><Relationship Id="rId5" Type="http://schemas.openxmlformats.org/officeDocument/2006/relationships/image" Target="../media/image36.png"/><Relationship Id="rId6" Type="http://schemas.openxmlformats.org/officeDocument/2006/relationships/image" Target="../media/image317.png"/><Relationship Id="rId7" Type="http://schemas.openxmlformats.org/officeDocument/2006/relationships/image" Target="../media/image217.png"/><Relationship Id="rId8" Type="http://schemas.openxmlformats.org/officeDocument/2006/relationships/image" Target="../media/image318.png"/><Relationship Id="rId9" Type="http://schemas.openxmlformats.org/officeDocument/2006/relationships/image" Target="../media/image319.png"/><Relationship Id="rId10" Type="http://schemas.openxmlformats.org/officeDocument/2006/relationships/image" Target="../media/image320.png"/><Relationship Id="rId11" Type="http://schemas.openxmlformats.org/officeDocument/2006/relationships/image" Target="../media/image321.png"/><Relationship Id="rId12" Type="http://schemas.openxmlformats.org/officeDocument/2006/relationships/image" Target="../media/image322.png"/><Relationship Id="rId13" Type="http://schemas.openxmlformats.org/officeDocument/2006/relationships/image" Target="../media/image323.png"/><Relationship Id="rId14" Type="http://schemas.openxmlformats.org/officeDocument/2006/relationships/image" Target="../media/image324.png"/><Relationship Id="rId15" Type="http://schemas.openxmlformats.org/officeDocument/2006/relationships/image" Target="../media/image325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6.png"/><Relationship Id="rId3" Type="http://schemas.openxmlformats.org/officeDocument/2006/relationships/image" Target="../media/image35.png"/><Relationship Id="rId4" Type="http://schemas.openxmlformats.org/officeDocument/2006/relationships/image" Target="../media/image78.png"/><Relationship Id="rId5" Type="http://schemas.openxmlformats.org/officeDocument/2006/relationships/image" Target="../media/image36.png"/><Relationship Id="rId6" Type="http://schemas.openxmlformats.org/officeDocument/2006/relationships/image" Target="../media/image79.png"/><Relationship Id="rId7" Type="http://schemas.openxmlformats.org/officeDocument/2006/relationships/image" Target="../media/image217.png"/><Relationship Id="rId8" Type="http://schemas.openxmlformats.org/officeDocument/2006/relationships/image" Target="../media/image327.png"/><Relationship Id="rId9" Type="http://schemas.openxmlformats.org/officeDocument/2006/relationships/image" Target="../media/image328.png"/><Relationship Id="rId10" Type="http://schemas.openxmlformats.org/officeDocument/2006/relationships/image" Target="../media/image329.png"/><Relationship Id="rId11" Type="http://schemas.openxmlformats.org/officeDocument/2006/relationships/image" Target="../media/image330.png"/><Relationship Id="rId12" Type="http://schemas.openxmlformats.org/officeDocument/2006/relationships/image" Target="../media/image331.png"/><Relationship Id="rId13" Type="http://schemas.openxmlformats.org/officeDocument/2006/relationships/image" Target="../media/image332.png"/><Relationship Id="rId14" Type="http://schemas.openxmlformats.org/officeDocument/2006/relationships/image" Target="../media/image333.jpg"/><Relationship Id="rId15" Type="http://schemas.openxmlformats.org/officeDocument/2006/relationships/image" Target="../media/image334.png"/><Relationship Id="rId16" Type="http://schemas.openxmlformats.org/officeDocument/2006/relationships/image" Target="../media/image335.jpg"/><Relationship Id="rId17" Type="http://schemas.openxmlformats.org/officeDocument/2006/relationships/image" Target="../media/image336.png"/><Relationship Id="rId18" Type="http://schemas.openxmlformats.org/officeDocument/2006/relationships/image" Target="../media/image337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3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9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40.jpg"/><Relationship Id="rId6" Type="http://schemas.openxmlformats.org/officeDocument/2006/relationships/image" Target="../media/image341.png"/><Relationship Id="rId7" Type="http://schemas.openxmlformats.org/officeDocument/2006/relationships/image" Target="../media/image342.png"/><Relationship Id="rId8" Type="http://schemas.openxmlformats.org/officeDocument/2006/relationships/image" Target="../media/image343.png"/><Relationship Id="rId9" Type="http://schemas.openxmlformats.org/officeDocument/2006/relationships/image" Target="../media/image344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5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46.png"/><Relationship Id="rId6" Type="http://schemas.openxmlformats.org/officeDocument/2006/relationships/image" Target="../media/image347.png"/><Relationship Id="rId7" Type="http://schemas.openxmlformats.org/officeDocument/2006/relationships/image" Target="../media/image348.jpg"/><Relationship Id="rId8" Type="http://schemas.openxmlformats.org/officeDocument/2006/relationships/image" Target="../media/image349.png"/><Relationship Id="rId9" Type="http://schemas.openxmlformats.org/officeDocument/2006/relationships/image" Target="../media/image350.png"/><Relationship Id="rId10" Type="http://schemas.openxmlformats.org/officeDocument/2006/relationships/image" Target="../media/image351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2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43.png"/><Relationship Id="rId7" Type="http://schemas.openxmlformats.org/officeDocument/2006/relationships/image" Target="../media/image353.png"/><Relationship Id="rId8" Type="http://schemas.openxmlformats.org/officeDocument/2006/relationships/image" Target="../media/image354.jpg"/><Relationship Id="rId9" Type="http://schemas.openxmlformats.org/officeDocument/2006/relationships/image" Target="../media/image355.jpg"/><Relationship Id="rId10" Type="http://schemas.openxmlformats.org/officeDocument/2006/relationships/image" Target="../media/image356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7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58.png"/><Relationship Id="rId6" Type="http://schemas.openxmlformats.org/officeDocument/2006/relationships/image" Target="../media/image346.png"/><Relationship Id="rId7" Type="http://schemas.openxmlformats.org/officeDocument/2006/relationships/image" Target="../media/image359.png"/><Relationship Id="rId8" Type="http://schemas.openxmlformats.org/officeDocument/2006/relationships/image" Target="../media/image360.jpg"/><Relationship Id="rId9" Type="http://schemas.openxmlformats.org/officeDocument/2006/relationships/image" Target="../media/image355.jpg"/><Relationship Id="rId10" Type="http://schemas.openxmlformats.org/officeDocument/2006/relationships/image" Target="../media/image356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62.png"/><Relationship Id="rId6" Type="http://schemas.openxmlformats.org/officeDocument/2006/relationships/image" Target="../media/image363.jp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jpg"/><Relationship Id="rId11" Type="http://schemas.openxmlformats.org/officeDocument/2006/relationships/image" Target="../media/image368.png"/><Relationship Id="rId12" Type="http://schemas.openxmlformats.org/officeDocument/2006/relationships/image" Target="../media/image369.png"/><Relationship Id="rId13" Type="http://schemas.openxmlformats.org/officeDocument/2006/relationships/image" Target="../media/image370.png"/><Relationship Id="rId14" Type="http://schemas.openxmlformats.org/officeDocument/2006/relationships/image" Target="../media/image371.png"/><Relationship Id="rId15" Type="http://schemas.openxmlformats.org/officeDocument/2006/relationships/image" Target="../media/image372.png"/><Relationship Id="rId16" Type="http://schemas.openxmlformats.org/officeDocument/2006/relationships/image" Target="../media/image373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5.png"/><Relationship Id="rId6" Type="http://schemas.openxmlformats.org/officeDocument/2006/relationships/image" Target="../media/image346.png"/><Relationship Id="rId7" Type="http://schemas.openxmlformats.org/officeDocument/2006/relationships/image" Target="../media/image376.png"/><Relationship Id="rId8" Type="http://schemas.openxmlformats.org/officeDocument/2006/relationships/image" Target="../media/image377.png"/><Relationship Id="rId9" Type="http://schemas.openxmlformats.org/officeDocument/2006/relationships/image" Target="../media/image378.jpg"/><Relationship Id="rId10" Type="http://schemas.openxmlformats.org/officeDocument/2006/relationships/image" Target="../media/image379.png"/><Relationship Id="rId11" Type="http://schemas.openxmlformats.org/officeDocument/2006/relationships/image" Target="../media/image380.jpg"/><Relationship Id="rId12" Type="http://schemas.openxmlformats.org/officeDocument/2006/relationships/image" Target="../media/image381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2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83.png"/><Relationship Id="rId6" Type="http://schemas.openxmlformats.org/officeDocument/2006/relationships/image" Target="../media/image346.png"/><Relationship Id="rId7" Type="http://schemas.openxmlformats.org/officeDocument/2006/relationships/image" Target="../media/image384.png"/><Relationship Id="rId8" Type="http://schemas.openxmlformats.org/officeDocument/2006/relationships/image" Target="../media/image385.jpg"/><Relationship Id="rId9" Type="http://schemas.openxmlformats.org/officeDocument/2006/relationships/image" Target="../media/image386.png"/><Relationship Id="rId10" Type="http://schemas.openxmlformats.org/officeDocument/2006/relationships/image" Target="../media/image387.png"/><Relationship Id="rId11" Type="http://schemas.openxmlformats.org/officeDocument/2006/relationships/image" Target="../media/image388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9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Relationship Id="rId10" Type="http://schemas.openxmlformats.org/officeDocument/2006/relationships/image" Target="../media/image395.png"/><Relationship Id="rId11" Type="http://schemas.openxmlformats.org/officeDocument/2006/relationships/image" Target="../media/image396.png"/><Relationship Id="rId12" Type="http://schemas.openxmlformats.org/officeDocument/2006/relationships/image" Target="../media/image397.jpg"/><Relationship Id="rId13" Type="http://schemas.openxmlformats.org/officeDocument/2006/relationships/image" Target="../media/image398.png"/><Relationship Id="rId14" Type="http://schemas.openxmlformats.org/officeDocument/2006/relationships/image" Target="../media/image399.jpg"/><Relationship Id="rId15" Type="http://schemas.openxmlformats.org/officeDocument/2006/relationships/image" Target="../media/image400.png"/><Relationship Id="rId16" Type="http://schemas.openxmlformats.org/officeDocument/2006/relationships/image" Target="../media/image401.png"/><Relationship Id="rId17" Type="http://schemas.openxmlformats.org/officeDocument/2006/relationships/image" Target="../media/image402.png"/><Relationship Id="rId18" Type="http://schemas.openxmlformats.org/officeDocument/2006/relationships/image" Target="../media/image403.png"/><Relationship Id="rId19" Type="http://schemas.openxmlformats.org/officeDocument/2006/relationships/image" Target="../media/image404.png"/><Relationship Id="rId20" Type="http://schemas.openxmlformats.org/officeDocument/2006/relationships/image" Target="../media/image405.jpg"/><Relationship Id="rId21" Type="http://schemas.openxmlformats.org/officeDocument/2006/relationships/image" Target="../media/image406.png"/><Relationship Id="rId22" Type="http://schemas.openxmlformats.org/officeDocument/2006/relationships/image" Target="../media/image407.png"/><Relationship Id="rId23" Type="http://schemas.openxmlformats.org/officeDocument/2006/relationships/image" Target="../media/image408.png"/><Relationship Id="rId24" Type="http://schemas.openxmlformats.org/officeDocument/2006/relationships/image" Target="../media/image409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0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411.jpg"/><Relationship Id="rId6" Type="http://schemas.openxmlformats.org/officeDocument/2006/relationships/image" Target="../media/image412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414.png"/><Relationship Id="rId6" Type="http://schemas.openxmlformats.org/officeDocument/2006/relationships/image" Target="../media/image415.png"/><Relationship Id="rId7" Type="http://schemas.openxmlformats.org/officeDocument/2006/relationships/image" Target="../media/image416.png"/><Relationship Id="rId8" Type="http://schemas.openxmlformats.org/officeDocument/2006/relationships/image" Target="../media/image417.png"/><Relationship Id="rId9" Type="http://schemas.openxmlformats.org/officeDocument/2006/relationships/image" Target="../media/image418.png"/><Relationship Id="rId10" Type="http://schemas.openxmlformats.org/officeDocument/2006/relationships/image" Target="../media/image419.png"/><Relationship Id="rId11" Type="http://schemas.openxmlformats.org/officeDocument/2006/relationships/image" Target="../media/image420.png"/><Relationship Id="rId12" Type="http://schemas.openxmlformats.org/officeDocument/2006/relationships/image" Target="../media/image421.png"/><Relationship Id="rId13" Type="http://schemas.openxmlformats.org/officeDocument/2006/relationships/image" Target="../media/image422.png"/><Relationship Id="rId14" Type="http://schemas.openxmlformats.org/officeDocument/2006/relationships/image" Target="../media/image423.png"/><Relationship Id="rId15" Type="http://schemas.openxmlformats.org/officeDocument/2006/relationships/image" Target="../media/image424.png"/><Relationship Id="rId16" Type="http://schemas.openxmlformats.org/officeDocument/2006/relationships/image" Target="../media/image425.png"/><Relationship Id="rId17" Type="http://schemas.openxmlformats.org/officeDocument/2006/relationships/image" Target="../media/image426.png"/><Relationship Id="rId18" Type="http://schemas.openxmlformats.org/officeDocument/2006/relationships/image" Target="../media/image427.png"/><Relationship Id="rId19" Type="http://schemas.openxmlformats.org/officeDocument/2006/relationships/image" Target="../media/image428.png"/><Relationship Id="rId20" Type="http://schemas.openxmlformats.org/officeDocument/2006/relationships/image" Target="../media/image429.png"/><Relationship Id="rId21" Type="http://schemas.openxmlformats.org/officeDocument/2006/relationships/image" Target="../media/image430.png"/><Relationship Id="rId22" Type="http://schemas.openxmlformats.org/officeDocument/2006/relationships/image" Target="../media/image431.png"/><Relationship Id="rId23" Type="http://schemas.openxmlformats.org/officeDocument/2006/relationships/image" Target="../media/image6.png"/><Relationship Id="rId24" Type="http://schemas.openxmlformats.org/officeDocument/2006/relationships/image" Target="../media/image432.png"/><Relationship Id="rId25" Type="http://schemas.openxmlformats.org/officeDocument/2006/relationships/image" Target="../media/image433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435.png"/><Relationship Id="rId6" Type="http://schemas.openxmlformats.org/officeDocument/2006/relationships/image" Target="../media/image436.jpg"/><Relationship Id="rId7" Type="http://schemas.openxmlformats.org/officeDocument/2006/relationships/image" Target="../media/image437.jpg"/><Relationship Id="rId8" Type="http://schemas.openxmlformats.org/officeDocument/2006/relationships/image" Target="../media/image438.jpg"/><Relationship Id="rId9" Type="http://schemas.openxmlformats.org/officeDocument/2006/relationships/image" Target="../media/image439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0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1452" y="558199"/>
            <a:ext cx="720686" cy="20948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07465" y="2642361"/>
            <a:ext cx="69576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310">
                <a:solidFill>
                  <a:srgbClr val="393938"/>
                </a:solidFill>
              </a:rPr>
              <a:t>InBody</a:t>
            </a:r>
            <a:r>
              <a:rPr dirty="0" sz="4200" spc="-385">
                <a:solidFill>
                  <a:srgbClr val="393938"/>
                </a:solidFill>
              </a:rPr>
              <a:t> </a:t>
            </a:r>
            <a:r>
              <a:rPr dirty="0" sz="4200" spc="-200">
                <a:solidFill>
                  <a:srgbClr val="393938"/>
                </a:solidFill>
              </a:rPr>
              <a:t>Application</a:t>
            </a:r>
            <a:r>
              <a:rPr dirty="0" sz="4200" spc="-390">
                <a:solidFill>
                  <a:srgbClr val="393938"/>
                </a:solidFill>
              </a:rPr>
              <a:t> </a:t>
            </a:r>
            <a:r>
              <a:rPr dirty="0" sz="4200" spc="-225">
                <a:solidFill>
                  <a:srgbClr val="393938"/>
                </a:solidFill>
              </a:rPr>
              <a:t>in</a:t>
            </a:r>
            <a:r>
              <a:rPr dirty="0" sz="4200" spc="-405">
                <a:solidFill>
                  <a:srgbClr val="393938"/>
                </a:solidFill>
              </a:rPr>
              <a:t> </a:t>
            </a:r>
            <a:r>
              <a:rPr dirty="0" sz="4200" spc="-135">
                <a:solidFill>
                  <a:srgbClr val="393938"/>
                </a:solidFill>
              </a:rPr>
              <a:t>Cancer</a:t>
            </a:r>
            <a:endParaRPr sz="420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8408" y="3479291"/>
            <a:ext cx="2935224" cy="4023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4122" y="6110236"/>
            <a:ext cx="1492453" cy="12632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8144256" y="4486652"/>
            <a:ext cx="4048125" cy="2371725"/>
            <a:chOff x="8144256" y="4486652"/>
            <a:chExt cx="4048125" cy="2371725"/>
          </a:xfrm>
        </p:grpSpPr>
        <p:sp>
          <p:nvSpPr>
            <p:cNvPr id="3" name="object 3"/>
            <p:cNvSpPr/>
            <p:nvPr/>
          </p:nvSpPr>
          <p:spPr>
            <a:xfrm>
              <a:off x="11327892" y="6477685"/>
              <a:ext cx="34290" cy="90170"/>
            </a:xfrm>
            <a:custGeom>
              <a:avLst/>
              <a:gdLst/>
              <a:ahLst/>
              <a:cxnLst/>
              <a:rect l="l" t="t" r="r" b="b"/>
              <a:pathLst>
                <a:path w="34290" h="90170">
                  <a:moveTo>
                    <a:pt x="33908" y="0"/>
                  </a:moveTo>
                  <a:lnTo>
                    <a:pt x="22986" y="0"/>
                  </a:lnTo>
                  <a:lnTo>
                    <a:pt x="0" y="10401"/>
                  </a:lnTo>
                  <a:lnTo>
                    <a:pt x="0" y="22974"/>
                  </a:lnTo>
                  <a:lnTo>
                    <a:pt x="20954" y="13601"/>
                  </a:lnTo>
                  <a:lnTo>
                    <a:pt x="20954" y="89598"/>
                  </a:lnTo>
                  <a:lnTo>
                    <a:pt x="33908" y="89598"/>
                  </a:lnTo>
                  <a:lnTo>
                    <a:pt x="33908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3137" y="6489801"/>
              <a:ext cx="147701" cy="8670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44256" y="4486652"/>
              <a:ext cx="4047744" cy="23713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7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76784" y="0"/>
            <a:ext cx="1361440" cy="6858000"/>
            <a:chOff x="176784" y="0"/>
            <a:chExt cx="1361440" cy="6858000"/>
          </a:xfrm>
        </p:grpSpPr>
        <p:sp>
          <p:nvSpPr>
            <p:cNvPr id="8" name="object 8"/>
            <p:cNvSpPr/>
            <p:nvPr/>
          </p:nvSpPr>
          <p:spPr>
            <a:xfrm>
              <a:off x="520141" y="1618488"/>
              <a:ext cx="1018540" cy="2440940"/>
            </a:xfrm>
            <a:custGeom>
              <a:avLst/>
              <a:gdLst/>
              <a:ahLst/>
              <a:cxnLst/>
              <a:rect l="l" t="t" r="r" b="b"/>
              <a:pathLst>
                <a:path w="1018540" h="2440940">
                  <a:moveTo>
                    <a:pt x="1018082" y="0"/>
                  </a:moveTo>
                  <a:lnTo>
                    <a:pt x="595566" y="0"/>
                  </a:lnTo>
                  <a:lnTo>
                    <a:pt x="0" y="271525"/>
                  </a:lnTo>
                  <a:lnTo>
                    <a:pt x="0" y="709802"/>
                  </a:lnTo>
                  <a:lnTo>
                    <a:pt x="524637" y="472186"/>
                  </a:lnTo>
                  <a:lnTo>
                    <a:pt x="524637" y="2440813"/>
                  </a:lnTo>
                  <a:lnTo>
                    <a:pt x="1018082" y="2440813"/>
                  </a:lnTo>
                  <a:lnTo>
                    <a:pt x="1018082" y="0"/>
                  </a:lnTo>
                  <a:close/>
                </a:path>
              </a:pathLst>
            </a:custGeom>
            <a:solidFill>
              <a:srgbClr val="ECED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76784" y="0"/>
              <a:ext cx="403860" cy="6858000"/>
            </a:xfrm>
            <a:custGeom>
              <a:avLst/>
              <a:gdLst/>
              <a:ahLst/>
              <a:cxnLst/>
              <a:rect l="l" t="t" r="r" b="b"/>
              <a:pathLst>
                <a:path w="403859" h="6858000">
                  <a:moveTo>
                    <a:pt x="40385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3859" y="6858000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F7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80643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w="0" h="6858000">
                  <a:moveTo>
                    <a:pt x="0" y="0"/>
                  </a:moveTo>
                  <a:lnTo>
                    <a:pt x="0" y="6857998"/>
                  </a:lnTo>
                </a:path>
              </a:pathLst>
            </a:custGeom>
            <a:ln w="6096">
              <a:solidFill>
                <a:srgbClr val="DDDF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581405" y="578358"/>
            <a:ext cx="0" cy="486409"/>
          </a:xfrm>
          <a:custGeom>
            <a:avLst/>
            <a:gdLst/>
            <a:ahLst/>
            <a:cxnLst/>
            <a:rect l="l" t="t" r="r" b="b"/>
            <a:pathLst>
              <a:path w="0" h="486409">
                <a:moveTo>
                  <a:pt x="0" y="0"/>
                </a:moveTo>
                <a:lnTo>
                  <a:pt x="0" y="486028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5266" y="631190"/>
            <a:ext cx="1192530" cy="168910"/>
          </a:xfrm>
          <a:custGeom>
            <a:avLst/>
            <a:gdLst/>
            <a:ahLst/>
            <a:cxnLst/>
            <a:rect l="l" t="t" r="r" b="b"/>
            <a:pathLst>
              <a:path w="1192530" h="168909">
                <a:moveTo>
                  <a:pt x="238391" y="0"/>
                </a:moveTo>
                <a:lnTo>
                  <a:pt x="228796" y="402"/>
                </a:lnTo>
                <a:lnTo>
                  <a:pt x="229088" y="402"/>
                </a:lnTo>
                <a:lnTo>
                  <a:pt x="220101" y="1603"/>
                </a:lnTo>
                <a:lnTo>
                  <a:pt x="220256" y="1603"/>
                </a:lnTo>
                <a:lnTo>
                  <a:pt x="211949" y="3589"/>
                </a:lnTo>
                <a:lnTo>
                  <a:pt x="204152" y="6350"/>
                </a:lnTo>
                <a:lnTo>
                  <a:pt x="172431" y="29904"/>
                </a:lnTo>
                <a:lnTo>
                  <a:pt x="156009" y="66913"/>
                </a:lnTo>
                <a:lnTo>
                  <a:pt x="154495" y="84455"/>
                </a:lnTo>
                <a:lnTo>
                  <a:pt x="154889" y="93472"/>
                </a:lnTo>
                <a:lnTo>
                  <a:pt x="155963" y="101600"/>
                </a:lnTo>
                <a:lnTo>
                  <a:pt x="156009" y="101949"/>
                </a:lnTo>
                <a:lnTo>
                  <a:pt x="172431" y="139005"/>
                </a:lnTo>
                <a:lnTo>
                  <a:pt x="204152" y="162560"/>
                </a:lnTo>
                <a:lnTo>
                  <a:pt x="238391" y="168910"/>
                </a:lnTo>
                <a:lnTo>
                  <a:pt x="247557" y="168507"/>
                </a:lnTo>
                <a:lnTo>
                  <a:pt x="286883" y="154971"/>
                </a:lnTo>
                <a:lnTo>
                  <a:pt x="300976" y="142621"/>
                </a:lnTo>
                <a:lnTo>
                  <a:pt x="230314" y="142621"/>
                </a:lnTo>
                <a:lnTo>
                  <a:pt x="223037" y="141224"/>
                </a:lnTo>
                <a:lnTo>
                  <a:pt x="192023" y="116077"/>
                </a:lnTo>
                <a:lnTo>
                  <a:pt x="187264" y="101949"/>
                </a:lnTo>
                <a:lnTo>
                  <a:pt x="187147" y="101600"/>
                </a:lnTo>
                <a:lnTo>
                  <a:pt x="185927" y="93472"/>
                </a:lnTo>
                <a:lnTo>
                  <a:pt x="185927" y="75311"/>
                </a:lnTo>
                <a:lnTo>
                  <a:pt x="187147" y="67183"/>
                </a:lnTo>
                <a:lnTo>
                  <a:pt x="189585" y="60071"/>
                </a:lnTo>
                <a:lnTo>
                  <a:pt x="192023" y="52832"/>
                </a:lnTo>
                <a:lnTo>
                  <a:pt x="223037" y="27432"/>
                </a:lnTo>
                <a:lnTo>
                  <a:pt x="230314" y="26162"/>
                </a:lnTo>
                <a:lnTo>
                  <a:pt x="300865" y="26162"/>
                </a:lnTo>
                <a:lnTo>
                  <a:pt x="298970" y="24002"/>
                </a:lnTo>
                <a:lnTo>
                  <a:pt x="264644" y="3589"/>
                </a:lnTo>
                <a:lnTo>
                  <a:pt x="247557" y="402"/>
                </a:lnTo>
                <a:lnTo>
                  <a:pt x="238391" y="0"/>
                </a:lnTo>
                <a:close/>
              </a:path>
              <a:path w="1192530" h="168909">
                <a:moveTo>
                  <a:pt x="300865" y="26162"/>
                </a:moveTo>
                <a:lnTo>
                  <a:pt x="246468" y="26162"/>
                </a:lnTo>
                <a:lnTo>
                  <a:pt x="253720" y="27432"/>
                </a:lnTo>
                <a:lnTo>
                  <a:pt x="266598" y="32765"/>
                </a:lnTo>
                <a:lnTo>
                  <a:pt x="286905" y="60071"/>
                </a:lnTo>
                <a:lnTo>
                  <a:pt x="289214" y="66913"/>
                </a:lnTo>
                <a:lnTo>
                  <a:pt x="289305" y="67183"/>
                </a:lnTo>
                <a:lnTo>
                  <a:pt x="290512" y="75311"/>
                </a:lnTo>
                <a:lnTo>
                  <a:pt x="290512" y="93472"/>
                </a:lnTo>
                <a:lnTo>
                  <a:pt x="272072" y="132080"/>
                </a:lnTo>
                <a:lnTo>
                  <a:pt x="246468" y="142621"/>
                </a:lnTo>
                <a:lnTo>
                  <a:pt x="300976" y="142621"/>
                </a:lnTo>
                <a:lnTo>
                  <a:pt x="320544" y="101949"/>
                </a:lnTo>
                <a:lnTo>
                  <a:pt x="322059" y="84455"/>
                </a:lnTo>
                <a:lnTo>
                  <a:pt x="321680" y="75499"/>
                </a:lnTo>
                <a:lnTo>
                  <a:pt x="320580" y="67183"/>
                </a:lnTo>
                <a:lnTo>
                  <a:pt x="320544" y="66913"/>
                </a:lnTo>
                <a:lnTo>
                  <a:pt x="304149" y="29904"/>
                </a:lnTo>
                <a:lnTo>
                  <a:pt x="300865" y="26162"/>
                </a:lnTo>
                <a:close/>
              </a:path>
              <a:path w="1192530" h="168909">
                <a:moveTo>
                  <a:pt x="1024229" y="27050"/>
                </a:moveTo>
                <a:lnTo>
                  <a:pt x="993495" y="27050"/>
                </a:lnTo>
                <a:lnTo>
                  <a:pt x="993495" y="167132"/>
                </a:lnTo>
                <a:lnTo>
                  <a:pt x="1024229" y="167132"/>
                </a:lnTo>
                <a:lnTo>
                  <a:pt x="1024229" y="27050"/>
                </a:lnTo>
                <a:close/>
              </a:path>
              <a:path w="1192530" h="168909">
                <a:moveTo>
                  <a:pt x="1074013" y="1777"/>
                </a:moveTo>
                <a:lnTo>
                  <a:pt x="943584" y="1777"/>
                </a:lnTo>
                <a:lnTo>
                  <a:pt x="943584" y="27050"/>
                </a:lnTo>
                <a:lnTo>
                  <a:pt x="1074013" y="27050"/>
                </a:lnTo>
                <a:lnTo>
                  <a:pt x="1074013" y="1777"/>
                </a:lnTo>
                <a:close/>
              </a:path>
              <a:path w="1192530" h="168909">
                <a:moveTo>
                  <a:pt x="801979" y="1777"/>
                </a:moveTo>
                <a:lnTo>
                  <a:pt x="785342" y="1777"/>
                </a:lnTo>
                <a:lnTo>
                  <a:pt x="785342" y="167132"/>
                </a:lnTo>
                <a:lnTo>
                  <a:pt x="812393" y="167132"/>
                </a:lnTo>
                <a:lnTo>
                  <a:pt x="812266" y="59055"/>
                </a:lnTo>
                <a:lnTo>
                  <a:pt x="812139" y="56642"/>
                </a:lnTo>
                <a:lnTo>
                  <a:pt x="811885" y="54229"/>
                </a:lnTo>
                <a:lnTo>
                  <a:pt x="811758" y="51688"/>
                </a:lnTo>
                <a:lnTo>
                  <a:pt x="847058" y="51688"/>
                </a:lnTo>
                <a:lnTo>
                  <a:pt x="810869" y="5587"/>
                </a:lnTo>
                <a:lnTo>
                  <a:pt x="809472" y="4190"/>
                </a:lnTo>
                <a:lnTo>
                  <a:pt x="808075" y="3048"/>
                </a:lnTo>
                <a:lnTo>
                  <a:pt x="806551" y="2286"/>
                </a:lnTo>
                <a:lnTo>
                  <a:pt x="805789" y="2032"/>
                </a:lnTo>
                <a:lnTo>
                  <a:pt x="801979" y="1777"/>
                </a:lnTo>
                <a:close/>
              </a:path>
              <a:path w="1192530" h="168909">
                <a:moveTo>
                  <a:pt x="847058" y="51688"/>
                </a:moveTo>
                <a:lnTo>
                  <a:pt x="811758" y="51688"/>
                </a:lnTo>
                <a:lnTo>
                  <a:pt x="898118" y="161798"/>
                </a:lnTo>
                <a:lnTo>
                  <a:pt x="899642" y="163830"/>
                </a:lnTo>
                <a:lnTo>
                  <a:pt x="901166" y="165226"/>
                </a:lnTo>
                <a:lnTo>
                  <a:pt x="904468" y="166750"/>
                </a:lnTo>
                <a:lnTo>
                  <a:pt x="906373" y="167132"/>
                </a:lnTo>
                <a:lnTo>
                  <a:pt x="924788" y="167132"/>
                </a:lnTo>
                <a:lnTo>
                  <a:pt x="924788" y="117221"/>
                </a:lnTo>
                <a:lnTo>
                  <a:pt x="898499" y="117221"/>
                </a:lnTo>
                <a:lnTo>
                  <a:pt x="847058" y="51688"/>
                </a:lnTo>
                <a:close/>
              </a:path>
              <a:path w="1192530" h="168909">
                <a:moveTo>
                  <a:pt x="924788" y="2032"/>
                </a:moveTo>
                <a:lnTo>
                  <a:pt x="897610" y="2032"/>
                </a:lnTo>
                <a:lnTo>
                  <a:pt x="897610" y="104521"/>
                </a:lnTo>
                <a:lnTo>
                  <a:pt x="898118" y="114554"/>
                </a:lnTo>
                <a:lnTo>
                  <a:pt x="898499" y="117221"/>
                </a:lnTo>
                <a:lnTo>
                  <a:pt x="924788" y="117221"/>
                </a:lnTo>
                <a:lnTo>
                  <a:pt x="924788" y="2032"/>
                </a:lnTo>
                <a:close/>
              </a:path>
              <a:path w="1192530" h="168909">
                <a:moveTo>
                  <a:pt x="897610" y="1777"/>
                </a:moveTo>
                <a:lnTo>
                  <a:pt x="802741" y="1777"/>
                </a:lnTo>
                <a:lnTo>
                  <a:pt x="805027" y="2032"/>
                </a:lnTo>
                <a:lnTo>
                  <a:pt x="897610" y="2032"/>
                </a:lnTo>
                <a:lnTo>
                  <a:pt x="897610" y="1777"/>
                </a:lnTo>
                <a:close/>
              </a:path>
              <a:path w="1192530" h="168909">
                <a:moveTo>
                  <a:pt x="758545" y="1777"/>
                </a:moveTo>
                <a:lnTo>
                  <a:pt x="654278" y="1777"/>
                </a:lnTo>
                <a:lnTo>
                  <a:pt x="654278" y="167132"/>
                </a:lnTo>
                <a:lnTo>
                  <a:pt x="758545" y="167132"/>
                </a:lnTo>
                <a:lnTo>
                  <a:pt x="758545" y="142494"/>
                </a:lnTo>
                <a:lnTo>
                  <a:pt x="685266" y="142494"/>
                </a:lnTo>
                <a:lnTo>
                  <a:pt x="685266" y="95758"/>
                </a:lnTo>
                <a:lnTo>
                  <a:pt x="742924" y="95758"/>
                </a:lnTo>
                <a:lnTo>
                  <a:pt x="742924" y="72136"/>
                </a:lnTo>
                <a:lnTo>
                  <a:pt x="685266" y="72136"/>
                </a:lnTo>
                <a:lnTo>
                  <a:pt x="685266" y="26288"/>
                </a:lnTo>
                <a:lnTo>
                  <a:pt x="758545" y="26288"/>
                </a:lnTo>
                <a:lnTo>
                  <a:pt x="758545" y="1777"/>
                </a:lnTo>
                <a:close/>
              </a:path>
              <a:path w="1192530" h="168909">
                <a:moveTo>
                  <a:pt x="585317" y="27050"/>
                </a:moveTo>
                <a:lnTo>
                  <a:pt x="554583" y="27050"/>
                </a:lnTo>
                <a:lnTo>
                  <a:pt x="554583" y="167132"/>
                </a:lnTo>
                <a:lnTo>
                  <a:pt x="585317" y="167132"/>
                </a:lnTo>
                <a:lnTo>
                  <a:pt x="585317" y="27050"/>
                </a:lnTo>
                <a:close/>
              </a:path>
              <a:path w="1192530" h="168909">
                <a:moveTo>
                  <a:pt x="635101" y="1777"/>
                </a:moveTo>
                <a:lnTo>
                  <a:pt x="504672" y="1777"/>
                </a:lnTo>
                <a:lnTo>
                  <a:pt x="504672" y="27050"/>
                </a:lnTo>
                <a:lnTo>
                  <a:pt x="635101" y="27050"/>
                </a:lnTo>
                <a:lnTo>
                  <a:pt x="635101" y="1777"/>
                </a:lnTo>
                <a:close/>
              </a:path>
              <a:path w="1192530" h="168909">
                <a:moveTo>
                  <a:pt x="363207" y="1777"/>
                </a:moveTo>
                <a:lnTo>
                  <a:pt x="346405" y="1777"/>
                </a:lnTo>
                <a:lnTo>
                  <a:pt x="346405" y="167132"/>
                </a:lnTo>
                <a:lnTo>
                  <a:pt x="373494" y="167132"/>
                </a:lnTo>
                <a:lnTo>
                  <a:pt x="373430" y="61468"/>
                </a:lnTo>
                <a:lnTo>
                  <a:pt x="373316" y="59055"/>
                </a:lnTo>
                <a:lnTo>
                  <a:pt x="373202" y="56642"/>
                </a:lnTo>
                <a:lnTo>
                  <a:pt x="373037" y="54229"/>
                </a:lnTo>
                <a:lnTo>
                  <a:pt x="372808" y="51688"/>
                </a:lnTo>
                <a:lnTo>
                  <a:pt x="408108" y="51688"/>
                </a:lnTo>
                <a:lnTo>
                  <a:pt x="372808" y="6731"/>
                </a:lnTo>
                <a:lnTo>
                  <a:pt x="371970" y="5587"/>
                </a:lnTo>
                <a:lnTo>
                  <a:pt x="371208" y="4825"/>
                </a:lnTo>
                <a:lnTo>
                  <a:pt x="369836" y="3556"/>
                </a:lnTo>
                <a:lnTo>
                  <a:pt x="369125" y="3048"/>
                </a:lnTo>
                <a:lnTo>
                  <a:pt x="367677" y="2286"/>
                </a:lnTo>
                <a:lnTo>
                  <a:pt x="366864" y="2032"/>
                </a:lnTo>
                <a:lnTo>
                  <a:pt x="363207" y="1777"/>
                </a:lnTo>
                <a:close/>
              </a:path>
              <a:path w="1192530" h="168909">
                <a:moveTo>
                  <a:pt x="408108" y="51688"/>
                </a:moveTo>
                <a:lnTo>
                  <a:pt x="372808" y="51688"/>
                </a:lnTo>
                <a:lnTo>
                  <a:pt x="459219" y="161798"/>
                </a:lnTo>
                <a:lnTo>
                  <a:pt x="460743" y="163830"/>
                </a:lnTo>
                <a:lnTo>
                  <a:pt x="462305" y="165226"/>
                </a:lnTo>
                <a:lnTo>
                  <a:pt x="465505" y="166750"/>
                </a:lnTo>
                <a:lnTo>
                  <a:pt x="467525" y="167132"/>
                </a:lnTo>
                <a:lnTo>
                  <a:pt x="485876" y="167132"/>
                </a:lnTo>
                <a:lnTo>
                  <a:pt x="485876" y="117221"/>
                </a:lnTo>
                <a:lnTo>
                  <a:pt x="459562" y="117221"/>
                </a:lnTo>
                <a:lnTo>
                  <a:pt x="408108" y="51688"/>
                </a:lnTo>
                <a:close/>
              </a:path>
              <a:path w="1192530" h="168909">
                <a:moveTo>
                  <a:pt x="485876" y="2032"/>
                </a:moveTo>
                <a:lnTo>
                  <a:pt x="458762" y="2032"/>
                </a:lnTo>
                <a:lnTo>
                  <a:pt x="458812" y="106807"/>
                </a:lnTo>
                <a:lnTo>
                  <a:pt x="458927" y="109474"/>
                </a:lnTo>
                <a:lnTo>
                  <a:pt x="459041" y="112013"/>
                </a:lnTo>
                <a:lnTo>
                  <a:pt x="459257" y="114554"/>
                </a:lnTo>
                <a:lnTo>
                  <a:pt x="459562" y="117221"/>
                </a:lnTo>
                <a:lnTo>
                  <a:pt x="485876" y="117221"/>
                </a:lnTo>
                <a:lnTo>
                  <a:pt x="485876" y="2032"/>
                </a:lnTo>
                <a:close/>
              </a:path>
              <a:path w="1192530" h="168909">
                <a:moveTo>
                  <a:pt x="458762" y="1777"/>
                </a:moveTo>
                <a:lnTo>
                  <a:pt x="363893" y="1777"/>
                </a:lnTo>
                <a:lnTo>
                  <a:pt x="366179" y="2032"/>
                </a:lnTo>
                <a:lnTo>
                  <a:pt x="458762" y="2032"/>
                </a:lnTo>
                <a:lnTo>
                  <a:pt x="458762" y="1777"/>
                </a:lnTo>
                <a:close/>
              </a:path>
              <a:path w="1192530" h="168909">
                <a:moveTo>
                  <a:pt x="1098397" y="128650"/>
                </a:moveTo>
                <a:lnTo>
                  <a:pt x="1094968" y="128650"/>
                </a:lnTo>
                <a:lnTo>
                  <a:pt x="1093698" y="129032"/>
                </a:lnTo>
                <a:lnTo>
                  <a:pt x="1092555" y="129794"/>
                </a:lnTo>
                <a:lnTo>
                  <a:pt x="1091412" y="130429"/>
                </a:lnTo>
                <a:lnTo>
                  <a:pt x="1090396" y="131318"/>
                </a:lnTo>
                <a:lnTo>
                  <a:pt x="1089430" y="132587"/>
                </a:lnTo>
                <a:lnTo>
                  <a:pt x="1080617" y="147193"/>
                </a:lnTo>
                <a:lnTo>
                  <a:pt x="1083792" y="150495"/>
                </a:lnTo>
                <a:lnTo>
                  <a:pt x="1124432" y="168401"/>
                </a:lnTo>
                <a:lnTo>
                  <a:pt x="1129639" y="168910"/>
                </a:lnTo>
                <a:lnTo>
                  <a:pt x="1143990" y="168910"/>
                </a:lnTo>
                <a:lnTo>
                  <a:pt x="1182090" y="148462"/>
                </a:lnTo>
                <a:lnTo>
                  <a:pt x="1185223" y="143763"/>
                </a:lnTo>
                <a:lnTo>
                  <a:pt x="1130020" y="143763"/>
                </a:lnTo>
                <a:lnTo>
                  <a:pt x="1125194" y="143001"/>
                </a:lnTo>
                <a:lnTo>
                  <a:pt x="1104874" y="132587"/>
                </a:lnTo>
                <a:lnTo>
                  <a:pt x="1102588" y="131063"/>
                </a:lnTo>
                <a:lnTo>
                  <a:pt x="1100429" y="129412"/>
                </a:lnTo>
                <a:lnTo>
                  <a:pt x="1098397" y="128650"/>
                </a:lnTo>
                <a:close/>
              </a:path>
              <a:path w="1192530" h="168909">
                <a:moveTo>
                  <a:pt x="1141323" y="0"/>
                </a:moveTo>
                <a:lnTo>
                  <a:pt x="1132687" y="0"/>
                </a:lnTo>
                <a:lnTo>
                  <a:pt x="1125067" y="1270"/>
                </a:lnTo>
                <a:lnTo>
                  <a:pt x="1093190" y="24130"/>
                </a:lnTo>
                <a:lnTo>
                  <a:pt x="1087221" y="41401"/>
                </a:lnTo>
                <a:lnTo>
                  <a:pt x="1087221" y="54990"/>
                </a:lnTo>
                <a:lnTo>
                  <a:pt x="1088364" y="61340"/>
                </a:lnTo>
                <a:lnTo>
                  <a:pt x="1090523" y="66421"/>
                </a:lnTo>
                <a:lnTo>
                  <a:pt x="1092682" y="71627"/>
                </a:lnTo>
                <a:lnTo>
                  <a:pt x="1095476" y="75819"/>
                </a:lnTo>
                <a:lnTo>
                  <a:pt x="1099159" y="79248"/>
                </a:lnTo>
                <a:lnTo>
                  <a:pt x="1102715" y="82676"/>
                </a:lnTo>
                <a:lnTo>
                  <a:pt x="1139164" y="97409"/>
                </a:lnTo>
                <a:lnTo>
                  <a:pt x="1143736" y="98679"/>
                </a:lnTo>
                <a:lnTo>
                  <a:pt x="1147927" y="100202"/>
                </a:lnTo>
                <a:lnTo>
                  <a:pt x="1163294" y="115315"/>
                </a:lnTo>
                <a:lnTo>
                  <a:pt x="1163294" y="127381"/>
                </a:lnTo>
                <a:lnTo>
                  <a:pt x="1160881" y="133350"/>
                </a:lnTo>
                <a:lnTo>
                  <a:pt x="1156182" y="137540"/>
                </a:lnTo>
                <a:lnTo>
                  <a:pt x="1151356" y="141732"/>
                </a:lnTo>
                <a:lnTo>
                  <a:pt x="1144498" y="143763"/>
                </a:lnTo>
                <a:lnTo>
                  <a:pt x="1185223" y="143763"/>
                </a:lnTo>
                <a:lnTo>
                  <a:pt x="1185900" y="142748"/>
                </a:lnTo>
                <a:lnTo>
                  <a:pt x="1190980" y="129794"/>
                </a:lnTo>
                <a:lnTo>
                  <a:pt x="1192250" y="122809"/>
                </a:lnTo>
                <a:lnTo>
                  <a:pt x="1192250" y="108458"/>
                </a:lnTo>
                <a:lnTo>
                  <a:pt x="1191234" y="102615"/>
                </a:lnTo>
                <a:lnTo>
                  <a:pt x="1188948" y="97789"/>
                </a:lnTo>
                <a:lnTo>
                  <a:pt x="1186846" y="93090"/>
                </a:lnTo>
                <a:lnTo>
                  <a:pt x="1185829" y="91567"/>
                </a:lnTo>
                <a:lnTo>
                  <a:pt x="1183995" y="88900"/>
                </a:lnTo>
                <a:lnTo>
                  <a:pt x="1180312" y="85598"/>
                </a:lnTo>
                <a:lnTo>
                  <a:pt x="1176756" y="82296"/>
                </a:lnTo>
                <a:lnTo>
                  <a:pt x="1172692" y="79629"/>
                </a:lnTo>
                <a:lnTo>
                  <a:pt x="1168120" y="77470"/>
                </a:lnTo>
                <a:lnTo>
                  <a:pt x="1163548" y="75184"/>
                </a:lnTo>
                <a:lnTo>
                  <a:pt x="1158849" y="73279"/>
                </a:lnTo>
                <a:lnTo>
                  <a:pt x="1154150" y="71755"/>
                </a:lnTo>
                <a:lnTo>
                  <a:pt x="1149324" y="70104"/>
                </a:lnTo>
                <a:lnTo>
                  <a:pt x="1144752" y="68452"/>
                </a:lnTo>
                <a:lnTo>
                  <a:pt x="1135608" y="65659"/>
                </a:lnTo>
                <a:lnTo>
                  <a:pt x="1131544" y="64008"/>
                </a:lnTo>
                <a:lnTo>
                  <a:pt x="1127861" y="62102"/>
                </a:lnTo>
                <a:lnTo>
                  <a:pt x="1124305" y="60325"/>
                </a:lnTo>
                <a:lnTo>
                  <a:pt x="1121511" y="58165"/>
                </a:lnTo>
                <a:lnTo>
                  <a:pt x="1117066" y="52959"/>
                </a:lnTo>
                <a:lnTo>
                  <a:pt x="1116050" y="49657"/>
                </a:lnTo>
                <a:lnTo>
                  <a:pt x="1116050" y="42799"/>
                </a:lnTo>
                <a:lnTo>
                  <a:pt x="1122527" y="30861"/>
                </a:lnTo>
                <a:lnTo>
                  <a:pt x="1124686" y="28956"/>
                </a:lnTo>
                <a:lnTo>
                  <a:pt x="1127353" y="27559"/>
                </a:lnTo>
                <a:lnTo>
                  <a:pt x="1133703" y="25526"/>
                </a:lnTo>
                <a:lnTo>
                  <a:pt x="1137386" y="25019"/>
                </a:lnTo>
                <a:lnTo>
                  <a:pt x="1185319" y="25019"/>
                </a:lnTo>
                <a:lnTo>
                  <a:pt x="1189329" y="17399"/>
                </a:lnTo>
                <a:lnTo>
                  <a:pt x="1148441" y="285"/>
                </a:lnTo>
                <a:lnTo>
                  <a:pt x="1141323" y="0"/>
                </a:lnTo>
                <a:close/>
              </a:path>
              <a:path w="1192530" h="168909">
                <a:moveTo>
                  <a:pt x="1185319" y="25019"/>
                </a:moveTo>
                <a:lnTo>
                  <a:pt x="1146403" y="25019"/>
                </a:lnTo>
                <a:lnTo>
                  <a:pt x="1150467" y="25654"/>
                </a:lnTo>
                <a:lnTo>
                  <a:pt x="1157325" y="27939"/>
                </a:lnTo>
                <a:lnTo>
                  <a:pt x="1160373" y="29210"/>
                </a:lnTo>
                <a:lnTo>
                  <a:pt x="1163271" y="30861"/>
                </a:lnTo>
                <a:lnTo>
                  <a:pt x="1165580" y="32131"/>
                </a:lnTo>
                <a:lnTo>
                  <a:pt x="1167866" y="33527"/>
                </a:lnTo>
                <a:lnTo>
                  <a:pt x="1171676" y="35813"/>
                </a:lnTo>
                <a:lnTo>
                  <a:pt x="1173327" y="36449"/>
                </a:lnTo>
                <a:lnTo>
                  <a:pt x="1176375" y="36449"/>
                </a:lnTo>
                <a:lnTo>
                  <a:pt x="1181709" y="31876"/>
                </a:lnTo>
                <a:lnTo>
                  <a:pt x="1185319" y="25019"/>
                </a:lnTo>
                <a:close/>
              </a:path>
              <a:path w="1192530" h="168909">
                <a:moveTo>
                  <a:pt x="84810" y="0"/>
                </a:moveTo>
                <a:lnTo>
                  <a:pt x="42817" y="9655"/>
                </a:lnTo>
                <a:lnTo>
                  <a:pt x="13601" y="35909"/>
                </a:lnTo>
                <a:lnTo>
                  <a:pt x="381" y="75437"/>
                </a:lnTo>
                <a:lnTo>
                  <a:pt x="0" y="84455"/>
                </a:lnTo>
                <a:lnTo>
                  <a:pt x="345" y="93450"/>
                </a:lnTo>
                <a:lnTo>
                  <a:pt x="12222" y="132714"/>
                </a:lnTo>
                <a:lnTo>
                  <a:pt x="12298" y="132857"/>
                </a:lnTo>
                <a:lnTo>
                  <a:pt x="46570" y="162560"/>
                </a:lnTo>
                <a:lnTo>
                  <a:pt x="79667" y="168910"/>
                </a:lnTo>
                <a:lnTo>
                  <a:pt x="89488" y="168507"/>
                </a:lnTo>
                <a:lnTo>
                  <a:pt x="98528" y="167306"/>
                </a:lnTo>
                <a:lnTo>
                  <a:pt x="106772" y="165320"/>
                </a:lnTo>
                <a:lnTo>
                  <a:pt x="106927" y="165320"/>
                </a:lnTo>
                <a:lnTo>
                  <a:pt x="139674" y="143129"/>
                </a:lnTo>
                <a:lnTo>
                  <a:pt x="139439" y="142875"/>
                </a:lnTo>
                <a:lnTo>
                  <a:pt x="74599" y="142875"/>
                </a:lnTo>
                <a:lnTo>
                  <a:pt x="68046" y="141477"/>
                </a:lnTo>
                <a:lnTo>
                  <a:pt x="37998" y="116459"/>
                </a:lnTo>
                <a:lnTo>
                  <a:pt x="32792" y="102123"/>
                </a:lnTo>
                <a:lnTo>
                  <a:pt x="32740" y="101981"/>
                </a:lnTo>
                <a:lnTo>
                  <a:pt x="31432" y="93725"/>
                </a:lnTo>
                <a:lnTo>
                  <a:pt x="31432" y="75437"/>
                </a:lnTo>
                <a:lnTo>
                  <a:pt x="32740" y="67310"/>
                </a:lnTo>
                <a:lnTo>
                  <a:pt x="35369" y="60198"/>
                </a:lnTo>
                <a:lnTo>
                  <a:pt x="37998" y="52959"/>
                </a:lnTo>
                <a:lnTo>
                  <a:pt x="69659" y="27559"/>
                </a:lnTo>
                <a:lnTo>
                  <a:pt x="76809" y="26162"/>
                </a:lnTo>
                <a:lnTo>
                  <a:pt x="137190" y="26162"/>
                </a:lnTo>
                <a:lnTo>
                  <a:pt x="140589" y="21462"/>
                </a:lnTo>
                <a:lnTo>
                  <a:pt x="102457" y="1539"/>
                </a:lnTo>
                <a:lnTo>
                  <a:pt x="102783" y="1539"/>
                </a:lnTo>
                <a:lnTo>
                  <a:pt x="93904" y="382"/>
                </a:lnTo>
                <a:lnTo>
                  <a:pt x="94312" y="382"/>
                </a:lnTo>
                <a:lnTo>
                  <a:pt x="84810" y="0"/>
                </a:lnTo>
                <a:close/>
              </a:path>
              <a:path w="1192530" h="168909">
                <a:moveTo>
                  <a:pt x="125181" y="128270"/>
                </a:moveTo>
                <a:lnTo>
                  <a:pt x="121310" y="128270"/>
                </a:lnTo>
                <a:lnTo>
                  <a:pt x="120472" y="128777"/>
                </a:lnTo>
                <a:lnTo>
                  <a:pt x="119633" y="129159"/>
                </a:lnTo>
                <a:lnTo>
                  <a:pt x="118833" y="129667"/>
                </a:lnTo>
                <a:lnTo>
                  <a:pt x="118071" y="130429"/>
                </a:lnTo>
                <a:lnTo>
                  <a:pt x="115557" y="132714"/>
                </a:lnTo>
                <a:lnTo>
                  <a:pt x="92976" y="142112"/>
                </a:lnTo>
                <a:lnTo>
                  <a:pt x="89585" y="142621"/>
                </a:lnTo>
                <a:lnTo>
                  <a:pt x="85801" y="142875"/>
                </a:lnTo>
                <a:lnTo>
                  <a:pt x="139439" y="142875"/>
                </a:lnTo>
                <a:lnTo>
                  <a:pt x="127558" y="130048"/>
                </a:lnTo>
                <a:lnTo>
                  <a:pt x="126339" y="128777"/>
                </a:lnTo>
                <a:lnTo>
                  <a:pt x="125181" y="128270"/>
                </a:lnTo>
                <a:close/>
              </a:path>
              <a:path w="1192530" h="168909">
                <a:moveTo>
                  <a:pt x="137190" y="26162"/>
                </a:moveTo>
                <a:lnTo>
                  <a:pt x="91211" y="26162"/>
                </a:lnTo>
                <a:lnTo>
                  <a:pt x="96672" y="26797"/>
                </a:lnTo>
                <a:lnTo>
                  <a:pt x="105282" y="29590"/>
                </a:lnTo>
                <a:lnTo>
                  <a:pt x="120472" y="38481"/>
                </a:lnTo>
                <a:lnTo>
                  <a:pt x="122262" y="39115"/>
                </a:lnTo>
                <a:lnTo>
                  <a:pt x="125691" y="39115"/>
                </a:lnTo>
                <a:lnTo>
                  <a:pt x="126999" y="38862"/>
                </a:lnTo>
                <a:lnTo>
                  <a:pt x="127952" y="38100"/>
                </a:lnTo>
                <a:lnTo>
                  <a:pt x="128904" y="37464"/>
                </a:lnTo>
                <a:lnTo>
                  <a:pt x="129692" y="36702"/>
                </a:lnTo>
                <a:lnTo>
                  <a:pt x="130301" y="35687"/>
                </a:lnTo>
                <a:lnTo>
                  <a:pt x="137190" y="26162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0" y="0"/>
            <a:ext cx="1595755" cy="1104900"/>
            <a:chOff x="0" y="0"/>
            <a:chExt cx="1595755" cy="1104900"/>
          </a:xfrm>
        </p:grpSpPr>
        <p:sp>
          <p:nvSpPr>
            <p:cNvPr id="20" name="object 20"/>
            <p:cNvSpPr/>
            <p:nvPr/>
          </p:nvSpPr>
          <p:spPr>
            <a:xfrm>
              <a:off x="801369" y="888111"/>
              <a:ext cx="283845" cy="143510"/>
            </a:xfrm>
            <a:custGeom>
              <a:avLst/>
              <a:gdLst/>
              <a:ahLst/>
              <a:cxnLst/>
              <a:rect l="l" t="t" r="r" b="b"/>
              <a:pathLst>
                <a:path w="283844" h="143509">
                  <a:moveTo>
                    <a:pt x="113538" y="102108"/>
                  </a:moveTo>
                  <a:lnTo>
                    <a:pt x="8229" y="102108"/>
                  </a:lnTo>
                  <a:lnTo>
                    <a:pt x="8229" y="112649"/>
                  </a:lnTo>
                  <a:lnTo>
                    <a:pt x="101345" y="112649"/>
                  </a:lnTo>
                  <a:lnTo>
                    <a:pt x="101345" y="143001"/>
                  </a:lnTo>
                  <a:lnTo>
                    <a:pt x="113538" y="143001"/>
                  </a:lnTo>
                  <a:lnTo>
                    <a:pt x="113538" y="102108"/>
                  </a:lnTo>
                  <a:close/>
                </a:path>
                <a:path w="283844" h="143509">
                  <a:moveTo>
                    <a:pt x="122834" y="73405"/>
                  </a:moveTo>
                  <a:lnTo>
                    <a:pt x="0" y="73405"/>
                  </a:lnTo>
                  <a:lnTo>
                    <a:pt x="0" y="83819"/>
                  </a:lnTo>
                  <a:lnTo>
                    <a:pt x="122834" y="83819"/>
                  </a:lnTo>
                  <a:lnTo>
                    <a:pt x="122834" y="73405"/>
                  </a:lnTo>
                  <a:close/>
                </a:path>
                <a:path w="283844" h="143509">
                  <a:moveTo>
                    <a:pt x="67360" y="53086"/>
                  </a:moveTo>
                  <a:lnTo>
                    <a:pt x="55016" y="53086"/>
                  </a:lnTo>
                  <a:lnTo>
                    <a:pt x="55016" y="73405"/>
                  </a:lnTo>
                  <a:lnTo>
                    <a:pt x="67360" y="73405"/>
                  </a:lnTo>
                  <a:lnTo>
                    <a:pt x="67360" y="53086"/>
                  </a:lnTo>
                  <a:close/>
                </a:path>
                <a:path w="283844" h="143509">
                  <a:moveTo>
                    <a:pt x="113538" y="5841"/>
                  </a:moveTo>
                  <a:lnTo>
                    <a:pt x="9296" y="5841"/>
                  </a:lnTo>
                  <a:lnTo>
                    <a:pt x="9296" y="53086"/>
                  </a:lnTo>
                  <a:lnTo>
                    <a:pt x="113538" y="53086"/>
                  </a:lnTo>
                  <a:lnTo>
                    <a:pt x="113538" y="42672"/>
                  </a:lnTo>
                  <a:lnTo>
                    <a:pt x="21488" y="42672"/>
                  </a:lnTo>
                  <a:lnTo>
                    <a:pt x="21488" y="16383"/>
                  </a:lnTo>
                  <a:lnTo>
                    <a:pt x="113538" y="16383"/>
                  </a:lnTo>
                  <a:lnTo>
                    <a:pt x="113538" y="5841"/>
                  </a:lnTo>
                  <a:close/>
                </a:path>
                <a:path w="283844" h="143509">
                  <a:moveTo>
                    <a:pt x="113538" y="16383"/>
                  </a:moveTo>
                  <a:lnTo>
                    <a:pt x="101345" y="16383"/>
                  </a:lnTo>
                  <a:lnTo>
                    <a:pt x="101345" y="42672"/>
                  </a:lnTo>
                  <a:lnTo>
                    <a:pt x="113538" y="42672"/>
                  </a:lnTo>
                  <a:lnTo>
                    <a:pt x="113538" y="16383"/>
                  </a:lnTo>
                  <a:close/>
                </a:path>
                <a:path w="283844" h="143509">
                  <a:moveTo>
                    <a:pt x="261518" y="4317"/>
                  </a:moveTo>
                  <a:lnTo>
                    <a:pt x="249326" y="4317"/>
                  </a:lnTo>
                  <a:lnTo>
                    <a:pt x="249326" y="140715"/>
                  </a:lnTo>
                  <a:lnTo>
                    <a:pt x="261518" y="140715"/>
                  </a:lnTo>
                  <a:lnTo>
                    <a:pt x="261518" y="72262"/>
                  </a:lnTo>
                  <a:lnTo>
                    <a:pt x="283768" y="72262"/>
                  </a:lnTo>
                  <a:lnTo>
                    <a:pt x="283768" y="61594"/>
                  </a:lnTo>
                  <a:lnTo>
                    <a:pt x="261518" y="61594"/>
                  </a:lnTo>
                  <a:lnTo>
                    <a:pt x="261518" y="4317"/>
                  </a:lnTo>
                  <a:close/>
                </a:path>
                <a:path w="283844" h="143509">
                  <a:moveTo>
                    <a:pt x="196291" y="33274"/>
                  </a:moveTo>
                  <a:lnTo>
                    <a:pt x="184099" y="33274"/>
                  </a:lnTo>
                  <a:lnTo>
                    <a:pt x="184099" y="60451"/>
                  </a:lnTo>
                  <a:lnTo>
                    <a:pt x="183744" y="68784"/>
                  </a:lnTo>
                  <a:lnTo>
                    <a:pt x="167487" y="108965"/>
                  </a:lnTo>
                  <a:lnTo>
                    <a:pt x="162661" y="113918"/>
                  </a:lnTo>
                  <a:lnTo>
                    <a:pt x="157581" y="117601"/>
                  </a:lnTo>
                  <a:lnTo>
                    <a:pt x="152247" y="120014"/>
                  </a:lnTo>
                  <a:lnTo>
                    <a:pt x="152247" y="131317"/>
                  </a:lnTo>
                  <a:lnTo>
                    <a:pt x="184373" y="104965"/>
                  </a:lnTo>
                  <a:lnTo>
                    <a:pt x="190347" y="92963"/>
                  </a:lnTo>
                  <a:lnTo>
                    <a:pt x="202317" y="92963"/>
                  </a:lnTo>
                  <a:lnTo>
                    <a:pt x="196291" y="60451"/>
                  </a:lnTo>
                  <a:lnTo>
                    <a:pt x="196291" y="33274"/>
                  </a:lnTo>
                  <a:close/>
                </a:path>
                <a:path w="283844" h="143509">
                  <a:moveTo>
                    <a:pt x="202317" y="92963"/>
                  </a:moveTo>
                  <a:lnTo>
                    <a:pt x="190347" y="92963"/>
                  </a:lnTo>
                  <a:lnTo>
                    <a:pt x="192949" y="99107"/>
                  </a:lnTo>
                  <a:lnTo>
                    <a:pt x="221954" y="128414"/>
                  </a:lnTo>
                  <a:lnTo>
                    <a:pt x="228295" y="131317"/>
                  </a:lnTo>
                  <a:lnTo>
                    <a:pt x="228295" y="120014"/>
                  </a:lnTo>
                  <a:lnTo>
                    <a:pt x="223131" y="117601"/>
                  </a:lnTo>
                  <a:lnTo>
                    <a:pt x="220559" y="115824"/>
                  </a:lnTo>
                  <a:lnTo>
                    <a:pt x="217905" y="113918"/>
                  </a:lnTo>
                  <a:lnTo>
                    <a:pt x="213014" y="108965"/>
                  </a:lnTo>
                  <a:lnTo>
                    <a:pt x="208178" y="104139"/>
                  </a:lnTo>
                  <a:lnTo>
                    <a:pt x="204179" y="97662"/>
                  </a:lnTo>
                  <a:lnTo>
                    <a:pt x="202317" y="92963"/>
                  </a:lnTo>
                  <a:close/>
                </a:path>
                <a:path w="283844" h="143509">
                  <a:moveTo>
                    <a:pt x="226923" y="22733"/>
                  </a:moveTo>
                  <a:lnTo>
                    <a:pt x="153771" y="22733"/>
                  </a:lnTo>
                  <a:lnTo>
                    <a:pt x="153771" y="33274"/>
                  </a:lnTo>
                  <a:lnTo>
                    <a:pt x="226923" y="33274"/>
                  </a:lnTo>
                  <a:lnTo>
                    <a:pt x="226923" y="22733"/>
                  </a:lnTo>
                  <a:close/>
                </a:path>
                <a:path w="283844" h="143509">
                  <a:moveTo>
                    <a:pt x="196291" y="0"/>
                  </a:moveTo>
                  <a:lnTo>
                    <a:pt x="184099" y="0"/>
                  </a:lnTo>
                  <a:lnTo>
                    <a:pt x="184099" y="22733"/>
                  </a:lnTo>
                  <a:lnTo>
                    <a:pt x="196291" y="22733"/>
                  </a:lnTo>
                  <a:lnTo>
                    <a:pt x="196291" y="0"/>
                  </a:lnTo>
                  <a:close/>
                </a:path>
              </a:pathLst>
            </a:custGeom>
            <a:solidFill>
              <a:srgbClr val="ACB3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595628" cy="1104900"/>
            </a:xfrm>
            <a:prstGeom prst="rect">
              <a:avLst/>
            </a:prstGeom>
          </p:spPr>
        </p:pic>
      </p:grpSp>
      <p:grpSp>
        <p:nvGrpSpPr>
          <p:cNvPr id="3" name="object 3"/>
          <p:cNvGrpSpPr/>
          <p:nvPr/>
        </p:nvGrpSpPr>
        <p:grpSpPr>
          <a:xfrm>
            <a:off x="3692652" y="0"/>
            <a:ext cx="2163445" cy="6858000"/>
            <a:chOff x="3692652" y="0"/>
            <a:chExt cx="2163445" cy="6858000"/>
          </a:xfrm>
        </p:grpSpPr>
        <p:sp>
          <p:nvSpPr>
            <p:cNvPr id="4" name="object 4"/>
            <p:cNvSpPr/>
            <p:nvPr/>
          </p:nvSpPr>
          <p:spPr>
            <a:xfrm>
              <a:off x="4254627" y="1575308"/>
              <a:ext cx="1601470" cy="2484120"/>
            </a:xfrm>
            <a:custGeom>
              <a:avLst/>
              <a:gdLst/>
              <a:ahLst/>
              <a:cxnLst/>
              <a:rect l="l" t="t" r="r" b="b"/>
              <a:pathLst>
                <a:path w="1601470" h="2484120">
                  <a:moveTo>
                    <a:pt x="783717" y="0"/>
                  </a:moveTo>
                  <a:lnTo>
                    <a:pt x="728345" y="1740"/>
                  </a:lnTo>
                  <a:lnTo>
                    <a:pt x="674920" y="5860"/>
                  </a:lnTo>
                  <a:lnTo>
                    <a:pt x="623443" y="12361"/>
                  </a:lnTo>
                  <a:lnTo>
                    <a:pt x="573913" y="21241"/>
                  </a:lnTo>
                  <a:lnTo>
                    <a:pt x="526330" y="32502"/>
                  </a:lnTo>
                  <a:lnTo>
                    <a:pt x="480695" y="46143"/>
                  </a:lnTo>
                  <a:lnTo>
                    <a:pt x="437007" y="62164"/>
                  </a:lnTo>
                  <a:lnTo>
                    <a:pt x="395266" y="80565"/>
                  </a:lnTo>
                  <a:lnTo>
                    <a:pt x="355473" y="101345"/>
                  </a:lnTo>
                  <a:lnTo>
                    <a:pt x="313164" y="127117"/>
                  </a:lnTo>
                  <a:lnTo>
                    <a:pt x="273486" y="154995"/>
                  </a:lnTo>
                  <a:lnTo>
                    <a:pt x="236440" y="184981"/>
                  </a:lnTo>
                  <a:lnTo>
                    <a:pt x="202025" y="217074"/>
                  </a:lnTo>
                  <a:lnTo>
                    <a:pt x="170241" y="251275"/>
                  </a:lnTo>
                  <a:lnTo>
                    <a:pt x="141089" y="287583"/>
                  </a:lnTo>
                  <a:lnTo>
                    <a:pt x="114567" y="325999"/>
                  </a:lnTo>
                  <a:lnTo>
                    <a:pt x="90677" y="366521"/>
                  </a:lnTo>
                  <a:lnTo>
                    <a:pt x="69508" y="408657"/>
                  </a:lnTo>
                  <a:lnTo>
                    <a:pt x="51149" y="452004"/>
                  </a:lnTo>
                  <a:lnTo>
                    <a:pt x="35599" y="496560"/>
                  </a:lnTo>
                  <a:lnTo>
                    <a:pt x="22860" y="542321"/>
                  </a:lnTo>
                  <a:lnTo>
                    <a:pt x="12930" y="589285"/>
                  </a:lnTo>
                  <a:lnTo>
                    <a:pt x="5810" y="637448"/>
                  </a:lnTo>
                  <a:lnTo>
                    <a:pt x="1500" y="686808"/>
                  </a:lnTo>
                  <a:lnTo>
                    <a:pt x="0" y="737362"/>
                  </a:lnTo>
                  <a:lnTo>
                    <a:pt x="0" y="826769"/>
                  </a:lnTo>
                  <a:lnTo>
                    <a:pt x="493395" y="826769"/>
                  </a:lnTo>
                  <a:lnTo>
                    <a:pt x="493395" y="737362"/>
                  </a:lnTo>
                  <a:lnTo>
                    <a:pt x="496658" y="675928"/>
                  </a:lnTo>
                  <a:lnTo>
                    <a:pt x="505847" y="620402"/>
                  </a:lnTo>
                  <a:lnTo>
                    <a:pt x="520973" y="570776"/>
                  </a:lnTo>
                  <a:lnTo>
                    <a:pt x="542049" y="527045"/>
                  </a:lnTo>
                  <a:lnTo>
                    <a:pt x="569087" y="489203"/>
                  </a:lnTo>
                  <a:lnTo>
                    <a:pt x="601625" y="457748"/>
                  </a:lnTo>
                  <a:lnTo>
                    <a:pt x="639351" y="433181"/>
                  </a:lnTo>
                  <a:lnTo>
                    <a:pt x="682271" y="415503"/>
                  </a:lnTo>
                  <a:lnTo>
                    <a:pt x="730391" y="404713"/>
                  </a:lnTo>
                  <a:lnTo>
                    <a:pt x="783717" y="400812"/>
                  </a:lnTo>
                  <a:lnTo>
                    <a:pt x="836858" y="404820"/>
                  </a:lnTo>
                  <a:lnTo>
                    <a:pt x="884727" y="415777"/>
                  </a:lnTo>
                  <a:lnTo>
                    <a:pt x="927323" y="433684"/>
                  </a:lnTo>
                  <a:lnTo>
                    <a:pt x="964646" y="458541"/>
                  </a:lnTo>
                  <a:lnTo>
                    <a:pt x="996696" y="490346"/>
                  </a:lnTo>
                  <a:lnTo>
                    <a:pt x="1023197" y="528448"/>
                  </a:lnTo>
                  <a:lnTo>
                    <a:pt x="1043870" y="572193"/>
                  </a:lnTo>
                  <a:lnTo>
                    <a:pt x="1058710" y="621590"/>
                  </a:lnTo>
                  <a:lnTo>
                    <a:pt x="1067710" y="676644"/>
                  </a:lnTo>
                  <a:lnTo>
                    <a:pt x="1070864" y="737362"/>
                  </a:lnTo>
                  <a:lnTo>
                    <a:pt x="1068962" y="786272"/>
                  </a:lnTo>
                  <a:lnTo>
                    <a:pt x="1062323" y="833374"/>
                  </a:lnTo>
                  <a:lnTo>
                    <a:pt x="1050968" y="878665"/>
                  </a:lnTo>
                  <a:lnTo>
                    <a:pt x="1034923" y="922146"/>
                  </a:lnTo>
                  <a:lnTo>
                    <a:pt x="1013539" y="965485"/>
                  </a:lnTo>
                  <a:lnTo>
                    <a:pt x="986154" y="1010348"/>
                  </a:lnTo>
                  <a:lnTo>
                    <a:pt x="952769" y="1056735"/>
                  </a:lnTo>
                  <a:lnTo>
                    <a:pt x="913384" y="1104645"/>
                  </a:lnTo>
                  <a:lnTo>
                    <a:pt x="33909" y="2120137"/>
                  </a:lnTo>
                  <a:lnTo>
                    <a:pt x="33909" y="2483992"/>
                  </a:lnTo>
                  <a:lnTo>
                    <a:pt x="1601343" y="2483992"/>
                  </a:lnTo>
                  <a:lnTo>
                    <a:pt x="1601343" y="2086228"/>
                  </a:lnTo>
                  <a:lnTo>
                    <a:pt x="669417" y="2086228"/>
                  </a:lnTo>
                  <a:lnTo>
                    <a:pt x="1320673" y="1336166"/>
                  </a:lnTo>
                  <a:lnTo>
                    <a:pt x="1358026" y="1292687"/>
                  </a:lnTo>
                  <a:lnTo>
                    <a:pt x="1392033" y="1250098"/>
                  </a:lnTo>
                  <a:lnTo>
                    <a:pt x="1422693" y="1208404"/>
                  </a:lnTo>
                  <a:lnTo>
                    <a:pt x="1450002" y="1167610"/>
                  </a:lnTo>
                  <a:lnTo>
                    <a:pt x="1473959" y="1127720"/>
                  </a:lnTo>
                  <a:lnTo>
                    <a:pt x="1494562" y="1088739"/>
                  </a:lnTo>
                  <a:lnTo>
                    <a:pt x="1511808" y="1050670"/>
                  </a:lnTo>
                  <a:lnTo>
                    <a:pt x="1528402" y="1005352"/>
                  </a:lnTo>
                  <a:lnTo>
                    <a:pt x="1541859" y="957278"/>
                  </a:lnTo>
                  <a:lnTo>
                    <a:pt x="1552178" y="906446"/>
                  </a:lnTo>
                  <a:lnTo>
                    <a:pt x="1559353" y="852852"/>
                  </a:lnTo>
                  <a:lnTo>
                    <a:pt x="1563381" y="796491"/>
                  </a:lnTo>
                  <a:lnTo>
                    <a:pt x="1564259" y="737362"/>
                  </a:lnTo>
                  <a:lnTo>
                    <a:pt x="1562770" y="686808"/>
                  </a:lnTo>
                  <a:lnTo>
                    <a:pt x="1558496" y="637448"/>
                  </a:lnTo>
                  <a:lnTo>
                    <a:pt x="1551435" y="589285"/>
                  </a:lnTo>
                  <a:lnTo>
                    <a:pt x="1541589" y="542321"/>
                  </a:lnTo>
                  <a:lnTo>
                    <a:pt x="1528956" y="496560"/>
                  </a:lnTo>
                  <a:lnTo>
                    <a:pt x="1513538" y="452004"/>
                  </a:lnTo>
                  <a:lnTo>
                    <a:pt x="1495333" y="408657"/>
                  </a:lnTo>
                  <a:lnTo>
                    <a:pt x="1474343" y="366521"/>
                  </a:lnTo>
                  <a:lnTo>
                    <a:pt x="1450643" y="325999"/>
                  </a:lnTo>
                  <a:lnTo>
                    <a:pt x="1424310" y="287583"/>
                  </a:lnTo>
                  <a:lnTo>
                    <a:pt x="1395344" y="251275"/>
                  </a:lnTo>
                  <a:lnTo>
                    <a:pt x="1363741" y="217074"/>
                  </a:lnTo>
                  <a:lnTo>
                    <a:pt x="1329502" y="184981"/>
                  </a:lnTo>
                  <a:lnTo>
                    <a:pt x="1292623" y="154995"/>
                  </a:lnTo>
                  <a:lnTo>
                    <a:pt x="1253105" y="127117"/>
                  </a:lnTo>
                  <a:lnTo>
                    <a:pt x="1210945" y="101345"/>
                  </a:lnTo>
                  <a:lnTo>
                    <a:pt x="1171349" y="80565"/>
                  </a:lnTo>
                  <a:lnTo>
                    <a:pt x="1129780" y="62164"/>
                  </a:lnTo>
                  <a:lnTo>
                    <a:pt x="1086240" y="46143"/>
                  </a:lnTo>
                  <a:lnTo>
                    <a:pt x="1040730" y="32502"/>
                  </a:lnTo>
                  <a:lnTo>
                    <a:pt x="993254" y="21241"/>
                  </a:lnTo>
                  <a:lnTo>
                    <a:pt x="943812" y="12361"/>
                  </a:lnTo>
                  <a:lnTo>
                    <a:pt x="892407" y="5860"/>
                  </a:lnTo>
                  <a:lnTo>
                    <a:pt x="839041" y="1740"/>
                  </a:lnTo>
                  <a:lnTo>
                    <a:pt x="783717" y="0"/>
                  </a:lnTo>
                  <a:close/>
                </a:path>
              </a:pathLst>
            </a:custGeom>
            <a:solidFill>
              <a:srgbClr val="ECED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692652" y="0"/>
              <a:ext cx="826135" cy="6858000"/>
            </a:xfrm>
            <a:custGeom>
              <a:avLst/>
              <a:gdLst/>
              <a:ahLst/>
              <a:cxnLst/>
              <a:rect l="l" t="t" r="r" b="b"/>
              <a:pathLst>
                <a:path w="826135" h="6858000">
                  <a:moveTo>
                    <a:pt x="82600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26008" y="6858000"/>
                  </a:lnTo>
                  <a:lnTo>
                    <a:pt x="826008" y="0"/>
                  </a:lnTo>
                  <a:close/>
                </a:path>
              </a:pathLst>
            </a:custGeom>
            <a:solidFill>
              <a:srgbClr val="F7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1866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w="0" h="6858000">
                  <a:moveTo>
                    <a:pt x="0" y="0"/>
                  </a:moveTo>
                  <a:lnTo>
                    <a:pt x="0" y="6857998"/>
                  </a:lnTo>
                </a:path>
              </a:pathLst>
            </a:custGeom>
            <a:ln w="6096">
              <a:solidFill>
                <a:srgbClr val="DDDF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7632192" y="0"/>
            <a:ext cx="2162175" cy="6858000"/>
            <a:chOff x="7632192" y="0"/>
            <a:chExt cx="2162175" cy="6858000"/>
          </a:xfrm>
        </p:grpSpPr>
        <p:sp>
          <p:nvSpPr>
            <p:cNvPr id="12" name="object 12"/>
            <p:cNvSpPr/>
            <p:nvPr/>
          </p:nvSpPr>
          <p:spPr>
            <a:xfrm>
              <a:off x="8152638" y="1575308"/>
              <a:ext cx="1641475" cy="2527300"/>
            </a:xfrm>
            <a:custGeom>
              <a:avLst/>
              <a:gdLst/>
              <a:ahLst/>
              <a:cxnLst/>
              <a:rect l="l" t="t" r="r" b="b"/>
              <a:pathLst>
                <a:path w="1641475" h="2527300">
                  <a:moveTo>
                    <a:pt x="820673" y="0"/>
                  </a:moveTo>
                  <a:lnTo>
                    <a:pt x="762698" y="2201"/>
                  </a:lnTo>
                  <a:lnTo>
                    <a:pt x="706944" y="6838"/>
                  </a:lnTo>
                  <a:lnTo>
                    <a:pt x="653413" y="13910"/>
                  </a:lnTo>
                  <a:lnTo>
                    <a:pt x="602102" y="23419"/>
                  </a:lnTo>
                  <a:lnTo>
                    <a:pt x="553012" y="35366"/>
                  </a:lnTo>
                  <a:lnTo>
                    <a:pt x="506142" y="49752"/>
                  </a:lnTo>
                  <a:lnTo>
                    <a:pt x="461492" y="66577"/>
                  </a:lnTo>
                  <a:lnTo>
                    <a:pt x="419062" y="85842"/>
                  </a:lnTo>
                  <a:lnTo>
                    <a:pt x="378850" y="107549"/>
                  </a:lnTo>
                  <a:lnTo>
                    <a:pt x="340858" y="131697"/>
                  </a:lnTo>
                  <a:lnTo>
                    <a:pt x="305083" y="158289"/>
                  </a:lnTo>
                  <a:lnTo>
                    <a:pt x="271525" y="187325"/>
                  </a:lnTo>
                  <a:lnTo>
                    <a:pt x="237683" y="221246"/>
                  </a:lnTo>
                  <a:lnTo>
                    <a:pt x="207019" y="256925"/>
                  </a:lnTo>
                  <a:lnTo>
                    <a:pt x="179535" y="294360"/>
                  </a:lnTo>
                  <a:lnTo>
                    <a:pt x="155229" y="333553"/>
                  </a:lnTo>
                  <a:lnTo>
                    <a:pt x="134102" y="374503"/>
                  </a:lnTo>
                  <a:lnTo>
                    <a:pt x="116151" y="417209"/>
                  </a:lnTo>
                  <a:lnTo>
                    <a:pt x="101378" y="461673"/>
                  </a:lnTo>
                  <a:lnTo>
                    <a:pt x="89781" y="507893"/>
                  </a:lnTo>
                  <a:lnTo>
                    <a:pt x="81359" y="555871"/>
                  </a:lnTo>
                  <a:lnTo>
                    <a:pt x="76112" y="605606"/>
                  </a:lnTo>
                  <a:lnTo>
                    <a:pt x="74040" y="657097"/>
                  </a:lnTo>
                  <a:lnTo>
                    <a:pt x="74040" y="721994"/>
                  </a:lnTo>
                  <a:lnTo>
                    <a:pt x="555116" y="721994"/>
                  </a:lnTo>
                  <a:lnTo>
                    <a:pt x="555116" y="691133"/>
                  </a:lnTo>
                  <a:lnTo>
                    <a:pt x="558669" y="638524"/>
                  </a:lnTo>
                  <a:lnTo>
                    <a:pt x="567812" y="590877"/>
                  </a:lnTo>
                  <a:lnTo>
                    <a:pt x="582558" y="548185"/>
                  </a:lnTo>
                  <a:lnTo>
                    <a:pt x="602917" y="510444"/>
                  </a:lnTo>
                  <a:lnTo>
                    <a:pt x="628903" y="477646"/>
                  </a:lnTo>
                  <a:lnTo>
                    <a:pt x="667833" y="444424"/>
                  </a:lnTo>
                  <a:lnTo>
                    <a:pt x="712787" y="420560"/>
                  </a:lnTo>
                  <a:lnTo>
                    <a:pt x="763742" y="406030"/>
                  </a:lnTo>
                  <a:lnTo>
                    <a:pt x="820673" y="400812"/>
                  </a:lnTo>
                  <a:lnTo>
                    <a:pt x="878518" y="406030"/>
                  </a:lnTo>
                  <a:lnTo>
                    <a:pt x="929957" y="420560"/>
                  </a:lnTo>
                  <a:lnTo>
                    <a:pt x="975014" y="444424"/>
                  </a:lnTo>
                  <a:lnTo>
                    <a:pt x="1013713" y="477646"/>
                  </a:lnTo>
                  <a:lnTo>
                    <a:pt x="1039361" y="510444"/>
                  </a:lnTo>
                  <a:lnTo>
                    <a:pt x="1059456" y="548185"/>
                  </a:lnTo>
                  <a:lnTo>
                    <a:pt x="1073991" y="590877"/>
                  </a:lnTo>
                  <a:lnTo>
                    <a:pt x="1082960" y="638524"/>
                  </a:lnTo>
                  <a:lnTo>
                    <a:pt x="1086357" y="691133"/>
                  </a:lnTo>
                  <a:lnTo>
                    <a:pt x="1082548" y="750036"/>
                  </a:lnTo>
                  <a:lnTo>
                    <a:pt x="1072489" y="802690"/>
                  </a:lnTo>
                  <a:lnTo>
                    <a:pt x="1056182" y="849096"/>
                  </a:lnTo>
                  <a:lnTo>
                    <a:pt x="1033627" y="889253"/>
                  </a:lnTo>
                  <a:lnTo>
                    <a:pt x="1004823" y="923163"/>
                  </a:lnTo>
                  <a:lnTo>
                    <a:pt x="970563" y="950806"/>
                  </a:lnTo>
                  <a:lnTo>
                    <a:pt x="931633" y="972310"/>
                  </a:lnTo>
                  <a:lnTo>
                    <a:pt x="888027" y="987664"/>
                  </a:lnTo>
                  <a:lnTo>
                    <a:pt x="839740" y="996855"/>
                  </a:lnTo>
                  <a:lnTo>
                    <a:pt x="786764" y="999870"/>
                  </a:lnTo>
                  <a:lnTo>
                    <a:pt x="570610" y="999870"/>
                  </a:lnTo>
                  <a:lnTo>
                    <a:pt x="570610" y="1391539"/>
                  </a:lnTo>
                  <a:lnTo>
                    <a:pt x="786764" y="1391539"/>
                  </a:lnTo>
                  <a:lnTo>
                    <a:pt x="843375" y="1393941"/>
                  </a:lnTo>
                  <a:lnTo>
                    <a:pt x="895350" y="1401529"/>
                  </a:lnTo>
                  <a:lnTo>
                    <a:pt x="942689" y="1414303"/>
                  </a:lnTo>
                  <a:lnTo>
                    <a:pt x="985393" y="1432263"/>
                  </a:lnTo>
                  <a:lnTo>
                    <a:pt x="1023461" y="1455409"/>
                  </a:lnTo>
                  <a:lnTo>
                    <a:pt x="1056893" y="1483740"/>
                  </a:lnTo>
                  <a:lnTo>
                    <a:pt x="1085490" y="1517407"/>
                  </a:lnTo>
                  <a:lnTo>
                    <a:pt x="1108926" y="1556563"/>
                  </a:lnTo>
                  <a:lnTo>
                    <a:pt x="1127204" y="1601215"/>
                  </a:lnTo>
                  <a:lnTo>
                    <a:pt x="1140328" y="1651371"/>
                  </a:lnTo>
                  <a:lnTo>
                    <a:pt x="1148301" y="1707037"/>
                  </a:lnTo>
                  <a:lnTo>
                    <a:pt x="1151127" y="1768220"/>
                  </a:lnTo>
                  <a:lnTo>
                    <a:pt x="1148016" y="1823413"/>
                  </a:lnTo>
                  <a:lnTo>
                    <a:pt x="1140078" y="1874181"/>
                  </a:lnTo>
                  <a:lnTo>
                    <a:pt x="1127315" y="1920525"/>
                  </a:lnTo>
                  <a:lnTo>
                    <a:pt x="1109725" y="1962446"/>
                  </a:lnTo>
                  <a:lnTo>
                    <a:pt x="1087310" y="1999943"/>
                  </a:lnTo>
                  <a:lnTo>
                    <a:pt x="1060068" y="2033015"/>
                  </a:lnTo>
                  <a:lnTo>
                    <a:pt x="1022016" y="2066315"/>
                  </a:lnTo>
                  <a:lnTo>
                    <a:pt x="979038" y="2092299"/>
                  </a:lnTo>
                  <a:lnTo>
                    <a:pt x="931147" y="2110968"/>
                  </a:lnTo>
                  <a:lnTo>
                    <a:pt x="878355" y="2122322"/>
                  </a:lnTo>
                  <a:lnTo>
                    <a:pt x="820673" y="2126360"/>
                  </a:lnTo>
                  <a:lnTo>
                    <a:pt x="763127" y="2122322"/>
                  </a:lnTo>
                  <a:lnTo>
                    <a:pt x="710580" y="2110968"/>
                  </a:lnTo>
                  <a:lnTo>
                    <a:pt x="663031" y="2092299"/>
                  </a:lnTo>
                  <a:lnTo>
                    <a:pt x="620481" y="2066315"/>
                  </a:lnTo>
                  <a:lnTo>
                    <a:pt x="582929" y="2033015"/>
                  </a:lnTo>
                  <a:lnTo>
                    <a:pt x="556101" y="1999943"/>
                  </a:lnTo>
                  <a:lnTo>
                    <a:pt x="534034" y="1962446"/>
                  </a:lnTo>
                  <a:lnTo>
                    <a:pt x="516731" y="1920525"/>
                  </a:lnTo>
                  <a:lnTo>
                    <a:pt x="504189" y="1874181"/>
                  </a:lnTo>
                  <a:lnTo>
                    <a:pt x="496411" y="1823413"/>
                  </a:lnTo>
                  <a:lnTo>
                    <a:pt x="493394" y="1768220"/>
                  </a:lnTo>
                  <a:lnTo>
                    <a:pt x="493394" y="1734184"/>
                  </a:lnTo>
                  <a:lnTo>
                    <a:pt x="0" y="1734184"/>
                  </a:lnTo>
                  <a:lnTo>
                    <a:pt x="0" y="1792858"/>
                  </a:lnTo>
                  <a:lnTo>
                    <a:pt x="2489" y="1848466"/>
                  </a:lnTo>
                  <a:lnTo>
                    <a:pt x="7990" y="1902069"/>
                  </a:lnTo>
                  <a:lnTo>
                    <a:pt x="16502" y="1953666"/>
                  </a:lnTo>
                  <a:lnTo>
                    <a:pt x="28024" y="2003260"/>
                  </a:lnTo>
                  <a:lnTo>
                    <a:pt x="42558" y="2050850"/>
                  </a:lnTo>
                  <a:lnTo>
                    <a:pt x="60102" y="2096436"/>
                  </a:lnTo>
                  <a:lnTo>
                    <a:pt x="80658" y="2140020"/>
                  </a:lnTo>
                  <a:lnTo>
                    <a:pt x="104224" y="2181601"/>
                  </a:lnTo>
                  <a:lnTo>
                    <a:pt x="130802" y="2221180"/>
                  </a:lnTo>
                  <a:lnTo>
                    <a:pt x="160390" y="2258757"/>
                  </a:lnTo>
                  <a:lnTo>
                    <a:pt x="192989" y="2294334"/>
                  </a:lnTo>
                  <a:lnTo>
                    <a:pt x="228600" y="2327910"/>
                  </a:lnTo>
                  <a:lnTo>
                    <a:pt x="263755" y="2356818"/>
                  </a:lnTo>
                  <a:lnTo>
                    <a:pt x="300642" y="2383463"/>
                  </a:lnTo>
                  <a:lnTo>
                    <a:pt x="339261" y="2407845"/>
                  </a:lnTo>
                  <a:lnTo>
                    <a:pt x="379611" y="2429963"/>
                  </a:lnTo>
                  <a:lnTo>
                    <a:pt x="421692" y="2449818"/>
                  </a:lnTo>
                  <a:lnTo>
                    <a:pt x="465505" y="2467410"/>
                  </a:lnTo>
                  <a:lnTo>
                    <a:pt x="511049" y="2482738"/>
                  </a:lnTo>
                  <a:lnTo>
                    <a:pt x="558325" y="2495802"/>
                  </a:lnTo>
                  <a:lnTo>
                    <a:pt x="607332" y="2506603"/>
                  </a:lnTo>
                  <a:lnTo>
                    <a:pt x="658070" y="2515141"/>
                  </a:lnTo>
                  <a:lnTo>
                    <a:pt x="710540" y="2521415"/>
                  </a:lnTo>
                  <a:lnTo>
                    <a:pt x="764741" y="2525425"/>
                  </a:lnTo>
                  <a:lnTo>
                    <a:pt x="820673" y="2527172"/>
                  </a:lnTo>
                  <a:lnTo>
                    <a:pt x="877215" y="2525425"/>
                  </a:lnTo>
                  <a:lnTo>
                    <a:pt x="931953" y="2521415"/>
                  </a:lnTo>
                  <a:lnTo>
                    <a:pt x="984888" y="2515141"/>
                  </a:lnTo>
                  <a:lnTo>
                    <a:pt x="1036021" y="2506603"/>
                  </a:lnTo>
                  <a:lnTo>
                    <a:pt x="1085352" y="2495802"/>
                  </a:lnTo>
                  <a:lnTo>
                    <a:pt x="1132881" y="2482738"/>
                  </a:lnTo>
                  <a:lnTo>
                    <a:pt x="1178608" y="2467410"/>
                  </a:lnTo>
                  <a:lnTo>
                    <a:pt x="1222534" y="2449818"/>
                  </a:lnTo>
                  <a:lnTo>
                    <a:pt x="1264660" y="2429963"/>
                  </a:lnTo>
                  <a:lnTo>
                    <a:pt x="1304985" y="2407845"/>
                  </a:lnTo>
                  <a:lnTo>
                    <a:pt x="1343509" y="2383463"/>
                  </a:lnTo>
                  <a:lnTo>
                    <a:pt x="1380235" y="2356818"/>
                  </a:lnTo>
                  <a:lnTo>
                    <a:pt x="1415160" y="2327910"/>
                  </a:lnTo>
                  <a:lnTo>
                    <a:pt x="1450493" y="2294334"/>
                  </a:lnTo>
                  <a:lnTo>
                    <a:pt x="1482830" y="2258757"/>
                  </a:lnTo>
                  <a:lnTo>
                    <a:pt x="1512173" y="2221180"/>
                  </a:lnTo>
                  <a:lnTo>
                    <a:pt x="1538520" y="2181601"/>
                  </a:lnTo>
                  <a:lnTo>
                    <a:pt x="1561872" y="2140020"/>
                  </a:lnTo>
                  <a:lnTo>
                    <a:pt x="1582229" y="2096436"/>
                  </a:lnTo>
                  <a:lnTo>
                    <a:pt x="1599591" y="2050850"/>
                  </a:lnTo>
                  <a:lnTo>
                    <a:pt x="1613958" y="2003260"/>
                  </a:lnTo>
                  <a:lnTo>
                    <a:pt x="1625330" y="1953666"/>
                  </a:lnTo>
                  <a:lnTo>
                    <a:pt x="1633706" y="1902069"/>
                  </a:lnTo>
                  <a:lnTo>
                    <a:pt x="1639088" y="1848466"/>
                  </a:lnTo>
                  <a:lnTo>
                    <a:pt x="1641475" y="1792858"/>
                  </a:lnTo>
                  <a:lnTo>
                    <a:pt x="1639450" y="1734220"/>
                  </a:lnTo>
                  <a:lnTo>
                    <a:pt x="1633946" y="1678225"/>
                  </a:lnTo>
                  <a:lnTo>
                    <a:pt x="1624959" y="1624873"/>
                  </a:lnTo>
                  <a:lnTo>
                    <a:pt x="1612487" y="1574164"/>
                  </a:lnTo>
                  <a:lnTo>
                    <a:pt x="1596526" y="1526099"/>
                  </a:lnTo>
                  <a:lnTo>
                    <a:pt x="1577074" y="1480677"/>
                  </a:lnTo>
                  <a:lnTo>
                    <a:pt x="1554127" y="1437897"/>
                  </a:lnTo>
                  <a:lnTo>
                    <a:pt x="1527682" y="1397762"/>
                  </a:lnTo>
                  <a:lnTo>
                    <a:pt x="1497989" y="1360524"/>
                  </a:lnTo>
                  <a:lnTo>
                    <a:pt x="1465200" y="1326439"/>
                  </a:lnTo>
                  <a:lnTo>
                    <a:pt x="1429320" y="1295503"/>
                  </a:lnTo>
                  <a:lnTo>
                    <a:pt x="1390348" y="1267713"/>
                  </a:lnTo>
                  <a:lnTo>
                    <a:pt x="1348286" y="1243067"/>
                  </a:lnTo>
                  <a:lnTo>
                    <a:pt x="1303137" y="1221561"/>
                  </a:lnTo>
                  <a:lnTo>
                    <a:pt x="1254900" y="1203192"/>
                  </a:lnTo>
                  <a:lnTo>
                    <a:pt x="1203578" y="1187957"/>
                  </a:lnTo>
                  <a:lnTo>
                    <a:pt x="1249772" y="1170898"/>
                  </a:lnTo>
                  <a:lnTo>
                    <a:pt x="1293212" y="1150529"/>
                  </a:lnTo>
                  <a:lnTo>
                    <a:pt x="1333894" y="1126852"/>
                  </a:lnTo>
                  <a:lnTo>
                    <a:pt x="1371817" y="1099869"/>
                  </a:lnTo>
                  <a:lnTo>
                    <a:pt x="1406978" y="1069583"/>
                  </a:lnTo>
                  <a:lnTo>
                    <a:pt x="1439376" y="1035995"/>
                  </a:lnTo>
                  <a:lnTo>
                    <a:pt x="1469008" y="999108"/>
                  </a:lnTo>
                  <a:lnTo>
                    <a:pt x="1495337" y="959056"/>
                  </a:lnTo>
                  <a:lnTo>
                    <a:pt x="1517717" y="916076"/>
                  </a:lnTo>
                  <a:lnTo>
                    <a:pt x="1536152" y="870163"/>
                  </a:lnTo>
                  <a:lnTo>
                    <a:pt x="1550644" y="821313"/>
                  </a:lnTo>
                  <a:lnTo>
                    <a:pt x="1561195" y="769522"/>
                  </a:lnTo>
                  <a:lnTo>
                    <a:pt x="1567806" y="714785"/>
                  </a:lnTo>
                  <a:lnTo>
                    <a:pt x="1570481" y="657097"/>
                  </a:lnTo>
                  <a:lnTo>
                    <a:pt x="1568406" y="605606"/>
                  </a:lnTo>
                  <a:lnTo>
                    <a:pt x="1563150" y="555871"/>
                  </a:lnTo>
                  <a:lnTo>
                    <a:pt x="1554713" y="507893"/>
                  </a:lnTo>
                  <a:lnTo>
                    <a:pt x="1543094" y="461673"/>
                  </a:lnTo>
                  <a:lnTo>
                    <a:pt x="1528292" y="417209"/>
                  </a:lnTo>
                  <a:lnTo>
                    <a:pt x="1510307" y="374503"/>
                  </a:lnTo>
                  <a:lnTo>
                    <a:pt x="1489138" y="333553"/>
                  </a:lnTo>
                  <a:lnTo>
                    <a:pt x="1464785" y="294360"/>
                  </a:lnTo>
                  <a:lnTo>
                    <a:pt x="1437248" y="256925"/>
                  </a:lnTo>
                  <a:lnTo>
                    <a:pt x="1406525" y="221246"/>
                  </a:lnTo>
                  <a:lnTo>
                    <a:pt x="1372615" y="187325"/>
                  </a:lnTo>
                  <a:lnTo>
                    <a:pt x="1338979" y="158289"/>
                  </a:lnTo>
                  <a:lnTo>
                    <a:pt x="1303094" y="131697"/>
                  </a:lnTo>
                  <a:lnTo>
                    <a:pt x="1264961" y="107549"/>
                  </a:lnTo>
                  <a:lnTo>
                    <a:pt x="1224581" y="85842"/>
                  </a:lnTo>
                  <a:lnTo>
                    <a:pt x="1181953" y="66577"/>
                  </a:lnTo>
                  <a:lnTo>
                    <a:pt x="1137078" y="49752"/>
                  </a:lnTo>
                  <a:lnTo>
                    <a:pt x="1089957" y="35366"/>
                  </a:lnTo>
                  <a:lnTo>
                    <a:pt x="1040590" y="23419"/>
                  </a:lnTo>
                  <a:lnTo>
                    <a:pt x="988978" y="13910"/>
                  </a:lnTo>
                  <a:lnTo>
                    <a:pt x="935121" y="6838"/>
                  </a:lnTo>
                  <a:lnTo>
                    <a:pt x="879019" y="2201"/>
                  </a:lnTo>
                  <a:lnTo>
                    <a:pt x="820673" y="0"/>
                  </a:lnTo>
                  <a:close/>
                </a:path>
              </a:pathLst>
            </a:custGeom>
            <a:solidFill>
              <a:srgbClr val="ECED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32192" y="0"/>
              <a:ext cx="824865" cy="6858000"/>
            </a:xfrm>
            <a:custGeom>
              <a:avLst/>
              <a:gdLst/>
              <a:ahLst/>
              <a:cxnLst/>
              <a:rect l="l" t="t" r="r" b="b"/>
              <a:pathLst>
                <a:path w="824865" h="6858000">
                  <a:moveTo>
                    <a:pt x="824483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24483" y="6858000"/>
                  </a:lnTo>
                  <a:lnTo>
                    <a:pt x="824483" y="0"/>
                  </a:lnTo>
                  <a:close/>
                </a:path>
              </a:pathLst>
            </a:custGeom>
            <a:solidFill>
              <a:srgbClr val="F7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456676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w="0" h="6858000">
                  <a:moveTo>
                    <a:pt x="0" y="0"/>
                  </a:moveTo>
                  <a:lnTo>
                    <a:pt x="0" y="6857998"/>
                  </a:lnTo>
                </a:path>
              </a:pathLst>
            </a:custGeom>
            <a:ln w="6096">
              <a:solidFill>
                <a:srgbClr val="DDDF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0" y="534923"/>
            <a:ext cx="762000" cy="25603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39495" y="2052827"/>
            <a:ext cx="91439" cy="91440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761555" y="2022094"/>
            <a:ext cx="439420" cy="168910"/>
          </a:xfrm>
          <a:custGeom>
            <a:avLst/>
            <a:gdLst/>
            <a:ahLst/>
            <a:cxnLst/>
            <a:rect l="l" t="t" r="r" b="b"/>
            <a:pathLst>
              <a:path w="439419" h="168910">
                <a:moveTo>
                  <a:pt x="240841" y="72770"/>
                </a:moveTo>
                <a:lnTo>
                  <a:pt x="198653" y="72770"/>
                </a:lnTo>
                <a:lnTo>
                  <a:pt x="202704" y="74294"/>
                </a:lnTo>
                <a:lnTo>
                  <a:pt x="205562" y="77469"/>
                </a:lnTo>
                <a:lnTo>
                  <a:pt x="208419" y="80517"/>
                </a:lnTo>
                <a:lnTo>
                  <a:pt x="209854" y="85597"/>
                </a:lnTo>
                <a:lnTo>
                  <a:pt x="209854" y="97662"/>
                </a:lnTo>
                <a:lnTo>
                  <a:pt x="200117" y="97899"/>
                </a:lnTo>
                <a:lnTo>
                  <a:pt x="191252" y="98599"/>
                </a:lnTo>
                <a:lnTo>
                  <a:pt x="149618" y="114172"/>
                </a:lnTo>
                <a:lnTo>
                  <a:pt x="140588" y="131317"/>
                </a:lnTo>
                <a:lnTo>
                  <a:pt x="140611" y="140969"/>
                </a:lnTo>
                <a:lnTo>
                  <a:pt x="170840" y="168401"/>
                </a:lnTo>
                <a:lnTo>
                  <a:pt x="180289" y="168401"/>
                </a:lnTo>
                <a:lnTo>
                  <a:pt x="213740" y="152907"/>
                </a:lnTo>
                <a:lnTo>
                  <a:pt x="244373" y="152907"/>
                </a:lnTo>
                <a:lnTo>
                  <a:pt x="244373" y="144906"/>
                </a:lnTo>
                <a:lnTo>
                  <a:pt x="183184" y="144906"/>
                </a:lnTo>
                <a:lnTo>
                  <a:pt x="179946" y="144144"/>
                </a:lnTo>
                <a:lnTo>
                  <a:pt x="175696" y="140969"/>
                </a:lnTo>
                <a:lnTo>
                  <a:pt x="174565" y="138302"/>
                </a:lnTo>
                <a:lnTo>
                  <a:pt x="174421" y="137921"/>
                </a:lnTo>
                <a:lnTo>
                  <a:pt x="174421" y="131825"/>
                </a:lnTo>
                <a:lnTo>
                  <a:pt x="174929" y="129793"/>
                </a:lnTo>
                <a:lnTo>
                  <a:pt x="175958" y="128142"/>
                </a:lnTo>
                <a:lnTo>
                  <a:pt x="176987" y="126364"/>
                </a:lnTo>
                <a:lnTo>
                  <a:pt x="202768" y="118490"/>
                </a:lnTo>
                <a:lnTo>
                  <a:pt x="244373" y="118490"/>
                </a:lnTo>
                <a:lnTo>
                  <a:pt x="244352" y="85597"/>
                </a:lnTo>
                <a:lnTo>
                  <a:pt x="243498" y="80517"/>
                </a:lnTo>
                <a:lnTo>
                  <a:pt x="243391" y="79882"/>
                </a:lnTo>
                <a:lnTo>
                  <a:pt x="243306" y="79375"/>
                </a:lnTo>
                <a:lnTo>
                  <a:pt x="240841" y="72770"/>
                </a:lnTo>
                <a:close/>
              </a:path>
              <a:path w="439419" h="168910">
                <a:moveTo>
                  <a:pt x="244373" y="152907"/>
                </a:moveTo>
                <a:lnTo>
                  <a:pt x="213740" y="152907"/>
                </a:lnTo>
                <a:lnTo>
                  <a:pt x="217398" y="162305"/>
                </a:lnTo>
                <a:lnTo>
                  <a:pt x="218820" y="164210"/>
                </a:lnTo>
                <a:lnTo>
                  <a:pt x="220535" y="165100"/>
                </a:lnTo>
                <a:lnTo>
                  <a:pt x="222250" y="166115"/>
                </a:lnTo>
                <a:lnTo>
                  <a:pt x="224790" y="166496"/>
                </a:lnTo>
                <a:lnTo>
                  <a:pt x="244373" y="166496"/>
                </a:lnTo>
                <a:lnTo>
                  <a:pt x="244373" y="152907"/>
                </a:lnTo>
                <a:close/>
              </a:path>
              <a:path w="439419" h="168910">
                <a:moveTo>
                  <a:pt x="244373" y="118490"/>
                </a:moveTo>
                <a:lnTo>
                  <a:pt x="209854" y="118490"/>
                </a:lnTo>
                <a:lnTo>
                  <a:pt x="209854" y="134746"/>
                </a:lnTo>
                <a:lnTo>
                  <a:pt x="206349" y="138302"/>
                </a:lnTo>
                <a:lnTo>
                  <a:pt x="202882" y="140969"/>
                </a:lnTo>
                <a:lnTo>
                  <a:pt x="199453" y="142493"/>
                </a:lnTo>
                <a:lnTo>
                  <a:pt x="196024" y="144144"/>
                </a:lnTo>
                <a:lnTo>
                  <a:pt x="192023" y="144906"/>
                </a:lnTo>
                <a:lnTo>
                  <a:pt x="244373" y="144906"/>
                </a:lnTo>
                <a:lnTo>
                  <a:pt x="244373" y="118490"/>
                </a:lnTo>
                <a:close/>
              </a:path>
              <a:path w="439419" h="168910">
                <a:moveTo>
                  <a:pt x="205130" y="45719"/>
                </a:moveTo>
                <a:lnTo>
                  <a:pt x="197967" y="45719"/>
                </a:lnTo>
                <a:lnTo>
                  <a:pt x="190597" y="46005"/>
                </a:lnTo>
                <a:lnTo>
                  <a:pt x="151592" y="60007"/>
                </a:lnTo>
                <a:lnTo>
                  <a:pt x="146075" y="64388"/>
                </a:lnTo>
                <a:lnTo>
                  <a:pt x="152759" y="76072"/>
                </a:lnTo>
                <a:lnTo>
                  <a:pt x="153589" y="77469"/>
                </a:lnTo>
                <a:lnTo>
                  <a:pt x="154812" y="78739"/>
                </a:lnTo>
                <a:lnTo>
                  <a:pt x="156527" y="79882"/>
                </a:lnTo>
                <a:lnTo>
                  <a:pt x="158413" y="81279"/>
                </a:lnTo>
                <a:lnTo>
                  <a:pt x="158762" y="81279"/>
                </a:lnTo>
                <a:lnTo>
                  <a:pt x="160324" y="81660"/>
                </a:lnTo>
                <a:lnTo>
                  <a:pt x="165506" y="81660"/>
                </a:lnTo>
                <a:lnTo>
                  <a:pt x="167868" y="81279"/>
                </a:lnTo>
                <a:lnTo>
                  <a:pt x="169566" y="80517"/>
                </a:lnTo>
                <a:lnTo>
                  <a:pt x="173862" y="78358"/>
                </a:lnTo>
                <a:lnTo>
                  <a:pt x="178053" y="76072"/>
                </a:lnTo>
                <a:lnTo>
                  <a:pt x="180441" y="75056"/>
                </a:lnTo>
                <a:lnTo>
                  <a:pt x="185775" y="73278"/>
                </a:lnTo>
                <a:lnTo>
                  <a:pt x="189204" y="72770"/>
                </a:lnTo>
                <a:lnTo>
                  <a:pt x="240841" y="72770"/>
                </a:lnTo>
                <a:lnTo>
                  <a:pt x="239039" y="67944"/>
                </a:lnTo>
                <a:lnTo>
                  <a:pt x="211581" y="46862"/>
                </a:lnTo>
                <a:lnTo>
                  <a:pt x="205130" y="45719"/>
                </a:lnTo>
                <a:close/>
              </a:path>
              <a:path w="439419" h="168910">
                <a:moveTo>
                  <a:pt x="293992" y="48132"/>
                </a:moveTo>
                <a:lnTo>
                  <a:pt x="269747" y="48132"/>
                </a:lnTo>
                <a:lnTo>
                  <a:pt x="269747" y="166496"/>
                </a:lnTo>
                <a:lnTo>
                  <a:pt x="305181" y="166496"/>
                </a:lnTo>
                <a:lnTo>
                  <a:pt x="305181" y="93852"/>
                </a:lnTo>
                <a:lnTo>
                  <a:pt x="309552" y="87352"/>
                </a:lnTo>
                <a:lnTo>
                  <a:pt x="314667" y="82708"/>
                </a:lnTo>
                <a:lnTo>
                  <a:pt x="320342" y="80009"/>
                </a:lnTo>
                <a:lnTo>
                  <a:pt x="319905" y="80009"/>
                </a:lnTo>
                <a:lnTo>
                  <a:pt x="326223" y="79120"/>
                </a:lnTo>
                <a:lnTo>
                  <a:pt x="341802" y="79120"/>
                </a:lnTo>
                <a:lnTo>
                  <a:pt x="342900" y="78358"/>
                </a:lnTo>
                <a:lnTo>
                  <a:pt x="343509" y="77215"/>
                </a:lnTo>
                <a:lnTo>
                  <a:pt x="343814" y="75691"/>
                </a:lnTo>
                <a:lnTo>
                  <a:pt x="345257" y="67436"/>
                </a:lnTo>
                <a:lnTo>
                  <a:pt x="303009" y="67436"/>
                </a:lnTo>
                <a:lnTo>
                  <a:pt x="301066" y="56387"/>
                </a:lnTo>
                <a:lnTo>
                  <a:pt x="295173" y="48386"/>
                </a:lnTo>
                <a:lnTo>
                  <a:pt x="293992" y="48132"/>
                </a:lnTo>
                <a:close/>
              </a:path>
              <a:path w="439419" h="168910">
                <a:moveTo>
                  <a:pt x="341802" y="79120"/>
                </a:moveTo>
                <a:lnTo>
                  <a:pt x="332003" y="79120"/>
                </a:lnTo>
                <a:lnTo>
                  <a:pt x="336092" y="80009"/>
                </a:lnTo>
                <a:lnTo>
                  <a:pt x="339851" y="80009"/>
                </a:lnTo>
                <a:lnTo>
                  <a:pt x="341071" y="79628"/>
                </a:lnTo>
                <a:lnTo>
                  <a:pt x="341802" y="79120"/>
                </a:lnTo>
                <a:close/>
              </a:path>
              <a:path w="439419" h="168910">
                <a:moveTo>
                  <a:pt x="340766" y="45719"/>
                </a:moveTo>
                <a:lnTo>
                  <a:pt x="328955" y="45719"/>
                </a:lnTo>
                <a:lnTo>
                  <a:pt x="323049" y="47625"/>
                </a:lnTo>
                <a:lnTo>
                  <a:pt x="317639" y="51561"/>
                </a:lnTo>
                <a:lnTo>
                  <a:pt x="312229" y="55371"/>
                </a:lnTo>
                <a:lnTo>
                  <a:pt x="307352" y="60705"/>
                </a:lnTo>
                <a:lnTo>
                  <a:pt x="303009" y="67436"/>
                </a:lnTo>
                <a:lnTo>
                  <a:pt x="345257" y="67436"/>
                </a:lnTo>
                <a:lnTo>
                  <a:pt x="348386" y="49529"/>
                </a:lnTo>
                <a:lnTo>
                  <a:pt x="345109" y="46989"/>
                </a:lnTo>
                <a:lnTo>
                  <a:pt x="340766" y="45719"/>
                </a:lnTo>
                <a:close/>
              </a:path>
              <a:path w="439419" h="168910">
                <a:moveTo>
                  <a:pt x="58750" y="0"/>
                </a:moveTo>
                <a:lnTo>
                  <a:pt x="0" y="0"/>
                </a:lnTo>
                <a:lnTo>
                  <a:pt x="0" y="166496"/>
                </a:lnTo>
                <a:lnTo>
                  <a:pt x="38633" y="166496"/>
                </a:lnTo>
                <a:lnTo>
                  <a:pt x="38633" y="110870"/>
                </a:lnTo>
                <a:lnTo>
                  <a:pt x="58750" y="110870"/>
                </a:lnTo>
                <a:lnTo>
                  <a:pt x="97053" y="103885"/>
                </a:lnTo>
                <a:lnTo>
                  <a:pt x="120032" y="81660"/>
                </a:lnTo>
                <a:lnTo>
                  <a:pt x="38633" y="81660"/>
                </a:lnTo>
                <a:lnTo>
                  <a:pt x="38633" y="28955"/>
                </a:lnTo>
                <a:lnTo>
                  <a:pt x="120299" y="28955"/>
                </a:lnTo>
                <a:lnTo>
                  <a:pt x="119253" y="26288"/>
                </a:lnTo>
                <a:lnTo>
                  <a:pt x="82351" y="2357"/>
                </a:lnTo>
                <a:lnTo>
                  <a:pt x="67239" y="261"/>
                </a:lnTo>
                <a:lnTo>
                  <a:pt x="58750" y="0"/>
                </a:lnTo>
                <a:close/>
              </a:path>
              <a:path w="439419" h="168910">
                <a:moveTo>
                  <a:pt x="120299" y="28955"/>
                </a:moveTo>
                <a:lnTo>
                  <a:pt x="63626" y="28955"/>
                </a:lnTo>
                <a:lnTo>
                  <a:pt x="67830" y="29463"/>
                </a:lnTo>
                <a:lnTo>
                  <a:pt x="74917" y="32003"/>
                </a:lnTo>
                <a:lnTo>
                  <a:pt x="87096" y="50545"/>
                </a:lnTo>
                <a:lnTo>
                  <a:pt x="87096" y="62991"/>
                </a:lnTo>
                <a:lnTo>
                  <a:pt x="84886" y="69722"/>
                </a:lnTo>
                <a:lnTo>
                  <a:pt x="80467" y="74548"/>
                </a:lnTo>
                <a:lnTo>
                  <a:pt x="76047" y="79247"/>
                </a:lnTo>
                <a:lnTo>
                  <a:pt x="68808" y="81660"/>
                </a:lnTo>
                <a:lnTo>
                  <a:pt x="120032" y="81660"/>
                </a:lnTo>
                <a:lnTo>
                  <a:pt x="121729" y="77215"/>
                </a:lnTo>
                <a:lnTo>
                  <a:pt x="124396" y="70357"/>
                </a:lnTo>
                <a:lnTo>
                  <a:pt x="125685" y="62991"/>
                </a:lnTo>
                <a:lnTo>
                  <a:pt x="125729" y="46735"/>
                </a:lnTo>
                <a:lnTo>
                  <a:pt x="124434" y="39496"/>
                </a:lnTo>
                <a:lnTo>
                  <a:pt x="120299" y="28955"/>
                </a:lnTo>
                <a:close/>
              </a:path>
              <a:path w="439419" h="168910">
                <a:moveTo>
                  <a:pt x="406526" y="72389"/>
                </a:moveTo>
                <a:lnTo>
                  <a:pt x="371094" y="72389"/>
                </a:lnTo>
                <a:lnTo>
                  <a:pt x="371174" y="139445"/>
                </a:lnTo>
                <a:lnTo>
                  <a:pt x="371856" y="143763"/>
                </a:lnTo>
                <a:lnTo>
                  <a:pt x="373379" y="147954"/>
                </a:lnTo>
                <a:lnTo>
                  <a:pt x="374903" y="152272"/>
                </a:lnTo>
                <a:lnTo>
                  <a:pt x="377126" y="155955"/>
                </a:lnTo>
                <a:lnTo>
                  <a:pt x="380060" y="158876"/>
                </a:lnTo>
                <a:lnTo>
                  <a:pt x="382993" y="161925"/>
                </a:lnTo>
                <a:lnTo>
                  <a:pt x="386613" y="164210"/>
                </a:lnTo>
                <a:lnTo>
                  <a:pt x="395223" y="167512"/>
                </a:lnTo>
                <a:lnTo>
                  <a:pt x="400202" y="168401"/>
                </a:lnTo>
                <a:lnTo>
                  <a:pt x="411937" y="168401"/>
                </a:lnTo>
                <a:lnTo>
                  <a:pt x="417842" y="167512"/>
                </a:lnTo>
                <a:lnTo>
                  <a:pt x="423557" y="165734"/>
                </a:lnTo>
                <a:lnTo>
                  <a:pt x="428833" y="164210"/>
                </a:lnTo>
                <a:lnTo>
                  <a:pt x="429015" y="164210"/>
                </a:lnTo>
                <a:lnTo>
                  <a:pt x="434416" y="161543"/>
                </a:lnTo>
                <a:lnTo>
                  <a:pt x="438988" y="158114"/>
                </a:lnTo>
                <a:lnTo>
                  <a:pt x="427986" y="140842"/>
                </a:lnTo>
                <a:lnTo>
                  <a:pt x="411784" y="140842"/>
                </a:lnTo>
                <a:lnTo>
                  <a:pt x="410405" y="140207"/>
                </a:lnTo>
                <a:lnTo>
                  <a:pt x="410044" y="140207"/>
                </a:lnTo>
                <a:lnTo>
                  <a:pt x="408711" y="138429"/>
                </a:lnTo>
                <a:lnTo>
                  <a:pt x="407187" y="136270"/>
                </a:lnTo>
                <a:lnTo>
                  <a:pt x="406526" y="134111"/>
                </a:lnTo>
                <a:lnTo>
                  <a:pt x="406526" y="72389"/>
                </a:lnTo>
                <a:close/>
              </a:path>
              <a:path w="439419" h="168910">
                <a:moveTo>
                  <a:pt x="427558" y="140207"/>
                </a:moveTo>
                <a:lnTo>
                  <a:pt x="418134" y="140207"/>
                </a:lnTo>
                <a:lnTo>
                  <a:pt x="417550" y="140461"/>
                </a:lnTo>
                <a:lnTo>
                  <a:pt x="416236" y="140842"/>
                </a:lnTo>
                <a:lnTo>
                  <a:pt x="427986" y="140842"/>
                </a:lnTo>
                <a:lnTo>
                  <a:pt x="427558" y="140207"/>
                </a:lnTo>
                <a:close/>
              </a:path>
              <a:path w="439419" h="168910">
                <a:moveTo>
                  <a:pt x="425589" y="138429"/>
                </a:moveTo>
                <a:lnTo>
                  <a:pt x="421951" y="138429"/>
                </a:lnTo>
                <a:lnTo>
                  <a:pt x="421093" y="138810"/>
                </a:lnTo>
                <a:lnTo>
                  <a:pt x="420484" y="139191"/>
                </a:lnTo>
                <a:lnTo>
                  <a:pt x="419836" y="139445"/>
                </a:lnTo>
                <a:lnTo>
                  <a:pt x="418541" y="140207"/>
                </a:lnTo>
                <a:lnTo>
                  <a:pt x="418045" y="140207"/>
                </a:lnTo>
                <a:lnTo>
                  <a:pt x="420331" y="139445"/>
                </a:lnTo>
                <a:lnTo>
                  <a:pt x="426885" y="139445"/>
                </a:lnTo>
                <a:lnTo>
                  <a:pt x="425589" y="138429"/>
                </a:lnTo>
                <a:close/>
              </a:path>
              <a:path w="439419" h="168910">
                <a:moveTo>
                  <a:pt x="406526" y="13588"/>
                </a:moveTo>
                <a:lnTo>
                  <a:pt x="383743" y="13588"/>
                </a:lnTo>
                <a:lnTo>
                  <a:pt x="381152" y="15366"/>
                </a:lnTo>
                <a:lnTo>
                  <a:pt x="380238" y="19050"/>
                </a:lnTo>
                <a:lnTo>
                  <a:pt x="373265" y="48005"/>
                </a:lnTo>
                <a:lnTo>
                  <a:pt x="354406" y="51688"/>
                </a:lnTo>
                <a:lnTo>
                  <a:pt x="354406" y="67817"/>
                </a:lnTo>
                <a:lnTo>
                  <a:pt x="355053" y="69468"/>
                </a:lnTo>
                <a:lnTo>
                  <a:pt x="356349" y="70738"/>
                </a:lnTo>
                <a:lnTo>
                  <a:pt x="357644" y="71881"/>
                </a:lnTo>
                <a:lnTo>
                  <a:pt x="359206" y="72389"/>
                </a:lnTo>
                <a:lnTo>
                  <a:pt x="435330" y="72389"/>
                </a:lnTo>
                <a:lnTo>
                  <a:pt x="435330" y="48259"/>
                </a:lnTo>
                <a:lnTo>
                  <a:pt x="406526" y="48259"/>
                </a:lnTo>
                <a:lnTo>
                  <a:pt x="406526" y="13588"/>
                </a:lnTo>
                <a:close/>
              </a:path>
            </a:pathLst>
          </a:custGeom>
          <a:solidFill>
            <a:srgbClr val="9E0A2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object 4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62799" y="2021967"/>
            <a:ext cx="108546" cy="16662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71415" y="2052827"/>
            <a:ext cx="91440" cy="91440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4699761" y="2022094"/>
            <a:ext cx="439420" cy="168910"/>
          </a:xfrm>
          <a:custGeom>
            <a:avLst/>
            <a:gdLst/>
            <a:ahLst/>
            <a:cxnLst/>
            <a:rect l="l" t="t" r="r" b="b"/>
            <a:pathLst>
              <a:path w="439420" h="168910">
                <a:moveTo>
                  <a:pt x="240837" y="72770"/>
                </a:moveTo>
                <a:lnTo>
                  <a:pt x="198627" y="72770"/>
                </a:lnTo>
                <a:lnTo>
                  <a:pt x="202691" y="74294"/>
                </a:lnTo>
                <a:lnTo>
                  <a:pt x="205486" y="77469"/>
                </a:lnTo>
                <a:lnTo>
                  <a:pt x="208407" y="80517"/>
                </a:lnTo>
                <a:lnTo>
                  <a:pt x="209803" y="85597"/>
                </a:lnTo>
                <a:lnTo>
                  <a:pt x="209803" y="97662"/>
                </a:lnTo>
                <a:lnTo>
                  <a:pt x="200060" y="97899"/>
                </a:lnTo>
                <a:lnTo>
                  <a:pt x="191198" y="98599"/>
                </a:lnTo>
                <a:lnTo>
                  <a:pt x="149605" y="114172"/>
                </a:lnTo>
                <a:lnTo>
                  <a:pt x="140588" y="131317"/>
                </a:lnTo>
                <a:lnTo>
                  <a:pt x="140609" y="140969"/>
                </a:lnTo>
                <a:lnTo>
                  <a:pt x="141110" y="144144"/>
                </a:lnTo>
                <a:lnTo>
                  <a:pt x="141230" y="144906"/>
                </a:lnTo>
                <a:lnTo>
                  <a:pt x="170814" y="168401"/>
                </a:lnTo>
                <a:lnTo>
                  <a:pt x="180212" y="168401"/>
                </a:lnTo>
                <a:lnTo>
                  <a:pt x="213740" y="152907"/>
                </a:lnTo>
                <a:lnTo>
                  <a:pt x="244348" y="152907"/>
                </a:lnTo>
                <a:lnTo>
                  <a:pt x="244348" y="144906"/>
                </a:lnTo>
                <a:lnTo>
                  <a:pt x="183134" y="144906"/>
                </a:lnTo>
                <a:lnTo>
                  <a:pt x="179832" y="144144"/>
                </a:lnTo>
                <a:lnTo>
                  <a:pt x="175680" y="140969"/>
                </a:lnTo>
                <a:lnTo>
                  <a:pt x="174520" y="138302"/>
                </a:lnTo>
                <a:lnTo>
                  <a:pt x="174498" y="131317"/>
                </a:lnTo>
                <a:lnTo>
                  <a:pt x="174878" y="129793"/>
                </a:lnTo>
                <a:lnTo>
                  <a:pt x="175895" y="128142"/>
                </a:lnTo>
                <a:lnTo>
                  <a:pt x="176911" y="126364"/>
                </a:lnTo>
                <a:lnTo>
                  <a:pt x="202691" y="118490"/>
                </a:lnTo>
                <a:lnTo>
                  <a:pt x="244348" y="118490"/>
                </a:lnTo>
                <a:lnTo>
                  <a:pt x="244325" y="85597"/>
                </a:lnTo>
                <a:lnTo>
                  <a:pt x="243410" y="80517"/>
                </a:lnTo>
                <a:lnTo>
                  <a:pt x="243296" y="79882"/>
                </a:lnTo>
                <a:lnTo>
                  <a:pt x="243204" y="79375"/>
                </a:lnTo>
                <a:lnTo>
                  <a:pt x="241173" y="73659"/>
                </a:lnTo>
                <a:lnTo>
                  <a:pt x="240837" y="72770"/>
                </a:lnTo>
                <a:close/>
              </a:path>
              <a:path w="439420" h="168910">
                <a:moveTo>
                  <a:pt x="244348" y="152907"/>
                </a:moveTo>
                <a:lnTo>
                  <a:pt x="213740" y="152907"/>
                </a:lnTo>
                <a:lnTo>
                  <a:pt x="216153" y="159384"/>
                </a:lnTo>
                <a:lnTo>
                  <a:pt x="217297" y="162305"/>
                </a:lnTo>
                <a:lnTo>
                  <a:pt x="218821" y="164210"/>
                </a:lnTo>
                <a:lnTo>
                  <a:pt x="220472" y="165100"/>
                </a:lnTo>
                <a:lnTo>
                  <a:pt x="222250" y="166115"/>
                </a:lnTo>
                <a:lnTo>
                  <a:pt x="224789" y="166496"/>
                </a:lnTo>
                <a:lnTo>
                  <a:pt x="244348" y="166496"/>
                </a:lnTo>
                <a:lnTo>
                  <a:pt x="244348" y="152907"/>
                </a:lnTo>
                <a:close/>
              </a:path>
              <a:path w="439420" h="168910">
                <a:moveTo>
                  <a:pt x="244348" y="118490"/>
                </a:moveTo>
                <a:lnTo>
                  <a:pt x="209803" y="118490"/>
                </a:lnTo>
                <a:lnTo>
                  <a:pt x="209803" y="134746"/>
                </a:lnTo>
                <a:lnTo>
                  <a:pt x="206248" y="138302"/>
                </a:lnTo>
                <a:lnTo>
                  <a:pt x="202818" y="140969"/>
                </a:lnTo>
                <a:lnTo>
                  <a:pt x="199389" y="142493"/>
                </a:lnTo>
                <a:lnTo>
                  <a:pt x="195961" y="144144"/>
                </a:lnTo>
                <a:lnTo>
                  <a:pt x="192024" y="144906"/>
                </a:lnTo>
                <a:lnTo>
                  <a:pt x="244348" y="144906"/>
                </a:lnTo>
                <a:lnTo>
                  <a:pt x="244348" y="118490"/>
                </a:lnTo>
                <a:close/>
              </a:path>
              <a:path w="439420" h="168910">
                <a:moveTo>
                  <a:pt x="205104" y="45719"/>
                </a:moveTo>
                <a:lnTo>
                  <a:pt x="197865" y="45719"/>
                </a:lnTo>
                <a:lnTo>
                  <a:pt x="190533" y="46005"/>
                </a:lnTo>
                <a:lnTo>
                  <a:pt x="151546" y="60007"/>
                </a:lnTo>
                <a:lnTo>
                  <a:pt x="146050" y="64388"/>
                </a:lnTo>
                <a:lnTo>
                  <a:pt x="152693" y="76072"/>
                </a:lnTo>
                <a:lnTo>
                  <a:pt x="153542" y="77469"/>
                </a:lnTo>
                <a:lnTo>
                  <a:pt x="154812" y="78739"/>
                </a:lnTo>
                <a:lnTo>
                  <a:pt x="156463" y="79882"/>
                </a:lnTo>
                <a:lnTo>
                  <a:pt x="158419" y="81279"/>
                </a:lnTo>
                <a:lnTo>
                  <a:pt x="158750" y="81279"/>
                </a:lnTo>
                <a:lnTo>
                  <a:pt x="160274" y="81660"/>
                </a:lnTo>
                <a:lnTo>
                  <a:pt x="165480" y="81660"/>
                </a:lnTo>
                <a:lnTo>
                  <a:pt x="167766" y="81279"/>
                </a:lnTo>
                <a:lnTo>
                  <a:pt x="169508" y="80517"/>
                </a:lnTo>
                <a:lnTo>
                  <a:pt x="173862" y="78358"/>
                </a:lnTo>
                <a:lnTo>
                  <a:pt x="175443" y="77469"/>
                </a:lnTo>
                <a:lnTo>
                  <a:pt x="178053" y="76072"/>
                </a:lnTo>
                <a:lnTo>
                  <a:pt x="180339" y="75056"/>
                </a:lnTo>
                <a:lnTo>
                  <a:pt x="185674" y="73278"/>
                </a:lnTo>
                <a:lnTo>
                  <a:pt x="189102" y="72770"/>
                </a:lnTo>
                <a:lnTo>
                  <a:pt x="240837" y="72770"/>
                </a:lnTo>
                <a:lnTo>
                  <a:pt x="239013" y="67944"/>
                </a:lnTo>
                <a:lnTo>
                  <a:pt x="235965" y="63118"/>
                </a:lnTo>
                <a:lnTo>
                  <a:pt x="231901" y="58927"/>
                </a:lnTo>
                <a:lnTo>
                  <a:pt x="227964" y="54736"/>
                </a:lnTo>
                <a:lnTo>
                  <a:pt x="223012" y="51561"/>
                </a:lnTo>
                <a:lnTo>
                  <a:pt x="217297" y="49148"/>
                </a:lnTo>
                <a:lnTo>
                  <a:pt x="211582" y="46862"/>
                </a:lnTo>
                <a:lnTo>
                  <a:pt x="205104" y="45719"/>
                </a:lnTo>
                <a:close/>
              </a:path>
              <a:path w="439420" h="168910">
                <a:moveTo>
                  <a:pt x="293877" y="48132"/>
                </a:moveTo>
                <a:lnTo>
                  <a:pt x="269748" y="48132"/>
                </a:lnTo>
                <a:lnTo>
                  <a:pt x="269748" y="166496"/>
                </a:lnTo>
                <a:lnTo>
                  <a:pt x="305180" y="166496"/>
                </a:lnTo>
                <a:lnTo>
                  <a:pt x="305180" y="93852"/>
                </a:lnTo>
                <a:lnTo>
                  <a:pt x="309540" y="87352"/>
                </a:lnTo>
                <a:lnTo>
                  <a:pt x="314626" y="82708"/>
                </a:lnTo>
                <a:lnTo>
                  <a:pt x="320268" y="80009"/>
                </a:lnTo>
                <a:lnTo>
                  <a:pt x="319832" y="80009"/>
                </a:lnTo>
                <a:lnTo>
                  <a:pt x="326125" y="79120"/>
                </a:lnTo>
                <a:lnTo>
                  <a:pt x="341680" y="79120"/>
                </a:lnTo>
                <a:lnTo>
                  <a:pt x="342900" y="78358"/>
                </a:lnTo>
                <a:lnTo>
                  <a:pt x="343408" y="77215"/>
                </a:lnTo>
                <a:lnTo>
                  <a:pt x="343788" y="75691"/>
                </a:lnTo>
                <a:lnTo>
                  <a:pt x="345231" y="67436"/>
                </a:lnTo>
                <a:lnTo>
                  <a:pt x="302895" y="67436"/>
                </a:lnTo>
                <a:lnTo>
                  <a:pt x="300823" y="55371"/>
                </a:lnTo>
                <a:lnTo>
                  <a:pt x="295148" y="48386"/>
                </a:lnTo>
                <a:lnTo>
                  <a:pt x="293877" y="48132"/>
                </a:lnTo>
                <a:close/>
              </a:path>
              <a:path w="439420" h="168910">
                <a:moveTo>
                  <a:pt x="341706" y="79120"/>
                </a:moveTo>
                <a:lnTo>
                  <a:pt x="331977" y="79120"/>
                </a:lnTo>
                <a:lnTo>
                  <a:pt x="335957" y="80009"/>
                </a:lnTo>
                <a:lnTo>
                  <a:pt x="339851" y="80009"/>
                </a:lnTo>
                <a:lnTo>
                  <a:pt x="340995" y="79628"/>
                </a:lnTo>
                <a:lnTo>
                  <a:pt x="341706" y="79120"/>
                </a:lnTo>
                <a:close/>
              </a:path>
              <a:path w="439420" h="168910">
                <a:moveTo>
                  <a:pt x="340740" y="45719"/>
                </a:moveTo>
                <a:lnTo>
                  <a:pt x="328929" y="45719"/>
                </a:lnTo>
                <a:lnTo>
                  <a:pt x="322961" y="47625"/>
                </a:lnTo>
                <a:lnTo>
                  <a:pt x="317626" y="51561"/>
                </a:lnTo>
                <a:lnTo>
                  <a:pt x="312165" y="55371"/>
                </a:lnTo>
                <a:lnTo>
                  <a:pt x="307339" y="60705"/>
                </a:lnTo>
                <a:lnTo>
                  <a:pt x="302895" y="67436"/>
                </a:lnTo>
                <a:lnTo>
                  <a:pt x="345231" y="67436"/>
                </a:lnTo>
                <a:lnTo>
                  <a:pt x="348361" y="49529"/>
                </a:lnTo>
                <a:lnTo>
                  <a:pt x="345059" y="46989"/>
                </a:lnTo>
                <a:lnTo>
                  <a:pt x="340740" y="45719"/>
                </a:lnTo>
                <a:close/>
              </a:path>
              <a:path w="439420" h="168910">
                <a:moveTo>
                  <a:pt x="58674" y="0"/>
                </a:moveTo>
                <a:lnTo>
                  <a:pt x="0" y="0"/>
                </a:lnTo>
                <a:lnTo>
                  <a:pt x="0" y="166496"/>
                </a:lnTo>
                <a:lnTo>
                  <a:pt x="38608" y="166496"/>
                </a:lnTo>
                <a:lnTo>
                  <a:pt x="38608" y="110870"/>
                </a:lnTo>
                <a:lnTo>
                  <a:pt x="58674" y="110870"/>
                </a:lnTo>
                <a:lnTo>
                  <a:pt x="97027" y="103885"/>
                </a:lnTo>
                <a:lnTo>
                  <a:pt x="119968" y="81660"/>
                </a:lnTo>
                <a:lnTo>
                  <a:pt x="38608" y="81660"/>
                </a:lnTo>
                <a:lnTo>
                  <a:pt x="38608" y="28955"/>
                </a:lnTo>
                <a:lnTo>
                  <a:pt x="120278" y="28955"/>
                </a:lnTo>
                <a:lnTo>
                  <a:pt x="119252" y="26288"/>
                </a:lnTo>
                <a:lnTo>
                  <a:pt x="82301" y="2357"/>
                </a:lnTo>
                <a:lnTo>
                  <a:pt x="67200" y="261"/>
                </a:lnTo>
                <a:lnTo>
                  <a:pt x="58674" y="0"/>
                </a:lnTo>
                <a:close/>
              </a:path>
              <a:path w="439420" h="168910">
                <a:moveTo>
                  <a:pt x="120278" y="28955"/>
                </a:moveTo>
                <a:lnTo>
                  <a:pt x="63626" y="28955"/>
                </a:lnTo>
                <a:lnTo>
                  <a:pt x="67817" y="29463"/>
                </a:lnTo>
                <a:lnTo>
                  <a:pt x="71374" y="30733"/>
                </a:lnTo>
                <a:lnTo>
                  <a:pt x="86995" y="50545"/>
                </a:lnTo>
                <a:lnTo>
                  <a:pt x="86995" y="62991"/>
                </a:lnTo>
                <a:lnTo>
                  <a:pt x="84836" y="69722"/>
                </a:lnTo>
                <a:lnTo>
                  <a:pt x="80390" y="74548"/>
                </a:lnTo>
                <a:lnTo>
                  <a:pt x="75946" y="79247"/>
                </a:lnTo>
                <a:lnTo>
                  <a:pt x="68707" y="81660"/>
                </a:lnTo>
                <a:lnTo>
                  <a:pt x="119968" y="81660"/>
                </a:lnTo>
                <a:lnTo>
                  <a:pt x="121665" y="77215"/>
                </a:lnTo>
                <a:lnTo>
                  <a:pt x="124333" y="70357"/>
                </a:lnTo>
                <a:lnTo>
                  <a:pt x="125683" y="62991"/>
                </a:lnTo>
                <a:lnTo>
                  <a:pt x="125729" y="46735"/>
                </a:lnTo>
                <a:lnTo>
                  <a:pt x="124333" y="39496"/>
                </a:lnTo>
                <a:lnTo>
                  <a:pt x="120278" y="28955"/>
                </a:lnTo>
                <a:close/>
              </a:path>
              <a:path w="439420" h="168910">
                <a:moveTo>
                  <a:pt x="406526" y="72389"/>
                </a:moveTo>
                <a:lnTo>
                  <a:pt x="371093" y="72389"/>
                </a:lnTo>
                <a:lnTo>
                  <a:pt x="371174" y="139445"/>
                </a:lnTo>
                <a:lnTo>
                  <a:pt x="371855" y="143763"/>
                </a:lnTo>
                <a:lnTo>
                  <a:pt x="373379" y="147954"/>
                </a:lnTo>
                <a:lnTo>
                  <a:pt x="374903" y="152272"/>
                </a:lnTo>
                <a:lnTo>
                  <a:pt x="377063" y="155955"/>
                </a:lnTo>
                <a:lnTo>
                  <a:pt x="379984" y="158876"/>
                </a:lnTo>
                <a:lnTo>
                  <a:pt x="382904" y="161925"/>
                </a:lnTo>
                <a:lnTo>
                  <a:pt x="386588" y="164210"/>
                </a:lnTo>
                <a:lnTo>
                  <a:pt x="395224" y="167512"/>
                </a:lnTo>
                <a:lnTo>
                  <a:pt x="400176" y="168401"/>
                </a:lnTo>
                <a:lnTo>
                  <a:pt x="411861" y="168401"/>
                </a:lnTo>
                <a:lnTo>
                  <a:pt x="417829" y="167512"/>
                </a:lnTo>
                <a:lnTo>
                  <a:pt x="423545" y="165734"/>
                </a:lnTo>
                <a:lnTo>
                  <a:pt x="428820" y="164210"/>
                </a:lnTo>
                <a:lnTo>
                  <a:pt x="429006" y="164210"/>
                </a:lnTo>
                <a:lnTo>
                  <a:pt x="434339" y="161543"/>
                </a:lnTo>
                <a:lnTo>
                  <a:pt x="438912" y="158114"/>
                </a:lnTo>
                <a:lnTo>
                  <a:pt x="428243" y="141223"/>
                </a:lnTo>
                <a:lnTo>
                  <a:pt x="427958" y="140842"/>
                </a:lnTo>
                <a:lnTo>
                  <a:pt x="411734" y="140842"/>
                </a:lnTo>
                <a:lnTo>
                  <a:pt x="410373" y="140207"/>
                </a:lnTo>
                <a:lnTo>
                  <a:pt x="410028" y="140207"/>
                </a:lnTo>
                <a:lnTo>
                  <a:pt x="408731" y="138556"/>
                </a:lnTo>
                <a:lnTo>
                  <a:pt x="407162" y="136270"/>
                </a:lnTo>
                <a:lnTo>
                  <a:pt x="406526" y="134111"/>
                </a:lnTo>
                <a:lnTo>
                  <a:pt x="406526" y="72389"/>
                </a:lnTo>
                <a:close/>
              </a:path>
              <a:path w="439420" h="168910">
                <a:moveTo>
                  <a:pt x="427482" y="140207"/>
                </a:moveTo>
                <a:lnTo>
                  <a:pt x="418041" y="140207"/>
                </a:lnTo>
                <a:lnTo>
                  <a:pt x="417449" y="140461"/>
                </a:lnTo>
                <a:lnTo>
                  <a:pt x="416115" y="140842"/>
                </a:lnTo>
                <a:lnTo>
                  <a:pt x="427958" y="140842"/>
                </a:lnTo>
                <a:lnTo>
                  <a:pt x="427482" y="140207"/>
                </a:lnTo>
                <a:close/>
              </a:path>
              <a:path w="439420" h="168910">
                <a:moveTo>
                  <a:pt x="425735" y="138556"/>
                </a:moveTo>
                <a:lnTo>
                  <a:pt x="421639" y="138556"/>
                </a:lnTo>
                <a:lnTo>
                  <a:pt x="421004" y="138810"/>
                </a:lnTo>
                <a:lnTo>
                  <a:pt x="420370" y="139191"/>
                </a:lnTo>
                <a:lnTo>
                  <a:pt x="419735" y="139445"/>
                </a:lnTo>
                <a:lnTo>
                  <a:pt x="418465" y="140207"/>
                </a:lnTo>
                <a:lnTo>
                  <a:pt x="417957" y="140207"/>
                </a:lnTo>
                <a:lnTo>
                  <a:pt x="420243" y="139445"/>
                </a:lnTo>
                <a:lnTo>
                  <a:pt x="426847" y="139445"/>
                </a:lnTo>
                <a:lnTo>
                  <a:pt x="425735" y="138556"/>
                </a:lnTo>
                <a:close/>
              </a:path>
              <a:path w="439420" h="168910">
                <a:moveTo>
                  <a:pt x="406526" y="13588"/>
                </a:moveTo>
                <a:lnTo>
                  <a:pt x="383666" y="13588"/>
                </a:lnTo>
                <a:lnTo>
                  <a:pt x="381126" y="15366"/>
                </a:lnTo>
                <a:lnTo>
                  <a:pt x="373252" y="48005"/>
                </a:lnTo>
                <a:lnTo>
                  <a:pt x="354329" y="51688"/>
                </a:lnTo>
                <a:lnTo>
                  <a:pt x="354329" y="67817"/>
                </a:lnTo>
                <a:lnTo>
                  <a:pt x="354964" y="69468"/>
                </a:lnTo>
                <a:lnTo>
                  <a:pt x="356235" y="70738"/>
                </a:lnTo>
                <a:lnTo>
                  <a:pt x="357632" y="71881"/>
                </a:lnTo>
                <a:lnTo>
                  <a:pt x="359155" y="72389"/>
                </a:lnTo>
                <a:lnTo>
                  <a:pt x="435228" y="72389"/>
                </a:lnTo>
                <a:lnTo>
                  <a:pt x="435228" y="48259"/>
                </a:lnTo>
                <a:lnTo>
                  <a:pt x="406526" y="48259"/>
                </a:lnTo>
                <a:lnTo>
                  <a:pt x="406526" y="13588"/>
                </a:lnTo>
                <a:close/>
              </a:path>
            </a:pathLst>
          </a:custGeom>
          <a:solidFill>
            <a:srgbClr val="9E0A2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193410" y="2020189"/>
            <a:ext cx="117093" cy="168401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407907" y="2052827"/>
            <a:ext cx="91440" cy="91440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8637905" y="2022094"/>
            <a:ext cx="439420" cy="168910"/>
          </a:xfrm>
          <a:custGeom>
            <a:avLst/>
            <a:gdLst/>
            <a:ahLst/>
            <a:cxnLst/>
            <a:rect l="l" t="t" r="r" b="b"/>
            <a:pathLst>
              <a:path w="439420" h="168910">
                <a:moveTo>
                  <a:pt x="240837" y="72770"/>
                </a:moveTo>
                <a:lnTo>
                  <a:pt x="198627" y="72770"/>
                </a:lnTo>
                <a:lnTo>
                  <a:pt x="202692" y="74294"/>
                </a:lnTo>
                <a:lnTo>
                  <a:pt x="205486" y="77469"/>
                </a:lnTo>
                <a:lnTo>
                  <a:pt x="208406" y="80517"/>
                </a:lnTo>
                <a:lnTo>
                  <a:pt x="209803" y="85597"/>
                </a:lnTo>
                <a:lnTo>
                  <a:pt x="209803" y="97662"/>
                </a:lnTo>
                <a:lnTo>
                  <a:pt x="200060" y="97899"/>
                </a:lnTo>
                <a:lnTo>
                  <a:pt x="191198" y="98599"/>
                </a:lnTo>
                <a:lnTo>
                  <a:pt x="149605" y="114172"/>
                </a:lnTo>
                <a:lnTo>
                  <a:pt x="140589" y="131317"/>
                </a:lnTo>
                <a:lnTo>
                  <a:pt x="140609" y="140969"/>
                </a:lnTo>
                <a:lnTo>
                  <a:pt x="141110" y="144144"/>
                </a:lnTo>
                <a:lnTo>
                  <a:pt x="141230" y="144906"/>
                </a:lnTo>
                <a:lnTo>
                  <a:pt x="170815" y="168401"/>
                </a:lnTo>
                <a:lnTo>
                  <a:pt x="180213" y="168401"/>
                </a:lnTo>
                <a:lnTo>
                  <a:pt x="213741" y="152907"/>
                </a:lnTo>
                <a:lnTo>
                  <a:pt x="244348" y="152907"/>
                </a:lnTo>
                <a:lnTo>
                  <a:pt x="244348" y="144906"/>
                </a:lnTo>
                <a:lnTo>
                  <a:pt x="183134" y="144906"/>
                </a:lnTo>
                <a:lnTo>
                  <a:pt x="179831" y="144144"/>
                </a:lnTo>
                <a:lnTo>
                  <a:pt x="175680" y="140969"/>
                </a:lnTo>
                <a:lnTo>
                  <a:pt x="174520" y="138302"/>
                </a:lnTo>
                <a:lnTo>
                  <a:pt x="174498" y="131317"/>
                </a:lnTo>
                <a:lnTo>
                  <a:pt x="174878" y="129793"/>
                </a:lnTo>
                <a:lnTo>
                  <a:pt x="175895" y="128142"/>
                </a:lnTo>
                <a:lnTo>
                  <a:pt x="176911" y="126364"/>
                </a:lnTo>
                <a:lnTo>
                  <a:pt x="202692" y="118490"/>
                </a:lnTo>
                <a:lnTo>
                  <a:pt x="244348" y="118490"/>
                </a:lnTo>
                <a:lnTo>
                  <a:pt x="244325" y="85597"/>
                </a:lnTo>
                <a:lnTo>
                  <a:pt x="243410" y="80517"/>
                </a:lnTo>
                <a:lnTo>
                  <a:pt x="243296" y="79882"/>
                </a:lnTo>
                <a:lnTo>
                  <a:pt x="243204" y="79375"/>
                </a:lnTo>
                <a:lnTo>
                  <a:pt x="241173" y="73659"/>
                </a:lnTo>
                <a:lnTo>
                  <a:pt x="240837" y="72770"/>
                </a:lnTo>
                <a:close/>
              </a:path>
              <a:path w="439420" h="168910">
                <a:moveTo>
                  <a:pt x="244348" y="152907"/>
                </a:moveTo>
                <a:lnTo>
                  <a:pt x="213741" y="152907"/>
                </a:lnTo>
                <a:lnTo>
                  <a:pt x="216153" y="159384"/>
                </a:lnTo>
                <a:lnTo>
                  <a:pt x="217297" y="162305"/>
                </a:lnTo>
                <a:lnTo>
                  <a:pt x="218821" y="164210"/>
                </a:lnTo>
                <a:lnTo>
                  <a:pt x="220472" y="165100"/>
                </a:lnTo>
                <a:lnTo>
                  <a:pt x="222250" y="166115"/>
                </a:lnTo>
                <a:lnTo>
                  <a:pt x="224790" y="166496"/>
                </a:lnTo>
                <a:lnTo>
                  <a:pt x="244348" y="166496"/>
                </a:lnTo>
                <a:lnTo>
                  <a:pt x="244348" y="152907"/>
                </a:lnTo>
                <a:close/>
              </a:path>
              <a:path w="439420" h="168910">
                <a:moveTo>
                  <a:pt x="244348" y="118490"/>
                </a:moveTo>
                <a:lnTo>
                  <a:pt x="209803" y="118490"/>
                </a:lnTo>
                <a:lnTo>
                  <a:pt x="209803" y="134746"/>
                </a:lnTo>
                <a:lnTo>
                  <a:pt x="206248" y="138302"/>
                </a:lnTo>
                <a:lnTo>
                  <a:pt x="202819" y="140969"/>
                </a:lnTo>
                <a:lnTo>
                  <a:pt x="199390" y="142493"/>
                </a:lnTo>
                <a:lnTo>
                  <a:pt x="195961" y="144144"/>
                </a:lnTo>
                <a:lnTo>
                  <a:pt x="192024" y="144906"/>
                </a:lnTo>
                <a:lnTo>
                  <a:pt x="244348" y="144906"/>
                </a:lnTo>
                <a:lnTo>
                  <a:pt x="244348" y="118490"/>
                </a:lnTo>
                <a:close/>
              </a:path>
              <a:path w="439420" h="168910">
                <a:moveTo>
                  <a:pt x="205104" y="45719"/>
                </a:moveTo>
                <a:lnTo>
                  <a:pt x="197866" y="45719"/>
                </a:lnTo>
                <a:lnTo>
                  <a:pt x="190533" y="46005"/>
                </a:lnTo>
                <a:lnTo>
                  <a:pt x="151546" y="60007"/>
                </a:lnTo>
                <a:lnTo>
                  <a:pt x="146050" y="64388"/>
                </a:lnTo>
                <a:lnTo>
                  <a:pt x="152693" y="76072"/>
                </a:lnTo>
                <a:lnTo>
                  <a:pt x="153543" y="77469"/>
                </a:lnTo>
                <a:lnTo>
                  <a:pt x="154813" y="78739"/>
                </a:lnTo>
                <a:lnTo>
                  <a:pt x="156464" y="79882"/>
                </a:lnTo>
                <a:lnTo>
                  <a:pt x="158419" y="81279"/>
                </a:lnTo>
                <a:lnTo>
                  <a:pt x="158750" y="81279"/>
                </a:lnTo>
                <a:lnTo>
                  <a:pt x="160274" y="81660"/>
                </a:lnTo>
                <a:lnTo>
                  <a:pt x="165480" y="81660"/>
                </a:lnTo>
                <a:lnTo>
                  <a:pt x="167767" y="81279"/>
                </a:lnTo>
                <a:lnTo>
                  <a:pt x="169508" y="80517"/>
                </a:lnTo>
                <a:lnTo>
                  <a:pt x="173863" y="78358"/>
                </a:lnTo>
                <a:lnTo>
                  <a:pt x="175443" y="77469"/>
                </a:lnTo>
                <a:lnTo>
                  <a:pt x="178053" y="76072"/>
                </a:lnTo>
                <a:lnTo>
                  <a:pt x="180340" y="75056"/>
                </a:lnTo>
                <a:lnTo>
                  <a:pt x="185674" y="73278"/>
                </a:lnTo>
                <a:lnTo>
                  <a:pt x="189102" y="72770"/>
                </a:lnTo>
                <a:lnTo>
                  <a:pt x="240837" y="72770"/>
                </a:lnTo>
                <a:lnTo>
                  <a:pt x="239014" y="67944"/>
                </a:lnTo>
                <a:lnTo>
                  <a:pt x="235966" y="63118"/>
                </a:lnTo>
                <a:lnTo>
                  <a:pt x="231901" y="58927"/>
                </a:lnTo>
                <a:lnTo>
                  <a:pt x="227965" y="54736"/>
                </a:lnTo>
                <a:lnTo>
                  <a:pt x="223012" y="51561"/>
                </a:lnTo>
                <a:lnTo>
                  <a:pt x="217297" y="49148"/>
                </a:lnTo>
                <a:lnTo>
                  <a:pt x="211581" y="46862"/>
                </a:lnTo>
                <a:lnTo>
                  <a:pt x="205104" y="45719"/>
                </a:lnTo>
                <a:close/>
              </a:path>
              <a:path w="439420" h="168910">
                <a:moveTo>
                  <a:pt x="294004" y="48132"/>
                </a:moveTo>
                <a:lnTo>
                  <a:pt x="269748" y="48132"/>
                </a:lnTo>
                <a:lnTo>
                  <a:pt x="269748" y="166496"/>
                </a:lnTo>
                <a:lnTo>
                  <a:pt x="305180" y="166496"/>
                </a:lnTo>
                <a:lnTo>
                  <a:pt x="305180" y="93852"/>
                </a:lnTo>
                <a:lnTo>
                  <a:pt x="309540" y="87352"/>
                </a:lnTo>
                <a:lnTo>
                  <a:pt x="314626" y="82708"/>
                </a:lnTo>
                <a:lnTo>
                  <a:pt x="320268" y="80009"/>
                </a:lnTo>
                <a:lnTo>
                  <a:pt x="319832" y="80009"/>
                </a:lnTo>
                <a:lnTo>
                  <a:pt x="326125" y="79120"/>
                </a:lnTo>
                <a:lnTo>
                  <a:pt x="341680" y="79120"/>
                </a:lnTo>
                <a:lnTo>
                  <a:pt x="342900" y="78358"/>
                </a:lnTo>
                <a:lnTo>
                  <a:pt x="343408" y="77215"/>
                </a:lnTo>
                <a:lnTo>
                  <a:pt x="343789" y="75691"/>
                </a:lnTo>
                <a:lnTo>
                  <a:pt x="345231" y="67436"/>
                </a:lnTo>
                <a:lnTo>
                  <a:pt x="302895" y="67436"/>
                </a:lnTo>
                <a:lnTo>
                  <a:pt x="300823" y="55371"/>
                </a:lnTo>
                <a:lnTo>
                  <a:pt x="298069" y="49910"/>
                </a:lnTo>
                <a:lnTo>
                  <a:pt x="297306" y="49275"/>
                </a:lnTo>
                <a:lnTo>
                  <a:pt x="296291" y="48767"/>
                </a:lnTo>
                <a:lnTo>
                  <a:pt x="295148" y="48386"/>
                </a:lnTo>
                <a:lnTo>
                  <a:pt x="294004" y="48132"/>
                </a:lnTo>
                <a:close/>
              </a:path>
              <a:path w="439420" h="168910">
                <a:moveTo>
                  <a:pt x="341706" y="79120"/>
                </a:moveTo>
                <a:lnTo>
                  <a:pt x="331977" y="79120"/>
                </a:lnTo>
                <a:lnTo>
                  <a:pt x="335957" y="80009"/>
                </a:lnTo>
                <a:lnTo>
                  <a:pt x="339851" y="80009"/>
                </a:lnTo>
                <a:lnTo>
                  <a:pt x="340995" y="79628"/>
                </a:lnTo>
                <a:lnTo>
                  <a:pt x="341706" y="79120"/>
                </a:lnTo>
                <a:close/>
              </a:path>
              <a:path w="439420" h="168910">
                <a:moveTo>
                  <a:pt x="340741" y="45719"/>
                </a:moveTo>
                <a:lnTo>
                  <a:pt x="328929" y="45719"/>
                </a:lnTo>
                <a:lnTo>
                  <a:pt x="322961" y="47625"/>
                </a:lnTo>
                <a:lnTo>
                  <a:pt x="317626" y="51561"/>
                </a:lnTo>
                <a:lnTo>
                  <a:pt x="312166" y="55371"/>
                </a:lnTo>
                <a:lnTo>
                  <a:pt x="307340" y="60705"/>
                </a:lnTo>
                <a:lnTo>
                  <a:pt x="302895" y="67436"/>
                </a:lnTo>
                <a:lnTo>
                  <a:pt x="345231" y="67436"/>
                </a:lnTo>
                <a:lnTo>
                  <a:pt x="348183" y="50545"/>
                </a:lnTo>
                <a:lnTo>
                  <a:pt x="348294" y="49910"/>
                </a:lnTo>
                <a:lnTo>
                  <a:pt x="348361" y="49529"/>
                </a:lnTo>
                <a:lnTo>
                  <a:pt x="345059" y="46989"/>
                </a:lnTo>
                <a:lnTo>
                  <a:pt x="340741" y="45719"/>
                </a:lnTo>
                <a:close/>
              </a:path>
              <a:path w="439420" h="168910">
                <a:moveTo>
                  <a:pt x="58674" y="0"/>
                </a:moveTo>
                <a:lnTo>
                  <a:pt x="0" y="0"/>
                </a:lnTo>
                <a:lnTo>
                  <a:pt x="0" y="166496"/>
                </a:lnTo>
                <a:lnTo>
                  <a:pt x="38608" y="166496"/>
                </a:lnTo>
                <a:lnTo>
                  <a:pt x="38608" y="110870"/>
                </a:lnTo>
                <a:lnTo>
                  <a:pt x="58674" y="110870"/>
                </a:lnTo>
                <a:lnTo>
                  <a:pt x="97027" y="103885"/>
                </a:lnTo>
                <a:lnTo>
                  <a:pt x="119968" y="81660"/>
                </a:lnTo>
                <a:lnTo>
                  <a:pt x="38608" y="81660"/>
                </a:lnTo>
                <a:lnTo>
                  <a:pt x="38608" y="28955"/>
                </a:lnTo>
                <a:lnTo>
                  <a:pt x="120278" y="28955"/>
                </a:lnTo>
                <a:lnTo>
                  <a:pt x="119252" y="26288"/>
                </a:lnTo>
                <a:lnTo>
                  <a:pt x="82301" y="2357"/>
                </a:lnTo>
                <a:lnTo>
                  <a:pt x="67200" y="261"/>
                </a:lnTo>
                <a:lnTo>
                  <a:pt x="58674" y="0"/>
                </a:lnTo>
                <a:close/>
              </a:path>
              <a:path w="439420" h="168910">
                <a:moveTo>
                  <a:pt x="120278" y="28955"/>
                </a:moveTo>
                <a:lnTo>
                  <a:pt x="63626" y="28955"/>
                </a:lnTo>
                <a:lnTo>
                  <a:pt x="67818" y="29463"/>
                </a:lnTo>
                <a:lnTo>
                  <a:pt x="74929" y="32003"/>
                </a:lnTo>
                <a:lnTo>
                  <a:pt x="86995" y="50545"/>
                </a:lnTo>
                <a:lnTo>
                  <a:pt x="86995" y="62991"/>
                </a:lnTo>
                <a:lnTo>
                  <a:pt x="84836" y="69722"/>
                </a:lnTo>
                <a:lnTo>
                  <a:pt x="80391" y="74548"/>
                </a:lnTo>
                <a:lnTo>
                  <a:pt x="75946" y="79247"/>
                </a:lnTo>
                <a:lnTo>
                  <a:pt x="68706" y="81660"/>
                </a:lnTo>
                <a:lnTo>
                  <a:pt x="119968" y="81660"/>
                </a:lnTo>
                <a:lnTo>
                  <a:pt x="121666" y="77215"/>
                </a:lnTo>
                <a:lnTo>
                  <a:pt x="124333" y="70357"/>
                </a:lnTo>
                <a:lnTo>
                  <a:pt x="125683" y="62991"/>
                </a:lnTo>
                <a:lnTo>
                  <a:pt x="125729" y="46735"/>
                </a:lnTo>
                <a:lnTo>
                  <a:pt x="124333" y="39496"/>
                </a:lnTo>
                <a:lnTo>
                  <a:pt x="120278" y="28955"/>
                </a:lnTo>
                <a:close/>
              </a:path>
              <a:path w="439420" h="168910">
                <a:moveTo>
                  <a:pt x="406526" y="72389"/>
                </a:moveTo>
                <a:lnTo>
                  <a:pt x="371094" y="72389"/>
                </a:lnTo>
                <a:lnTo>
                  <a:pt x="371174" y="139445"/>
                </a:lnTo>
                <a:lnTo>
                  <a:pt x="371855" y="143763"/>
                </a:lnTo>
                <a:lnTo>
                  <a:pt x="373379" y="147954"/>
                </a:lnTo>
                <a:lnTo>
                  <a:pt x="374903" y="152272"/>
                </a:lnTo>
                <a:lnTo>
                  <a:pt x="377063" y="155955"/>
                </a:lnTo>
                <a:lnTo>
                  <a:pt x="379984" y="158876"/>
                </a:lnTo>
                <a:lnTo>
                  <a:pt x="382904" y="161925"/>
                </a:lnTo>
                <a:lnTo>
                  <a:pt x="386588" y="164210"/>
                </a:lnTo>
                <a:lnTo>
                  <a:pt x="395224" y="167512"/>
                </a:lnTo>
                <a:lnTo>
                  <a:pt x="400176" y="168401"/>
                </a:lnTo>
                <a:lnTo>
                  <a:pt x="411861" y="168401"/>
                </a:lnTo>
                <a:lnTo>
                  <a:pt x="417829" y="167512"/>
                </a:lnTo>
                <a:lnTo>
                  <a:pt x="423545" y="165734"/>
                </a:lnTo>
                <a:lnTo>
                  <a:pt x="428820" y="164210"/>
                </a:lnTo>
                <a:lnTo>
                  <a:pt x="429006" y="164210"/>
                </a:lnTo>
                <a:lnTo>
                  <a:pt x="434340" y="161543"/>
                </a:lnTo>
                <a:lnTo>
                  <a:pt x="438912" y="158114"/>
                </a:lnTo>
                <a:lnTo>
                  <a:pt x="428244" y="141223"/>
                </a:lnTo>
                <a:lnTo>
                  <a:pt x="427958" y="140842"/>
                </a:lnTo>
                <a:lnTo>
                  <a:pt x="411734" y="140842"/>
                </a:lnTo>
                <a:lnTo>
                  <a:pt x="410373" y="140207"/>
                </a:lnTo>
                <a:lnTo>
                  <a:pt x="410028" y="140207"/>
                </a:lnTo>
                <a:lnTo>
                  <a:pt x="408731" y="138556"/>
                </a:lnTo>
                <a:lnTo>
                  <a:pt x="407162" y="136270"/>
                </a:lnTo>
                <a:lnTo>
                  <a:pt x="406526" y="134111"/>
                </a:lnTo>
                <a:lnTo>
                  <a:pt x="406526" y="72389"/>
                </a:lnTo>
                <a:close/>
              </a:path>
              <a:path w="439420" h="168910">
                <a:moveTo>
                  <a:pt x="427481" y="140207"/>
                </a:moveTo>
                <a:lnTo>
                  <a:pt x="418041" y="140207"/>
                </a:lnTo>
                <a:lnTo>
                  <a:pt x="417449" y="140461"/>
                </a:lnTo>
                <a:lnTo>
                  <a:pt x="416306" y="140842"/>
                </a:lnTo>
                <a:lnTo>
                  <a:pt x="427958" y="140842"/>
                </a:lnTo>
                <a:lnTo>
                  <a:pt x="427481" y="140207"/>
                </a:lnTo>
                <a:close/>
              </a:path>
              <a:path w="439420" h="168910">
                <a:moveTo>
                  <a:pt x="425735" y="138556"/>
                </a:moveTo>
                <a:lnTo>
                  <a:pt x="421640" y="138556"/>
                </a:lnTo>
                <a:lnTo>
                  <a:pt x="421004" y="138810"/>
                </a:lnTo>
                <a:lnTo>
                  <a:pt x="420497" y="139191"/>
                </a:lnTo>
                <a:lnTo>
                  <a:pt x="419735" y="139445"/>
                </a:lnTo>
                <a:lnTo>
                  <a:pt x="418465" y="140207"/>
                </a:lnTo>
                <a:lnTo>
                  <a:pt x="417957" y="140207"/>
                </a:lnTo>
                <a:lnTo>
                  <a:pt x="420243" y="139445"/>
                </a:lnTo>
                <a:lnTo>
                  <a:pt x="426847" y="139445"/>
                </a:lnTo>
                <a:lnTo>
                  <a:pt x="425735" y="138556"/>
                </a:lnTo>
                <a:close/>
              </a:path>
              <a:path w="439420" h="168910">
                <a:moveTo>
                  <a:pt x="406526" y="13588"/>
                </a:moveTo>
                <a:lnTo>
                  <a:pt x="383667" y="13588"/>
                </a:lnTo>
                <a:lnTo>
                  <a:pt x="381126" y="15366"/>
                </a:lnTo>
                <a:lnTo>
                  <a:pt x="373252" y="48005"/>
                </a:lnTo>
                <a:lnTo>
                  <a:pt x="354329" y="51688"/>
                </a:lnTo>
                <a:lnTo>
                  <a:pt x="354329" y="67817"/>
                </a:lnTo>
                <a:lnTo>
                  <a:pt x="354965" y="69468"/>
                </a:lnTo>
                <a:lnTo>
                  <a:pt x="356235" y="70738"/>
                </a:lnTo>
                <a:lnTo>
                  <a:pt x="357631" y="71881"/>
                </a:lnTo>
                <a:lnTo>
                  <a:pt x="359155" y="72389"/>
                </a:lnTo>
                <a:lnTo>
                  <a:pt x="435228" y="72389"/>
                </a:lnTo>
                <a:lnTo>
                  <a:pt x="435228" y="48259"/>
                </a:lnTo>
                <a:lnTo>
                  <a:pt x="406526" y="48259"/>
                </a:lnTo>
                <a:lnTo>
                  <a:pt x="406526" y="13588"/>
                </a:lnTo>
                <a:close/>
              </a:path>
            </a:pathLst>
          </a:custGeom>
          <a:solidFill>
            <a:srgbClr val="9E0A2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1" name="object 5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9132443" y="2020189"/>
            <a:ext cx="118236" cy="17030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6927" y="2346198"/>
            <a:ext cx="1441729" cy="19329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86300" y="2346198"/>
            <a:ext cx="1644269" cy="233172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6398259" y="2346960"/>
            <a:ext cx="812800" cy="232410"/>
          </a:xfrm>
          <a:custGeom>
            <a:avLst/>
            <a:gdLst/>
            <a:ahLst/>
            <a:cxnLst/>
            <a:rect l="l" t="t" r="r" b="b"/>
            <a:pathLst>
              <a:path w="812800" h="232410">
                <a:moveTo>
                  <a:pt x="292988" y="5079"/>
                </a:moveTo>
                <a:lnTo>
                  <a:pt x="224789" y="5079"/>
                </a:lnTo>
                <a:lnTo>
                  <a:pt x="224789" y="190500"/>
                </a:lnTo>
                <a:lnTo>
                  <a:pt x="298831" y="190500"/>
                </a:lnTo>
                <a:lnTo>
                  <a:pt x="306901" y="190236"/>
                </a:lnTo>
                <a:lnTo>
                  <a:pt x="344423" y="179450"/>
                </a:lnTo>
                <a:lnTo>
                  <a:pt x="350265" y="174370"/>
                </a:lnTo>
                <a:lnTo>
                  <a:pt x="356235" y="169417"/>
                </a:lnTo>
                <a:lnTo>
                  <a:pt x="360680" y="163449"/>
                </a:lnTo>
                <a:lnTo>
                  <a:pt x="363095" y="158114"/>
                </a:lnTo>
                <a:lnTo>
                  <a:pt x="267715" y="158114"/>
                </a:lnTo>
                <a:lnTo>
                  <a:pt x="267715" y="111887"/>
                </a:lnTo>
                <a:lnTo>
                  <a:pt x="361617" y="111887"/>
                </a:lnTo>
                <a:lnTo>
                  <a:pt x="359537" y="108965"/>
                </a:lnTo>
                <a:lnTo>
                  <a:pt x="354558" y="104348"/>
                </a:lnTo>
                <a:lnTo>
                  <a:pt x="348376" y="100409"/>
                </a:lnTo>
                <a:lnTo>
                  <a:pt x="340981" y="97160"/>
                </a:lnTo>
                <a:lnTo>
                  <a:pt x="332359" y="94614"/>
                </a:lnTo>
                <a:lnTo>
                  <a:pt x="338073" y="92455"/>
                </a:lnTo>
                <a:lnTo>
                  <a:pt x="342772" y="90169"/>
                </a:lnTo>
                <a:lnTo>
                  <a:pt x="346837" y="87375"/>
                </a:lnTo>
                <a:lnTo>
                  <a:pt x="350773" y="84581"/>
                </a:lnTo>
                <a:lnTo>
                  <a:pt x="352424" y="83057"/>
                </a:lnTo>
                <a:lnTo>
                  <a:pt x="267715" y="83057"/>
                </a:lnTo>
                <a:lnTo>
                  <a:pt x="267715" y="37337"/>
                </a:lnTo>
                <a:lnTo>
                  <a:pt x="361267" y="37337"/>
                </a:lnTo>
                <a:lnTo>
                  <a:pt x="360044" y="34543"/>
                </a:lnTo>
                <a:lnTo>
                  <a:pt x="357505" y="28320"/>
                </a:lnTo>
                <a:lnTo>
                  <a:pt x="318581" y="7062"/>
                </a:lnTo>
                <a:lnTo>
                  <a:pt x="302250" y="5296"/>
                </a:lnTo>
                <a:lnTo>
                  <a:pt x="292988" y="5079"/>
                </a:lnTo>
                <a:close/>
              </a:path>
              <a:path w="812800" h="232410">
                <a:moveTo>
                  <a:pt x="361617" y="111887"/>
                </a:moveTo>
                <a:lnTo>
                  <a:pt x="303275" y="111887"/>
                </a:lnTo>
                <a:lnTo>
                  <a:pt x="307720" y="112394"/>
                </a:lnTo>
                <a:lnTo>
                  <a:pt x="314833" y="114426"/>
                </a:lnTo>
                <a:lnTo>
                  <a:pt x="325755" y="130301"/>
                </a:lnTo>
                <a:lnTo>
                  <a:pt x="325755" y="136778"/>
                </a:lnTo>
                <a:lnTo>
                  <a:pt x="325373" y="139700"/>
                </a:lnTo>
                <a:lnTo>
                  <a:pt x="324612" y="142493"/>
                </a:lnTo>
                <a:lnTo>
                  <a:pt x="323849" y="145414"/>
                </a:lnTo>
                <a:lnTo>
                  <a:pt x="322453" y="147954"/>
                </a:lnTo>
                <a:lnTo>
                  <a:pt x="318388" y="152526"/>
                </a:lnTo>
                <a:lnTo>
                  <a:pt x="315594" y="154431"/>
                </a:lnTo>
                <a:lnTo>
                  <a:pt x="312038" y="155828"/>
                </a:lnTo>
                <a:lnTo>
                  <a:pt x="308356" y="157352"/>
                </a:lnTo>
                <a:lnTo>
                  <a:pt x="303784" y="158114"/>
                </a:lnTo>
                <a:lnTo>
                  <a:pt x="363095" y="158114"/>
                </a:lnTo>
                <a:lnTo>
                  <a:pt x="366775" y="149860"/>
                </a:lnTo>
                <a:lnTo>
                  <a:pt x="368299" y="142493"/>
                </a:lnTo>
                <a:lnTo>
                  <a:pt x="368299" y="134619"/>
                </a:lnTo>
                <a:lnTo>
                  <a:pt x="367758" y="127253"/>
                </a:lnTo>
                <a:lnTo>
                  <a:pt x="366109" y="120411"/>
                </a:lnTo>
                <a:lnTo>
                  <a:pt x="363405" y="114426"/>
                </a:lnTo>
                <a:lnTo>
                  <a:pt x="361617" y="111887"/>
                </a:lnTo>
                <a:close/>
              </a:path>
              <a:path w="812800" h="232410">
                <a:moveTo>
                  <a:pt x="361267" y="37337"/>
                </a:moveTo>
                <a:lnTo>
                  <a:pt x="297814" y="37337"/>
                </a:lnTo>
                <a:lnTo>
                  <a:pt x="302006" y="37718"/>
                </a:lnTo>
                <a:lnTo>
                  <a:pt x="308990" y="39242"/>
                </a:lnTo>
                <a:lnTo>
                  <a:pt x="312204" y="40639"/>
                </a:lnTo>
                <a:lnTo>
                  <a:pt x="312075" y="40639"/>
                </a:lnTo>
                <a:lnTo>
                  <a:pt x="316484" y="44068"/>
                </a:lnTo>
                <a:lnTo>
                  <a:pt x="318262" y="46354"/>
                </a:lnTo>
                <a:lnTo>
                  <a:pt x="319278" y="49275"/>
                </a:lnTo>
                <a:lnTo>
                  <a:pt x="320420" y="52197"/>
                </a:lnTo>
                <a:lnTo>
                  <a:pt x="320929" y="55879"/>
                </a:lnTo>
                <a:lnTo>
                  <a:pt x="320929" y="64769"/>
                </a:lnTo>
                <a:lnTo>
                  <a:pt x="320293" y="68579"/>
                </a:lnTo>
                <a:lnTo>
                  <a:pt x="318896" y="71500"/>
                </a:lnTo>
                <a:lnTo>
                  <a:pt x="317499" y="74549"/>
                </a:lnTo>
                <a:lnTo>
                  <a:pt x="315467" y="76835"/>
                </a:lnTo>
                <a:lnTo>
                  <a:pt x="312800" y="78486"/>
                </a:lnTo>
                <a:lnTo>
                  <a:pt x="310134" y="80263"/>
                </a:lnTo>
                <a:lnTo>
                  <a:pt x="306832" y="81406"/>
                </a:lnTo>
                <a:lnTo>
                  <a:pt x="303021" y="82041"/>
                </a:lnTo>
                <a:lnTo>
                  <a:pt x="299212" y="82803"/>
                </a:lnTo>
                <a:lnTo>
                  <a:pt x="294893" y="83057"/>
                </a:lnTo>
                <a:lnTo>
                  <a:pt x="352424" y="83057"/>
                </a:lnTo>
                <a:lnTo>
                  <a:pt x="354075" y="81534"/>
                </a:lnTo>
                <a:lnTo>
                  <a:pt x="356615" y="78104"/>
                </a:lnTo>
                <a:lnTo>
                  <a:pt x="359156" y="74802"/>
                </a:lnTo>
                <a:lnTo>
                  <a:pt x="361061" y="71119"/>
                </a:lnTo>
                <a:lnTo>
                  <a:pt x="362204" y="67310"/>
                </a:lnTo>
                <a:lnTo>
                  <a:pt x="363346" y="63373"/>
                </a:lnTo>
                <a:lnTo>
                  <a:pt x="363982" y="59436"/>
                </a:lnTo>
                <a:lnTo>
                  <a:pt x="363982" y="47625"/>
                </a:lnTo>
                <a:lnTo>
                  <a:pt x="362712" y="40639"/>
                </a:lnTo>
                <a:lnTo>
                  <a:pt x="361267" y="37337"/>
                </a:lnTo>
                <a:close/>
              </a:path>
              <a:path w="812800" h="232410">
                <a:moveTo>
                  <a:pt x="451231" y="56514"/>
                </a:moveTo>
                <a:lnTo>
                  <a:pt x="408178" y="68834"/>
                </a:lnTo>
                <a:lnTo>
                  <a:pt x="386218" y="102488"/>
                </a:lnTo>
                <a:lnTo>
                  <a:pt x="383539" y="124205"/>
                </a:lnTo>
                <a:lnTo>
                  <a:pt x="383829" y="131901"/>
                </a:lnTo>
                <a:lnTo>
                  <a:pt x="397992" y="169477"/>
                </a:lnTo>
                <a:lnTo>
                  <a:pt x="436737" y="191357"/>
                </a:lnTo>
                <a:lnTo>
                  <a:pt x="451231" y="192531"/>
                </a:lnTo>
                <a:lnTo>
                  <a:pt x="458515" y="192242"/>
                </a:lnTo>
                <a:lnTo>
                  <a:pt x="499744" y="174116"/>
                </a:lnTo>
                <a:lnTo>
                  <a:pt x="508132" y="163322"/>
                </a:lnTo>
                <a:lnTo>
                  <a:pt x="441833" y="163322"/>
                </a:lnTo>
                <a:lnTo>
                  <a:pt x="434974" y="160019"/>
                </a:lnTo>
                <a:lnTo>
                  <a:pt x="424180" y="124460"/>
                </a:lnTo>
                <a:lnTo>
                  <a:pt x="424527" y="116586"/>
                </a:lnTo>
                <a:lnTo>
                  <a:pt x="424584" y="115290"/>
                </a:lnTo>
                <a:lnTo>
                  <a:pt x="441833" y="85725"/>
                </a:lnTo>
                <a:lnTo>
                  <a:pt x="508934" y="85725"/>
                </a:lnTo>
                <a:lnTo>
                  <a:pt x="505587" y="80517"/>
                </a:lnTo>
                <a:lnTo>
                  <a:pt x="472180" y="59140"/>
                </a:lnTo>
                <a:lnTo>
                  <a:pt x="458515" y="56802"/>
                </a:lnTo>
                <a:lnTo>
                  <a:pt x="451231" y="56514"/>
                </a:lnTo>
                <a:close/>
              </a:path>
              <a:path w="812800" h="232410">
                <a:moveTo>
                  <a:pt x="508934" y="85725"/>
                </a:moveTo>
                <a:lnTo>
                  <a:pt x="460247" y="85725"/>
                </a:lnTo>
                <a:lnTo>
                  <a:pt x="466979" y="88900"/>
                </a:lnTo>
                <a:lnTo>
                  <a:pt x="471169" y="95376"/>
                </a:lnTo>
                <a:lnTo>
                  <a:pt x="474003" y="100760"/>
                </a:lnTo>
                <a:lnTo>
                  <a:pt x="476027" y="107394"/>
                </a:lnTo>
                <a:lnTo>
                  <a:pt x="477242" y="115290"/>
                </a:lnTo>
                <a:lnTo>
                  <a:pt x="477635" y="124205"/>
                </a:lnTo>
                <a:lnTo>
                  <a:pt x="477646" y="124460"/>
                </a:lnTo>
                <a:lnTo>
                  <a:pt x="477319" y="131901"/>
                </a:lnTo>
                <a:lnTo>
                  <a:pt x="477242" y="133649"/>
                </a:lnTo>
                <a:lnTo>
                  <a:pt x="476027" y="141589"/>
                </a:lnTo>
                <a:lnTo>
                  <a:pt x="474003" y="148266"/>
                </a:lnTo>
                <a:lnTo>
                  <a:pt x="471169" y="153669"/>
                </a:lnTo>
                <a:lnTo>
                  <a:pt x="466979" y="160019"/>
                </a:lnTo>
                <a:lnTo>
                  <a:pt x="460247" y="163322"/>
                </a:lnTo>
                <a:lnTo>
                  <a:pt x="508132" y="163322"/>
                </a:lnTo>
                <a:lnTo>
                  <a:pt x="518403" y="124460"/>
                </a:lnTo>
                <a:lnTo>
                  <a:pt x="518413" y="124205"/>
                </a:lnTo>
                <a:lnTo>
                  <a:pt x="510159" y="87629"/>
                </a:lnTo>
                <a:lnTo>
                  <a:pt x="508934" y="85725"/>
                </a:lnTo>
                <a:close/>
              </a:path>
              <a:path w="812800" h="232410">
                <a:moveTo>
                  <a:pt x="594613" y="56006"/>
                </a:moveTo>
                <a:lnTo>
                  <a:pt x="579373" y="56006"/>
                </a:lnTo>
                <a:lnTo>
                  <a:pt x="571754" y="57785"/>
                </a:lnTo>
                <a:lnTo>
                  <a:pt x="557784" y="64642"/>
                </a:lnTo>
                <a:lnTo>
                  <a:pt x="551814" y="69468"/>
                </a:lnTo>
                <a:lnTo>
                  <a:pt x="546862" y="75691"/>
                </a:lnTo>
                <a:lnTo>
                  <a:pt x="541909" y="81787"/>
                </a:lnTo>
                <a:lnTo>
                  <a:pt x="531367" y="124967"/>
                </a:lnTo>
                <a:lnTo>
                  <a:pt x="531562" y="131952"/>
                </a:lnTo>
                <a:lnTo>
                  <a:pt x="537190" y="161416"/>
                </a:lnTo>
                <a:lnTo>
                  <a:pt x="537263" y="161670"/>
                </a:lnTo>
                <a:lnTo>
                  <a:pt x="537337" y="161925"/>
                </a:lnTo>
                <a:lnTo>
                  <a:pt x="540638" y="168910"/>
                </a:lnTo>
                <a:lnTo>
                  <a:pt x="544957" y="174751"/>
                </a:lnTo>
                <a:lnTo>
                  <a:pt x="549147" y="180466"/>
                </a:lnTo>
                <a:lnTo>
                  <a:pt x="554228" y="184912"/>
                </a:lnTo>
                <a:lnTo>
                  <a:pt x="565912" y="191007"/>
                </a:lnTo>
                <a:lnTo>
                  <a:pt x="572262" y="192531"/>
                </a:lnTo>
                <a:lnTo>
                  <a:pt x="583691" y="192531"/>
                </a:lnTo>
                <a:lnTo>
                  <a:pt x="587883" y="192150"/>
                </a:lnTo>
                <a:lnTo>
                  <a:pt x="594958" y="190500"/>
                </a:lnTo>
                <a:lnTo>
                  <a:pt x="595134" y="190500"/>
                </a:lnTo>
                <a:lnTo>
                  <a:pt x="599186" y="189102"/>
                </a:lnTo>
                <a:lnTo>
                  <a:pt x="602488" y="187325"/>
                </a:lnTo>
                <a:lnTo>
                  <a:pt x="605916" y="185674"/>
                </a:lnTo>
                <a:lnTo>
                  <a:pt x="608761" y="183895"/>
                </a:lnTo>
                <a:lnTo>
                  <a:pt x="614807" y="179197"/>
                </a:lnTo>
                <a:lnTo>
                  <a:pt x="617473" y="176656"/>
                </a:lnTo>
                <a:lnTo>
                  <a:pt x="620140" y="173862"/>
                </a:lnTo>
                <a:lnTo>
                  <a:pt x="657351" y="173862"/>
                </a:lnTo>
                <a:lnTo>
                  <a:pt x="657351" y="162305"/>
                </a:lnTo>
                <a:lnTo>
                  <a:pt x="589788" y="162305"/>
                </a:lnTo>
                <a:lnTo>
                  <a:pt x="586866" y="161670"/>
                </a:lnTo>
                <a:lnTo>
                  <a:pt x="581787" y="159130"/>
                </a:lnTo>
                <a:lnTo>
                  <a:pt x="579628" y="156972"/>
                </a:lnTo>
                <a:lnTo>
                  <a:pt x="577849" y="154050"/>
                </a:lnTo>
                <a:lnTo>
                  <a:pt x="575944" y="151129"/>
                </a:lnTo>
                <a:lnTo>
                  <a:pt x="574547" y="147319"/>
                </a:lnTo>
                <a:lnTo>
                  <a:pt x="573532" y="142493"/>
                </a:lnTo>
                <a:lnTo>
                  <a:pt x="572515" y="137794"/>
                </a:lnTo>
                <a:lnTo>
                  <a:pt x="572077" y="132754"/>
                </a:lnTo>
                <a:lnTo>
                  <a:pt x="572008" y="117752"/>
                </a:lnTo>
                <a:lnTo>
                  <a:pt x="572642" y="111632"/>
                </a:lnTo>
                <a:lnTo>
                  <a:pt x="575183" y="101473"/>
                </a:lnTo>
                <a:lnTo>
                  <a:pt x="576853" y="97536"/>
                </a:lnTo>
                <a:lnTo>
                  <a:pt x="576961" y="97281"/>
                </a:lnTo>
                <a:lnTo>
                  <a:pt x="593597" y="84962"/>
                </a:lnTo>
                <a:lnTo>
                  <a:pt x="657351" y="84962"/>
                </a:lnTo>
                <a:lnTo>
                  <a:pt x="657351" y="66801"/>
                </a:lnTo>
                <a:lnTo>
                  <a:pt x="617855" y="66801"/>
                </a:lnTo>
                <a:lnTo>
                  <a:pt x="614044" y="63626"/>
                </a:lnTo>
                <a:lnTo>
                  <a:pt x="609726" y="60960"/>
                </a:lnTo>
                <a:lnTo>
                  <a:pt x="605028" y="58927"/>
                </a:lnTo>
                <a:lnTo>
                  <a:pt x="600329" y="57023"/>
                </a:lnTo>
                <a:lnTo>
                  <a:pt x="594613" y="56006"/>
                </a:lnTo>
                <a:close/>
              </a:path>
              <a:path w="812800" h="232410">
                <a:moveTo>
                  <a:pt x="657351" y="173862"/>
                </a:moveTo>
                <a:lnTo>
                  <a:pt x="620140" y="173862"/>
                </a:lnTo>
                <a:lnTo>
                  <a:pt x="623188" y="183895"/>
                </a:lnTo>
                <a:lnTo>
                  <a:pt x="623711" y="185674"/>
                </a:lnTo>
                <a:lnTo>
                  <a:pt x="623823" y="186054"/>
                </a:lnTo>
                <a:lnTo>
                  <a:pt x="625093" y="187705"/>
                </a:lnTo>
                <a:lnTo>
                  <a:pt x="628395" y="189991"/>
                </a:lnTo>
                <a:lnTo>
                  <a:pt x="630428" y="190500"/>
                </a:lnTo>
                <a:lnTo>
                  <a:pt x="657351" y="190500"/>
                </a:lnTo>
                <a:lnTo>
                  <a:pt x="657351" y="173862"/>
                </a:lnTo>
                <a:close/>
              </a:path>
              <a:path w="812800" h="232410">
                <a:moveTo>
                  <a:pt x="657351" y="84962"/>
                </a:moveTo>
                <a:lnTo>
                  <a:pt x="601090" y="84962"/>
                </a:lnTo>
                <a:lnTo>
                  <a:pt x="604646" y="85725"/>
                </a:lnTo>
                <a:lnTo>
                  <a:pt x="611505" y="88264"/>
                </a:lnTo>
                <a:lnTo>
                  <a:pt x="614807" y="90550"/>
                </a:lnTo>
                <a:lnTo>
                  <a:pt x="617855" y="93979"/>
                </a:lnTo>
                <a:lnTo>
                  <a:pt x="617855" y="149860"/>
                </a:lnTo>
                <a:lnTo>
                  <a:pt x="616204" y="151891"/>
                </a:lnTo>
                <a:lnTo>
                  <a:pt x="614425" y="153669"/>
                </a:lnTo>
                <a:lnTo>
                  <a:pt x="612647" y="155193"/>
                </a:lnTo>
                <a:lnTo>
                  <a:pt x="610996" y="156844"/>
                </a:lnTo>
                <a:lnTo>
                  <a:pt x="600710" y="161416"/>
                </a:lnTo>
                <a:lnTo>
                  <a:pt x="598423" y="161925"/>
                </a:lnTo>
                <a:lnTo>
                  <a:pt x="595757" y="162305"/>
                </a:lnTo>
                <a:lnTo>
                  <a:pt x="657351" y="162305"/>
                </a:lnTo>
                <a:lnTo>
                  <a:pt x="657351" y="84962"/>
                </a:lnTo>
                <a:close/>
              </a:path>
              <a:path w="812800" h="232410">
                <a:moveTo>
                  <a:pt x="657351" y="0"/>
                </a:moveTo>
                <a:lnTo>
                  <a:pt x="617855" y="0"/>
                </a:lnTo>
                <a:lnTo>
                  <a:pt x="617855" y="66801"/>
                </a:lnTo>
                <a:lnTo>
                  <a:pt x="657351" y="66801"/>
                </a:lnTo>
                <a:lnTo>
                  <a:pt x="657351" y="0"/>
                </a:lnTo>
                <a:close/>
              </a:path>
              <a:path w="812800" h="232410">
                <a:moveTo>
                  <a:pt x="710691" y="58547"/>
                </a:moveTo>
                <a:lnTo>
                  <a:pt x="672845" y="58547"/>
                </a:lnTo>
                <a:lnTo>
                  <a:pt x="725423" y="178942"/>
                </a:lnTo>
                <a:lnTo>
                  <a:pt x="700023" y="232410"/>
                </a:lnTo>
                <a:lnTo>
                  <a:pt x="733297" y="232410"/>
                </a:lnTo>
                <a:lnTo>
                  <a:pt x="735964" y="231775"/>
                </a:lnTo>
                <a:lnTo>
                  <a:pt x="778838" y="138049"/>
                </a:lnTo>
                <a:lnTo>
                  <a:pt x="744982" y="138049"/>
                </a:lnTo>
                <a:lnTo>
                  <a:pt x="743712" y="132841"/>
                </a:lnTo>
                <a:lnTo>
                  <a:pt x="742061" y="127507"/>
                </a:lnTo>
                <a:lnTo>
                  <a:pt x="740029" y="122300"/>
                </a:lnTo>
                <a:lnTo>
                  <a:pt x="718312" y="65404"/>
                </a:lnTo>
                <a:lnTo>
                  <a:pt x="717676" y="63500"/>
                </a:lnTo>
                <a:lnTo>
                  <a:pt x="716534" y="61975"/>
                </a:lnTo>
                <a:lnTo>
                  <a:pt x="714756" y="60578"/>
                </a:lnTo>
                <a:lnTo>
                  <a:pt x="713105" y="59181"/>
                </a:lnTo>
                <a:lnTo>
                  <a:pt x="710691" y="58547"/>
                </a:lnTo>
                <a:close/>
              </a:path>
              <a:path w="812800" h="232410">
                <a:moveTo>
                  <a:pt x="812545" y="58547"/>
                </a:moveTo>
                <a:lnTo>
                  <a:pt x="778383" y="58547"/>
                </a:lnTo>
                <a:lnTo>
                  <a:pt x="776223" y="59181"/>
                </a:lnTo>
                <a:lnTo>
                  <a:pt x="774134" y="60578"/>
                </a:lnTo>
                <a:lnTo>
                  <a:pt x="772179" y="61975"/>
                </a:lnTo>
                <a:lnTo>
                  <a:pt x="770889" y="63500"/>
                </a:lnTo>
                <a:lnTo>
                  <a:pt x="770255" y="65404"/>
                </a:lnTo>
                <a:lnTo>
                  <a:pt x="750696" y="122047"/>
                </a:lnTo>
                <a:lnTo>
                  <a:pt x="749681" y="124713"/>
                </a:lnTo>
                <a:lnTo>
                  <a:pt x="748743" y="127507"/>
                </a:lnTo>
                <a:lnTo>
                  <a:pt x="745743" y="135381"/>
                </a:lnTo>
                <a:lnTo>
                  <a:pt x="744982" y="138049"/>
                </a:lnTo>
                <a:lnTo>
                  <a:pt x="778838" y="138049"/>
                </a:lnTo>
                <a:lnTo>
                  <a:pt x="812545" y="58547"/>
                </a:lnTo>
                <a:close/>
              </a:path>
              <a:path w="812800" h="232410">
                <a:moveTo>
                  <a:pt x="103886" y="58547"/>
                </a:moveTo>
                <a:lnTo>
                  <a:pt x="76962" y="58547"/>
                </a:lnTo>
                <a:lnTo>
                  <a:pt x="76962" y="190500"/>
                </a:lnTo>
                <a:lnTo>
                  <a:pt x="116332" y="190500"/>
                </a:lnTo>
                <a:lnTo>
                  <a:pt x="116332" y="96519"/>
                </a:lnTo>
                <a:lnTo>
                  <a:pt x="119887" y="93344"/>
                </a:lnTo>
                <a:lnTo>
                  <a:pt x="123443" y="90804"/>
                </a:lnTo>
                <a:lnTo>
                  <a:pt x="127381" y="88900"/>
                </a:lnTo>
                <a:lnTo>
                  <a:pt x="131190" y="87122"/>
                </a:lnTo>
                <a:lnTo>
                  <a:pt x="135255" y="86105"/>
                </a:lnTo>
                <a:lnTo>
                  <a:pt x="193509" y="86105"/>
                </a:lnTo>
                <a:lnTo>
                  <a:pt x="191642" y="80390"/>
                </a:lnTo>
                <a:lnTo>
                  <a:pt x="188848" y="75184"/>
                </a:lnTo>
                <a:lnTo>
                  <a:pt x="186711" y="72770"/>
                </a:lnTo>
                <a:lnTo>
                  <a:pt x="113284" y="72770"/>
                </a:lnTo>
                <a:lnTo>
                  <a:pt x="110362" y="62991"/>
                </a:lnTo>
                <a:lnTo>
                  <a:pt x="109219" y="61340"/>
                </a:lnTo>
                <a:lnTo>
                  <a:pt x="105917" y="59054"/>
                </a:lnTo>
                <a:lnTo>
                  <a:pt x="103886" y="58547"/>
                </a:lnTo>
                <a:close/>
              </a:path>
              <a:path w="812800" h="232410">
                <a:moveTo>
                  <a:pt x="193509" y="86105"/>
                </a:moveTo>
                <a:lnTo>
                  <a:pt x="145287" y="86105"/>
                </a:lnTo>
                <a:lnTo>
                  <a:pt x="149733" y="88011"/>
                </a:lnTo>
                <a:lnTo>
                  <a:pt x="155574" y="95123"/>
                </a:lnTo>
                <a:lnTo>
                  <a:pt x="157098" y="100202"/>
                </a:lnTo>
                <a:lnTo>
                  <a:pt x="157098" y="190500"/>
                </a:lnTo>
                <a:lnTo>
                  <a:pt x="196595" y="190500"/>
                </a:lnTo>
                <a:lnTo>
                  <a:pt x="196595" y="99440"/>
                </a:lnTo>
                <a:lnTo>
                  <a:pt x="195675" y="93344"/>
                </a:lnTo>
                <a:lnTo>
                  <a:pt x="195580" y="92710"/>
                </a:lnTo>
                <a:lnTo>
                  <a:pt x="193509" y="86105"/>
                </a:lnTo>
                <a:close/>
              </a:path>
              <a:path w="812800" h="232410">
                <a:moveTo>
                  <a:pt x="159004" y="56514"/>
                </a:moveTo>
                <a:lnTo>
                  <a:pt x="147573" y="56514"/>
                </a:lnTo>
                <a:lnTo>
                  <a:pt x="143637" y="56895"/>
                </a:lnTo>
                <a:lnTo>
                  <a:pt x="113284" y="72770"/>
                </a:lnTo>
                <a:lnTo>
                  <a:pt x="186711" y="72770"/>
                </a:lnTo>
                <a:lnTo>
                  <a:pt x="184912" y="70738"/>
                </a:lnTo>
                <a:lnTo>
                  <a:pt x="181101" y="66293"/>
                </a:lnTo>
                <a:lnTo>
                  <a:pt x="176403" y="62737"/>
                </a:lnTo>
                <a:lnTo>
                  <a:pt x="170941" y="60198"/>
                </a:lnTo>
                <a:lnTo>
                  <a:pt x="165354" y="57785"/>
                </a:lnTo>
                <a:lnTo>
                  <a:pt x="159004" y="56514"/>
                </a:lnTo>
                <a:close/>
              </a:path>
              <a:path w="812800" h="232410">
                <a:moveTo>
                  <a:pt x="43179" y="5079"/>
                </a:moveTo>
                <a:lnTo>
                  <a:pt x="0" y="5079"/>
                </a:lnTo>
                <a:lnTo>
                  <a:pt x="0" y="190500"/>
                </a:lnTo>
                <a:lnTo>
                  <a:pt x="43179" y="190500"/>
                </a:lnTo>
                <a:lnTo>
                  <a:pt x="43179" y="5079"/>
                </a:lnTo>
                <a:close/>
              </a:path>
            </a:pathLst>
          </a:custGeom>
          <a:solidFill>
            <a:srgbClr val="3B3B3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615426" y="2346198"/>
            <a:ext cx="1571752" cy="193293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778763" y="2872739"/>
            <a:ext cx="503555" cy="45720"/>
          </a:xfrm>
          <a:custGeom>
            <a:avLst/>
            <a:gdLst/>
            <a:ahLst/>
            <a:cxnLst/>
            <a:rect l="l" t="t" r="r" b="b"/>
            <a:pathLst>
              <a:path w="503555" h="45719">
                <a:moveTo>
                  <a:pt x="0" y="45720"/>
                </a:moveTo>
                <a:lnTo>
                  <a:pt x="499872" y="45720"/>
                </a:lnTo>
              </a:path>
              <a:path w="503555" h="45719">
                <a:moveTo>
                  <a:pt x="503427" y="43434"/>
                </a:moveTo>
                <a:lnTo>
                  <a:pt x="464820" y="0"/>
                </a:lnTo>
              </a:path>
            </a:pathLst>
          </a:custGeom>
          <a:ln w="12192">
            <a:solidFill>
              <a:srgbClr val="3B3B3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703064" y="2872739"/>
            <a:ext cx="503555" cy="45720"/>
          </a:xfrm>
          <a:custGeom>
            <a:avLst/>
            <a:gdLst/>
            <a:ahLst/>
            <a:cxnLst/>
            <a:rect l="l" t="t" r="r" b="b"/>
            <a:pathLst>
              <a:path w="503554" h="45719">
                <a:moveTo>
                  <a:pt x="0" y="45720"/>
                </a:moveTo>
                <a:lnTo>
                  <a:pt x="499872" y="45720"/>
                </a:lnTo>
              </a:path>
              <a:path w="503554" h="45719">
                <a:moveTo>
                  <a:pt x="503427" y="43434"/>
                </a:moveTo>
                <a:lnTo>
                  <a:pt x="464820" y="0"/>
                </a:lnTo>
              </a:path>
            </a:pathLst>
          </a:custGeom>
          <a:ln w="12192">
            <a:solidFill>
              <a:srgbClr val="3B3B3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628888" y="2872739"/>
            <a:ext cx="503555" cy="45720"/>
          </a:xfrm>
          <a:custGeom>
            <a:avLst/>
            <a:gdLst/>
            <a:ahLst/>
            <a:cxnLst/>
            <a:rect l="l" t="t" r="r" b="b"/>
            <a:pathLst>
              <a:path w="503554" h="45719">
                <a:moveTo>
                  <a:pt x="0" y="45720"/>
                </a:moveTo>
                <a:lnTo>
                  <a:pt x="499871" y="45720"/>
                </a:lnTo>
              </a:path>
              <a:path w="503554" h="45719">
                <a:moveTo>
                  <a:pt x="503427" y="43434"/>
                </a:moveTo>
                <a:lnTo>
                  <a:pt x="464819" y="0"/>
                </a:lnTo>
              </a:path>
            </a:pathLst>
          </a:custGeom>
          <a:ln w="12192">
            <a:solidFill>
              <a:srgbClr val="3B3B3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8578" y="4277867"/>
            <a:ext cx="146050" cy="9918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25232" y="4277233"/>
            <a:ext cx="1572171" cy="12166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06746" y="4277867"/>
            <a:ext cx="146050" cy="9918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61254" y="4278121"/>
            <a:ext cx="450723" cy="12077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624951" y="4277867"/>
            <a:ext cx="146050" cy="9918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876156" y="4278121"/>
            <a:ext cx="1268476" cy="9893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8578" y="4539996"/>
            <a:ext cx="146519" cy="9918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32205" y="4542028"/>
            <a:ext cx="864031" cy="1189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06746" y="4539996"/>
            <a:ext cx="146557" cy="9918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63414" y="4539360"/>
            <a:ext cx="595122" cy="9982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06746" y="4802123"/>
            <a:ext cx="147447" cy="9918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69002" y="4801489"/>
            <a:ext cx="912622" cy="9982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4256" y="4486652"/>
            <a:ext cx="4047744" cy="237134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24951" y="4539996"/>
            <a:ext cx="146557" cy="9918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879458" y="4540884"/>
            <a:ext cx="523892" cy="120141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24951" y="4802123"/>
            <a:ext cx="147447" cy="9918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877554" y="4801489"/>
            <a:ext cx="834009" cy="998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7F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95628" cy="11049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793613" y="2734436"/>
            <a:ext cx="439420" cy="168910"/>
          </a:xfrm>
          <a:custGeom>
            <a:avLst/>
            <a:gdLst/>
            <a:ahLst/>
            <a:cxnLst/>
            <a:rect l="l" t="t" r="r" b="b"/>
            <a:pathLst>
              <a:path w="439420" h="168910">
                <a:moveTo>
                  <a:pt x="240837" y="72898"/>
                </a:moveTo>
                <a:lnTo>
                  <a:pt x="198627" y="72898"/>
                </a:lnTo>
                <a:lnTo>
                  <a:pt x="202691" y="74422"/>
                </a:lnTo>
                <a:lnTo>
                  <a:pt x="208407" y="80645"/>
                </a:lnTo>
                <a:lnTo>
                  <a:pt x="209803" y="85725"/>
                </a:lnTo>
                <a:lnTo>
                  <a:pt x="209803" y="97789"/>
                </a:lnTo>
                <a:lnTo>
                  <a:pt x="200062" y="98008"/>
                </a:lnTo>
                <a:lnTo>
                  <a:pt x="191214" y="98679"/>
                </a:lnTo>
                <a:lnTo>
                  <a:pt x="149606" y="114173"/>
                </a:lnTo>
                <a:lnTo>
                  <a:pt x="140588" y="131445"/>
                </a:lnTo>
                <a:lnTo>
                  <a:pt x="140588" y="140970"/>
                </a:lnTo>
                <a:lnTo>
                  <a:pt x="141248" y="145034"/>
                </a:lnTo>
                <a:lnTo>
                  <a:pt x="141350" y="145668"/>
                </a:lnTo>
                <a:lnTo>
                  <a:pt x="143128" y="149733"/>
                </a:lnTo>
                <a:lnTo>
                  <a:pt x="144779" y="153924"/>
                </a:lnTo>
                <a:lnTo>
                  <a:pt x="147065" y="157225"/>
                </a:lnTo>
                <a:lnTo>
                  <a:pt x="150240" y="160020"/>
                </a:lnTo>
                <a:lnTo>
                  <a:pt x="153288" y="162813"/>
                </a:lnTo>
                <a:lnTo>
                  <a:pt x="157099" y="164846"/>
                </a:lnTo>
                <a:lnTo>
                  <a:pt x="165862" y="167639"/>
                </a:lnTo>
                <a:lnTo>
                  <a:pt x="170814" y="168401"/>
                </a:lnTo>
                <a:lnTo>
                  <a:pt x="180212" y="168401"/>
                </a:lnTo>
                <a:lnTo>
                  <a:pt x="205104" y="159638"/>
                </a:lnTo>
                <a:lnTo>
                  <a:pt x="207899" y="157734"/>
                </a:lnTo>
                <a:lnTo>
                  <a:pt x="210692" y="155448"/>
                </a:lnTo>
                <a:lnTo>
                  <a:pt x="213740" y="153035"/>
                </a:lnTo>
                <a:lnTo>
                  <a:pt x="244348" y="153035"/>
                </a:lnTo>
                <a:lnTo>
                  <a:pt x="244348" y="145034"/>
                </a:lnTo>
                <a:lnTo>
                  <a:pt x="183134" y="145034"/>
                </a:lnTo>
                <a:lnTo>
                  <a:pt x="179959" y="144145"/>
                </a:lnTo>
                <a:lnTo>
                  <a:pt x="177673" y="142493"/>
                </a:lnTo>
                <a:lnTo>
                  <a:pt x="175513" y="140842"/>
                </a:lnTo>
                <a:lnTo>
                  <a:pt x="174371" y="137922"/>
                </a:lnTo>
                <a:lnTo>
                  <a:pt x="174472" y="131445"/>
                </a:lnTo>
                <a:lnTo>
                  <a:pt x="192277" y="120014"/>
                </a:lnTo>
                <a:lnTo>
                  <a:pt x="196850" y="118999"/>
                </a:lnTo>
                <a:lnTo>
                  <a:pt x="202691" y="118617"/>
                </a:lnTo>
                <a:lnTo>
                  <a:pt x="244348" y="118617"/>
                </a:lnTo>
                <a:lnTo>
                  <a:pt x="244348" y="85725"/>
                </a:lnTo>
                <a:lnTo>
                  <a:pt x="243705" y="81787"/>
                </a:lnTo>
                <a:lnTo>
                  <a:pt x="243622" y="81279"/>
                </a:lnTo>
                <a:lnTo>
                  <a:pt x="243518" y="80645"/>
                </a:lnTo>
                <a:lnTo>
                  <a:pt x="243414" y="80010"/>
                </a:lnTo>
                <a:lnTo>
                  <a:pt x="243332" y="79501"/>
                </a:lnTo>
                <a:lnTo>
                  <a:pt x="240837" y="72898"/>
                </a:lnTo>
                <a:close/>
              </a:path>
              <a:path w="439420" h="168910">
                <a:moveTo>
                  <a:pt x="244348" y="153035"/>
                </a:moveTo>
                <a:lnTo>
                  <a:pt x="213740" y="153035"/>
                </a:lnTo>
                <a:lnTo>
                  <a:pt x="217424" y="162433"/>
                </a:lnTo>
                <a:lnTo>
                  <a:pt x="218914" y="164464"/>
                </a:lnTo>
                <a:lnTo>
                  <a:pt x="219056" y="164464"/>
                </a:lnTo>
                <a:lnTo>
                  <a:pt x="220472" y="165226"/>
                </a:lnTo>
                <a:lnTo>
                  <a:pt x="222503" y="166242"/>
                </a:lnTo>
                <a:lnTo>
                  <a:pt x="222884" y="166242"/>
                </a:lnTo>
                <a:lnTo>
                  <a:pt x="225424" y="166750"/>
                </a:lnTo>
                <a:lnTo>
                  <a:pt x="244348" y="166750"/>
                </a:lnTo>
                <a:lnTo>
                  <a:pt x="244348" y="153035"/>
                </a:lnTo>
                <a:close/>
              </a:path>
              <a:path w="439420" h="168910">
                <a:moveTo>
                  <a:pt x="244348" y="118617"/>
                </a:moveTo>
                <a:lnTo>
                  <a:pt x="209803" y="118617"/>
                </a:lnTo>
                <a:lnTo>
                  <a:pt x="209803" y="134747"/>
                </a:lnTo>
                <a:lnTo>
                  <a:pt x="206375" y="138429"/>
                </a:lnTo>
                <a:lnTo>
                  <a:pt x="202819" y="140970"/>
                </a:lnTo>
                <a:lnTo>
                  <a:pt x="199389" y="142621"/>
                </a:lnTo>
                <a:lnTo>
                  <a:pt x="195961" y="144145"/>
                </a:lnTo>
                <a:lnTo>
                  <a:pt x="192024" y="145034"/>
                </a:lnTo>
                <a:lnTo>
                  <a:pt x="244348" y="145034"/>
                </a:lnTo>
                <a:lnTo>
                  <a:pt x="244348" y="118617"/>
                </a:lnTo>
                <a:close/>
              </a:path>
              <a:path w="439420" h="168910">
                <a:moveTo>
                  <a:pt x="205104" y="45720"/>
                </a:moveTo>
                <a:lnTo>
                  <a:pt x="197992" y="45720"/>
                </a:lnTo>
                <a:lnTo>
                  <a:pt x="190589" y="46007"/>
                </a:lnTo>
                <a:lnTo>
                  <a:pt x="151548" y="60063"/>
                </a:lnTo>
                <a:lnTo>
                  <a:pt x="146050" y="64515"/>
                </a:lnTo>
                <a:lnTo>
                  <a:pt x="153415" y="77342"/>
                </a:lnTo>
                <a:lnTo>
                  <a:pt x="154812" y="78866"/>
                </a:lnTo>
                <a:lnTo>
                  <a:pt x="156463" y="80010"/>
                </a:lnTo>
                <a:lnTo>
                  <a:pt x="158439" y="81279"/>
                </a:lnTo>
                <a:lnTo>
                  <a:pt x="158648" y="81279"/>
                </a:lnTo>
                <a:lnTo>
                  <a:pt x="160274" y="81787"/>
                </a:lnTo>
                <a:lnTo>
                  <a:pt x="165481" y="81787"/>
                </a:lnTo>
                <a:lnTo>
                  <a:pt x="167894" y="81279"/>
                </a:lnTo>
                <a:lnTo>
                  <a:pt x="169799" y="80390"/>
                </a:lnTo>
                <a:lnTo>
                  <a:pt x="171831" y="79501"/>
                </a:lnTo>
                <a:lnTo>
                  <a:pt x="173862" y="78486"/>
                </a:lnTo>
                <a:lnTo>
                  <a:pt x="175895" y="77342"/>
                </a:lnTo>
                <a:lnTo>
                  <a:pt x="178053" y="76200"/>
                </a:lnTo>
                <a:lnTo>
                  <a:pt x="180466" y="75184"/>
                </a:lnTo>
                <a:lnTo>
                  <a:pt x="183134" y="74167"/>
                </a:lnTo>
                <a:lnTo>
                  <a:pt x="185800" y="73278"/>
                </a:lnTo>
                <a:lnTo>
                  <a:pt x="189229" y="72898"/>
                </a:lnTo>
                <a:lnTo>
                  <a:pt x="240837" y="72898"/>
                </a:lnTo>
                <a:lnTo>
                  <a:pt x="239013" y="68072"/>
                </a:lnTo>
                <a:lnTo>
                  <a:pt x="235965" y="63118"/>
                </a:lnTo>
                <a:lnTo>
                  <a:pt x="227964" y="54863"/>
                </a:lnTo>
                <a:lnTo>
                  <a:pt x="223012" y="51562"/>
                </a:lnTo>
                <a:lnTo>
                  <a:pt x="217297" y="49275"/>
                </a:lnTo>
                <a:lnTo>
                  <a:pt x="211619" y="46878"/>
                </a:lnTo>
                <a:lnTo>
                  <a:pt x="205104" y="45720"/>
                </a:lnTo>
                <a:close/>
              </a:path>
              <a:path w="439420" h="168910">
                <a:moveTo>
                  <a:pt x="292481" y="48005"/>
                </a:moveTo>
                <a:lnTo>
                  <a:pt x="269748" y="48005"/>
                </a:lnTo>
                <a:lnTo>
                  <a:pt x="269748" y="166624"/>
                </a:lnTo>
                <a:lnTo>
                  <a:pt x="305181" y="166624"/>
                </a:lnTo>
                <a:lnTo>
                  <a:pt x="305181" y="93852"/>
                </a:lnTo>
                <a:lnTo>
                  <a:pt x="309542" y="87352"/>
                </a:lnTo>
                <a:lnTo>
                  <a:pt x="314642" y="82708"/>
                </a:lnTo>
                <a:lnTo>
                  <a:pt x="320320" y="80010"/>
                </a:lnTo>
                <a:lnTo>
                  <a:pt x="319879" y="80010"/>
                </a:lnTo>
                <a:lnTo>
                  <a:pt x="327151" y="78993"/>
                </a:lnTo>
                <a:lnTo>
                  <a:pt x="342188" y="78993"/>
                </a:lnTo>
                <a:lnTo>
                  <a:pt x="342900" y="78486"/>
                </a:lnTo>
                <a:lnTo>
                  <a:pt x="343535" y="77342"/>
                </a:lnTo>
                <a:lnTo>
                  <a:pt x="343788" y="75691"/>
                </a:lnTo>
                <a:lnTo>
                  <a:pt x="345238" y="67437"/>
                </a:lnTo>
                <a:lnTo>
                  <a:pt x="303022" y="67437"/>
                </a:lnTo>
                <a:lnTo>
                  <a:pt x="300989" y="56387"/>
                </a:lnTo>
                <a:lnTo>
                  <a:pt x="300841" y="55499"/>
                </a:lnTo>
                <a:lnTo>
                  <a:pt x="300736" y="54863"/>
                </a:lnTo>
                <a:lnTo>
                  <a:pt x="300354" y="53593"/>
                </a:lnTo>
                <a:lnTo>
                  <a:pt x="299974" y="52450"/>
                </a:lnTo>
                <a:lnTo>
                  <a:pt x="299529" y="51562"/>
                </a:lnTo>
                <a:lnTo>
                  <a:pt x="298958" y="50546"/>
                </a:lnTo>
                <a:lnTo>
                  <a:pt x="298069" y="49911"/>
                </a:lnTo>
                <a:lnTo>
                  <a:pt x="297307" y="49275"/>
                </a:lnTo>
                <a:lnTo>
                  <a:pt x="296290" y="48767"/>
                </a:lnTo>
                <a:lnTo>
                  <a:pt x="294004" y="48260"/>
                </a:lnTo>
                <a:lnTo>
                  <a:pt x="292481" y="48005"/>
                </a:lnTo>
                <a:close/>
              </a:path>
              <a:path w="439420" h="168910">
                <a:moveTo>
                  <a:pt x="334941" y="79755"/>
                </a:moveTo>
                <a:lnTo>
                  <a:pt x="331215" y="79755"/>
                </a:lnTo>
                <a:lnTo>
                  <a:pt x="339851" y="80010"/>
                </a:lnTo>
                <a:lnTo>
                  <a:pt x="336126" y="80010"/>
                </a:lnTo>
                <a:lnTo>
                  <a:pt x="334941" y="79755"/>
                </a:lnTo>
                <a:close/>
              </a:path>
              <a:path w="439420" h="168910">
                <a:moveTo>
                  <a:pt x="342188" y="78993"/>
                </a:moveTo>
                <a:lnTo>
                  <a:pt x="329819" y="78993"/>
                </a:lnTo>
                <a:lnTo>
                  <a:pt x="331977" y="79248"/>
                </a:lnTo>
                <a:lnTo>
                  <a:pt x="333756" y="79501"/>
                </a:lnTo>
                <a:lnTo>
                  <a:pt x="334941" y="79755"/>
                </a:lnTo>
                <a:lnTo>
                  <a:pt x="340995" y="79755"/>
                </a:lnTo>
                <a:lnTo>
                  <a:pt x="342188" y="78993"/>
                </a:lnTo>
                <a:close/>
              </a:path>
              <a:path w="439420" h="168910">
                <a:moveTo>
                  <a:pt x="340740" y="45720"/>
                </a:moveTo>
                <a:lnTo>
                  <a:pt x="328929" y="45720"/>
                </a:lnTo>
                <a:lnTo>
                  <a:pt x="322961" y="47751"/>
                </a:lnTo>
                <a:lnTo>
                  <a:pt x="312165" y="55499"/>
                </a:lnTo>
                <a:lnTo>
                  <a:pt x="307339" y="60833"/>
                </a:lnTo>
                <a:lnTo>
                  <a:pt x="303022" y="67437"/>
                </a:lnTo>
                <a:lnTo>
                  <a:pt x="345238" y="67437"/>
                </a:lnTo>
                <a:lnTo>
                  <a:pt x="348204" y="50546"/>
                </a:lnTo>
                <a:lnTo>
                  <a:pt x="348316" y="49911"/>
                </a:lnTo>
                <a:lnTo>
                  <a:pt x="348361" y="49657"/>
                </a:lnTo>
                <a:lnTo>
                  <a:pt x="345059" y="47116"/>
                </a:lnTo>
                <a:lnTo>
                  <a:pt x="340740" y="45720"/>
                </a:lnTo>
                <a:close/>
              </a:path>
              <a:path w="439420" h="168910">
                <a:moveTo>
                  <a:pt x="58674" y="0"/>
                </a:moveTo>
                <a:lnTo>
                  <a:pt x="0" y="0"/>
                </a:lnTo>
                <a:lnTo>
                  <a:pt x="0" y="166624"/>
                </a:lnTo>
                <a:lnTo>
                  <a:pt x="38608" y="166624"/>
                </a:lnTo>
                <a:lnTo>
                  <a:pt x="38608" y="110871"/>
                </a:lnTo>
                <a:lnTo>
                  <a:pt x="58674" y="110871"/>
                </a:lnTo>
                <a:lnTo>
                  <a:pt x="97027" y="104012"/>
                </a:lnTo>
                <a:lnTo>
                  <a:pt x="119937" y="81787"/>
                </a:lnTo>
                <a:lnTo>
                  <a:pt x="38608" y="81787"/>
                </a:lnTo>
                <a:lnTo>
                  <a:pt x="38608" y="28955"/>
                </a:lnTo>
                <a:lnTo>
                  <a:pt x="120259" y="28955"/>
                </a:lnTo>
                <a:lnTo>
                  <a:pt x="119252" y="26288"/>
                </a:lnTo>
                <a:lnTo>
                  <a:pt x="115188" y="20574"/>
                </a:lnTo>
                <a:lnTo>
                  <a:pt x="109727" y="15748"/>
                </a:lnTo>
                <a:lnTo>
                  <a:pt x="104266" y="10795"/>
                </a:lnTo>
                <a:lnTo>
                  <a:pt x="67200" y="261"/>
                </a:lnTo>
                <a:lnTo>
                  <a:pt x="58674" y="0"/>
                </a:lnTo>
                <a:close/>
              </a:path>
              <a:path w="439420" h="168910">
                <a:moveTo>
                  <a:pt x="120259" y="28955"/>
                </a:moveTo>
                <a:lnTo>
                  <a:pt x="63626" y="28955"/>
                </a:lnTo>
                <a:lnTo>
                  <a:pt x="67817" y="29590"/>
                </a:lnTo>
                <a:lnTo>
                  <a:pt x="71374" y="30734"/>
                </a:lnTo>
                <a:lnTo>
                  <a:pt x="85344" y="44068"/>
                </a:lnTo>
                <a:lnTo>
                  <a:pt x="86487" y="47116"/>
                </a:lnTo>
                <a:lnTo>
                  <a:pt x="87122" y="50673"/>
                </a:lnTo>
                <a:lnTo>
                  <a:pt x="87122" y="63118"/>
                </a:lnTo>
                <a:lnTo>
                  <a:pt x="84836" y="69723"/>
                </a:lnTo>
                <a:lnTo>
                  <a:pt x="80390" y="74549"/>
                </a:lnTo>
                <a:lnTo>
                  <a:pt x="76073" y="79375"/>
                </a:lnTo>
                <a:lnTo>
                  <a:pt x="68834" y="81787"/>
                </a:lnTo>
                <a:lnTo>
                  <a:pt x="119937" y="81787"/>
                </a:lnTo>
                <a:lnTo>
                  <a:pt x="121665" y="77342"/>
                </a:lnTo>
                <a:lnTo>
                  <a:pt x="124333" y="70358"/>
                </a:lnTo>
                <a:lnTo>
                  <a:pt x="125660" y="63118"/>
                </a:lnTo>
                <a:lnTo>
                  <a:pt x="125729" y="46736"/>
                </a:lnTo>
                <a:lnTo>
                  <a:pt x="124460" y="39624"/>
                </a:lnTo>
                <a:lnTo>
                  <a:pt x="121792" y="33020"/>
                </a:lnTo>
                <a:lnTo>
                  <a:pt x="120259" y="28955"/>
                </a:lnTo>
                <a:close/>
              </a:path>
              <a:path w="439420" h="168910">
                <a:moveTo>
                  <a:pt x="406526" y="72516"/>
                </a:moveTo>
                <a:lnTo>
                  <a:pt x="371094" y="72516"/>
                </a:lnTo>
                <a:lnTo>
                  <a:pt x="371176" y="139573"/>
                </a:lnTo>
                <a:lnTo>
                  <a:pt x="400176" y="168401"/>
                </a:lnTo>
                <a:lnTo>
                  <a:pt x="411861" y="168401"/>
                </a:lnTo>
                <a:lnTo>
                  <a:pt x="416977" y="167639"/>
                </a:lnTo>
                <a:lnTo>
                  <a:pt x="417390" y="167639"/>
                </a:lnTo>
                <a:lnTo>
                  <a:pt x="423545" y="165862"/>
                </a:lnTo>
                <a:lnTo>
                  <a:pt x="429260" y="164084"/>
                </a:lnTo>
                <a:lnTo>
                  <a:pt x="434339" y="161543"/>
                </a:lnTo>
                <a:lnTo>
                  <a:pt x="438912" y="158114"/>
                </a:lnTo>
                <a:lnTo>
                  <a:pt x="427905" y="140842"/>
                </a:lnTo>
                <a:lnTo>
                  <a:pt x="411734" y="140842"/>
                </a:lnTo>
                <a:lnTo>
                  <a:pt x="409828" y="139953"/>
                </a:lnTo>
                <a:lnTo>
                  <a:pt x="408631" y="138429"/>
                </a:lnTo>
                <a:lnTo>
                  <a:pt x="407162" y="136398"/>
                </a:lnTo>
                <a:lnTo>
                  <a:pt x="406526" y="134112"/>
                </a:lnTo>
                <a:lnTo>
                  <a:pt x="406526" y="72516"/>
                </a:lnTo>
                <a:close/>
              </a:path>
              <a:path w="439420" h="168910">
                <a:moveTo>
                  <a:pt x="421639" y="138684"/>
                </a:moveTo>
                <a:lnTo>
                  <a:pt x="421512" y="138684"/>
                </a:lnTo>
                <a:lnTo>
                  <a:pt x="420497" y="139191"/>
                </a:lnTo>
                <a:lnTo>
                  <a:pt x="419862" y="139573"/>
                </a:lnTo>
                <a:lnTo>
                  <a:pt x="418718" y="139953"/>
                </a:lnTo>
                <a:lnTo>
                  <a:pt x="418846" y="139953"/>
                </a:lnTo>
                <a:lnTo>
                  <a:pt x="418338" y="140208"/>
                </a:lnTo>
                <a:lnTo>
                  <a:pt x="417575" y="140462"/>
                </a:lnTo>
                <a:lnTo>
                  <a:pt x="416242" y="140842"/>
                </a:lnTo>
                <a:lnTo>
                  <a:pt x="427905" y="140842"/>
                </a:lnTo>
                <a:lnTo>
                  <a:pt x="427482" y="140208"/>
                </a:lnTo>
                <a:lnTo>
                  <a:pt x="426952" y="139573"/>
                </a:lnTo>
                <a:lnTo>
                  <a:pt x="426529" y="139191"/>
                </a:lnTo>
                <a:lnTo>
                  <a:pt x="420369" y="139191"/>
                </a:lnTo>
                <a:lnTo>
                  <a:pt x="421639" y="138684"/>
                </a:lnTo>
                <a:close/>
              </a:path>
              <a:path w="439420" h="168910">
                <a:moveTo>
                  <a:pt x="425576" y="138429"/>
                </a:moveTo>
                <a:lnTo>
                  <a:pt x="421978" y="138429"/>
                </a:lnTo>
                <a:lnTo>
                  <a:pt x="421639" y="138684"/>
                </a:lnTo>
                <a:lnTo>
                  <a:pt x="425894" y="138684"/>
                </a:lnTo>
                <a:lnTo>
                  <a:pt x="425576" y="138429"/>
                </a:lnTo>
                <a:close/>
              </a:path>
              <a:path w="439420" h="168910">
                <a:moveTo>
                  <a:pt x="406526" y="13588"/>
                </a:moveTo>
                <a:lnTo>
                  <a:pt x="383666" y="13588"/>
                </a:lnTo>
                <a:lnTo>
                  <a:pt x="381126" y="15493"/>
                </a:lnTo>
                <a:lnTo>
                  <a:pt x="373252" y="48005"/>
                </a:lnTo>
                <a:lnTo>
                  <a:pt x="354329" y="51688"/>
                </a:lnTo>
                <a:lnTo>
                  <a:pt x="354329" y="67817"/>
                </a:lnTo>
                <a:lnTo>
                  <a:pt x="354964" y="69596"/>
                </a:lnTo>
                <a:lnTo>
                  <a:pt x="356362" y="70738"/>
                </a:lnTo>
                <a:lnTo>
                  <a:pt x="357632" y="71882"/>
                </a:lnTo>
                <a:lnTo>
                  <a:pt x="359156" y="72516"/>
                </a:lnTo>
                <a:lnTo>
                  <a:pt x="435356" y="72516"/>
                </a:lnTo>
                <a:lnTo>
                  <a:pt x="435356" y="48260"/>
                </a:lnTo>
                <a:lnTo>
                  <a:pt x="406526" y="48260"/>
                </a:lnTo>
                <a:lnTo>
                  <a:pt x="406526" y="13588"/>
                </a:lnTo>
                <a:close/>
              </a:path>
            </a:pathLst>
          </a:custGeom>
          <a:solidFill>
            <a:srgbClr val="9E0A2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4882" y="2734310"/>
            <a:ext cx="108584" cy="16675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836921" y="3194761"/>
            <a:ext cx="2520950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165">
                <a:solidFill>
                  <a:srgbClr val="393938"/>
                </a:solidFill>
              </a:rPr>
              <a:t>Introduction</a:t>
            </a:r>
            <a:endParaRPr sz="3400"/>
          </a:p>
        </p:txBody>
      </p:sp>
      <p:sp>
        <p:nvSpPr>
          <p:cNvPr id="8" name="object 8"/>
          <p:cNvSpPr txBox="1"/>
          <p:nvPr/>
        </p:nvSpPr>
        <p:spPr>
          <a:xfrm>
            <a:off x="4931409" y="3861942"/>
            <a:ext cx="23298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What</a:t>
            </a:r>
            <a:r>
              <a:rPr dirty="0" sz="1400" spc="-11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are</a:t>
            </a:r>
            <a:r>
              <a:rPr dirty="0" sz="1400" spc="-9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the</a:t>
            </a:r>
            <a:r>
              <a:rPr dirty="0" sz="1400" spc="-10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93938"/>
                </a:solidFill>
                <a:latin typeface="Tahoma"/>
                <a:cs typeface="Tahoma"/>
              </a:rPr>
              <a:t>main</a:t>
            </a:r>
            <a:r>
              <a:rPr dirty="0" sz="1400" spc="-9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93938"/>
                </a:solidFill>
                <a:latin typeface="Tahoma"/>
                <a:cs typeface="Tahoma"/>
              </a:rPr>
              <a:t>highlights?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4123" y="5207506"/>
            <a:ext cx="2817876" cy="16504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01</a:t>
            </a:r>
            <a:r>
              <a:rPr dirty="0" sz="2400" spc="-145"/>
              <a:t> </a:t>
            </a:r>
            <a:r>
              <a:rPr dirty="0" baseline="1157" sz="3600" spc="-225">
                <a:solidFill>
                  <a:srgbClr val="393938"/>
                </a:solidFill>
              </a:rPr>
              <a:t>Introduction</a:t>
            </a:r>
            <a:endParaRPr baseline="1157" sz="360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063" y="1050289"/>
            <a:ext cx="2446451" cy="184023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1147063" y="1381892"/>
            <a:ext cx="7044690" cy="75692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338455" algn="l"/>
              </a:tabLst>
            </a:pP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The</a:t>
            </a:r>
            <a:r>
              <a:rPr dirty="0" sz="1600" spc="-16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complex</a:t>
            </a:r>
            <a:r>
              <a:rPr dirty="0" sz="1600" spc="-14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cancer</a:t>
            </a:r>
            <a:r>
              <a:rPr dirty="0" sz="1600" spc="-16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journey</a:t>
            </a:r>
            <a:endParaRPr sz="1600">
              <a:latin typeface="Tahoma"/>
              <a:cs typeface="Tahoma"/>
            </a:endParaRPr>
          </a:p>
          <a:p>
            <a:pPr marL="338455" indent="-325755">
              <a:lnSpc>
                <a:spcPct val="100000"/>
              </a:lnSpc>
              <a:spcBef>
                <a:spcPts val="960"/>
              </a:spcBef>
              <a:buClr>
                <a:srgbClr val="646D7C"/>
              </a:buClr>
              <a:buFont typeface="Arial"/>
              <a:buChar char="•"/>
              <a:tabLst>
                <a:tab pos="338455" algn="l"/>
              </a:tabLst>
            </a:pP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Different</a:t>
            </a:r>
            <a:r>
              <a:rPr dirty="0" sz="1600" spc="-12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parameters</a:t>
            </a:r>
            <a:r>
              <a:rPr dirty="0" sz="1600" spc="-7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should</a:t>
            </a:r>
            <a:r>
              <a:rPr dirty="0" sz="1600" spc="-114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be</a:t>
            </a:r>
            <a:r>
              <a:rPr dirty="0" sz="1600" spc="-11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highlighted</a:t>
            </a:r>
            <a:r>
              <a:rPr dirty="0" sz="1600" spc="-9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961B2E"/>
                </a:solidFill>
                <a:latin typeface="Tahoma"/>
                <a:cs typeface="Tahoma"/>
              </a:rPr>
              <a:t>depending</a:t>
            </a:r>
            <a:r>
              <a:rPr dirty="0" sz="1600" spc="-10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on</a:t>
            </a:r>
            <a:r>
              <a:rPr dirty="0" sz="1600" spc="-12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the</a:t>
            </a:r>
            <a:r>
              <a:rPr dirty="0" sz="1600" spc="-12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type</a:t>
            </a:r>
            <a:r>
              <a:rPr dirty="0" sz="1600" spc="-11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of</a:t>
            </a:r>
            <a:r>
              <a:rPr dirty="0" sz="1600" spc="-13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961B2E"/>
                </a:solidFill>
                <a:latin typeface="Tahoma"/>
                <a:cs typeface="Tahoma"/>
              </a:rPr>
              <a:t>cancer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5425" y="3078447"/>
            <a:ext cx="1915795" cy="838835"/>
            <a:chOff x="315425" y="3078447"/>
            <a:chExt cx="1915795" cy="83883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5425" y="3078447"/>
              <a:ext cx="1915732" cy="8382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8952" y="3166871"/>
              <a:ext cx="1057656" cy="6842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6616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5" h="730250">
                  <a:moveTo>
                    <a:pt x="1459230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59230" y="729995"/>
                  </a:lnTo>
                  <a:lnTo>
                    <a:pt x="1824227" y="364998"/>
                  </a:lnTo>
                  <a:lnTo>
                    <a:pt x="1459230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12672" y="3246247"/>
            <a:ext cx="750570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 indent="194945">
              <a:lnSpc>
                <a:spcPts val="1510"/>
              </a:lnSpc>
              <a:spcBef>
                <a:spcPts val="29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Pre-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diagnosis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40051" y="3069335"/>
            <a:ext cx="1943100" cy="847725"/>
            <a:chOff x="1940051" y="3069335"/>
            <a:chExt cx="1943100" cy="84772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0051" y="3069335"/>
              <a:ext cx="1943100" cy="8473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01823" y="3166871"/>
              <a:ext cx="1057655" cy="68427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99487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4" h="730250">
                  <a:moveTo>
                    <a:pt x="1459229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59229" y="729995"/>
                  </a:lnTo>
                  <a:lnTo>
                    <a:pt x="1824227" y="364998"/>
                  </a:lnTo>
                  <a:lnTo>
                    <a:pt x="1459229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555494" y="3246247"/>
            <a:ext cx="750570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 indent="81915">
              <a:lnSpc>
                <a:spcPts val="1510"/>
              </a:lnSpc>
              <a:spcBef>
                <a:spcPts val="29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Cancer diagnosis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82923" y="3069335"/>
            <a:ext cx="1943100" cy="847725"/>
            <a:chOff x="3582923" y="3069335"/>
            <a:chExt cx="1943100" cy="84772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82923" y="3069335"/>
              <a:ext cx="1943100" cy="8473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91355" y="3166871"/>
              <a:ext cx="1164336" cy="68427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42359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4" h="730250">
                  <a:moveTo>
                    <a:pt x="1459229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59229" y="729995"/>
                  </a:lnTo>
                  <a:lnTo>
                    <a:pt x="1824227" y="364998"/>
                  </a:lnTo>
                  <a:lnTo>
                    <a:pt x="1459229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145026" y="3246247"/>
            <a:ext cx="859155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06680" marR="5080" indent="-94615">
              <a:lnSpc>
                <a:spcPts val="1510"/>
              </a:lnSpc>
              <a:spcBef>
                <a:spcPts val="29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Treatment decision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25796" y="3069335"/>
            <a:ext cx="1943100" cy="847725"/>
            <a:chOff x="5225796" y="3069335"/>
            <a:chExt cx="1943100" cy="847725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25796" y="3069335"/>
              <a:ext cx="1943100" cy="8473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52516" y="3166871"/>
              <a:ext cx="1126236" cy="68427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85232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4" h="730250">
                  <a:moveTo>
                    <a:pt x="1459229" y="0"/>
                  </a:moveTo>
                  <a:lnTo>
                    <a:pt x="0" y="0"/>
                  </a:lnTo>
                  <a:lnTo>
                    <a:pt x="364997" y="364998"/>
                  </a:lnTo>
                  <a:lnTo>
                    <a:pt x="0" y="729995"/>
                  </a:lnTo>
                  <a:lnTo>
                    <a:pt x="1459229" y="729995"/>
                  </a:lnTo>
                  <a:lnTo>
                    <a:pt x="1824227" y="364998"/>
                  </a:lnTo>
                  <a:lnTo>
                    <a:pt x="1459229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806566" y="3246247"/>
            <a:ext cx="819150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 indent="146050">
              <a:lnSpc>
                <a:spcPts val="1510"/>
              </a:lnSpc>
              <a:spcBef>
                <a:spcPts val="29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Active treatment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867143" y="3069335"/>
            <a:ext cx="1945005" cy="847725"/>
            <a:chOff x="6867143" y="3069335"/>
            <a:chExt cx="1945005" cy="847725"/>
          </a:xfrm>
        </p:grpSpPr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67143" y="3069335"/>
              <a:ext cx="1944624" cy="84734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93863" y="3262883"/>
              <a:ext cx="1130807" cy="49225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926579" y="3108959"/>
              <a:ext cx="1826260" cy="730250"/>
            </a:xfrm>
            <a:custGeom>
              <a:avLst/>
              <a:gdLst/>
              <a:ahLst/>
              <a:cxnLst/>
              <a:rect l="l" t="t" r="r" b="b"/>
              <a:pathLst>
                <a:path w="1826259" h="730250">
                  <a:moveTo>
                    <a:pt x="1460753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60753" y="729995"/>
                  </a:lnTo>
                  <a:lnTo>
                    <a:pt x="1825752" y="364998"/>
                  </a:lnTo>
                  <a:lnTo>
                    <a:pt x="1460753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447915" y="3342258"/>
            <a:ext cx="8242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Remission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510016" y="3069335"/>
            <a:ext cx="1945005" cy="847725"/>
            <a:chOff x="8510016" y="3069335"/>
            <a:chExt cx="1945005" cy="847725"/>
          </a:xfrm>
        </p:grpSpPr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10016" y="3069335"/>
              <a:ext cx="1944624" cy="84734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84920" y="3262883"/>
              <a:ext cx="1234440" cy="49225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569452" y="3108959"/>
              <a:ext cx="1826260" cy="730250"/>
            </a:xfrm>
            <a:custGeom>
              <a:avLst/>
              <a:gdLst/>
              <a:ahLst/>
              <a:cxnLst/>
              <a:rect l="l" t="t" r="r" b="b"/>
              <a:pathLst>
                <a:path w="1826259" h="730250">
                  <a:moveTo>
                    <a:pt x="1460753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60753" y="729995"/>
                  </a:lnTo>
                  <a:lnTo>
                    <a:pt x="1825752" y="364998"/>
                  </a:lnTo>
                  <a:lnTo>
                    <a:pt x="1460753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9039225" y="3342258"/>
            <a:ext cx="9277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Recurrence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78408" y="2662427"/>
            <a:ext cx="8408035" cy="2408555"/>
            <a:chOff x="978408" y="2662427"/>
            <a:chExt cx="8408035" cy="2408555"/>
          </a:xfrm>
        </p:grpSpPr>
        <p:sp>
          <p:nvSpPr>
            <p:cNvPr id="46" name="object 46"/>
            <p:cNvSpPr/>
            <p:nvPr/>
          </p:nvSpPr>
          <p:spPr>
            <a:xfrm>
              <a:off x="2741041" y="2662427"/>
              <a:ext cx="6635750" cy="2408555"/>
            </a:xfrm>
            <a:custGeom>
              <a:avLst/>
              <a:gdLst/>
              <a:ahLst/>
              <a:cxnLst/>
              <a:rect l="l" t="t" r="r" b="b"/>
              <a:pathLst>
                <a:path w="6635750" h="2408554">
                  <a:moveTo>
                    <a:pt x="3323463" y="0"/>
                  </a:moveTo>
                  <a:lnTo>
                    <a:pt x="59944" y="0"/>
                  </a:lnTo>
                  <a:lnTo>
                    <a:pt x="59207" y="341122"/>
                  </a:lnTo>
                  <a:lnTo>
                    <a:pt x="59207" y="342734"/>
                  </a:lnTo>
                  <a:lnTo>
                    <a:pt x="31750" y="341122"/>
                  </a:lnTo>
                  <a:lnTo>
                    <a:pt x="65405" y="419481"/>
                  </a:lnTo>
                  <a:lnTo>
                    <a:pt x="101765" y="356108"/>
                  </a:lnTo>
                  <a:lnTo>
                    <a:pt x="107823" y="345567"/>
                  </a:lnTo>
                  <a:lnTo>
                    <a:pt x="79019" y="343890"/>
                  </a:lnTo>
                  <a:lnTo>
                    <a:pt x="79730" y="19812"/>
                  </a:lnTo>
                  <a:lnTo>
                    <a:pt x="3323463" y="19812"/>
                  </a:lnTo>
                  <a:lnTo>
                    <a:pt x="3323463" y="9906"/>
                  </a:lnTo>
                  <a:lnTo>
                    <a:pt x="3323463" y="0"/>
                  </a:lnTo>
                  <a:close/>
                </a:path>
                <a:path w="6635750" h="2408554">
                  <a:moveTo>
                    <a:pt x="6635623" y="2388616"/>
                  </a:moveTo>
                  <a:lnTo>
                    <a:pt x="48006" y="2388616"/>
                  </a:lnTo>
                  <a:lnTo>
                    <a:pt x="48006" y="1279398"/>
                  </a:lnTo>
                  <a:lnTo>
                    <a:pt x="76263" y="1279398"/>
                  </a:lnTo>
                  <a:lnTo>
                    <a:pt x="69875" y="1266698"/>
                  </a:lnTo>
                  <a:lnTo>
                    <a:pt x="37973" y="1203198"/>
                  </a:lnTo>
                  <a:lnTo>
                    <a:pt x="0" y="1279398"/>
                  </a:lnTo>
                  <a:lnTo>
                    <a:pt x="28194" y="1279398"/>
                  </a:lnTo>
                  <a:lnTo>
                    <a:pt x="28194" y="2408428"/>
                  </a:lnTo>
                  <a:lnTo>
                    <a:pt x="6635623" y="2408428"/>
                  </a:lnTo>
                  <a:lnTo>
                    <a:pt x="6635623" y="2398522"/>
                  </a:lnTo>
                  <a:lnTo>
                    <a:pt x="6635623" y="2388616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057137" y="2666237"/>
              <a:ext cx="3319779" cy="2399665"/>
            </a:xfrm>
            <a:custGeom>
              <a:avLst/>
              <a:gdLst/>
              <a:ahLst/>
              <a:cxnLst/>
              <a:rect l="l" t="t" r="r" b="b"/>
              <a:pathLst>
                <a:path w="3319779" h="2399665">
                  <a:moveTo>
                    <a:pt x="0" y="0"/>
                  </a:moveTo>
                  <a:lnTo>
                    <a:pt x="0" y="440436"/>
                  </a:lnTo>
                </a:path>
                <a:path w="3319779" h="2399665">
                  <a:moveTo>
                    <a:pt x="3319271" y="1187195"/>
                  </a:moveTo>
                  <a:lnTo>
                    <a:pt x="3319271" y="2399411"/>
                  </a:lnTo>
                </a:path>
              </a:pathLst>
            </a:custGeom>
            <a:ln w="19812">
              <a:solidFill>
                <a:srgbClr val="961B2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73018" y="2762503"/>
              <a:ext cx="1714340" cy="14008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97448" y="4806314"/>
              <a:ext cx="1164208" cy="11163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78408" y="3893819"/>
              <a:ext cx="534923" cy="18288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48428" y="3880103"/>
              <a:ext cx="534924" cy="18288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08264" y="3893819"/>
              <a:ext cx="534924" cy="182880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10152888" y="3069335"/>
            <a:ext cx="1945005" cy="847725"/>
            <a:chOff x="10152888" y="3069335"/>
            <a:chExt cx="1945005" cy="847725"/>
          </a:xfrm>
        </p:grpSpPr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52888" y="3069335"/>
              <a:ext cx="1944624" cy="8473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64368" y="3262883"/>
              <a:ext cx="1161287" cy="49225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212324" y="3108959"/>
              <a:ext cx="1826260" cy="730250"/>
            </a:xfrm>
            <a:custGeom>
              <a:avLst/>
              <a:gdLst/>
              <a:ahLst/>
              <a:cxnLst/>
              <a:rect l="l" t="t" r="r" b="b"/>
              <a:pathLst>
                <a:path w="1826259" h="730250">
                  <a:moveTo>
                    <a:pt x="1460753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60753" y="729995"/>
                  </a:lnTo>
                  <a:lnTo>
                    <a:pt x="1825752" y="364998"/>
                  </a:lnTo>
                  <a:lnTo>
                    <a:pt x="1460753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0718672" y="3342258"/>
            <a:ext cx="8559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End-of-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life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8240" y="6477685"/>
            <a:ext cx="212598" cy="988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01</a:t>
            </a:r>
            <a:r>
              <a:rPr dirty="0" sz="2400" spc="-145"/>
              <a:t> </a:t>
            </a:r>
            <a:r>
              <a:rPr dirty="0" baseline="1157" sz="3600" spc="-225">
                <a:solidFill>
                  <a:srgbClr val="393938"/>
                </a:solidFill>
              </a:rPr>
              <a:t>Introduction</a:t>
            </a:r>
            <a:endParaRPr baseline="1157" sz="3600"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2063" y="1050289"/>
            <a:ext cx="2446451" cy="184023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1147063" y="1381892"/>
            <a:ext cx="6956425" cy="75692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338455" algn="l"/>
              </a:tabLst>
            </a:pP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The</a:t>
            </a:r>
            <a:r>
              <a:rPr dirty="0" sz="1600" spc="-16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complex</a:t>
            </a:r>
            <a:r>
              <a:rPr dirty="0" sz="1600" spc="-14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cancer</a:t>
            </a:r>
            <a:r>
              <a:rPr dirty="0" sz="1600" spc="-16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journey</a:t>
            </a:r>
            <a:endParaRPr sz="1600">
              <a:latin typeface="Tahoma"/>
              <a:cs typeface="Tahoma"/>
            </a:endParaRPr>
          </a:p>
          <a:p>
            <a:pPr marL="338455" indent="-325755">
              <a:lnSpc>
                <a:spcPct val="100000"/>
              </a:lnSpc>
              <a:spcBef>
                <a:spcPts val="960"/>
              </a:spcBef>
              <a:buClr>
                <a:srgbClr val="646D7C"/>
              </a:buClr>
              <a:buFont typeface="Arial"/>
              <a:buChar char="•"/>
              <a:tabLst>
                <a:tab pos="338455" algn="l"/>
              </a:tabLst>
            </a:pP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Different</a:t>
            </a:r>
            <a:r>
              <a:rPr dirty="0" sz="1600" spc="-12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parameter</a:t>
            </a:r>
            <a:r>
              <a:rPr dirty="0" sz="1600" spc="-7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should</a:t>
            </a:r>
            <a:r>
              <a:rPr dirty="0" sz="1600" spc="-10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be</a:t>
            </a:r>
            <a:r>
              <a:rPr dirty="0" sz="1600" spc="-11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highlighted</a:t>
            </a:r>
            <a:r>
              <a:rPr dirty="0" sz="1600" spc="-10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961B2E"/>
                </a:solidFill>
                <a:latin typeface="Tahoma"/>
                <a:cs typeface="Tahoma"/>
              </a:rPr>
              <a:t>depending</a:t>
            </a:r>
            <a:r>
              <a:rPr dirty="0" sz="1600" spc="-8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on</a:t>
            </a:r>
            <a:r>
              <a:rPr dirty="0" sz="1600" spc="-12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the</a:t>
            </a:r>
            <a:r>
              <a:rPr dirty="0" sz="1600" spc="-12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type</a:t>
            </a:r>
            <a:r>
              <a:rPr dirty="0" sz="1600" spc="-10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961B2E"/>
                </a:solidFill>
                <a:latin typeface="Tahoma"/>
                <a:cs typeface="Tahoma"/>
              </a:rPr>
              <a:t>of</a:t>
            </a:r>
            <a:r>
              <a:rPr dirty="0" sz="1600" spc="-13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961B2E"/>
                </a:solidFill>
                <a:latin typeface="Tahoma"/>
                <a:cs typeface="Tahoma"/>
              </a:rPr>
              <a:t>cancer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4054" y="3040379"/>
            <a:ext cx="2060575" cy="914400"/>
            <a:chOff x="224054" y="3040379"/>
            <a:chExt cx="2060575" cy="91440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4054" y="3040379"/>
              <a:ext cx="2060407" cy="914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8951" y="3166871"/>
              <a:ext cx="1057656" cy="68427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6615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5" h="730250">
                  <a:moveTo>
                    <a:pt x="1459230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59230" y="729995"/>
                  </a:lnTo>
                  <a:lnTo>
                    <a:pt x="1824227" y="364998"/>
                  </a:lnTo>
                  <a:lnTo>
                    <a:pt x="1459230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6615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5" h="730250">
                  <a:moveTo>
                    <a:pt x="0" y="0"/>
                  </a:moveTo>
                  <a:lnTo>
                    <a:pt x="1459230" y="0"/>
                  </a:lnTo>
                  <a:lnTo>
                    <a:pt x="1824227" y="364998"/>
                  </a:lnTo>
                  <a:lnTo>
                    <a:pt x="1459230" y="729995"/>
                  </a:lnTo>
                  <a:lnTo>
                    <a:pt x="0" y="729995"/>
                  </a:lnTo>
                  <a:lnTo>
                    <a:pt x="364998" y="364998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39393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12672" y="3246247"/>
            <a:ext cx="750570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 indent="194945">
              <a:lnSpc>
                <a:spcPts val="1510"/>
              </a:lnSpc>
              <a:spcBef>
                <a:spcPts val="29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Pre-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diagnosis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3111" y="3035807"/>
            <a:ext cx="6898005" cy="859790"/>
            <a:chOff x="3563111" y="3035807"/>
            <a:chExt cx="6898005" cy="85979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0836" y="3066255"/>
              <a:ext cx="3579922" cy="8291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922008" y="3096767"/>
              <a:ext cx="3497579" cy="730250"/>
            </a:xfrm>
            <a:custGeom>
              <a:avLst/>
              <a:gdLst/>
              <a:ahLst/>
              <a:cxnLst/>
              <a:rect l="l" t="t" r="r" b="b"/>
              <a:pathLst>
                <a:path w="3497579" h="730250">
                  <a:moveTo>
                    <a:pt x="3132582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6"/>
                  </a:lnTo>
                  <a:lnTo>
                    <a:pt x="3132582" y="729996"/>
                  </a:lnTo>
                  <a:lnTo>
                    <a:pt x="3497580" y="364998"/>
                  </a:lnTo>
                  <a:lnTo>
                    <a:pt x="3132582" y="0"/>
                  </a:lnTo>
                  <a:close/>
                </a:path>
              </a:pathLst>
            </a:custGeom>
            <a:solidFill>
              <a:srgbClr val="961B2E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3111" y="3035807"/>
              <a:ext cx="3616451" cy="8473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22547" y="3075431"/>
              <a:ext cx="3497579" cy="730250"/>
            </a:xfrm>
            <a:custGeom>
              <a:avLst/>
              <a:gdLst/>
              <a:ahLst/>
              <a:cxnLst/>
              <a:rect l="l" t="t" r="r" b="b"/>
              <a:pathLst>
                <a:path w="3497579" h="730250">
                  <a:moveTo>
                    <a:pt x="3132581" y="0"/>
                  </a:moveTo>
                  <a:lnTo>
                    <a:pt x="0" y="0"/>
                  </a:lnTo>
                  <a:lnTo>
                    <a:pt x="364998" y="364997"/>
                  </a:lnTo>
                  <a:lnTo>
                    <a:pt x="0" y="729995"/>
                  </a:lnTo>
                  <a:lnTo>
                    <a:pt x="3132581" y="729995"/>
                  </a:lnTo>
                  <a:lnTo>
                    <a:pt x="3497579" y="364997"/>
                  </a:lnTo>
                  <a:lnTo>
                    <a:pt x="3132581" y="0"/>
                  </a:lnTo>
                  <a:close/>
                </a:path>
              </a:pathLst>
            </a:custGeom>
            <a:solidFill>
              <a:srgbClr val="961B2E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1940051" y="3069335"/>
            <a:ext cx="1943100" cy="847725"/>
            <a:chOff x="1940051" y="3069335"/>
            <a:chExt cx="1943100" cy="84772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40051" y="3069335"/>
              <a:ext cx="1943100" cy="8473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01823" y="3166871"/>
              <a:ext cx="1057655" cy="68427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999487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4" h="730250">
                  <a:moveTo>
                    <a:pt x="1459229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59229" y="729995"/>
                  </a:lnTo>
                  <a:lnTo>
                    <a:pt x="1824227" y="364998"/>
                  </a:lnTo>
                  <a:lnTo>
                    <a:pt x="14592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555494" y="3246247"/>
            <a:ext cx="750570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 indent="81915">
              <a:lnSpc>
                <a:spcPts val="1510"/>
              </a:lnSpc>
              <a:spcBef>
                <a:spcPts val="29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Cancer diagnosis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582923" y="3069335"/>
            <a:ext cx="1943100" cy="847725"/>
            <a:chOff x="3582923" y="3069335"/>
            <a:chExt cx="1943100" cy="847725"/>
          </a:xfrm>
        </p:grpSpPr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82923" y="3069335"/>
              <a:ext cx="1943100" cy="8473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91355" y="3166871"/>
              <a:ext cx="1164336" cy="68427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642359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4" h="730250">
                  <a:moveTo>
                    <a:pt x="1459229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59229" y="729995"/>
                  </a:lnTo>
                  <a:lnTo>
                    <a:pt x="1824227" y="364998"/>
                  </a:lnTo>
                  <a:lnTo>
                    <a:pt x="1459229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4145026" y="3246247"/>
            <a:ext cx="859155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06680" marR="5080" indent="-94615">
              <a:lnSpc>
                <a:spcPts val="1510"/>
              </a:lnSpc>
              <a:spcBef>
                <a:spcPts val="29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Treatment decision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225796" y="3069335"/>
            <a:ext cx="1943100" cy="847725"/>
            <a:chOff x="5225796" y="3069335"/>
            <a:chExt cx="1943100" cy="847725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25796" y="3069335"/>
              <a:ext cx="1943100" cy="8473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52516" y="3166871"/>
              <a:ext cx="1126236" cy="68427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285232" y="3108959"/>
              <a:ext cx="1824355" cy="730250"/>
            </a:xfrm>
            <a:custGeom>
              <a:avLst/>
              <a:gdLst/>
              <a:ahLst/>
              <a:cxnLst/>
              <a:rect l="l" t="t" r="r" b="b"/>
              <a:pathLst>
                <a:path w="1824354" h="730250">
                  <a:moveTo>
                    <a:pt x="1459229" y="0"/>
                  </a:moveTo>
                  <a:lnTo>
                    <a:pt x="0" y="0"/>
                  </a:lnTo>
                  <a:lnTo>
                    <a:pt x="364997" y="364998"/>
                  </a:lnTo>
                  <a:lnTo>
                    <a:pt x="0" y="729995"/>
                  </a:lnTo>
                  <a:lnTo>
                    <a:pt x="1459229" y="729995"/>
                  </a:lnTo>
                  <a:lnTo>
                    <a:pt x="1824227" y="364998"/>
                  </a:lnTo>
                  <a:lnTo>
                    <a:pt x="1459229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806566" y="3246247"/>
            <a:ext cx="819150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 indent="146050">
              <a:lnSpc>
                <a:spcPts val="1510"/>
              </a:lnSpc>
              <a:spcBef>
                <a:spcPts val="29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Active treatment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78408" y="2662427"/>
            <a:ext cx="5088890" cy="2032635"/>
            <a:chOff x="978408" y="2662427"/>
            <a:chExt cx="5088890" cy="2032635"/>
          </a:xfrm>
        </p:grpSpPr>
        <p:sp>
          <p:nvSpPr>
            <p:cNvPr id="52" name="object 52"/>
            <p:cNvSpPr/>
            <p:nvPr/>
          </p:nvSpPr>
          <p:spPr>
            <a:xfrm>
              <a:off x="2772790" y="2662427"/>
              <a:ext cx="3291840" cy="419734"/>
            </a:xfrm>
            <a:custGeom>
              <a:avLst/>
              <a:gdLst/>
              <a:ahLst/>
              <a:cxnLst/>
              <a:rect l="l" t="t" r="r" b="b"/>
              <a:pathLst>
                <a:path w="3291840" h="419735">
                  <a:moveTo>
                    <a:pt x="0" y="341122"/>
                  </a:moveTo>
                  <a:lnTo>
                    <a:pt x="33654" y="419481"/>
                  </a:lnTo>
                  <a:lnTo>
                    <a:pt x="70023" y="356108"/>
                  </a:lnTo>
                  <a:lnTo>
                    <a:pt x="27431" y="356108"/>
                  </a:lnTo>
                  <a:lnTo>
                    <a:pt x="27460" y="342726"/>
                  </a:lnTo>
                  <a:lnTo>
                    <a:pt x="0" y="341122"/>
                  </a:lnTo>
                  <a:close/>
                </a:path>
                <a:path w="3291840" h="419735">
                  <a:moveTo>
                    <a:pt x="27460" y="342726"/>
                  </a:moveTo>
                  <a:lnTo>
                    <a:pt x="27431" y="356108"/>
                  </a:lnTo>
                  <a:lnTo>
                    <a:pt x="47243" y="356108"/>
                  </a:lnTo>
                  <a:lnTo>
                    <a:pt x="47270" y="343884"/>
                  </a:lnTo>
                  <a:lnTo>
                    <a:pt x="27460" y="342726"/>
                  </a:lnTo>
                  <a:close/>
                </a:path>
                <a:path w="3291840" h="419735">
                  <a:moveTo>
                    <a:pt x="47270" y="343884"/>
                  </a:moveTo>
                  <a:lnTo>
                    <a:pt x="47243" y="356108"/>
                  </a:lnTo>
                  <a:lnTo>
                    <a:pt x="70023" y="356108"/>
                  </a:lnTo>
                  <a:lnTo>
                    <a:pt x="76072" y="345567"/>
                  </a:lnTo>
                  <a:lnTo>
                    <a:pt x="47270" y="343884"/>
                  </a:lnTo>
                  <a:close/>
                </a:path>
                <a:path w="3291840" h="419735">
                  <a:moveTo>
                    <a:pt x="3291712" y="0"/>
                  </a:moveTo>
                  <a:lnTo>
                    <a:pt x="28193" y="0"/>
                  </a:lnTo>
                  <a:lnTo>
                    <a:pt x="27463" y="341122"/>
                  </a:lnTo>
                  <a:lnTo>
                    <a:pt x="27460" y="342726"/>
                  </a:lnTo>
                  <a:lnTo>
                    <a:pt x="47270" y="343884"/>
                  </a:lnTo>
                  <a:lnTo>
                    <a:pt x="47984" y="19812"/>
                  </a:lnTo>
                  <a:lnTo>
                    <a:pt x="38100" y="19812"/>
                  </a:lnTo>
                  <a:lnTo>
                    <a:pt x="48006" y="9906"/>
                  </a:lnTo>
                  <a:lnTo>
                    <a:pt x="3291712" y="9906"/>
                  </a:lnTo>
                  <a:lnTo>
                    <a:pt x="3291712" y="0"/>
                  </a:lnTo>
                  <a:close/>
                </a:path>
                <a:path w="3291840" h="419735">
                  <a:moveTo>
                    <a:pt x="48006" y="9906"/>
                  </a:moveTo>
                  <a:lnTo>
                    <a:pt x="38100" y="19812"/>
                  </a:lnTo>
                  <a:lnTo>
                    <a:pt x="47984" y="19812"/>
                  </a:lnTo>
                  <a:lnTo>
                    <a:pt x="48006" y="9906"/>
                  </a:lnTo>
                  <a:close/>
                </a:path>
                <a:path w="3291840" h="419735">
                  <a:moveTo>
                    <a:pt x="3291712" y="9906"/>
                  </a:moveTo>
                  <a:lnTo>
                    <a:pt x="48006" y="9906"/>
                  </a:lnTo>
                  <a:lnTo>
                    <a:pt x="47984" y="19812"/>
                  </a:lnTo>
                  <a:lnTo>
                    <a:pt x="3291712" y="19812"/>
                  </a:lnTo>
                  <a:lnTo>
                    <a:pt x="3291712" y="9906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057137" y="2666237"/>
              <a:ext cx="0" cy="440690"/>
            </a:xfrm>
            <a:custGeom>
              <a:avLst/>
              <a:gdLst/>
              <a:ahLst/>
              <a:cxnLst/>
              <a:rect l="l" t="t" r="r" b="b"/>
              <a:pathLst>
                <a:path w="0" h="440689">
                  <a:moveTo>
                    <a:pt x="0" y="0"/>
                  </a:moveTo>
                  <a:lnTo>
                    <a:pt x="0" y="440436"/>
                  </a:lnTo>
                </a:path>
              </a:pathLst>
            </a:custGeom>
            <a:ln w="19812">
              <a:solidFill>
                <a:srgbClr val="961B2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73018" y="2762503"/>
              <a:ext cx="1714340" cy="14008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8408" y="3893819"/>
              <a:ext cx="534923" cy="18288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281684" y="4104131"/>
              <a:ext cx="1905" cy="588010"/>
            </a:xfrm>
            <a:custGeom>
              <a:avLst/>
              <a:gdLst/>
              <a:ahLst/>
              <a:cxnLst/>
              <a:rect l="l" t="t" r="r" b="b"/>
              <a:pathLst>
                <a:path w="1905" h="588010">
                  <a:moveTo>
                    <a:pt x="1524" y="0"/>
                  </a:moveTo>
                  <a:lnTo>
                    <a:pt x="0" y="587756"/>
                  </a:lnTo>
                </a:path>
              </a:pathLst>
            </a:custGeom>
            <a:ln w="6096">
              <a:solidFill>
                <a:srgbClr val="4A4F5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6867143" y="3069335"/>
            <a:ext cx="1945005" cy="847725"/>
            <a:chOff x="6867143" y="3069335"/>
            <a:chExt cx="1945005" cy="847725"/>
          </a:xfrm>
        </p:grpSpPr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67143" y="3069335"/>
              <a:ext cx="1944624" cy="8473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93863" y="3262883"/>
              <a:ext cx="1130807" cy="49225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926579" y="3108959"/>
              <a:ext cx="1826260" cy="730250"/>
            </a:xfrm>
            <a:custGeom>
              <a:avLst/>
              <a:gdLst/>
              <a:ahLst/>
              <a:cxnLst/>
              <a:rect l="l" t="t" r="r" b="b"/>
              <a:pathLst>
                <a:path w="1826259" h="730250">
                  <a:moveTo>
                    <a:pt x="1460753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60753" y="729995"/>
                  </a:lnTo>
                  <a:lnTo>
                    <a:pt x="1825752" y="364998"/>
                  </a:lnTo>
                  <a:lnTo>
                    <a:pt x="1460753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7447915" y="3342258"/>
            <a:ext cx="8242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Remission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510016" y="3069335"/>
            <a:ext cx="1945005" cy="847725"/>
            <a:chOff x="8510016" y="3069335"/>
            <a:chExt cx="1945005" cy="847725"/>
          </a:xfrm>
        </p:grpSpPr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10016" y="3069335"/>
              <a:ext cx="1944624" cy="84734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84920" y="3262883"/>
              <a:ext cx="1234440" cy="49225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569452" y="3108959"/>
              <a:ext cx="1826260" cy="730250"/>
            </a:xfrm>
            <a:custGeom>
              <a:avLst/>
              <a:gdLst/>
              <a:ahLst/>
              <a:cxnLst/>
              <a:rect l="l" t="t" r="r" b="b"/>
              <a:pathLst>
                <a:path w="1826259" h="730250">
                  <a:moveTo>
                    <a:pt x="1460753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60753" y="729995"/>
                  </a:lnTo>
                  <a:lnTo>
                    <a:pt x="1825752" y="364998"/>
                  </a:lnTo>
                  <a:lnTo>
                    <a:pt x="1460753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9039225" y="3342258"/>
            <a:ext cx="9277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Recurrence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0152888" y="3069335"/>
            <a:ext cx="1945005" cy="847725"/>
            <a:chOff x="10152888" y="3069335"/>
            <a:chExt cx="1945005" cy="847725"/>
          </a:xfrm>
        </p:grpSpPr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52888" y="3069335"/>
              <a:ext cx="1944624" cy="84734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564368" y="3262883"/>
              <a:ext cx="1161287" cy="49225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212324" y="3108959"/>
              <a:ext cx="1826260" cy="730250"/>
            </a:xfrm>
            <a:custGeom>
              <a:avLst/>
              <a:gdLst/>
              <a:ahLst/>
              <a:cxnLst/>
              <a:rect l="l" t="t" r="r" b="b"/>
              <a:pathLst>
                <a:path w="1826259" h="730250">
                  <a:moveTo>
                    <a:pt x="1460753" y="0"/>
                  </a:moveTo>
                  <a:lnTo>
                    <a:pt x="0" y="0"/>
                  </a:lnTo>
                  <a:lnTo>
                    <a:pt x="364998" y="364998"/>
                  </a:lnTo>
                  <a:lnTo>
                    <a:pt x="0" y="729995"/>
                  </a:lnTo>
                  <a:lnTo>
                    <a:pt x="1460753" y="729995"/>
                  </a:lnTo>
                  <a:lnTo>
                    <a:pt x="1825752" y="364998"/>
                  </a:lnTo>
                  <a:lnTo>
                    <a:pt x="146075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/>
          <p:cNvGrpSpPr/>
          <p:nvPr/>
        </p:nvGrpSpPr>
        <p:grpSpPr>
          <a:xfrm>
            <a:off x="3471671" y="3019044"/>
            <a:ext cx="7061200" cy="1676400"/>
            <a:chOff x="3471671" y="3019044"/>
            <a:chExt cx="7061200" cy="1676400"/>
          </a:xfrm>
        </p:grpSpPr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48427" y="3880104"/>
              <a:ext cx="534924" cy="18288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08263" y="3893819"/>
              <a:ext cx="534924" cy="18288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71671" y="3020568"/>
              <a:ext cx="3761231" cy="92354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622547" y="3098292"/>
              <a:ext cx="3497579" cy="730250"/>
            </a:xfrm>
            <a:custGeom>
              <a:avLst/>
              <a:gdLst/>
              <a:ahLst/>
              <a:cxnLst/>
              <a:rect l="l" t="t" r="r" b="b"/>
              <a:pathLst>
                <a:path w="3497579" h="730250">
                  <a:moveTo>
                    <a:pt x="0" y="0"/>
                  </a:moveTo>
                  <a:lnTo>
                    <a:pt x="3132581" y="0"/>
                  </a:lnTo>
                  <a:lnTo>
                    <a:pt x="3497579" y="364998"/>
                  </a:lnTo>
                  <a:lnTo>
                    <a:pt x="3132581" y="729996"/>
                  </a:lnTo>
                  <a:lnTo>
                    <a:pt x="0" y="729996"/>
                  </a:lnTo>
                  <a:lnTo>
                    <a:pt x="364998" y="364998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3939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71131" y="3019044"/>
              <a:ext cx="3761231" cy="923543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922007" y="3096768"/>
              <a:ext cx="3497579" cy="730250"/>
            </a:xfrm>
            <a:custGeom>
              <a:avLst/>
              <a:gdLst/>
              <a:ahLst/>
              <a:cxnLst/>
              <a:rect l="l" t="t" r="r" b="b"/>
              <a:pathLst>
                <a:path w="3497579" h="730250">
                  <a:moveTo>
                    <a:pt x="0" y="0"/>
                  </a:moveTo>
                  <a:lnTo>
                    <a:pt x="3132582" y="0"/>
                  </a:lnTo>
                  <a:lnTo>
                    <a:pt x="3497580" y="364998"/>
                  </a:lnTo>
                  <a:lnTo>
                    <a:pt x="3132582" y="729996"/>
                  </a:lnTo>
                  <a:lnTo>
                    <a:pt x="0" y="729996"/>
                  </a:lnTo>
                  <a:lnTo>
                    <a:pt x="364998" y="364998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3939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213603" y="4104132"/>
              <a:ext cx="3270885" cy="588010"/>
            </a:xfrm>
            <a:custGeom>
              <a:avLst/>
              <a:gdLst/>
              <a:ahLst/>
              <a:cxnLst/>
              <a:rect l="l" t="t" r="r" b="b"/>
              <a:pathLst>
                <a:path w="3270884" h="588010">
                  <a:moveTo>
                    <a:pt x="1524" y="0"/>
                  </a:moveTo>
                  <a:lnTo>
                    <a:pt x="0" y="587756"/>
                  </a:lnTo>
                </a:path>
                <a:path w="3270884" h="588010">
                  <a:moveTo>
                    <a:pt x="3270504" y="0"/>
                  </a:moveTo>
                  <a:lnTo>
                    <a:pt x="3268979" y="587756"/>
                  </a:lnTo>
                </a:path>
              </a:pathLst>
            </a:custGeom>
            <a:ln w="6096">
              <a:solidFill>
                <a:srgbClr val="4A4F5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0718672" y="3342258"/>
            <a:ext cx="8559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End-of-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life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68" name="object 6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60552" y="4864227"/>
            <a:ext cx="1648536" cy="138430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202429" y="4864227"/>
            <a:ext cx="2040255" cy="140081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940547" y="4866132"/>
            <a:ext cx="1092000" cy="13652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05916" y="5109590"/>
            <a:ext cx="1160475" cy="113537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066413" y="5109590"/>
            <a:ext cx="2299589" cy="139953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672069" y="5109590"/>
            <a:ext cx="1632838" cy="14008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0653" y="6477685"/>
            <a:ext cx="210185" cy="988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01</a:t>
            </a:r>
            <a:r>
              <a:rPr dirty="0" sz="2400" spc="-145"/>
              <a:t> </a:t>
            </a:r>
            <a:r>
              <a:rPr dirty="0" baseline="1157" sz="3600" spc="-225">
                <a:solidFill>
                  <a:srgbClr val="393938"/>
                </a:solidFill>
              </a:rPr>
              <a:t>Introduction</a:t>
            </a:r>
            <a:endParaRPr baseline="1157" sz="360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2604" y="1054353"/>
            <a:ext cx="1353616" cy="17995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19327" y="1496186"/>
            <a:ext cx="8001634" cy="4731385"/>
            <a:chOff x="719327" y="1496186"/>
            <a:chExt cx="8001634" cy="473138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9327" y="1496186"/>
              <a:ext cx="7658735" cy="47308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22921" y="5101716"/>
              <a:ext cx="1098042" cy="173608"/>
            </a:xfrm>
            <a:prstGeom prst="rect">
              <a:avLst/>
            </a:prstGeom>
          </p:spPr>
        </p:pic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9891" y="6476212"/>
            <a:ext cx="210947" cy="100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7F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95628" cy="11049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793613" y="2734436"/>
            <a:ext cx="439420" cy="168910"/>
          </a:xfrm>
          <a:custGeom>
            <a:avLst/>
            <a:gdLst/>
            <a:ahLst/>
            <a:cxnLst/>
            <a:rect l="l" t="t" r="r" b="b"/>
            <a:pathLst>
              <a:path w="439420" h="168910">
                <a:moveTo>
                  <a:pt x="240837" y="72898"/>
                </a:moveTo>
                <a:lnTo>
                  <a:pt x="198627" y="72898"/>
                </a:lnTo>
                <a:lnTo>
                  <a:pt x="202691" y="74422"/>
                </a:lnTo>
                <a:lnTo>
                  <a:pt x="208407" y="80645"/>
                </a:lnTo>
                <a:lnTo>
                  <a:pt x="209803" y="85725"/>
                </a:lnTo>
                <a:lnTo>
                  <a:pt x="209803" y="97789"/>
                </a:lnTo>
                <a:lnTo>
                  <a:pt x="200062" y="98008"/>
                </a:lnTo>
                <a:lnTo>
                  <a:pt x="191214" y="98679"/>
                </a:lnTo>
                <a:lnTo>
                  <a:pt x="149606" y="114173"/>
                </a:lnTo>
                <a:lnTo>
                  <a:pt x="140588" y="131445"/>
                </a:lnTo>
                <a:lnTo>
                  <a:pt x="140588" y="140970"/>
                </a:lnTo>
                <a:lnTo>
                  <a:pt x="141248" y="145034"/>
                </a:lnTo>
                <a:lnTo>
                  <a:pt x="141350" y="145668"/>
                </a:lnTo>
                <a:lnTo>
                  <a:pt x="143128" y="149733"/>
                </a:lnTo>
                <a:lnTo>
                  <a:pt x="144779" y="153924"/>
                </a:lnTo>
                <a:lnTo>
                  <a:pt x="147065" y="157225"/>
                </a:lnTo>
                <a:lnTo>
                  <a:pt x="150240" y="160020"/>
                </a:lnTo>
                <a:lnTo>
                  <a:pt x="153288" y="162813"/>
                </a:lnTo>
                <a:lnTo>
                  <a:pt x="157099" y="164846"/>
                </a:lnTo>
                <a:lnTo>
                  <a:pt x="165862" y="167639"/>
                </a:lnTo>
                <a:lnTo>
                  <a:pt x="170814" y="168401"/>
                </a:lnTo>
                <a:lnTo>
                  <a:pt x="180212" y="168401"/>
                </a:lnTo>
                <a:lnTo>
                  <a:pt x="205104" y="159638"/>
                </a:lnTo>
                <a:lnTo>
                  <a:pt x="207899" y="157734"/>
                </a:lnTo>
                <a:lnTo>
                  <a:pt x="210692" y="155448"/>
                </a:lnTo>
                <a:lnTo>
                  <a:pt x="213740" y="153035"/>
                </a:lnTo>
                <a:lnTo>
                  <a:pt x="244348" y="153035"/>
                </a:lnTo>
                <a:lnTo>
                  <a:pt x="244348" y="145034"/>
                </a:lnTo>
                <a:lnTo>
                  <a:pt x="183134" y="145034"/>
                </a:lnTo>
                <a:lnTo>
                  <a:pt x="179959" y="144145"/>
                </a:lnTo>
                <a:lnTo>
                  <a:pt x="177673" y="142493"/>
                </a:lnTo>
                <a:lnTo>
                  <a:pt x="175513" y="140842"/>
                </a:lnTo>
                <a:lnTo>
                  <a:pt x="174371" y="137922"/>
                </a:lnTo>
                <a:lnTo>
                  <a:pt x="174472" y="131445"/>
                </a:lnTo>
                <a:lnTo>
                  <a:pt x="192277" y="120014"/>
                </a:lnTo>
                <a:lnTo>
                  <a:pt x="196850" y="118999"/>
                </a:lnTo>
                <a:lnTo>
                  <a:pt x="202691" y="118617"/>
                </a:lnTo>
                <a:lnTo>
                  <a:pt x="244348" y="118617"/>
                </a:lnTo>
                <a:lnTo>
                  <a:pt x="244348" y="85725"/>
                </a:lnTo>
                <a:lnTo>
                  <a:pt x="243705" y="81787"/>
                </a:lnTo>
                <a:lnTo>
                  <a:pt x="243622" y="81279"/>
                </a:lnTo>
                <a:lnTo>
                  <a:pt x="243518" y="80645"/>
                </a:lnTo>
                <a:lnTo>
                  <a:pt x="243414" y="80010"/>
                </a:lnTo>
                <a:lnTo>
                  <a:pt x="243332" y="79501"/>
                </a:lnTo>
                <a:lnTo>
                  <a:pt x="240837" y="72898"/>
                </a:lnTo>
                <a:close/>
              </a:path>
              <a:path w="439420" h="168910">
                <a:moveTo>
                  <a:pt x="244348" y="153035"/>
                </a:moveTo>
                <a:lnTo>
                  <a:pt x="213740" y="153035"/>
                </a:lnTo>
                <a:lnTo>
                  <a:pt x="217424" y="162433"/>
                </a:lnTo>
                <a:lnTo>
                  <a:pt x="218914" y="164464"/>
                </a:lnTo>
                <a:lnTo>
                  <a:pt x="219056" y="164464"/>
                </a:lnTo>
                <a:lnTo>
                  <a:pt x="220472" y="165226"/>
                </a:lnTo>
                <a:lnTo>
                  <a:pt x="222503" y="166242"/>
                </a:lnTo>
                <a:lnTo>
                  <a:pt x="222884" y="166242"/>
                </a:lnTo>
                <a:lnTo>
                  <a:pt x="225424" y="166750"/>
                </a:lnTo>
                <a:lnTo>
                  <a:pt x="244348" y="166750"/>
                </a:lnTo>
                <a:lnTo>
                  <a:pt x="244348" y="153035"/>
                </a:lnTo>
                <a:close/>
              </a:path>
              <a:path w="439420" h="168910">
                <a:moveTo>
                  <a:pt x="244348" y="118617"/>
                </a:moveTo>
                <a:lnTo>
                  <a:pt x="209803" y="118617"/>
                </a:lnTo>
                <a:lnTo>
                  <a:pt x="209803" y="134747"/>
                </a:lnTo>
                <a:lnTo>
                  <a:pt x="206375" y="138429"/>
                </a:lnTo>
                <a:lnTo>
                  <a:pt x="202819" y="140970"/>
                </a:lnTo>
                <a:lnTo>
                  <a:pt x="199389" y="142621"/>
                </a:lnTo>
                <a:lnTo>
                  <a:pt x="195961" y="144145"/>
                </a:lnTo>
                <a:lnTo>
                  <a:pt x="192024" y="145034"/>
                </a:lnTo>
                <a:lnTo>
                  <a:pt x="244348" y="145034"/>
                </a:lnTo>
                <a:lnTo>
                  <a:pt x="244348" y="118617"/>
                </a:lnTo>
                <a:close/>
              </a:path>
              <a:path w="439420" h="168910">
                <a:moveTo>
                  <a:pt x="205104" y="45720"/>
                </a:moveTo>
                <a:lnTo>
                  <a:pt x="197992" y="45720"/>
                </a:lnTo>
                <a:lnTo>
                  <a:pt x="190589" y="46007"/>
                </a:lnTo>
                <a:lnTo>
                  <a:pt x="151548" y="60063"/>
                </a:lnTo>
                <a:lnTo>
                  <a:pt x="146050" y="64515"/>
                </a:lnTo>
                <a:lnTo>
                  <a:pt x="153415" y="77342"/>
                </a:lnTo>
                <a:lnTo>
                  <a:pt x="154812" y="78866"/>
                </a:lnTo>
                <a:lnTo>
                  <a:pt x="156463" y="80010"/>
                </a:lnTo>
                <a:lnTo>
                  <a:pt x="158439" y="81279"/>
                </a:lnTo>
                <a:lnTo>
                  <a:pt x="158648" y="81279"/>
                </a:lnTo>
                <a:lnTo>
                  <a:pt x="160274" y="81787"/>
                </a:lnTo>
                <a:lnTo>
                  <a:pt x="165481" y="81787"/>
                </a:lnTo>
                <a:lnTo>
                  <a:pt x="167894" y="81279"/>
                </a:lnTo>
                <a:lnTo>
                  <a:pt x="169799" y="80390"/>
                </a:lnTo>
                <a:lnTo>
                  <a:pt x="171831" y="79501"/>
                </a:lnTo>
                <a:lnTo>
                  <a:pt x="173862" y="78486"/>
                </a:lnTo>
                <a:lnTo>
                  <a:pt x="175895" y="77342"/>
                </a:lnTo>
                <a:lnTo>
                  <a:pt x="178053" y="76200"/>
                </a:lnTo>
                <a:lnTo>
                  <a:pt x="180466" y="75184"/>
                </a:lnTo>
                <a:lnTo>
                  <a:pt x="183134" y="74167"/>
                </a:lnTo>
                <a:lnTo>
                  <a:pt x="185800" y="73278"/>
                </a:lnTo>
                <a:lnTo>
                  <a:pt x="189229" y="72898"/>
                </a:lnTo>
                <a:lnTo>
                  <a:pt x="240837" y="72898"/>
                </a:lnTo>
                <a:lnTo>
                  <a:pt x="239013" y="68072"/>
                </a:lnTo>
                <a:lnTo>
                  <a:pt x="235965" y="63118"/>
                </a:lnTo>
                <a:lnTo>
                  <a:pt x="227964" y="54863"/>
                </a:lnTo>
                <a:lnTo>
                  <a:pt x="223012" y="51562"/>
                </a:lnTo>
                <a:lnTo>
                  <a:pt x="217297" y="49275"/>
                </a:lnTo>
                <a:lnTo>
                  <a:pt x="211619" y="46878"/>
                </a:lnTo>
                <a:lnTo>
                  <a:pt x="205104" y="45720"/>
                </a:lnTo>
                <a:close/>
              </a:path>
              <a:path w="439420" h="168910">
                <a:moveTo>
                  <a:pt x="292481" y="48005"/>
                </a:moveTo>
                <a:lnTo>
                  <a:pt x="269748" y="48005"/>
                </a:lnTo>
                <a:lnTo>
                  <a:pt x="269748" y="166624"/>
                </a:lnTo>
                <a:lnTo>
                  <a:pt x="305181" y="166624"/>
                </a:lnTo>
                <a:lnTo>
                  <a:pt x="305181" y="93852"/>
                </a:lnTo>
                <a:lnTo>
                  <a:pt x="309542" y="87352"/>
                </a:lnTo>
                <a:lnTo>
                  <a:pt x="314642" y="82708"/>
                </a:lnTo>
                <a:lnTo>
                  <a:pt x="320320" y="80010"/>
                </a:lnTo>
                <a:lnTo>
                  <a:pt x="319879" y="80010"/>
                </a:lnTo>
                <a:lnTo>
                  <a:pt x="327151" y="78993"/>
                </a:lnTo>
                <a:lnTo>
                  <a:pt x="342188" y="78993"/>
                </a:lnTo>
                <a:lnTo>
                  <a:pt x="342900" y="78486"/>
                </a:lnTo>
                <a:lnTo>
                  <a:pt x="343535" y="77342"/>
                </a:lnTo>
                <a:lnTo>
                  <a:pt x="343788" y="75691"/>
                </a:lnTo>
                <a:lnTo>
                  <a:pt x="345238" y="67437"/>
                </a:lnTo>
                <a:lnTo>
                  <a:pt x="303022" y="67437"/>
                </a:lnTo>
                <a:lnTo>
                  <a:pt x="300989" y="56387"/>
                </a:lnTo>
                <a:lnTo>
                  <a:pt x="300841" y="55499"/>
                </a:lnTo>
                <a:lnTo>
                  <a:pt x="300736" y="54863"/>
                </a:lnTo>
                <a:lnTo>
                  <a:pt x="300354" y="53593"/>
                </a:lnTo>
                <a:lnTo>
                  <a:pt x="299974" y="52450"/>
                </a:lnTo>
                <a:lnTo>
                  <a:pt x="299529" y="51562"/>
                </a:lnTo>
                <a:lnTo>
                  <a:pt x="298958" y="50546"/>
                </a:lnTo>
                <a:lnTo>
                  <a:pt x="298069" y="49911"/>
                </a:lnTo>
                <a:lnTo>
                  <a:pt x="297307" y="49275"/>
                </a:lnTo>
                <a:lnTo>
                  <a:pt x="296290" y="48767"/>
                </a:lnTo>
                <a:lnTo>
                  <a:pt x="294004" y="48260"/>
                </a:lnTo>
                <a:lnTo>
                  <a:pt x="292481" y="48005"/>
                </a:lnTo>
                <a:close/>
              </a:path>
              <a:path w="439420" h="168910">
                <a:moveTo>
                  <a:pt x="334941" y="79755"/>
                </a:moveTo>
                <a:lnTo>
                  <a:pt x="331215" y="79755"/>
                </a:lnTo>
                <a:lnTo>
                  <a:pt x="339851" y="80010"/>
                </a:lnTo>
                <a:lnTo>
                  <a:pt x="336126" y="80010"/>
                </a:lnTo>
                <a:lnTo>
                  <a:pt x="334941" y="79755"/>
                </a:lnTo>
                <a:close/>
              </a:path>
              <a:path w="439420" h="168910">
                <a:moveTo>
                  <a:pt x="342188" y="78993"/>
                </a:moveTo>
                <a:lnTo>
                  <a:pt x="329819" y="78993"/>
                </a:lnTo>
                <a:lnTo>
                  <a:pt x="331977" y="79248"/>
                </a:lnTo>
                <a:lnTo>
                  <a:pt x="333756" y="79501"/>
                </a:lnTo>
                <a:lnTo>
                  <a:pt x="334941" y="79755"/>
                </a:lnTo>
                <a:lnTo>
                  <a:pt x="340995" y="79755"/>
                </a:lnTo>
                <a:lnTo>
                  <a:pt x="342188" y="78993"/>
                </a:lnTo>
                <a:close/>
              </a:path>
              <a:path w="439420" h="168910">
                <a:moveTo>
                  <a:pt x="340740" y="45720"/>
                </a:moveTo>
                <a:lnTo>
                  <a:pt x="328929" y="45720"/>
                </a:lnTo>
                <a:lnTo>
                  <a:pt x="322961" y="47751"/>
                </a:lnTo>
                <a:lnTo>
                  <a:pt x="312165" y="55499"/>
                </a:lnTo>
                <a:lnTo>
                  <a:pt x="307339" y="60833"/>
                </a:lnTo>
                <a:lnTo>
                  <a:pt x="303022" y="67437"/>
                </a:lnTo>
                <a:lnTo>
                  <a:pt x="345238" y="67437"/>
                </a:lnTo>
                <a:lnTo>
                  <a:pt x="348204" y="50546"/>
                </a:lnTo>
                <a:lnTo>
                  <a:pt x="348316" y="49911"/>
                </a:lnTo>
                <a:lnTo>
                  <a:pt x="348361" y="49657"/>
                </a:lnTo>
                <a:lnTo>
                  <a:pt x="345059" y="47116"/>
                </a:lnTo>
                <a:lnTo>
                  <a:pt x="340740" y="45720"/>
                </a:lnTo>
                <a:close/>
              </a:path>
              <a:path w="439420" h="168910">
                <a:moveTo>
                  <a:pt x="58674" y="0"/>
                </a:moveTo>
                <a:lnTo>
                  <a:pt x="0" y="0"/>
                </a:lnTo>
                <a:lnTo>
                  <a:pt x="0" y="166624"/>
                </a:lnTo>
                <a:lnTo>
                  <a:pt x="38608" y="166624"/>
                </a:lnTo>
                <a:lnTo>
                  <a:pt x="38608" y="110871"/>
                </a:lnTo>
                <a:lnTo>
                  <a:pt x="58674" y="110871"/>
                </a:lnTo>
                <a:lnTo>
                  <a:pt x="97027" y="104012"/>
                </a:lnTo>
                <a:lnTo>
                  <a:pt x="119937" y="81787"/>
                </a:lnTo>
                <a:lnTo>
                  <a:pt x="38608" y="81787"/>
                </a:lnTo>
                <a:lnTo>
                  <a:pt x="38608" y="28955"/>
                </a:lnTo>
                <a:lnTo>
                  <a:pt x="120259" y="28955"/>
                </a:lnTo>
                <a:lnTo>
                  <a:pt x="119252" y="26288"/>
                </a:lnTo>
                <a:lnTo>
                  <a:pt x="115188" y="20574"/>
                </a:lnTo>
                <a:lnTo>
                  <a:pt x="109727" y="15748"/>
                </a:lnTo>
                <a:lnTo>
                  <a:pt x="104266" y="10795"/>
                </a:lnTo>
                <a:lnTo>
                  <a:pt x="67200" y="261"/>
                </a:lnTo>
                <a:lnTo>
                  <a:pt x="58674" y="0"/>
                </a:lnTo>
                <a:close/>
              </a:path>
              <a:path w="439420" h="168910">
                <a:moveTo>
                  <a:pt x="120259" y="28955"/>
                </a:moveTo>
                <a:lnTo>
                  <a:pt x="63626" y="28955"/>
                </a:lnTo>
                <a:lnTo>
                  <a:pt x="67817" y="29590"/>
                </a:lnTo>
                <a:lnTo>
                  <a:pt x="71374" y="30734"/>
                </a:lnTo>
                <a:lnTo>
                  <a:pt x="85344" y="44068"/>
                </a:lnTo>
                <a:lnTo>
                  <a:pt x="86487" y="47116"/>
                </a:lnTo>
                <a:lnTo>
                  <a:pt x="87122" y="50673"/>
                </a:lnTo>
                <a:lnTo>
                  <a:pt x="87122" y="63118"/>
                </a:lnTo>
                <a:lnTo>
                  <a:pt x="84836" y="69723"/>
                </a:lnTo>
                <a:lnTo>
                  <a:pt x="80390" y="74549"/>
                </a:lnTo>
                <a:lnTo>
                  <a:pt x="76073" y="79375"/>
                </a:lnTo>
                <a:lnTo>
                  <a:pt x="68834" y="81787"/>
                </a:lnTo>
                <a:lnTo>
                  <a:pt x="119937" y="81787"/>
                </a:lnTo>
                <a:lnTo>
                  <a:pt x="121665" y="77342"/>
                </a:lnTo>
                <a:lnTo>
                  <a:pt x="124333" y="70358"/>
                </a:lnTo>
                <a:lnTo>
                  <a:pt x="125660" y="63118"/>
                </a:lnTo>
                <a:lnTo>
                  <a:pt x="125729" y="46736"/>
                </a:lnTo>
                <a:lnTo>
                  <a:pt x="124460" y="39624"/>
                </a:lnTo>
                <a:lnTo>
                  <a:pt x="121792" y="33020"/>
                </a:lnTo>
                <a:lnTo>
                  <a:pt x="120259" y="28955"/>
                </a:lnTo>
                <a:close/>
              </a:path>
              <a:path w="439420" h="168910">
                <a:moveTo>
                  <a:pt x="406526" y="72516"/>
                </a:moveTo>
                <a:lnTo>
                  <a:pt x="371094" y="72516"/>
                </a:lnTo>
                <a:lnTo>
                  <a:pt x="371176" y="139573"/>
                </a:lnTo>
                <a:lnTo>
                  <a:pt x="400176" y="168401"/>
                </a:lnTo>
                <a:lnTo>
                  <a:pt x="411861" y="168401"/>
                </a:lnTo>
                <a:lnTo>
                  <a:pt x="416977" y="167639"/>
                </a:lnTo>
                <a:lnTo>
                  <a:pt x="417390" y="167639"/>
                </a:lnTo>
                <a:lnTo>
                  <a:pt x="423545" y="165862"/>
                </a:lnTo>
                <a:lnTo>
                  <a:pt x="429260" y="164084"/>
                </a:lnTo>
                <a:lnTo>
                  <a:pt x="434339" y="161543"/>
                </a:lnTo>
                <a:lnTo>
                  <a:pt x="438912" y="158114"/>
                </a:lnTo>
                <a:lnTo>
                  <a:pt x="427905" y="140842"/>
                </a:lnTo>
                <a:lnTo>
                  <a:pt x="411734" y="140842"/>
                </a:lnTo>
                <a:lnTo>
                  <a:pt x="409828" y="139953"/>
                </a:lnTo>
                <a:lnTo>
                  <a:pt x="408631" y="138429"/>
                </a:lnTo>
                <a:lnTo>
                  <a:pt x="407162" y="136398"/>
                </a:lnTo>
                <a:lnTo>
                  <a:pt x="406526" y="134112"/>
                </a:lnTo>
                <a:lnTo>
                  <a:pt x="406526" y="72516"/>
                </a:lnTo>
                <a:close/>
              </a:path>
              <a:path w="439420" h="168910">
                <a:moveTo>
                  <a:pt x="421639" y="138684"/>
                </a:moveTo>
                <a:lnTo>
                  <a:pt x="421512" y="138684"/>
                </a:lnTo>
                <a:lnTo>
                  <a:pt x="420497" y="139191"/>
                </a:lnTo>
                <a:lnTo>
                  <a:pt x="419862" y="139573"/>
                </a:lnTo>
                <a:lnTo>
                  <a:pt x="418718" y="139953"/>
                </a:lnTo>
                <a:lnTo>
                  <a:pt x="418846" y="139953"/>
                </a:lnTo>
                <a:lnTo>
                  <a:pt x="418338" y="140208"/>
                </a:lnTo>
                <a:lnTo>
                  <a:pt x="417575" y="140462"/>
                </a:lnTo>
                <a:lnTo>
                  <a:pt x="416242" y="140842"/>
                </a:lnTo>
                <a:lnTo>
                  <a:pt x="427905" y="140842"/>
                </a:lnTo>
                <a:lnTo>
                  <a:pt x="427482" y="140208"/>
                </a:lnTo>
                <a:lnTo>
                  <a:pt x="426952" y="139573"/>
                </a:lnTo>
                <a:lnTo>
                  <a:pt x="426529" y="139191"/>
                </a:lnTo>
                <a:lnTo>
                  <a:pt x="420369" y="139191"/>
                </a:lnTo>
                <a:lnTo>
                  <a:pt x="421639" y="138684"/>
                </a:lnTo>
                <a:close/>
              </a:path>
              <a:path w="439420" h="168910">
                <a:moveTo>
                  <a:pt x="425576" y="138429"/>
                </a:moveTo>
                <a:lnTo>
                  <a:pt x="421978" y="138429"/>
                </a:lnTo>
                <a:lnTo>
                  <a:pt x="421639" y="138684"/>
                </a:lnTo>
                <a:lnTo>
                  <a:pt x="425894" y="138684"/>
                </a:lnTo>
                <a:lnTo>
                  <a:pt x="425576" y="138429"/>
                </a:lnTo>
                <a:close/>
              </a:path>
              <a:path w="439420" h="168910">
                <a:moveTo>
                  <a:pt x="406526" y="13588"/>
                </a:moveTo>
                <a:lnTo>
                  <a:pt x="383666" y="13588"/>
                </a:lnTo>
                <a:lnTo>
                  <a:pt x="381126" y="15493"/>
                </a:lnTo>
                <a:lnTo>
                  <a:pt x="373252" y="48005"/>
                </a:lnTo>
                <a:lnTo>
                  <a:pt x="354329" y="51688"/>
                </a:lnTo>
                <a:lnTo>
                  <a:pt x="354329" y="67817"/>
                </a:lnTo>
                <a:lnTo>
                  <a:pt x="354964" y="69596"/>
                </a:lnTo>
                <a:lnTo>
                  <a:pt x="356362" y="70738"/>
                </a:lnTo>
                <a:lnTo>
                  <a:pt x="357632" y="71882"/>
                </a:lnTo>
                <a:lnTo>
                  <a:pt x="359156" y="72516"/>
                </a:lnTo>
                <a:lnTo>
                  <a:pt x="435356" y="72516"/>
                </a:lnTo>
                <a:lnTo>
                  <a:pt x="435356" y="48260"/>
                </a:lnTo>
                <a:lnTo>
                  <a:pt x="406526" y="48260"/>
                </a:lnTo>
                <a:lnTo>
                  <a:pt x="406526" y="13588"/>
                </a:lnTo>
                <a:close/>
              </a:path>
            </a:pathLst>
          </a:custGeom>
          <a:solidFill>
            <a:srgbClr val="9E0A2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7261" y="2732658"/>
            <a:ext cx="117093" cy="16840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939032" y="3194761"/>
            <a:ext cx="4314825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105">
                <a:solidFill>
                  <a:srgbClr val="393938"/>
                </a:solidFill>
              </a:rPr>
              <a:t>Application</a:t>
            </a:r>
            <a:r>
              <a:rPr dirty="0" sz="3400" spc="-305">
                <a:solidFill>
                  <a:srgbClr val="393938"/>
                </a:solidFill>
              </a:rPr>
              <a:t> </a:t>
            </a:r>
            <a:r>
              <a:rPr dirty="0" sz="3400" spc="-110">
                <a:solidFill>
                  <a:srgbClr val="393938"/>
                </a:solidFill>
              </a:rPr>
              <a:t>of</a:t>
            </a:r>
            <a:r>
              <a:rPr dirty="0" sz="3400" spc="-300">
                <a:solidFill>
                  <a:srgbClr val="393938"/>
                </a:solidFill>
              </a:rPr>
              <a:t> </a:t>
            </a:r>
            <a:r>
              <a:rPr dirty="0" sz="3400" spc="-195">
                <a:solidFill>
                  <a:srgbClr val="393938"/>
                </a:solidFill>
              </a:rPr>
              <a:t>InBody</a:t>
            </a:r>
            <a:endParaRPr sz="3400"/>
          </a:p>
        </p:txBody>
      </p:sp>
      <p:sp>
        <p:nvSpPr>
          <p:cNvPr id="8" name="object 8"/>
          <p:cNvSpPr txBox="1"/>
          <p:nvPr/>
        </p:nvSpPr>
        <p:spPr>
          <a:xfrm>
            <a:off x="4385817" y="3861942"/>
            <a:ext cx="34207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Understanding</a:t>
            </a:r>
            <a:r>
              <a:rPr dirty="0" sz="1400" spc="-6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core</a:t>
            </a:r>
            <a:r>
              <a:rPr dirty="0" sz="1400" spc="-7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indicators</a:t>
            </a:r>
            <a:r>
              <a:rPr dirty="0" sz="1400" spc="-6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93938"/>
                </a:solidFill>
                <a:latin typeface="Tahoma"/>
                <a:cs typeface="Tahoma"/>
              </a:rPr>
              <a:t>and</a:t>
            </a:r>
            <a:r>
              <a:rPr dirty="0" sz="1400" spc="-6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their</a:t>
            </a:r>
            <a:r>
              <a:rPr dirty="0" sz="1400" spc="-6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393938"/>
                </a:solidFill>
                <a:latin typeface="Tahoma"/>
                <a:cs typeface="Tahoma"/>
              </a:rPr>
              <a:t>use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4123" y="5207506"/>
            <a:ext cx="2817876" cy="16504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731264" y="1445499"/>
            <a:ext cx="3446145" cy="4639310"/>
            <a:chOff x="1731264" y="1445499"/>
            <a:chExt cx="3446145" cy="463931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1264" y="1445499"/>
              <a:ext cx="3445764" cy="463908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60804" y="1815083"/>
              <a:ext cx="551815" cy="117475"/>
            </a:xfrm>
            <a:custGeom>
              <a:avLst/>
              <a:gdLst/>
              <a:ahLst/>
              <a:cxnLst/>
              <a:rect l="l" t="t" r="r" b="b"/>
              <a:pathLst>
                <a:path w="551814" h="117475">
                  <a:moveTo>
                    <a:pt x="551688" y="0"/>
                  </a:moveTo>
                  <a:lnTo>
                    <a:pt x="0" y="0"/>
                  </a:lnTo>
                  <a:lnTo>
                    <a:pt x="0" y="117348"/>
                  </a:lnTo>
                  <a:lnTo>
                    <a:pt x="551688" y="117348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10221" y="2400935"/>
            <a:ext cx="1569084" cy="20942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096759" y="1643329"/>
            <a:ext cx="712470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-355" b="1" i="1">
                <a:solidFill>
                  <a:srgbClr val="D9D9D9"/>
                </a:solidFill>
                <a:latin typeface="Trebuchet MS"/>
                <a:cs typeface="Trebuchet MS"/>
              </a:rPr>
              <a:t>01</a:t>
            </a:r>
            <a:endParaRPr sz="50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35196" y="2535935"/>
            <a:ext cx="2557780" cy="2438400"/>
            <a:chOff x="4235196" y="2535935"/>
            <a:chExt cx="2557780" cy="243840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36720" y="3509771"/>
              <a:ext cx="2433828" cy="14645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1960" y="3563111"/>
              <a:ext cx="2327147" cy="13578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245102" y="3554729"/>
              <a:ext cx="2338070" cy="623570"/>
            </a:xfrm>
            <a:custGeom>
              <a:avLst/>
              <a:gdLst/>
              <a:ahLst/>
              <a:cxnLst/>
              <a:rect l="l" t="t" r="r" b="b"/>
              <a:pathLst>
                <a:path w="2338070" h="623570">
                  <a:moveTo>
                    <a:pt x="0" y="623316"/>
                  </a:moveTo>
                  <a:lnTo>
                    <a:pt x="2337816" y="623316"/>
                  </a:lnTo>
                  <a:lnTo>
                    <a:pt x="2337816" y="0"/>
                  </a:lnTo>
                  <a:lnTo>
                    <a:pt x="0" y="0"/>
                  </a:lnTo>
                  <a:lnTo>
                    <a:pt x="0" y="623316"/>
                  </a:lnTo>
                  <a:close/>
                </a:path>
              </a:pathLst>
            </a:custGeom>
            <a:ln w="19811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665470" y="2545841"/>
              <a:ext cx="1117600" cy="1008380"/>
            </a:xfrm>
            <a:custGeom>
              <a:avLst/>
              <a:gdLst/>
              <a:ahLst/>
              <a:cxnLst/>
              <a:rect l="l" t="t" r="r" b="b"/>
              <a:pathLst>
                <a:path w="1117600" h="1008379">
                  <a:moveTo>
                    <a:pt x="0" y="1008253"/>
                  </a:moveTo>
                  <a:lnTo>
                    <a:pt x="8381" y="1008253"/>
                  </a:lnTo>
                  <a:lnTo>
                    <a:pt x="8381" y="0"/>
                  </a:lnTo>
                  <a:lnTo>
                    <a:pt x="1117091" y="0"/>
                  </a:lnTo>
                </a:path>
              </a:pathLst>
            </a:custGeom>
            <a:ln w="19812">
              <a:solidFill>
                <a:srgbClr val="9000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9968" y="2735707"/>
            <a:ext cx="2594482" cy="17500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93864" y="3474720"/>
            <a:ext cx="3706367" cy="275996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8240" y="6476200"/>
            <a:ext cx="212598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53058" y="1417574"/>
            <a:ext cx="1085849" cy="18796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799714" y="1505458"/>
            <a:ext cx="8234045" cy="9398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Cell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membranes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consist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two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layers</a:t>
            </a:r>
            <a:r>
              <a:rPr dirty="0" sz="1200" spc="-6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2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lipoproteins,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inner</a:t>
            </a:r>
            <a:r>
              <a:rPr dirty="0" sz="12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layer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is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Hydrophobic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&amp;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out</a:t>
            </a:r>
            <a:r>
              <a:rPr dirty="0" sz="12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layer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is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hydrophilic</a:t>
            </a:r>
            <a:endParaRPr sz="1200">
              <a:latin typeface="Tahoma"/>
              <a:cs typeface="Tahoma"/>
            </a:endParaRPr>
          </a:p>
          <a:p>
            <a:pPr marL="595249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9F112C"/>
                </a:solidFill>
                <a:latin typeface="Malgun Gothic"/>
                <a:cs typeface="Malgun Gothic"/>
              </a:rPr>
              <a:t>→</a:t>
            </a:r>
            <a:r>
              <a:rPr dirty="0" sz="1200" spc="-170" b="1">
                <a:solidFill>
                  <a:srgbClr val="9F112C"/>
                </a:solidFill>
                <a:latin typeface="Malgun Gothic"/>
                <a:cs typeface="Malgun Gothic"/>
              </a:rPr>
              <a:t> </a:t>
            </a:r>
            <a:r>
              <a:rPr dirty="0" sz="1200" spc="-35" b="1">
                <a:solidFill>
                  <a:srgbClr val="9F112C"/>
                </a:solidFill>
                <a:latin typeface="Tahoma"/>
                <a:cs typeface="Tahoma"/>
              </a:rPr>
              <a:t>Act</a:t>
            </a:r>
            <a:r>
              <a:rPr dirty="0" sz="1200" spc="-11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9F112C"/>
                </a:solidFill>
                <a:latin typeface="Tahoma"/>
                <a:cs typeface="Tahoma"/>
              </a:rPr>
              <a:t>as</a:t>
            </a:r>
            <a:r>
              <a:rPr dirty="0" sz="1200" spc="-10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9F112C"/>
                </a:solidFill>
                <a:latin typeface="Tahoma"/>
                <a:cs typeface="Tahoma"/>
              </a:rPr>
              <a:t>condenser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Xc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represents</a:t>
            </a:r>
            <a:r>
              <a:rPr dirty="0" sz="1200" spc="-5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resistance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component</a:t>
            </a:r>
            <a:r>
              <a:rPr dirty="0" sz="12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originating</a:t>
            </a:r>
            <a:r>
              <a:rPr dirty="0" sz="12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cell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4A4F5A"/>
                </a:solidFill>
                <a:latin typeface="Tahoma"/>
                <a:cs typeface="Tahoma"/>
              </a:rPr>
              <a:t>membrane,</a:t>
            </a:r>
            <a:r>
              <a:rPr dirty="0" sz="12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which</a:t>
            </a:r>
            <a:r>
              <a:rPr dirty="0" sz="12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acts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as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PhA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is</a:t>
            </a:r>
            <a:r>
              <a:rPr dirty="0" sz="12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directly</a:t>
            </a:r>
            <a:r>
              <a:rPr dirty="0" sz="1200" spc="-5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proportional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to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Xc</a:t>
            </a:r>
            <a:endParaRPr sz="1200">
              <a:latin typeface="Tahoma"/>
              <a:cs typeface="Tahoma"/>
            </a:endParaRPr>
          </a:p>
          <a:p>
            <a:pPr marL="2756535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9F112C"/>
                </a:solidFill>
                <a:latin typeface="Malgun Gothic"/>
                <a:cs typeface="Malgun Gothic"/>
              </a:rPr>
              <a:t>→</a:t>
            </a:r>
            <a:r>
              <a:rPr dirty="0" sz="1200" spc="-150" b="1">
                <a:solidFill>
                  <a:srgbClr val="9F112C"/>
                </a:solidFill>
                <a:latin typeface="Malgun Gothic"/>
                <a:cs typeface="Malgun Gothic"/>
              </a:rPr>
              <a:t> </a:t>
            </a:r>
            <a:r>
              <a:rPr dirty="0" sz="1200" spc="-40" b="1">
                <a:solidFill>
                  <a:srgbClr val="9F112C"/>
                </a:solidFill>
                <a:latin typeface="Tahoma"/>
                <a:cs typeface="Tahoma"/>
              </a:rPr>
              <a:t>PhA</a:t>
            </a:r>
            <a:r>
              <a:rPr dirty="0" sz="1200" spc="-9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70" b="1">
                <a:solidFill>
                  <a:srgbClr val="9F112C"/>
                </a:solidFill>
                <a:latin typeface="Tahoma"/>
                <a:cs typeface="Tahoma"/>
              </a:rPr>
              <a:t>is</a:t>
            </a:r>
            <a:r>
              <a:rPr dirty="0" sz="1200" spc="-7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F112C"/>
                </a:solidFill>
                <a:latin typeface="Tahoma"/>
                <a:cs typeface="Tahoma"/>
              </a:rPr>
              <a:t>associated</a:t>
            </a:r>
            <a:r>
              <a:rPr dirty="0" sz="1200" spc="-8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9F112C"/>
                </a:solidFill>
                <a:latin typeface="Tahoma"/>
                <a:cs typeface="Tahoma"/>
              </a:rPr>
              <a:t>with</a:t>
            </a:r>
            <a:r>
              <a:rPr dirty="0" sz="1200" spc="-8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9F112C"/>
                </a:solidFill>
                <a:latin typeface="Tahoma"/>
                <a:cs typeface="Tahoma"/>
              </a:rPr>
              <a:t>the </a:t>
            </a:r>
            <a:r>
              <a:rPr dirty="0" sz="1200" spc="-80" b="1">
                <a:solidFill>
                  <a:srgbClr val="9F112C"/>
                </a:solidFill>
                <a:latin typeface="Tahoma"/>
                <a:cs typeface="Tahoma"/>
              </a:rPr>
              <a:t>health</a:t>
            </a:r>
            <a:r>
              <a:rPr dirty="0" sz="1200" spc="-7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F112C"/>
                </a:solidFill>
                <a:latin typeface="Tahoma"/>
                <a:cs typeface="Tahoma"/>
              </a:rPr>
              <a:t>status </a:t>
            </a:r>
            <a:r>
              <a:rPr dirty="0" sz="1200" spc="-60" b="1">
                <a:solidFill>
                  <a:srgbClr val="9F112C"/>
                </a:solidFill>
                <a:latin typeface="Tahoma"/>
                <a:cs typeface="Tahoma"/>
              </a:rPr>
              <a:t>of</a:t>
            </a:r>
            <a:r>
              <a:rPr dirty="0" sz="1200" spc="-7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85" b="1">
                <a:solidFill>
                  <a:srgbClr val="9F112C"/>
                </a:solidFill>
                <a:latin typeface="Tahoma"/>
                <a:cs typeface="Tahoma"/>
              </a:rPr>
              <a:t>cells/cell</a:t>
            </a:r>
            <a:r>
              <a:rPr dirty="0" sz="1200" spc="-9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9F112C"/>
                </a:solidFill>
                <a:latin typeface="Tahoma"/>
                <a:cs typeface="Tahoma"/>
              </a:rPr>
              <a:t>membranes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31617" y="2467355"/>
            <a:ext cx="7334901" cy="20040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35835" y="4575047"/>
            <a:ext cx="2493936" cy="1603247"/>
          </a:xfrm>
          <a:prstGeom prst="rect">
            <a:avLst/>
          </a:prstGeom>
        </p:spPr>
      </p:pic>
      <p:pic>
        <p:nvPicPr>
          <p:cNvPr id="15" name="object 15" descr="화면 캡처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89120" y="4543044"/>
            <a:ext cx="5981700" cy="164960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9129" y="6476288"/>
            <a:ext cx="211709" cy="100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34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53058" y="1417574"/>
            <a:ext cx="1085849" cy="187960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2731770" y="1604263"/>
            <a:ext cx="63709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Shows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</a:t>
            </a:r>
            <a:r>
              <a:rPr dirty="0" sz="14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strong</a:t>
            </a:r>
            <a:r>
              <a:rPr dirty="0" sz="14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correlation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nutritional</a:t>
            </a:r>
            <a:r>
              <a:rPr dirty="0" sz="1400" spc="-8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status</a:t>
            </a:r>
            <a:r>
              <a:rPr dirty="0" sz="1400" spc="-7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&amp;</a:t>
            </a:r>
            <a:r>
              <a:rPr dirty="0" sz="14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survival</a:t>
            </a:r>
            <a:r>
              <a:rPr dirty="0" sz="1400" spc="-8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of</a:t>
            </a:r>
            <a:r>
              <a:rPr dirty="0" sz="1400" spc="-7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cancer</a:t>
            </a:r>
            <a:r>
              <a:rPr dirty="0" sz="1400" spc="-9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61B2E"/>
                </a:solidFill>
                <a:latin typeface="Tahoma"/>
                <a:cs typeface="Tahoma"/>
              </a:rPr>
              <a:t>patients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553455" y="2122932"/>
            <a:ext cx="1219835" cy="0"/>
          </a:xfrm>
          <a:custGeom>
            <a:avLst/>
            <a:gdLst/>
            <a:ahLst/>
            <a:cxnLst/>
            <a:rect l="l" t="t" r="r" b="b"/>
            <a:pathLst>
              <a:path w="1219834" h="0">
                <a:moveTo>
                  <a:pt x="0" y="0"/>
                </a:moveTo>
                <a:lnTo>
                  <a:pt x="1219580" y="0"/>
                </a:lnTo>
              </a:path>
            </a:pathLst>
          </a:custGeom>
          <a:ln w="6096">
            <a:solidFill>
              <a:srgbClr val="0404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381743" y="2135123"/>
            <a:ext cx="1059180" cy="0"/>
          </a:xfrm>
          <a:custGeom>
            <a:avLst/>
            <a:gdLst/>
            <a:ahLst/>
            <a:cxnLst/>
            <a:rect l="l" t="t" r="r" b="b"/>
            <a:pathLst>
              <a:path w="1059179" h="0">
                <a:moveTo>
                  <a:pt x="0" y="0"/>
                </a:moveTo>
                <a:lnTo>
                  <a:pt x="1059052" y="0"/>
                </a:lnTo>
              </a:path>
            </a:pathLst>
          </a:custGeom>
          <a:ln w="6096">
            <a:solidFill>
              <a:srgbClr val="04040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3" name="object 43"/>
          <p:cNvGrpSpPr/>
          <p:nvPr/>
        </p:nvGrpSpPr>
        <p:grpSpPr>
          <a:xfrm>
            <a:off x="1589532" y="2240279"/>
            <a:ext cx="2072639" cy="2330450"/>
            <a:chOff x="1589532" y="2240279"/>
            <a:chExt cx="2072639" cy="2330450"/>
          </a:xfrm>
        </p:grpSpPr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9532" y="2240279"/>
              <a:ext cx="1816608" cy="233019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658112" y="2449067"/>
              <a:ext cx="291465" cy="56515"/>
            </a:xfrm>
            <a:custGeom>
              <a:avLst/>
              <a:gdLst/>
              <a:ahLst/>
              <a:cxnLst/>
              <a:rect l="l" t="t" r="r" b="b"/>
              <a:pathLst>
                <a:path w="291464" h="56514">
                  <a:moveTo>
                    <a:pt x="291084" y="0"/>
                  </a:moveTo>
                  <a:lnTo>
                    <a:pt x="0" y="0"/>
                  </a:lnTo>
                  <a:lnTo>
                    <a:pt x="0" y="56387"/>
                  </a:lnTo>
                  <a:lnTo>
                    <a:pt x="291084" y="56387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01368" y="3598163"/>
              <a:ext cx="1860804" cy="54406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574029" y="2180081"/>
            <a:ext cx="11664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0" b="1">
                <a:solidFill>
                  <a:srgbClr val="9F112C"/>
                </a:solidFill>
                <a:latin typeface="Tahoma"/>
                <a:cs typeface="Tahoma"/>
              </a:rPr>
              <a:t>Healthy</a:t>
            </a:r>
            <a:r>
              <a:rPr dirty="0" sz="1600" spc="-8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600" spc="-30" b="1">
                <a:solidFill>
                  <a:srgbClr val="9F112C"/>
                </a:solidFill>
                <a:latin typeface="Tahoma"/>
                <a:cs typeface="Tahoma"/>
              </a:rPr>
              <a:t>Cell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234043" y="2171192"/>
            <a:ext cx="1304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14" b="1">
                <a:solidFill>
                  <a:srgbClr val="9F112C"/>
                </a:solidFill>
                <a:latin typeface="Tahoma"/>
                <a:cs typeface="Tahoma"/>
              </a:rPr>
              <a:t>Damaged</a:t>
            </a:r>
            <a:r>
              <a:rPr dirty="0" sz="1600" spc="-11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600" spc="-25" b="1">
                <a:solidFill>
                  <a:srgbClr val="9F112C"/>
                </a:solidFill>
                <a:latin typeface="Tahoma"/>
                <a:cs typeface="Tahoma"/>
              </a:rPr>
              <a:t>Cell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381743" y="2484120"/>
            <a:ext cx="1059180" cy="0"/>
          </a:xfrm>
          <a:custGeom>
            <a:avLst/>
            <a:gdLst/>
            <a:ahLst/>
            <a:cxnLst/>
            <a:rect l="l" t="t" r="r" b="b"/>
            <a:pathLst>
              <a:path w="1059179" h="0">
                <a:moveTo>
                  <a:pt x="0" y="0"/>
                </a:moveTo>
                <a:lnTo>
                  <a:pt x="1059052" y="0"/>
                </a:lnTo>
              </a:path>
            </a:pathLst>
          </a:custGeom>
          <a:ln w="6096">
            <a:solidFill>
              <a:srgbClr val="0404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553455" y="2485644"/>
            <a:ext cx="1219835" cy="0"/>
          </a:xfrm>
          <a:custGeom>
            <a:avLst/>
            <a:gdLst/>
            <a:ahLst/>
            <a:cxnLst/>
            <a:rect l="l" t="t" r="r" b="b"/>
            <a:pathLst>
              <a:path w="1219834" h="0">
                <a:moveTo>
                  <a:pt x="0" y="0"/>
                </a:moveTo>
                <a:lnTo>
                  <a:pt x="1219580" y="0"/>
                </a:lnTo>
              </a:path>
            </a:pathLst>
          </a:custGeom>
          <a:ln w="6096">
            <a:solidFill>
              <a:srgbClr val="0404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2990" y="2509519"/>
            <a:ext cx="6565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40403"/>
                </a:solidFill>
                <a:latin typeface="Tahoma"/>
                <a:cs typeface="Tahoma"/>
              </a:rPr>
              <a:t>Membrane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0836" y="2806699"/>
            <a:ext cx="4184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 b="1">
                <a:solidFill>
                  <a:srgbClr val="040403"/>
                </a:solidFill>
                <a:latin typeface="Tahoma"/>
                <a:cs typeface="Tahoma"/>
              </a:rPr>
              <a:t>50KHz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31164" y="3003268"/>
            <a:ext cx="928554" cy="408939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5582792" y="2601214"/>
            <a:ext cx="964565" cy="1070610"/>
            <a:chOff x="5582792" y="2601214"/>
            <a:chExt cx="964565" cy="1070610"/>
          </a:xfrm>
        </p:grpSpPr>
        <p:sp>
          <p:nvSpPr>
            <p:cNvPr id="17" name="object 17"/>
            <p:cNvSpPr/>
            <p:nvPr/>
          </p:nvSpPr>
          <p:spPr>
            <a:xfrm>
              <a:off x="5631114" y="2686732"/>
              <a:ext cx="916305" cy="984885"/>
            </a:xfrm>
            <a:custGeom>
              <a:avLst/>
              <a:gdLst/>
              <a:ahLst/>
              <a:cxnLst/>
              <a:rect l="l" t="t" r="r" b="b"/>
              <a:pathLst>
                <a:path w="916304" h="984885">
                  <a:moveTo>
                    <a:pt x="485866" y="0"/>
                  </a:moveTo>
                  <a:lnTo>
                    <a:pt x="422806" y="3776"/>
                  </a:lnTo>
                  <a:lnTo>
                    <a:pt x="365077" y="16050"/>
                  </a:lnTo>
                  <a:lnTo>
                    <a:pt x="313373" y="34285"/>
                  </a:lnTo>
                  <a:lnTo>
                    <a:pt x="268388" y="55943"/>
                  </a:lnTo>
                  <a:lnTo>
                    <a:pt x="230817" y="78489"/>
                  </a:lnTo>
                  <a:lnTo>
                    <a:pt x="180690" y="116095"/>
                  </a:lnTo>
                  <a:lnTo>
                    <a:pt x="138577" y="157762"/>
                  </a:lnTo>
                  <a:lnTo>
                    <a:pt x="110134" y="192620"/>
                  </a:lnTo>
                  <a:lnTo>
                    <a:pt x="84421" y="230309"/>
                  </a:lnTo>
                  <a:lnTo>
                    <a:pt x="61666" y="270485"/>
                  </a:lnTo>
                  <a:lnTo>
                    <a:pt x="42096" y="312799"/>
                  </a:lnTo>
                  <a:lnTo>
                    <a:pt x="25940" y="356905"/>
                  </a:lnTo>
                  <a:lnTo>
                    <a:pt x="13424" y="402457"/>
                  </a:lnTo>
                  <a:lnTo>
                    <a:pt x="4777" y="449108"/>
                  </a:lnTo>
                  <a:lnTo>
                    <a:pt x="226" y="496511"/>
                  </a:lnTo>
                  <a:lnTo>
                    <a:pt x="0" y="544321"/>
                  </a:lnTo>
                  <a:lnTo>
                    <a:pt x="4325" y="592191"/>
                  </a:lnTo>
                  <a:lnTo>
                    <a:pt x="13430" y="639773"/>
                  </a:lnTo>
                  <a:lnTo>
                    <a:pt x="27542" y="686722"/>
                  </a:lnTo>
                  <a:lnTo>
                    <a:pt x="46889" y="732691"/>
                  </a:lnTo>
                  <a:lnTo>
                    <a:pt x="72143" y="777690"/>
                  </a:lnTo>
                  <a:lnTo>
                    <a:pt x="101662" y="818722"/>
                  </a:lnTo>
                  <a:lnTo>
                    <a:pt x="134974" y="855624"/>
                  </a:lnTo>
                  <a:lnTo>
                    <a:pt x="171612" y="888235"/>
                  </a:lnTo>
                  <a:lnTo>
                    <a:pt x="211104" y="916393"/>
                  </a:lnTo>
                  <a:lnTo>
                    <a:pt x="252983" y="939936"/>
                  </a:lnTo>
                  <a:lnTo>
                    <a:pt x="296778" y="958701"/>
                  </a:lnTo>
                  <a:lnTo>
                    <a:pt x="342020" y="972528"/>
                  </a:lnTo>
                  <a:lnTo>
                    <a:pt x="388238" y="981254"/>
                  </a:lnTo>
                  <a:lnTo>
                    <a:pt x="434965" y="984718"/>
                  </a:lnTo>
                  <a:lnTo>
                    <a:pt x="481730" y="982758"/>
                  </a:lnTo>
                  <a:lnTo>
                    <a:pt x="526674" y="975382"/>
                  </a:lnTo>
                  <a:lnTo>
                    <a:pt x="570394" y="963078"/>
                  </a:lnTo>
                  <a:lnTo>
                    <a:pt x="612643" y="946160"/>
                  </a:lnTo>
                  <a:lnTo>
                    <a:pt x="653175" y="924942"/>
                  </a:lnTo>
                  <a:lnTo>
                    <a:pt x="691743" y="899738"/>
                  </a:lnTo>
                  <a:lnTo>
                    <a:pt x="728100" y="870864"/>
                  </a:lnTo>
                  <a:lnTo>
                    <a:pt x="762000" y="838634"/>
                  </a:lnTo>
                  <a:lnTo>
                    <a:pt x="793197" y="803362"/>
                  </a:lnTo>
                  <a:lnTo>
                    <a:pt x="821442" y="765363"/>
                  </a:lnTo>
                  <a:lnTo>
                    <a:pt x="846491" y="724950"/>
                  </a:lnTo>
                  <a:lnTo>
                    <a:pt x="868096" y="682439"/>
                  </a:lnTo>
                  <a:lnTo>
                    <a:pt x="886011" y="638145"/>
                  </a:lnTo>
                  <a:lnTo>
                    <a:pt x="899988" y="592380"/>
                  </a:lnTo>
                  <a:lnTo>
                    <a:pt x="909782" y="545461"/>
                  </a:lnTo>
                  <a:lnTo>
                    <a:pt x="915145" y="497701"/>
                  </a:lnTo>
                  <a:lnTo>
                    <a:pt x="915832" y="449415"/>
                  </a:lnTo>
                  <a:lnTo>
                    <a:pt x="911595" y="400917"/>
                  </a:lnTo>
                  <a:lnTo>
                    <a:pt x="902396" y="353832"/>
                  </a:lnTo>
                  <a:lnTo>
                    <a:pt x="888599" y="308140"/>
                  </a:lnTo>
                  <a:lnTo>
                    <a:pt x="870458" y="264202"/>
                  </a:lnTo>
                  <a:lnTo>
                    <a:pt x="848226" y="222380"/>
                  </a:lnTo>
                  <a:lnTo>
                    <a:pt x="822157" y="183033"/>
                  </a:lnTo>
                  <a:lnTo>
                    <a:pt x="792505" y="146524"/>
                  </a:lnTo>
                  <a:lnTo>
                    <a:pt x="759524" y="113212"/>
                  </a:lnTo>
                  <a:lnTo>
                    <a:pt x="723468" y="83460"/>
                  </a:lnTo>
                  <a:lnTo>
                    <a:pt x="684589" y="57627"/>
                  </a:lnTo>
                  <a:lnTo>
                    <a:pt x="643143" y="36075"/>
                  </a:lnTo>
                  <a:lnTo>
                    <a:pt x="599383" y="19165"/>
                  </a:lnTo>
                  <a:lnTo>
                    <a:pt x="553562" y="7257"/>
                  </a:lnTo>
                  <a:lnTo>
                    <a:pt x="485866" y="0"/>
                  </a:lnTo>
                  <a:close/>
                </a:path>
              </a:pathLst>
            </a:custGeom>
            <a:solidFill>
              <a:srgbClr val="961E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699405" y="2760418"/>
              <a:ext cx="779145" cy="837565"/>
            </a:xfrm>
            <a:custGeom>
              <a:avLst/>
              <a:gdLst/>
              <a:ahLst/>
              <a:cxnLst/>
              <a:rect l="l" t="t" r="r" b="b"/>
              <a:pathLst>
                <a:path w="779145" h="837564">
                  <a:moveTo>
                    <a:pt x="406985" y="0"/>
                  </a:moveTo>
                  <a:lnTo>
                    <a:pt x="347363" y="5040"/>
                  </a:lnTo>
                  <a:lnTo>
                    <a:pt x="293634" y="18639"/>
                  </a:lnTo>
                  <a:lnTo>
                    <a:pt x="246652" y="37706"/>
                  </a:lnTo>
                  <a:lnTo>
                    <a:pt x="207275" y="59152"/>
                  </a:lnTo>
                  <a:lnTo>
                    <a:pt x="154761" y="96828"/>
                  </a:lnTo>
                  <a:lnTo>
                    <a:pt x="113090" y="138547"/>
                  </a:lnTo>
                  <a:lnTo>
                    <a:pt x="85738" y="173827"/>
                  </a:lnTo>
                  <a:lnTo>
                    <a:pt x="61594" y="212254"/>
                  </a:lnTo>
                  <a:lnTo>
                    <a:pt x="40973" y="253366"/>
                  </a:lnTo>
                  <a:lnTo>
                    <a:pt x="24189" y="296695"/>
                  </a:lnTo>
                  <a:lnTo>
                    <a:pt x="11556" y="341779"/>
                  </a:lnTo>
                  <a:lnTo>
                    <a:pt x="3388" y="388153"/>
                  </a:lnTo>
                  <a:lnTo>
                    <a:pt x="0" y="435352"/>
                  </a:lnTo>
                  <a:lnTo>
                    <a:pt x="1704" y="482910"/>
                  </a:lnTo>
                  <a:lnTo>
                    <a:pt x="8817" y="530365"/>
                  </a:lnTo>
                  <a:lnTo>
                    <a:pt x="21651" y="577251"/>
                  </a:lnTo>
                  <a:lnTo>
                    <a:pt x="40521" y="623103"/>
                  </a:lnTo>
                  <a:lnTo>
                    <a:pt x="66968" y="669368"/>
                  </a:lnTo>
                  <a:lnTo>
                    <a:pt x="98747" y="710599"/>
                  </a:lnTo>
                  <a:lnTo>
                    <a:pt x="135133" y="746532"/>
                  </a:lnTo>
                  <a:lnTo>
                    <a:pt x="175405" y="776902"/>
                  </a:lnTo>
                  <a:lnTo>
                    <a:pt x="218838" y="801444"/>
                  </a:lnTo>
                  <a:lnTo>
                    <a:pt x="264709" y="819893"/>
                  </a:lnTo>
                  <a:lnTo>
                    <a:pt x="312295" y="831984"/>
                  </a:lnTo>
                  <a:lnTo>
                    <a:pt x="360872" y="837451"/>
                  </a:lnTo>
                  <a:lnTo>
                    <a:pt x="409718" y="836031"/>
                  </a:lnTo>
                  <a:lnTo>
                    <a:pt x="452991" y="828536"/>
                  </a:lnTo>
                  <a:lnTo>
                    <a:pt x="494899" y="815717"/>
                  </a:lnTo>
                  <a:lnTo>
                    <a:pt x="535134" y="797961"/>
                  </a:lnTo>
                  <a:lnTo>
                    <a:pt x="573389" y="775657"/>
                  </a:lnTo>
                  <a:lnTo>
                    <a:pt x="609353" y="749191"/>
                  </a:lnTo>
                  <a:lnTo>
                    <a:pt x="642719" y="718951"/>
                  </a:lnTo>
                  <a:lnTo>
                    <a:pt x="673178" y="685324"/>
                  </a:lnTo>
                  <a:lnTo>
                    <a:pt x="700423" y="648697"/>
                  </a:lnTo>
                  <a:lnTo>
                    <a:pt x="724143" y="609457"/>
                  </a:lnTo>
                  <a:lnTo>
                    <a:pt x="744031" y="567993"/>
                  </a:lnTo>
                  <a:lnTo>
                    <a:pt x="759779" y="524691"/>
                  </a:lnTo>
                  <a:lnTo>
                    <a:pt x="771077" y="479939"/>
                  </a:lnTo>
                  <a:lnTo>
                    <a:pt x="777618" y="434123"/>
                  </a:lnTo>
                  <a:lnTo>
                    <a:pt x="779093" y="387632"/>
                  </a:lnTo>
                  <a:lnTo>
                    <a:pt x="775193" y="340852"/>
                  </a:lnTo>
                  <a:lnTo>
                    <a:pt x="765550" y="292916"/>
                  </a:lnTo>
                  <a:lnTo>
                    <a:pt x="750275" y="246781"/>
                  </a:lnTo>
                  <a:lnTo>
                    <a:pt x="729753" y="202979"/>
                  </a:lnTo>
                  <a:lnTo>
                    <a:pt x="704372" y="162046"/>
                  </a:lnTo>
                  <a:lnTo>
                    <a:pt x="674516" y="124516"/>
                  </a:lnTo>
                  <a:lnTo>
                    <a:pt x="640572" y="90923"/>
                  </a:lnTo>
                  <a:lnTo>
                    <a:pt x="602927" y="61801"/>
                  </a:lnTo>
                  <a:lnTo>
                    <a:pt x="561966" y="37685"/>
                  </a:lnTo>
                  <a:lnTo>
                    <a:pt x="518075" y="19108"/>
                  </a:lnTo>
                  <a:lnTo>
                    <a:pt x="471641" y="6605"/>
                  </a:lnTo>
                  <a:lnTo>
                    <a:pt x="406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60023" y="2825742"/>
              <a:ext cx="658495" cy="706755"/>
            </a:xfrm>
            <a:custGeom>
              <a:avLst/>
              <a:gdLst/>
              <a:ahLst/>
              <a:cxnLst/>
              <a:rect l="l" t="t" r="r" b="b"/>
              <a:pathLst>
                <a:path w="658495" h="706754">
                  <a:moveTo>
                    <a:pt x="325829" y="0"/>
                  </a:moveTo>
                  <a:lnTo>
                    <a:pt x="262181" y="11160"/>
                  </a:lnTo>
                  <a:lnTo>
                    <a:pt x="208168" y="31809"/>
                  </a:lnTo>
                  <a:lnTo>
                    <a:pt x="165511" y="55864"/>
                  </a:lnTo>
                  <a:lnTo>
                    <a:pt x="121143" y="89854"/>
                  </a:lnTo>
                  <a:lnTo>
                    <a:pt x="90514" y="122310"/>
                  </a:lnTo>
                  <a:lnTo>
                    <a:pt x="63596" y="159059"/>
                  </a:lnTo>
                  <a:lnTo>
                    <a:pt x="40826" y="199418"/>
                  </a:lnTo>
                  <a:lnTo>
                    <a:pt x="22642" y="242702"/>
                  </a:lnTo>
                  <a:lnTo>
                    <a:pt x="9485" y="288229"/>
                  </a:lnTo>
                  <a:lnTo>
                    <a:pt x="1791" y="335316"/>
                  </a:lnTo>
                  <a:lnTo>
                    <a:pt x="0" y="383278"/>
                  </a:lnTo>
                  <a:lnTo>
                    <a:pt x="4549" y="431433"/>
                  </a:lnTo>
                  <a:lnTo>
                    <a:pt x="15878" y="479097"/>
                  </a:lnTo>
                  <a:lnTo>
                    <a:pt x="34425" y="525587"/>
                  </a:lnTo>
                  <a:lnTo>
                    <a:pt x="59830" y="569403"/>
                  </a:lnTo>
                  <a:lnTo>
                    <a:pt x="90869" y="607779"/>
                  </a:lnTo>
                  <a:lnTo>
                    <a:pt x="126672" y="640380"/>
                  </a:lnTo>
                  <a:lnTo>
                    <a:pt x="166367" y="666873"/>
                  </a:lnTo>
                  <a:lnTo>
                    <a:pt x="209082" y="686925"/>
                  </a:lnTo>
                  <a:lnTo>
                    <a:pt x="253946" y="700202"/>
                  </a:lnTo>
                  <a:lnTo>
                    <a:pt x="300087" y="706369"/>
                  </a:lnTo>
                  <a:lnTo>
                    <a:pt x="346633" y="705094"/>
                  </a:lnTo>
                  <a:lnTo>
                    <a:pt x="388564" y="697642"/>
                  </a:lnTo>
                  <a:lnTo>
                    <a:pt x="428913" y="684199"/>
                  </a:lnTo>
                  <a:lnTo>
                    <a:pt x="467283" y="665279"/>
                  </a:lnTo>
                  <a:lnTo>
                    <a:pt x="503280" y="641395"/>
                  </a:lnTo>
                  <a:lnTo>
                    <a:pt x="536507" y="613061"/>
                  </a:lnTo>
                  <a:lnTo>
                    <a:pt x="566567" y="580793"/>
                  </a:lnTo>
                  <a:lnTo>
                    <a:pt x="593066" y="545102"/>
                  </a:lnTo>
                  <a:lnTo>
                    <a:pt x="615606" y="506505"/>
                  </a:lnTo>
                  <a:lnTo>
                    <a:pt x="633793" y="465514"/>
                  </a:lnTo>
                  <a:lnTo>
                    <a:pt x="647229" y="422643"/>
                  </a:lnTo>
                  <a:lnTo>
                    <a:pt x="655519" y="378407"/>
                  </a:lnTo>
                  <a:lnTo>
                    <a:pt x="658267" y="333320"/>
                  </a:lnTo>
                  <a:lnTo>
                    <a:pt x="655077" y="287895"/>
                  </a:lnTo>
                  <a:lnTo>
                    <a:pt x="645467" y="242878"/>
                  </a:lnTo>
                  <a:lnTo>
                    <a:pt x="630126" y="199839"/>
                  </a:lnTo>
                  <a:lnTo>
                    <a:pt x="609473" y="159379"/>
                  </a:lnTo>
                  <a:lnTo>
                    <a:pt x="583925" y="122098"/>
                  </a:lnTo>
                  <a:lnTo>
                    <a:pt x="553901" y="88597"/>
                  </a:lnTo>
                  <a:lnTo>
                    <a:pt x="519818" y="59477"/>
                  </a:lnTo>
                  <a:lnTo>
                    <a:pt x="482093" y="35339"/>
                  </a:lnTo>
                  <a:lnTo>
                    <a:pt x="441146" y="16784"/>
                  </a:lnTo>
                  <a:lnTo>
                    <a:pt x="397392" y="4412"/>
                  </a:lnTo>
                  <a:lnTo>
                    <a:pt x="325829" y="0"/>
                  </a:lnTo>
                  <a:close/>
                </a:path>
              </a:pathLst>
            </a:custGeom>
            <a:solidFill>
              <a:srgbClr val="961E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782331" y="2850045"/>
              <a:ext cx="614045" cy="657860"/>
            </a:xfrm>
            <a:custGeom>
              <a:avLst/>
              <a:gdLst/>
              <a:ahLst/>
              <a:cxnLst/>
              <a:rect l="l" t="t" r="r" b="b"/>
              <a:pathLst>
                <a:path w="614045" h="657860">
                  <a:moveTo>
                    <a:pt x="304110" y="0"/>
                  </a:moveTo>
                  <a:lnTo>
                    <a:pt x="244560" y="10010"/>
                  </a:lnTo>
                  <a:lnTo>
                    <a:pt x="194228" y="29170"/>
                  </a:lnTo>
                  <a:lnTo>
                    <a:pt x="154627" y="51735"/>
                  </a:lnTo>
                  <a:lnTo>
                    <a:pt x="113677" y="84101"/>
                  </a:lnTo>
                  <a:lnTo>
                    <a:pt x="82162" y="117788"/>
                  </a:lnTo>
                  <a:lnTo>
                    <a:pt x="54899" y="156367"/>
                  </a:lnTo>
                  <a:lnTo>
                    <a:pt x="32472" y="198950"/>
                  </a:lnTo>
                  <a:lnTo>
                    <a:pt x="15459" y="244653"/>
                  </a:lnTo>
                  <a:lnTo>
                    <a:pt x="4441" y="292587"/>
                  </a:lnTo>
                  <a:lnTo>
                    <a:pt x="0" y="341867"/>
                  </a:lnTo>
                  <a:lnTo>
                    <a:pt x="2714" y="391607"/>
                  </a:lnTo>
                  <a:lnTo>
                    <a:pt x="13166" y="440918"/>
                  </a:lnTo>
                  <a:lnTo>
                    <a:pt x="31936" y="488916"/>
                  </a:lnTo>
                  <a:lnTo>
                    <a:pt x="59565" y="535465"/>
                  </a:lnTo>
                  <a:lnTo>
                    <a:pt x="93870" y="575128"/>
                  </a:lnTo>
                  <a:lnTo>
                    <a:pt x="133638" y="607537"/>
                  </a:lnTo>
                  <a:lnTo>
                    <a:pt x="177655" y="632324"/>
                  </a:lnTo>
                  <a:lnTo>
                    <a:pt x="224709" y="649121"/>
                  </a:lnTo>
                  <a:lnTo>
                    <a:pt x="273585" y="657560"/>
                  </a:lnTo>
                  <a:lnTo>
                    <a:pt x="323070" y="657272"/>
                  </a:lnTo>
                  <a:lnTo>
                    <a:pt x="365392" y="649221"/>
                  </a:lnTo>
                  <a:lnTo>
                    <a:pt x="405951" y="634748"/>
                  </a:lnTo>
                  <a:lnTo>
                    <a:pt x="444274" y="614446"/>
                  </a:lnTo>
                  <a:lnTo>
                    <a:pt x="479889" y="588909"/>
                  </a:lnTo>
                  <a:lnTo>
                    <a:pt x="512321" y="558729"/>
                  </a:lnTo>
                  <a:lnTo>
                    <a:pt x="541097" y="524500"/>
                  </a:lnTo>
                  <a:lnTo>
                    <a:pt x="565744" y="486816"/>
                  </a:lnTo>
                  <a:lnTo>
                    <a:pt x="585790" y="446268"/>
                  </a:lnTo>
                  <a:lnTo>
                    <a:pt x="600759" y="403450"/>
                  </a:lnTo>
                  <a:lnTo>
                    <a:pt x="610181" y="358956"/>
                  </a:lnTo>
                  <a:lnTo>
                    <a:pt x="613580" y="313378"/>
                  </a:lnTo>
                  <a:lnTo>
                    <a:pt x="610483" y="267310"/>
                  </a:lnTo>
                  <a:lnTo>
                    <a:pt x="599960" y="220438"/>
                  </a:lnTo>
                  <a:lnTo>
                    <a:pt x="582711" y="175989"/>
                  </a:lnTo>
                  <a:lnTo>
                    <a:pt x="559332" y="134762"/>
                  </a:lnTo>
                  <a:lnTo>
                    <a:pt x="530419" y="97554"/>
                  </a:lnTo>
                  <a:lnTo>
                    <a:pt x="496570" y="65165"/>
                  </a:lnTo>
                  <a:lnTo>
                    <a:pt x="458380" y="38391"/>
                  </a:lnTo>
                  <a:lnTo>
                    <a:pt x="416445" y="18032"/>
                  </a:lnTo>
                  <a:lnTo>
                    <a:pt x="371363" y="4884"/>
                  </a:lnTo>
                  <a:lnTo>
                    <a:pt x="3041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940622" y="3264676"/>
              <a:ext cx="304800" cy="170180"/>
            </a:xfrm>
            <a:custGeom>
              <a:avLst/>
              <a:gdLst/>
              <a:ahLst/>
              <a:cxnLst/>
              <a:rect l="l" t="t" r="r" b="b"/>
              <a:pathLst>
                <a:path w="304800" h="170179">
                  <a:moveTo>
                    <a:pt x="149894" y="0"/>
                  </a:moveTo>
                  <a:lnTo>
                    <a:pt x="90777" y="8348"/>
                  </a:lnTo>
                  <a:lnTo>
                    <a:pt x="42914" y="27841"/>
                  </a:lnTo>
                  <a:lnTo>
                    <a:pt x="11067" y="55693"/>
                  </a:lnTo>
                  <a:lnTo>
                    <a:pt x="0" y="89118"/>
                  </a:lnTo>
                  <a:lnTo>
                    <a:pt x="12879" y="121894"/>
                  </a:lnTo>
                  <a:lnTo>
                    <a:pt x="46311" y="147935"/>
                  </a:lnTo>
                  <a:lnTo>
                    <a:pt x="95305" y="164688"/>
                  </a:lnTo>
                  <a:lnTo>
                    <a:pt x="154870" y="169601"/>
                  </a:lnTo>
                  <a:lnTo>
                    <a:pt x="214010" y="161246"/>
                  </a:lnTo>
                  <a:lnTo>
                    <a:pt x="261881" y="141748"/>
                  </a:lnTo>
                  <a:lnTo>
                    <a:pt x="293720" y="113894"/>
                  </a:lnTo>
                  <a:lnTo>
                    <a:pt x="304764" y="80470"/>
                  </a:lnTo>
                  <a:lnTo>
                    <a:pt x="291884" y="47526"/>
                  </a:lnTo>
                  <a:lnTo>
                    <a:pt x="258453" y="21198"/>
                  </a:lnTo>
                  <a:lnTo>
                    <a:pt x="209459" y="4388"/>
                  </a:lnTo>
                  <a:lnTo>
                    <a:pt x="149894" y="0"/>
                  </a:lnTo>
                  <a:close/>
                </a:path>
              </a:pathLst>
            </a:custGeom>
            <a:solidFill>
              <a:srgbClr val="961E2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82792" y="2601214"/>
              <a:ext cx="164973" cy="14338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328664" y="2537205"/>
            <a:ext cx="797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solidFill>
                  <a:srgbClr val="040403"/>
                </a:solidFill>
                <a:latin typeface="Tahoma"/>
                <a:cs typeface="Tahoma"/>
              </a:rPr>
              <a:t>U</a:t>
            </a:r>
            <a:r>
              <a:rPr dirty="0" sz="1000" spc="-105" b="1">
                <a:solidFill>
                  <a:srgbClr val="040403"/>
                </a:solidFill>
                <a:latin typeface="Tahoma"/>
                <a:cs typeface="Tahoma"/>
              </a:rPr>
              <a:t> </a:t>
            </a:r>
            <a:r>
              <a:rPr dirty="0" sz="1000" b="1">
                <a:solidFill>
                  <a:srgbClr val="040403"/>
                </a:solidFill>
                <a:latin typeface="Tahoma"/>
                <a:cs typeface="Tahoma"/>
              </a:rPr>
              <a:t>max</a:t>
            </a:r>
            <a:r>
              <a:rPr dirty="0" sz="1000" spc="235" b="1">
                <a:solidFill>
                  <a:srgbClr val="040403"/>
                </a:solidFill>
                <a:latin typeface="Tahoma"/>
                <a:cs typeface="Tahoma"/>
              </a:rPr>
              <a:t> </a:t>
            </a:r>
            <a:r>
              <a:rPr dirty="0" sz="1000" spc="-180" b="1">
                <a:solidFill>
                  <a:srgbClr val="040403"/>
                </a:solidFill>
                <a:latin typeface="Tahoma"/>
                <a:cs typeface="Tahoma"/>
              </a:rPr>
              <a:t>I</a:t>
            </a:r>
            <a:r>
              <a:rPr dirty="0" sz="1000" spc="-100" b="1">
                <a:solidFill>
                  <a:srgbClr val="040403"/>
                </a:solidFill>
                <a:latin typeface="Tahoma"/>
                <a:cs typeface="Tahoma"/>
              </a:rPr>
              <a:t> </a:t>
            </a:r>
            <a:r>
              <a:rPr dirty="0" sz="1000" spc="-40" b="1">
                <a:solidFill>
                  <a:srgbClr val="040403"/>
                </a:solidFill>
                <a:latin typeface="Tahoma"/>
                <a:cs typeface="Tahoma"/>
              </a:rPr>
              <a:t>max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29427" y="2732532"/>
            <a:ext cx="1056208" cy="863345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8456346" y="2627327"/>
            <a:ext cx="3061335" cy="1068070"/>
            <a:chOff x="8456346" y="2627327"/>
            <a:chExt cx="3061335" cy="1068070"/>
          </a:xfrm>
        </p:grpSpPr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56346" y="2627327"/>
              <a:ext cx="3061265" cy="106762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418815" y="3025038"/>
              <a:ext cx="36830" cy="38100"/>
            </a:xfrm>
            <a:custGeom>
              <a:avLst/>
              <a:gdLst/>
              <a:ahLst/>
              <a:cxnLst/>
              <a:rect l="l" t="t" r="r" b="b"/>
              <a:pathLst>
                <a:path w="36829" h="38100">
                  <a:moveTo>
                    <a:pt x="17758" y="0"/>
                  </a:moveTo>
                  <a:lnTo>
                    <a:pt x="10993" y="1458"/>
                  </a:lnTo>
                  <a:lnTo>
                    <a:pt x="5332" y="5467"/>
                  </a:lnTo>
                  <a:lnTo>
                    <a:pt x="1444" y="11476"/>
                  </a:lnTo>
                  <a:lnTo>
                    <a:pt x="0" y="18934"/>
                  </a:lnTo>
                  <a:lnTo>
                    <a:pt x="1444" y="26393"/>
                  </a:lnTo>
                  <a:lnTo>
                    <a:pt x="5332" y="32401"/>
                  </a:lnTo>
                  <a:lnTo>
                    <a:pt x="10993" y="36410"/>
                  </a:lnTo>
                  <a:lnTo>
                    <a:pt x="17758" y="37869"/>
                  </a:lnTo>
                  <a:lnTo>
                    <a:pt x="25192" y="36410"/>
                  </a:lnTo>
                  <a:lnTo>
                    <a:pt x="31196" y="32401"/>
                  </a:lnTo>
                  <a:lnTo>
                    <a:pt x="35211" y="26393"/>
                  </a:lnTo>
                  <a:lnTo>
                    <a:pt x="36674" y="18934"/>
                  </a:lnTo>
                  <a:lnTo>
                    <a:pt x="35211" y="11476"/>
                  </a:lnTo>
                  <a:lnTo>
                    <a:pt x="31196" y="5467"/>
                  </a:lnTo>
                  <a:lnTo>
                    <a:pt x="25192" y="1458"/>
                  </a:lnTo>
                  <a:lnTo>
                    <a:pt x="17758" y="0"/>
                  </a:lnTo>
                  <a:close/>
                </a:path>
              </a:pathLst>
            </a:custGeom>
            <a:solidFill>
              <a:srgbClr val="961E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072373" y="2839592"/>
            <a:ext cx="4184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 b="1">
                <a:solidFill>
                  <a:srgbClr val="040403"/>
                </a:solidFill>
                <a:latin typeface="Tahoma"/>
                <a:cs typeface="Tahoma"/>
              </a:rPr>
              <a:t>50KHz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816607" y="3651503"/>
            <a:ext cx="1754123" cy="437388"/>
          </a:xfrm>
          <a:prstGeom prst="rect">
            <a:avLst/>
          </a:prstGeom>
        </p:spPr>
      </p:pic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1222603" y="3646932"/>
          <a:ext cx="2701290" cy="2268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0"/>
                <a:gridCol w="100965"/>
                <a:gridCol w="527050"/>
                <a:gridCol w="466090"/>
                <a:gridCol w="752474"/>
                <a:gridCol w="269239"/>
              </a:tblGrid>
              <a:tr h="432434">
                <a:tc gridSpan="2"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9F112C"/>
                      </a:solidFill>
                      <a:prstDash val="solid"/>
                    </a:lnL>
                    <a:lnR w="28575">
                      <a:solidFill>
                        <a:srgbClr val="9F112C"/>
                      </a:solidFill>
                      <a:prstDash val="solid"/>
                    </a:lnR>
                    <a:lnT w="28575">
                      <a:solidFill>
                        <a:srgbClr val="9F112C"/>
                      </a:solidFill>
                      <a:prstDash val="solid"/>
                    </a:lnT>
                    <a:lnB w="28575">
                      <a:solidFill>
                        <a:srgbClr val="9F112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242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90001F"/>
                      </a:solidFill>
                      <a:prstDash val="solid"/>
                    </a:lnR>
                    <a:lnT w="28575">
                      <a:solidFill>
                        <a:srgbClr val="9F112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90001F"/>
                      </a:solidFill>
                      <a:prstDash val="solid"/>
                    </a:lnL>
                    <a:lnT w="28575">
                      <a:solidFill>
                        <a:srgbClr val="9F112C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687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90001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90001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18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&gt;4º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46D7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10" b="1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Normal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200" spc="-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3-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º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46D7C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00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Make</a:t>
                      </a:r>
                      <a:r>
                        <a:rPr dirty="0" sz="1000" spc="-3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interpretation</a:t>
                      </a:r>
                      <a:r>
                        <a:rPr dirty="0" sz="1000" spc="-25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1000" spc="-3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1000" spc="-65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age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&lt;2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º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46D7C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000" spc="-1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Serious</a:t>
                      </a:r>
                      <a:r>
                        <a:rPr dirty="0" sz="1000" spc="-4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nutrition</a:t>
                      </a:r>
                      <a:r>
                        <a:rPr dirty="0" sz="1000" spc="-35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93938"/>
                          </a:solidFill>
                          <a:latin typeface="Tahoma"/>
                          <a:cs typeface="Tahoma"/>
                        </a:rPr>
                        <a:t>state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6584695" y="3636390"/>
            <a:ext cx="7340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65" b="1">
                <a:solidFill>
                  <a:srgbClr val="040403"/>
                </a:solidFill>
                <a:latin typeface="Tahoma"/>
                <a:cs typeface="Tahoma"/>
              </a:rPr>
              <a:t>Phase</a:t>
            </a:r>
            <a:r>
              <a:rPr dirty="0" sz="1000" spc="-80" b="1">
                <a:solidFill>
                  <a:srgbClr val="040403"/>
                </a:solidFill>
                <a:latin typeface="Tahoma"/>
                <a:cs typeface="Tahoma"/>
              </a:rPr>
              <a:t> </a:t>
            </a:r>
            <a:r>
              <a:rPr dirty="0" sz="1000" spc="-30" b="1">
                <a:solidFill>
                  <a:srgbClr val="040403"/>
                </a:solidFill>
                <a:latin typeface="Tahoma"/>
                <a:cs typeface="Tahoma"/>
              </a:rPr>
              <a:t>Angle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29734" y="3993642"/>
            <a:ext cx="28759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 b="1">
                <a:solidFill>
                  <a:srgbClr val="393938"/>
                </a:solidFill>
                <a:latin typeface="Tahoma"/>
                <a:cs typeface="Tahoma"/>
              </a:rPr>
              <a:t>Intact</a:t>
            </a:r>
            <a:r>
              <a:rPr dirty="0" sz="1200" spc="-75" b="1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393938"/>
                </a:solidFill>
                <a:latin typeface="Tahoma"/>
                <a:cs typeface="Tahoma"/>
              </a:rPr>
              <a:t>cells</a:t>
            </a:r>
            <a:r>
              <a:rPr dirty="0" sz="1200" spc="-105" b="1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393938"/>
                </a:solidFill>
                <a:latin typeface="Tahoma"/>
                <a:cs typeface="Tahoma"/>
              </a:rPr>
              <a:t>with</a:t>
            </a:r>
            <a:r>
              <a:rPr dirty="0" sz="1200" spc="-80" b="1">
                <a:solidFill>
                  <a:srgbClr val="393938"/>
                </a:solidFill>
                <a:latin typeface="Tahoma"/>
                <a:cs typeface="Tahoma"/>
              </a:rPr>
              <a:t> high</a:t>
            </a:r>
            <a:r>
              <a:rPr dirty="0" sz="1200" spc="-85" b="1">
                <a:solidFill>
                  <a:srgbClr val="393938"/>
                </a:solidFill>
                <a:latin typeface="Tahoma"/>
                <a:cs typeface="Tahoma"/>
              </a:rPr>
              <a:t> membrane</a:t>
            </a:r>
            <a:r>
              <a:rPr dirty="0" sz="1200" spc="-35" b="1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30" b="1">
                <a:solidFill>
                  <a:srgbClr val="393938"/>
                </a:solidFill>
                <a:latin typeface="Tahoma"/>
                <a:cs typeface="Tahoma"/>
              </a:rPr>
              <a:t>integrity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64651" y="3970146"/>
            <a:ext cx="2244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5" b="1">
                <a:solidFill>
                  <a:srgbClr val="4A4F5A"/>
                </a:solidFill>
                <a:latin typeface="Tahoma"/>
                <a:cs typeface="Tahoma"/>
              </a:rPr>
              <a:t>Damaged</a:t>
            </a:r>
            <a:r>
              <a:rPr dirty="0" sz="1200" spc="-75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4A4F5A"/>
                </a:solidFill>
                <a:latin typeface="Tahoma"/>
                <a:cs typeface="Tahoma"/>
              </a:rPr>
              <a:t>cell</a:t>
            </a:r>
            <a:r>
              <a:rPr dirty="0" sz="1200" spc="-11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45" b="1">
                <a:solidFill>
                  <a:srgbClr val="4A4F5A"/>
                </a:solidFill>
                <a:latin typeface="Tahoma"/>
                <a:cs typeface="Tahoma"/>
              </a:rPr>
              <a:t>or</a:t>
            </a:r>
            <a:r>
              <a:rPr dirty="0" sz="1200" spc="-75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4A4F5A"/>
                </a:solidFill>
                <a:latin typeface="Tahoma"/>
                <a:cs typeface="Tahoma"/>
              </a:rPr>
              <a:t>low</a:t>
            </a:r>
            <a:r>
              <a:rPr dirty="0" sz="1200" spc="-95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4A4F5A"/>
                </a:solidFill>
                <a:latin typeface="Tahoma"/>
                <a:cs typeface="Tahoma"/>
              </a:rPr>
              <a:t>cell</a:t>
            </a:r>
            <a:r>
              <a:rPr dirty="0" sz="1200" spc="-105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30" b="1">
                <a:solidFill>
                  <a:srgbClr val="4A4F5A"/>
                </a:solidFill>
                <a:latin typeface="Tahoma"/>
                <a:cs typeface="Tahoma"/>
              </a:rPr>
              <a:t>density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980176" y="4251959"/>
            <a:ext cx="205740" cy="177165"/>
          </a:xfrm>
          <a:custGeom>
            <a:avLst/>
            <a:gdLst/>
            <a:ahLst/>
            <a:cxnLst/>
            <a:rect l="l" t="t" r="r" b="b"/>
            <a:pathLst>
              <a:path w="205739" h="177164">
                <a:moveTo>
                  <a:pt x="205739" y="0"/>
                </a:moveTo>
                <a:lnTo>
                  <a:pt x="0" y="0"/>
                </a:lnTo>
                <a:lnTo>
                  <a:pt x="102870" y="176783"/>
                </a:lnTo>
                <a:lnTo>
                  <a:pt x="20573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782556" y="4274820"/>
            <a:ext cx="205740" cy="177165"/>
          </a:xfrm>
          <a:custGeom>
            <a:avLst/>
            <a:gdLst/>
            <a:ahLst/>
            <a:cxnLst/>
            <a:rect l="l" t="t" r="r" b="b"/>
            <a:pathLst>
              <a:path w="205740" h="177164">
                <a:moveTo>
                  <a:pt x="205740" y="0"/>
                </a:moveTo>
                <a:lnTo>
                  <a:pt x="0" y="0"/>
                </a:lnTo>
                <a:lnTo>
                  <a:pt x="102870" y="176783"/>
                </a:lnTo>
                <a:lnTo>
                  <a:pt x="20574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99659" y="4506467"/>
            <a:ext cx="2339340" cy="307975"/>
          </a:xfrm>
          <a:prstGeom prst="rect">
            <a:avLst/>
          </a:prstGeom>
          <a:solidFill>
            <a:srgbClr val="646D7C"/>
          </a:solidFill>
        </p:spPr>
        <p:txBody>
          <a:bodyPr wrap="square" lIns="0" tIns="0" rIns="0" bIns="0" rtlCol="0" vert="horz">
            <a:spAutoFit/>
          </a:bodyPr>
          <a:lstStyle/>
          <a:p>
            <a:pPr marL="174625">
              <a:lnSpc>
                <a:spcPts val="2255"/>
              </a:lnSpc>
            </a:pPr>
            <a:r>
              <a:rPr dirty="0" sz="2000" spc="-100" b="1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dirty="0" sz="20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14" b="1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dirty="0" sz="2000" spc="-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Angle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44128" y="4506467"/>
            <a:ext cx="2339340" cy="307975"/>
          </a:xfrm>
          <a:prstGeom prst="rect">
            <a:avLst/>
          </a:prstGeom>
          <a:solidFill>
            <a:srgbClr val="646D7C"/>
          </a:solidFill>
        </p:spPr>
        <p:txBody>
          <a:bodyPr wrap="square" lIns="0" tIns="0" rIns="0" bIns="0" rtlCol="0" vert="horz">
            <a:spAutoFit/>
          </a:bodyPr>
          <a:lstStyle/>
          <a:p>
            <a:pPr marL="179070">
              <a:lnSpc>
                <a:spcPts val="2255"/>
              </a:lnSpc>
            </a:pPr>
            <a:r>
              <a:rPr dirty="0" sz="2000" spc="-120" b="1">
                <a:solidFill>
                  <a:srgbClr val="FFFFFF"/>
                </a:solidFill>
                <a:latin typeface="Tahoma"/>
                <a:cs typeface="Tahoma"/>
              </a:rPr>
              <a:t>Low</a:t>
            </a:r>
            <a:r>
              <a:rPr dirty="0" sz="2000" spc="-1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14" b="1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dirty="0" sz="2000" spc="-1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Tahoma"/>
                <a:cs typeface="Tahoma"/>
              </a:rPr>
              <a:t>Angle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12284" y="5073637"/>
            <a:ext cx="6465570" cy="55880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Improvements</a:t>
            </a:r>
            <a:r>
              <a:rPr dirty="0" sz="1400" spc="-14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400" spc="-12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cell</a:t>
            </a:r>
            <a:r>
              <a:rPr dirty="0" sz="1400" spc="-12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membrane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and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functionality</a:t>
            </a:r>
            <a:r>
              <a:rPr dirty="0" sz="1400" spc="2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 spc="-100" b="1">
                <a:solidFill>
                  <a:srgbClr val="9F112C"/>
                </a:solidFill>
                <a:latin typeface="Tahoma"/>
                <a:cs typeface="Tahoma"/>
              </a:rPr>
              <a:t>Phase</a:t>
            </a:r>
            <a:r>
              <a:rPr dirty="0" sz="1400" spc="-9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10" b="1">
                <a:solidFill>
                  <a:srgbClr val="9F112C"/>
                </a:solidFill>
                <a:latin typeface="Tahoma"/>
                <a:cs typeface="Tahoma"/>
              </a:rPr>
              <a:t>angle </a:t>
            </a:r>
            <a:r>
              <a:rPr dirty="0" sz="1400" spc="-10" b="1">
                <a:solidFill>
                  <a:srgbClr val="9F112C"/>
                </a:solidFill>
                <a:latin typeface="Tahoma"/>
                <a:cs typeface="Tahoma"/>
              </a:rPr>
              <a:t>increase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Deterioration</a:t>
            </a:r>
            <a:r>
              <a:rPr dirty="0" sz="14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cellular</a:t>
            </a:r>
            <a:r>
              <a:rPr dirty="0" sz="14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integrity</a:t>
            </a:r>
            <a:r>
              <a:rPr dirty="0" sz="14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and</a:t>
            </a:r>
            <a:r>
              <a:rPr dirty="0" sz="14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selective</a:t>
            </a:r>
            <a:r>
              <a:rPr dirty="0" sz="14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permeability</a:t>
            </a:r>
            <a:r>
              <a:rPr dirty="0" sz="1400" spc="-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 spc="-100" b="1">
                <a:solidFill>
                  <a:srgbClr val="9F112C"/>
                </a:solidFill>
                <a:latin typeface="Tahoma"/>
                <a:cs typeface="Tahoma"/>
              </a:rPr>
              <a:t>Phase</a:t>
            </a:r>
            <a:r>
              <a:rPr dirty="0" sz="1400" spc="-3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5" b="1">
                <a:solidFill>
                  <a:srgbClr val="9F112C"/>
                </a:solidFill>
                <a:latin typeface="Tahoma"/>
                <a:cs typeface="Tahoma"/>
              </a:rPr>
              <a:t>angle</a:t>
            </a:r>
            <a:r>
              <a:rPr dirty="0" sz="1400" spc="-5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9F112C"/>
                </a:solidFill>
                <a:latin typeface="Tahoma"/>
                <a:cs typeface="Tahoma"/>
              </a:rPr>
              <a:t>decrease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6212"/>
            <a:ext cx="273050" cy="100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2604" y="1050289"/>
            <a:ext cx="1023162" cy="18618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2263" y="1416938"/>
            <a:ext cx="1133220" cy="1540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890141" y="1869186"/>
            <a:ext cx="605155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average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4A4F5A"/>
                </a:solidFill>
                <a:latin typeface="Tahoma"/>
                <a:cs typeface="Tahoma"/>
              </a:rPr>
              <a:t>PhA</a:t>
            </a:r>
            <a:r>
              <a:rPr dirty="0" sz="1400" spc="-13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at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50kHz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cancer</a:t>
            </a:r>
            <a:r>
              <a:rPr dirty="0" sz="1400" spc="-1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patient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who</a:t>
            </a:r>
            <a:r>
              <a:rPr dirty="0" sz="1400" spc="-13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survived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205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4A4F5A"/>
                </a:solidFill>
                <a:latin typeface="Tahoma"/>
                <a:cs typeface="Tahoma"/>
              </a:rPr>
              <a:t>days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was</a:t>
            </a:r>
            <a:r>
              <a:rPr dirty="0" sz="1400" spc="-1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4A4F5A"/>
                </a:solidFill>
                <a:latin typeface="Tahoma"/>
                <a:cs typeface="Tahoma"/>
              </a:rPr>
              <a:t>4.4º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Lower</a:t>
            </a:r>
            <a:r>
              <a:rPr dirty="0" sz="1400" spc="-8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9F112C"/>
                </a:solidFill>
                <a:latin typeface="Tahoma"/>
                <a:cs typeface="Tahoma"/>
              </a:rPr>
              <a:t>PhA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were</a:t>
            </a:r>
            <a:r>
              <a:rPr dirty="0" sz="1400" spc="-7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associated</a:t>
            </a:r>
            <a:r>
              <a:rPr dirty="0" sz="1400" spc="-9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with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poorer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prognosis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56016" y="186575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0065" y="0"/>
                </a:moveTo>
                <a:lnTo>
                  <a:pt x="15748" y="0"/>
                </a:lnTo>
                <a:lnTo>
                  <a:pt x="11429" y="0"/>
                </a:lnTo>
                <a:lnTo>
                  <a:pt x="7747" y="1523"/>
                </a:lnTo>
                <a:lnTo>
                  <a:pt x="1650" y="7619"/>
                </a:lnTo>
                <a:lnTo>
                  <a:pt x="0" y="11302"/>
                </a:lnTo>
                <a:lnTo>
                  <a:pt x="0" y="19938"/>
                </a:lnTo>
                <a:lnTo>
                  <a:pt x="1650" y="23621"/>
                </a:lnTo>
                <a:lnTo>
                  <a:pt x="7747" y="29717"/>
                </a:lnTo>
                <a:lnTo>
                  <a:pt x="11429" y="31241"/>
                </a:lnTo>
                <a:lnTo>
                  <a:pt x="20065" y="31241"/>
                </a:lnTo>
                <a:lnTo>
                  <a:pt x="23749" y="29717"/>
                </a:lnTo>
                <a:lnTo>
                  <a:pt x="29844" y="23621"/>
                </a:lnTo>
                <a:lnTo>
                  <a:pt x="31368" y="19938"/>
                </a:lnTo>
                <a:lnTo>
                  <a:pt x="31368" y="11302"/>
                </a:lnTo>
                <a:lnTo>
                  <a:pt x="29844" y="7619"/>
                </a:lnTo>
                <a:lnTo>
                  <a:pt x="23749" y="1523"/>
                </a:lnTo>
                <a:lnTo>
                  <a:pt x="20065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8359267" y="1832610"/>
            <a:ext cx="3168015" cy="247015"/>
            <a:chOff x="8359267" y="1832610"/>
            <a:chExt cx="3168015" cy="24701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59267" y="1832610"/>
              <a:ext cx="2153284" cy="1148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63331" y="1832610"/>
              <a:ext cx="3163570" cy="246634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8256016" y="2234564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0065" y="0"/>
                </a:moveTo>
                <a:lnTo>
                  <a:pt x="15748" y="0"/>
                </a:lnTo>
                <a:lnTo>
                  <a:pt x="11429" y="0"/>
                </a:lnTo>
                <a:lnTo>
                  <a:pt x="7747" y="1524"/>
                </a:lnTo>
                <a:lnTo>
                  <a:pt x="1650" y="7620"/>
                </a:lnTo>
                <a:lnTo>
                  <a:pt x="0" y="11302"/>
                </a:lnTo>
                <a:lnTo>
                  <a:pt x="0" y="19938"/>
                </a:lnTo>
                <a:lnTo>
                  <a:pt x="1650" y="23622"/>
                </a:lnTo>
                <a:lnTo>
                  <a:pt x="7747" y="29718"/>
                </a:lnTo>
                <a:lnTo>
                  <a:pt x="11429" y="31242"/>
                </a:lnTo>
                <a:lnTo>
                  <a:pt x="20065" y="31242"/>
                </a:lnTo>
                <a:lnTo>
                  <a:pt x="23749" y="29718"/>
                </a:lnTo>
                <a:lnTo>
                  <a:pt x="29844" y="23622"/>
                </a:lnTo>
                <a:lnTo>
                  <a:pt x="31368" y="19938"/>
                </a:lnTo>
                <a:lnTo>
                  <a:pt x="31368" y="11302"/>
                </a:lnTo>
                <a:lnTo>
                  <a:pt x="29844" y="7620"/>
                </a:lnTo>
                <a:lnTo>
                  <a:pt x="23749" y="1524"/>
                </a:lnTo>
                <a:lnTo>
                  <a:pt x="20065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69807" y="2201417"/>
            <a:ext cx="1162321" cy="114808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8256016" y="2450973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0065" y="0"/>
                </a:moveTo>
                <a:lnTo>
                  <a:pt x="15748" y="0"/>
                </a:lnTo>
                <a:lnTo>
                  <a:pt x="11429" y="0"/>
                </a:lnTo>
                <a:lnTo>
                  <a:pt x="7747" y="1524"/>
                </a:lnTo>
                <a:lnTo>
                  <a:pt x="1650" y="7619"/>
                </a:lnTo>
                <a:lnTo>
                  <a:pt x="0" y="11302"/>
                </a:lnTo>
                <a:lnTo>
                  <a:pt x="0" y="19938"/>
                </a:lnTo>
                <a:lnTo>
                  <a:pt x="1650" y="23622"/>
                </a:lnTo>
                <a:lnTo>
                  <a:pt x="7747" y="29717"/>
                </a:lnTo>
                <a:lnTo>
                  <a:pt x="11429" y="31241"/>
                </a:lnTo>
                <a:lnTo>
                  <a:pt x="20065" y="31241"/>
                </a:lnTo>
                <a:lnTo>
                  <a:pt x="23749" y="29717"/>
                </a:lnTo>
                <a:lnTo>
                  <a:pt x="29844" y="23622"/>
                </a:lnTo>
                <a:lnTo>
                  <a:pt x="31368" y="19938"/>
                </a:lnTo>
                <a:lnTo>
                  <a:pt x="31368" y="11302"/>
                </a:lnTo>
                <a:lnTo>
                  <a:pt x="29844" y="7619"/>
                </a:lnTo>
                <a:lnTo>
                  <a:pt x="23749" y="1524"/>
                </a:lnTo>
                <a:lnTo>
                  <a:pt x="20065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67648" y="2412873"/>
            <a:ext cx="1385488" cy="11976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86685" y="2871857"/>
            <a:ext cx="4618746" cy="1097921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1286685" y="4086079"/>
            <a:ext cx="4624070" cy="1851025"/>
            <a:chOff x="1286685" y="4086079"/>
            <a:chExt cx="4624070" cy="1851025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86685" y="4086079"/>
              <a:ext cx="4623562" cy="18508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867662" y="5398769"/>
              <a:ext cx="3117215" cy="2540"/>
            </a:xfrm>
            <a:custGeom>
              <a:avLst/>
              <a:gdLst/>
              <a:ahLst/>
              <a:cxnLst/>
              <a:rect l="l" t="t" r="r" b="b"/>
              <a:pathLst>
                <a:path w="3117215" h="2539">
                  <a:moveTo>
                    <a:pt x="0" y="0"/>
                  </a:moveTo>
                  <a:lnTo>
                    <a:pt x="3116707" y="2285"/>
                  </a:lnTo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069656" y="3144424"/>
            <a:ext cx="5318542" cy="277513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1292840" y="6477685"/>
            <a:ext cx="273050" cy="99060"/>
            <a:chOff x="11292840" y="6477685"/>
            <a:chExt cx="273050" cy="99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2840" y="6477685"/>
              <a:ext cx="104012" cy="895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18189" y="6489801"/>
              <a:ext cx="147700" cy="867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604" y="1050289"/>
            <a:ext cx="1023162" cy="186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2263" y="1416938"/>
            <a:ext cx="1133220" cy="1540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684147" y="1838960"/>
            <a:ext cx="948563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0">
                <a:solidFill>
                  <a:srgbClr val="9F112C"/>
                </a:solidFill>
                <a:latin typeface="Tahoma"/>
                <a:cs typeface="Tahoma"/>
              </a:rPr>
              <a:t>PhA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in</a:t>
            </a:r>
            <a:r>
              <a:rPr dirty="0" sz="1400" spc="-7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critically</a:t>
            </a:r>
            <a:r>
              <a:rPr dirty="0" sz="1400" spc="-8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ill</a:t>
            </a:r>
            <a:r>
              <a:rPr dirty="0" sz="1400" spc="-7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patients</a:t>
            </a:r>
            <a:r>
              <a:rPr dirty="0" sz="1400" spc="-6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was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associated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mortality</a:t>
            </a:r>
            <a:r>
              <a:rPr dirty="0" sz="1400" spc="-8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outcomes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&amp;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revealed</a:t>
            </a:r>
            <a:r>
              <a:rPr dirty="0" sz="1400" spc="-5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stronger</a:t>
            </a:r>
            <a:r>
              <a:rPr dirty="0" sz="1400" spc="-12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predictive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power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for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mortality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than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severity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scoring</a:t>
            </a:r>
            <a:r>
              <a:rPr dirty="0" sz="1400" spc="-13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systems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commonly</a:t>
            </a:r>
            <a:r>
              <a:rPr dirty="0" sz="1400" spc="-13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used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intensive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care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unit.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90335" y="2577696"/>
            <a:ext cx="4829175" cy="3499485"/>
            <a:chOff x="1490335" y="2577696"/>
            <a:chExt cx="4829175" cy="3499485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90335" y="2577696"/>
              <a:ext cx="4828966" cy="349894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22854" y="5506973"/>
              <a:ext cx="2910840" cy="3175"/>
            </a:xfrm>
            <a:custGeom>
              <a:avLst/>
              <a:gdLst/>
              <a:ahLst/>
              <a:cxnLst/>
              <a:rect l="l" t="t" r="r" b="b"/>
              <a:pathLst>
                <a:path w="2910840" h="3175">
                  <a:moveTo>
                    <a:pt x="0" y="2793"/>
                  </a:moveTo>
                  <a:lnTo>
                    <a:pt x="2910459" y="0"/>
                  </a:lnTo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6495881" y="2581763"/>
            <a:ext cx="5254625" cy="3540760"/>
            <a:chOff x="6495881" y="2581763"/>
            <a:chExt cx="5254625" cy="354076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95881" y="2581763"/>
              <a:ext cx="3591192" cy="354014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441691" y="3878579"/>
              <a:ext cx="2606040" cy="1813560"/>
            </a:xfrm>
            <a:custGeom>
              <a:avLst/>
              <a:gdLst/>
              <a:ahLst/>
              <a:cxnLst/>
              <a:rect l="l" t="t" r="r" b="b"/>
              <a:pathLst>
                <a:path w="2606040" h="1813560">
                  <a:moveTo>
                    <a:pt x="7619" y="73152"/>
                  </a:moveTo>
                  <a:lnTo>
                    <a:pt x="704087" y="73152"/>
                  </a:lnTo>
                  <a:lnTo>
                    <a:pt x="704087" y="0"/>
                  </a:lnTo>
                  <a:lnTo>
                    <a:pt x="7619" y="0"/>
                  </a:lnTo>
                  <a:lnTo>
                    <a:pt x="7619" y="73152"/>
                  </a:lnTo>
                  <a:close/>
                </a:path>
                <a:path w="2606040" h="1813560">
                  <a:moveTo>
                    <a:pt x="1908048" y="83820"/>
                  </a:moveTo>
                  <a:lnTo>
                    <a:pt x="2606040" y="83820"/>
                  </a:lnTo>
                  <a:lnTo>
                    <a:pt x="2606040" y="10668"/>
                  </a:lnTo>
                  <a:lnTo>
                    <a:pt x="1908048" y="10668"/>
                  </a:lnTo>
                  <a:lnTo>
                    <a:pt x="1908048" y="83820"/>
                  </a:lnTo>
                  <a:close/>
                </a:path>
                <a:path w="2606040" h="1813560">
                  <a:moveTo>
                    <a:pt x="0" y="1813560"/>
                  </a:moveTo>
                  <a:lnTo>
                    <a:pt x="696468" y="1813560"/>
                  </a:lnTo>
                  <a:lnTo>
                    <a:pt x="696468" y="1740408"/>
                  </a:lnTo>
                  <a:lnTo>
                    <a:pt x="0" y="1740408"/>
                  </a:lnTo>
                  <a:lnTo>
                    <a:pt x="0" y="1813560"/>
                  </a:lnTo>
                  <a:close/>
                </a:path>
              </a:pathLst>
            </a:custGeom>
            <a:ln w="9144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440546" y="507530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0066" y="0"/>
                  </a:moveTo>
                  <a:lnTo>
                    <a:pt x="15621" y="0"/>
                  </a:lnTo>
                  <a:lnTo>
                    <a:pt x="11429" y="0"/>
                  </a:lnTo>
                  <a:lnTo>
                    <a:pt x="7747" y="1524"/>
                  </a:lnTo>
                  <a:lnTo>
                    <a:pt x="1650" y="7619"/>
                  </a:lnTo>
                  <a:lnTo>
                    <a:pt x="0" y="11303"/>
                  </a:lnTo>
                  <a:lnTo>
                    <a:pt x="0" y="19938"/>
                  </a:lnTo>
                  <a:lnTo>
                    <a:pt x="1650" y="23622"/>
                  </a:lnTo>
                  <a:lnTo>
                    <a:pt x="7747" y="29718"/>
                  </a:lnTo>
                  <a:lnTo>
                    <a:pt x="11429" y="31242"/>
                  </a:lnTo>
                  <a:lnTo>
                    <a:pt x="20066" y="31242"/>
                  </a:lnTo>
                  <a:lnTo>
                    <a:pt x="23749" y="29718"/>
                  </a:lnTo>
                  <a:lnTo>
                    <a:pt x="29845" y="23622"/>
                  </a:lnTo>
                  <a:lnTo>
                    <a:pt x="31369" y="19938"/>
                  </a:lnTo>
                  <a:lnTo>
                    <a:pt x="31369" y="11303"/>
                  </a:lnTo>
                  <a:lnTo>
                    <a:pt x="29845" y="7619"/>
                  </a:lnTo>
                  <a:lnTo>
                    <a:pt x="23749" y="1524"/>
                  </a:lnTo>
                  <a:lnTo>
                    <a:pt x="20066" y="0"/>
                  </a:lnTo>
                  <a:close/>
                </a:path>
              </a:pathLst>
            </a:custGeom>
            <a:solidFill>
              <a:srgbClr val="9096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43797" y="5042154"/>
              <a:ext cx="3206242" cy="26860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440546" y="544410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0066" y="0"/>
                  </a:moveTo>
                  <a:lnTo>
                    <a:pt x="15621" y="0"/>
                  </a:lnTo>
                  <a:lnTo>
                    <a:pt x="11429" y="0"/>
                  </a:lnTo>
                  <a:lnTo>
                    <a:pt x="7747" y="1523"/>
                  </a:lnTo>
                  <a:lnTo>
                    <a:pt x="1650" y="7619"/>
                  </a:lnTo>
                  <a:lnTo>
                    <a:pt x="0" y="11302"/>
                  </a:lnTo>
                  <a:lnTo>
                    <a:pt x="0" y="19938"/>
                  </a:lnTo>
                  <a:lnTo>
                    <a:pt x="1650" y="23621"/>
                  </a:lnTo>
                  <a:lnTo>
                    <a:pt x="7747" y="29717"/>
                  </a:lnTo>
                  <a:lnTo>
                    <a:pt x="11429" y="31241"/>
                  </a:lnTo>
                  <a:lnTo>
                    <a:pt x="20066" y="31241"/>
                  </a:lnTo>
                  <a:lnTo>
                    <a:pt x="23749" y="29717"/>
                  </a:lnTo>
                  <a:lnTo>
                    <a:pt x="29845" y="23621"/>
                  </a:lnTo>
                  <a:lnTo>
                    <a:pt x="31369" y="19938"/>
                  </a:lnTo>
                  <a:lnTo>
                    <a:pt x="31369" y="11302"/>
                  </a:lnTo>
                  <a:lnTo>
                    <a:pt x="29845" y="7619"/>
                  </a:lnTo>
                  <a:lnTo>
                    <a:pt x="23749" y="1523"/>
                  </a:lnTo>
                  <a:lnTo>
                    <a:pt x="20066" y="0"/>
                  </a:lnTo>
                  <a:close/>
                </a:path>
              </a:pathLst>
            </a:custGeom>
            <a:solidFill>
              <a:srgbClr val="9096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53068" y="5410961"/>
              <a:ext cx="2306192" cy="11620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440546" y="566050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0066" y="0"/>
                  </a:moveTo>
                  <a:lnTo>
                    <a:pt x="15621" y="0"/>
                  </a:lnTo>
                  <a:lnTo>
                    <a:pt x="11429" y="0"/>
                  </a:lnTo>
                  <a:lnTo>
                    <a:pt x="7747" y="1523"/>
                  </a:lnTo>
                  <a:lnTo>
                    <a:pt x="1650" y="7619"/>
                  </a:lnTo>
                  <a:lnTo>
                    <a:pt x="0" y="11303"/>
                  </a:lnTo>
                  <a:lnTo>
                    <a:pt x="0" y="19951"/>
                  </a:lnTo>
                  <a:lnTo>
                    <a:pt x="1650" y="23647"/>
                  </a:lnTo>
                  <a:lnTo>
                    <a:pt x="7747" y="29781"/>
                  </a:lnTo>
                  <a:lnTo>
                    <a:pt x="11429" y="31318"/>
                  </a:lnTo>
                  <a:lnTo>
                    <a:pt x="20066" y="31318"/>
                  </a:lnTo>
                  <a:lnTo>
                    <a:pt x="23749" y="29781"/>
                  </a:lnTo>
                  <a:lnTo>
                    <a:pt x="29845" y="23647"/>
                  </a:lnTo>
                  <a:lnTo>
                    <a:pt x="31369" y="19951"/>
                  </a:lnTo>
                  <a:lnTo>
                    <a:pt x="31369" y="11303"/>
                  </a:lnTo>
                  <a:lnTo>
                    <a:pt x="29845" y="7619"/>
                  </a:lnTo>
                  <a:lnTo>
                    <a:pt x="23749" y="1523"/>
                  </a:lnTo>
                  <a:lnTo>
                    <a:pt x="20066" y="0"/>
                  </a:lnTo>
                  <a:close/>
                </a:path>
              </a:pathLst>
            </a:custGeom>
            <a:solidFill>
              <a:srgbClr val="9096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52179" y="5622378"/>
              <a:ext cx="1379394" cy="119786"/>
            </a:xfrm>
            <a:prstGeom prst="rect">
              <a:avLst/>
            </a:prstGeom>
          </p:spPr>
        </p:pic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6200"/>
            <a:ext cx="273050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604" y="1050289"/>
            <a:ext cx="1023162" cy="186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2263" y="1416938"/>
            <a:ext cx="1133220" cy="15405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048761" y="1668907"/>
            <a:ext cx="55505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0">
                <a:solidFill>
                  <a:srgbClr val="9F112C"/>
                </a:solidFill>
                <a:latin typeface="Tahoma"/>
                <a:cs typeface="Tahoma"/>
              </a:rPr>
              <a:t>PhA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in</a:t>
            </a:r>
            <a:r>
              <a:rPr dirty="0" sz="1400" spc="-9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predicting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survival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rate</a:t>
            </a:r>
            <a:r>
              <a:rPr dirty="0" sz="1400" spc="-8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patients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different</a:t>
            </a:r>
            <a:r>
              <a:rPr dirty="0" sz="1400" spc="-5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types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of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cancer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8224" y="2052827"/>
            <a:ext cx="6330950" cy="2971800"/>
            <a:chOff x="268224" y="2052827"/>
            <a:chExt cx="6330950" cy="297180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224" y="2052827"/>
              <a:ext cx="3233928" cy="2971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03675" y="2060447"/>
              <a:ext cx="3095244" cy="2936747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56831" y="2083307"/>
            <a:ext cx="2525268" cy="298094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370415" y="2276779"/>
            <a:ext cx="2441326" cy="261907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434953" y="3663188"/>
            <a:ext cx="40068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60">
                <a:latin typeface="Tahoma"/>
                <a:cs typeface="Tahoma"/>
              </a:rPr>
              <a:t>N</a:t>
            </a:r>
            <a:r>
              <a:rPr dirty="0" sz="700" spc="-85">
                <a:latin typeface="Tahoma"/>
                <a:cs typeface="Tahoma"/>
              </a:rPr>
              <a:t> </a:t>
            </a:r>
            <a:r>
              <a:rPr dirty="0" sz="700" spc="-120">
                <a:latin typeface="Tahoma"/>
                <a:cs typeface="Tahoma"/>
              </a:rPr>
              <a:t>=</a:t>
            </a:r>
            <a:r>
              <a:rPr dirty="0" sz="700" spc="-80">
                <a:latin typeface="Tahoma"/>
                <a:cs typeface="Tahoma"/>
              </a:rPr>
              <a:t> </a:t>
            </a:r>
            <a:r>
              <a:rPr dirty="0" sz="700" spc="-25">
                <a:latin typeface="Tahoma"/>
                <a:cs typeface="Tahoma"/>
              </a:rPr>
              <a:t>29</a:t>
            </a:r>
            <a:endParaRPr sz="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700" spc="-10">
                <a:latin typeface="Tahoma"/>
                <a:cs typeface="Tahoma"/>
              </a:rPr>
              <a:t>(Total</a:t>
            </a:r>
            <a:r>
              <a:rPr dirty="0" sz="700" spc="-60">
                <a:latin typeface="Tahoma"/>
                <a:cs typeface="Tahoma"/>
              </a:rPr>
              <a:t> </a:t>
            </a:r>
            <a:r>
              <a:rPr dirty="0" sz="700" spc="-25">
                <a:latin typeface="Tahoma"/>
                <a:cs typeface="Tahoma"/>
              </a:rPr>
              <a:t>58)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7288" y="5190235"/>
            <a:ext cx="25057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Bioelectrical</a:t>
            </a:r>
            <a:r>
              <a:rPr dirty="0" sz="1200" spc="-3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impedance</a:t>
            </a:r>
            <a:r>
              <a:rPr dirty="0" sz="1200" spc="-1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PhA</a:t>
            </a:r>
            <a:r>
              <a:rPr dirty="0" sz="1200" spc="-5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as</a:t>
            </a:r>
            <a:r>
              <a:rPr dirty="0" sz="1200" spc="-3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4A4F5A"/>
                </a:solidFill>
                <a:latin typeface="Tahoma"/>
                <a:cs typeface="Tahoma"/>
              </a:rPr>
              <a:t>a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prognostic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indicator</a:t>
            </a:r>
            <a:r>
              <a:rPr dirty="0" sz="12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F112C"/>
                </a:solidFill>
                <a:latin typeface="Tahoma"/>
                <a:cs typeface="Tahoma"/>
              </a:rPr>
              <a:t>breast</a:t>
            </a:r>
            <a:r>
              <a:rPr dirty="0" sz="1200" spc="-5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9F112C"/>
                </a:solidFill>
                <a:latin typeface="Tahoma"/>
                <a:cs typeface="Tahoma"/>
              </a:rPr>
              <a:t>cancer</a:t>
            </a:r>
            <a:r>
              <a:rPr dirty="0" sz="1200" spc="-65">
                <a:solidFill>
                  <a:srgbClr val="4A4F5A"/>
                </a:solidFill>
                <a:latin typeface="Tahoma"/>
                <a:cs typeface="Tahoma"/>
              </a:rPr>
              <a:t>. </a:t>
            </a:r>
            <a:r>
              <a:rPr dirty="0" sz="1200" spc="-30" i="1">
                <a:solidFill>
                  <a:srgbClr val="4A4F5A"/>
                </a:solidFill>
                <a:latin typeface="Lucida Sans"/>
                <a:cs typeface="Lucida Sans"/>
              </a:rPr>
              <a:t>BMC</a:t>
            </a:r>
            <a:r>
              <a:rPr dirty="0" sz="1200" spc="-130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spc="-114" i="1">
                <a:solidFill>
                  <a:srgbClr val="4A4F5A"/>
                </a:solidFill>
                <a:latin typeface="Lucida Sans"/>
                <a:cs typeface="Lucida Sans"/>
              </a:rPr>
              <a:t>Cancer</a:t>
            </a:r>
            <a:r>
              <a:rPr dirty="0" sz="1200" spc="-145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spc="-20" i="1">
                <a:solidFill>
                  <a:srgbClr val="4A4F5A"/>
                </a:solidFill>
                <a:latin typeface="Lucida Sans"/>
                <a:cs typeface="Lucida Sans"/>
              </a:rPr>
              <a:t>2008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66591" y="5155819"/>
            <a:ext cx="2828290" cy="7905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ct val="104600"/>
              </a:lnSpc>
              <a:spcBef>
                <a:spcPts val="165"/>
              </a:spcBef>
            </a:pP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Bioelectrical</a:t>
            </a:r>
            <a:r>
              <a:rPr dirty="0" sz="1200" spc="-4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impedance</a:t>
            </a:r>
            <a:r>
              <a:rPr dirty="0" sz="1200" spc="-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PhA</a:t>
            </a:r>
            <a:r>
              <a:rPr dirty="0" sz="1200" spc="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200" spc="-5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clinical practice:</a:t>
            </a:r>
            <a:r>
              <a:rPr dirty="0" sz="1200" spc="-6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implication</a:t>
            </a:r>
            <a:r>
              <a:rPr dirty="0" sz="12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for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prognosis</a:t>
            </a:r>
            <a:r>
              <a:rPr dirty="0" sz="12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4A4F5A"/>
                </a:solidFill>
                <a:latin typeface="Tahoma"/>
                <a:cs typeface="Tahoma"/>
              </a:rPr>
              <a:t>stage </a:t>
            </a:r>
            <a:r>
              <a:rPr dirty="0" sz="1200" spc="-55">
                <a:solidFill>
                  <a:srgbClr val="4A4F5A"/>
                </a:solidFill>
                <a:latin typeface="Tahoma"/>
                <a:cs typeface="Tahoma"/>
              </a:rPr>
              <a:t>IIIB</a:t>
            </a:r>
            <a:r>
              <a:rPr dirty="0" sz="1200" spc="-14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and</a:t>
            </a:r>
            <a:r>
              <a:rPr dirty="0" sz="12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IV</a:t>
            </a:r>
            <a:r>
              <a:rPr dirty="0" sz="12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non-small</a:t>
            </a:r>
            <a:r>
              <a:rPr dirty="0" sz="1200" spc="-13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cell</a:t>
            </a:r>
            <a:r>
              <a:rPr dirty="0" sz="12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95" b="1">
                <a:solidFill>
                  <a:srgbClr val="9F112C"/>
                </a:solidFill>
                <a:latin typeface="Tahoma"/>
                <a:cs typeface="Tahoma"/>
              </a:rPr>
              <a:t>lung</a:t>
            </a:r>
            <a:r>
              <a:rPr dirty="0" sz="1200" spc="-7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9F112C"/>
                </a:solidFill>
                <a:latin typeface="Tahoma"/>
                <a:cs typeface="Tahoma"/>
              </a:rPr>
              <a:t>cancer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-30" i="1">
                <a:solidFill>
                  <a:srgbClr val="4A4F5A"/>
                </a:solidFill>
                <a:latin typeface="Lucida Sans"/>
                <a:cs typeface="Lucida Sans"/>
              </a:rPr>
              <a:t>BMC</a:t>
            </a:r>
            <a:r>
              <a:rPr dirty="0" sz="1200" spc="-135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spc="-114" i="1">
                <a:solidFill>
                  <a:srgbClr val="4A4F5A"/>
                </a:solidFill>
                <a:latin typeface="Lucida Sans"/>
                <a:cs typeface="Lucida Sans"/>
              </a:rPr>
              <a:t>Cancer</a:t>
            </a:r>
            <a:r>
              <a:rPr dirty="0" sz="1200" spc="-130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spc="-20" i="1">
                <a:solidFill>
                  <a:srgbClr val="4A4F5A"/>
                </a:solidFill>
                <a:latin typeface="Lucida Sans"/>
                <a:cs typeface="Lucida Sans"/>
              </a:rPr>
              <a:t>2009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2504" y="5166486"/>
            <a:ext cx="28517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200" spc="-1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relationship</a:t>
            </a:r>
            <a:r>
              <a:rPr dirty="0" sz="12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between</a:t>
            </a:r>
            <a:r>
              <a:rPr dirty="0" sz="12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bioelectrical impedance</a:t>
            </a:r>
            <a:r>
              <a:rPr dirty="0" sz="12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PhA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and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subjective</a:t>
            </a:r>
            <a:r>
              <a:rPr dirty="0" sz="1200" spc="-5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global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assessment</a:t>
            </a:r>
            <a:r>
              <a:rPr dirty="0" sz="1200" spc="-4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2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advanced</a:t>
            </a:r>
            <a:r>
              <a:rPr dirty="0" sz="12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9F112C"/>
                </a:solidFill>
                <a:latin typeface="Tahoma"/>
                <a:cs typeface="Tahoma"/>
              </a:rPr>
              <a:t>colorectal</a:t>
            </a:r>
            <a:r>
              <a:rPr dirty="0" sz="1200" spc="-7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9F112C"/>
                </a:solidFill>
                <a:latin typeface="Tahoma"/>
                <a:cs typeface="Tahoma"/>
              </a:rPr>
              <a:t>cancer</a:t>
            </a:r>
            <a:r>
              <a:rPr dirty="0" sz="1200" spc="-65">
                <a:solidFill>
                  <a:srgbClr val="4A4F5A"/>
                </a:solidFill>
                <a:latin typeface="Tahoma"/>
                <a:cs typeface="Tahoma"/>
              </a:rPr>
              <a:t>. </a:t>
            </a:r>
            <a:r>
              <a:rPr dirty="0" sz="1200" spc="-95" i="1">
                <a:solidFill>
                  <a:srgbClr val="4A4F5A"/>
                </a:solidFill>
                <a:latin typeface="Lucida Sans"/>
                <a:cs typeface="Lucida Sans"/>
              </a:rPr>
              <a:t>Nutrition</a:t>
            </a:r>
            <a:r>
              <a:rPr dirty="0" sz="1200" spc="-110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i="1">
                <a:solidFill>
                  <a:srgbClr val="4A4F5A"/>
                </a:solidFill>
                <a:latin typeface="Lucida Sans"/>
                <a:cs typeface="Lucida Sans"/>
              </a:rPr>
              <a:t>J</a:t>
            </a:r>
            <a:r>
              <a:rPr dirty="0" sz="1200" spc="-110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spc="-20" i="1">
                <a:solidFill>
                  <a:srgbClr val="4A4F5A"/>
                </a:solidFill>
                <a:latin typeface="Lucida Sans"/>
                <a:cs typeface="Lucida Sans"/>
              </a:rPr>
              <a:t>2008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98532" y="5166486"/>
            <a:ext cx="19354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Bioelectrical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impedance</a:t>
            </a:r>
            <a:r>
              <a:rPr dirty="0" sz="1200" spc="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PhA as</a:t>
            </a:r>
            <a:r>
              <a:rPr dirty="0" sz="12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a</a:t>
            </a:r>
            <a:r>
              <a:rPr dirty="0" sz="12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prognostic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indicator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in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advanced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9F112C"/>
                </a:solidFill>
                <a:latin typeface="Tahoma"/>
                <a:cs typeface="Tahoma"/>
              </a:rPr>
              <a:t>pancreatic</a:t>
            </a:r>
            <a:r>
              <a:rPr dirty="0" sz="1200" spc="-70" b="1">
                <a:solidFill>
                  <a:srgbClr val="9F112C"/>
                </a:solidFill>
                <a:latin typeface="Tahoma"/>
                <a:cs typeface="Tahoma"/>
              </a:rPr>
              <a:t> cancer</a:t>
            </a:r>
            <a:r>
              <a:rPr dirty="0" sz="1200" spc="-70">
                <a:solidFill>
                  <a:srgbClr val="4A4F5A"/>
                </a:solidFill>
                <a:latin typeface="Tahoma"/>
                <a:cs typeface="Tahoma"/>
              </a:rPr>
              <a:t>. </a:t>
            </a:r>
            <a:r>
              <a:rPr dirty="0" sz="1200" spc="-90" i="1">
                <a:solidFill>
                  <a:srgbClr val="4A4F5A"/>
                </a:solidFill>
                <a:latin typeface="Lucida Sans"/>
                <a:cs typeface="Lucida Sans"/>
              </a:rPr>
              <a:t>British</a:t>
            </a:r>
            <a:r>
              <a:rPr dirty="0" sz="1200" spc="-105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i="1">
                <a:solidFill>
                  <a:srgbClr val="4A4F5A"/>
                </a:solidFill>
                <a:latin typeface="Lucida Sans"/>
                <a:cs typeface="Lucida Sans"/>
              </a:rPr>
              <a:t>J</a:t>
            </a:r>
            <a:r>
              <a:rPr dirty="0" sz="1200" spc="-120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spc="-100" i="1">
                <a:solidFill>
                  <a:srgbClr val="4A4F5A"/>
                </a:solidFill>
                <a:latin typeface="Lucida Sans"/>
                <a:cs typeface="Lucida Sans"/>
              </a:rPr>
              <a:t>of</a:t>
            </a:r>
            <a:r>
              <a:rPr dirty="0" sz="1200" spc="-110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spc="-95" i="1">
                <a:solidFill>
                  <a:srgbClr val="4A4F5A"/>
                </a:solidFill>
                <a:latin typeface="Lucida Sans"/>
                <a:cs typeface="Lucida Sans"/>
              </a:rPr>
              <a:t>Nutrition</a:t>
            </a:r>
            <a:r>
              <a:rPr dirty="0" sz="1200" spc="-114" i="1">
                <a:solidFill>
                  <a:srgbClr val="4A4F5A"/>
                </a:solidFill>
                <a:latin typeface="Lucida Sans"/>
                <a:cs typeface="Lucida Sans"/>
              </a:rPr>
              <a:t> </a:t>
            </a:r>
            <a:r>
              <a:rPr dirty="0" sz="1200" spc="-20" i="1">
                <a:solidFill>
                  <a:srgbClr val="4A4F5A"/>
                </a:solidFill>
                <a:latin typeface="Lucida Sans"/>
                <a:cs typeface="Lucida Sans"/>
              </a:rPr>
              <a:t>2007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6200"/>
            <a:ext cx="273050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604" y="1050289"/>
            <a:ext cx="1023162" cy="186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53058" y="1421637"/>
            <a:ext cx="1146175" cy="184150"/>
          </a:xfrm>
          <a:custGeom>
            <a:avLst/>
            <a:gdLst/>
            <a:ahLst/>
            <a:cxnLst/>
            <a:rect l="l" t="t" r="r" b="b"/>
            <a:pathLst>
              <a:path w="1146175" h="184150">
                <a:moveTo>
                  <a:pt x="111506" y="41402"/>
                </a:moveTo>
                <a:lnTo>
                  <a:pt x="110363" y="35052"/>
                </a:lnTo>
                <a:lnTo>
                  <a:pt x="106680" y="25654"/>
                </a:lnTo>
                <a:lnTo>
                  <a:pt x="105791" y="23368"/>
                </a:lnTo>
                <a:lnTo>
                  <a:pt x="77216" y="3238"/>
                </a:lnTo>
                <a:lnTo>
                  <a:pt x="77216" y="44831"/>
                </a:lnTo>
                <a:lnTo>
                  <a:pt x="77216" y="55880"/>
                </a:lnTo>
                <a:lnTo>
                  <a:pt x="75311" y="61849"/>
                </a:lnTo>
                <a:lnTo>
                  <a:pt x="71374" y="66040"/>
                </a:lnTo>
                <a:lnTo>
                  <a:pt x="67437" y="70358"/>
                </a:lnTo>
                <a:lnTo>
                  <a:pt x="60960" y="72517"/>
                </a:lnTo>
                <a:lnTo>
                  <a:pt x="34290" y="72517"/>
                </a:lnTo>
                <a:lnTo>
                  <a:pt x="34290" y="25654"/>
                </a:lnTo>
                <a:lnTo>
                  <a:pt x="56388" y="25654"/>
                </a:lnTo>
                <a:lnTo>
                  <a:pt x="60198" y="26162"/>
                </a:lnTo>
                <a:lnTo>
                  <a:pt x="63246" y="27305"/>
                </a:lnTo>
                <a:lnTo>
                  <a:pt x="66421" y="28321"/>
                </a:lnTo>
                <a:lnTo>
                  <a:pt x="77216" y="44831"/>
                </a:lnTo>
                <a:lnTo>
                  <a:pt x="77216" y="3238"/>
                </a:lnTo>
                <a:lnTo>
                  <a:pt x="73025" y="2095"/>
                </a:lnTo>
                <a:lnTo>
                  <a:pt x="66611" y="939"/>
                </a:lnTo>
                <a:lnTo>
                  <a:pt x="59613" y="241"/>
                </a:lnTo>
                <a:lnTo>
                  <a:pt x="52070" y="0"/>
                </a:lnTo>
                <a:lnTo>
                  <a:pt x="0" y="0"/>
                </a:lnTo>
                <a:lnTo>
                  <a:pt x="0" y="147701"/>
                </a:lnTo>
                <a:lnTo>
                  <a:pt x="34290" y="147701"/>
                </a:lnTo>
                <a:lnTo>
                  <a:pt x="34290" y="98298"/>
                </a:lnTo>
                <a:lnTo>
                  <a:pt x="52070" y="98298"/>
                </a:lnTo>
                <a:lnTo>
                  <a:pt x="92202" y="88773"/>
                </a:lnTo>
                <a:lnTo>
                  <a:pt x="106362" y="72517"/>
                </a:lnTo>
                <a:lnTo>
                  <a:pt x="107950" y="68453"/>
                </a:lnTo>
                <a:lnTo>
                  <a:pt x="110363" y="62357"/>
                </a:lnTo>
                <a:lnTo>
                  <a:pt x="111455" y="55880"/>
                </a:lnTo>
                <a:lnTo>
                  <a:pt x="111506" y="41402"/>
                </a:lnTo>
                <a:close/>
              </a:path>
              <a:path w="1146175" h="184150">
                <a:moveTo>
                  <a:pt x="226822" y="86614"/>
                </a:moveTo>
                <a:lnTo>
                  <a:pt x="225552" y="79121"/>
                </a:lnTo>
                <a:lnTo>
                  <a:pt x="222885" y="72390"/>
                </a:lnTo>
                <a:lnTo>
                  <a:pt x="220345" y="65786"/>
                </a:lnTo>
                <a:lnTo>
                  <a:pt x="219354" y="64262"/>
                </a:lnTo>
                <a:lnTo>
                  <a:pt x="216662" y="60071"/>
                </a:lnTo>
                <a:lnTo>
                  <a:pt x="211963" y="55499"/>
                </a:lnTo>
                <a:lnTo>
                  <a:pt x="207264" y="50800"/>
                </a:lnTo>
                <a:lnTo>
                  <a:pt x="201676" y="47244"/>
                </a:lnTo>
                <a:lnTo>
                  <a:pt x="194437" y="44437"/>
                </a:lnTo>
                <a:lnTo>
                  <a:pt x="194437" y="84709"/>
                </a:lnTo>
                <a:lnTo>
                  <a:pt x="194437" y="105410"/>
                </a:lnTo>
                <a:lnTo>
                  <a:pt x="192659" y="113284"/>
                </a:lnTo>
                <a:lnTo>
                  <a:pt x="189230" y="118364"/>
                </a:lnTo>
                <a:lnTo>
                  <a:pt x="185928" y="123444"/>
                </a:lnTo>
                <a:lnTo>
                  <a:pt x="180594" y="125984"/>
                </a:lnTo>
                <a:lnTo>
                  <a:pt x="165862" y="125984"/>
                </a:lnTo>
                <a:lnTo>
                  <a:pt x="160401" y="123444"/>
                </a:lnTo>
                <a:lnTo>
                  <a:pt x="153543" y="113284"/>
                </a:lnTo>
                <a:lnTo>
                  <a:pt x="151892" y="105410"/>
                </a:lnTo>
                <a:lnTo>
                  <a:pt x="151892" y="84709"/>
                </a:lnTo>
                <a:lnTo>
                  <a:pt x="153543" y="76962"/>
                </a:lnTo>
                <a:lnTo>
                  <a:pt x="160401" y="66802"/>
                </a:lnTo>
                <a:lnTo>
                  <a:pt x="165862" y="64262"/>
                </a:lnTo>
                <a:lnTo>
                  <a:pt x="180594" y="64262"/>
                </a:lnTo>
                <a:lnTo>
                  <a:pt x="185928" y="66802"/>
                </a:lnTo>
                <a:lnTo>
                  <a:pt x="189230" y="71882"/>
                </a:lnTo>
                <a:lnTo>
                  <a:pt x="192659" y="76962"/>
                </a:lnTo>
                <a:lnTo>
                  <a:pt x="194437" y="84709"/>
                </a:lnTo>
                <a:lnTo>
                  <a:pt x="194437" y="44437"/>
                </a:lnTo>
                <a:lnTo>
                  <a:pt x="188595" y="42164"/>
                </a:lnTo>
                <a:lnTo>
                  <a:pt x="181356" y="40894"/>
                </a:lnTo>
                <a:lnTo>
                  <a:pt x="165227" y="40894"/>
                </a:lnTo>
                <a:lnTo>
                  <a:pt x="157988" y="42164"/>
                </a:lnTo>
                <a:lnTo>
                  <a:pt x="144780" y="47244"/>
                </a:lnTo>
                <a:lnTo>
                  <a:pt x="139065" y="50800"/>
                </a:lnTo>
                <a:lnTo>
                  <a:pt x="134366" y="55499"/>
                </a:lnTo>
                <a:lnTo>
                  <a:pt x="129540" y="60071"/>
                </a:lnTo>
                <a:lnTo>
                  <a:pt x="125857" y="65786"/>
                </a:lnTo>
                <a:lnTo>
                  <a:pt x="123317" y="72390"/>
                </a:lnTo>
                <a:lnTo>
                  <a:pt x="120650" y="79121"/>
                </a:lnTo>
                <a:lnTo>
                  <a:pt x="119380" y="86614"/>
                </a:lnTo>
                <a:lnTo>
                  <a:pt x="119380" y="103251"/>
                </a:lnTo>
                <a:lnTo>
                  <a:pt x="120650" y="110744"/>
                </a:lnTo>
                <a:lnTo>
                  <a:pt x="123317" y="117475"/>
                </a:lnTo>
                <a:lnTo>
                  <a:pt x="125857" y="124206"/>
                </a:lnTo>
                <a:lnTo>
                  <a:pt x="129540" y="129921"/>
                </a:lnTo>
                <a:lnTo>
                  <a:pt x="134366" y="134620"/>
                </a:lnTo>
                <a:lnTo>
                  <a:pt x="139065" y="139319"/>
                </a:lnTo>
                <a:lnTo>
                  <a:pt x="144780" y="143002"/>
                </a:lnTo>
                <a:lnTo>
                  <a:pt x="157988" y="148082"/>
                </a:lnTo>
                <a:lnTo>
                  <a:pt x="165227" y="149352"/>
                </a:lnTo>
                <a:lnTo>
                  <a:pt x="181356" y="149352"/>
                </a:lnTo>
                <a:lnTo>
                  <a:pt x="216662" y="129921"/>
                </a:lnTo>
                <a:lnTo>
                  <a:pt x="219189" y="125984"/>
                </a:lnTo>
                <a:lnTo>
                  <a:pt x="220345" y="124206"/>
                </a:lnTo>
                <a:lnTo>
                  <a:pt x="222885" y="117475"/>
                </a:lnTo>
                <a:lnTo>
                  <a:pt x="225552" y="110744"/>
                </a:lnTo>
                <a:lnTo>
                  <a:pt x="226822" y="103251"/>
                </a:lnTo>
                <a:lnTo>
                  <a:pt x="226822" y="86614"/>
                </a:lnTo>
                <a:close/>
              </a:path>
              <a:path w="1146175" h="184150">
                <a:moveTo>
                  <a:pt x="312801" y="109347"/>
                </a:moveTo>
                <a:lnTo>
                  <a:pt x="305320" y="94996"/>
                </a:lnTo>
                <a:lnTo>
                  <a:pt x="302882" y="92710"/>
                </a:lnTo>
                <a:lnTo>
                  <a:pt x="285356" y="84582"/>
                </a:lnTo>
                <a:lnTo>
                  <a:pt x="282448" y="83566"/>
                </a:lnTo>
                <a:lnTo>
                  <a:pt x="276606" y="81788"/>
                </a:lnTo>
                <a:lnTo>
                  <a:pt x="274066" y="80899"/>
                </a:lnTo>
                <a:lnTo>
                  <a:pt x="271653" y="79883"/>
                </a:lnTo>
                <a:lnTo>
                  <a:pt x="269367" y="78994"/>
                </a:lnTo>
                <a:lnTo>
                  <a:pt x="267589" y="77851"/>
                </a:lnTo>
                <a:lnTo>
                  <a:pt x="266192" y="76581"/>
                </a:lnTo>
                <a:lnTo>
                  <a:pt x="264795" y="75184"/>
                </a:lnTo>
                <a:lnTo>
                  <a:pt x="264160" y="73660"/>
                </a:lnTo>
                <a:lnTo>
                  <a:pt x="264160" y="69088"/>
                </a:lnTo>
                <a:lnTo>
                  <a:pt x="264452" y="68326"/>
                </a:lnTo>
                <a:lnTo>
                  <a:pt x="265176" y="66802"/>
                </a:lnTo>
                <a:lnTo>
                  <a:pt x="269494" y="63754"/>
                </a:lnTo>
                <a:lnTo>
                  <a:pt x="272542" y="62992"/>
                </a:lnTo>
                <a:lnTo>
                  <a:pt x="279273" y="62992"/>
                </a:lnTo>
                <a:lnTo>
                  <a:pt x="281686" y="63373"/>
                </a:lnTo>
                <a:lnTo>
                  <a:pt x="286004" y="64643"/>
                </a:lnTo>
                <a:lnTo>
                  <a:pt x="288036" y="65278"/>
                </a:lnTo>
                <a:lnTo>
                  <a:pt x="289687" y="66040"/>
                </a:lnTo>
                <a:lnTo>
                  <a:pt x="291465" y="66802"/>
                </a:lnTo>
                <a:lnTo>
                  <a:pt x="292989" y="67564"/>
                </a:lnTo>
                <a:lnTo>
                  <a:pt x="296633" y="69088"/>
                </a:lnTo>
                <a:lnTo>
                  <a:pt x="300990" y="69088"/>
                </a:lnTo>
                <a:lnTo>
                  <a:pt x="302514" y="68326"/>
                </a:lnTo>
                <a:lnTo>
                  <a:pt x="303403" y="67818"/>
                </a:lnTo>
                <a:lnTo>
                  <a:pt x="304292" y="66802"/>
                </a:lnTo>
                <a:lnTo>
                  <a:pt x="305054" y="65532"/>
                </a:lnTo>
                <a:lnTo>
                  <a:pt x="306679" y="62992"/>
                </a:lnTo>
                <a:lnTo>
                  <a:pt x="312166" y="54483"/>
                </a:lnTo>
                <a:lnTo>
                  <a:pt x="310134" y="52578"/>
                </a:lnTo>
                <a:lnTo>
                  <a:pt x="308127" y="50927"/>
                </a:lnTo>
                <a:lnTo>
                  <a:pt x="305308" y="49149"/>
                </a:lnTo>
                <a:lnTo>
                  <a:pt x="302768" y="47498"/>
                </a:lnTo>
                <a:lnTo>
                  <a:pt x="299974" y="45974"/>
                </a:lnTo>
                <a:lnTo>
                  <a:pt x="296799" y="44831"/>
                </a:lnTo>
                <a:lnTo>
                  <a:pt x="294043" y="43688"/>
                </a:lnTo>
                <a:lnTo>
                  <a:pt x="294220" y="43688"/>
                </a:lnTo>
                <a:lnTo>
                  <a:pt x="290449" y="42672"/>
                </a:lnTo>
                <a:lnTo>
                  <a:pt x="286893" y="41910"/>
                </a:lnTo>
                <a:lnTo>
                  <a:pt x="283337" y="41275"/>
                </a:lnTo>
                <a:lnTo>
                  <a:pt x="279654" y="40894"/>
                </a:lnTo>
                <a:lnTo>
                  <a:pt x="268859" y="40894"/>
                </a:lnTo>
                <a:lnTo>
                  <a:pt x="262026" y="41910"/>
                </a:lnTo>
                <a:lnTo>
                  <a:pt x="262534" y="41910"/>
                </a:lnTo>
                <a:lnTo>
                  <a:pt x="257683" y="43688"/>
                </a:lnTo>
                <a:lnTo>
                  <a:pt x="234315" y="69723"/>
                </a:lnTo>
                <a:lnTo>
                  <a:pt x="234315" y="78994"/>
                </a:lnTo>
                <a:lnTo>
                  <a:pt x="242062" y="94996"/>
                </a:lnTo>
                <a:lnTo>
                  <a:pt x="244348" y="97409"/>
                </a:lnTo>
                <a:lnTo>
                  <a:pt x="246888" y="99314"/>
                </a:lnTo>
                <a:lnTo>
                  <a:pt x="249936" y="100838"/>
                </a:lnTo>
                <a:lnTo>
                  <a:pt x="252857" y="102362"/>
                </a:lnTo>
                <a:lnTo>
                  <a:pt x="255778" y="103632"/>
                </a:lnTo>
                <a:lnTo>
                  <a:pt x="258826" y="104648"/>
                </a:lnTo>
                <a:lnTo>
                  <a:pt x="261874" y="105791"/>
                </a:lnTo>
                <a:lnTo>
                  <a:pt x="264922" y="106680"/>
                </a:lnTo>
                <a:lnTo>
                  <a:pt x="270764" y="108458"/>
                </a:lnTo>
                <a:lnTo>
                  <a:pt x="273431" y="109347"/>
                </a:lnTo>
                <a:lnTo>
                  <a:pt x="275717" y="110363"/>
                </a:lnTo>
                <a:lnTo>
                  <a:pt x="278003" y="111252"/>
                </a:lnTo>
                <a:lnTo>
                  <a:pt x="279781" y="112522"/>
                </a:lnTo>
                <a:lnTo>
                  <a:pt x="282702" y="115189"/>
                </a:lnTo>
                <a:lnTo>
                  <a:pt x="283337" y="116840"/>
                </a:lnTo>
                <a:lnTo>
                  <a:pt x="283273" y="120396"/>
                </a:lnTo>
                <a:lnTo>
                  <a:pt x="283184" y="120777"/>
                </a:lnTo>
                <a:lnTo>
                  <a:pt x="283083" y="121285"/>
                </a:lnTo>
                <a:lnTo>
                  <a:pt x="272656" y="128143"/>
                </a:lnTo>
                <a:lnTo>
                  <a:pt x="266700" y="128143"/>
                </a:lnTo>
                <a:lnTo>
                  <a:pt x="264833" y="127889"/>
                </a:lnTo>
                <a:lnTo>
                  <a:pt x="264223" y="127889"/>
                </a:lnTo>
                <a:lnTo>
                  <a:pt x="261620" y="126873"/>
                </a:lnTo>
                <a:lnTo>
                  <a:pt x="259334" y="126111"/>
                </a:lnTo>
                <a:lnTo>
                  <a:pt x="257429" y="125222"/>
                </a:lnTo>
                <a:lnTo>
                  <a:pt x="255866" y="124333"/>
                </a:lnTo>
                <a:lnTo>
                  <a:pt x="254000" y="123317"/>
                </a:lnTo>
                <a:lnTo>
                  <a:pt x="252476" y="122428"/>
                </a:lnTo>
                <a:lnTo>
                  <a:pt x="250952" y="121666"/>
                </a:lnTo>
                <a:lnTo>
                  <a:pt x="249555" y="120777"/>
                </a:lnTo>
                <a:lnTo>
                  <a:pt x="247904" y="120396"/>
                </a:lnTo>
                <a:lnTo>
                  <a:pt x="244094" y="120396"/>
                </a:lnTo>
                <a:lnTo>
                  <a:pt x="242570" y="120777"/>
                </a:lnTo>
                <a:lnTo>
                  <a:pt x="230886" y="136271"/>
                </a:lnTo>
                <a:lnTo>
                  <a:pt x="232918" y="138176"/>
                </a:lnTo>
                <a:lnTo>
                  <a:pt x="265049" y="149352"/>
                </a:lnTo>
                <a:lnTo>
                  <a:pt x="275717" y="149352"/>
                </a:lnTo>
                <a:lnTo>
                  <a:pt x="309765" y="128143"/>
                </a:lnTo>
                <a:lnTo>
                  <a:pt x="311785" y="123571"/>
                </a:lnTo>
                <a:lnTo>
                  <a:pt x="312801" y="118745"/>
                </a:lnTo>
                <a:lnTo>
                  <a:pt x="312801" y="109347"/>
                </a:lnTo>
                <a:close/>
              </a:path>
              <a:path w="1146175" h="184150">
                <a:moveTo>
                  <a:pt x="393954" y="140208"/>
                </a:moveTo>
                <a:lnTo>
                  <a:pt x="384429" y="125222"/>
                </a:lnTo>
                <a:lnTo>
                  <a:pt x="384149" y="124841"/>
                </a:lnTo>
                <a:lnTo>
                  <a:pt x="383362" y="123698"/>
                </a:lnTo>
                <a:lnTo>
                  <a:pt x="382638" y="123190"/>
                </a:lnTo>
                <a:lnTo>
                  <a:pt x="381584" y="122555"/>
                </a:lnTo>
                <a:lnTo>
                  <a:pt x="379349" y="122555"/>
                </a:lnTo>
                <a:lnTo>
                  <a:pt x="378079" y="123190"/>
                </a:lnTo>
                <a:lnTo>
                  <a:pt x="377901" y="123190"/>
                </a:lnTo>
                <a:lnTo>
                  <a:pt x="377228" y="123698"/>
                </a:lnTo>
                <a:lnTo>
                  <a:pt x="376936" y="123698"/>
                </a:lnTo>
                <a:lnTo>
                  <a:pt x="375412" y="124460"/>
                </a:lnTo>
                <a:lnTo>
                  <a:pt x="374904" y="124460"/>
                </a:lnTo>
                <a:lnTo>
                  <a:pt x="373761" y="124841"/>
                </a:lnTo>
                <a:lnTo>
                  <a:pt x="369824" y="124841"/>
                </a:lnTo>
                <a:lnTo>
                  <a:pt x="368173" y="124079"/>
                </a:lnTo>
                <a:lnTo>
                  <a:pt x="365760" y="120904"/>
                </a:lnTo>
                <a:lnTo>
                  <a:pt x="365125" y="118872"/>
                </a:lnTo>
                <a:lnTo>
                  <a:pt x="365125" y="64262"/>
                </a:lnTo>
                <a:lnTo>
                  <a:pt x="390652" y="64262"/>
                </a:lnTo>
                <a:lnTo>
                  <a:pt x="390652" y="42799"/>
                </a:lnTo>
                <a:lnTo>
                  <a:pt x="365125" y="42799"/>
                </a:lnTo>
                <a:lnTo>
                  <a:pt x="365125" y="12065"/>
                </a:lnTo>
                <a:lnTo>
                  <a:pt x="344932" y="12065"/>
                </a:lnTo>
                <a:lnTo>
                  <a:pt x="342646" y="13716"/>
                </a:lnTo>
                <a:lnTo>
                  <a:pt x="335661" y="42545"/>
                </a:lnTo>
                <a:lnTo>
                  <a:pt x="318897" y="45847"/>
                </a:lnTo>
                <a:lnTo>
                  <a:pt x="318897" y="60071"/>
                </a:lnTo>
                <a:lnTo>
                  <a:pt x="319532" y="61595"/>
                </a:lnTo>
                <a:lnTo>
                  <a:pt x="320675" y="62738"/>
                </a:lnTo>
                <a:lnTo>
                  <a:pt x="321818" y="63754"/>
                </a:lnTo>
                <a:lnTo>
                  <a:pt x="323215" y="64262"/>
                </a:lnTo>
                <a:lnTo>
                  <a:pt x="333756" y="64262"/>
                </a:lnTo>
                <a:lnTo>
                  <a:pt x="333819" y="123698"/>
                </a:lnTo>
                <a:lnTo>
                  <a:pt x="334391" y="127508"/>
                </a:lnTo>
                <a:lnTo>
                  <a:pt x="335788" y="131191"/>
                </a:lnTo>
                <a:lnTo>
                  <a:pt x="337185" y="135001"/>
                </a:lnTo>
                <a:lnTo>
                  <a:pt x="339090" y="138303"/>
                </a:lnTo>
                <a:lnTo>
                  <a:pt x="341757" y="140970"/>
                </a:lnTo>
                <a:lnTo>
                  <a:pt x="344297" y="143637"/>
                </a:lnTo>
                <a:lnTo>
                  <a:pt x="347472" y="145669"/>
                </a:lnTo>
                <a:lnTo>
                  <a:pt x="351282" y="147066"/>
                </a:lnTo>
                <a:lnTo>
                  <a:pt x="355092" y="148590"/>
                </a:lnTo>
                <a:lnTo>
                  <a:pt x="359537" y="149352"/>
                </a:lnTo>
                <a:lnTo>
                  <a:pt x="369951" y="149352"/>
                </a:lnTo>
                <a:lnTo>
                  <a:pt x="375158" y="148590"/>
                </a:lnTo>
                <a:lnTo>
                  <a:pt x="385318" y="145542"/>
                </a:lnTo>
                <a:lnTo>
                  <a:pt x="389890" y="143256"/>
                </a:lnTo>
                <a:lnTo>
                  <a:pt x="393954" y="140208"/>
                </a:lnTo>
                <a:close/>
              </a:path>
              <a:path w="1146175" h="184150">
                <a:moveTo>
                  <a:pt x="458076" y="73342"/>
                </a:moveTo>
                <a:lnTo>
                  <a:pt x="403352" y="73342"/>
                </a:lnTo>
                <a:lnTo>
                  <a:pt x="403352" y="98679"/>
                </a:lnTo>
                <a:lnTo>
                  <a:pt x="458076" y="98679"/>
                </a:lnTo>
                <a:lnTo>
                  <a:pt x="458076" y="73342"/>
                </a:lnTo>
                <a:close/>
              </a:path>
              <a:path w="1146175" h="184150">
                <a:moveTo>
                  <a:pt x="549021" y="109347"/>
                </a:moveTo>
                <a:lnTo>
                  <a:pt x="541540" y="94996"/>
                </a:lnTo>
                <a:lnTo>
                  <a:pt x="539115" y="92710"/>
                </a:lnTo>
                <a:lnTo>
                  <a:pt x="521589" y="84582"/>
                </a:lnTo>
                <a:lnTo>
                  <a:pt x="518668" y="83566"/>
                </a:lnTo>
                <a:lnTo>
                  <a:pt x="512826" y="81788"/>
                </a:lnTo>
                <a:lnTo>
                  <a:pt x="510286" y="80899"/>
                </a:lnTo>
                <a:lnTo>
                  <a:pt x="507873" y="79883"/>
                </a:lnTo>
                <a:lnTo>
                  <a:pt x="505587" y="78994"/>
                </a:lnTo>
                <a:lnTo>
                  <a:pt x="503809" y="77851"/>
                </a:lnTo>
                <a:lnTo>
                  <a:pt x="502412" y="76581"/>
                </a:lnTo>
                <a:lnTo>
                  <a:pt x="501015" y="75184"/>
                </a:lnTo>
                <a:lnTo>
                  <a:pt x="500380" y="73660"/>
                </a:lnTo>
                <a:lnTo>
                  <a:pt x="500380" y="69088"/>
                </a:lnTo>
                <a:lnTo>
                  <a:pt x="500672" y="68326"/>
                </a:lnTo>
                <a:lnTo>
                  <a:pt x="501396" y="66802"/>
                </a:lnTo>
                <a:lnTo>
                  <a:pt x="505714" y="63754"/>
                </a:lnTo>
                <a:lnTo>
                  <a:pt x="508762" y="62992"/>
                </a:lnTo>
                <a:lnTo>
                  <a:pt x="515493" y="62992"/>
                </a:lnTo>
                <a:lnTo>
                  <a:pt x="517906" y="63373"/>
                </a:lnTo>
                <a:lnTo>
                  <a:pt x="522224" y="64643"/>
                </a:lnTo>
                <a:lnTo>
                  <a:pt x="524256" y="65278"/>
                </a:lnTo>
                <a:lnTo>
                  <a:pt x="525907" y="66040"/>
                </a:lnTo>
                <a:lnTo>
                  <a:pt x="527685" y="66802"/>
                </a:lnTo>
                <a:lnTo>
                  <a:pt x="529209" y="67564"/>
                </a:lnTo>
                <a:lnTo>
                  <a:pt x="532853" y="69088"/>
                </a:lnTo>
                <a:lnTo>
                  <a:pt x="537210" y="69088"/>
                </a:lnTo>
                <a:lnTo>
                  <a:pt x="538734" y="68326"/>
                </a:lnTo>
                <a:lnTo>
                  <a:pt x="539623" y="67818"/>
                </a:lnTo>
                <a:lnTo>
                  <a:pt x="540512" y="66802"/>
                </a:lnTo>
                <a:lnTo>
                  <a:pt x="541274" y="65532"/>
                </a:lnTo>
                <a:lnTo>
                  <a:pt x="542899" y="62992"/>
                </a:lnTo>
                <a:lnTo>
                  <a:pt x="548386" y="54483"/>
                </a:lnTo>
                <a:lnTo>
                  <a:pt x="546354" y="52578"/>
                </a:lnTo>
                <a:lnTo>
                  <a:pt x="544347" y="50927"/>
                </a:lnTo>
                <a:lnTo>
                  <a:pt x="541528" y="49149"/>
                </a:lnTo>
                <a:lnTo>
                  <a:pt x="538988" y="47498"/>
                </a:lnTo>
                <a:lnTo>
                  <a:pt x="536194" y="45974"/>
                </a:lnTo>
                <a:lnTo>
                  <a:pt x="533019" y="44831"/>
                </a:lnTo>
                <a:lnTo>
                  <a:pt x="530263" y="43688"/>
                </a:lnTo>
                <a:lnTo>
                  <a:pt x="530440" y="43688"/>
                </a:lnTo>
                <a:lnTo>
                  <a:pt x="526669" y="42672"/>
                </a:lnTo>
                <a:lnTo>
                  <a:pt x="523113" y="41910"/>
                </a:lnTo>
                <a:lnTo>
                  <a:pt x="519557" y="41275"/>
                </a:lnTo>
                <a:lnTo>
                  <a:pt x="515874" y="40894"/>
                </a:lnTo>
                <a:lnTo>
                  <a:pt x="505079" y="40894"/>
                </a:lnTo>
                <a:lnTo>
                  <a:pt x="498246" y="41910"/>
                </a:lnTo>
                <a:lnTo>
                  <a:pt x="498754" y="41910"/>
                </a:lnTo>
                <a:lnTo>
                  <a:pt x="493903" y="43688"/>
                </a:lnTo>
                <a:lnTo>
                  <a:pt x="470535" y="69723"/>
                </a:lnTo>
                <a:lnTo>
                  <a:pt x="470535" y="78994"/>
                </a:lnTo>
                <a:lnTo>
                  <a:pt x="478282" y="94996"/>
                </a:lnTo>
                <a:lnTo>
                  <a:pt x="480568" y="97409"/>
                </a:lnTo>
                <a:lnTo>
                  <a:pt x="483108" y="99314"/>
                </a:lnTo>
                <a:lnTo>
                  <a:pt x="486156" y="100838"/>
                </a:lnTo>
                <a:lnTo>
                  <a:pt x="489077" y="102362"/>
                </a:lnTo>
                <a:lnTo>
                  <a:pt x="491998" y="103632"/>
                </a:lnTo>
                <a:lnTo>
                  <a:pt x="495046" y="104648"/>
                </a:lnTo>
                <a:lnTo>
                  <a:pt x="498094" y="105791"/>
                </a:lnTo>
                <a:lnTo>
                  <a:pt x="501142" y="106680"/>
                </a:lnTo>
                <a:lnTo>
                  <a:pt x="506984" y="108458"/>
                </a:lnTo>
                <a:lnTo>
                  <a:pt x="509651" y="109347"/>
                </a:lnTo>
                <a:lnTo>
                  <a:pt x="511937" y="110363"/>
                </a:lnTo>
                <a:lnTo>
                  <a:pt x="514223" y="111252"/>
                </a:lnTo>
                <a:lnTo>
                  <a:pt x="516001" y="112522"/>
                </a:lnTo>
                <a:lnTo>
                  <a:pt x="518922" y="115189"/>
                </a:lnTo>
                <a:lnTo>
                  <a:pt x="519557" y="116840"/>
                </a:lnTo>
                <a:lnTo>
                  <a:pt x="519493" y="120396"/>
                </a:lnTo>
                <a:lnTo>
                  <a:pt x="519404" y="120777"/>
                </a:lnTo>
                <a:lnTo>
                  <a:pt x="519303" y="121285"/>
                </a:lnTo>
                <a:lnTo>
                  <a:pt x="508889" y="128143"/>
                </a:lnTo>
                <a:lnTo>
                  <a:pt x="502920" y="128143"/>
                </a:lnTo>
                <a:lnTo>
                  <a:pt x="501053" y="127889"/>
                </a:lnTo>
                <a:lnTo>
                  <a:pt x="500443" y="127889"/>
                </a:lnTo>
                <a:lnTo>
                  <a:pt x="497840" y="126873"/>
                </a:lnTo>
                <a:lnTo>
                  <a:pt x="495554" y="126111"/>
                </a:lnTo>
                <a:lnTo>
                  <a:pt x="493649" y="125222"/>
                </a:lnTo>
                <a:lnTo>
                  <a:pt x="492086" y="124333"/>
                </a:lnTo>
                <a:lnTo>
                  <a:pt x="490220" y="123317"/>
                </a:lnTo>
                <a:lnTo>
                  <a:pt x="488696" y="122428"/>
                </a:lnTo>
                <a:lnTo>
                  <a:pt x="487172" y="121666"/>
                </a:lnTo>
                <a:lnTo>
                  <a:pt x="485775" y="120777"/>
                </a:lnTo>
                <a:lnTo>
                  <a:pt x="484124" y="120396"/>
                </a:lnTo>
                <a:lnTo>
                  <a:pt x="480314" y="120396"/>
                </a:lnTo>
                <a:lnTo>
                  <a:pt x="478790" y="120777"/>
                </a:lnTo>
                <a:lnTo>
                  <a:pt x="467106" y="136271"/>
                </a:lnTo>
                <a:lnTo>
                  <a:pt x="469138" y="138176"/>
                </a:lnTo>
                <a:lnTo>
                  <a:pt x="501269" y="149352"/>
                </a:lnTo>
                <a:lnTo>
                  <a:pt x="511937" y="149352"/>
                </a:lnTo>
                <a:lnTo>
                  <a:pt x="545985" y="128143"/>
                </a:lnTo>
                <a:lnTo>
                  <a:pt x="548005" y="123571"/>
                </a:lnTo>
                <a:lnTo>
                  <a:pt x="549021" y="118745"/>
                </a:lnTo>
                <a:lnTo>
                  <a:pt x="549021" y="109347"/>
                </a:lnTo>
                <a:close/>
              </a:path>
              <a:path w="1146175" h="184150">
                <a:moveTo>
                  <a:pt x="655574" y="42545"/>
                </a:moveTo>
                <a:lnTo>
                  <a:pt x="624205" y="42545"/>
                </a:lnTo>
                <a:lnTo>
                  <a:pt x="624205" y="117475"/>
                </a:lnTo>
                <a:lnTo>
                  <a:pt x="621411" y="120015"/>
                </a:lnTo>
                <a:lnTo>
                  <a:pt x="618490" y="122047"/>
                </a:lnTo>
                <a:lnTo>
                  <a:pt x="612394" y="124841"/>
                </a:lnTo>
                <a:lnTo>
                  <a:pt x="609219" y="125603"/>
                </a:lnTo>
                <a:lnTo>
                  <a:pt x="601091" y="125603"/>
                </a:lnTo>
                <a:lnTo>
                  <a:pt x="597662" y="124206"/>
                </a:lnTo>
                <a:lnTo>
                  <a:pt x="592963" y="118491"/>
                </a:lnTo>
                <a:lnTo>
                  <a:pt x="591820" y="114427"/>
                </a:lnTo>
                <a:lnTo>
                  <a:pt x="591820" y="42545"/>
                </a:lnTo>
                <a:lnTo>
                  <a:pt x="560324" y="42545"/>
                </a:lnTo>
                <a:lnTo>
                  <a:pt x="560324" y="115062"/>
                </a:lnTo>
                <a:lnTo>
                  <a:pt x="561022" y="120015"/>
                </a:lnTo>
                <a:lnTo>
                  <a:pt x="590296" y="149352"/>
                </a:lnTo>
                <a:lnTo>
                  <a:pt x="599440" y="149352"/>
                </a:lnTo>
                <a:lnTo>
                  <a:pt x="620268" y="141605"/>
                </a:lnTo>
                <a:lnTo>
                  <a:pt x="622427" y="140081"/>
                </a:lnTo>
                <a:lnTo>
                  <a:pt x="624459" y="138303"/>
                </a:lnTo>
                <a:lnTo>
                  <a:pt x="626491" y="136271"/>
                </a:lnTo>
                <a:lnTo>
                  <a:pt x="628396" y="142367"/>
                </a:lnTo>
                <a:lnTo>
                  <a:pt x="629666" y="145923"/>
                </a:lnTo>
                <a:lnTo>
                  <a:pt x="632206" y="147701"/>
                </a:lnTo>
                <a:lnTo>
                  <a:pt x="655574" y="147701"/>
                </a:lnTo>
                <a:lnTo>
                  <a:pt x="655574" y="136271"/>
                </a:lnTo>
                <a:lnTo>
                  <a:pt x="655574" y="125603"/>
                </a:lnTo>
                <a:lnTo>
                  <a:pt x="655574" y="42545"/>
                </a:lnTo>
                <a:close/>
              </a:path>
              <a:path w="1146175" h="184150">
                <a:moveTo>
                  <a:pt x="746379" y="43942"/>
                </a:moveTo>
                <a:lnTo>
                  <a:pt x="743458" y="41656"/>
                </a:lnTo>
                <a:lnTo>
                  <a:pt x="739648" y="40513"/>
                </a:lnTo>
                <a:lnTo>
                  <a:pt x="729107" y="40513"/>
                </a:lnTo>
                <a:lnTo>
                  <a:pt x="706120" y="59817"/>
                </a:lnTo>
                <a:lnTo>
                  <a:pt x="704469" y="49911"/>
                </a:lnTo>
                <a:lnTo>
                  <a:pt x="704316" y="49149"/>
                </a:lnTo>
                <a:lnTo>
                  <a:pt x="704215" y="48641"/>
                </a:lnTo>
                <a:lnTo>
                  <a:pt x="703834" y="47498"/>
                </a:lnTo>
                <a:lnTo>
                  <a:pt x="703453" y="46482"/>
                </a:lnTo>
                <a:lnTo>
                  <a:pt x="703122" y="45720"/>
                </a:lnTo>
                <a:lnTo>
                  <a:pt x="703072" y="45593"/>
                </a:lnTo>
                <a:lnTo>
                  <a:pt x="698119" y="42672"/>
                </a:lnTo>
                <a:lnTo>
                  <a:pt x="676656" y="42672"/>
                </a:lnTo>
                <a:lnTo>
                  <a:pt x="676656" y="147701"/>
                </a:lnTo>
                <a:lnTo>
                  <a:pt x="708025" y="147701"/>
                </a:lnTo>
                <a:lnTo>
                  <a:pt x="708025" y="83185"/>
                </a:lnTo>
                <a:lnTo>
                  <a:pt x="712851" y="74422"/>
                </a:lnTo>
                <a:lnTo>
                  <a:pt x="719137" y="70104"/>
                </a:lnTo>
                <a:lnTo>
                  <a:pt x="730872" y="70104"/>
                </a:lnTo>
                <a:lnTo>
                  <a:pt x="731901" y="70231"/>
                </a:lnTo>
                <a:lnTo>
                  <a:pt x="736346" y="70993"/>
                </a:lnTo>
                <a:lnTo>
                  <a:pt x="738886" y="70993"/>
                </a:lnTo>
                <a:lnTo>
                  <a:pt x="743572" y="59817"/>
                </a:lnTo>
                <a:lnTo>
                  <a:pt x="746379" y="43942"/>
                </a:lnTo>
                <a:close/>
              </a:path>
              <a:path w="1146175" h="184150">
                <a:moveTo>
                  <a:pt x="849884" y="45847"/>
                </a:moveTo>
                <a:lnTo>
                  <a:pt x="818134" y="45847"/>
                </a:lnTo>
                <a:lnTo>
                  <a:pt x="814705" y="44196"/>
                </a:lnTo>
                <a:lnTo>
                  <a:pt x="811149" y="42926"/>
                </a:lnTo>
                <a:lnTo>
                  <a:pt x="809371" y="42532"/>
                </a:lnTo>
                <a:lnTo>
                  <a:pt x="809371" y="71374"/>
                </a:lnTo>
                <a:lnTo>
                  <a:pt x="809371" y="79756"/>
                </a:lnTo>
                <a:lnTo>
                  <a:pt x="808101" y="83058"/>
                </a:lnTo>
                <a:lnTo>
                  <a:pt x="805815" y="85725"/>
                </a:lnTo>
                <a:lnTo>
                  <a:pt x="803529" y="88265"/>
                </a:lnTo>
                <a:lnTo>
                  <a:pt x="799719" y="89535"/>
                </a:lnTo>
                <a:lnTo>
                  <a:pt x="791972" y="89535"/>
                </a:lnTo>
                <a:lnTo>
                  <a:pt x="789813" y="89281"/>
                </a:lnTo>
                <a:lnTo>
                  <a:pt x="787908" y="88519"/>
                </a:lnTo>
                <a:lnTo>
                  <a:pt x="786003" y="87884"/>
                </a:lnTo>
                <a:lnTo>
                  <a:pt x="784479" y="86868"/>
                </a:lnTo>
                <a:lnTo>
                  <a:pt x="783437" y="85725"/>
                </a:lnTo>
                <a:lnTo>
                  <a:pt x="782066" y="84328"/>
                </a:lnTo>
                <a:lnTo>
                  <a:pt x="781253" y="83058"/>
                </a:lnTo>
                <a:lnTo>
                  <a:pt x="780580" y="81280"/>
                </a:lnTo>
                <a:lnTo>
                  <a:pt x="780224" y="80137"/>
                </a:lnTo>
                <a:lnTo>
                  <a:pt x="780110" y="79756"/>
                </a:lnTo>
                <a:lnTo>
                  <a:pt x="780034" y="79502"/>
                </a:lnTo>
                <a:lnTo>
                  <a:pt x="779780" y="77597"/>
                </a:lnTo>
                <a:lnTo>
                  <a:pt x="779780" y="71374"/>
                </a:lnTo>
                <a:lnTo>
                  <a:pt x="780923" y="68072"/>
                </a:lnTo>
                <a:lnTo>
                  <a:pt x="783209" y="65532"/>
                </a:lnTo>
                <a:lnTo>
                  <a:pt x="785495" y="63246"/>
                </a:lnTo>
                <a:lnTo>
                  <a:pt x="785202" y="63246"/>
                </a:lnTo>
                <a:lnTo>
                  <a:pt x="789305" y="61976"/>
                </a:lnTo>
                <a:lnTo>
                  <a:pt x="799719" y="61976"/>
                </a:lnTo>
                <a:lnTo>
                  <a:pt x="803948" y="63246"/>
                </a:lnTo>
                <a:lnTo>
                  <a:pt x="803643" y="63246"/>
                </a:lnTo>
                <a:lnTo>
                  <a:pt x="805815" y="65532"/>
                </a:lnTo>
                <a:lnTo>
                  <a:pt x="808101" y="68072"/>
                </a:lnTo>
                <a:lnTo>
                  <a:pt x="809371" y="71374"/>
                </a:lnTo>
                <a:lnTo>
                  <a:pt x="809371" y="42532"/>
                </a:lnTo>
                <a:lnTo>
                  <a:pt x="803148" y="41148"/>
                </a:lnTo>
                <a:lnTo>
                  <a:pt x="798957" y="40767"/>
                </a:lnTo>
                <a:lnTo>
                  <a:pt x="788416" y="40767"/>
                </a:lnTo>
                <a:lnTo>
                  <a:pt x="782701" y="41529"/>
                </a:lnTo>
                <a:lnTo>
                  <a:pt x="777367" y="43180"/>
                </a:lnTo>
                <a:lnTo>
                  <a:pt x="772160" y="44704"/>
                </a:lnTo>
                <a:lnTo>
                  <a:pt x="754507" y="60706"/>
                </a:lnTo>
                <a:lnTo>
                  <a:pt x="752221" y="64897"/>
                </a:lnTo>
                <a:lnTo>
                  <a:pt x="751205" y="69596"/>
                </a:lnTo>
                <a:lnTo>
                  <a:pt x="751205" y="81280"/>
                </a:lnTo>
                <a:lnTo>
                  <a:pt x="752729" y="86868"/>
                </a:lnTo>
                <a:lnTo>
                  <a:pt x="755904" y="91567"/>
                </a:lnTo>
                <a:lnTo>
                  <a:pt x="758952" y="96393"/>
                </a:lnTo>
                <a:lnTo>
                  <a:pt x="763270" y="100330"/>
                </a:lnTo>
                <a:lnTo>
                  <a:pt x="768731" y="103124"/>
                </a:lnTo>
                <a:lnTo>
                  <a:pt x="766318" y="104267"/>
                </a:lnTo>
                <a:lnTo>
                  <a:pt x="755650" y="116840"/>
                </a:lnTo>
                <a:lnTo>
                  <a:pt x="755103" y="118237"/>
                </a:lnTo>
                <a:lnTo>
                  <a:pt x="755015" y="118491"/>
                </a:lnTo>
                <a:lnTo>
                  <a:pt x="754913" y="119126"/>
                </a:lnTo>
                <a:lnTo>
                  <a:pt x="754849" y="125730"/>
                </a:lnTo>
                <a:lnTo>
                  <a:pt x="755523" y="128524"/>
                </a:lnTo>
                <a:lnTo>
                  <a:pt x="758317" y="133350"/>
                </a:lnTo>
                <a:lnTo>
                  <a:pt x="760222" y="135382"/>
                </a:lnTo>
                <a:lnTo>
                  <a:pt x="762635" y="136906"/>
                </a:lnTo>
                <a:lnTo>
                  <a:pt x="757682" y="138684"/>
                </a:lnTo>
                <a:lnTo>
                  <a:pt x="753745" y="141224"/>
                </a:lnTo>
                <a:lnTo>
                  <a:pt x="750951" y="144399"/>
                </a:lnTo>
                <a:lnTo>
                  <a:pt x="748157" y="147701"/>
                </a:lnTo>
                <a:lnTo>
                  <a:pt x="746633" y="151638"/>
                </a:lnTo>
                <a:lnTo>
                  <a:pt x="746734" y="160274"/>
                </a:lnTo>
                <a:lnTo>
                  <a:pt x="779145" y="183007"/>
                </a:lnTo>
                <a:lnTo>
                  <a:pt x="786257" y="183896"/>
                </a:lnTo>
                <a:lnTo>
                  <a:pt x="802894" y="183896"/>
                </a:lnTo>
                <a:lnTo>
                  <a:pt x="810387" y="182753"/>
                </a:lnTo>
                <a:lnTo>
                  <a:pt x="816864" y="180594"/>
                </a:lnTo>
                <a:lnTo>
                  <a:pt x="823341" y="178562"/>
                </a:lnTo>
                <a:lnTo>
                  <a:pt x="842251" y="162306"/>
                </a:lnTo>
                <a:lnTo>
                  <a:pt x="843724" y="159385"/>
                </a:lnTo>
                <a:lnTo>
                  <a:pt x="845616" y="155702"/>
                </a:lnTo>
                <a:lnTo>
                  <a:pt x="845807" y="155067"/>
                </a:lnTo>
                <a:lnTo>
                  <a:pt x="846836" y="150876"/>
                </a:lnTo>
                <a:lnTo>
                  <a:pt x="846836" y="141986"/>
                </a:lnTo>
                <a:lnTo>
                  <a:pt x="846836" y="141224"/>
                </a:lnTo>
                <a:lnTo>
                  <a:pt x="845947" y="136906"/>
                </a:lnTo>
                <a:lnTo>
                  <a:pt x="842137" y="130302"/>
                </a:lnTo>
                <a:lnTo>
                  <a:pt x="839724" y="127635"/>
                </a:lnTo>
                <a:lnTo>
                  <a:pt x="836676" y="125730"/>
                </a:lnTo>
                <a:lnTo>
                  <a:pt x="833628" y="123698"/>
                </a:lnTo>
                <a:lnTo>
                  <a:pt x="830199" y="122301"/>
                </a:lnTo>
                <a:lnTo>
                  <a:pt x="822325" y="120523"/>
                </a:lnTo>
                <a:lnTo>
                  <a:pt x="818388" y="119888"/>
                </a:lnTo>
                <a:lnTo>
                  <a:pt x="817880" y="119849"/>
                </a:lnTo>
                <a:lnTo>
                  <a:pt x="817880" y="149606"/>
                </a:lnTo>
                <a:lnTo>
                  <a:pt x="817880" y="152908"/>
                </a:lnTo>
                <a:lnTo>
                  <a:pt x="813181" y="159131"/>
                </a:lnTo>
                <a:lnTo>
                  <a:pt x="811314" y="160274"/>
                </a:lnTo>
                <a:lnTo>
                  <a:pt x="811149" y="160274"/>
                </a:lnTo>
                <a:lnTo>
                  <a:pt x="808863" y="161036"/>
                </a:lnTo>
                <a:lnTo>
                  <a:pt x="808507" y="161036"/>
                </a:lnTo>
                <a:lnTo>
                  <a:pt x="802665" y="162052"/>
                </a:lnTo>
                <a:lnTo>
                  <a:pt x="802170" y="162052"/>
                </a:lnTo>
                <a:lnTo>
                  <a:pt x="799719" y="162306"/>
                </a:lnTo>
                <a:lnTo>
                  <a:pt x="790956" y="162306"/>
                </a:lnTo>
                <a:lnTo>
                  <a:pt x="787527" y="162052"/>
                </a:lnTo>
                <a:lnTo>
                  <a:pt x="782066" y="161036"/>
                </a:lnTo>
                <a:lnTo>
                  <a:pt x="779780" y="160274"/>
                </a:lnTo>
                <a:lnTo>
                  <a:pt x="778256" y="159385"/>
                </a:lnTo>
                <a:lnTo>
                  <a:pt x="776605" y="158496"/>
                </a:lnTo>
                <a:lnTo>
                  <a:pt x="775462" y="157480"/>
                </a:lnTo>
                <a:lnTo>
                  <a:pt x="774827" y="156210"/>
                </a:lnTo>
                <a:lnTo>
                  <a:pt x="774192" y="155067"/>
                </a:lnTo>
                <a:lnTo>
                  <a:pt x="773811" y="153670"/>
                </a:lnTo>
                <a:lnTo>
                  <a:pt x="773811" y="150114"/>
                </a:lnTo>
                <a:lnTo>
                  <a:pt x="774446" y="148209"/>
                </a:lnTo>
                <a:lnTo>
                  <a:pt x="776986" y="144907"/>
                </a:lnTo>
                <a:lnTo>
                  <a:pt x="778637" y="143383"/>
                </a:lnTo>
                <a:lnTo>
                  <a:pt x="780542" y="141986"/>
                </a:lnTo>
                <a:lnTo>
                  <a:pt x="783463" y="142621"/>
                </a:lnTo>
                <a:lnTo>
                  <a:pt x="787844" y="143002"/>
                </a:lnTo>
                <a:lnTo>
                  <a:pt x="803275" y="143002"/>
                </a:lnTo>
                <a:lnTo>
                  <a:pt x="806881" y="143383"/>
                </a:lnTo>
                <a:lnTo>
                  <a:pt x="806488" y="143383"/>
                </a:lnTo>
                <a:lnTo>
                  <a:pt x="808101" y="143637"/>
                </a:lnTo>
                <a:lnTo>
                  <a:pt x="810260" y="144018"/>
                </a:lnTo>
                <a:lnTo>
                  <a:pt x="813816" y="145288"/>
                </a:lnTo>
                <a:lnTo>
                  <a:pt x="815213" y="146050"/>
                </a:lnTo>
                <a:lnTo>
                  <a:pt x="816229" y="147193"/>
                </a:lnTo>
                <a:lnTo>
                  <a:pt x="817372" y="148209"/>
                </a:lnTo>
                <a:lnTo>
                  <a:pt x="817880" y="149606"/>
                </a:lnTo>
                <a:lnTo>
                  <a:pt x="817880" y="119849"/>
                </a:lnTo>
                <a:lnTo>
                  <a:pt x="810260" y="119126"/>
                </a:lnTo>
                <a:lnTo>
                  <a:pt x="796912" y="119126"/>
                </a:lnTo>
                <a:lnTo>
                  <a:pt x="791845" y="118491"/>
                </a:lnTo>
                <a:lnTo>
                  <a:pt x="788797" y="118237"/>
                </a:lnTo>
                <a:lnTo>
                  <a:pt x="786384" y="117729"/>
                </a:lnTo>
                <a:lnTo>
                  <a:pt x="784606" y="116840"/>
                </a:lnTo>
                <a:lnTo>
                  <a:pt x="782701" y="116078"/>
                </a:lnTo>
                <a:lnTo>
                  <a:pt x="781812" y="114808"/>
                </a:lnTo>
                <a:lnTo>
                  <a:pt x="781812" y="111252"/>
                </a:lnTo>
                <a:lnTo>
                  <a:pt x="782955" y="109728"/>
                </a:lnTo>
                <a:lnTo>
                  <a:pt x="785241" y="108331"/>
                </a:lnTo>
                <a:lnTo>
                  <a:pt x="788162" y="108712"/>
                </a:lnTo>
                <a:lnTo>
                  <a:pt x="791210" y="108966"/>
                </a:lnTo>
                <a:lnTo>
                  <a:pt x="800481" y="108966"/>
                </a:lnTo>
                <a:lnTo>
                  <a:pt x="805129" y="108331"/>
                </a:lnTo>
                <a:lnTo>
                  <a:pt x="806069" y="108204"/>
                </a:lnTo>
                <a:lnTo>
                  <a:pt x="811276" y="106553"/>
                </a:lnTo>
                <a:lnTo>
                  <a:pt x="816483" y="105029"/>
                </a:lnTo>
                <a:lnTo>
                  <a:pt x="820928" y="102743"/>
                </a:lnTo>
                <a:lnTo>
                  <a:pt x="828548" y="96901"/>
                </a:lnTo>
                <a:lnTo>
                  <a:pt x="831596" y="93218"/>
                </a:lnTo>
                <a:lnTo>
                  <a:pt x="833488" y="89535"/>
                </a:lnTo>
                <a:lnTo>
                  <a:pt x="833755" y="89027"/>
                </a:lnTo>
                <a:lnTo>
                  <a:pt x="836041" y="84963"/>
                </a:lnTo>
                <a:lnTo>
                  <a:pt x="837057" y="80137"/>
                </a:lnTo>
                <a:lnTo>
                  <a:pt x="837018" y="71374"/>
                </a:lnTo>
                <a:lnTo>
                  <a:pt x="836676" y="68453"/>
                </a:lnTo>
                <a:lnTo>
                  <a:pt x="835660" y="65532"/>
                </a:lnTo>
                <a:lnTo>
                  <a:pt x="845693" y="63246"/>
                </a:lnTo>
                <a:lnTo>
                  <a:pt x="847471" y="62484"/>
                </a:lnTo>
                <a:lnTo>
                  <a:pt x="847915" y="61976"/>
                </a:lnTo>
                <a:lnTo>
                  <a:pt x="848360" y="61468"/>
                </a:lnTo>
                <a:lnTo>
                  <a:pt x="849376" y="60452"/>
                </a:lnTo>
                <a:lnTo>
                  <a:pt x="849884" y="59055"/>
                </a:lnTo>
                <a:lnTo>
                  <a:pt x="849884" y="45847"/>
                </a:lnTo>
                <a:close/>
              </a:path>
              <a:path w="1146175" h="184150">
                <a:moveTo>
                  <a:pt x="951738" y="81534"/>
                </a:moveTo>
                <a:lnTo>
                  <a:pt x="950658" y="75184"/>
                </a:lnTo>
                <a:lnTo>
                  <a:pt x="950595" y="74803"/>
                </a:lnTo>
                <a:lnTo>
                  <a:pt x="948309" y="68707"/>
                </a:lnTo>
                <a:lnTo>
                  <a:pt x="923544" y="44183"/>
                </a:lnTo>
                <a:lnTo>
                  <a:pt x="923544" y="82550"/>
                </a:lnTo>
                <a:lnTo>
                  <a:pt x="884428" y="82550"/>
                </a:lnTo>
                <a:lnTo>
                  <a:pt x="885444" y="76073"/>
                </a:lnTo>
                <a:lnTo>
                  <a:pt x="887730" y="71120"/>
                </a:lnTo>
                <a:lnTo>
                  <a:pt x="894461" y="64389"/>
                </a:lnTo>
                <a:lnTo>
                  <a:pt x="898817" y="62738"/>
                </a:lnTo>
                <a:lnTo>
                  <a:pt x="909104" y="62738"/>
                </a:lnTo>
                <a:lnTo>
                  <a:pt x="923544" y="82550"/>
                </a:lnTo>
                <a:lnTo>
                  <a:pt x="923544" y="44183"/>
                </a:lnTo>
                <a:lnTo>
                  <a:pt x="917829" y="42037"/>
                </a:lnTo>
                <a:lnTo>
                  <a:pt x="911479" y="40894"/>
                </a:lnTo>
                <a:lnTo>
                  <a:pt x="896493" y="40894"/>
                </a:lnTo>
                <a:lnTo>
                  <a:pt x="889254" y="42291"/>
                </a:lnTo>
                <a:lnTo>
                  <a:pt x="876554" y="47879"/>
                </a:lnTo>
                <a:lnTo>
                  <a:pt x="871093" y="51562"/>
                </a:lnTo>
                <a:lnTo>
                  <a:pt x="866648" y="56388"/>
                </a:lnTo>
                <a:lnTo>
                  <a:pt x="862076" y="61087"/>
                </a:lnTo>
                <a:lnTo>
                  <a:pt x="858647" y="66548"/>
                </a:lnTo>
                <a:lnTo>
                  <a:pt x="856234" y="72898"/>
                </a:lnTo>
                <a:lnTo>
                  <a:pt x="853821" y="79121"/>
                </a:lnTo>
                <a:lnTo>
                  <a:pt x="852678" y="85852"/>
                </a:lnTo>
                <a:lnTo>
                  <a:pt x="852678" y="102108"/>
                </a:lnTo>
                <a:lnTo>
                  <a:pt x="873125" y="139700"/>
                </a:lnTo>
                <a:lnTo>
                  <a:pt x="898652" y="149352"/>
                </a:lnTo>
                <a:lnTo>
                  <a:pt x="909574" y="149352"/>
                </a:lnTo>
                <a:lnTo>
                  <a:pt x="947928" y="135001"/>
                </a:lnTo>
                <a:lnTo>
                  <a:pt x="951103" y="131191"/>
                </a:lnTo>
                <a:lnTo>
                  <a:pt x="946696" y="125730"/>
                </a:lnTo>
                <a:lnTo>
                  <a:pt x="942086" y="120015"/>
                </a:lnTo>
                <a:lnTo>
                  <a:pt x="940816" y="118237"/>
                </a:lnTo>
                <a:lnTo>
                  <a:pt x="938911" y="117221"/>
                </a:lnTo>
                <a:lnTo>
                  <a:pt x="934466" y="117221"/>
                </a:lnTo>
                <a:lnTo>
                  <a:pt x="932688" y="117729"/>
                </a:lnTo>
                <a:lnTo>
                  <a:pt x="930910" y="118618"/>
                </a:lnTo>
                <a:lnTo>
                  <a:pt x="929259" y="119507"/>
                </a:lnTo>
                <a:lnTo>
                  <a:pt x="927354" y="120396"/>
                </a:lnTo>
                <a:lnTo>
                  <a:pt x="912495" y="125730"/>
                </a:lnTo>
                <a:lnTo>
                  <a:pt x="901954" y="125730"/>
                </a:lnTo>
                <a:lnTo>
                  <a:pt x="896366" y="123825"/>
                </a:lnTo>
                <a:lnTo>
                  <a:pt x="887730" y="115951"/>
                </a:lnTo>
                <a:lnTo>
                  <a:pt x="885063" y="109474"/>
                </a:lnTo>
                <a:lnTo>
                  <a:pt x="884047" y="100711"/>
                </a:lnTo>
                <a:lnTo>
                  <a:pt x="946988" y="100711"/>
                </a:lnTo>
                <a:lnTo>
                  <a:pt x="948182" y="100203"/>
                </a:lnTo>
                <a:lnTo>
                  <a:pt x="951725" y="82550"/>
                </a:lnTo>
                <a:lnTo>
                  <a:pt x="951738" y="81534"/>
                </a:lnTo>
                <a:close/>
              </a:path>
              <a:path w="1146175" h="184150">
                <a:moveTo>
                  <a:pt x="1146111" y="42672"/>
                </a:moveTo>
                <a:lnTo>
                  <a:pt x="1118552" y="42672"/>
                </a:lnTo>
                <a:lnTo>
                  <a:pt x="1117219" y="43053"/>
                </a:lnTo>
                <a:lnTo>
                  <a:pt x="1115695" y="44196"/>
                </a:lnTo>
                <a:lnTo>
                  <a:pt x="1114044" y="45212"/>
                </a:lnTo>
                <a:lnTo>
                  <a:pt x="1113739" y="45593"/>
                </a:lnTo>
                <a:lnTo>
                  <a:pt x="1112977" y="46609"/>
                </a:lnTo>
                <a:lnTo>
                  <a:pt x="1112520" y="48006"/>
                </a:lnTo>
                <a:lnTo>
                  <a:pt x="1096899" y="93091"/>
                </a:lnTo>
                <a:lnTo>
                  <a:pt x="1095311" y="97536"/>
                </a:lnTo>
                <a:lnTo>
                  <a:pt x="1094486" y="99568"/>
                </a:lnTo>
                <a:lnTo>
                  <a:pt x="1093673" y="101727"/>
                </a:lnTo>
                <a:lnTo>
                  <a:pt x="1092962" y="103759"/>
                </a:lnTo>
                <a:lnTo>
                  <a:pt x="1092327" y="105918"/>
                </a:lnTo>
                <a:lnTo>
                  <a:pt x="1091311" y="101727"/>
                </a:lnTo>
                <a:lnTo>
                  <a:pt x="1089914" y="97536"/>
                </a:lnTo>
                <a:lnTo>
                  <a:pt x="1088390" y="93345"/>
                </a:lnTo>
                <a:lnTo>
                  <a:pt x="1071118" y="48006"/>
                </a:lnTo>
                <a:lnTo>
                  <a:pt x="1070610" y="46609"/>
                </a:lnTo>
                <a:lnTo>
                  <a:pt x="1069594" y="45212"/>
                </a:lnTo>
                <a:lnTo>
                  <a:pt x="1069111" y="44831"/>
                </a:lnTo>
                <a:lnTo>
                  <a:pt x="1067701" y="43688"/>
                </a:lnTo>
                <a:lnTo>
                  <a:pt x="1066927" y="43053"/>
                </a:lnTo>
                <a:lnTo>
                  <a:pt x="1065491" y="42672"/>
                </a:lnTo>
                <a:lnTo>
                  <a:pt x="1034859" y="42672"/>
                </a:lnTo>
                <a:lnTo>
                  <a:pt x="1035304" y="43573"/>
                </a:lnTo>
                <a:lnTo>
                  <a:pt x="1033856" y="42672"/>
                </a:lnTo>
                <a:lnTo>
                  <a:pt x="1031113" y="41148"/>
                </a:lnTo>
                <a:lnTo>
                  <a:pt x="1027938" y="40513"/>
                </a:lnTo>
                <a:lnTo>
                  <a:pt x="1018667" y="40513"/>
                </a:lnTo>
                <a:lnTo>
                  <a:pt x="995680" y="59817"/>
                </a:lnTo>
                <a:lnTo>
                  <a:pt x="994029" y="49911"/>
                </a:lnTo>
                <a:lnTo>
                  <a:pt x="993876" y="49149"/>
                </a:lnTo>
                <a:lnTo>
                  <a:pt x="993775" y="48641"/>
                </a:lnTo>
                <a:lnTo>
                  <a:pt x="993394" y="47498"/>
                </a:lnTo>
                <a:lnTo>
                  <a:pt x="993051" y="46609"/>
                </a:lnTo>
                <a:lnTo>
                  <a:pt x="992682" y="45720"/>
                </a:lnTo>
                <a:lnTo>
                  <a:pt x="992632" y="45593"/>
                </a:lnTo>
                <a:lnTo>
                  <a:pt x="992124" y="44831"/>
                </a:lnTo>
                <a:lnTo>
                  <a:pt x="990727" y="43688"/>
                </a:lnTo>
                <a:lnTo>
                  <a:pt x="989838" y="43307"/>
                </a:lnTo>
                <a:lnTo>
                  <a:pt x="989152" y="43053"/>
                </a:lnTo>
                <a:lnTo>
                  <a:pt x="989393" y="43053"/>
                </a:lnTo>
                <a:lnTo>
                  <a:pt x="987679" y="42672"/>
                </a:lnTo>
                <a:lnTo>
                  <a:pt x="966216" y="42672"/>
                </a:lnTo>
                <a:lnTo>
                  <a:pt x="966216" y="147701"/>
                </a:lnTo>
                <a:lnTo>
                  <a:pt x="997585" y="147701"/>
                </a:lnTo>
                <a:lnTo>
                  <a:pt x="997585" y="83185"/>
                </a:lnTo>
                <a:lnTo>
                  <a:pt x="1002411" y="74422"/>
                </a:lnTo>
                <a:lnTo>
                  <a:pt x="1008697" y="70104"/>
                </a:lnTo>
                <a:lnTo>
                  <a:pt x="1020432" y="70104"/>
                </a:lnTo>
                <a:lnTo>
                  <a:pt x="1021461" y="70231"/>
                </a:lnTo>
                <a:lnTo>
                  <a:pt x="1025906" y="70993"/>
                </a:lnTo>
                <a:lnTo>
                  <a:pt x="1028446" y="70993"/>
                </a:lnTo>
                <a:lnTo>
                  <a:pt x="1033145" y="59817"/>
                </a:lnTo>
                <a:lnTo>
                  <a:pt x="1035646" y="45720"/>
                </a:lnTo>
                <a:lnTo>
                  <a:pt x="1035735" y="45212"/>
                </a:lnTo>
                <a:lnTo>
                  <a:pt x="1035812" y="44831"/>
                </a:lnTo>
                <a:lnTo>
                  <a:pt x="1076833" y="138430"/>
                </a:lnTo>
                <a:lnTo>
                  <a:pt x="1056513" y="180975"/>
                </a:lnTo>
                <a:lnTo>
                  <a:pt x="1083056" y="180975"/>
                </a:lnTo>
                <a:lnTo>
                  <a:pt x="1089914" y="174879"/>
                </a:lnTo>
                <a:lnTo>
                  <a:pt x="1119225" y="105918"/>
                </a:lnTo>
                <a:lnTo>
                  <a:pt x="1146111" y="42672"/>
                </a:lnTo>
                <a:close/>
              </a:path>
            </a:pathLst>
          </a:custGeom>
          <a:solidFill>
            <a:srgbClr val="3939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58379" y="1623186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2" y="0"/>
                </a:lnTo>
                <a:lnTo>
                  <a:pt x="7620" y="1524"/>
                </a:lnTo>
                <a:lnTo>
                  <a:pt x="1524" y="7620"/>
                </a:lnTo>
                <a:lnTo>
                  <a:pt x="0" y="11302"/>
                </a:lnTo>
                <a:lnTo>
                  <a:pt x="0" y="19938"/>
                </a:lnTo>
                <a:lnTo>
                  <a:pt x="1524" y="23749"/>
                </a:lnTo>
                <a:lnTo>
                  <a:pt x="7620" y="29845"/>
                </a:lnTo>
                <a:lnTo>
                  <a:pt x="11302" y="31368"/>
                </a:lnTo>
                <a:lnTo>
                  <a:pt x="19939" y="31368"/>
                </a:lnTo>
                <a:lnTo>
                  <a:pt x="23622" y="29845"/>
                </a:lnTo>
                <a:lnTo>
                  <a:pt x="29718" y="23749"/>
                </a:lnTo>
                <a:lnTo>
                  <a:pt x="31242" y="19938"/>
                </a:lnTo>
                <a:lnTo>
                  <a:pt x="31242" y="11302"/>
                </a:lnTo>
                <a:lnTo>
                  <a:pt x="29718" y="7620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137661" y="1724914"/>
            <a:ext cx="36112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PhA</a:t>
            </a:r>
            <a:r>
              <a:rPr dirty="0" sz="1200" spc="-8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is</a:t>
            </a:r>
            <a:r>
              <a:rPr dirty="0" sz="1200" spc="-6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a</a:t>
            </a:r>
            <a:r>
              <a:rPr dirty="0" sz="1200" spc="-5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valuable</a:t>
            </a:r>
            <a:r>
              <a:rPr dirty="0" sz="1200" spc="-9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predictor</a:t>
            </a:r>
            <a:r>
              <a:rPr dirty="0" sz="1200" spc="-4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postoperative</a:t>
            </a:r>
            <a:r>
              <a:rPr dirty="0" sz="1200" spc="-6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9F112C"/>
                </a:solidFill>
                <a:latin typeface="Tahoma"/>
                <a:cs typeface="Tahoma"/>
              </a:rPr>
              <a:t>outcomes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61630" y="1590039"/>
            <a:ext cx="2690876" cy="26860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7858379" y="199199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2" y="0"/>
                </a:lnTo>
                <a:lnTo>
                  <a:pt x="7620" y="1524"/>
                </a:lnTo>
                <a:lnTo>
                  <a:pt x="1524" y="7619"/>
                </a:lnTo>
                <a:lnTo>
                  <a:pt x="0" y="11302"/>
                </a:lnTo>
                <a:lnTo>
                  <a:pt x="0" y="19938"/>
                </a:lnTo>
                <a:lnTo>
                  <a:pt x="1524" y="23749"/>
                </a:lnTo>
                <a:lnTo>
                  <a:pt x="7620" y="29844"/>
                </a:lnTo>
                <a:lnTo>
                  <a:pt x="11302" y="31368"/>
                </a:lnTo>
                <a:lnTo>
                  <a:pt x="19939" y="31368"/>
                </a:lnTo>
                <a:lnTo>
                  <a:pt x="23622" y="29844"/>
                </a:lnTo>
                <a:lnTo>
                  <a:pt x="29718" y="23749"/>
                </a:lnTo>
                <a:lnTo>
                  <a:pt x="31242" y="19938"/>
                </a:lnTo>
                <a:lnTo>
                  <a:pt x="31242" y="11302"/>
                </a:lnTo>
                <a:lnTo>
                  <a:pt x="29718" y="7619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70011" y="1953895"/>
            <a:ext cx="2776777" cy="12115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02179" y="2594726"/>
            <a:ext cx="3066993" cy="729117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121407" y="3447261"/>
            <a:ext cx="3775075" cy="2214880"/>
            <a:chOff x="2121407" y="3447261"/>
            <a:chExt cx="3775075" cy="221488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7212" y="3447261"/>
              <a:ext cx="3720499" cy="22144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131313" y="3614166"/>
              <a:ext cx="3755390" cy="424180"/>
            </a:xfrm>
            <a:custGeom>
              <a:avLst/>
              <a:gdLst/>
              <a:ahLst/>
              <a:cxnLst/>
              <a:rect l="l" t="t" r="r" b="b"/>
              <a:pathLst>
                <a:path w="3755390" h="424179">
                  <a:moveTo>
                    <a:pt x="135636" y="0"/>
                  </a:moveTo>
                  <a:lnTo>
                    <a:pt x="3743452" y="1650"/>
                  </a:lnTo>
                </a:path>
                <a:path w="3755390" h="424179">
                  <a:moveTo>
                    <a:pt x="4572" y="225551"/>
                  </a:moveTo>
                  <a:lnTo>
                    <a:pt x="3755009" y="231139"/>
                  </a:lnTo>
                </a:path>
                <a:path w="3755390" h="424179">
                  <a:moveTo>
                    <a:pt x="0" y="422147"/>
                  </a:moveTo>
                  <a:lnTo>
                    <a:pt x="1423035" y="423798"/>
                  </a:lnTo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66848" y="5820664"/>
            <a:ext cx="2606690" cy="14465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6264980" y="2473451"/>
            <a:ext cx="3522345" cy="3441065"/>
            <a:chOff x="6264980" y="2473451"/>
            <a:chExt cx="3522345" cy="3441065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64980" y="2529792"/>
              <a:ext cx="3522232" cy="338466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02373" y="2483357"/>
              <a:ext cx="1842770" cy="175260"/>
            </a:xfrm>
            <a:custGeom>
              <a:avLst/>
              <a:gdLst/>
              <a:ahLst/>
              <a:cxnLst/>
              <a:rect l="l" t="t" r="r" b="b"/>
              <a:pathLst>
                <a:path w="1842770" h="175260">
                  <a:moveTo>
                    <a:pt x="0" y="175260"/>
                  </a:moveTo>
                  <a:lnTo>
                    <a:pt x="1842516" y="175260"/>
                  </a:lnTo>
                  <a:lnTo>
                    <a:pt x="1842516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7685"/>
            <a:ext cx="273050" cy="988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604" y="1050289"/>
            <a:ext cx="1023162" cy="186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53058" y="1421637"/>
            <a:ext cx="1146175" cy="184150"/>
          </a:xfrm>
          <a:custGeom>
            <a:avLst/>
            <a:gdLst/>
            <a:ahLst/>
            <a:cxnLst/>
            <a:rect l="l" t="t" r="r" b="b"/>
            <a:pathLst>
              <a:path w="1146175" h="184150">
                <a:moveTo>
                  <a:pt x="111506" y="41402"/>
                </a:moveTo>
                <a:lnTo>
                  <a:pt x="110363" y="35052"/>
                </a:lnTo>
                <a:lnTo>
                  <a:pt x="106680" y="25654"/>
                </a:lnTo>
                <a:lnTo>
                  <a:pt x="105791" y="23368"/>
                </a:lnTo>
                <a:lnTo>
                  <a:pt x="77216" y="3238"/>
                </a:lnTo>
                <a:lnTo>
                  <a:pt x="77216" y="44831"/>
                </a:lnTo>
                <a:lnTo>
                  <a:pt x="77216" y="55880"/>
                </a:lnTo>
                <a:lnTo>
                  <a:pt x="75311" y="61849"/>
                </a:lnTo>
                <a:lnTo>
                  <a:pt x="71374" y="66040"/>
                </a:lnTo>
                <a:lnTo>
                  <a:pt x="67437" y="70358"/>
                </a:lnTo>
                <a:lnTo>
                  <a:pt x="60960" y="72517"/>
                </a:lnTo>
                <a:lnTo>
                  <a:pt x="34290" y="72517"/>
                </a:lnTo>
                <a:lnTo>
                  <a:pt x="34290" y="25654"/>
                </a:lnTo>
                <a:lnTo>
                  <a:pt x="56388" y="25654"/>
                </a:lnTo>
                <a:lnTo>
                  <a:pt x="60198" y="26162"/>
                </a:lnTo>
                <a:lnTo>
                  <a:pt x="63246" y="27305"/>
                </a:lnTo>
                <a:lnTo>
                  <a:pt x="66421" y="28321"/>
                </a:lnTo>
                <a:lnTo>
                  <a:pt x="77216" y="44831"/>
                </a:lnTo>
                <a:lnTo>
                  <a:pt x="77216" y="3238"/>
                </a:lnTo>
                <a:lnTo>
                  <a:pt x="73025" y="2095"/>
                </a:lnTo>
                <a:lnTo>
                  <a:pt x="66611" y="939"/>
                </a:lnTo>
                <a:lnTo>
                  <a:pt x="59613" y="241"/>
                </a:lnTo>
                <a:lnTo>
                  <a:pt x="52070" y="0"/>
                </a:lnTo>
                <a:lnTo>
                  <a:pt x="0" y="0"/>
                </a:lnTo>
                <a:lnTo>
                  <a:pt x="0" y="147701"/>
                </a:lnTo>
                <a:lnTo>
                  <a:pt x="34290" y="147701"/>
                </a:lnTo>
                <a:lnTo>
                  <a:pt x="34290" y="98298"/>
                </a:lnTo>
                <a:lnTo>
                  <a:pt x="52070" y="98298"/>
                </a:lnTo>
                <a:lnTo>
                  <a:pt x="92202" y="88773"/>
                </a:lnTo>
                <a:lnTo>
                  <a:pt x="106362" y="72517"/>
                </a:lnTo>
                <a:lnTo>
                  <a:pt x="107950" y="68453"/>
                </a:lnTo>
                <a:lnTo>
                  <a:pt x="110363" y="62357"/>
                </a:lnTo>
                <a:lnTo>
                  <a:pt x="111455" y="55880"/>
                </a:lnTo>
                <a:lnTo>
                  <a:pt x="111506" y="41402"/>
                </a:lnTo>
                <a:close/>
              </a:path>
              <a:path w="1146175" h="184150">
                <a:moveTo>
                  <a:pt x="226822" y="86614"/>
                </a:moveTo>
                <a:lnTo>
                  <a:pt x="225552" y="79121"/>
                </a:lnTo>
                <a:lnTo>
                  <a:pt x="222885" y="72390"/>
                </a:lnTo>
                <a:lnTo>
                  <a:pt x="220345" y="65786"/>
                </a:lnTo>
                <a:lnTo>
                  <a:pt x="219354" y="64262"/>
                </a:lnTo>
                <a:lnTo>
                  <a:pt x="216662" y="60071"/>
                </a:lnTo>
                <a:lnTo>
                  <a:pt x="211963" y="55499"/>
                </a:lnTo>
                <a:lnTo>
                  <a:pt x="207264" y="50800"/>
                </a:lnTo>
                <a:lnTo>
                  <a:pt x="201676" y="47244"/>
                </a:lnTo>
                <a:lnTo>
                  <a:pt x="194437" y="44437"/>
                </a:lnTo>
                <a:lnTo>
                  <a:pt x="194437" y="84709"/>
                </a:lnTo>
                <a:lnTo>
                  <a:pt x="194437" y="105410"/>
                </a:lnTo>
                <a:lnTo>
                  <a:pt x="192659" y="113284"/>
                </a:lnTo>
                <a:lnTo>
                  <a:pt x="189230" y="118364"/>
                </a:lnTo>
                <a:lnTo>
                  <a:pt x="185928" y="123444"/>
                </a:lnTo>
                <a:lnTo>
                  <a:pt x="180594" y="125984"/>
                </a:lnTo>
                <a:lnTo>
                  <a:pt x="165862" y="125984"/>
                </a:lnTo>
                <a:lnTo>
                  <a:pt x="160401" y="123444"/>
                </a:lnTo>
                <a:lnTo>
                  <a:pt x="153543" y="113284"/>
                </a:lnTo>
                <a:lnTo>
                  <a:pt x="151892" y="105410"/>
                </a:lnTo>
                <a:lnTo>
                  <a:pt x="151892" y="84709"/>
                </a:lnTo>
                <a:lnTo>
                  <a:pt x="153543" y="76962"/>
                </a:lnTo>
                <a:lnTo>
                  <a:pt x="160401" y="66802"/>
                </a:lnTo>
                <a:lnTo>
                  <a:pt x="165862" y="64262"/>
                </a:lnTo>
                <a:lnTo>
                  <a:pt x="180594" y="64262"/>
                </a:lnTo>
                <a:lnTo>
                  <a:pt x="185928" y="66802"/>
                </a:lnTo>
                <a:lnTo>
                  <a:pt x="189230" y="71882"/>
                </a:lnTo>
                <a:lnTo>
                  <a:pt x="192659" y="76962"/>
                </a:lnTo>
                <a:lnTo>
                  <a:pt x="194437" y="84709"/>
                </a:lnTo>
                <a:lnTo>
                  <a:pt x="194437" y="44437"/>
                </a:lnTo>
                <a:lnTo>
                  <a:pt x="188595" y="42164"/>
                </a:lnTo>
                <a:lnTo>
                  <a:pt x="181356" y="40894"/>
                </a:lnTo>
                <a:lnTo>
                  <a:pt x="165227" y="40894"/>
                </a:lnTo>
                <a:lnTo>
                  <a:pt x="157988" y="42164"/>
                </a:lnTo>
                <a:lnTo>
                  <a:pt x="144780" y="47244"/>
                </a:lnTo>
                <a:lnTo>
                  <a:pt x="139065" y="50800"/>
                </a:lnTo>
                <a:lnTo>
                  <a:pt x="134366" y="55499"/>
                </a:lnTo>
                <a:lnTo>
                  <a:pt x="129540" y="60071"/>
                </a:lnTo>
                <a:lnTo>
                  <a:pt x="125857" y="65786"/>
                </a:lnTo>
                <a:lnTo>
                  <a:pt x="123317" y="72390"/>
                </a:lnTo>
                <a:lnTo>
                  <a:pt x="120650" y="79121"/>
                </a:lnTo>
                <a:lnTo>
                  <a:pt x="119380" y="86614"/>
                </a:lnTo>
                <a:lnTo>
                  <a:pt x="119380" y="103251"/>
                </a:lnTo>
                <a:lnTo>
                  <a:pt x="120650" y="110744"/>
                </a:lnTo>
                <a:lnTo>
                  <a:pt x="123317" y="117475"/>
                </a:lnTo>
                <a:lnTo>
                  <a:pt x="125857" y="124206"/>
                </a:lnTo>
                <a:lnTo>
                  <a:pt x="129540" y="129921"/>
                </a:lnTo>
                <a:lnTo>
                  <a:pt x="134366" y="134620"/>
                </a:lnTo>
                <a:lnTo>
                  <a:pt x="139065" y="139319"/>
                </a:lnTo>
                <a:lnTo>
                  <a:pt x="144780" y="143002"/>
                </a:lnTo>
                <a:lnTo>
                  <a:pt x="157988" y="148082"/>
                </a:lnTo>
                <a:lnTo>
                  <a:pt x="165227" y="149352"/>
                </a:lnTo>
                <a:lnTo>
                  <a:pt x="181356" y="149352"/>
                </a:lnTo>
                <a:lnTo>
                  <a:pt x="216662" y="129921"/>
                </a:lnTo>
                <a:lnTo>
                  <a:pt x="219189" y="125984"/>
                </a:lnTo>
                <a:lnTo>
                  <a:pt x="220345" y="124206"/>
                </a:lnTo>
                <a:lnTo>
                  <a:pt x="222885" y="117475"/>
                </a:lnTo>
                <a:lnTo>
                  <a:pt x="225552" y="110744"/>
                </a:lnTo>
                <a:lnTo>
                  <a:pt x="226822" y="103251"/>
                </a:lnTo>
                <a:lnTo>
                  <a:pt x="226822" y="86614"/>
                </a:lnTo>
                <a:close/>
              </a:path>
              <a:path w="1146175" h="184150">
                <a:moveTo>
                  <a:pt x="312801" y="109347"/>
                </a:moveTo>
                <a:lnTo>
                  <a:pt x="305320" y="94996"/>
                </a:lnTo>
                <a:lnTo>
                  <a:pt x="302882" y="92710"/>
                </a:lnTo>
                <a:lnTo>
                  <a:pt x="285356" y="84582"/>
                </a:lnTo>
                <a:lnTo>
                  <a:pt x="282448" y="83566"/>
                </a:lnTo>
                <a:lnTo>
                  <a:pt x="276606" y="81788"/>
                </a:lnTo>
                <a:lnTo>
                  <a:pt x="274066" y="80899"/>
                </a:lnTo>
                <a:lnTo>
                  <a:pt x="271653" y="79883"/>
                </a:lnTo>
                <a:lnTo>
                  <a:pt x="269367" y="78994"/>
                </a:lnTo>
                <a:lnTo>
                  <a:pt x="267589" y="77851"/>
                </a:lnTo>
                <a:lnTo>
                  <a:pt x="266192" y="76581"/>
                </a:lnTo>
                <a:lnTo>
                  <a:pt x="264795" y="75184"/>
                </a:lnTo>
                <a:lnTo>
                  <a:pt x="264160" y="73660"/>
                </a:lnTo>
                <a:lnTo>
                  <a:pt x="264160" y="69088"/>
                </a:lnTo>
                <a:lnTo>
                  <a:pt x="264452" y="68326"/>
                </a:lnTo>
                <a:lnTo>
                  <a:pt x="265176" y="66802"/>
                </a:lnTo>
                <a:lnTo>
                  <a:pt x="269494" y="63754"/>
                </a:lnTo>
                <a:lnTo>
                  <a:pt x="272542" y="62992"/>
                </a:lnTo>
                <a:lnTo>
                  <a:pt x="279273" y="62992"/>
                </a:lnTo>
                <a:lnTo>
                  <a:pt x="281686" y="63373"/>
                </a:lnTo>
                <a:lnTo>
                  <a:pt x="286004" y="64643"/>
                </a:lnTo>
                <a:lnTo>
                  <a:pt x="288036" y="65278"/>
                </a:lnTo>
                <a:lnTo>
                  <a:pt x="289687" y="66040"/>
                </a:lnTo>
                <a:lnTo>
                  <a:pt x="291465" y="66802"/>
                </a:lnTo>
                <a:lnTo>
                  <a:pt x="292989" y="67564"/>
                </a:lnTo>
                <a:lnTo>
                  <a:pt x="296633" y="69088"/>
                </a:lnTo>
                <a:lnTo>
                  <a:pt x="300990" y="69088"/>
                </a:lnTo>
                <a:lnTo>
                  <a:pt x="302514" y="68326"/>
                </a:lnTo>
                <a:lnTo>
                  <a:pt x="303403" y="67818"/>
                </a:lnTo>
                <a:lnTo>
                  <a:pt x="304292" y="66802"/>
                </a:lnTo>
                <a:lnTo>
                  <a:pt x="305054" y="65532"/>
                </a:lnTo>
                <a:lnTo>
                  <a:pt x="306679" y="62992"/>
                </a:lnTo>
                <a:lnTo>
                  <a:pt x="312166" y="54483"/>
                </a:lnTo>
                <a:lnTo>
                  <a:pt x="310134" y="52578"/>
                </a:lnTo>
                <a:lnTo>
                  <a:pt x="308127" y="50927"/>
                </a:lnTo>
                <a:lnTo>
                  <a:pt x="305308" y="49149"/>
                </a:lnTo>
                <a:lnTo>
                  <a:pt x="302768" y="47498"/>
                </a:lnTo>
                <a:lnTo>
                  <a:pt x="299974" y="45974"/>
                </a:lnTo>
                <a:lnTo>
                  <a:pt x="296799" y="44831"/>
                </a:lnTo>
                <a:lnTo>
                  <a:pt x="294043" y="43688"/>
                </a:lnTo>
                <a:lnTo>
                  <a:pt x="294220" y="43688"/>
                </a:lnTo>
                <a:lnTo>
                  <a:pt x="290449" y="42672"/>
                </a:lnTo>
                <a:lnTo>
                  <a:pt x="286893" y="41910"/>
                </a:lnTo>
                <a:lnTo>
                  <a:pt x="283337" y="41275"/>
                </a:lnTo>
                <a:lnTo>
                  <a:pt x="279654" y="40894"/>
                </a:lnTo>
                <a:lnTo>
                  <a:pt x="268859" y="40894"/>
                </a:lnTo>
                <a:lnTo>
                  <a:pt x="262026" y="41910"/>
                </a:lnTo>
                <a:lnTo>
                  <a:pt x="262534" y="41910"/>
                </a:lnTo>
                <a:lnTo>
                  <a:pt x="257683" y="43688"/>
                </a:lnTo>
                <a:lnTo>
                  <a:pt x="234315" y="69723"/>
                </a:lnTo>
                <a:lnTo>
                  <a:pt x="234315" y="78994"/>
                </a:lnTo>
                <a:lnTo>
                  <a:pt x="242062" y="94996"/>
                </a:lnTo>
                <a:lnTo>
                  <a:pt x="244348" y="97409"/>
                </a:lnTo>
                <a:lnTo>
                  <a:pt x="246888" y="99314"/>
                </a:lnTo>
                <a:lnTo>
                  <a:pt x="249936" y="100838"/>
                </a:lnTo>
                <a:lnTo>
                  <a:pt x="252857" y="102362"/>
                </a:lnTo>
                <a:lnTo>
                  <a:pt x="255778" y="103632"/>
                </a:lnTo>
                <a:lnTo>
                  <a:pt x="258826" y="104648"/>
                </a:lnTo>
                <a:lnTo>
                  <a:pt x="261874" y="105791"/>
                </a:lnTo>
                <a:lnTo>
                  <a:pt x="264922" y="106680"/>
                </a:lnTo>
                <a:lnTo>
                  <a:pt x="270764" y="108458"/>
                </a:lnTo>
                <a:lnTo>
                  <a:pt x="273431" y="109347"/>
                </a:lnTo>
                <a:lnTo>
                  <a:pt x="275717" y="110363"/>
                </a:lnTo>
                <a:lnTo>
                  <a:pt x="278003" y="111252"/>
                </a:lnTo>
                <a:lnTo>
                  <a:pt x="279781" y="112522"/>
                </a:lnTo>
                <a:lnTo>
                  <a:pt x="282702" y="115189"/>
                </a:lnTo>
                <a:lnTo>
                  <a:pt x="283337" y="116840"/>
                </a:lnTo>
                <a:lnTo>
                  <a:pt x="283273" y="120396"/>
                </a:lnTo>
                <a:lnTo>
                  <a:pt x="283184" y="120777"/>
                </a:lnTo>
                <a:lnTo>
                  <a:pt x="283083" y="121285"/>
                </a:lnTo>
                <a:lnTo>
                  <a:pt x="272656" y="128143"/>
                </a:lnTo>
                <a:lnTo>
                  <a:pt x="266700" y="128143"/>
                </a:lnTo>
                <a:lnTo>
                  <a:pt x="264833" y="127889"/>
                </a:lnTo>
                <a:lnTo>
                  <a:pt x="264223" y="127889"/>
                </a:lnTo>
                <a:lnTo>
                  <a:pt x="261620" y="126873"/>
                </a:lnTo>
                <a:lnTo>
                  <a:pt x="259334" y="126111"/>
                </a:lnTo>
                <a:lnTo>
                  <a:pt x="257429" y="125222"/>
                </a:lnTo>
                <a:lnTo>
                  <a:pt x="255866" y="124333"/>
                </a:lnTo>
                <a:lnTo>
                  <a:pt x="254000" y="123317"/>
                </a:lnTo>
                <a:lnTo>
                  <a:pt x="252476" y="122428"/>
                </a:lnTo>
                <a:lnTo>
                  <a:pt x="250952" y="121666"/>
                </a:lnTo>
                <a:lnTo>
                  <a:pt x="249555" y="120777"/>
                </a:lnTo>
                <a:lnTo>
                  <a:pt x="247904" y="120396"/>
                </a:lnTo>
                <a:lnTo>
                  <a:pt x="244094" y="120396"/>
                </a:lnTo>
                <a:lnTo>
                  <a:pt x="242570" y="120777"/>
                </a:lnTo>
                <a:lnTo>
                  <a:pt x="230886" y="136271"/>
                </a:lnTo>
                <a:lnTo>
                  <a:pt x="232918" y="138176"/>
                </a:lnTo>
                <a:lnTo>
                  <a:pt x="265049" y="149352"/>
                </a:lnTo>
                <a:lnTo>
                  <a:pt x="275717" y="149352"/>
                </a:lnTo>
                <a:lnTo>
                  <a:pt x="309765" y="128143"/>
                </a:lnTo>
                <a:lnTo>
                  <a:pt x="311785" y="123571"/>
                </a:lnTo>
                <a:lnTo>
                  <a:pt x="312801" y="118745"/>
                </a:lnTo>
                <a:lnTo>
                  <a:pt x="312801" y="109347"/>
                </a:lnTo>
                <a:close/>
              </a:path>
              <a:path w="1146175" h="184150">
                <a:moveTo>
                  <a:pt x="393954" y="140208"/>
                </a:moveTo>
                <a:lnTo>
                  <a:pt x="384429" y="125222"/>
                </a:lnTo>
                <a:lnTo>
                  <a:pt x="384149" y="124841"/>
                </a:lnTo>
                <a:lnTo>
                  <a:pt x="383362" y="123698"/>
                </a:lnTo>
                <a:lnTo>
                  <a:pt x="382638" y="123190"/>
                </a:lnTo>
                <a:lnTo>
                  <a:pt x="381584" y="122555"/>
                </a:lnTo>
                <a:lnTo>
                  <a:pt x="379349" y="122555"/>
                </a:lnTo>
                <a:lnTo>
                  <a:pt x="378079" y="123190"/>
                </a:lnTo>
                <a:lnTo>
                  <a:pt x="377901" y="123190"/>
                </a:lnTo>
                <a:lnTo>
                  <a:pt x="377228" y="123698"/>
                </a:lnTo>
                <a:lnTo>
                  <a:pt x="376936" y="123698"/>
                </a:lnTo>
                <a:lnTo>
                  <a:pt x="375412" y="124460"/>
                </a:lnTo>
                <a:lnTo>
                  <a:pt x="374904" y="124460"/>
                </a:lnTo>
                <a:lnTo>
                  <a:pt x="373761" y="124841"/>
                </a:lnTo>
                <a:lnTo>
                  <a:pt x="369824" y="124841"/>
                </a:lnTo>
                <a:lnTo>
                  <a:pt x="368173" y="124079"/>
                </a:lnTo>
                <a:lnTo>
                  <a:pt x="365760" y="120904"/>
                </a:lnTo>
                <a:lnTo>
                  <a:pt x="365125" y="118872"/>
                </a:lnTo>
                <a:lnTo>
                  <a:pt x="365125" y="64262"/>
                </a:lnTo>
                <a:lnTo>
                  <a:pt x="390652" y="64262"/>
                </a:lnTo>
                <a:lnTo>
                  <a:pt x="390652" y="42799"/>
                </a:lnTo>
                <a:lnTo>
                  <a:pt x="365125" y="42799"/>
                </a:lnTo>
                <a:lnTo>
                  <a:pt x="365125" y="12065"/>
                </a:lnTo>
                <a:lnTo>
                  <a:pt x="344932" y="12065"/>
                </a:lnTo>
                <a:lnTo>
                  <a:pt x="342646" y="13716"/>
                </a:lnTo>
                <a:lnTo>
                  <a:pt x="335661" y="42545"/>
                </a:lnTo>
                <a:lnTo>
                  <a:pt x="318897" y="45847"/>
                </a:lnTo>
                <a:lnTo>
                  <a:pt x="318897" y="60071"/>
                </a:lnTo>
                <a:lnTo>
                  <a:pt x="319532" y="61595"/>
                </a:lnTo>
                <a:lnTo>
                  <a:pt x="320675" y="62738"/>
                </a:lnTo>
                <a:lnTo>
                  <a:pt x="321818" y="63754"/>
                </a:lnTo>
                <a:lnTo>
                  <a:pt x="323215" y="64262"/>
                </a:lnTo>
                <a:lnTo>
                  <a:pt x="333756" y="64262"/>
                </a:lnTo>
                <a:lnTo>
                  <a:pt x="333819" y="123698"/>
                </a:lnTo>
                <a:lnTo>
                  <a:pt x="334391" y="127508"/>
                </a:lnTo>
                <a:lnTo>
                  <a:pt x="335788" y="131191"/>
                </a:lnTo>
                <a:lnTo>
                  <a:pt x="337185" y="135001"/>
                </a:lnTo>
                <a:lnTo>
                  <a:pt x="339090" y="138303"/>
                </a:lnTo>
                <a:lnTo>
                  <a:pt x="341757" y="140970"/>
                </a:lnTo>
                <a:lnTo>
                  <a:pt x="344297" y="143637"/>
                </a:lnTo>
                <a:lnTo>
                  <a:pt x="347472" y="145669"/>
                </a:lnTo>
                <a:lnTo>
                  <a:pt x="351282" y="147066"/>
                </a:lnTo>
                <a:lnTo>
                  <a:pt x="355092" y="148590"/>
                </a:lnTo>
                <a:lnTo>
                  <a:pt x="359537" y="149352"/>
                </a:lnTo>
                <a:lnTo>
                  <a:pt x="369951" y="149352"/>
                </a:lnTo>
                <a:lnTo>
                  <a:pt x="375158" y="148590"/>
                </a:lnTo>
                <a:lnTo>
                  <a:pt x="385318" y="145542"/>
                </a:lnTo>
                <a:lnTo>
                  <a:pt x="389890" y="143256"/>
                </a:lnTo>
                <a:lnTo>
                  <a:pt x="393954" y="140208"/>
                </a:lnTo>
                <a:close/>
              </a:path>
              <a:path w="1146175" h="184150">
                <a:moveTo>
                  <a:pt x="458076" y="73342"/>
                </a:moveTo>
                <a:lnTo>
                  <a:pt x="403352" y="73342"/>
                </a:lnTo>
                <a:lnTo>
                  <a:pt x="403352" y="98679"/>
                </a:lnTo>
                <a:lnTo>
                  <a:pt x="458076" y="98679"/>
                </a:lnTo>
                <a:lnTo>
                  <a:pt x="458076" y="73342"/>
                </a:lnTo>
                <a:close/>
              </a:path>
              <a:path w="1146175" h="184150">
                <a:moveTo>
                  <a:pt x="549021" y="109347"/>
                </a:moveTo>
                <a:lnTo>
                  <a:pt x="541540" y="94996"/>
                </a:lnTo>
                <a:lnTo>
                  <a:pt x="539115" y="92710"/>
                </a:lnTo>
                <a:lnTo>
                  <a:pt x="521589" y="84582"/>
                </a:lnTo>
                <a:lnTo>
                  <a:pt x="518668" y="83566"/>
                </a:lnTo>
                <a:lnTo>
                  <a:pt x="512826" y="81788"/>
                </a:lnTo>
                <a:lnTo>
                  <a:pt x="510286" y="80899"/>
                </a:lnTo>
                <a:lnTo>
                  <a:pt x="507873" y="79883"/>
                </a:lnTo>
                <a:lnTo>
                  <a:pt x="505587" y="78994"/>
                </a:lnTo>
                <a:lnTo>
                  <a:pt x="503809" y="77851"/>
                </a:lnTo>
                <a:lnTo>
                  <a:pt x="502412" y="76581"/>
                </a:lnTo>
                <a:lnTo>
                  <a:pt x="501015" y="75184"/>
                </a:lnTo>
                <a:lnTo>
                  <a:pt x="500380" y="73660"/>
                </a:lnTo>
                <a:lnTo>
                  <a:pt x="500380" y="69088"/>
                </a:lnTo>
                <a:lnTo>
                  <a:pt x="500672" y="68326"/>
                </a:lnTo>
                <a:lnTo>
                  <a:pt x="501396" y="66802"/>
                </a:lnTo>
                <a:lnTo>
                  <a:pt x="505714" y="63754"/>
                </a:lnTo>
                <a:lnTo>
                  <a:pt x="508762" y="62992"/>
                </a:lnTo>
                <a:lnTo>
                  <a:pt x="515493" y="62992"/>
                </a:lnTo>
                <a:lnTo>
                  <a:pt x="517906" y="63373"/>
                </a:lnTo>
                <a:lnTo>
                  <a:pt x="522224" y="64643"/>
                </a:lnTo>
                <a:lnTo>
                  <a:pt x="524256" y="65278"/>
                </a:lnTo>
                <a:lnTo>
                  <a:pt x="525907" y="66040"/>
                </a:lnTo>
                <a:lnTo>
                  <a:pt x="527685" y="66802"/>
                </a:lnTo>
                <a:lnTo>
                  <a:pt x="529209" y="67564"/>
                </a:lnTo>
                <a:lnTo>
                  <a:pt x="532853" y="69088"/>
                </a:lnTo>
                <a:lnTo>
                  <a:pt x="537210" y="69088"/>
                </a:lnTo>
                <a:lnTo>
                  <a:pt x="538734" y="68326"/>
                </a:lnTo>
                <a:lnTo>
                  <a:pt x="539623" y="67818"/>
                </a:lnTo>
                <a:lnTo>
                  <a:pt x="540512" y="66802"/>
                </a:lnTo>
                <a:lnTo>
                  <a:pt x="541274" y="65532"/>
                </a:lnTo>
                <a:lnTo>
                  <a:pt x="542899" y="62992"/>
                </a:lnTo>
                <a:lnTo>
                  <a:pt x="548386" y="54483"/>
                </a:lnTo>
                <a:lnTo>
                  <a:pt x="546354" y="52578"/>
                </a:lnTo>
                <a:lnTo>
                  <a:pt x="544347" y="50927"/>
                </a:lnTo>
                <a:lnTo>
                  <a:pt x="541528" y="49149"/>
                </a:lnTo>
                <a:lnTo>
                  <a:pt x="538988" y="47498"/>
                </a:lnTo>
                <a:lnTo>
                  <a:pt x="536194" y="45974"/>
                </a:lnTo>
                <a:lnTo>
                  <a:pt x="533019" y="44831"/>
                </a:lnTo>
                <a:lnTo>
                  <a:pt x="530263" y="43688"/>
                </a:lnTo>
                <a:lnTo>
                  <a:pt x="530440" y="43688"/>
                </a:lnTo>
                <a:lnTo>
                  <a:pt x="526669" y="42672"/>
                </a:lnTo>
                <a:lnTo>
                  <a:pt x="523113" y="41910"/>
                </a:lnTo>
                <a:lnTo>
                  <a:pt x="519557" y="41275"/>
                </a:lnTo>
                <a:lnTo>
                  <a:pt x="515874" y="40894"/>
                </a:lnTo>
                <a:lnTo>
                  <a:pt x="505079" y="40894"/>
                </a:lnTo>
                <a:lnTo>
                  <a:pt x="498246" y="41910"/>
                </a:lnTo>
                <a:lnTo>
                  <a:pt x="498754" y="41910"/>
                </a:lnTo>
                <a:lnTo>
                  <a:pt x="493903" y="43688"/>
                </a:lnTo>
                <a:lnTo>
                  <a:pt x="470535" y="69723"/>
                </a:lnTo>
                <a:lnTo>
                  <a:pt x="470535" y="78994"/>
                </a:lnTo>
                <a:lnTo>
                  <a:pt x="478282" y="94996"/>
                </a:lnTo>
                <a:lnTo>
                  <a:pt x="480568" y="97409"/>
                </a:lnTo>
                <a:lnTo>
                  <a:pt x="483108" y="99314"/>
                </a:lnTo>
                <a:lnTo>
                  <a:pt x="486156" y="100838"/>
                </a:lnTo>
                <a:lnTo>
                  <a:pt x="489077" y="102362"/>
                </a:lnTo>
                <a:lnTo>
                  <a:pt x="491998" y="103632"/>
                </a:lnTo>
                <a:lnTo>
                  <a:pt x="495046" y="104648"/>
                </a:lnTo>
                <a:lnTo>
                  <a:pt x="498094" y="105791"/>
                </a:lnTo>
                <a:lnTo>
                  <a:pt x="501142" y="106680"/>
                </a:lnTo>
                <a:lnTo>
                  <a:pt x="506984" y="108458"/>
                </a:lnTo>
                <a:lnTo>
                  <a:pt x="509651" y="109347"/>
                </a:lnTo>
                <a:lnTo>
                  <a:pt x="511937" y="110363"/>
                </a:lnTo>
                <a:lnTo>
                  <a:pt x="514223" y="111252"/>
                </a:lnTo>
                <a:lnTo>
                  <a:pt x="516001" y="112522"/>
                </a:lnTo>
                <a:lnTo>
                  <a:pt x="518922" y="115189"/>
                </a:lnTo>
                <a:lnTo>
                  <a:pt x="519557" y="116840"/>
                </a:lnTo>
                <a:lnTo>
                  <a:pt x="519493" y="120396"/>
                </a:lnTo>
                <a:lnTo>
                  <a:pt x="519404" y="120777"/>
                </a:lnTo>
                <a:lnTo>
                  <a:pt x="519303" y="121285"/>
                </a:lnTo>
                <a:lnTo>
                  <a:pt x="508889" y="128143"/>
                </a:lnTo>
                <a:lnTo>
                  <a:pt x="502920" y="128143"/>
                </a:lnTo>
                <a:lnTo>
                  <a:pt x="501053" y="127889"/>
                </a:lnTo>
                <a:lnTo>
                  <a:pt x="500443" y="127889"/>
                </a:lnTo>
                <a:lnTo>
                  <a:pt x="497840" y="126873"/>
                </a:lnTo>
                <a:lnTo>
                  <a:pt x="495554" y="126111"/>
                </a:lnTo>
                <a:lnTo>
                  <a:pt x="493649" y="125222"/>
                </a:lnTo>
                <a:lnTo>
                  <a:pt x="492086" y="124333"/>
                </a:lnTo>
                <a:lnTo>
                  <a:pt x="490220" y="123317"/>
                </a:lnTo>
                <a:lnTo>
                  <a:pt x="488696" y="122428"/>
                </a:lnTo>
                <a:lnTo>
                  <a:pt x="487172" y="121666"/>
                </a:lnTo>
                <a:lnTo>
                  <a:pt x="485775" y="120777"/>
                </a:lnTo>
                <a:lnTo>
                  <a:pt x="484124" y="120396"/>
                </a:lnTo>
                <a:lnTo>
                  <a:pt x="480314" y="120396"/>
                </a:lnTo>
                <a:lnTo>
                  <a:pt x="478790" y="120777"/>
                </a:lnTo>
                <a:lnTo>
                  <a:pt x="467106" y="136271"/>
                </a:lnTo>
                <a:lnTo>
                  <a:pt x="469138" y="138176"/>
                </a:lnTo>
                <a:lnTo>
                  <a:pt x="501269" y="149352"/>
                </a:lnTo>
                <a:lnTo>
                  <a:pt x="511937" y="149352"/>
                </a:lnTo>
                <a:lnTo>
                  <a:pt x="545985" y="128143"/>
                </a:lnTo>
                <a:lnTo>
                  <a:pt x="548005" y="123571"/>
                </a:lnTo>
                <a:lnTo>
                  <a:pt x="549021" y="118745"/>
                </a:lnTo>
                <a:lnTo>
                  <a:pt x="549021" y="109347"/>
                </a:lnTo>
                <a:close/>
              </a:path>
              <a:path w="1146175" h="184150">
                <a:moveTo>
                  <a:pt x="655574" y="42545"/>
                </a:moveTo>
                <a:lnTo>
                  <a:pt x="624205" y="42545"/>
                </a:lnTo>
                <a:lnTo>
                  <a:pt x="624205" y="117475"/>
                </a:lnTo>
                <a:lnTo>
                  <a:pt x="621411" y="120015"/>
                </a:lnTo>
                <a:lnTo>
                  <a:pt x="618490" y="122047"/>
                </a:lnTo>
                <a:lnTo>
                  <a:pt x="612394" y="124841"/>
                </a:lnTo>
                <a:lnTo>
                  <a:pt x="609219" y="125603"/>
                </a:lnTo>
                <a:lnTo>
                  <a:pt x="601091" y="125603"/>
                </a:lnTo>
                <a:lnTo>
                  <a:pt x="597662" y="124206"/>
                </a:lnTo>
                <a:lnTo>
                  <a:pt x="592963" y="118491"/>
                </a:lnTo>
                <a:lnTo>
                  <a:pt x="591820" y="114427"/>
                </a:lnTo>
                <a:lnTo>
                  <a:pt x="591820" y="42545"/>
                </a:lnTo>
                <a:lnTo>
                  <a:pt x="560324" y="42545"/>
                </a:lnTo>
                <a:lnTo>
                  <a:pt x="560324" y="115062"/>
                </a:lnTo>
                <a:lnTo>
                  <a:pt x="561022" y="120015"/>
                </a:lnTo>
                <a:lnTo>
                  <a:pt x="590296" y="149352"/>
                </a:lnTo>
                <a:lnTo>
                  <a:pt x="599440" y="149352"/>
                </a:lnTo>
                <a:lnTo>
                  <a:pt x="620268" y="141605"/>
                </a:lnTo>
                <a:lnTo>
                  <a:pt x="622427" y="140081"/>
                </a:lnTo>
                <a:lnTo>
                  <a:pt x="624459" y="138303"/>
                </a:lnTo>
                <a:lnTo>
                  <a:pt x="626491" y="136271"/>
                </a:lnTo>
                <a:lnTo>
                  <a:pt x="628396" y="142367"/>
                </a:lnTo>
                <a:lnTo>
                  <a:pt x="629666" y="145923"/>
                </a:lnTo>
                <a:lnTo>
                  <a:pt x="632206" y="147701"/>
                </a:lnTo>
                <a:lnTo>
                  <a:pt x="655574" y="147701"/>
                </a:lnTo>
                <a:lnTo>
                  <a:pt x="655574" y="136271"/>
                </a:lnTo>
                <a:lnTo>
                  <a:pt x="655574" y="125603"/>
                </a:lnTo>
                <a:lnTo>
                  <a:pt x="655574" y="42545"/>
                </a:lnTo>
                <a:close/>
              </a:path>
              <a:path w="1146175" h="184150">
                <a:moveTo>
                  <a:pt x="746379" y="43942"/>
                </a:moveTo>
                <a:lnTo>
                  <a:pt x="743458" y="41656"/>
                </a:lnTo>
                <a:lnTo>
                  <a:pt x="739648" y="40513"/>
                </a:lnTo>
                <a:lnTo>
                  <a:pt x="729107" y="40513"/>
                </a:lnTo>
                <a:lnTo>
                  <a:pt x="706120" y="59817"/>
                </a:lnTo>
                <a:lnTo>
                  <a:pt x="704469" y="49911"/>
                </a:lnTo>
                <a:lnTo>
                  <a:pt x="704316" y="49149"/>
                </a:lnTo>
                <a:lnTo>
                  <a:pt x="704215" y="48641"/>
                </a:lnTo>
                <a:lnTo>
                  <a:pt x="703834" y="47498"/>
                </a:lnTo>
                <a:lnTo>
                  <a:pt x="703453" y="46482"/>
                </a:lnTo>
                <a:lnTo>
                  <a:pt x="703122" y="45720"/>
                </a:lnTo>
                <a:lnTo>
                  <a:pt x="703072" y="45593"/>
                </a:lnTo>
                <a:lnTo>
                  <a:pt x="698119" y="42672"/>
                </a:lnTo>
                <a:lnTo>
                  <a:pt x="676656" y="42672"/>
                </a:lnTo>
                <a:lnTo>
                  <a:pt x="676656" y="147701"/>
                </a:lnTo>
                <a:lnTo>
                  <a:pt x="708025" y="147701"/>
                </a:lnTo>
                <a:lnTo>
                  <a:pt x="708025" y="83185"/>
                </a:lnTo>
                <a:lnTo>
                  <a:pt x="712851" y="74422"/>
                </a:lnTo>
                <a:lnTo>
                  <a:pt x="719137" y="70104"/>
                </a:lnTo>
                <a:lnTo>
                  <a:pt x="730872" y="70104"/>
                </a:lnTo>
                <a:lnTo>
                  <a:pt x="731901" y="70231"/>
                </a:lnTo>
                <a:lnTo>
                  <a:pt x="736346" y="70993"/>
                </a:lnTo>
                <a:lnTo>
                  <a:pt x="738886" y="70993"/>
                </a:lnTo>
                <a:lnTo>
                  <a:pt x="743572" y="59817"/>
                </a:lnTo>
                <a:lnTo>
                  <a:pt x="746379" y="43942"/>
                </a:lnTo>
                <a:close/>
              </a:path>
              <a:path w="1146175" h="184150">
                <a:moveTo>
                  <a:pt x="849884" y="45847"/>
                </a:moveTo>
                <a:lnTo>
                  <a:pt x="818134" y="45847"/>
                </a:lnTo>
                <a:lnTo>
                  <a:pt x="814705" y="44196"/>
                </a:lnTo>
                <a:lnTo>
                  <a:pt x="811149" y="42926"/>
                </a:lnTo>
                <a:lnTo>
                  <a:pt x="809371" y="42532"/>
                </a:lnTo>
                <a:lnTo>
                  <a:pt x="809371" y="71374"/>
                </a:lnTo>
                <a:lnTo>
                  <a:pt x="809371" y="79756"/>
                </a:lnTo>
                <a:lnTo>
                  <a:pt x="808101" y="83058"/>
                </a:lnTo>
                <a:lnTo>
                  <a:pt x="805815" y="85725"/>
                </a:lnTo>
                <a:lnTo>
                  <a:pt x="803529" y="88265"/>
                </a:lnTo>
                <a:lnTo>
                  <a:pt x="799719" y="89535"/>
                </a:lnTo>
                <a:lnTo>
                  <a:pt x="791972" y="89535"/>
                </a:lnTo>
                <a:lnTo>
                  <a:pt x="789813" y="89281"/>
                </a:lnTo>
                <a:lnTo>
                  <a:pt x="787908" y="88519"/>
                </a:lnTo>
                <a:lnTo>
                  <a:pt x="786003" y="87884"/>
                </a:lnTo>
                <a:lnTo>
                  <a:pt x="784479" y="86868"/>
                </a:lnTo>
                <a:lnTo>
                  <a:pt x="783437" y="85725"/>
                </a:lnTo>
                <a:lnTo>
                  <a:pt x="782066" y="84328"/>
                </a:lnTo>
                <a:lnTo>
                  <a:pt x="781253" y="83058"/>
                </a:lnTo>
                <a:lnTo>
                  <a:pt x="780580" y="81280"/>
                </a:lnTo>
                <a:lnTo>
                  <a:pt x="780224" y="80137"/>
                </a:lnTo>
                <a:lnTo>
                  <a:pt x="780110" y="79756"/>
                </a:lnTo>
                <a:lnTo>
                  <a:pt x="780034" y="79502"/>
                </a:lnTo>
                <a:lnTo>
                  <a:pt x="779780" y="77597"/>
                </a:lnTo>
                <a:lnTo>
                  <a:pt x="779780" y="71374"/>
                </a:lnTo>
                <a:lnTo>
                  <a:pt x="780923" y="68072"/>
                </a:lnTo>
                <a:lnTo>
                  <a:pt x="783209" y="65532"/>
                </a:lnTo>
                <a:lnTo>
                  <a:pt x="785495" y="63246"/>
                </a:lnTo>
                <a:lnTo>
                  <a:pt x="785202" y="63246"/>
                </a:lnTo>
                <a:lnTo>
                  <a:pt x="789305" y="61976"/>
                </a:lnTo>
                <a:lnTo>
                  <a:pt x="799719" y="61976"/>
                </a:lnTo>
                <a:lnTo>
                  <a:pt x="803948" y="63246"/>
                </a:lnTo>
                <a:lnTo>
                  <a:pt x="803643" y="63246"/>
                </a:lnTo>
                <a:lnTo>
                  <a:pt x="805815" y="65532"/>
                </a:lnTo>
                <a:lnTo>
                  <a:pt x="808101" y="68072"/>
                </a:lnTo>
                <a:lnTo>
                  <a:pt x="809371" y="71374"/>
                </a:lnTo>
                <a:lnTo>
                  <a:pt x="809371" y="42532"/>
                </a:lnTo>
                <a:lnTo>
                  <a:pt x="803148" y="41148"/>
                </a:lnTo>
                <a:lnTo>
                  <a:pt x="798957" y="40767"/>
                </a:lnTo>
                <a:lnTo>
                  <a:pt x="788416" y="40767"/>
                </a:lnTo>
                <a:lnTo>
                  <a:pt x="782701" y="41529"/>
                </a:lnTo>
                <a:lnTo>
                  <a:pt x="777367" y="43180"/>
                </a:lnTo>
                <a:lnTo>
                  <a:pt x="772160" y="44704"/>
                </a:lnTo>
                <a:lnTo>
                  <a:pt x="754507" y="60706"/>
                </a:lnTo>
                <a:lnTo>
                  <a:pt x="752221" y="64897"/>
                </a:lnTo>
                <a:lnTo>
                  <a:pt x="751205" y="69596"/>
                </a:lnTo>
                <a:lnTo>
                  <a:pt x="751205" y="81280"/>
                </a:lnTo>
                <a:lnTo>
                  <a:pt x="752729" y="86868"/>
                </a:lnTo>
                <a:lnTo>
                  <a:pt x="755904" y="91567"/>
                </a:lnTo>
                <a:lnTo>
                  <a:pt x="758952" y="96393"/>
                </a:lnTo>
                <a:lnTo>
                  <a:pt x="763270" y="100330"/>
                </a:lnTo>
                <a:lnTo>
                  <a:pt x="768731" y="103124"/>
                </a:lnTo>
                <a:lnTo>
                  <a:pt x="766318" y="104267"/>
                </a:lnTo>
                <a:lnTo>
                  <a:pt x="755650" y="116840"/>
                </a:lnTo>
                <a:lnTo>
                  <a:pt x="755103" y="118237"/>
                </a:lnTo>
                <a:lnTo>
                  <a:pt x="755015" y="118491"/>
                </a:lnTo>
                <a:lnTo>
                  <a:pt x="754913" y="119126"/>
                </a:lnTo>
                <a:lnTo>
                  <a:pt x="754849" y="125730"/>
                </a:lnTo>
                <a:lnTo>
                  <a:pt x="755523" y="128524"/>
                </a:lnTo>
                <a:lnTo>
                  <a:pt x="758317" y="133350"/>
                </a:lnTo>
                <a:lnTo>
                  <a:pt x="760222" y="135382"/>
                </a:lnTo>
                <a:lnTo>
                  <a:pt x="762635" y="136906"/>
                </a:lnTo>
                <a:lnTo>
                  <a:pt x="757682" y="138684"/>
                </a:lnTo>
                <a:lnTo>
                  <a:pt x="753745" y="141224"/>
                </a:lnTo>
                <a:lnTo>
                  <a:pt x="750951" y="144399"/>
                </a:lnTo>
                <a:lnTo>
                  <a:pt x="748157" y="147701"/>
                </a:lnTo>
                <a:lnTo>
                  <a:pt x="746633" y="151638"/>
                </a:lnTo>
                <a:lnTo>
                  <a:pt x="746734" y="160274"/>
                </a:lnTo>
                <a:lnTo>
                  <a:pt x="779145" y="183007"/>
                </a:lnTo>
                <a:lnTo>
                  <a:pt x="786257" y="183896"/>
                </a:lnTo>
                <a:lnTo>
                  <a:pt x="802894" y="183896"/>
                </a:lnTo>
                <a:lnTo>
                  <a:pt x="810387" y="182753"/>
                </a:lnTo>
                <a:lnTo>
                  <a:pt x="816864" y="180594"/>
                </a:lnTo>
                <a:lnTo>
                  <a:pt x="823341" y="178562"/>
                </a:lnTo>
                <a:lnTo>
                  <a:pt x="842251" y="162306"/>
                </a:lnTo>
                <a:lnTo>
                  <a:pt x="843724" y="159385"/>
                </a:lnTo>
                <a:lnTo>
                  <a:pt x="845616" y="155702"/>
                </a:lnTo>
                <a:lnTo>
                  <a:pt x="845807" y="155067"/>
                </a:lnTo>
                <a:lnTo>
                  <a:pt x="846836" y="150876"/>
                </a:lnTo>
                <a:lnTo>
                  <a:pt x="846836" y="141986"/>
                </a:lnTo>
                <a:lnTo>
                  <a:pt x="846836" y="141224"/>
                </a:lnTo>
                <a:lnTo>
                  <a:pt x="845947" y="136906"/>
                </a:lnTo>
                <a:lnTo>
                  <a:pt x="842137" y="130302"/>
                </a:lnTo>
                <a:lnTo>
                  <a:pt x="839724" y="127635"/>
                </a:lnTo>
                <a:lnTo>
                  <a:pt x="836676" y="125730"/>
                </a:lnTo>
                <a:lnTo>
                  <a:pt x="833628" y="123698"/>
                </a:lnTo>
                <a:lnTo>
                  <a:pt x="830199" y="122301"/>
                </a:lnTo>
                <a:lnTo>
                  <a:pt x="822325" y="120523"/>
                </a:lnTo>
                <a:lnTo>
                  <a:pt x="818388" y="119888"/>
                </a:lnTo>
                <a:lnTo>
                  <a:pt x="817880" y="119849"/>
                </a:lnTo>
                <a:lnTo>
                  <a:pt x="817880" y="149606"/>
                </a:lnTo>
                <a:lnTo>
                  <a:pt x="817880" y="152908"/>
                </a:lnTo>
                <a:lnTo>
                  <a:pt x="813181" y="159131"/>
                </a:lnTo>
                <a:lnTo>
                  <a:pt x="811314" y="160274"/>
                </a:lnTo>
                <a:lnTo>
                  <a:pt x="811149" y="160274"/>
                </a:lnTo>
                <a:lnTo>
                  <a:pt x="808863" y="161036"/>
                </a:lnTo>
                <a:lnTo>
                  <a:pt x="808507" y="161036"/>
                </a:lnTo>
                <a:lnTo>
                  <a:pt x="802665" y="162052"/>
                </a:lnTo>
                <a:lnTo>
                  <a:pt x="802170" y="162052"/>
                </a:lnTo>
                <a:lnTo>
                  <a:pt x="799719" y="162306"/>
                </a:lnTo>
                <a:lnTo>
                  <a:pt x="790956" y="162306"/>
                </a:lnTo>
                <a:lnTo>
                  <a:pt x="787527" y="162052"/>
                </a:lnTo>
                <a:lnTo>
                  <a:pt x="782066" y="161036"/>
                </a:lnTo>
                <a:lnTo>
                  <a:pt x="779780" y="160274"/>
                </a:lnTo>
                <a:lnTo>
                  <a:pt x="778256" y="159385"/>
                </a:lnTo>
                <a:lnTo>
                  <a:pt x="776605" y="158496"/>
                </a:lnTo>
                <a:lnTo>
                  <a:pt x="775462" y="157480"/>
                </a:lnTo>
                <a:lnTo>
                  <a:pt x="774827" y="156210"/>
                </a:lnTo>
                <a:lnTo>
                  <a:pt x="774192" y="155067"/>
                </a:lnTo>
                <a:lnTo>
                  <a:pt x="773811" y="153670"/>
                </a:lnTo>
                <a:lnTo>
                  <a:pt x="773811" y="150114"/>
                </a:lnTo>
                <a:lnTo>
                  <a:pt x="774446" y="148209"/>
                </a:lnTo>
                <a:lnTo>
                  <a:pt x="776986" y="144907"/>
                </a:lnTo>
                <a:lnTo>
                  <a:pt x="778637" y="143383"/>
                </a:lnTo>
                <a:lnTo>
                  <a:pt x="780542" y="141986"/>
                </a:lnTo>
                <a:lnTo>
                  <a:pt x="783463" y="142621"/>
                </a:lnTo>
                <a:lnTo>
                  <a:pt x="787844" y="143002"/>
                </a:lnTo>
                <a:lnTo>
                  <a:pt x="803275" y="143002"/>
                </a:lnTo>
                <a:lnTo>
                  <a:pt x="806881" y="143383"/>
                </a:lnTo>
                <a:lnTo>
                  <a:pt x="806488" y="143383"/>
                </a:lnTo>
                <a:lnTo>
                  <a:pt x="808101" y="143637"/>
                </a:lnTo>
                <a:lnTo>
                  <a:pt x="810260" y="144018"/>
                </a:lnTo>
                <a:lnTo>
                  <a:pt x="813816" y="145288"/>
                </a:lnTo>
                <a:lnTo>
                  <a:pt x="815213" y="146050"/>
                </a:lnTo>
                <a:lnTo>
                  <a:pt x="816229" y="147193"/>
                </a:lnTo>
                <a:lnTo>
                  <a:pt x="817372" y="148209"/>
                </a:lnTo>
                <a:lnTo>
                  <a:pt x="817880" y="149606"/>
                </a:lnTo>
                <a:lnTo>
                  <a:pt x="817880" y="119849"/>
                </a:lnTo>
                <a:lnTo>
                  <a:pt x="810260" y="119126"/>
                </a:lnTo>
                <a:lnTo>
                  <a:pt x="796912" y="119126"/>
                </a:lnTo>
                <a:lnTo>
                  <a:pt x="791845" y="118491"/>
                </a:lnTo>
                <a:lnTo>
                  <a:pt x="788797" y="118237"/>
                </a:lnTo>
                <a:lnTo>
                  <a:pt x="786384" y="117729"/>
                </a:lnTo>
                <a:lnTo>
                  <a:pt x="784606" y="116840"/>
                </a:lnTo>
                <a:lnTo>
                  <a:pt x="782701" y="116078"/>
                </a:lnTo>
                <a:lnTo>
                  <a:pt x="781812" y="114808"/>
                </a:lnTo>
                <a:lnTo>
                  <a:pt x="781812" y="111252"/>
                </a:lnTo>
                <a:lnTo>
                  <a:pt x="782955" y="109728"/>
                </a:lnTo>
                <a:lnTo>
                  <a:pt x="785241" y="108331"/>
                </a:lnTo>
                <a:lnTo>
                  <a:pt x="788162" y="108712"/>
                </a:lnTo>
                <a:lnTo>
                  <a:pt x="791210" y="108966"/>
                </a:lnTo>
                <a:lnTo>
                  <a:pt x="800481" y="108966"/>
                </a:lnTo>
                <a:lnTo>
                  <a:pt x="805129" y="108331"/>
                </a:lnTo>
                <a:lnTo>
                  <a:pt x="806069" y="108204"/>
                </a:lnTo>
                <a:lnTo>
                  <a:pt x="811276" y="106553"/>
                </a:lnTo>
                <a:lnTo>
                  <a:pt x="816483" y="105029"/>
                </a:lnTo>
                <a:lnTo>
                  <a:pt x="820928" y="102743"/>
                </a:lnTo>
                <a:lnTo>
                  <a:pt x="828548" y="96901"/>
                </a:lnTo>
                <a:lnTo>
                  <a:pt x="831596" y="93218"/>
                </a:lnTo>
                <a:lnTo>
                  <a:pt x="833488" y="89535"/>
                </a:lnTo>
                <a:lnTo>
                  <a:pt x="833755" y="89027"/>
                </a:lnTo>
                <a:lnTo>
                  <a:pt x="836041" y="84963"/>
                </a:lnTo>
                <a:lnTo>
                  <a:pt x="837057" y="80137"/>
                </a:lnTo>
                <a:lnTo>
                  <a:pt x="837018" y="71374"/>
                </a:lnTo>
                <a:lnTo>
                  <a:pt x="836676" y="68453"/>
                </a:lnTo>
                <a:lnTo>
                  <a:pt x="835660" y="65532"/>
                </a:lnTo>
                <a:lnTo>
                  <a:pt x="845693" y="63246"/>
                </a:lnTo>
                <a:lnTo>
                  <a:pt x="847471" y="62484"/>
                </a:lnTo>
                <a:lnTo>
                  <a:pt x="847915" y="61976"/>
                </a:lnTo>
                <a:lnTo>
                  <a:pt x="848360" y="61468"/>
                </a:lnTo>
                <a:lnTo>
                  <a:pt x="849376" y="60452"/>
                </a:lnTo>
                <a:lnTo>
                  <a:pt x="849884" y="59055"/>
                </a:lnTo>
                <a:lnTo>
                  <a:pt x="849884" y="45847"/>
                </a:lnTo>
                <a:close/>
              </a:path>
              <a:path w="1146175" h="184150">
                <a:moveTo>
                  <a:pt x="951738" y="81534"/>
                </a:moveTo>
                <a:lnTo>
                  <a:pt x="950658" y="75184"/>
                </a:lnTo>
                <a:lnTo>
                  <a:pt x="950595" y="74803"/>
                </a:lnTo>
                <a:lnTo>
                  <a:pt x="948309" y="68707"/>
                </a:lnTo>
                <a:lnTo>
                  <a:pt x="923544" y="44183"/>
                </a:lnTo>
                <a:lnTo>
                  <a:pt x="923544" y="82550"/>
                </a:lnTo>
                <a:lnTo>
                  <a:pt x="884428" y="82550"/>
                </a:lnTo>
                <a:lnTo>
                  <a:pt x="885444" y="76073"/>
                </a:lnTo>
                <a:lnTo>
                  <a:pt x="887730" y="71120"/>
                </a:lnTo>
                <a:lnTo>
                  <a:pt x="894461" y="64389"/>
                </a:lnTo>
                <a:lnTo>
                  <a:pt x="898817" y="62738"/>
                </a:lnTo>
                <a:lnTo>
                  <a:pt x="909104" y="62738"/>
                </a:lnTo>
                <a:lnTo>
                  <a:pt x="923544" y="82550"/>
                </a:lnTo>
                <a:lnTo>
                  <a:pt x="923544" y="44183"/>
                </a:lnTo>
                <a:lnTo>
                  <a:pt x="917829" y="42037"/>
                </a:lnTo>
                <a:lnTo>
                  <a:pt x="911479" y="40894"/>
                </a:lnTo>
                <a:lnTo>
                  <a:pt x="896493" y="40894"/>
                </a:lnTo>
                <a:lnTo>
                  <a:pt x="889254" y="42291"/>
                </a:lnTo>
                <a:lnTo>
                  <a:pt x="876554" y="47879"/>
                </a:lnTo>
                <a:lnTo>
                  <a:pt x="871093" y="51562"/>
                </a:lnTo>
                <a:lnTo>
                  <a:pt x="866648" y="56388"/>
                </a:lnTo>
                <a:lnTo>
                  <a:pt x="862076" y="61087"/>
                </a:lnTo>
                <a:lnTo>
                  <a:pt x="858647" y="66548"/>
                </a:lnTo>
                <a:lnTo>
                  <a:pt x="856234" y="72898"/>
                </a:lnTo>
                <a:lnTo>
                  <a:pt x="853821" y="79121"/>
                </a:lnTo>
                <a:lnTo>
                  <a:pt x="852678" y="85852"/>
                </a:lnTo>
                <a:lnTo>
                  <a:pt x="852678" y="102108"/>
                </a:lnTo>
                <a:lnTo>
                  <a:pt x="873125" y="139700"/>
                </a:lnTo>
                <a:lnTo>
                  <a:pt x="898652" y="149352"/>
                </a:lnTo>
                <a:lnTo>
                  <a:pt x="909574" y="149352"/>
                </a:lnTo>
                <a:lnTo>
                  <a:pt x="947928" y="135001"/>
                </a:lnTo>
                <a:lnTo>
                  <a:pt x="951103" y="131191"/>
                </a:lnTo>
                <a:lnTo>
                  <a:pt x="946696" y="125730"/>
                </a:lnTo>
                <a:lnTo>
                  <a:pt x="942086" y="120015"/>
                </a:lnTo>
                <a:lnTo>
                  <a:pt x="940816" y="118237"/>
                </a:lnTo>
                <a:lnTo>
                  <a:pt x="938911" y="117221"/>
                </a:lnTo>
                <a:lnTo>
                  <a:pt x="934466" y="117221"/>
                </a:lnTo>
                <a:lnTo>
                  <a:pt x="932688" y="117729"/>
                </a:lnTo>
                <a:lnTo>
                  <a:pt x="930910" y="118618"/>
                </a:lnTo>
                <a:lnTo>
                  <a:pt x="929259" y="119507"/>
                </a:lnTo>
                <a:lnTo>
                  <a:pt x="927354" y="120396"/>
                </a:lnTo>
                <a:lnTo>
                  <a:pt x="912495" y="125730"/>
                </a:lnTo>
                <a:lnTo>
                  <a:pt x="901954" y="125730"/>
                </a:lnTo>
                <a:lnTo>
                  <a:pt x="896366" y="123825"/>
                </a:lnTo>
                <a:lnTo>
                  <a:pt x="887730" y="115951"/>
                </a:lnTo>
                <a:lnTo>
                  <a:pt x="885063" y="109474"/>
                </a:lnTo>
                <a:lnTo>
                  <a:pt x="884047" y="100711"/>
                </a:lnTo>
                <a:lnTo>
                  <a:pt x="946988" y="100711"/>
                </a:lnTo>
                <a:lnTo>
                  <a:pt x="948182" y="100203"/>
                </a:lnTo>
                <a:lnTo>
                  <a:pt x="951725" y="82550"/>
                </a:lnTo>
                <a:lnTo>
                  <a:pt x="951738" y="81534"/>
                </a:lnTo>
                <a:close/>
              </a:path>
              <a:path w="1146175" h="184150">
                <a:moveTo>
                  <a:pt x="1146111" y="42672"/>
                </a:moveTo>
                <a:lnTo>
                  <a:pt x="1118552" y="42672"/>
                </a:lnTo>
                <a:lnTo>
                  <a:pt x="1117219" y="43053"/>
                </a:lnTo>
                <a:lnTo>
                  <a:pt x="1115695" y="44196"/>
                </a:lnTo>
                <a:lnTo>
                  <a:pt x="1114044" y="45212"/>
                </a:lnTo>
                <a:lnTo>
                  <a:pt x="1113739" y="45593"/>
                </a:lnTo>
                <a:lnTo>
                  <a:pt x="1112977" y="46609"/>
                </a:lnTo>
                <a:lnTo>
                  <a:pt x="1112520" y="48006"/>
                </a:lnTo>
                <a:lnTo>
                  <a:pt x="1096899" y="93091"/>
                </a:lnTo>
                <a:lnTo>
                  <a:pt x="1095311" y="97536"/>
                </a:lnTo>
                <a:lnTo>
                  <a:pt x="1094486" y="99568"/>
                </a:lnTo>
                <a:lnTo>
                  <a:pt x="1093673" y="101727"/>
                </a:lnTo>
                <a:lnTo>
                  <a:pt x="1092962" y="103759"/>
                </a:lnTo>
                <a:lnTo>
                  <a:pt x="1092327" y="105918"/>
                </a:lnTo>
                <a:lnTo>
                  <a:pt x="1091311" y="101727"/>
                </a:lnTo>
                <a:lnTo>
                  <a:pt x="1089914" y="97536"/>
                </a:lnTo>
                <a:lnTo>
                  <a:pt x="1088390" y="93345"/>
                </a:lnTo>
                <a:lnTo>
                  <a:pt x="1071118" y="48006"/>
                </a:lnTo>
                <a:lnTo>
                  <a:pt x="1070610" y="46609"/>
                </a:lnTo>
                <a:lnTo>
                  <a:pt x="1069594" y="45212"/>
                </a:lnTo>
                <a:lnTo>
                  <a:pt x="1069111" y="44831"/>
                </a:lnTo>
                <a:lnTo>
                  <a:pt x="1067701" y="43688"/>
                </a:lnTo>
                <a:lnTo>
                  <a:pt x="1066927" y="43053"/>
                </a:lnTo>
                <a:lnTo>
                  <a:pt x="1065491" y="42672"/>
                </a:lnTo>
                <a:lnTo>
                  <a:pt x="1034859" y="42672"/>
                </a:lnTo>
                <a:lnTo>
                  <a:pt x="1035304" y="43573"/>
                </a:lnTo>
                <a:lnTo>
                  <a:pt x="1033856" y="42672"/>
                </a:lnTo>
                <a:lnTo>
                  <a:pt x="1031113" y="41148"/>
                </a:lnTo>
                <a:lnTo>
                  <a:pt x="1027938" y="40513"/>
                </a:lnTo>
                <a:lnTo>
                  <a:pt x="1018667" y="40513"/>
                </a:lnTo>
                <a:lnTo>
                  <a:pt x="995680" y="59817"/>
                </a:lnTo>
                <a:lnTo>
                  <a:pt x="994029" y="49911"/>
                </a:lnTo>
                <a:lnTo>
                  <a:pt x="993876" y="49149"/>
                </a:lnTo>
                <a:lnTo>
                  <a:pt x="993775" y="48641"/>
                </a:lnTo>
                <a:lnTo>
                  <a:pt x="993394" y="47498"/>
                </a:lnTo>
                <a:lnTo>
                  <a:pt x="993051" y="46609"/>
                </a:lnTo>
                <a:lnTo>
                  <a:pt x="992682" y="45720"/>
                </a:lnTo>
                <a:lnTo>
                  <a:pt x="992632" y="45593"/>
                </a:lnTo>
                <a:lnTo>
                  <a:pt x="992124" y="44831"/>
                </a:lnTo>
                <a:lnTo>
                  <a:pt x="990727" y="43688"/>
                </a:lnTo>
                <a:lnTo>
                  <a:pt x="989838" y="43307"/>
                </a:lnTo>
                <a:lnTo>
                  <a:pt x="989152" y="43053"/>
                </a:lnTo>
                <a:lnTo>
                  <a:pt x="989393" y="43053"/>
                </a:lnTo>
                <a:lnTo>
                  <a:pt x="987679" y="42672"/>
                </a:lnTo>
                <a:lnTo>
                  <a:pt x="966216" y="42672"/>
                </a:lnTo>
                <a:lnTo>
                  <a:pt x="966216" y="147701"/>
                </a:lnTo>
                <a:lnTo>
                  <a:pt x="997585" y="147701"/>
                </a:lnTo>
                <a:lnTo>
                  <a:pt x="997585" y="83185"/>
                </a:lnTo>
                <a:lnTo>
                  <a:pt x="1002411" y="74422"/>
                </a:lnTo>
                <a:lnTo>
                  <a:pt x="1008697" y="70104"/>
                </a:lnTo>
                <a:lnTo>
                  <a:pt x="1020432" y="70104"/>
                </a:lnTo>
                <a:lnTo>
                  <a:pt x="1021461" y="70231"/>
                </a:lnTo>
                <a:lnTo>
                  <a:pt x="1025906" y="70993"/>
                </a:lnTo>
                <a:lnTo>
                  <a:pt x="1028446" y="70993"/>
                </a:lnTo>
                <a:lnTo>
                  <a:pt x="1033145" y="59817"/>
                </a:lnTo>
                <a:lnTo>
                  <a:pt x="1035646" y="45720"/>
                </a:lnTo>
                <a:lnTo>
                  <a:pt x="1035735" y="45212"/>
                </a:lnTo>
                <a:lnTo>
                  <a:pt x="1035812" y="44831"/>
                </a:lnTo>
                <a:lnTo>
                  <a:pt x="1076833" y="138430"/>
                </a:lnTo>
                <a:lnTo>
                  <a:pt x="1056513" y="180975"/>
                </a:lnTo>
                <a:lnTo>
                  <a:pt x="1083056" y="180975"/>
                </a:lnTo>
                <a:lnTo>
                  <a:pt x="1089914" y="174879"/>
                </a:lnTo>
                <a:lnTo>
                  <a:pt x="1119225" y="105918"/>
                </a:lnTo>
                <a:lnTo>
                  <a:pt x="1146111" y="42672"/>
                </a:lnTo>
                <a:close/>
              </a:path>
            </a:pathLst>
          </a:custGeom>
          <a:solidFill>
            <a:srgbClr val="3939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07794" y="1730755"/>
            <a:ext cx="8495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PhA</a:t>
            </a:r>
            <a:r>
              <a:rPr dirty="0" sz="1200" spc="-10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obtained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through</a:t>
            </a:r>
            <a:r>
              <a:rPr dirty="0" sz="1200" spc="-12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BIA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can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be</a:t>
            </a:r>
            <a:r>
              <a:rPr dirty="0" sz="12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4A4F5A"/>
                </a:solidFill>
                <a:latin typeface="Tahoma"/>
                <a:cs typeface="Tahoma"/>
              </a:rPr>
              <a:t>used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as</a:t>
            </a:r>
            <a:r>
              <a:rPr dirty="0" sz="12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9F112C"/>
                </a:solidFill>
                <a:latin typeface="Tahoma"/>
                <a:cs typeface="Tahoma"/>
              </a:rPr>
              <a:t>a</a:t>
            </a:r>
            <a:r>
              <a:rPr dirty="0" sz="1200" spc="-8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predictor</a:t>
            </a:r>
            <a:r>
              <a:rPr dirty="0" sz="1200" spc="-8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of</a:t>
            </a:r>
            <a:r>
              <a:rPr dirty="0" sz="12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infection</a:t>
            </a:r>
            <a:r>
              <a:rPr dirty="0" sz="1200" spc="-10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as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it</a:t>
            </a:r>
            <a:r>
              <a:rPr dirty="0" sz="12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9F112C"/>
                </a:solidFill>
                <a:latin typeface="Tahoma"/>
                <a:cs typeface="Tahoma"/>
              </a:rPr>
              <a:t>shows</a:t>
            </a:r>
            <a:r>
              <a:rPr dirty="0" sz="12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9F112C"/>
                </a:solidFill>
                <a:latin typeface="Tahoma"/>
                <a:cs typeface="Tahoma"/>
              </a:rPr>
              <a:t>a</a:t>
            </a:r>
            <a:r>
              <a:rPr dirty="0" sz="1200" spc="-8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significant</a:t>
            </a:r>
            <a:r>
              <a:rPr dirty="0" sz="1200" spc="-12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association</a:t>
            </a:r>
            <a:r>
              <a:rPr dirty="0" sz="1200" spc="-8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with</a:t>
            </a:r>
            <a:r>
              <a:rPr dirty="0" sz="1200" spc="-8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inflammatory</a:t>
            </a:r>
            <a:r>
              <a:rPr dirty="0" sz="1200" spc="-10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9F112C"/>
                </a:solidFill>
                <a:latin typeface="Tahoma"/>
                <a:cs typeface="Tahoma"/>
              </a:rPr>
              <a:t>markers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5055" y="2488095"/>
            <a:ext cx="3556852" cy="184417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8482" y="4459403"/>
            <a:ext cx="1228376" cy="292817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1120571" y="5301488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51" y="0"/>
                </a:moveTo>
                <a:lnTo>
                  <a:pt x="15621" y="0"/>
                </a:lnTo>
                <a:lnTo>
                  <a:pt x="11341" y="0"/>
                </a:lnTo>
                <a:lnTo>
                  <a:pt x="7670" y="1524"/>
                </a:lnTo>
                <a:lnTo>
                  <a:pt x="1536" y="7620"/>
                </a:lnTo>
                <a:lnTo>
                  <a:pt x="0" y="11303"/>
                </a:lnTo>
                <a:lnTo>
                  <a:pt x="0" y="19939"/>
                </a:lnTo>
                <a:lnTo>
                  <a:pt x="1536" y="23621"/>
                </a:lnTo>
                <a:lnTo>
                  <a:pt x="7670" y="29718"/>
                </a:lnTo>
                <a:lnTo>
                  <a:pt x="11341" y="31368"/>
                </a:lnTo>
                <a:lnTo>
                  <a:pt x="19951" y="31368"/>
                </a:lnTo>
                <a:lnTo>
                  <a:pt x="23647" y="29718"/>
                </a:lnTo>
                <a:lnTo>
                  <a:pt x="29781" y="23621"/>
                </a:lnTo>
                <a:lnTo>
                  <a:pt x="31318" y="19939"/>
                </a:lnTo>
                <a:lnTo>
                  <a:pt x="31318" y="11303"/>
                </a:lnTo>
                <a:lnTo>
                  <a:pt x="29781" y="7620"/>
                </a:lnTo>
                <a:lnTo>
                  <a:pt x="23647" y="1524"/>
                </a:lnTo>
                <a:lnTo>
                  <a:pt x="19951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23810" y="5268340"/>
            <a:ext cx="1861273" cy="114808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120571" y="5517896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51" y="0"/>
                </a:moveTo>
                <a:lnTo>
                  <a:pt x="15621" y="0"/>
                </a:lnTo>
                <a:lnTo>
                  <a:pt x="11341" y="0"/>
                </a:lnTo>
                <a:lnTo>
                  <a:pt x="7670" y="1523"/>
                </a:lnTo>
                <a:lnTo>
                  <a:pt x="1536" y="7619"/>
                </a:lnTo>
                <a:lnTo>
                  <a:pt x="0" y="11302"/>
                </a:lnTo>
                <a:lnTo>
                  <a:pt x="0" y="19938"/>
                </a:lnTo>
                <a:lnTo>
                  <a:pt x="1536" y="23621"/>
                </a:lnTo>
                <a:lnTo>
                  <a:pt x="7670" y="29717"/>
                </a:lnTo>
                <a:lnTo>
                  <a:pt x="11341" y="31368"/>
                </a:lnTo>
                <a:lnTo>
                  <a:pt x="19951" y="31368"/>
                </a:lnTo>
                <a:lnTo>
                  <a:pt x="23647" y="29717"/>
                </a:lnTo>
                <a:lnTo>
                  <a:pt x="29781" y="23621"/>
                </a:lnTo>
                <a:lnTo>
                  <a:pt x="31318" y="19938"/>
                </a:lnTo>
                <a:lnTo>
                  <a:pt x="31318" y="11302"/>
                </a:lnTo>
                <a:lnTo>
                  <a:pt x="29781" y="7619"/>
                </a:lnTo>
                <a:lnTo>
                  <a:pt x="23647" y="1523"/>
                </a:lnTo>
                <a:lnTo>
                  <a:pt x="19951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33042" y="5484748"/>
            <a:ext cx="1805686" cy="116204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1120571" y="5734303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51" y="0"/>
                </a:moveTo>
                <a:lnTo>
                  <a:pt x="15621" y="0"/>
                </a:lnTo>
                <a:lnTo>
                  <a:pt x="11341" y="0"/>
                </a:lnTo>
                <a:lnTo>
                  <a:pt x="7670" y="1524"/>
                </a:lnTo>
                <a:lnTo>
                  <a:pt x="1536" y="7620"/>
                </a:lnTo>
                <a:lnTo>
                  <a:pt x="0" y="11303"/>
                </a:lnTo>
                <a:lnTo>
                  <a:pt x="0" y="19951"/>
                </a:lnTo>
                <a:lnTo>
                  <a:pt x="1536" y="23647"/>
                </a:lnTo>
                <a:lnTo>
                  <a:pt x="7670" y="29781"/>
                </a:lnTo>
                <a:lnTo>
                  <a:pt x="11341" y="31318"/>
                </a:lnTo>
                <a:lnTo>
                  <a:pt x="19951" y="31318"/>
                </a:lnTo>
                <a:lnTo>
                  <a:pt x="23647" y="29781"/>
                </a:lnTo>
                <a:lnTo>
                  <a:pt x="29781" y="23647"/>
                </a:lnTo>
                <a:lnTo>
                  <a:pt x="31318" y="19951"/>
                </a:lnTo>
                <a:lnTo>
                  <a:pt x="31318" y="11303"/>
                </a:lnTo>
                <a:lnTo>
                  <a:pt x="29781" y="7620"/>
                </a:lnTo>
                <a:lnTo>
                  <a:pt x="23647" y="1524"/>
                </a:lnTo>
                <a:lnTo>
                  <a:pt x="19951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32166" y="5696178"/>
            <a:ext cx="1379341" cy="11978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590288" y="2218943"/>
            <a:ext cx="6286500" cy="3892550"/>
            <a:chOff x="4590288" y="2218943"/>
            <a:chExt cx="6286500" cy="389255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45776" y="2218943"/>
              <a:ext cx="2930924" cy="385666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90288" y="2308859"/>
              <a:ext cx="3407664" cy="380237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36770" y="3556253"/>
              <a:ext cx="3021330" cy="3175"/>
            </a:xfrm>
            <a:custGeom>
              <a:avLst/>
              <a:gdLst/>
              <a:ahLst/>
              <a:cxnLst/>
              <a:rect l="l" t="t" r="r" b="b"/>
              <a:pathLst>
                <a:path w="3021329" h="3175">
                  <a:moveTo>
                    <a:pt x="0" y="2921"/>
                  </a:moveTo>
                  <a:lnTo>
                    <a:pt x="3020822" y="0"/>
                  </a:lnTo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7685"/>
            <a:ext cx="273050" cy="988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604" y="1050289"/>
            <a:ext cx="1023162" cy="186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4549" y="1416938"/>
            <a:ext cx="1187323" cy="18567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34347" y="1740364"/>
            <a:ext cx="7062470" cy="2715895"/>
            <a:chOff x="434347" y="1740364"/>
            <a:chExt cx="7062470" cy="2715895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347" y="1740364"/>
              <a:ext cx="7062200" cy="124976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1584" y="1787651"/>
              <a:ext cx="6967728" cy="11551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347" y="3029711"/>
              <a:ext cx="7062200" cy="14264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1490" y="3086861"/>
              <a:ext cx="6947915" cy="131216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91490" y="3086861"/>
              <a:ext cx="6948170" cy="1312545"/>
            </a:xfrm>
            <a:custGeom>
              <a:avLst/>
              <a:gdLst/>
              <a:ahLst/>
              <a:cxnLst/>
              <a:rect l="l" t="t" r="r" b="b"/>
              <a:pathLst>
                <a:path w="6948170" h="1312545">
                  <a:moveTo>
                    <a:pt x="0" y="125475"/>
                  </a:moveTo>
                  <a:lnTo>
                    <a:pt x="9861" y="76616"/>
                  </a:lnTo>
                  <a:lnTo>
                    <a:pt x="36755" y="36734"/>
                  </a:lnTo>
                  <a:lnTo>
                    <a:pt x="76643" y="9854"/>
                  </a:lnTo>
                  <a:lnTo>
                    <a:pt x="125488" y="0"/>
                  </a:lnTo>
                  <a:lnTo>
                    <a:pt x="6822439" y="0"/>
                  </a:lnTo>
                  <a:lnTo>
                    <a:pt x="6871299" y="9854"/>
                  </a:lnTo>
                  <a:lnTo>
                    <a:pt x="6911181" y="36734"/>
                  </a:lnTo>
                  <a:lnTo>
                    <a:pt x="6938061" y="76616"/>
                  </a:lnTo>
                  <a:lnTo>
                    <a:pt x="6947915" y="125475"/>
                  </a:lnTo>
                  <a:lnTo>
                    <a:pt x="6947915" y="1186688"/>
                  </a:lnTo>
                  <a:lnTo>
                    <a:pt x="6938061" y="1235547"/>
                  </a:lnTo>
                  <a:lnTo>
                    <a:pt x="6911181" y="1275429"/>
                  </a:lnTo>
                  <a:lnTo>
                    <a:pt x="6871299" y="1302309"/>
                  </a:lnTo>
                  <a:lnTo>
                    <a:pt x="6822439" y="1312164"/>
                  </a:lnTo>
                  <a:lnTo>
                    <a:pt x="125488" y="1312164"/>
                  </a:lnTo>
                  <a:lnTo>
                    <a:pt x="76643" y="1302309"/>
                  </a:lnTo>
                  <a:lnTo>
                    <a:pt x="36755" y="1275429"/>
                  </a:lnTo>
                  <a:lnTo>
                    <a:pt x="9861" y="1235547"/>
                  </a:lnTo>
                  <a:lnTo>
                    <a:pt x="0" y="1186688"/>
                  </a:lnTo>
                  <a:lnTo>
                    <a:pt x="0" y="125475"/>
                  </a:lnTo>
                  <a:close/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135115" y="2667126"/>
            <a:ext cx="122364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45" b="1" i="1">
                <a:solidFill>
                  <a:srgbClr val="4A4F5A"/>
                </a:solidFill>
                <a:latin typeface="Trebuchet MS"/>
                <a:cs typeface="Trebuchet MS"/>
              </a:rPr>
              <a:t>Support</a:t>
            </a:r>
            <a:r>
              <a:rPr dirty="0" sz="800" spc="-60" b="1" i="1">
                <a:solidFill>
                  <a:srgbClr val="4A4F5A"/>
                </a:solidFill>
                <a:latin typeface="Trebuchet MS"/>
                <a:cs typeface="Trebuchet MS"/>
              </a:rPr>
              <a:t> </a:t>
            </a:r>
            <a:r>
              <a:rPr dirty="0" sz="800" spc="-55" b="1" i="1">
                <a:solidFill>
                  <a:srgbClr val="4A4F5A"/>
                </a:solidFill>
                <a:latin typeface="Trebuchet MS"/>
                <a:cs typeface="Trebuchet MS"/>
              </a:rPr>
              <a:t>Care</a:t>
            </a:r>
            <a:r>
              <a:rPr dirty="0" sz="800" spc="-70" b="1" i="1">
                <a:solidFill>
                  <a:srgbClr val="4A4F5A"/>
                </a:solidFill>
                <a:latin typeface="Trebuchet MS"/>
                <a:cs typeface="Trebuchet MS"/>
              </a:rPr>
              <a:t> </a:t>
            </a:r>
            <a:r>
              <a:rPr dirty="0" sz="800" spc="-50" b="1" i="1">
                <a:solidFill>
                  <a:srgbClr val="4A4F5A"/>
                </a:solidFill>
                <a:latin typeface="Trebuchet MS"/>
                <a:cs typeface="Trebuchet MS"/>
              </a:rPr>
              <a:t>Cancer </a:t>
            </a:r>
            <a:r>
              <a:rPr dirty="0" sz="800" spc="-10" b="1" i="1">
                <a:solidFill>
                  <a:srgbClr val="4A4F5A"/>
                </a:solidFill>
                <a:latin typeface="Trebuchet MS"/>
                <a:cs typeface="Trebuchet MS"/>
              </a:rPr>
              <a:t>(2013)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85216" y="3157727"/>
            <a:ext cx="6757415" cy="576072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782317" y="3445255"/>
            <a:ext cx="170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33333"/>
                </a:solidFill>
                <a:latin typeface="Malgun Gothic"/>
                <a:cs typeface="Malgun Gothic"/>
              </a:rPr>
              <a:t>↑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20772" y="3445255"/>
            <a:ext cx="170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33333"/>
                </a:solidFill>
                <a:latin typeface="Malgun Gothic"/>
                <a:cs typeface="Malgun Gothic"/>
              </a:rPr>
              <a:t>↓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15129" y="3445255"/>
            <a:ext cx="170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33333"/>
                </a:solidFill>
                <a:latin typeface="Malgun Gothic"/>
                <a:cs typeface="Malgun Gothic"/>
              </a:rPr>
              <a:t>↑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35726" y="3445255"/>
            <a:ext cx="170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33333"/>
                </a:solidFill>
                <a:latin typeface="Malgun Gothic"/>
                <a:cs typeface="Malgun Gothic"/>
              </a:rPr>
              <a:t>↓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5302" y="3912996"/>
            <a:ext cx="6298565" cy="310515"/>
            <a:chOff x="715302" y="3912996"/>
            <a:chExt cx="6298565" cy="310515"/>
          </a:xfrm>
        </p:grpSpPr>
        <p:sp>
          <p:nvSpPr>
            <p:cNvPr id="24" name="object 24"/>
            <p:cNvSpPr/>
            <p:nvPr/>
          </p:nvSpPr>
          <p:spPr>
            <a:xfrm>
              <a:off x="715302" y="395287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4028" y="0"/>
                  </a:moveTo>
                  <a:lnTo>
                    <a:pt x="18821" y="0"/>
                  </a:lnTo>
                  <a:lnTo>
                    <a:pt x="13665" y="0"/>
                  </a:lnTo>
                  <a:lnTo>
                    <a:pt x="9232" y="1905"/>
                  </a:lnTo>
                  <a:lnTo>
                    <a:pt x="1841" y="9270"/>
                  </a:lnTo>
                  <a:lnTo>
                    <a:pt x="0" y="13716"/>
                  </a:lnTo>
                  <a:lnTo>
                    <a:pt x="0" y="24130"/>
                  </a:lnTo>
                  <a:lnTo>
                    <a:pt x="1841" y="28575"/>
                  </a:lnTo>
                  <a:lnTo>
                    <a:pt x="9232" y="35941"/>
                  </a:lnTo>
                  <a:lnTo>
                    <a:pt x="13665" y="37718"/>
                  </a:lnTo>
                  <a:lnTo>
                    <a:pt x="24028" y="37718"/>
                  </a:lnTo>
                  <a:lnTo>
                    <a:pt x="28486" y="35941"/>
                  </a:lnTo>
                  <a:lnTo>
                    <a:pt x="35877" y="28575"/>
                  </a:lnTo>
                  <a:lnTo>
                    <a:pt x="37718" y="24130"/>
                  </a:lnTo>
                  <a:lnTo>
                    <a:pt x="37718" y="13716"/>
                  </a:lnTo>
                  <a:lnTo>
                    <a:pt x="35877" y="9270"/>
                  </a:lnTo>
                  <a:lnTo>
                    <a:pt x="28486" y="1905"/>
                  </a:lnTo>
                  <a:lnTo>
                    <a:pt x="24028" y="0"/>
                  </a:lnTo>
                  <a:close/>
                </a:path>
              </a:pathLst>
            </a:custGeom>
            <a:solidFill>
              <a:srgbClr val="9096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2248" y="3912996"/>
              <a:ext cx="6191580" cy="31000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105271" y="4116070"/>
            <a:ext cx="12414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45" b="1" i="1">
                <a:solidFill>
                  <a:srgbClr val="4A4F5A"/>
                </a:solidFill>
                <a:latin typeface="Trebuchet MS"/>
                <a:cs typeface="Trebuchet MS"/>
              </a:rPr>
              <a:t>Nutrition</a:t>
            </a:r>
            <a:r>
              <a:rPr dirty="0" sz="800" spc="-80" b="1" i="1">
                <a:solidFill>
                  <a:srgbClr val="4A4F5A"/>
                </a:solidFill>
                <a:latin typeface="Trebuchet MS"/>
                <a:cs typeface="Trebuchet MS"/>
              </a:rPr>
              <a:t> </a:t>
            </a:r>
            <a:r>
              <a:rPr dirty="0" sz="800" spc="-45" b="1" i="1">
                <a:solidFill>
                  <a:srgbClr val="4A4F5A"/>
                </a:solidFill>
                <a:latin typeface="Trebuchet MS"/>
                <a:cs typeface="Trebuchet MS"/>
              </a:rPr>
              <a:t>and</a:t>
            </a:r>
            <a:r>
              <a:rPr dirty="0" sz="800" spc="-50" b="1" i="1">
                <a:solidFill>
                  <a:srgbClr val="4A4F5A"/>
                </a:solidFill>
                <a:latin typeface="Trebuchet MS"/>
                <a:cs typeface="Trebuchet MS"/>
              </a:rPr>
              <a:t> Cancer</a:t>
            </a:r>
            <a:r>
              <a:rPr dirty="0" sz="800" spc="-55" b="1" i="1">
                <a:solidFill>
                  <a:srgbClr val="4A4F5A"/>
                </a:solidFill>
                <a:latin typeface="Trebuchet MS"/>
                <a:cs typeface="Trebuchet MS"/>
              </a:rPr>
              <a:t> </a:t>
            </a:r>
            <a:r>
              <a:rPr dirty="0" sz="800" spc="-10" b="1" i="1">
                <a:solidFill>
                  <a:srgbClr val="4A4F5A"/>
                </a:solidFill>
                <a:latin typeface="Trebuchet MS"/>
                <a:cs typeface="Trebuchet MS"/>
              </a:rPr>
              <a:t>(2018)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4347" y="4600997"/>
            <a:ext cx="7062470" cy="1320165"/>
            <a:chOff x="434347" y="4600997"/>
            <a:chExt cx="7062470" cy="1320165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4347" y="4600997"/>
              <a:ext cx="7062200" cy="13197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1584" y="4648199"/>
              <a:ext cx="6967728" cy="122529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337553" y="5580989"/>
            <a:ext cx="10229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90" b="1" i="1">
                <a:solidFill>
                  <a:srgbClr val="4A4F5A"/>
                </a:solidFill>
                <a:latin typeface="Trebuchet MS"/>
                <a:cs typeface="Trebuchet MS"/>
              </a:rPr>
              <a:t>J</a:t>
            </a:r>
            <a:r>
              <a:rPr dirty="0" sz="800" spc="-65" b="1" i="1">
                <a:solidFill>
                  <a:srgbClr val="4A4F5A"/>
                </a:solidFill>
                <a:latin typeface="Trebuchet MS"/>
                <a:cs typeface="Trebuchet MS"/>
              </a:rPr>
              <a:t> </a:t>
            </a:r>
            <a:r>
              <a:rPr dirty="0" sz="800" spc="-60" b="1" i="1">
                <a:solidFill>
                  <a:srgbClr val="4A4F5A"/>
                </a:solidFill>
                <a:latin typeface="Trebuchet MS"/>
                <a:cs typeface="Trebuchet MS"/>
              </a:rPr>
              <a:t>Gastric</a:t>
            </a:r>
            <a:r>
              <a:rPr dirty="0" sz="800" spc="-75" b="1" i="1">
                <a:solidFill>
                  <a:srgbClr val="4A4F5A"/>
                </a:solidFill>
                <a:latin typeface="Trebuchet MS"/>
                <a:cs typeface="Trebuchet MS"/>
              </a:rPr>
              <a:t> </a:t>
            </a:r>
            <a:r>
              <a:rPr dirty="0" sz="800" spc="-50" b="1" i="1">
                <a:solidFill>
                  <a:srgbClr val="4A4F5A"/>
                </a:solidFill>
                <a:latin typeface="Trebuchet MS"/>
                <a:cs typeface="Trebuchet MS"/>
              </a:rPr>
              <a:t>Cancer</a:t>
            </a:r>
            <a:r>
              <a:rPr dirty="0" sz="800" spc="-70" b="1" i="1">
                <a:solidFill>
                  <a:srgbClr val="4A4F5A"/>
                </a:solidFill>
                <a:latin typeface="Trebuchet MS"/>
                <a:cs typeface="Trebuchet MS"/>
              </a:rPr>
              <a:t> </a:t>
            </a:r>
            <a:r>
              <a:rPr dirty="0" sz="800" spc="-10" b="1" i="1">
                <a:solidFill>
                  <a:srgbClr val="4A4F5A"/>
                </a:solidFill>
                <a:latin typeface="Trebuchet MS"/>
                <a:cs typeface="Trebuchet MS"/>
              </a:rPr>
              <a:t>(2019)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724655" y="5827776"/>
            <a:ext cx="3793236" cy="274320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7586471" y="1874641"/>
            <a:ext cx="4322445" cy="4293235"/>
            <a:chOff x="7586471" y="1874641"/>
            <a:chExt cx="4322445" cy="4293235"/>
          </a:xfrm>
        </p:grpSpPr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37090" y="4035588"/>
              <a:ext cx="4169990" cy="210001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18841" y="1874641"/>
              <a:ext cx="4168463" cy="208885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592567" y="3983736"/>
              <a:ext cx="4310380" cy="2178050"/>
            </a:xfrm>
            <a:custGeom>
              <a:avLst/>
              <a:gdLst/>
              <a:ahLst/>
              <a:cxnLst/>
              <a:rect l="l" t="t" r="r" b="b"/>
              <a:pathLst>
                <a:path w="4310380" h="2178050">
                  <a:moveTo>
                    <a:pt x="0" y="2177796"/>
                  </a:moveTo>
                  <a:lnTo>
                    <a:pt x="4309872" y="2177796"/>
                  </a:lnTo>
                  <a:lnTo>
                    <a:pt x="4309872" y="0"/>
                  </a:lnTo>
                  <a:lnTo>
                    <a:pt x="0" y="0"/>
                  </a:lnTo>
                  <a:lnTo>
                    <a:pt x="0" y="2177796"/>
                  </a:lnTo>
                  <a:close/>
                </a:path>
              </a:pathLst>
            </a:custGeom>
            <a:ln w="12192">
              <a:solidFill>
                <a:srgbClr val="9000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6212"/>
            <a:ext cx="273050" cy="1002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604" y="1050289"/>
            <a:ext cx="1023162" cy="186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4549" y="1416938"/>
            <a:ext cx="1883790" cy="1540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85950" y="1742058"/>
            <a:ext cx="77235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30">
                <a:solidFill>
                  <a:srgbClr val="9F112C"/>
                </a:solidFill>
                <a:latin typeface="Tahoma"/>
                <a:cs typeface="Tahoma"/>
              </a:rPr>
              <a:t>HMB</a:t>
            </a:r>
            <a:r>
              <a:rPr dirty="0" sz="1400" spc="-12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therapy</a:t>
            </a:r>
            <a:r>
              <a:rPr dirty="0" sz="1400" spc="-12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improved</a:t>
            </a:r>
            <a:r>
              <a:rPr dirty="0" sz="1400" spc="-13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amino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acid</a:t>
            </a:r>
            <a:r>
              <a:rPr dirty="0" sz="1400" spc="-12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metabolism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,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reduced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protein</a:t>
            </a:r>
            <a:r>
              <a:rPr dirty="0" sz="1400" spc="-12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breakdown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,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and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increased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the</a:t>
            </a:r>
            <a:r>
              <a:rPr dirty="0" sz="1400" spc="-12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35">
                <a:solidFill>
                  <a:srgbClr val="9F112C"/>
                </a:solidFill>
                <a:latin typeface="Tahoma"/>
                <a:cs typeface="Tahoma"/>
              </a:rPr>
              <a:t>PhA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59217" y="2319273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8" y="0"/>
                </a:moveTo>
                <a:lnTo>
                  <a:pt x="15621" y="0"/>
                </a:lnTo>
                <a:lnTo>
                  <a:pt x="11302" y="0"/>
                </a:lnTo>
                <a:lnTo>
                  <a:pt x="7619" y="1524"/>
                </a:lnTo>
                <a:lnTo>
                  <a:pt x="1524" y="7620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2"/>
                </a:lnTo>
                <a:lnTo>
                  <a:pt x="7619" y="29717"/>
                </a:lnTo>
                <a:lnTo>
                  <a:pt x="11302" y="31241"/>
                </a:lnTo>
                <a:lnTo>
                  <a:pt x="19938" y="31241"/>
                </a:lnTo>
                <a:lnTo>
                  <a:pt x="23622" y="29717"/>
                </a:lnTo>
                <a:lnTo>
                  <a:pt x="29717" y="23622"/>
                </a:lnTo>
                <a:lnTo>
                  <a:pt x="31368" y="19938"/>
                </a:lnTo>
                <a:lnTo>
                  <a:pt x="31368" y="11302"/>
                </a:lnTo>
                <a:lnTo>
                  <a:pt x="29717" y="7620"/>
                </a:lnTo>
                <a:lnTo>
                  <a:pt x="23622" y="1524"/>
                </a:lnTo>
                <a:lnTo>
                  <a:pt x="19938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67247" y="2286000"/>
            <a:ext cx="2864404" cy="11493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1748569" y="2530986"/>
            <a:ext cx="4535170" cy="3510915"/>
            <a:chOff x="1748569" y="2530986"/>
            <a:chExt cx="4535170" cy="3510915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48569" y="2530986"/>
              <a:ext cx="4530741" cy="35055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36313" y="5790437"/>
              <a:ext cx="2237740" cy="241300"/>
            </a:xfrm>
            <a:custGeom>
              <a:avLst/>
              <a:gdLst/>
              <a:ahLst/>
              <a:cxnLst/>
              <a:rect l="l" t="t" r="r" b="b"/>
              <a:pathLst>
                <a:path w="2237740" h="241300">
                  <a:moveTo>
                    <a:pt x="938784" y="0"/>
                  </a:moveTo>
                  <a:lnTo>
                    <a:pt x="2218563" y="0"/>
                  </a:lnTo>
                </a:path>
                <a:path w="2237740" h="241300">
                  <a:moveTo>
                    <a:pt x="0" y="117348"/>
                  </a:moveTo>
                  <a:lnTo>
                    <a:pt x="2237232" y="119824"/>
                  </a:lnTo>
                </a:path>
                <a:path w="2237740" h="241300">
                  <a:moveTo>
                    <a:pt x="0" y="241160"/>
                  </a:moveTo>
                  <a:lnTo>
                    <a:pt x="1647698" y="233172"/>
                  </a:lnTo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7959217" y="2535682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8" y="0"/>
                </a:moveTo>
                <a:lnTo>
                  <a:pt x="15621" y="0"/>
                </a:lnTo>
                <a:lnTo>
                  <a:pt x="11302" y="0"/>
                </a:lnTo>
                <a:lnTo>
                  <a:pt x="7619" y="1523"/>
                </a:lnTo>
                <a:lnTo>
                  <a:pt x="1524" y="7619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1"/>
                </a:lnTo>
                <a:lnTo>
                  <a:pt x="7619" y="29717"/>
                </a:lnTo>
                <a:lnTo>
                  <a:pt x="11302" y="31241"/>
                </a:lnTo>
                <a:lnTo>
                  <a:pt x="19938" y="31241"/>
                </a:lnTo>
                <a:lnTo>
                  <a:pt x="23622" y="29717"/>
                </a:lnTo>
                <a:lnTo>
                  <a:pt x="29717" y="23621"/>
                </a:lnTo>
                <a:lnTo>
                  <a:pt x="31368" y="19938"/>
                </a:lnTo>
                <a:lnTo>
                  <a:pt x="31368" y="11302"/>
                </a:lnTo>
                <a:lnTo>
                  <a:pt x="29717" y="7619"/>
                </a:lnTo>
                <a:lnTo>
                  <a:pt x="23622" y="1523"/>
                </a:lnTo>
                <a:lnTo>
                  <a:pt x="19938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8073008" y="2502407"/>
            <a:ext cx="2952750" cy="114935"/>
            <a:chOff x="8073008" y="2502407"/>
            <a:chExt cx="2952750" cy="11493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73008" y="2502407"/>
              <a:ext cx="1220724" cy="11493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09100" y="2502407"/>
              <a:ext cx="1716405" cy="110489"/>
            </a:xfrm>
            <a:custGeom>
              <a:avLst/>
              <a:gdLst/>
              <a:ahLst/>
              <a:cxnLst/>
              <a:rect l="l" t="t" r="r" b="b"/>
              <a:pathLst>
                <a:path w="1716404" h="110489">
                  <a:moveTo>
                    <a:pt x="31242" y="50533"/>
                  </a:moveTo>
                  <a:lnTo>
                    <a:pt x="0" y="50533"/>
                  </a:lnTo>
                  <a:lnTo>
                    <a:pt x="0" y="60071"/>
                  </a:lnTo>
                  <a:lnTo>
                    <a:pt x="31242" y="60071"/>
                  </a:lnTo>
                  <a:lnTo>
                    <a:pt x="31242" y="50533"/>
                  </a:lnTo>
                  <a:close/>
                </a:path>
                <a:path w="1716404" h="110489">
                  <a:moveTo>
                    <a:pt x="97536" y="84201"/>
                  </a:moveTo>
                  <a:lnTo>
                    <a:pt x="94361" y="80137"/>
                  </a:lnTo>
                  <a:lnTo>
                    <a:pt x="93853" y="79375"/>
                  </a:lnTo>
                  <a:lnTo>
                    <a:pt x="93091" y="78994"/>
                  </a:lnTo>
                  <a:lnTo>
                    <a:pt x="91440" y="78994"/>
                  </a:lnTo>
                  <a:lnTo>
                    <a:pt x="90678" y="79375"/>
                  </a:lnTo>
                  <a:lnTo>
                    <a:pt x="89154" y="80645"/>
                  </a:lnTo>
                  <a:lnTo>
                    <a:pt x="88138" y="81407"/>
                  </a:lnTo>
                  <a:lnTo>
                    <a:pt x="85852" y="82931"/>
                  </a:lnTo>
                  <a:lnTo>
                    <a:pt x="84328" y="83693"/>
                  </a:lnTo>
                  <a:lnTo>
                    <a:pt x="80772" y="84963"/>
                  </a:lnTo>
                  <a:lnTo>
                    <a:pt x="78486" y="85344"/>
                  </a:lnTo>
                  <a:lnTo>
                    <a:pt x="72898" y="85344"/>
                  </a:lnTo>
                  <a:lnTo>
                    <a:pt x="70980" y="84963"/>
                  </a:lnTo>
                  <a:lnTo>
                    <a:pt x="70612" y="84963"/>
                  </a:lnTo>
                  <a:lnTo>
                    <a:pt x="68072" y="83693"/>
                  </a:lnTo>
                  <a:lnTo>
                    <a:pt x="65786" y="82677"/>
                  </a:lnTo>
                  <a:lnTo>
                    <a:pt x="63754" y="81153"/>
                  </a:lnTo>
                  <a:lnTo>
                    <a:pt x="62230" y="78994"/>
                  </a:lnTo>
                  <a:lnTo>
                    <a:pt x="60579" y="76962"/>
                  </a:lnTo>
                  <a:lnTo>
                    <a:pt x="59309" y="74422"/>
                  </a:lnTo>
                  <a:lnTo>
                    <a:pt x="58420" y="71501"/>
                  </a:lnTo>
                  <a:lnTo>
                    <a:pt x="57531" y="68453"/>
                  </a:lnTo>
                  <a:lnTo>
                    <a:pt x="57150" y="65024"/>
                  </a:lnTo>
                  <a:lnTo>
                    <a:pt x="57264" y="56388"/>
                  </a:lnTo>
                  <a:lnTo>
                    <a:pt x="57531" y="54102"/>
                  </a:lnTo>
                  <a:lnTo>
                    <a:pt x="58420" y="51054"/>
                  </a:lnTo>
                  <a:lnTo>
                    <a:pt x="59182" y="48133"/>
                  </a:lnTo>
                  <a:lnTo>
                    <a:pt x="60452" y="45466"/>
                  </a:lnTo>
                  <a:lnTo>
                    <a:pt x="62103" y="43434"/>
                  </a:lnTo>
                  <a:lnTo>
                    <a:pt x="63627" y="41275"/>
                  </a:lnTo>
                  <a:lnTo>
                    <a:pt x="65659" y="39751"/>
                  </a:lnTo>
                  <a:lnTo>
                    <a:pt x="70485" y="37465"/>
                  </a:lnTo>
                  <a:lnTo>
                    <a:pt x="73279" y="36957"/>
                  </a:lnTo>
                  <a:lnTo>
                    <a:pt x="78740" y="36957"/>
                  </a:lnTo>
                  <a:lnTo>
                    <a:pt x="80772" y="37211"/>
                  </a:lnTo>
                  <a:lnTo>
                    <a:pt x="82296" y="37719"/>
                  </a:lnTo>
                  <a:lnTo>
                    <a:pt x="83947" y="38227"/>
                  </a:lnTo>
                  <a:lnTo>
                    <a:pt x="86487" y="39370"/>
                  </a:lnTo>
                  <a:lnTo>
                    <a:pt x="87630" y="40005"/>
                  </a:lnTo>
                  <a:lnTo>
                    <a:pt x="88519" y="40640"/>
                  </a:lnTo>
                  <a:lnTo>
                    <a:pt x="90424" y="41910"/>
                  </a:lnTo>
                  <a:lnTo>
                    <a:pt x="92265" y="41910"/>
                  </a:lnTo>
                  <a:lnTo>
                    <a:pt x="93205" y="41275"/>
                  </a:lnTo>
                  <a:lnTo>
                    <a:pt x="93472" y="41021"/>
                  </a:lnTo>
                  <a:lnTo>
                    <a:pt x="96405" y="36957"/>
                  </a:lnTo>
                  <a:lnTo>
                    <a:pt x="96774" y="36449"/>
                  </a:lnTo>
                  <a:lnTo>
                    <a:pt x="94107" y="33782"/>
                  </a:lnTo>
                  <a:lnTo>
                    <a:pt x="91059" y="31750"/>
                  </a:lnTo>
                  <a:lnTo>
                    <a:pt x="87630" y="30353"/>
                  </a:lnTo>
                  <a:lnTo>
                    <a:pt x="84480" y="28956"/>
                  </a:lnTo>
                  <a:lnTo>
                    <a:pt x="84848" y="28956"/>
                  </a:lnTo>
                  <a:lnTo>
                    <a:pt x="80264" y="28067"/>
                  </a:lnTo>
                  <a:lnTo>
                    <a:pt x="70866" y="28067"/>
                  </a:lnTo>
                  <a:lnTo>
                    <a:pt x="66548" y="28956"/>
                  </a:lnTo>
                  <a:lnTo>
                    <a:pt x="62865" y="30607"/>
                  </a:lnTo>
                  <a:lnTo>
                    <a:pt x="59055" y="32258"/>
                  </a:lnTo>
                  <a:lnTo>
                    <a:pt x="45593" y="56388"/>
                  </a:lnTo>
                  <a:lnTo>
                    <a:pt x="45593" y="66294"/>
                  </a:lnTo>
                  <a:lnTo>
                    <a:pt x="46355" y="70993"/>
                  </a:lnTo>
                  <a:lnTo>
                    <a:pt x="47752" y="75057"/>
                  </a:lnTo>
                  <a:lnTo>
                    <a:pt x="49060" y="78994"/>
                  </a:lnTo>
                  <a:lnTo>
                    <a:pt x="62611" y="91821"/>
                  </a:lnTo>
                  <a:lnTo>
                    <a:pt x="66167" y="93345"/>
                  </a:lnTo>
                  <a:lnTo>
                    <a:pt x="69850" y="94107"/>
                  </a:lnTo>
                  <a:lnTo>
                    <a:pt x="78486" y="94107"/>
                  </a:lnTo>
                  <a:lnTo>
                    <a:pt x="82931" y="93345"/>
                  </a:lnTo>
                  <a:lnTo>
                    <a:pt x="86677" y="91821"/>
                  </a:lnTo>
                  <a:lnTo>
                    <a:pt x="91186" y="90170"/>
                  </a:lnTo>
                  <a:lnTo>
                    <a:pt x="94742" y="87630"/>
                  </a:lnTo>
                  <a:lnTo>
                    <a:pt x="96596" y="85344"/>
                  </a:lnTo>
                  <a:lnTo>
                    <a:pt x="97536" y="84201"/>
                  </a:lnTo>
                  <a:close/>
                </a:path>
                <a:path w="1716404" h="110489">
                  <a:moveTo>
                    <a:pt x="169037" y="56134"/>
                  </a:moveTo>
                  <a:lnTo>
                    <a:pt x="168275" y="51562"/>
                  </a:lnTo>
                  <a:lnTo>
                    <a:pt x="165481" y="43434"/>
                  </a:lnTo>
                  <a:lnTo>
                    <a:pt x="163449" y="40005"/>
                  </a:lnTo>
                  <a:lnTo>
                    <a:pt x="160782" y="37084"/>
                  </a:lnTo>
                  <a:lnTo>
                    <a:pt x="158242" y="34163"/>
                  </a:lnTo>
                  <a:lnTo>
                    <a:pt x="157353" y="33591"/>
                  </a:lnTo>
                  <a:lnTo>
                    <a:pt x="157353" y="53594"/>
                  </a:lnTo>
                  <a:lnTo>
                    <a:pt x="157353" y="68834"/>
                  </a:lnTo>
                  <a:lnTo>
                    <a:pt x="155892" y="74422"/>
                  </a:lnTo>
                  <a:lnTo>
                    <a:pt x="155727" y="74803"/>
                  </a:lnTo>
                  <a:lnTo>
                    <a:pt x="152654" y="78867"/>
                  </a:lnTo>
                  <a:lnTo>
                    <a:pt x="149606" y="83185"/>
                  </a:lnTo>
                  <a:lnTo>
                    <a:pt x="144907" y="85344"/>
                  </a:lnTo>
                  <a:lnTo>
                    <a:pt x="135382" y="85344"/>
                  </a:lnTo>
                  <a:lnTo>
                    <a:pt x="124333" y="78867"/>
                  </a:lnTo>
                  <a:lnTo>
                    <a:pt x="122682" y="76835"/>
                  </a:lnTo>
                  <a:lnTo>
                    <a:pt x="121539" y="74422"/>
                  </a:lnTo>
                  <a:lnTo>
                    <a:pt x="120777" y="71374"/>
                  </a:lnTo>
                  <a:lnTo>
                    <a:pt x="119888" y="68326"/>
                  </a:lnTo>
                  <a:lnTo>
                    <a:pt x="119507" y="65024"/>
                  </a:lnTo>
                  <a:lnTo>
                    <a:pt x="119507" y="57404"/>
                  </a:lnTo>
                  <a:lnTo>
                    <a:pt x="119888" y="53975"/>
                  </a:lnTo>
                  <a:lnTo>
                    <a:pt x="120777" y="50927"/>
                  </a:lnTo>
                  <a:lnTo>
                    <a:pt x="121539" y="48006"/>
                  </a:lnTo>
                  <a:lnTo>
                    <a:pt x="134683" y="37084"/>
                  </a:lnTo>
                  <a:lnTo>
                    <a:pt x="145173" y="37084"/>
                  </a:lnTo>
                  <a:lnTo>
                    <a:pt x="149606" y="39116"/>
                  </a:lnTo>
                  <a:lnTo>
                    <a:pt x="152742" y="43434"/>
                  </a:lnTo>
                  <a:lnTo>
                    <a:pt x="155727" y="47498"/>
                  </a:lnTo>
                  <a:lnTo>
                    <a:pt x="155829" y="47625"/>
                  </a:lnTo>
                  <a:lnTo>
                    <a:pt x="157353" y="53594"/>
                  </a:lnTo>
                  <a:lnTo>
                    <a:pt x="157353" y="33591"/>
                  </a:lnTo>
                  <a:lnTo>
                    <a:pt x="154940" y="32004"/>
                  </a:lnTo>
                  <a:lnTo>
                    <a:pt x="151257" y="30480"/>
                  </a:lnTo>
                  <a:lnTo>
                    <a:pt x="147447" y="28829"/>
                  </a:lnTo>
                  <a:lnTo>
                    <a:pt x="143256" y="28067"/>
                  </a:lnTo>
                  <a:lnTo>
                    <a:pt x="133858" y="28067"/>
                  </a:lnTo>
                  <a:lnTo>
                    <a:pt x="129667" y="28829"/>
                  </a:lnTo>
                  <a:lnTo>
                    <a:pt x="125857" y="30480"/>
                  </a:lnTo>
                  <a:lnTo>
                    <a:pt x="122047" y="32004"/>
                  </a:lnTo>
                  <a:lnTo>
                    <a:pt x="118872" y="34163"/>
                  </a:lnTo>
                  <a:lnTo>
                    <a:pt x="113538" y="40005"/>
                  </a:lnTo>
                  <a:lnTo>
                    <a:pt x="111506" y="43434"/>
                  </a:lnTo>
                  <a:lnTo>
                    <a:pt x="110109" y="47498"/>
                  </a:lnTo>
                  <a:lnTo>
                    <a:pt x="108585" y="51562"/>
                  </a:lnTo>
                  <a:lnTo>
                    <a:pt x="107950" y="56134"/>
                  </a:lnTo>
                  <a:lnTo>
                    <a:pt x="107950" y="66167"/>
                  </a:lnTo>
                  <a:lnTo>
                    <a:pt x="108585" y="70739"/>
                  </a:lnTo>
                  <a:lnTo>
                    <a:pt x="110109" y="74803"/>
                  </a:lnTo>
                  <a:lnTo>
                    <a:pt x="111506" y="78867"/>
                  </a:lnTo>
                  <a:lnTo>
                    <a:pt x="133858" y="94107"/>
                  </a:lnTo>
                  <a:lnTo>
                    <a:pt x="143256" y="94107"/>
                  </a:lnTo>
                  <a:lnTo>
                    <a:pt x="160667" y="85344"/>
                  </a:lnTo>
                  <a:lnTo>
                    <a:pt x="163449" y="82296"/>
                  </a:lnTo>
                  <a:lnTo>
                    <a:pt x="165481" y="78867"/>
                  </a:lnTo>
                  <a:lnTo>
                    <a:pt x="168275" y="70739"/>
                  </a:lnTo>
                  <a:lnTo>
                    <a:pt x="169037" y="66167"/>
                  </a:lnTo>
                  <a:lnTo>
                    <a:pt x="169037" y="56134"/>
                  </a:lnTo>
                  <a:close/>
                </a:path>
                <a:path w="1716404" h="110489">
                  <a:moveTo>
                    <a:pt x="240538" y="48768"/>
                  </a:moveTo>
                  <a:lnTo>
                    <a:pt x="240207" y="45974"/>
                  </a:lnTo>
                  <a:lnTo>
                    <a:pt x="240157" y="45466"/>
                  </a:lnTo>
                  <a:lnTo>
                    <a:pt x="239141" y="42418"/>
                  </a:lnTo>
                  <a:lnTo>
                    <a:pt x="238252" y="39497"/>
                  </a:lnTo>
                  <a:lnTo>
                    <a:pt x="236918" y="37084"/>
                  </a:lnTo>
                  <a:lnTo>
                    <a:pt x="222631" y="28067"/>
                  </a:lnTo>
                  <a:lnTo>
                    <a:pt x="214630" y="28067"/>
                  </a:lnTo>
                  <a:lnTo>
                    <a:pt x="210693" y="29083"/>
                  </a:lnTo>
                  <a:lnTo>
                    <a:pt x="203835" y="32893"/>
                  </a:lnTo>
                  <a:lnTo>
                    <a:pt x="200660" y="35306"/>
                  </a:lnTo>
                  <a:lnTo>
                    <a:pt x="197866" y="38481"/>
                  </a:lnTo>
                  <a:lnTo>
                    <a:pt x="196977" y="31496"/>
                  </a:lnTo>
                  <a:lnTo>
                    <a:pt x="196596" y="29845"/>
                  </a:lnTo>
                  <a:lnTo>
                    <a:pt x="195580" y="29083"/>
                  </a:lnTo>
                  <a:lnTo>
                    <a:pt x="187325" y="29083"/>
                  </a:lnTo>
                  <a:lnTo>
                    <a:pt x="187325" y="93218"/>
                  </a:lnTo>
                  <a:lnTo>
                    <a:pt x="198501" y="93218"/>
                  </a:lnTo>
                  <a:lnTo>
                    <a:pt x="198501" y="45974"/>
                  </a:lnTo>
                  <a:lnTo>
                    <a:pt x="201041" y="43307"/>
                  </a:lnTo>
                  <a:lnTo>
                    <a:pt x="212471" y="37084"/>
                  </a:lnTo>
                  <a:lnTo>
                    <a:pt x="220472" y="37084"/>
                  </a:lnTo>
                  <a:lnTo>
                    <a:pt x="223774" y="38481"/>
                  </a:lnTo>
                  <a:lnTo>
                    <a:pt x="226060" y="41148"/>
                  </a:lnTo>
                  <a:lnTo>
                    <a:pt x="228219" y="43815"/>
                  </a:lnTo>
                  <a:lnTo>
                    <a:pt x="229362" y="47498"/>
                  </a:lnTo>
                  <a:lnTo>
                    <a:pt x="229362" y="93218"/>
                  </a:lnTo>
                  <a:lnTo>
                    <a:pt x="240538" y="93218"/>
                  </a:lnTo>
                  <a:lnTo>
                    <a:pt x="240538" y="48768"/>
                  </a:lnTo>
                  <a:close/>
                </a:path>
                <a:path w="1716404" h="110489">
                  <a:moveTo>
                    <a:pt x="295402" y="88392"/>
                  </a:moveTo>
                  <a:lnTo>
                    <a:pt x="293268" y="84963"/>
                  </a:lnTo>
                  <a:lnTo>
                    <a:pt x="292100" y="83058"/>
                  </a:lnTo>
                  <a:lnTo>
                    <a:pt x="291668" y="82423"/>
                  </a:lnTo>
                  <a:lnTo>
                    <a:pt x="291249" y="82042"/>
                  </a:lnTo>
                  <a:lnTo>
                    <a:pt x="289687" y="82042"/>
                  </a:lnTo>
                  <a:lnTo>
                    <a:pt x="289306" y="82423"/>
                  </a:lnTo>
                  <a:lnTo>
                    <a:pt x="288798" y="82677"/>
                  </a:lnTo>
                  <a:lnTo>
                    <a:pt x="288290" y="83058"/>
                  </a:lnTo>
                  <a:lnTo>
                    <a:pt x="287020" y="83820"/>
                  </a:lnTo>
                  <a:lnTo>
                    <a:pt x="285750" y="84455"/>
                  </a:lnTo>
                  <a:lnTo>
                    <a:pt x="285496" y="84455"/>
                  </a:lnTo>
                  <a:lnTo>
                    <a:pt x="284302" y="84963"/>
                  </a:lnTo>
                  <a:lnTo>
                    <a:pt x="280289" y="84963"/>
                  </a:lnTo>
                  <a:lnTo>
                    <a:pt x="278968" y="84455"/>
                  </a:lnTo>
                  <a:lnTo>
                    <a:pt x="278765" y="84455"/>
                  </a:lnTo>
                  <a:lnTo>
                    <a:pt x="275971" y="81661"/>
                  </a:lnTo>
                  <a:lnTo>
                    <a:pt x="275336" y="79756"/>
                  </a:lnTo>
                  <a:lnTo>
                    <a:pt x="275336" y="38608"/>
                  </a:lnTo>
                  <a:lnTo>
                    <a:pt x="293751" y="38608"/>
                  </a:lnTo>
                  <a:lnTo>
                    <a:pt x="293751" y="30353"/>
                  </a:lnTo>
                  <a:lnTo>
                    <a:pt x="275336" y="30353"/>
                  </a:lnTo>
                  <a:lnTo>
                    <a:pt x="275336" y="8255"/>
                  </a:lnTo>
                  <a:lnTo>
                    <a:pt x="268986" y="8255"/>
                  </a:lnTo>
                  <a:lnTo>
                    <a:pt x="264515" y="30353"/>
                  </a:lnTo>
                  <a:lnTo>
                    <a:pt x="263575" y="30353"/>
                  </a:lnTo>
                  <a:lnTo>
                    <a:pt x="254000" y="31623"/>
                  </a:lnTo>
                  <a:lnTo>
                    <a:pt x="254000" y="36957"/>
                  </a:lnTo>
                  <a:lnTo>
                    <a:pt x="254254" y="37592"/>
                  </a:lnTo>
                  <a:lnTo>
                    <a:pt x="254635" y="37973"/>
                  </a:lnTo>
                  <a:lnTo>
                    <a:pt x="255143" y="38354"/>
                  </a:lnTo>
                  <a:lnTo>
                    <a:pt x="255651" y="38608"/>
                  </a:lnTo>
                  <a:lnTo>
                    <a:pt x="264160" y="38608"/>
                  </a:lnTo>
                  <a:lnTo>
                    <a:pt x="264160" y="83058"/>
                  </a:lnTo>
                  <a:lnTo>
                    <a:pt x="265430" y="87122"/>
                  </a:lnTo>
                  <a:lnTo>
                    <a:pt x="268224" y="89916"/>
                  </a:lnTo>
                  <a:lnTo>
                    <a:pt x="270764" y="92710"/>
                  </a:lnTo>
                  <a:lnTo>
                    <a:pt x="270891" y="92837"/>
                  </a:lnTo>
                  <a:lnTo>
                    <a:pt x="274828" y="94234"/>
                  </a:lnTo>
                  <a:lnTo>
                    <a:pt x="282702" y="94234"/>
                  </a:lnTo>
                  <a:lnTo>
                    <a:pt x="285623" y="93726"/>
                  </a:lnTo>
                  <a:lnTo>
                    <a:pt x="288290" y="92710"/>
                  </a:lnTo>
                  <a:lnTo>
                    <a:pt x="291084" y="91567"/>
                  </a:lnTo>
                  <a:lnTo>
                    <a:pt x="293370" y="90170"/>
                  </a:lnTo>
                  <a:lnTo>
                    <a:pt x="295402" y="88392"/>
                  </a:lnTo>
                  <a:close/>
                </a:path>
                <a:path w="1716404" h="110489">
                  <a:moveTo>
                    <a:pt x="351155" y="30226"/>
                  </a:moveTo>
                  <a:lnTo>
                    <a:pt x="350012" y="29591"/>
                  </a:lnTo>
                  <a:lnTo>
                    <a:pt x="349161" y="29210"/>
                  </a:lnTo>
                  <a:lnTo>
                    <a:pt x="349542" y="29210"/>
                  </a:lnTo>
                  <a:lnTo>
                    <a:pt x="345821" y="28194"/>
                  </a:lnTo>
                  <a:lnTo>
                    <a:pt x="344170" y="27940"/>
                  </a:lnTo>
                  <a:lnTo>
                    <a:pt x="338074" y="27940"/>
                  </a:lnTo>
                  <a:lnTo>
                    <a:pt x="334264" y="29210"/>
                  </a:lnTo>
                  <a:lnTo>
                    <a:pt x="331089" y="31750"/>
                  </a:lnTo>
                  <a:lnTo>
                    <a:pt x="327787" y="34290"/>
                  </a:lnTo>
                  <a:lnTo>
                    <a:pt x="325120" y="37719"/>
                  </a:lnTo>
                  <a:lnTo>
                    <a:pt x="322961" y="42164"/>
                  </a:lnTo>
                  <a:lnTo>
                    <a:pt x="322199" y="32258"/>
                  </a:lnTo>
                  <a:lnTo>
                    <a:pt x="321945" y="31115"/>
                  </a:lnTo>
                  <a:lnTo>
                    <a:pt x="321691" y="30226"/>
                  </a:lnTo>
                  <a:lnTo>
                    <a:pt x="321183" y="29845"/>
                  </a:lnTo>
                  <a:lnTo>
                    <a:pt x="320802" y="29337"/>
                  </a:lnTo>
                  <a:lnTo>
                    <a:pt x="320344" y="29210"/>
                  </a:lnTo>
                  <a:lnTo>
                    <a:pt x="312293" y="29210"/>
                  </a:lnTo>
                  <a:lnTo>
                    <a:pt x="312293" y="93218"/>
                  </a:lnTo>
                  <a:lnTo>
                    <a:pt x="323469" y="93218"/>
                  </a:lnTo>
                  <a:lnTo>
                    <a:pt x="323469" y="52451"/>
                  </a:lnTo>
                  <a:lnTo>
                    <a:pt x="325247" y="48006"/>
                  </a:lnTo>
                  <a:lnTo>
                    <a:pt x="327533" y="44704"/>
                  </a:lnTo>
                  <a:lnTo>
                    <a:pt x="330365" y="42164"/>
                  </a:lnTo>
                  <a:lnTo>
                    <a:pt x="332587" y="40259"/>
                  </a:lnTo>
                  <a:lnTo>
                    <a:pt x="332371" y="40259"/>
                  </a:lnTo>
                  <a:lnTo>
                    <a:pt x="336042" y="38989"/>
                  </a:lnTo>
                  <a:lnTo>
                    <a:pt x="342138" y="38989"/>
                  </a:lnTo>
                  <a:lnTo>
                    <a:pt x="343789" y="39243"/>
                  </a:lnTo>
                  <a:lnTo>
                    <a:pt x="347218" y="40259"/>
                  </a:lnTo>
                  <a:lnTo>
                    <a:pt x="348742" y="40259"/>
                  </a:lnTo>
                  <a:lnTo>
                    <a:pt x="349504" y="39751"/>
                  </a:lnTo>
                  <a:lnTo>
                    <a:pt x="349631" y="39243"/>
                  </a:lnTo>
                  <a:lnTo>
                    <a:pt x="349694" y="38989"/>
                  </a:lnTo>
                  <a:lnTo>
                    <a:pt x="349758" y="38735"/>
                  </a:lnTo>
                  <a:lnTo>
                    <a:pt x="351155" y="30226"/>
                  </a:lnTo>
                  <a:close/>
                </a:path>
                <a:path w="1716404" h="110489">
                  <a:moveTo>
                    <a:pt x="423545" y="56134"/>
                  </a:moveTo>
                  <a:lnTo>
                    <a:pt x="422783" y="51562"/>
                  </a:lnTo>
                  <a:lnTo>
                    <a:pt x="419989" y="43434"/>
                  </a:lnTo>
                  <a:lnTo>
                    <a:pt x="417957" y="40005"/>
                  </a:lnTo>
                  <a:lnTo>
                    <a:pt x="415290" y="37084"/>
                  </a:lnTo>
                  <a:lnTo>
                    <a:pt x="412750" y="34163"/>
                  </a:lnTo>
                  <a:lnTo>
                    <a:pt x="411861" y="33591"/>
                  </a:lnTo>
                  <a:lnTo>
                    <a:pt x="411861" y="53594"/>
                  </a:lnTo>
                  <a:lnTo>
                    <a:pt x="411861" y="68834"/>
                  </a:lnTo>
                  <a:lnTo>
                    <a:pt x="410400" y="74422"/>
                  </a:lnTo>
                  <a:lnTo>
                    <a:pt x="410235" y="74803"/>
                  </a:lnTo>
                  <a:lnTo>
                    <a:pt x="407162" y="78867"/>
                  </a:lnTo>
                  <a:lnTo>
                    <a:pt x="404114" y="83185"/>
                  </a:lnTo>
                  <a:lnTo>
                    <a:pt x="399415" y="85344"/>
                  </a:lnTo>
                  <a:lnTo>
                    <a:pt x="389890" y="85344"/>
                  </a:lnTo>
                  <a:lnTo>
                    <a:pt x="378841" y="78867"/>
                  </a:lnTo>
                  <a:lnTo>
                    <a:pt x="377190" y="76835"/>
                  </a:lnTo>
                  <a:lnTo>
                    <a:pt x="376047" y="74422"/>
                  </a:lnTo>
                  <a:lnTo>
                    <a:pt x="375285" y="71374"/>
                  </a:lnTo>
                  <a:lnTo>
                    <a:pt x="374396" y="68326"/>
                  </a:lnTo>
                  <a:lnTo>
                    <a:pt x="374015" y="65024"/>
                  </a:lnTo>
                  <a:lnTo>
                    <a:pt x="374015" y="57404"/>
                  </a:lnTo>
                  <a:lnTo>
                    <a:pt x="374396" y="53975"/>
                  </a:lnTo>
                  <a:lnTo>
                    <a:pt x="375285" y="50927"/>
                  </a:lnTo>
                  <a:lnTo>
                    <a:pt x="376047" y="48006"/>
                  </a:lnTo>
                  <a:lnTo>
                    <a:pt x="389191" y="37084"/>
                  </a:lnTo>
                  <a:lnTo>
                    <a:pt x="399681" y="37084"/>
                  </a:lnTo>
                  <a:lnTo>
                    <a:pt x="404114" y="39116"/>
                  </a:lnTo>
                  <a:lnTo>
                    <a:pt x="407250" y="43434"/>
                  </a:lnTo>
                  <a:lnTo>
                    <a:pt x="410235" y="47498"/>
                  </a:lnTo>
                  <a:lnTo>
                    <a:pt x="410337" y="47625"/>
                  </a:lnTo>
                  <a:lnTo>
                    <a:pt x="411861" y="53594"/>
                  </a:lnTo>
                  <a:lnTo>
                    <a:pt x="411861" y="33591"/>
                  </a:lnTo>
                  <a:lnTo>
                    <a:pt x="409448" y="32004"/>
                  </a:lnTo>
                  <a:lnTo>
                    <a:pt x="405765" y="30480"/>
                  </a:lnTo>
                  <a:lnTo>
                    <a:pt x="401955" y="28829"/>
                  </a:lnTo>
                  <a:lnTo>
                    <a:pt x="397764" y="28067"/>
                  </a:lnTo>
                  <a:lnTo>
                    <a:pt x="388366" y="28067"/>
                  </a:lnTo>
                  <a:lnTo>
                    <a:pt x="384175" y="28829"/>
                  </a:lnTo>
                  <a:lnTo>
                    <a:pt x="380365" y="30480"/>
                  </a:lnTo>
                  <a:lnTo>
                    <a:pt x="376555" y="32004"/>
                  </a:lnTo>
                  <a:lnTo>
                    <a:pt x="373380" y="34163"/>
                  </a:lnTo>
                  <a:lnTo>
                    <a:pt x="368046" y="40005"/>
                  </a:lnTo>
                  <a:lnTo>
                    <a:pt x="366014" y="43434"/>
                  </a:lnTo>
                  <a:lnTo>
                    <a:pt x="364617" y="47498"/>
                  </a:lnTo>
                  <a:lnTo>
                    <a:pt x="363093" y="51562"/>
                  </a:lnTo>
                  <a:lnTo>
                    <a:pt x="362458" y="56134"/>
                  </a:lnTo>
                  <a:lnTo>
                    <a:pt x="362458" y="66167"/>
                  </a:lnTo>
                  <a:lnTo>
                    <a:pt x="363093" y="70739"/>
                  </a:lnTo>
                  <a:lnTo>
                    <a:pt x="364617" y="74803"/>
                  </a:lnTo>
                  <a:lnTo>
                    <a:pt x="366014" y="78867"/>
                  </a:lnTo>
                  <a:lnTo>
                    <a:pt x="388366" y="94107"/>
                  </a:lnTo>
                  <a:lnTo>
                    <a:pt x="397764" y="94107"/>
                  </a:lnTo>
                  <a:lnTo>
                    <a:pt x="415175" y="85344"/>
                  </a:lnTo>
                  <a:lnTo>
                    <a:pt x="417957" y="82296"/>
                  </a:lnTo>
                  <a:lnTo>
                    <a:pt x="419989" y="78867"/>
                  </a:lnTo>
                  <a:lnTo>
                    <a:pt x="422783" y="70739"/>
                  </a:lnTo>
                  <a:lnTo>
                    <a:pt x="423545" y="66167"/>
                  </a:lnTo>
                  <a:lnTo>
                    <a:pt x="423545" y="56134"/>
                  </a:lnTo>
                  <a:close/>
                </a:path>
                <a:path w="1716404" h="110489">
                  <a:moveTo>
                    <a:pt x="452755" y="0"/>
                  </a:moveTo>
                  <a:lnTo>
                    <a:pt x="441579" y="0"/>
                  </a:lnTo>
                  <a:lnTo>
                    <a:pt x="441579" y="93218"/>
                  </a:lnTo>
                  <a:lnTo>
                    <a:pt x="452755" y="93218"/>
                  </a:lnTo>
                  <a:lnTo>
                    <a:pt x="452755" y="0"/>
                  </a:lnTo>
                  <a:close/>
                </a:path>
                <a:path w="1716404" h="110489">
                  <a:moveTo>
                    <a:pt x="487807" y="0"/>
                  </a:moveTo>
                  <a:lnTo>
                    <a:pt x="476631" y="0"/>
                  </a:lnTo>
                  <a:lnTo>
                    <a:pt x="476631" y="93218"/>
                  </a:lnTo>
                  <a:lnTo>
                    <a:pt x="487807" y="93218"/>
                  </a:lnTo>
                  <a:lnTo>
                    <a:pt x="487807" y="0"/>
                  </a:lnTo>
                  <a:close/>
                </a:path>
                <a:path w="1716404" h="110489">
                  <a:moveTo>
                    <a:pt x="563714" y="54229"/>
                  </a:moveTo>
                  <a:lnTo>
                    <a:pt x="563587" y="51181"/>
                  </a:lnTo>
                  <a:lnTo>
                    <a:pt x="563270" y="49149"/>
                  </a:lnTo>
                  <a:lnTo>
                    <a:pt x="563194" y="48641"/>
                  </a:lnTo>
                  <a:lnTo>
                    <a:pt x="557149" y="36449"/>
                  </a:lnTo>
                  <a:lnTo>
                    <a:pt x="556260" y="35560"/>
                  </a:lnTo>
                  <a:lnTo>
                    <a:pt x="553974" y="33147"/>
                  </a:lnTo>
                  <a:lnTo>
                    <a:pt x="553720" y="32994"/>
                  </a:lnTo>
                  <a:lnTo>
                    <a:pt x="553720" y="54229"/>
                  </a:lnTo>
                  <a:lnTo>
                    <a:pt x="518795" y="54229"/>
                  </a:lnTo>
                  <a:lnTo>
                    <a:pt x="532003" y="36449"/>
                  </a:lnTo>
                  <a:lnTo>
                    <a:pt x="540131" y="36449"/>
                  </a:lnTo>
                  <a:lnTo>
                    <a:pt x="542417" y="36830"/>
                  </a:lnTo>
                  <a:lnTo>
                    <a:pt x="544322" y="37719"/>
                  </a:lnTo>
                  <a:lnTo>
                    <a:pt x="546354" y="38608"/>
                  </a:lnTo>
                  <a:lnTo>
                    <a:pt x="548005" y="39751"/>
                  </a:lnTo>
                  <a:lnTo>
                    <a:pt x="549402" y="41402"/>
                  </a:lnTo>
                  <a:lnTo>
                    <a:pt x="550799" y="42926"/>
                  </a:lnTo>
                  <a:lnTo>
                    <a:pt x="551942" y="44831"/>
                  </a:lnTo>
                  <a:lnTo>
                    <a:pt x="552577" y="46990"/>
                  </a:lnTo>
                  <a:lnTo>
                    <a:pt x="553339" y="49149"/>
                  </a:lnTo>
                  <a:lnTo>
                    <a:pt x="553656" y="51181"/>
                  </a:lnTo>
                  <a:lnTo>
                    <a:pt x="553720" y="54229"/>
                  </a:lnTo>
                  <a:lnTo>
                    <a:pt x="553720" y="32994"/>
                  </a:lnTo>
                  <a:lnTo>
                    <a:pt x="551180" y="31369"/>
                  </a:lnTo>
                  <a:lnTo>
                    <a:pt x="547878" y="30099"/>
                  </a:lnTo>
                  <a:lnTo>
                    <a:pt x="544576" y="28702"/>
                  </a:lnTo>
                  <a:lnTo>
                    <a:pt x="541147" y="28067"/>
                  </a:lnTo>
                  <a:lnTo>
                    <a:pt x="532638" y="28067"/>
                  </a:lnTo>
                  <a:lnTo>
                    <a:pt x="528447" y="28956"/>
                  </a:lnTo>
                  <a:lnTo>
                    <a:pt x="524764" y="30607"/>
                  </a:lnTo>
                  <a:lnTo>
                    <a:pt x="521081" y="32131"/>
                  </a:lnTo>
                  <a:lnTo>
                    <a:pt x="517906" y="34417"/>
                  </a:lnTo>
                  <a:lnTo>
                    <a:pt x="512699" y="40132"/>
                  </a:lnTo>
                  <a:lnTo>
                    <a:pt x="510794" y="43434"/>
                  </a:lnTo>
                  <a:lnTo>
                    <a:pt x="509397" y="47371"/>
                  </a:lnTo>
                  <a:lnTo>
                    <a:pt x="508000" y="51181"/>
                  </a:lnTo>
                  <a:lnTo>
                    <a:pt x="507365" y="55372"/>
                  </a:lnTo>
                  <a:lnTo>
                    <a:pt x="507365" y="65405"/>
                  </a:lnTo>
                  <a:lnTo>
                    <a:pt x="516001" y="85217"/>
                  </a:lnTo>
                  <a:lnTo>
                    <a:pt x="518668" y="88138"/>
                  </a:lnTo>
                  <a:lnTo>
                    <a:pt x="521970" y="90297"/>
                  </a:lnTo>
                  <a:lnTo>
                    <a:pt x="529336" y="93345"/>
                  </a:lnTo>
                  <a:lnTo>
                    <a:pt x="533400" y="94107"/>
                  </a:lnTo>
                  <a:lnTo>
                    <a:pt x="540258" y="94107"/>
                  </a:lnTo>
                  <a:lnTo>
                    <a:pt x="562127" y="85217"/>
                  </a:lnTo>
                  <a:lnTo>
                    <a:pt x="562991" y="84201"/>
                  </a:lnTo>
                  <a:lnTo>
                    <a:pt x="559816" y="80137"/>
                  </a:lnTo>
                  <a:lnTo>
                    <a:pt x="559308" y="79375"/>
                  </a:lnTo>
                  <a:lnTo>
                    <a:pt x="558546" y="78994"/>
                  </a:lnTo>
                  <a:lnTo>
                    <a:pt x="557022" y="78994"/>
                  </a:lnTo>
                  <a:lnTo>
                    <a:pt x="556133" y="79375"/>
                  </a:lnTo>
                  <a:lnTo>
                    <a:pt x="554101" y="80645"/>
                  </a:lnTo>
                  <a:lnTo>
                    <a:pt x="552958" y="81407"/>
                  </a:lnTo>
                  <a:lnTo>
                    <a:pt x="549910" y="82931"/>
                  </a:lnTo>
                  <a:lnTo>
                    <a:pt x="547725" y="83693"/>
                  </a:lnTo>
                  <a:lnTo>
                    <a:pt x="544068" y="84836"/>
                  </a:lnTo>
                  <a:lnTo>
                    <a:pt x="541655" y="85217"/>
                  </a:lnTo>
                  <a:lnTo>
                    <a:pt x="535813" y="85217"/>
                  </a:lnTo>
                  <a:lnTo>
                    <a:pt x="533019" y="84709"/>
                  </a:lnTo>
                  <a:lnTo>
                    <a:pt x="530606" y="83693"/>
                  </a:lnTo>
                  <a:lnTo>
                    <a:pt x="528535" y="82931"/>
                  </a:lnTo>
                  <a:lnTo>
                    <a:pt x="528370" y="82931"/>
                  </a:lnTo>
                  <a:lnTo>
                    <a:pt x="526211" y="81407"/>
                  </a:lnTo>
                  <a:lnTo>
                    <a:pt x="518414" y="61214"/>
                  </a:lnTo>
                  <a:lnTo>
                    <a:pt x="562102" y="61214"/>
                  </a:lnTo>
                  <a:lnTo>
                    <a:pt x="562864" y="60833"/>
                  </a:lnTo>
                  <a:lnTo>
                    <a:pt x="563245" y="60325"/>
                  </a:lnTo>
                  <a:lnTo>
                    <a:pt x="563626" y="59690"/>
                  </a:lnTo>
                  <a:lnTo>
                    <a:pt x="563714" y="54229"/>
                  </a:lnTo>
                  <a:close/>
                </a:path>
                <a:path w="1716404" h="110489">
                  <a:moveTo>
                    <a:pt x="635254" y="0"/>
                  </a:moveTo>
                  <a:lnTo>
                    <a:pt x="624078" y="0"/>
                  </a:lnTo>
                  <a:lnTo>
                    <a:pt x="624078" y="35560"/>
                  </a:lnTo>
                  <a:lnTo>
                    <a:pt x="623976" y="75438"/>
                  </a:lnTo>
                  <a:lnTo>
                    <a:pt x="621792" y="78359"/>
                  </a:lnTo>
                  <a:lnTo>
                    <a:pt x="619252" y="80772"/>
                  </a:lnTo>
                  <a:lnTo>
                    <a:pt x="613664" y="84074"/>
                  </a:lnTo>
                  <a:lnTo>
                    <a:pt x="610489" y="84963"/>
                  </a:lnTo>
                  <a:lnTo>
                    <a:pt x="604139" y="84963"/>
                  </a:lnTo>
                  <a:lnTo>
                    <a:pt x="601853" y="84582"/>
                  </a:lnTo>
                  <a:lnTo>
                    <a:pt x="598360" y="83058"/>
                  </a:lnTo>
                  <a:lnTo>
                    <a:pt x="598081" y="83058"/>
                  </a:lnTo>
                  <a:lnTo>
                    <a:pt x="596138" y="81407"/>
                  </a:lnTo>
                  <a:lnTo>
                    <a:pt x="594741" y="79375"/>
                  </a:lnTo>
                  <a:lnTo>
                    <a:pt x="593344" y="77470"/>
                  </a:lnTo>
                  <a:lnTo>
                    <a:pt x="590423" y="53467"/>
                  </a:lnTo>
                  <a:lnTo>
                    <a:pt x="592074" y="47371"/>
                  </a:lnTo>
                  <a:lnTo>
                    <a:pt x="595249" y="43180"/>
                  </a:lnTo>
                  <a:lnTo>
                    <a:pt x="598424" y="38862"/>
                  </a:lnTo>
                  <a:lnTo>
                    <a:pt x="603123" y="36830"/>
                  </a:lnTo>
                  <a:lnTo>
                    <a:pt x="612013" y="36830"/>
                  </a:lnTo>
                  <a:lnTo>
                    <a:pt x="614807" y="37338"/>
                  </a:lnTo>
                  <a:lnTo>
                    <a:pt x="617220" y="38481"/>
                  </a:lnTo>
                  <a:lnTo>
                    <a:pt x="619760" y="39624"/>
                  </a:lnTo>
                  <a:lnTo>
                    <a:pt x="622046" y="41529"/>
                  </a:lnTo>
                  <a:lnTo>
                    <a:pt x="623887" y="44069"/>
                  </a:lnTo>
                  <a:lnTo>
                    <a:pt x="623976" y="75438"/>
                  </a:lnTo>
                  <a:lnTo>
                    <a:pt x="623976" y="35458"/>
                  </a:lnTo>
                  <a:lnTo>
                    <a:pt x="621919" y="33147"/>
                  </a:lnTo>
                  <a:lnTo>
                    <a:pt x="619379" y="31242"/>
                  </a:lnTo>
                  <a:lnTo>
                    <a:pt x="614070" y="28829"/>
                  </a:lnTo>
                  <a:lnTo>
                    <a:pt x="614337" y="28829"/>
                  </a:lnTo>
                  <a:lnTo>
                    <a:pt x="610489" y="27940"/>
                  </a:lnTo>
                  <a:lnTo>
                    <a:pt x="602234" y="27940"/>
                  </a:lnTo>
                  <a:lnTo>
                    <a:pt x="598297" y="28829"/>
                  </a:lnTo>
                  <a:lnTo>
                    <a:pt x="594868" y="30607"/>
                  </a:lnTo>
                  <a:lnTo>
                    <a:pt x="591439" y="32258"/>
                  </a:lnTo>
                  <a:lnTo>
                    <a:pt x="578866" y="56642"/>
                  </a:lnTo>
                  <a:lnTo>
                    <a:pt x="578866" y="66675"/>
                  </a:lnTo>
                  <a:lnTo>
                    <a:pt x="579374" y="71374"/>
                  </a:lnTo>
                  <a:lnTo>
                    <a:pt x="580402" y="75057"/>
                  </a:lnTo>
                  <a:lnTo>
                    <a:pt x="581583" y="79375"/>
                  </a:lnTo>
                  <a:lnTo>
                    <a:pt x="581660" y="79629"/>
                  </a:lnTo>
                  <a:lnTo>
                    <a:pt x="582549" y="81407"/>
                  </a:lnTo>
                  <a:lnTo>
                    <a:pt x="583399" y="83058"/>
                  </a:lnTo>
                  <a:lnTo>
                    <a:pt x="585470" y="85725"/>
                  </a:lnTo>
                  <a:lnTo>
                    <a:pt x="587502" y="88519"/>
                  </a:lnTo>
                  <a:lnTo>
                    <a:pt x="590042" y="90551"/>
                  </a:lnTo>
                  <a:lnTo>
                    <a:pt x="593090" y="91948"/>
                  </a:lnTo>
                  <a:lnTo>
                    <a:pt x="596011" y="93345"/>
                  </a:lnTo>
                  <a:lnTo>
                    <a:pt x="599440" y="94107"/>
                  </a:lnTo>
                  <a:lnTo>
                    <a:pt x="607568" y="94107"/>
                  </a:lnTo>
                  <a:lnTo>
                    <a:pt x="610616" y="93345"/>
                  </a:lnTo>
                  <a:lnTo>
                    <a:pt x="611187" y="93345"/>
                  </a:lnTo>
                  <a:lnTo>
                    <a:pt x="618744" y="89027"/>
                  </a:lnTo>
                  <a:lnTo>
                    <a:pt x="621792" y="86360"/>
                  </a:lnTo>
                  <a:lnTo>
                    <a:pt x="622973" y="84963"/>
                  </a:lnTo>
                  <a:lnTo>
                    <a:pt x="624586" y="83058"/>
                  </a:lnTo>
                  <a:lnTo>
                    <a:pt x="627164" y="93345"/>
                  </a:lnTo>
                  <a:lnTo>
                    <a:pt x="635254" y="93345"/>
                  </a:lnTo>
                  <a:lnTo>
                    <a:pt x="635254" y="83058"/>
                  </a:lnTo>
                  <a:lnTo>
                    <a:pt x="635254" y="36830"/>
                  </a:lnTo>
                  <a:lnTo>
                    <a:pt x="635254" y="35560"/>
                  </a:lnTo>
                  <a:lnTo>
                    <a:pt x="635254" y="0"/>
                  </a:lnTo>
                  <a:close/>
                </a:path>
                <a:path w="1716404" h="110489">
                  <a:moveTo>
                    <a:pt x="668528" y="84836"/>
                  </a:moveTo>
                  <a:lnTo>
                    <a:pt x="668147" y="83693"/>
                  </a:lnTo>
                  <a:lnTo>
                    <a:pt x="667893" y="82677"/>
                  </a:lnTo>
                  <a:lnTo>
                    <a:pt x="667448" y="81788"/>
                  </a:lnTo>
                  <a:lnTo>
                    <a:pt x="666838" y="81026"/>
                  </a:lnTo>
                  <a:lnTo>
                    <a:pt x="665988" y="80010"/>
                  </a:lnTo>
                  <a:lnTo>
                    <a:pt x="665226" y="79375"/>
                  </a:lnTo>
                  <a:lnTo>
                    <a:pt x="664210" y="78994"/>
                  </a:lnTo>
                  <a:lnTo>
                    <a:pt x="663194" y="78486"/>
                  </a:lnTo>
                  <a:lnTo>
                    <a:pt x="662051" y="78232"/>
                  </a:lnTo>
                  <a:lnTo>
                    <a:pt x="659765" y="78232"/>
                  </a:lnTo>
                  <a:lnTo>
                    <a:pt x="658749" y="78486"/>
                  </a:lnTo>
                  <a:lnTo>
                    <a:pt x="657517" y="78994"/>
                  </a:lnTo>
                  <a:lnTo>
                    <a:pt x="656844" y="79248"/>
                  </a:lnTo>
                  <a:lnTo>
                    <a:pt x="653542" y="83693"/>
                  </a:lnTo>
                  <a:lnTo>
                    <a:pt x="653542" y="87630"/>
                  </a:lnTo>
                  <a:lnTo>
                    <a:pt x="653923" y="88519"/>
                  </a:lnTo>
                  <a:lnTo>
                    <a:pt x="654304" y="89535"/>
                  </a:lnTo>
                  <a:lnTo>
                    <a:pt x="659638" y="93218"/>
                  </a:lnTo>
                  <a:lnTo>
                    <a:pt x="661543" y="93218"/>
                  </a:lnTo>
                  <a:lnTo>
                    <a:pt x="661289" y="94615"/>
                  </a:lnTo>
                  <a:lnTo>
                    <a:pt x="660908" y="95885"/>
                  </a:lnTo>
                  <a:lnTo>
                    <a:pt x="660209" y="97282"/>
                  </a:lnTo>
                  <a:lnTo>
                    <a:pt x="659765" y="98298"/>
                  </a:lnTo>
                  <a:lnTo>
                    <a:pt x="659130" y="99441"/>
                  </a:lnTo>
                  <a:lnTo>
                    <a:pt x="658495" y="100457"/>
                  </a:lnTo>
                  <a:lnTo>
                    <a:pt x="657733" y="101473"/>
                  </a:lnTo>
                  <a:lnTo>
                    <a:pt x="657098" y="102362"/>
                  </a:lnTo>
                  <a:lnTo>
                    <a:pt x="655320" y="104521"/>
                  </a:lnTo>
                  <a:lnTo>
                    <a:pt x="654812" y="105029"/>
                  </a:lnTo>
                  <a:lnTo>
                    <a:pt x="653923" y="106172"/>
                  </a:lnTo>
                  <a:lnTo>
                    <a:pt x="653923" y="107442"/>
                  </a:lnTo>
                  <a:lnTo>
                    <a:pt x="654177" y="107950"/>
                  </a:lnTo>
                  <a:lnTo>
                    <a:pt x="654812" y="108458"/>
                  </a:lnTo>
                  <a:lnTo>
                    <a:pt x="656717" y="110363"/>
                  </a:lnTo>
                  <a:lnTo>
                    <a:pt x="665353" y="99441"/>
                  </a:lnTo>
                  <a:lnTo>
                    <a:pt x="666496" y="97282"/>
                  </a:lnTo>
                  <a:lnTo>
                    <a:pt x="667258" y="95250"/>
                  </a:lnTo>
                  <a:lnTo>
                    <a:pt x="667893" y="93218"/>
                  </a:lnTo>
                  <a:lnTo>
                    <a:pt x="668401" y="91059"/>
                  </a:lnTo>
                  <a:lnTo>
                    <a:pt x="668528" y="84836"/>
                  </a:lnTo>
                  <a:close/>
                </a:path>
                <a:path w="1716404" h="110489">
                  <a:moveTo>
                    <a:pt x="773938" y="0"/>
                  </a:moveTo>
                  <a:lnTo>
                    <a:pt x="762762" y="0"/>
                  </a:lnTo>
                  <a:lnTo>
                    <a:pt x="762762" y="35560"/>
                  </a:lnTo>
                  <a:lnTo>
                    <a:pt x="762660" y="75438"/>
                  </a:lnTo>
                  <a:lnTo>
                    <a:pt x="760476" y="78359"/>
                  </a:lnTo>
                  <a:lnTo>
                    <a:pt x="757936" y="80772"/>
                  </a:lnTo>
                  <a:lnTo>
                    <a:pt x="752348" y="84074"/>
                  </a:lnTo>
                  <a:lnTo>
                    <a:pt x="749173" y="84963"/>
                  </a:lnTo>
                  <a:lnTo>
                    <a:pt x="742823" y="84963"/>
                  </a:lnTo>
                  <a:lnTo>
                    <a:pt x="740537" y="84582"/>
                  </a:lnTo>
                  <a:lnTo>
                    <a:pt x="737044" y="83058"/>
                  </a:lnTo>
                  <a:lnTo>
                    <a:pt x="736765" y="83058"/>
                  </a:lnTo>
                  <a:lnTo>
                    <a:pt x="734822" y="81407"/>
                  </a:lnTo>
                  <a:lnTo>
                    <a:pt x="733425" y="79375"/>
                  </a:lnTo>
                  <a:lnTo>
                    <a:pt x="732028" y="77470"/>
                  </a:lnTo>
                  <a:lnTo>
                    <a:pt x="729107" y="53467"/>
                  </a:lnTo>
                  <a:lnTo>
                    <a:pt x="730758" y="47371"/>
                  </a:lnTo>
                  <a:lnTo>
                    <a:pt x="733933" y="43180"/>
                  </a:lnTo>
                  <a:lnTo>
                    <a:pt x="737108" y="38862"/>
                  </a:lnTo>
                  <a:lnTo>
                    <a:pt x="741807" y="36830"/>
                  </a:lnTo>
                  <a:lnTo>
                    <a:pt x="750697" y="36830"/>
                  </a:lnTo>
                  <a:lnTo>
                    <a:pt x="753491" y="37338"/>
                  </a:lnTo>
                  <a:lnTo>
                    <a:pt x="755904" y="38481"/>
                  </a:lnTo>
                  <a:lnTo>
                    <a:pt x="758444" y="39624"/>
                  </a:lnTo>
                  <a:lnTo>
                    <a:pt x="760730" y="41529"/>
                  </a:lnTo>
                  <a:lnTo>
                    <a:pt x="762571" y="44069"/>
                  </a:lnTo>
                  <a:lnTo>
                    <a:pt x="762660" y="75438"/>
                  </a:lnTo>
                  <a:lnTo>
                    <a:pt x="762660" y="35458"/>
                  </a:lnTo>
                  <a:lnTo>
                    <a:pt x="760603" y="33147"/>
                  </a:lnTo>
                  <a:lnTo>
                    <a:pt x="758063" y="31242"/>
                  </a:lnTo>
                  <a:lnTo>
                    <a:pt x="752741" y="28829"/>
                  </a:lnTo>
                  <a:lnTo>
                    <a:pt x="753021" y="28829"/>
                  </a:lnTo>
                  <a:lnTo>
                    <a:pt x="749173" y="27940"/>
                  </a:lnTo>
                  <a:lnTo>
                    <a:pt x="740918" y="27940"/>
                  </a:lnTo>
                  <a:lnTo>
                    <a:pt x="736981" y="28829"/>
                  </a:lnTo>
                  <a:lnTo>
                    <a:pt x="733552" y="30607"/>
                  </a:lnTo>
                  <a:lnTo>
                    <a:pt x="730123" y="32258"/>
                  </a:lnTo>
                  <a:lnTo>
                    <a:pt x="717550" y="56642"/>
                  </a:lnTo>
                  <a:lnTo>
                    <a:pt x="717550" y="66675"/>
                  </a:lnTo>
                  <a:lnTo>
                    <a:pt x="718058" y="71374"/>
                  </a:lnTo>
                  <a:lnTo>
                    <a:pt x="719086" y="75057"/>
                  </a:lnTo>
                  <a:lnTo>
                    <a:pt x="720267" y="79375"/>
                  </a:lnTo>
                  <a:lnTo>
                    <a:pt x="720344" y="79629"/>
                  </a:lnTo>
                  <a:lnTo>
                    <a:pt x="721233" y="81407"/>
                  </a:lnTo>
                  <a:lnTo>
                    <a:pt x="722083" y="83058"/>
                  </a:lnTo>
                  <a:lnTo>
                    <a:pt x="724154" y="85725"/>
                  </a:lnTo>
                  <a:lnTo>
                    <a:pt x="726186" y="88519"/>
                  </a:lnTo>
                  <a:lnTo>
                    <a:pt x="728726" y="90551"/>
                  </a:lnTo>
                  <a:lnTo>
                    <a:pt x="731774" y="91948"/>
                  </a:lnTo>
                  <a:lnTo>
                    <a:pt x="734695" y="93345"/>
                  </a:lnTo>
                  <a:lnTo>
                    <a:pt x="738124" y="94107"/>
                  </a:lnTo>
                  <a:lnTo>
                    <a:pt x="746252" y="94107"/>
                  </a:lnTo>
                  <a:lnTo>
                    <a:pt x="749300" y="93345"/>
                  </a:lnTo>
                  <a:lnTo>
                    <a:pt x="749871" y="93345"/>
                  </a:lnTo>
                  <a:lnTo>
                    <a:pt x="757428" y="89027"/>
                  </a:lnTo>
                  <a:lnTo>
                    <a:pt x="760476" y="86360"/>
                  </a:lnTo>
                  <a:lnTo>
                    <a:pt x="761657" y="84963"/>
                  </a:lnTo>
                  <a:lnTo>
                    <a:pt x="763270" y="83058"/>
                  </a:lnTo>
                  <a:lnTo>
                    <a:pt x="765848" y="93345"/>
                  </a:lnTo>
                  <a:lnTo>
                    <a:pt x="773938" y="93345"/>
                  </a:lnTo>
                  <a:lnTo>
                    <a:pt x="773938" y="83058"/>
                  </a:lnTo>
                  <a:lnTo>
                    <a:pt x="773938" y="36830"/>
                  </a:lnTo>
                  <a:lnTo>
                    <a:pt x="773938" y="35560"/>
                  </a:lnTo>
                  <a:lnTo>
                    <a:pt x="773938" y="0"/>
                  </a:lnTo>
                  <a:close/>
                </a:path>
                <a:path w="1716404" h="110489">
                  <a:moveTo>
                    <a:pt x="851789" y="56134"/>
                  </a:moveTo>
                  <a:lnTo>
                    <a:pt x="851027" y="51562"/>
                  </a:lnTo>
                  <a:lnTo>
                    <a:pt x="848233" y="43434"/>
                  </a:lnTo>
                  <a:lnTo>
                    <a:pt x="846201" y="40005"/>
                  </a:lnTo>
                  <a:lnTo>
                    <a:pt x="843534" y="37084"/>
                  </a:lnTo>
                  <a:lnTo>
                    <a:pt x="840994" y="34163"/>
                  </a:lnTo>
                  <a:lnTo>
                    <a:pt x="840105" y="33591"/>
                  </a:lnTo>
                  <a:lnTo>
                    <a:pt x="840105" y="53594"/>
                  </a:lnTo>
                  <a:lnTo>
                    <a:pt x="840105" y="68834"/>
                  </a:lnTo>
                  <a:lnTo>
                    <a:pt x="838644" y="74422"/>
                  </a:lnTo>
                  <a:lnTo>
                    <a:pt x="838479" y="74803"/>
                  </a:lnTo>
                  <a:lnTo>
                    <a:pt x="835406" y="78867"/>
                  </a:lnTo>
                  <a:lnTo>
                    <a:pt x="832358" y="83185"/>
                  </a:lnTo>
                  <a:lnTo>
                    <a:pt x="827659" y="85344"/>
                  </a:lnTo>
                  <a:lnTo>
                    <a:pt x="818134" y="85344"/>
                  </a:lnTo>
                  <a:lnTo>
                    <a:pt x="807085" y="78867"/>
                  </a:lnTo>
                  <a:lnTo>
                    <a:pt x="805434" y="76835"/>
                  </a:lnTo>
                  <a:lnTo>
                    <a:pt x="804291" y="74422"/>
                  </a:lnTo>
                  <a:lnTo>
                    <a:pt x="803529" y="71374"/>
                  </a:lnTo>
                  <a:lnTo>
                    <a:pt x="802640" y="68326"/>
                  </a:lnTo>
                  <a:lnTo>
                    <a:pt x="802259" y="65024"/>
                  </a:lnTo>
                  <a:lnTo>
                    <a:pt x="802259" y="57404"/>
                  </a:lnTo>
                  <a:lnTo>
                    <a:pt x="802640" y="53975"/>
                  </a:lnTo>
                  <a:lnTo>
                    <a:pt x="803529" y="50927"/>
                  </a:lnTo>
                  <a:lnTo>
                    <a:pt x="804291" y="48006"/>
                  </a:lnTo>
                  <a:lnTo>
                    <a:pt x="817435" y="37084"/>
                  </a:lnTo>
                  <a:lnTo>
                    <a:pt x="827925" y="37084"/>
                  </a:lnTo>
                  <a:lnTo>
                    <a:pt x="832358" y="39116"/>
                  </a:lnTo>
                  <a:lnTo>
                    <a:pt x="835494" y="43434"/>
                  </a:lnTo>
                  <a:lnTo>
                    <a:pt x="838479" y="47498"/>
                  </a:lnTo>
                  <a:lnTo>
                    <a:pt x="838581" y="47625"/>
                  </a:lnTo>
                  <a:lnTo>
                    <a:pt x="840105" y="53594"/>
                  </a:lnTo>
                  <a:lnTo>
                    <a:pt x="840105" y="33591"/>
                  </a:lnTo>
                  <a:lnTo>
                    <a:pt x="837692" y="32004"/>
                  </a:lnTo>
                  <a:lnTo>
                    <a:pt x="834009" y="30480"/>
                  </a:lnTo>
                  <a:lnTo>
                    <a:pt x="830199" y="28829"/>
                  </a:lnTo>
                  <a:lnTo>
                    <a:pt x="826008" y="28067"/>
                  </a:lnTo>
                  <a:lnTo>
                    <a:pt x="816610" y="28067"/>
                  </a:lnTo>
                  <a:lnTo>
                    <a:pt x="812419" y="28829"/>
                  </a:lnTo>
                  <a:lnTo>
                    <a:pt x="808609" y="30480"/>
                  </a:lnTo>
                  <a:lnTo>
                    <a:pt x="804799" y="32004"/>
                  </a:lnTo>
                  <a:lnTo>
                    <a:pt x="801624" y="34163"/>
                  </a:lnTo>
                  <a:lnTo>
                    <a:pt x="796290" y="40005"/>
                  </a:lnTo>
                  <a:lnTo>
                    <a:pt x="794258" y="43434"/>
                  </a:lnTo>
                  <a:lnTo>
                    <a:pt x="792861" y="47498"/>
                  </a:lnTo>
                  <a:lnTo>
                    <a:pt x="791337" y="51562"/>
                  </a:lnTo>
                  <a:lnTo>
                    <a:pt x="790702" y="56134"/>
                  </a:lnTo>
                  <a:lnTo>
                    <a:pt x="790702" y="66167"/>
                  </a:lnTo>
                  <a:lnTo>
                    <a:pt x="791337" y="70739"/>
                  </a:lnTo>
                  <a:lnTo>
                    <a:pt x="792861" y="74803"/>
                  </a:lnTo>
                  <a:lnTo>
                    <a:pt x="794258" y="78867"/>
                  </a:lnTo>
                  <a:lnTo>
                    <a:pt x="816610" y="94107"/>
                  </a:lnTo>
                  <a:lnTo>
                    <a:pt x="826008" y="94107"/>
                  </a:lnTo>
                  <a:lnTo>
                    <a:pt x="843419" y="85344"/>
                  </a:lnTo>
                  <a:lnTo>
                    <a:pt x="846201" y="82296"/>
                  </a:lnTo>
                  <a:lnTo>
                    <a:pt x="848233" y="78867"/>
                  </a:lnTo>
                  <a:lnTo>
                    <a:pt x="851027" y="70739"/>
                  </a:lnTo>
                  <a:lnTo>
                    <a:pt x="851789" y="66167"/>
                  </a:lnTo>
                  <a:lnTo>
                    <a:pt x="851789" y="56134"/>
                  </a:lnTo>
                  <a:close/>
                </a:path>
                <a:path w="1716404" h="110489">
                  <a:moveTo>
                    <a:pt x="920242" y="29083"/>
                  </a:moveTo>
                  <a:lnTo>
                    <a:pt x="909066" y="29083"/>
                  </a:lnTo>
                  <a:lnTo>
                    <a:pt x="909066" y="76327"/>
                  </a:lnTo>
                  <a:lnTo>
                    <a:pt x="906653" y="79121"/>
                  </a:lnTo>
                  <a:lnTo>
                    <a:pt x="903986" y="81280"/>
                  </a:lnTo>
                  <a:lnTo>
                    <a:pt x="901065" y="82931"/>
                  </a:lnTo>
                  <a:lnTo>
                    <a:pt x="898144" y="84455"/>
                  </a:lnTo>
                  <a:lnTo>
                    <a:pt x="894969" y="85217"/>
                  </a:lnTo>
                  <a:lnTo>
                    <a:pt x="887222" y="85217"/>
                  </a:lnTo>
                  <a:lnTo>
                    <a:pt x="883793" y="83947"/>
                  </a:lnTo>
                  <a:lnTo>
                    <a:pt x="881634" y="81280"/>
                  </a:lnTo>
                  <a:lnTo>
                    <a:pt x="879348" y="78613"/>
                  </a:lnTo>
                  <a:lnTo>
                    <a:pt x="878205" y="74803"/>
                  </a:lnTo>
                  <a:lnTo>
                    <a:pt x="878205" y="29083"/>
                  </a:lnTo>
                  <a:lnTo>
                    <a:pt x="867029" y="29083"/>
                  </a:lnTo>
                  <a:lnTo>
                    <a:pt x="867029" y="73660"/>
                  </a:lnTo>
                  <a:lnTo>
                    <a:pt x="867333" y="76327"/>
                  </a:lnTo>
                  <a:lnTo>
                    <a:pt x="867410" y="76962"/>
                  </a:lnTo>
                  <a:lnTo>
                    <a:pt x="868299" y="79883"/>
                  </a:lnTo>
                  <a:lnTo>
                    <a:pt x="869315" y="82931"/>
                  </a:lnTo>
                  <a:lnTo>
                    <a:pt x="870458" y="85217"/>
                  </a:lnTo>
                  <a:lnTo>
                    <a:pt x="870585" y="85471"/>
                  </a:lnTo>
                  <a:lnTo>
                    <a:pt x="872490" y="87503"/>
                  </a:lnTo>
                  <a:lnTo>
                    <a:pt x="874153" y="89535"/>
                  </a:lnTo>
                  <a:lnTo>
                    <a:pt x="874268" y="89662"/>
                  </a:lnTo>
                  <a:lnTo>
                    <a:pt x="876592" y="91440"/>
                  </a:lnTo>
                  <a:lnTo>
                    <a:pt x="876731" y="91440"/>
                  </a:lnTo>
                  <a:lnTo>
                    <a:pt x="879221" y="92456"/>
                  </a:lnTo>
                  <a:lnTo>
                    <a:pt x="881888" y="93599"/>
                  </a:lnTo>
                  <a:lnTo>
                    <a:pt x="884936" y="94234"/>
                  </a:lnTo>
                  <a:lnTo>
                    <a:pt x="892937" y="94234"/>
                  </a:lnTo>
                  <a:lnTo>
                    <a:pt x="908532" y="85217"/>
                  </a:lnTo>
                  <a:lnTo>
                    <a:pt x="909701" y="83947"/>
                  </a:lnTo>
                  <a:lnTo>
                    <a:pt x="910590" y="90805"/>
                  </a:lnTo>
                  <a:lnTo>
                    <a:pt x="910971" y="92456"/>
                  </a:lnTo>
                  <a:lnTo>
                    <a:pt x="911987" y="93218"/>
                  </a:lnTo>
                  <a:lnTo>
                    <a:pt x="920242" y="93218"/>
                  </a:lnTo>
                  <a:lnTo>
                    <a:pt x="920242" y="83947"/>
                  </a:lnTo>
                  <a:lnTo>
                    <a:pt x="920242" y="29083"/>
                  </a:lnTo>
                  <a:close/>
                </a:path>
                <a:path w="1716404" h="110489">
                  <a:moveTo>
                    <a:pt x="998601" y="55372"/>
                  </a:moveTo>
                  <a:lnTo>
                    <a:pt x="997966" y="50800"/>
                  </a:lnTo>
                  <a:lnTo>
                    <a:pt x="996886" y="46990"/>
                  </a:lnTo>
                  <a:lnTo>
                    <a:pt x="995680" y="42545"/>
                  </a:lnTo>
                  <a:lnTo>
                    <a:pt x="994156" y="39243"/>
                  </a:lnTo>
                  <a:lnTo>
                    <a:pt x="992479" y="37084"/>
                  </a:lnTo>
                  <a:lnTo>
                    <a:pt x="989838" y="33655"/>
                  </a:lnTo>
                  <a:lnTo>
                    <a:pt x="987298" y="31623"/>
                  </a:lnTo>
                  <a:lnTo>
                    <a:pt x="986917" y="31445"/>
                  </a:lnTo>
                  <a:lnTo>
                    <a:pt x="986917" y="68580"/>
                  </a:lnTo>
                  <a:lnTo>
                    <a:pt x="985393" y="74676"/>
                  </a:lnTo>
                  <a:lnTo>
                    <a:pt x="978916" y="83185"/>
                  </a:lnTo>
                  <a:lnTo>
                    <a:pt x="974344" y="85344"/>
                  </a:lnTo>
                  <a:lnTo>
                    <a:pt x="965327" y="85344"/>
                  </a:lnTo>
                  <a:lnTo>
                    <a:pt x="963231" y="84963"/>
                  </a:lnTo>
                  <a:lnTo>
                    <a:pt x="962799" y="84963"/>
                  </a:lnTo>
                  <a:lnTo>
                    <a:pt x="960120" y="83693"/>
                  </a:lnTo>
                  <a:lnTo>
                    <a:pt x="957580" y="82550"/>
                  </a:lnTo>
                  <a:lnTo>
                    <a:pt x="955421" y="80518"/>
                  </a:lnTo>
                  <a:lnTo>
                    <a:pt x="953389" y="77724"/>
                  </a:lnTo>
                  <a:lnTo>
                    <a:pt x="953389" y="46736"/>
                  </a:lnTo>
                  <a:lnTo>
                    <a:pt x="966978" y="37084"/>
                  </a:lnTo>
                  <a:lnTo>
                    <a:pt x="973201" y="37084"/>
                  </a:lnTo>
                  <a:lnTo>
                    <a:pt x="975487" y="37592"/>
                  </a:lnTo>
                  <a:lnTo>
                    <a:pt x="977519" y="38481"/>
                  </a:lnTo>
                  <a:lnTo>
                    <a:pt x="979551" y="39243"/>
                  </a:lnTo>
                  <a:lnTo>
                    <a:pt x="981202" y="40767"/>
                  </a:lnTo>
                  <a:lnTo>
                    <a:pt x="983996" y="44577"/>
                  </a:lnTo>
                  <a:lnTo>
                    <a:pt x="985012" y="46736"/>
                  </a:lnTo>
                  <a:lnTo>
                    <a:pt x="985139" y="46990"/>
                  </a:lnTo>
                  <a:lnTo>
                    <a:pt x="985774" y="50038"/>
                  </a:lnTo>
                  <a:lnTo>
                    <a:pt x="986536" y="52959"/>
                  </a:lnTo>
                  <a:lnTo>
                    <a:pt x="986790" y="55372"/>
                  </a:lnTo>
                  <a:lnTo>
                    <a:pt x="986917" y="68580"/>
                  </a:lnTo>
                  <a:lnTo>
                    <a:pt x="986917" y="31445"/>
                  </a:lnTo>
                  <a:lnTo>
                    <a:pt x="984377" y="30226"/>
                  </a:lnTo>
                  <a:lnTo>
                    <a:pt x="981329" y="28829"/>
                  </a:lnTo>
                  <a:lnTo>
                    <a:pt x="978027" y="28067"/>
                  </a:lnTo>
                  <a:lnTo>
                    <a:pt x="969899" y="28067"/>
                  </a:lnTo>
                  <a:lnTo>
                    <a:pt x="965962" y="29083"/>
                  </a:lnTo>
                  <a:lnTo>
                    <a:pt x="962533" y="30988"/>
                  </a:lnTo>
                  <a:lnTo>
                    <a:pt x="959104" y="32766"/>
                  </a:lnTo>
                  <a:lnTo>
                    <a:pt x="956056" y="35306"/>
                  </a:lnTo>
                  <a:lnTo>
                    <a:pt x="953389" y="38354"/>
                  </a:lnTo>
                  <a:lnTo>
                    <a:pt x="953389" y="0"/>
                  </a:lnTo>
                  <a:lnTo>
                    <a:pt x="942086" y="0"/>
                  </a:lnTo>
                  <a:lnTo>
                    <a:pt x="942086" y="93218"/>
                  </a:lnTo>
                  <a:lnTo>
                    <a:pt x="950976" y="93218"/>
                  </a:lnTo>
                  <a:lnTo>
                    <a:pt x="951865" y="92329"/>
                  </a:lnTo>
                  <a:lnTo>
                    <a:pt x="952246" y="90805"/>
                  </a:lnTo>
                  <a:lnTo>
                    <a:pt x="952715" y="85344"/>
                  </a:lnTo>
                  <a:lnTo>
                    <a:pt x="952754" y="84963"/>
                  </a:lnTo>
                  <a:lnTo>
                    <a:pt x="966724" y="94107"/>
                  </a:lnTo>
                  <a:lnTo>
                    <a:pt x="975233" y="94107"/>
                  </a:lnTo>
                  <a:lnTo>
                    <a:pt x="990523" y="85344"/>
                  </a:lnTo>
                  <a:lnTo>
                    <a:pt x="991235" y="84455"/>
                  </a:lnTo>
                  <a:lnTo>
                    <a:pt x="993648" y="81534"/>
                  </a:lnTo>
                  <a:lnTo>
                    <a:pt x="995426" y="77978"/>
                  </a:lnTo>
                  <a:lnTo>
                    <a:pt x="997966" y="69850"/>
                  </a:lnTo>
                  <a:lnTo>
                    <a:pt x="998601" y="65405"/>
                  </a:lnTo>
                  <a:lnTo>
                    <a:pt x="998601" y="55372"/>
                  </a:lnTo>
                  <a:close/>
                </a:path>
                <a:path w="1716404" h="110489">
                  <a:moveTo>
                    <a:pt x="1027303" y="0"/>
                  </a:moveTo>
                  <a:lnTo>
                    <a:pt x="1016127" y="0"/>
                  </a:lnTo>
                  <a:lnTo>
                    <a:pt x="1016127" y="93218"/>
                  </a:lnTo>
                  <a:lnTo>
                    <a:pt x="1027303" y="93218"/>
                  </a:lnTo>
                  <a:lnTo>
                    <a:pt x="1027303" y="0"/>
                  </a:lnTo>
                  <a:close/>
                </a:path>
                <a:path w="1716404" h="110489">
                  <a:moveTo>
                    <a:pt x="1101686" y="54229"/>
                  </a:moveTo>
                  <a:lnTo>
                    <a:pt x="1101559" y="51181"/>
                  </a:lnTo>
                  <a:lnTo>
                    <a:pt x="1101242" y="49149"/>
                  </a:lnTo>
                  <a:lnTo>
                    <a:pt x="1101166" y="48641"/>
                  </a:lnTo>
                  <a:lnTo>
                    <a:pt x="1095121" y="36449"/>
                  </a:lnTo>
                  <a:lnTo>
                    <a:pt x="1094232" y="35560"/>
                  </a:lnTo>
                  <a:lnTo>
                    <a:pt x="1091946" y="33147"/>
                  </a:lnTo>
                  <a:lnTo>
                    <a:pt x="1091692" y="32994"/>
                  </a:lnTo>
                  <a:lnTo>
                    <a:pt x="1091692" y="54229"/>
                  </a:lnTo>
                  <a:lnTo>
                    <a:pt x="1056767" y="54229"/>
                  </a:lnTo>
                  <a:lnTo>
                    <a:pt x="1069975" y="36449"/>
                  </a:lnTo>
                  <a:lnTo>
                    <a:pt x="1078103" y="36449"/>
                  </a:lnTo>
                  <a:lnTo>
                    <a:pt x="1080389" y="36830"/>
                  </a:lnTo>
                  <a:lnTo>
                    <a:pt x="1082294" y="37719"/>
                  </a:lnTo>
                  <a:lnTo>
                    <a:pt x="1084326" y="38608"/>
                  </a:lnTo>
                  <a:lnTo>
                    <a:pt x="1085977" y="39751"/>
                  </a:lnTo>
                  <a:lnTo>
                    <a:pt x="1087374" y="41402"/>
                  </a:lnTo>
                  <a:lnTo>
                    <a:pt x="1088771" y="42926"/>
                  </a:lnTo>
                  <a:lnTo>
                    <a:pt x="1089914" y="44831"/>
                  </a:lnTo>
                  <a:lnTo>
                    <a:pt x="1090549" y="46990"/>
                  </a:lnTo>
                  <a:lnTo>
                    <a:pt x="1091311" y="49149"/>
                  </a:lnTo>
                  <a:lnTo>
                    <a:pt x="1091628" y="51181"/>
                  </a:lnTo>
                  <a:lnTo>
                    <a:pt x="1091692" y="54229"/>
                  </a:lnTo>
                  <a:lnTo>
                    <a:pt x="1091692" y="32994"/>
                  </a:lnTo>
                  <a:lnTo>
                    <a:pt x="1089152" y="31369"/>
                  </a:lnTo>
                  <a:lnTo>
                    <a:pt x="1085850" y="30099"/>
                  </a:lnTo>
                  <a:lnTo>
                    <a:pt x="1082548" y="28702"/>
                  </a:lnTo>
                  <a:lnTo>
                    <a:pt x="1079119" y="28067"/>
                  </a:lnTo>
                  <a:lnTo>
                    <a:pt x="1070610" y="28067"/>
                  </a:lnTo>
                  <a:lnTo>
                    <a:pt x="1066419" y="28956"/>
                  </a:lnTo>
                  <a:lnTo>
                    <a:pt x="1062736" y="30607"/>
                  </a:lnTo>
                  <a:lnTo>
                    <a:pt x="1059053" y="32131"/>
                  </a:lnTo>
                  <a:lnTo>
                    <a:pt x="1055878" y="34417"/>
                  </a:lnTo>
                  <a:lnTo>
                    <a:pt x="1050671" y="40132"/>
                  </a:lnTo>
                  <a:lnTo>
                    <a:pt x="1048766" y="43434"/>
                  </a:lnTo>
                  <a:lnTo>
                    <a:pt x="1047369" y="47371"/>
                  </a:lnTo>
                  <a:lnTo>
                    <a:pt x="1045972" y="51181"/>
                  </a:lnTo>
                  <a:lnTo>
                    <a:pt x="1045337" y="55372"/>
                  </a:lnTo>
                  <a:lnTo>
                    <a:pt x="1045337" y="65405"/>
                  </a:lnTo>
                  <a:lnTo>
                    <a:pt x="1053973" y="85217"/>
                  </a:lnTo>
                  <a:lnTo>
                    <a:pt x="1056640" y="88138"/>
                  </a:lnTo>
                  <a:lnTo>
                    <a:pt x="1059942" y="90297"/>
                  </a:lnTo>
                  <a:lnTo>
                    <a:pt x="1067308" y="93345"/>
                  </a:lnTo>
                  <a:lnTo>
                    <a:pt x="1071372" y="94107"/>
                  </a:lnTo>
                  <a:lnTo>
                    <a:pt x="1078230" y="94107"/>
                  </a:lnTo>
                  <a:lnTo>
                    <a:pt x="1100099" y="85217"/>
                  </a:lnTo>
                  <a:lnTo>
                    <a:pt x="1100963" y="84201"/>
                  </a:lnTo>
                  <a:lnTo>
                    <a:pt x="1097788" y="80137"/>
                  </a:lnTo>
                  <a:lnTo>
                    <a:pt x="1097280" y="79375"/>
                  </a:lnTo>
                  <a:lnTo>
                    <a:pt x="1096518" y="78994"/>
                  </a:lnTo>
                  <a:lnTo>
                    <a:pt x="1094994" y="78994"/>
                  </a:lnTo>
                  <a:lnTo>
                    <a:pt x="1094105" y="79375"/>
                  </a:lnTo>
                  <a:lnTo>
                    <a:pt x="1092073" y="80645"/>
                  </a:lnTo>
                  <a:lnTo>
                    <a:pt x="1090930" y="81407"/>
                  </a:lnTo>
                  <a:lnTo>
                    <a:pt x="1087882" y="82931"/>
                  </a:lnTo>
                  <a:lnTo>
                    <a:pt x="1085697" y="83693"/>
                  </a:lnTo>
                  <a:lnTo>
                    <a:pt x="1082040" y="84836"/>
                  </a:lnTo>
                  <a:lnTo>
                    <a:pt x="1079627" y="85217"/>
                  </a:lnTo>
                  <a:lnTo>
                    <a:pt x="1073785" y="85217"/>
                  </a:lnTo>
                  <a:lnTo>
                    <a:pt x="1070991" y="84709"/>
                  </a:lnTo>
                  <a:lnTo>
                    <a:pt x="1068578" y="83693"/>
                  </a:lnTo>
                  <a:lnTo>
                    <a:pt x="1066507" y="82931"/>
                  </a:lnTo>
                  <a:lnTo>
                    <a:pt x="1066342" y="82931"/>
                  </a:lnTo>
                  <a:lnTo>
                    <a:pt x="1064183" y="81407"/>
                  </a:lnTo>
                  <a:lnTo>
                    <a:pt x="1056386" y="61214"/>
                  </a:lnTo>
                  <a:lnTo>
                    <a:pt x="1100074" y="61214"/>
                  </a:lnTo>
                  <a:lnTo>
                    <a:pt x="1100836" y="60833"/>
                  </a:lnTo>
                  <a:lnTo>
                    <a:pt x="1101217" y="60325"/>
                  </a:lnTo>
                  <a:lnTo>
                    <a:pt x="1101598" y="59690"/>
                  </a:lnTo>
                  <a:lnTo>
                    <a:pt x="1101686" y="54229"/>
                  </a:lnTo>
                  <a:close/>
                </a:path>
                <a:path w="1716404" h="110489">
                  <a:moveTo>
                    <a:pt x="1148334" y="50533"/>
                  </a:moveTo>
                  <a:lnTo>
                    <a:pt x="1117092" y="50533"/>
                  </a:lnTo>
                  <a:lnTo>
                    <a:pt x="1117092" y="60071"/>
                  </a:lnTo>
                  <a:lnTo>
                    <a:pt x="1148334" y="60071"/>
                  </a:lnTo>
                  <a:lnTo>
                    <a:pt x="1148334" y="50533"/>
                  </a:lnTo>
                  <a:close/>
                </a:path>
                <a:path w="1716404" h="110489">
                  <a:moveTo>
                    <a:pt x="1225677" y="55372"/>
                  </a:moveTo>
                  <a:lnTo>
                    <a:pt x="1225042" y="50800"/>
                  </a:lnTo>
                  <a:lnTo>
                    <a:pt x="1223962" y="46990"/>
                  </a:lnTo>
                  <a:lnTo>
                    <a:pt x="1222756" y="42545"/>
                  </a:lnTo>
                  <a:lnTo>
                    <a:pt x="1221232" y="39243"/>
                  </a:lnTo>
                  <a:lnTo>
                    <a:pt x="1219555" y="37084"/>
                  </a:lnTo>
                  <a:lnTo>
                    <a:pt x="1216914" y="33655"/>
                  </a:lnTo>
                  <a:lnTo>
                    <a:pt x="1214374" y="31623"/>
                  </a:lnTo>
                  <a:lnTo>
                    <a:pt x="1213993" y="31445"/>
                  </a:lnTo>
                  <a:lnTo>
                    <a:pt x="1213993" y="68580"/>
                  </a:lnTo>
                  <a:lnTo>
                    <a:pt x="1212469" y="74676"/>
                  </a:lnTo>
                  <a:lnTo>
                    <a:pt x="1205992" y="83185"/>
                  </a:lnTo>
                  <a:lnTo>
                    <a:pt x="1201420" y="85344"/>
                  </a:lnTo>
                  <a:lnTo>
                    <a:pt x="1192403" y="85344"/>
                  </a:lnTo>
                  <a:lnTo>
                    <a:pt x="1190294" y="84963"/>
                  </a:lnTo>
                  <a:lnTo>
                    <a:pt x="1189875" y="84963"/>
                  </a:lnTo>
                  <a:lnTo>
                    <a:pt x="1187196" y="83693"/>
                  </a:lnTo>
                  <a:lnTo>
                    <a:pt x="1184656" y="82550"/>
                  </a:lnTo>
                  <a:lnTo>
                    <a:pt x="1182497" y="80518"/>
                  </a:lnTo>
                  <a:lnTo>
                    <a:pt x="1180465" y="77724"/>
                  </a:lnTo>
                  <a:lnTo>
                    <a:pt x="1180465" y="46736"/>
                  </a:lnTo>
                  <a:lnTo>
                    <a:pt x="1194054" y="37084"/>
                  </a:lnTo>
                  <a:lnTo>
                    <a:pt x="1200277" y="37084"/>
                  </a:lnTo>
                  <a:lnTo>
                    <a:pt x="1202563" y="37592"/>
                  </a:lnTo>
                  <a:lnTo>
                    <a:pt x="1204595" y="38481"/>
                  </a:lnTo>
                  <a:lnTo>
                    <a:pt x="1206627" y="39243"/>
                  </a:lnTo>
                  <a:lnTo>
                    <a:pt x="1208278" y="40767"/>
                  </a:lnTo>
                  <a:lnTo>
                    <a:pt x="1211072" y="44577"/>
                  </a:lnTo>
                  <a:lnTo>
                    <a:pt x="1212088" y="46736"/>
                  </a:lnTo>
                  <a:lnTo>
                    <a:pt x="1212215" y="46990"/>
                  </a:lnTo>
                  <a:lnTo>
                    <a:pt x="1212850" y="50038"/>
                  </a:lnTo>
                  <a:lnTo>
                    <a:pt x="1213612" y="52959"/>
                  </a:lnTo>
                  <a:lnTo>
                    <a:pt x="1213866" y="55372"/>
                  </a:lnTo>
                  <a:lnTo>
                    <a:pt x="1213993" y="68580"/>
                  </a:lnTo>
                  <a:lnTo>
                    <a:pt x="1213993" y="31445"/>
                  </a:lnTo>
                  <a:lnTo>
                    <a:pt x="1211453" y="30226"/>
                  </a:lnTo>
                  <a:lnTo>
                    <a:pt x="1208405" y="28829"/>
                  </a:lnTo>
                  <a:lnTo>
                    <a:pt x="1205103" y="28067"/>
                  </a:lnTo>
                  <a:lnTo>
                    <a:pt x="1196975" y="28067"/>
                  </a:lnTo>
                  <a:lnTo>
                    <a:pt x="1193038" y="29083"/>
                  </a:lnTo>
                  <a:lnTo>
                    <a:pt x="1189609" y="30988"/>
                  </a:lnTo>
                  <a:lnTo>
                    <a:pt x="1186180" y="32766"/>
                  </a:lnTo>
                  <a:lnTo>
                    <a:pt x="1183132" y="35306"/>
                  </a:lnTo>
                  <a:lnTo>
                    <a:pt x="1180465" y="38354"/>
                  </a:lnTo>
                  <a:lnTo>
                    <a:pt x="1180465" y="0"/>
                  </a:lnTo>
                  <a:lnTo>
                    <a:pt x="1169162" y="0"/>
                  </a:lnTo>
                  <a:lnTo>
                    <a:pt x="1169162" y="93218"/>
                  </a:lnTo>
                  <a:lnTo>
                    <a:pt x="1178052" y="93218"/>
                  </a:lnTo>
                  <a:lnTo>
                    <a:pt x="1178941" y="92329"/>
                  </a:lnTo>
                  <a:lnTo>
                    <a:pt x="1179322" y="90805"/>
                  </a:lnTo>
                  <a:lnTo>
                    <a:pt x="1179791" y="85344"/>
                  </a:lnTo>
                  <a:lnTo>
                    <a:pt x="1179830" y="84963"/>
                  </a:lnTo>
                  <a:lnTo>
                    <a:pt x="1193800" y="94107"/>
                  </a:lnTo>
                  <a:lnTo>
                    <a:pt x="1202309" y="94107"/>
                  </a:lnTo>
                  <a:lnTo>
                    <a:pt x="1217599" y="85344"/>
                  </a:lnTo>
                  <a:lnTo>
                    <a:pt x="1218311" y="84455"/>
                  </a:lnTo>
                  <a:lnTo>
                    <a:pt x="1220724" y="81534"/>
                  </a:lnTo>
                  <a:lnTo>
                    <a:pt x="1222502" y="77978"/>
                  </a:lnTo>
                  <a:lnTo>
                    <a:pt x="1225042" y="69850"/>
                  </a:lnTo>
                  <a:lnTo>
                    <a:pt x="1225677" y="65405"/>
                  </a:lnTo>
                  <a:lnTo>
                    <a:pt x="1225677" y="55372"/>
                  </a:lnTo>
                  <a:close/>
                </a:path>
                <a:path w="1716404" h="110489">
                  <a:moveTo>
                    <a:pt x="1255903" y="0"/>
                  </a:moveTo>
                  <a:lnTo>
                    <a:pt x="1244727" y="0"/>
                  </a:lnTo>
                  <a:lnTo>
                    <a:pt x="1244727" y="93218"/>
                  </a:lnTo>
                  <a:lnTo>
                    <a:pt x="1255903" y="93218"/>
                  </a:lnTo>
                  <a:lnTo>
                    <a:pt x="1255903" y="0"/>
                  </a:lnTo>
                  <a:close/>
                </a:path>
                <a:path w="1716404" h="110489">
                  <a:moveTo>
                    <a:pt x="1290955" y="29083"/>
                  </a:moveTo>
                  <a:lnTo>
                    <a:pt x="1279779" y="29083"/>
                  </a:lnTo>
                  <a:lnTo>
                    <a:pt x="1279779" y="93218"/>
                  </a:lnTo>
                  <a:lnTo>
                    <a:pt x="1290955" y="93218"/>
                  </a:lnTo>
                  <a:lnTo>
                    <a:pt x="1290955" y="29083"/>
                  </a:lnTo>
                  <a:close/>
                </a:path>
                <a:path w="1716404" h="110489">
                  <a:moveTo>
                    <a:pt x="1293495" y="7874"/>
                  </a:moveTo>
                  <a:lnTo>
                    <a:pt x="1286510" y="889"/>
                  </a:lnTo>
                  <a:lnTo>
                    <a:pt x="1284351" y="889"/>
                  </a:lnTo>
                  <a:lnTo>
                    <a:pt x="1278128" y="5842"/>
                  </a:lnTo>
                  <a:lnTo>
                    <a:pt x="1277620" y="6858"/>
                  </a:lnTo>
                  <a:lnTo>
                    <a:pt x="1277620" y="11176"/>
                  </a:lnTo>
                  <a:lnTo>
                    <a:pt x="1278128" y="12065"/>
                  </a:lnTo>
                  <a:lnTo>
                    <a:pt x="1278509" y="13081"/>
                  </a:lnTo>
                  <a:lnTo>
                    <a:pt x="1284351" y="17018"/>
                  </a:lnTo>
                  <a:lnTo>
                    <a:pt x="1286510" y="17018"/>
                  </a:lnTo>
                  <a:lnTo>
                    <a:pt x="1293495" y="10160"/>
                  </a:lnTo>
                  <a:lnTo>
                    <a:pt x="1293495" y="7874"/>
                  </a:lnTo>
                  <a:close/>
                </a:path>
                <a:path w="1716404" h="110489">
                  <a:moveTo>
                    <a:pt x="1366774" y="48768"/>
                  </a:moveTo>
                  <a:lnTo>
                    <a:pt x="1366443" y="45974"/>
                  </a:lnTo>
                  <a:lnTo>
                    <a:pt x="1366393" y="45466"/>
                  </a:lnTo>
                  <a:lnTo>
                    <a:pt x="1365377" y="42418"/>
                  </a:lnTo>
                  <a:lnTo>
                    <a:pt x="1364488" y="39497"/>
                  </a:lnTo>
                  <a:lnTo>
                    <a:pt x="1363154" y="37084"/>
                  </a:lnTo>
                  <a:lnTo>
                    <a:pt x="1359535" y="32639"/>
                  </a:lnTo>
                  <a:lnTo>
                    <a:pt x="1357376" y="30988"/>
                  </a:lnTo>
                  <a:lnTo>
                    <a:pt x="1352042" y="28702"/>
                  </a:lnTo>
                  <a:lnTo>
                    <a:pt x="1348867" y="28067"/>
                  </a:lnTo>
                  <a:lnTo>
                    <a:pt x="1340866" y="28067"/>
                  </a:lnTo>
                  <a:lnTo>
                    <a:pt x="1336929" y="29083"/>
                  </a:lnTo>
                  <a:lnTo>
                    <a:pt x="1330071" y="32893"/>
                  </a:lnTo>
                  <a:lnTo>
                    <a:pt x="1326896" y="35306"/>
                  </a:lnTo>
                  <a:lnTo>
                    <a:pt x="1324102" y="38481"/>
                  </a:lnTo>
                  <a:lnTo>
                    <a:pt x="1323213" y="31496"/>
                  </a:lnTo>
                  <a:lnTo>
                    <a:pt x="1322832" y="29845"/>
                  </a:lnTo>
                  <a:lnTo>
                    <a:pt x="1321816" y="29083"/>
                  </a:lnTo>
                  <a:lnTo>
                    <a:pt x="1313561" y="29083"/>
                  </a:lnTo>
                  <a:lnTo>
                    <a:pt x="1313561" y="93218"/>
                  </a:lnTo>
                  <a:lnTo>
                    <a:pt x="1324737" y="93218"/>
                  </a:lnTo>
                  <a:lnTo>
                    <a:pt x="1324737" y="45974"/>
                  </a:lnTo>
                  <a:lnTo>
                    <a:pt x="1327277" y="43307"/>
                  </a:lnTo>
                  <a:lnTo>
                    <a:pt x="1338834" y="37084"/>
                  </a:lnTo>
                  <a:lnTo>
                    <a:pt x="1346708" y="37084"/>
                  </a:lnTo>
                  <a:lnTo>
                    <a:pt x="1350010" y="38481"/>
                  </a:lnTo>
                  <a:lnTo>
                    <a:pt x="1352296" y="41148"/>
                  </a:lnTo>
                  <a:lnTo>
                    <a:pt x="1354455" y="43815"/>
                  </a:lnTo>
                  <a:lnTo>
                    <a:pt x="1355598" y="47498"/>
                  </a:lnTo>
                  <a:lnTo>
                    <a:pt x="1355598" y="93218"/>
                  </a:lnTo>
                  <a:lnTo>
                    <a:pt x="1366774" y="93218"/>
                  </a:lnTo>
                  <a:lnTo>
                    <a:pt x="1366774" y="48768"/>
                  </a:lnTo>
                  <a:close/>
                </a:path>
                <a:path w="1716404" h="110489">
                  <a:moveTo>
                    <a:pt x="1439926" y="0"/>
                  </a:moveTo>
                  <a:lnTo>
                    <a:pt x="1428750" y="0"/>
                  </a:lnTo>
                  <a:lnTo>
                    <a:pt x="1428750" y="35560"/>
                  </a:lnTo>
                  <a:lnTo>
                    <a:pt x="1428648" y="75438"/>
                  </a:lnTo>
                  <a:lnTo>
                    <a:pt x="1426464" y="78359"/>
                  </a:lnTo>
                  <a:lnTo>
                    <a:pt x="1423924" y="80772"/>
                  </a:lnTo>
                  <a:lnTo>
                    <a:pt x="1418336" y="84074"/>
                  </a:lnTo>
                  <a:lnTo>
                    <a:pt x="1415161" y="84963"/>
                  </a:lnTo>
                  <a:lnTo>
                    <a:pt x="1408811" y="84963"/>
                  </a:lnTo>
                  <a:lnTo>
                    <a:pt x="1406525" y="84582"/>
                  </a:lnTo>
                  <a:lnTo>
                    <a:pt x="1403032" y="83058"/>
                  </a:lnTo>
                  <a:lnTo>
                    <a:pt x="1402753" y="83058"/>
                  </a:lnTo>
                  <a:lnTo>
                    <a:pt x="1400810" y="81407"/>
                  </a:lnTo>
                  <a:lnTo>
                    <a:pt x="1399413" y="79375"/>
                  </a:lnTo>
                  <a:lnTo>
                    <a:pt x="1398016" y="77470"/>
                  </a:lnTo>
                  <a:lnTo>
                    <a:pt x="1395095" y="53467"/>
                  </a:lnTo>
                  <a:lnTo>
                    <a:pt x="1396746" y="47371"/>
                  </a:lnTo>
                  <a:lnTo>
                    <a:pt x="1399921" y="43180"/>
                  </a:lnTo>
                  <a:lnTo>
                    <a:pt x="1403096" y="38862"/>
                  </a:lnTo>
                  <a:lnTo>
                    <a:pt x="1407795" y="36830"/>
                  </a:lnTo>
                  <a:lnTo>
                    <a:pt x="1416685" y="36830"/>
                  </a:lnTo>
                  <a:lnTo>
                    <a:pt x="1419479" y="37338"/>
                  </a:lnTo>
                  <a:lnTo>
                    <a:pt x="1421892" y="38481"/>
                  </a:lnTo>
                  <a:lnTo>
                    <a:pt x="1424432" y="39624"/>
                  </a:lnTo>
                  <a:lnTo>
                    <a:pt x="1426718" y="41529"/>
                  </a:lnTo>
                  <a:lnTo>
                    <a:pt x="1428559" y="44069"/>
                  </a:lnTo>
                  <a:lnTo>
                    <a:pt x="1428648" y="75438"/>
                  </a:lnTo>
                  <a:lnTo>
                    <a:pt x="1428648" y="35458"/>
                  </a:lnTo>
                  <a:lnTo>
                    <a:pt x="1426591" y="33147"/>
                  </a:lnTo>
                  <a:lnTo>
                    <a:pt x="1424051" y="31242"/>
                  </a:lnTo>
                  <a:lnTo>
                    <a:pt x="1418742" y="28829"/>
                  </a:lnTo>
                  <a:lnTo>
                    <a:pt x="1419009" y="28829"/>
                  </a:lnTo>
                  <a:lnTo>
                    <a:pt x="1415161" y="27940"/>
                  </a:lnTo>
                  <a:lnTo>
                    <a:pt x="1406906" y="27940"/>
                  </a:lnTo>
                  <a:lnTo>
                    <a:pt x="1402969" y="28829"/>
                  </a:lnTo>
                  <a:lnTo>
                    <a:pt x="1399540" y="30607"/>
                  </a:lnTo>
                  <a:lnTo>
                    <a:pt x="1396111" y="32258"/>
                  </a:lnTo>
                  <a:lnTo>
                    <a:pt x="1383538" y="56642"/>
                  </a:lnTo>
                  <a:lnTo>
                    <a:pt x="1383538" y="66675"/>
                  </a:lnTo>
                  <a:lnTo>
                    <a:pt x="1384046" y="71374"/>
                  </a:lnTo>
                  <a:lnTo>
                    <a:pt x="1385074" y="75057"/>
                  </a:lnTo>
                  <a:lnTo>
                    <a:pt x="1386255" y="79375"/>
                  </a:lnTo>
                  <a:lnTo>
                    <a:pt x="1386332" y="79629"/>
                  </a:lnTo>
                  <a:lnTo>
                    <a:pt x="1387221" y="81407"/>
                  </a:lnTo>
                  <a:lnTo>
                    <a:pt x="1388071" y="83058"/>
                  </a:lnTo>
                  <a:lnTo>
                    <a:pt x="1390142" y="85725"/>
                  </a:lnTo>
                  <a:lnTo>
                    <a:pt x="1392174" y="88519"/>
                  </a:lnTo>
                  <a:lnTo>
                    <a:pt x="1394714" y="90551"/>
                  </a:lnTo>
                  <a:lnTo>
                    <a:pt x="1397762" y="91948"/>
                  </a:lnTo>
                  <a:lnTo>
                    <a:pt x="1400683" y="93345"/>
                  </a:lnTo>
                  <a:lnTo>
                    <a:pt x="1404112" y="94107"/>
                  </a:lnTo>
                  <a:lnTo>
                    <a:pt x="1412240" y="94107"/>
                  </a:lnTo>
                  <a:lnTo>
                    <a:pt x="1415288" y="93345"/>
                  </a:lnTo>
                  <a:lnTo>
                    <a:pt x="1415859" y="93345"/>
                  </a:lnTo>
                  <a:lnTo>
                    <a:pt x="1423416" y="89027"/>
                  </a:lnTo>
                  <a:lnTo>
                    <a:pt x="1426464" y="86360"/>
                  </a:lnTo>
                  <a:lnTo>
                    <a:pt x="1427645" y="84963"/>
                  </a:lnTo>
                  <a:lnTo>
                    <a:pt x="1429258" y="83058"/>
                  </a:lnTo>
                  <a:lnTo>
                    <a:pt x="1431836" y="93345"/>
                  </a:lnTo>
                  <a:lnTo>
                    <a:pt x="1439926" y="93345"/>
                  </a:lnTo>
                  <a:lnTo>
                    <a:pt x="1439926" y="83058"/>
                  </a:lnTo>
                  <a:lnTo>
                    <a:pt x="1439926" y="36830"/>
                  </a:lnTo>
                  <a:lnTo>
                    <a:pt x="1439926" y="35560"/>
                  </a:lnTo>
                  <a:lnTo>
                    <a:pt x="1439926" y="0"/>
                  </a:lnTo>
                  <a:close/>
                </a:path>
                <a:path w="1716404" h="110489">
                  <a:moveTo>
                    <a:pt x="1532890" y="88392"/>
                  </a:moveTo>
                  <a:lnTo>
                    <a:pt x="1530756" y="84963"/>
                  </a:lnTo>
                  <a:lnTo>
                    <a:pt x="1529588" y="83058"/>
                  </a:lnTo>
                  <a:lnTo>
                    <a:pt x="1529156" y="82423"/>
                  </a:lnTo>
                  <a:lnTo>
                    <a:pt x="1528737" y="82042"/>
                  </a:lnTo>
                  <a:lnTo>
                    <a:pt x="1527175" y="82042"/>
                  </a:lnTo>
                  <a:lnTo>
                    <a:pt x="1526794" y="82423"/>
                  </a:lnTo>
                  <a:lnTo>
                    <a:pt x="1526286" y="82677"/>
                  </a:lnTo>
                  <a:lnTo>
                    <a:pt x="1525778" y="83058"/>
                  </a:lnTo>
                  <a:lnTo>
                    <a:pt x="1524508" y="83820"/>
                  </a:lnTo>
                  <a:lnTo>
                    <a:pt x="1523238" y="84455"/>
                  </a:lnTo>
                  <a:lnTo>
                    <a:pt x="1522984" y="84455"/>
                  </a:lnTo>
                  <a:lnTo>
                    <a:pt x="1521790" y="84963"/>
                  </a:lnTo>
                  <a:lnTo>
                    <a:pt x="1517777" y="84963"/>
                  </a:lnTo>
                  <a:lnTo>
                    <a:pt x="1516456" y="84455"/>
                  </a:lnTo>
                  <a:lnTo>
                    <a:pt x="1516253" y="84455"/>
                  </a:lnTo>
                  <a:lnTo>
                    <a:pt x="1513459" y="81661"/>
                  </a:lnTo>
                  <a:lnTo>
                    <a:pt x="1512824" y="79756"/>
                  </a:lnTo>
                  <a:lnTo>
                    <a:pt x="1512824" y="38608"/>
                  </a:lnTo>
                  <a:lnTo>
                    <a:pt x="1531239" y="38608"/>
                  </a:lnTo>
                  <a:lnTo>
                    <a:pt x="1531239" y="30353"/>
                  </a:lnTo>
                  <a:lnTo>
                    <a:pt x="1512824" y="30353"/>
                  </a:lnTo>
                  <a:lnTo>
                    <a:pt x="1512824" y="8255"/>
                  </a:lnTo>
                  <a:lnTo>
                    <a:pt x="1506474" y="8255"/>
                  </a:lnTo>
                  <a:lnTo>
                    <a:pt x="1502003" y="30353"/>
                  </a:lnTo>
                  <a:lnTo>
                    <a:pt x="1501063" y="30353"/>
                  </a:lnTo>
                  <a:lnTo>
                    <a:pt x="1491488" y="31623"/>
                  </a:lnTo>
                  <a:lnTo>
                    <a:pt x="1491488" y="36957"/>
                  </a:lnTo>
                  <a:lnTo>
                    <a:pt x="1491742" y="37592"/>
                  </a:lnTo>
                  <a:lnTo>
                    <a:pt x="1492123" y="37973"/>
                  </a:lnTo>
                  <a:lnTo>
                    <a:pt x="1492631" y="38354"/>
                  </a:lnTo>
                  <a:lnTo>
                    <a:pt x="1493139" y="38608"/>
                  </a:lnTo>
                  <a:lnTo>
                    <a:pt x="1501648" y="38608"/>
                  </a:lnTo>
                  <a:lnTo>
                    <a:pt x="1501648" y="83058"/>
                  </a:lnTo>
                  <a:lnTo>
                    <a:pt x="1502918" y="87122"/>
                  </a:lnTo>
                  <a:lnTo>
                    <a:pt x="1505712" y="89916"/>
                  </a:lnTo>
                  <a:lnTo>
                    <a:pt x="1508252" y="92710"/>
                  </a:lnTo>
                  <a:lnTo>
                    <a:pt x="1508379" y="92837"/>
                  </a:lnTo>
                  <a:lnTo>
                    <a:pt x="1512316" y="94234"/>
                  </a:lnTo>
                  <a:lnTo>
                    <a:pt x="1520190" y="94234"/>
                  </a:lnTo>
                  <a:lnTo>
                    <a:pt x="1523111" y="93726"/>
                  </a:lnTo>
                  <a:lnTo>
                    <a:pt x="1525778" y="92710"/>
                  </a:lnTo>
                  <a:lnTo>
                    <a:pt x="1528572" y="91567"/>
                  </a:lnTo>
                  <a:lnTo>
                    <a:pt x="1530858" y="90170"/>
                  </a:lnTo>
                  <a:lnTo>
                    <a:pt x="1532890" y="88392"/>
                  </a:lnTo>
                  <a:close/>
                </a:path>
                <a:path w="1716404" h="110489">
                  <a:moveTo>
                    <a:pt x="1587119" y="30226"/>
                  </a:moveTo>
                  <a:lnTo>
                    <a:pt x="1585976" y="29591"/>
                  </a:lnTo>
                  <a:lnTo>
                    <a:pt x="1585137" y="29210"/>
                  </a:lnTo>
                  <a:lnTo>
                    <a:pt x="1585506" y="29210"/>
                  </a:lnTo>
                  <a:lnTo>
                    <a:pt x="1581785" y="28194"/>
                  </a:lnTo>
                  <a:lnTo>
                    <a:pt x="1580134" y="27940"/>
                  </a:lnTo>
                  <a:lnTo>
                    <a:pt x="1574038" y="27940"/>
                  </a:lnTo>
                  <a:lnTo>
                    <a:pt x="1570228" y="29210"/>
                  </a:lnTo>
                  <a:lnTo>
                    <a:pt x="1567053" y="31750"/>
                  </a:lnTo>
                  <a:lnTo>
                    <a:pt x="1563751" y="34290"/>
                  </a:lnTo>
                  <a:lnTo>
                    <a:pt x="1561084" y="37719"/>
                  </a:lnTo>
                  <a:lnTo>
                    <a:pt x="1558925" y="42164"/>
                  </a:lnTo>
                  <a:lnTo>
                    <a:pt x="1558163" y="32258"/>
                  </a:lnTo>
                  <a:lnTo>
                    <a:pt x="1557909" y="31115"/>
                  </a:lnTo>
                  <a:lnTo>
                    <a:pt x="1557655" y="30226"/>
                  </a:lnTo>
                  <a:lnTo>
                    <a:pt x="1557147" y="29845"/>
                  </a:lnTo>
                  <a:lnTo>
                    <a:pt x="1556766" y="29337"/>
                  </a:lnTo>
                  <a:lnTo>
                    <a:pt x="1556321" y="29210"/>
                  </a:lnTo>
                  <a:lnTo>
                    <a:pt x="1548257" y="29210"/>
                  </a:lnTo>
                  <a:lnTo>
                    <a:pt x="1548257" y="93218"/>
                  </a:lnTo>
                  <a:lnTo>
                    <a:pt x="1559433" y="93218"/>
                  </a:lnTo>
                  <a:lnTo>
                    <a:pt x="1559433" y="52451"/>
                  </a:lnTo>
                  <a:lnTo>
                    <a:pt x="1561211" y="48006"/>
                  </a:lnTo>
                  <a:lnTo>
                    <a:pt x="1563497" y="44704"/>
                  </a:lnTo>
                  <a:lnTo>
                    <a:pt x="1566329" y="42164"/>
                  </a:lnTo>
                  <a:lnTo>
                    <a:pt x="1568551" y="40259"/>
                  </a:lnTo>
                  <a:lnTo>
                    <a:pt x="1568335" y="40259"/>
                  </a:lnTo>
                  <a:lnTo>
                    <a:pt x="1572006" y="38989"/>
                  </a:lnTo>
                  <a:lnTo>
                    <a:pt x="1578102" y="38989"/>
                  </a:lnTo>
                  <a:lnTo>
                    <a:pt x="1579753" y="39243"/>
                  </a:lnTo>
                  <a:lnTo>
                    <a:pt x="1583182" y="40259"/>
                  </a:lnTo>
                  <a:lnTo>
                    <a:pt x="1584706" y="40259"/>
                  </a:lnTo>
                  <a:lnTo>
                    <a:pt x="1585468" y="39751"/>
                  </a:lnTo>
                  <a:lnTo>
                    <a:pt x="1585595" y="39243"/>
                  </a:lnTo>
                  <a:lnTo>
                    <a:pt x="1585658" y="38989"/>
                  </a:lnTo>
                  <a:lnTo>
                    <a:pt x="1585722" y="38735"/>
                  </a:lnTo>
                  <a:lnTo>
                    <a:pt x="1587119" y="30226"/>
                  </a:lnTo>
                  <a:close/>
                </a:path>
                <a:path w="1716404" h="110489">
                  <a:moveTo>
                    <a:pt x="1614043" y="29083"/>
                  </a:moveTo>
                  <a:lnTo>
                    <a:pt x="1602867" y="29083"/>
                  </a:lnTo>
                  <a:lnTo>
                    <a:pt x="1602867" y="93218"/>
                  </a:lnTo>
                  <a:lnTo>
                    <a:pt x="1614043" y="93218"/>
                  </a:lnTo>
                  <a:lnTo>
                    <a:pt x="1614043" y="29083"/>
                  </a:lnTo>
                  <a:close/>
                </a:path>
                <a:path w="1716404" h="110489">
                  <a:moveTo>
                    <a:pt x="1616583" y="7874"/>
                  </a:moveTo>
                  <a:lnTo>
                    <a:pt x="1609598" y="889"/>
                  </a:lnTo>
                  <a:lnTo>
                    <a:pt x="1607439" y="889"/>
                  </a:lnTo>
                  <a:lnTo>
                    <a:pt x="1601216" y="5842"/>
                  </a:lnTo>
                  <a:lnTo>
                    <a:pt x="1600708" y="6858"/>
                  </a:lnTo>
                  <a:lnTo>
                    <a:pt x="1600708" y="11176"/>
                  </a:lnTo>
                  <a:lnTo>
                    <a:pt x="1601216" y="12065"/>
                  </a:lnTo>
                  <a:lnTo>
                    <a:pt x="1601597" y="13081"/>
                  </a:lnTo>
                  <a:lnTo>
                    <a:pt x="1607439" y="17018"/>
                  </a:lnTo>
                  <a:lnTo>
                    <a:pt x="1609598" y="17018"/>
                  </a:lnTo>
                  <a:lnTo>
                    <a:pt x="1616583" y="10160"/>
                  </a:lnTo>
                  <a:lnTo>
                    <a:pt x="1616583" y="7874"/>
                  </a:lnTo>
                  <a:close/>
                </a:path>
                <a:path w="1716404" h="110489">
                  <a:moveTo>
                    <a:pt x="1683639" y="48641"/>
                  </a:moveTo>
                  <a:lnTo>
                    <a:pt x="1683131" y="45339"/>
                  </a:lnTo>
                  <a:lnTo>
                    <a:pt x="1682381" y="42799"/>
                  </a:lnTo>
                  <a:lnTo>
                    <a:pt x="1682064" y="41783"/>
                  </a:lnTo>
                  <a:lnTo>
                    <a:pt x="1681302" y="39624"/>
                  </a:lnTo>
                  <a:lnTo>
                    <a:pt x="1681226" y="39370"/>
                  </a:lnTo>
                  <a:lnTo>
                    <a:pt x="1679968" y="37084"/>
                  </a:lnTo>
                  <a:lnTo>
                    <a:pt x="1679829" y="36830"/>
                  </a:lnTo>
                  <a:lnTo>
                    <a:pt x="1678025" y="34798"/>
                  </a:lnTo>
                  <a:lnTo>
                    <a:pt x="1664970" y="27940"/>
                  </a:lnTo>
                  <a:lnTo>
                    <a:pt x="1656334" y="27940"/>
                  </a:lnTo>
                  <a:lnTo>
                    <a:pt x="1636128" y="38354"/>
                  </a:lnTo>
                  <a:lnTo>
                    <a:pt x="1636331" y="38354"/>
                  </a:lnTo>
                  <a:lnTo>
                    <a:pt x="1638300" y="41783"/>
                  </a:lnTo>
                  <a:lnTo>
                    <a:pt x="1638681" y="42418"/>
                  </a:lnTo>
                  <a:lnTo>
                    <a:pt x="1639062" y="42799"/>
                  </a:lnTo>
                  <a:lnTo>
                    <a:pt x="1640205" y="43688"/>
                  </a:lnTo>
                  <a:lnTo>
                    <a:pt x="1643456" y="43688"/>
                  </a:lnTo>
                  <a:lnTo>
                    <a:pt x="1645183" y="42418"/>
                  </a:lnTo>
                  <a:lnTo>
                    <a:pt x="1646174" y="41783"/>
                  </a:lnTo>
                  <a:lnTo>
                    <a:pt x="1646809" y="41402"/>
                  </a:lnTo>
                  <a:lnTo>
                    <a:pt x="1648206" y="40513"/>
                  </a:lnTo>
                  <a:lnTo>
                    <a:pt x="1649476" y="39624"/>
                  </a:lnTo>
                  <a:lnTo>
                    <a:pt x="1651127" y="38862"/>
                  </a:lnTo>
                  <a:lnTo>
                    <a:pt x="1652397" y="38354"/>
                  </a:lnTo>
                  <a:lnTo>
                    <a:pt x="1654937" y="37465"/>
                  </a:lnTo>
                  <a:lnTo>
                    <a:pt x="1657223" y="37084"/>
                  </a:lnTo>
                  <a:lnTo>
                    <a:pt x="1664081" y="37084"/>
                  </a:lnTo>
                  <a:lnTo>
                    <a:pt x="1672590" y="47244"/>
                  </a:lnTo>
                  <a:lnTo>
                    <a:pt x="1672590" y="57277"/>
                  </a:lnTo>
                  <a:lnTo>
                    <a:pt x="1672590" y="64516"/>
                  </a:lnTo>
                  <a:lnTo>
                    <a:pt x="1672590" y="77724"/>
                  </a:lnTo>
                  <a:lnTo>
                    <a:pt x="1670050" y="80264"/>
                  </a:lnTo>
                  <a:lnTo>
                    <a:pt x="1668653" y="81280"/>
                  </a:lnTo>
                  <a:lnTo>
                    <a:pt x="1667383" y="82296"/>
                  </a:lnTo>
                  <a:lnTo>
                    <a:pt x="1665986" y="83312"/>
                  </a:lnTo>
                  <a:lnTo>
                    <a:pt x="1664589" y="83947"/>
                  </a:lnTo>
                  <a:lnTo>
                    <a:pt x="1663065" y="84709"/>
                  </a:lnTo>
                  <a:lnTo>
                    <a:pt x="1661541" y="85344"/>
                  </a:lnTo>
                  <a:lnTo>
                    <a:pt x="1658239" y="86106"/>
                  </a:lnTo>
                  <a:lnTo>
                    <a:pt x="1656461" y="86360"/>
                  </a:lnTo>
                  <a:lnTo>
                    <a:pt x="1652905" y="86360"/>
                  </a:lnTo>
                  <a:lnTo>
                    <a:pt x="1651635" y="86106"/>
                  </a:lnTo>
                  <a:lnTo>
                    <a:pt x="1649095" y="85344"/>
                  </a:lnTo>
                  <a:lnTo>
                    <a:pt x="1647952" y="84836"/>
                  </a:lnTo>
                  <a:lnTo>
                    <a:pt x="1647063" y="84074"/>
                  </a:lnTo>
                  <a:lnTo>
                    <a:pt x="1646047" y="83312"/>
                  </a:lnTo>
                  <a:lnTo>
                    <a:pt x="1645412" y="82296"/>
                  </a:lnTo>
                  <a:lnTo>
                    <a:pt x="1644904" y="81280"/>
                  </a:lnTo>
                  <a:lnTo>
                    <a:pt x="1644777" y="81026"/>
                  </a:lnTo>
                  <a:lnTo>
                    <a:pt x="1644472" y="80264"/>
                  </a:lnTo>
                  <a:lnTo>
                    <a:pt x="1644370" y="80010"/>
                  </a:lnTo>
                  <a:lnTo>
                    <a:pt x="1644269" y="79756"/>
                  </a:lnTo>
                  <a:lnTo>
                    <a:pt x="1644015" y="78359"/>
                  </a:lnTo>
                  <a:lnTo>
                    <a:pt x="1650492" y="68072"/>
                  </a:lnTo>
                  <a:lnTo>
                    <a:pt x="1652778" y="66929"/>
                  </a:lnTo>
                  <a:lnTo>
                    <a:pt x="1655699" y="66167"/>
                  </a:lnTo>
                  <a:lnTo>
                    <a:pt x="1659382" y="65405"/>
                  </a:lnTo>
                  <a:lnTo>
                    <a:pt x="1662938" y="64770"/>
                  </a:lnTo>
                  <a:lnTo>
                    <a:pt x="1667383" y="64516"/>
                  </a:lnTo>
                  <a:lnTo>
                    <a:pt x="1672590" y="64516"/>
                  </a:lnTo>
                  <a:lnTo>
                    <a:pt x="1672590" y="57277"/>
                  </a:lnTo>
                  <a:lnTo>
                    <a:pt x="1665351" y="57277"/>
                  </a:lnTo>
                  <a:lnTo>
                    <a:pt x="1659255" y="57912"/>
                  </a:lnTo>
                  <a:lnTo>
                    <a:pt x="1635252" y="69850"/>
                  </a:lnTo>
                  <a:lnTo>
                    <a:pt x="1633855" y="72136"/>
                  </a:lnTo>
                  <a:lnTo>
                    <a:pt x="1633220" y="74549"/>
                  </a:lnTo>
                  <a:lnTo>
                    <a:pt x="1633258" y="80264"/>
                  </a:lnTo>
                  <a:lnTo>
                    <a:pt x="1633562" y="82296"/>
                  </a:lnTo>
                  <a:lnTo>
                    <a:pt x="1633601" y="82550"/>
                  </a:lnTo>
                  <a:lnTo>
                    <a:pt x="1634617" y="84709"/>
                  </a:lnTo>
                  <a:lnTo>
                    <a:pt x="1635506" y="86868"/>
                  </a:lnTo>
                  <a:lnTo>
                    <a:pt x="1636776" y="88646"/>
                  </a:lnTo>
                  <a:lnTo>
                    <a:pt x="1640370" y="91694"/>
                  </a:lnTo>
                  <a:lnTo>
                    <a:pt x="1640547" y="91694"/>
                  </a:lnTo>
                  <a:lnTo>
                    <a:pt x="1642452" y="92710"/>
                  </a:lnTo>
                  <a:lnTo>
                    <a:pt x="1642694" y="92710"/>
                  </a:lnTo>
                  <a:lnTo>
                    <a:pt x="1644142" y="93218"/>
                  </a:lnTo>
                  <a:lnTo>
                    <a:pt x="1646732" y="93980"/>
                  </a:lnTo>
                  <a:lnTo>
                    <a:pt x="1647050" y="93980"/>
                  </a:lnTo>
                  <a:lnTo>
                    <a:pt x="1648587" y="94234"/>
                  </a:lnTo>
                  <a:lnTo>
                    <a:pt x="1653540" y="94234"/>
                  </a:lnTo>
                  <a:lnTo>
                    <a:pt x="1655699" y="93980"/>
                  </a:lnTo>
                  <a:lnTo>
                    <a:pt x="1657731" y="93599"/>
                  </a:lnTo>
                  <a:lnTo>
                    <a:pt x="1661185" y="92710"/>
                  </a:lnTo>
                  <a:lnTo>
                    <a:pt x="1661414" y="92710"/>
                  </a:lnTo>
                  <a:lnTo>
                    <a:pt x="1663446" y="91694"/>
                  </a:lnTo>
                  <a:lnTo>
                    <a:pt x="1665224" y="90932"/>
                  </a:lnTo>
                  <a:lnTo>
                    <a:pt x="1666875" y="89916"/>
                  </a:lnTo>
                  <a:lnTo>
                    <a:pt x="1670050" y="87503"/>
                  </a:lnTo>
                  <a:lnTo>
                    <a:pt x="1671396" y="86360"/>
                  </a:lnTo>
                  <a:lnTo>
                    <a:pt x="1671701" y="86106"/>
                  </a:lnTo>
                  <a:lnTo>
                    <a:pt x="1673212" y="84709"/>
                  </a:lnTo>
                  <a:lnTo>
                    <a:pt x="1673377" y="84709"/>
                  </a:lnTo>
                  <a:lnTo>
                    <a:pt x="1674622" y="90551"/>
                  </a:lnTo>
                  <a:lnTo>
                    <a:pt x="1674710" y="90932"/>
                  </a:lnTo>
                  <a:lnTo>
                    <a:pt x="1674952" y="91694"/>
                  </a:lnTo>
                  <a:lnTo>
                    <a:pt x="1675752" y="92710"/>
                  </a:lnTo>
                  <a:lnTo>
                    <a:pt x="1676641" y="92964"/>
                  </a:lnTo>
                  <a:lnTo>
                    <a:pt x="1676019" y="92710"/>
                  </a:lnTo>
                  <a:lnTo>
                    <a:pt x="1683639" y="92710"/>
                  </a:lnTo>
                  <a:lnTo>
                    <a:pt x="1683639" y="84709"/>
                  </a:lnTo>
                  <a:lnTo>
                    <a:pt x="1683639" y="64516"/>
                  </a:lnTo>
                  <a:lnTo>
                    <a:pt x="1683639" y="48641"/>
                  </a:lnTo>
                  <a:close/>
                </a:path>
                <a:path w="1716404" h="110489">
                  <a:moveTo>
                    <a:pt x="1716151" y="0"/>
                  </a:moveTo>
                  <a:lnTo>
                    <a:pt x="1704975" y="0"/>
                  </a:lnTo>
                  <a:lnTo>
                    <a:pt x="1704975" y="93218"/>
                  </a:lnTo>
                  <a:lnTo>
                    <a:pt x="1716151" y="93218"/>
                  </a:lnTo>
                  <a:lnTo>
                    <a:pt x="1716151" y="0"/>
                  </a:lnTo>
                  <a:close/>
                </a:path>
              </a:pathLst>
            </a:custGeom>
            <a:solidFill>
              <a:srgbClr val="4A4F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7959217" y="2752089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8" y="0"/>
                </a:moveTo>
                <a:lnTo>
                  <a:pt x="15621" y="0"/>
                </a:lnTo>
                <a:lnTo>
                  <a:pt x="11302" y="0"/>
                </a:lnTo>
                <a:lnTo>
                  <a:pt x="7619" y="1524"/>
                </a:lnTo>
                <a:lnTo>
                  <a:pt x="1524" y="7620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2"/>
                </a:lnTo>
                <a:lnTo>
                  <a:pt x="7619" y="29718"/>
                </a:lnTo>
                <a:lnTo>
                  <a:pt x="11302" y="31242"/>
                </a:lnTo>
                <a:lnTo>
                  <a:pt x="19938" y="31242"/>
                </a:lnTo>
                <a:lnTo>
                  <a:pt x="23622" y="29718"/>
                </a:lnTo>
                <a:lnTo>
                  <a:pt x="29717" y="23622"/>
                </a:lnTo>
                <a:lnTo>
                  <a:pt x="31368" y="19938"/>
                </a:lnTo>
                <a:lnTo>
                  <a:pt x="31368" y="11302"/>
                </a:lnTo>
                <a:lnTo>
                  <a:pt x="29717" y="7620"/>
                </a:lnTo>
                <a:lnTo>
                  <a:pt x="23622" y="1524"/>
                </a:lnTo>
                <a:lnTo>
                  <a:pt x="19938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70850" y="2713863"/>
            <a:ext cx="1379352" cy="119887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502335" y="3136403"/>
            <a:ext cx="4250690" cy="2658110"/>
            <a:chOff x="6502335" y="3136403"/>
            <a:chExt cx="4250690" cy="2658110"/>
          </a:xfrm>
        </p:grpSpPr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02335" y="3136403"/>
              <a:ext cx="4250178" cy="265782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547865" y="4214621"/>
              <a:ext cx="3484245" cy="283845"/>
            </a:xfrm>
            <a:custGeom>
              <a:avLst/>
              <a:gdLst/>
              <a:ahLst/>
              <a:cxnLst/>
              <a:rect l="l" t="t" r="r" b="b"/>
              <a:pathLst>
                <a:path w="3484245" h="283845">
                  <a:moveTo>
                    <a:pt x="0" y="283463"/>
                  </a:moveTo>
                  <a:lnTo>
                    <a:pt x="3483864" y="283463"/>
                  </a:lnTo>
                  <a:lnTo>
                    <a:pt x="3483864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7685"/>
            <a:ext cx="273050" cy="988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2855" y="2567558"/>
            <a:ext cx="2319235" cy="17360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86078" y="1813636"/>
            <a:ext cx="713105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-355" b="1" i="1">
                <a:solidFill>
                  <a:srgbClr val="D9D9D9"/>
                </a:solidFill>
                <a:latin typeface="Trebuchet MS"/>
                <a:cs typeface="Trebuchet MS"/>
              </a:rPr>
              <a:t>02</a:t>
            </a:r>
            <a:endParaRPr sz="50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5326" y="2890901"/>
            <a:ext cx="2476354" cy="1756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5360" y="3474720"/>
            <a:ext cx="3706367" cy="275996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200144" y="481571"/>
            <a:ext cx="6503034" cy="5568315"/>
            <a:chOff x="4200144" y="481571"/>
            <a:chExt cx="6503034" cy="556831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64451" y="481571"/>
              <a:ext cx="4038600" cy="556831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210050" y="2129789"/>
              <a:ext cx="2073910" cy="1684655"/>
            </a:xfrm>
            <a:custGeom>
              <a:avLst/>
              <a:gdLst/>
              <a:ahLst/>
              <a:cxnLst/>
              <a:rect l="l" t="t" r="r" b="b"/>
              <a:pathLst>
                <a:path w="2073910" h="1684654">
                  <a:moveTo>
                    <a:pt x="2063877" y="0"/>
                  </a:moveTo>
                  <a:lnTo>
                    <a:pt x="1031875" y="0"/>
                  </a:lnTo>
                  <a:lnTo>
                    <a:pt x="1031875" y="681227"/>
                  </a:lnTo>
                  <a:lnTo>
                    <a:pt x="0" y="681227"/>
                  </a:lnTo>
                </a:path>
                <a:path w="2073910" h="1684654">
                  <a:moveTo>
                    <a:pt x="2073655" y="1684147"/>
                  </a:moveTo>
                  <a:lnTo>
                    <a:pt x="1036827" y="1684147"/>
                  </a:lnTo>
                  <a:lnTo>
                    <a:pt x="1036827" y="681227"/>
                  </a:lnTo>
                  <a:lnTo>
                    <a:pt x="0" y="681227"/>
                  </a:lnTo>
                </a:path>
              </a:pathLst>
            </a:custGeom>
            <a:ln w="19812">
              <a:solidFill>
                <a:srgbClr val="9000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63639" y="3270504"/>
              <a:ext cx="3332988" cy="16123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9548" y="3296411"/>
              <a:ext cx="3226307" cy="15057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46876" y="1763268"/>
              <a:ext cx="3349752" cy="7239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72783" y="1789176"/>
              <a:ext cx="3243071" cy="6172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273545" y="1792985"/>
              <a:ext cx="3243580" cy="3009900"/>
            </a:xfrm>
            <a:custGeom>
              <a:avLst/>
              <a:gdLst/>
              <a:ahLst/>
              <a:cxnLst/>
              <a:rect l="l" t="t" r="r" b="b"/>
              <a:pathLst>
                <a:path w="3243579" h="3009900">
                  <a:moveTo>
                    <a:pt x="0" y="630936"/>
                  </a:moveTo>
                  <a:lnTo>
                    <a:pt x="3243072" y="630936"/>
                  </a:lnTo>
                  <a:lnTo>
                    <a:pt x="3243072" y="0"/>
                  </a:lnTo>
                  <a:lnTo>
                    <a:pt x="0" y="0"/>
                  </a:lnTo>
                  <a:lnTo>
                    <a:pt x="0" y="630936"/>
                  </a:lnTo>
                  <a:close/>
                </a:path>
                <a:path w="3243579" h="3009900">
                  <a:moveTo>
                    <a:pt x="0" y="3009900"/>
                  </a:moveTo>
                  <a:lnTo>
                    <a:pt x="3243072" y="3009900"/>
                  </a:lnTo>
                  <a:lnTo>
                    <a:pt x="3243072" y="1519427"/>
                  </a:lnTo>
                  <a:lnTo>
                    <a:pt x="0" y="1519427"/>
                  </a:lnTo>
                  <a:lnTo>
                    <a:pt x="0" y="3009900"/>
                  </a:lnTo>
                  <a:close/>
                </a:path>
              </a:pathLst>
            </a:custGeom>
            <a:ln w="25908">
              <a:solidFill>
                <a:srgbClr val="9000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6200"/>
            <a:ext cx="273050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53058" y="1408557"/>
            <a:ext cx="2823717" cy="19443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499609" y="1376933"/>
            <a:ext cx="0" cy="594995"/>
          </a:xfrm>
          <a:custGeom>
            <a:avLst/>
            <a:gdLst/>
            <a:ahLst/>
            <a:cxnLst/>
            <a:rect l="l" t="t" r="r" b="b"/>
            <a:pathLst>
              <a:path w="0" h="594994">
                <a:moveTo>
                  <a:pt x="0" y="0"/>
                </a:moveTo>
                <a:lnTo>
                  <a:pt x="0" y="594867"/>
                </a:lnTo>
              </a:path>
            </a:pathLst>
          </a:custGeom>
          <a:ln w="19812">
            <a:solidFill>
              <a:srgbClr val="921F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667758" y="1271150"/>
            <a:ext cx="4710430" cy="140081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400" spc="10">
                <a:solidFill>
                  <a:srgbClr val="4A4F5A"/>
                </a:solidFill>
                <a:latin typeface="Tahoma"/>
                <a:cs typeface="Tahoma"/>
              </a:rPr>
              <a:t>proportion</a:t>
            </a:r>
            <a:r>
              <a:rPr dirty="0" sz="1400" spc="-13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4A4F5A"/>
                </a:solidFill>
                <a:latin typeface="Tahoma"/>
                <a:cs typeface="Tahoma"/>
              </a:rPr>
              <a:t>extracellular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4A4F5A"/>
                </a:solidFill>
                <a:latin typeface="Tahoma"/>
                <a:cs typeface="Tahoma"/>
              </a:rPr>
              <a:t>water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4A4F5A"/>
                </a:solidFill>
                <a:latin typeface="Tahoma"/>
                <a:cs typeface="Tahoma"/>
              </a:rPr>
              <a:t>to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10">
                <a:solidFill>
                  <a:srgbClr val="4A4F5A"/>
                </a:solidFill>
                <a:latin typeface="Tahoma"/>
                <a:cs typeface="Tahoma"/>
              </a:rPr>
              <a:t>total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body</a:t>
            </a:r>
            <a:r>
              <a:rPr dirty="0" sz="14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water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200">
                <a:solidFill>
                  <a:srgbClr val="970F0F"/>
                </a:solidFill>
                <a:latin typeface="Tahoma"/>
                <a:cs typeface="Tahoma"/>
              </a:rPr>
              <a:t>Extracellular</a:t>
            </a:r>
            <a:r>
              <a:rPr dirty="0" sz="1200" spc="-25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70F0F"/>
                </a:solidFill>
                <a:latin typeface="Tahoma"/>
                <a:cs typeface="Tahoma"/>
              </a:rPr>
              <a:t>Water</a:t>
            </a:r>
            <a:r>
              <a:rPr dirty="0" sz="1200" spc="-35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70F0F"/>
                </a:solidFill>
                <a:latin typeface="Tahoma"/>
                <a:cs typeface="Tahoma"/>
              </a:rPr>
              <a:t>(ECW) </a:t>
            </a:r>
            <a:r>
              <a:rPr dirty="0" sz="1200" spc="-25">
                <a:solidFill>
                  <a:srgbClr val="970F0F"/>
                </a:solidFill>
                <a:latin typeface="Tahoma"/>
                <a:cs typeface="Tahoma"/>
              </a:rPr>
              <a:t>/</a:t>
            </a:r>
            <a:r>
              <a:rPr dirty="0" sz="1200" spc="-45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70F0F"/>
                </a:solidFill>
                <a:latin typeface="Tahoma"/>
                <a:cs typeface="Tahoma"/>
              </a:rPr>
              <a:t>Total</a:t>
            </a:r>
            <a:r>
              <a:rPr dirty="0" sz="1200" spc="-40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70F0F"/>
                </a:solidFill>
                <a:latin typeface="Tahoma"/>
                <a:cs typeface="Tahoma"/>
              </a:rPr>
              <a:t>Body</a:t>
            </a:r>
            <a:r>
              <a:rPr dirty="0" sz="1200" spc="-60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970F0F"/>
                </a:solidFill>
                <a:latin typeface="Tahoma"/>
                <a:cs typeface="Tahoma"/>
              </a:rPr>
              <a:t>Water</a:t>
            </a:r>
            <a:r>
              <a:rPr dirty="0" sz="1200" spc="-15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970F0F"/>
                </a:solidFill>
                <a:latin typeface="Tahoma"/>
                <a:cs typeface="Tahoma"/>
              </a:rPr>
              <a:t>(TBW)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200">
              <a:latin typeface="Tahoma"/>
              <a:cs typeface="Tahoma"/>
            </a:endParaRPr>
          </a:p>
          <a:p>
            <a:pPr marL="3459479" marR="5080" indent="39624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4A4F5A"/>
                </a:solidFill>
                <a:latin typeface="Tahoma"/>
                <a:cs typeface="Tahoma"/>
              </a:rPr>
              <a:t>Edema </a:t>
            </a:r>
            <a:r>
              <a:rPr dirty="0" sz="1200" spc="-85" b="1">
                <a:solidFill>
                  <a:srgbClr val="4A4F5A"/>
                </a:solidFill>
                <a:latin typeface="Tahoma"/>
                <a:cs typeface="Tahoma"/>
              </a:rPr>
              <a:t>ECW/TBW</a:t>
            </a:r>
            <a:r>
              <a:rPr dirty="0" sz="1200" spc="-14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300" b="1">
                <a:solidFill>
                  <a:srgbClr val="4A4F5A"/>
                </a:solidFill>
                <a:latin typeface="Tahoma"/>
                <a:cs typeface="Tahoma"/>
              </a:rPr>
              <a:t>&gt;</a:t>
            </a:r>
            <a:r>
              <a:rPr dirty="0" sz="1200" spc="-15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4A4F5A"/>
                </a:solidFill>
                <a:latin typeface="Tahoma"/>
                <a:cs typeface="Tahoma"/>
              </a:rPr>
              <a:t>0.400</a:t>
            </a:r>
            <a:endParaRPr sz="1200">
              <a:latin typeface="Tahoma"/>
              <a:cs typeface="Tahoma"/>
            </a:endParaRPr>
          </a:p>
          <a:p>
            <a:pPr algn="r" marR="263525">
              <a:lnSpc>
                <a:spcPts val="1195"/>
              </a:lnSpc>
            </a:pPr>
            <a:r>
              <a:rPr dirty="0" sz="1000" spc="-70" b="1">
                <a:solidFill>
                  <a:srgbClr val="4A4F5A"/>
                </a:solidFill>
                <a:latin typeface="Tahoma"/>
                <a:cs typeface="Tahoma"/>
              </a:rPr>
              <a:t>2</a:t>
            </a:r>
            <a:r>
              <a:rPr dirty="0" sz="1000" spc="-16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4A4F5A"/>
                </a:solidFill>
                <a:latin typeface="Tahoma"/>
                <a:cs typeface="Tahoma"/>
              </a:rPr>
              <a:t>possibilities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730870" y="2562605"/>
            <a:ext cx="342265" cy="215265"/>
          </a:xfrm>
          <a:custGeom>
            <a:avLst/>
            <a:gdLst/>
            <a:ahLst/>
            <a:cxnLst/>
            <a:rect l="l" t="t" r="r" b="b"/>
            <a:pathLst>
              <a:path w="342265" h="215264">
                <a:moveTo>
                  <a:pt x="4190" y="214757"/>
                </a:moveTo>
                <a:lnTo>
                  <a:pt x="0" y="214757"/>
                </a:lnTo>
                <a:lnTo>
                  <a:pt x="0" y="0"/>
                </a:lnTo>
                <a:lnTo>
                  <a:pt x="341883" y="0"/>
                </a:lnTo>
              </a:path>
            </a:pathLst>
          </a:custGeom>
          <a:ln w="19812">
            <a:solidFill>
              <a:srgbClr val="9000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176643" y="2782315"/>
            <a:ext cx="10979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Case</a:t>
            </a:r>
            <a:r>
              <a:rPr dirty="0" sz="1200" spc="-15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1.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200" spc="-130" b="1">
                <a:solidFill>
                  <a:srgbClr val="4A4F5A"/>
                </a:solidFill>
                <a:latin typeface="Tahoma"/>
                <a:cs typeface="Tahoma"/>
              </a:rPr>
              <a:t>Increase</a:t>
            </a:r>
            <a:r>
              <a:rPr dirty="0" sz="1200" spc="-11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200" spc="-13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4A4F5A"/>
                </a:solidFill>
                <a:latin typeface="Tahoma"/>
                <a:cs typeface="Tahoma"/>
              </a:rPr>
              <a:t>ECW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254108" y="2782315"/>
            <a:ext cx="1119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Case</a:t>
            </a:r>
            <a:r>
              <a:rPr dirty="0" sz="1200" spc="-15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2.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200" spc="-105" b="1">
                <a:solidFill>
                  <a:srgbClr val="4A4F5A"/>
                </a:solidFill>
                <a:latin typeface="Tahoma"/>
                <a:cs typeface="Tahoma"/>
              </a:rPr>
              <a:t>Decrease</a:t>
            </a:r>
            <a:r>
              <a:rPr dirty="0" sz="1200" spc="-11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200" spc="-135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4A4F5A"/>
                </a:solidFill>
                <a:latin typeface="Tahoma"/>
                <a:cs typeface="Tahoma"/>
              </a:rPr>
              <a:t>ICW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425178" y="2554985"/>
            <a:ext cx="358140" cy="243840"/>
          </a:xfrm>
          <a:custGeom>
            <a:avLst/>
            <a:gdLst/>
            <a:ahLst/>
            <a:cxnLst/>
            <a:rect l="l" t="t" r="r" b="b"/>
            <a:pathLst>
              <a:path w="358140" h="243839">
                <a:moveTo>
                  <a:pt x="353949" y="243586"/>
                </a:moveTo>
                <a:lnTo>
                  <a:pt x="358140" y="243586"/>
                </a:lnTo>
                <a:lnTo>
                  <a:pt x="358140" y="0"/>
                </a:lnTo>
                <a:lnTo>
                  <a:pt x="0" y="0"/>
                </a:lnTo>
              </a:path>
            </a:pathLst>
          </a:custGeom>
          <a:ln w="19812">
            <a:solidFill>
              <a:srgbClr val="9000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127753" y="2988309"/>
            <a:ext cx="12630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733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4A4F5A"/>
                </a:solidFill>
                <a:latin typeface="Tahoma"/>
                <a:cs typeface="Tahoma"/>
              </a:rPr>
              <a:t>Normal </a:t>
            </a:r>
            <a:r>
              <a:rPr dirty="0" sz="1200" spc="-85" b="1">
                <a:solidFill>
                  <a:srgbClr val="4A4F5A"/>
                </a:solidFill>
                <a:latin typeface="Tahoma"/>
                <a:cs typeface="Tahoma"/>
              </a:rPr>
              <a:t>ECW/TBW</a:t>
            </a:r>
            <a:r>
              <a:rPr dirty="0" sz="1200" spc="-14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300" b="1">
                <a:solidFill>
                  <a:srgbClr val="4A4F5A"/>
                </a:solidFill>
                <a:latin typeface="Tahoma"/>
                <a:cs typeface="Tahoma"/>
              </a:rPr>
              <a:t>=</a:t>
            </a:r>
            <a:r>
              <a:rPr dirty="0" sz="1200" spc="-15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4A4F5A"/>
                </a:solidFill>
                <a:latin typeface="Tahoma"/>
                <a:cs typeface="Tahoma"/>
              </a:rPr>
              <a:t>0.380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1159" y="3783583"/>
            <a:ext cx="301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Tahoma"/>
                <a:cs typeface="Tahoma"/>
              </a:rPr>
              <a:t>38</a:t>
            </a:r>
            <a:r>
              <a:rPr dirty="0" sz="1000" spc="-25"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68952" y="3631691"/>
            <a:ext cx="391795" cy="490855"/>
          </a:xfrm>
          <a:prstGeom prst="rect">
            <a:avLst/>
          </a:prstGeom>
          <a:solidFill>
            <a:srgbClr val="EDD29E"/>
          </a:solidFill>
        </p:spPr>
        <p:txBody>
          <a:bodyPr wrap="square" lIns="0" tIns="164465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295"/>
              </a:spcBef>
            </a:pPr>
            <a:r>
              <a:rPr dirty="0" sz="1200" spc="55">
                <a:latin typeface="Tahoma"/>
                <a:cs typeface="Tahoma"/>
              </a:rPr>
              <a:t>ECW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33215" y="3621023"/>
            <a:ext cx="1327150" cy="283210"/>
            <a:chOff x="3633215" y="3621023"/>
            <a:chExt cx="1327150" cy="283210"/>
          </a:xfrm>
        </p:grpSpPr>
        <p:sp>
          <p:nvSpPr>
            <p:cNvPr id="23" name="object 23"/>
            <p:cNvSpPr/>
            <p:nvPr/>
          </p:nvSpPr>
          <p:spPr>
            <a:xfrm>
              <a:off x="3633215" y="3624071"/>
              <a:ext cx="1327150" cy="0"/>
            </a:xfrm>
            <a:custGeom>
              <a:avLst/>
              <a:gdLst/>
              <a:ahLst/>
              <a:cxnLst/>
              <a:rect l="l" t="t" r="r" b="b"/>
              <a:pathLst>
                <a:path w="1327150" h="0">
                  <a:moveTo>
                    <a:pt x="0" y="0"/>
                  </a:moveTo>
                  <a:lnTo>
                    <a:pt x="1327150" y="0"/>
                  </a:lnTo>
                </a:path>
              </a:pathLst>
            </a:custGeom>
            <a:ln w="6096">
              <a:solidFill>
                <a:srgbClr val="6C6D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08729" y="3628643"/>
              <a:ext cx="76835" cy="275590"/>
            </a:xfrm>
            <a:custGeom>
              <a:avLst/>
              <a:gdLst/>
              <a:ahLst/>
              <a:cxnLst/>
              <a:rect l="l" t="t" r="r" b="b"/>
              <a:pathLst>
                <a:path w="76835" h="275589">
                  <a:moveTo>
                    <a:pt x="44577" y="63499"/>
                  </a:moveTo>
                  <a:lnTo>
                    <a:pt x="31877" y="63499"/>
                  </a:lnTo>
                  <a:lnTo>
                    <a:pt x="31496" y="275589"/>
                  </a:lnTo>
                  <a:lnTo>
                    <a:pt x="44196" y="275589"/>
                  </a:lnTo>
                  <a:lnTo>
                    <a:pt x="44554" y="76326"/>
                  </a:lnTo>
                  <a:lnTo>
                    <a:pt x="44577" y="63499"/>
                  </a:lnTo>
                  <a:close/>
                </a:path>
                <a:path w="76835" h="275589">
                  <a:moveTo>
                    <a:pt x="38354" y="0"/>
                  </a:moveTo>
                  <a:lnTo>
                    <a:pt x="0" y="76326"/>
                  </a:lnTo>
                  <a:lnTo>
                    <a:pt x="31854" y="76326"/>
                  </a:lnTo>
                  <a:lnTo>
                    <a:pt x="31877" y="63499"/>
                  </a:lnTo>
                  <a:lnTo>
                    <a:pt x="69946" y="63499"/>
                  </a:lnTo>
                  <a:lnTo>
                    <a:pt x="38354" y="0"/>
                  </a:lnTo>
                  <a:close/>
                </a:path>
                <a:path w="76835" h="275589">
                  <a:moveTo>
                    <a:pt x="69946" y="63499"/>
                  </a:moveTo>
                  <a:lnTo>
                    <a:pt x="44577" y="63499"/>
                  </a:lnTo>
                  <a:lnTo>
                    <a:pt x="44554" y="76326"/>
                  </a:lnTo>
                  <a:lnTo>
                    <a:pt x="76327" y="76326"/>
                  </a:lnTo>
                  <a:lnTo>
                    <a:pt x="69946" y="63499"/>
                  </a:lnTo>
                  <a:close/>
                </a:path>
              </a:pathLst>
            </a:custGeom>
            <a:solidFill>
              <a:srgbClr val="4449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155438" y="3744214"/>
            <a:ext cx="979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7E7E7E"/>
                </a:solidFill>
                <a:latin typeface="Tahoma"/>
                <a:cs typeface="Tahoma"/>
              </a:rPr>
              <a:t>Normal </a:t>
            </a:r>
            <a:r>
              <a:rPr dirty="0" sz="900">
                <a:solidFill>
                  <a:srgbClr val="7E7E7E"/>
                </a:solidFill>
                <a:latin typeface="Tahoma"/>
                <a:cs typeface="Tahoma"/>
              </a:rPr>
              <a:t>Extracellular</a:t>
            </a:r>
            <a:r>
              <a:rPr dirty="0" sz="900" spc="5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Tahoma"/>
                <a:cs typeface="Tahoma"/>
              </a:rPr>
              <a:t>water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07638" y="4022597"/>
            <a:ext cx="2863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7E7E7E"/>
                </a:solidFill>
                <a:latin typeface="Tahoma"/>
                <a:cs typeface="Tahoma"/>
              </a:rPr>
              <a:t>Total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50665" y="4159757"/>
            <a:ext cx="600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E7E7E"/>
                </a:solidFill>
                <a:latin typeface="Tahoma"/>
                <a:cs typeface="Tahoma"/>
              </a:rPr>
              <a:t>Body</a:t>
            </a:r>
            <a:r>
              <a:rPr dirty="0" sz="900" spc="-5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Tahoma"/>
                <a:cs typeface="Tahoma"/>
              </a:rPr>
              <a:t>water </a:t>
            </a:r>
            <a:r>
              <a:rPr dirty="0" sz="900" spc="-20">
                <a:solidFill>
                  <a:srgbClr val="7E7E7E"/>
                </a:solidFill>
                <a:latin typeface="Tahoma"/>
                <a:cs typeface="Tahoma"/>
              </a:rPr>
              <a:t>100%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01159" y="4386453"/>
            <a:ext cx="301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Tahoma"/>
                <a:cs typeface="Tahoma"/>
              </a:rPr>
              <a:t>62</a:t>
            </a:r>
            <a:r>
              <a:rPr dirty="0" sz="1000" spc="-25"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8952" y="4155947"/>
            <a:ext cx="391795" cy="672465"/>
          </a:xfrm>
          <a:prstGeom prst="rect">
            <a:avLst/>
          </a:prstGeom>
          <a:solidFill>
            <a:srgbClr val="B3DFF0"/>
          </a:solidFill>
        </p:spPr>
        <p:txBody>
          <a:bodyPr wrap="square" lIns="0" tIns="679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endParaRPr sz="120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</a:pPr>
            <a:r>
              <a:rPr dirty="0" sz="1200" spc="-25">
                <a:latin typeface="Tahoma"/>
                <a:cs typeface="Tahoma"/>
              </a:rPr>
              <a:t>ICW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54548" y="4294123"/>
            <a:ext cx="955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7E7E7E"/>
                </a:solidFill>
                <a:latin typeface="Tahoma"/>
                <a:cs typeface="Tahoma"/>
              </a:rPr>
              <a:t>Normal </a:t>
            </a:r>
            <a:r>
              <a:rPr dirty="0" sz="900">
                <a:solidFill>
                  <a:srgbClr val="7E7E7E"/>
                </a:solidFill>
                <a:latin typeface="Tahoma"/>
                <a:cs typeface="Tahoma"/>
              </a:rPr>
              <a:t>Intracellular</a:t>
            </a:r>
            <a:r>
              <a:rPr dirty="0" sz="900" spc="-4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7E7E7E"/>
                </a:solidFill>
                <a:latin typeface="Tahoma"/>
                <a:cs typeface="Tahoma"/>
              </a:rPr>
              <a:t>water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30167" y="4550664"/>
            <a:ext cx="1327150" cy="281305"/>
            <a:chOff x="3630167" y="4550664"/>
            <a:chExt cx="1327150" cy="281305"/>
          </a:xfrm>
        </p:grpSpPr>
        <p:sp>
          <p:nvSpPr>
            <p:cNvPr id="26" name="object 26"/>
            <p:cNvSpPr/>
            <p:nvPr/>
          </p:nvSpPr>
          <p:spPr>
            <a:xfrm>
              <a:off x="3630167" y="4824984"/>
              <a:ext cx="1327150" cy="0"/>
            </a:xfrm>
            <a:custGeom>
              <a:avLst/>
              <a:gdLst/>
              <a:ahLst/>
              <a:cxnLst/>
              <a:rect l="l" t="t" r="r" b="b"/>
              <a:pathLst>
                <a:path w="1327150" h="0">
                  <a:moveTo>
                    <a:pt x="0" y="0"/>
                  </a:moveTo>
                  <a:lnTo>
                    <a:pt x="1327150" y="0"/>
                  </a:lnTo>
                </a:path>
              </a:pathLst>
            </a:custGeom>
            <a:ln w="6096">
              <a:solidFill>
                <a:srgbClr val="6C6D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813238" y="4550664"/>
              <a:ext cx="76200" cy="281305"/>
            </a:xfrm>
            <a:custGeom>
              <a:avLst/>
              <a:gdLst/>
              <a:ahLst/>
              <a:cxnLst/>
              <a:rect l="l" t="t" r="r" b="b"/>
              <a:pathLst>
                <a:path w="76200" h="281304">
                  <a:moveTo>
                    <a:pt x="31708" y="205231"/>
                  </a:moveTo>
                  <a:lnTo>
                    <a:pt x="0" y="205231"/>
                  </a:lnTo>
                  <a:lnTo>
                    <a:pt x="37909" y="281305"/>
                  </a:lnTo>
                  <a:lnTo>
                    <a:pt x="69818" y="217805"/>
                  </a:lnTo>
                  <a:lnTo>
                    <a:pt x="31686" y="217805"/>
                  </a:lnTo>
                  <a:lnTo>
                    <a:pt x="31708" y="205231"/>
                  </a:lnTo>
                  <a:close/>
                </a:path>
                <a:path w="76200" h="281304">
                  <a:moveTo>
                    <a:pt x="44767" y="0"/>
                  </a:moveTo>
                  <a:lnTo>
                    <a:pt x="32067" y="0"/>
                  </a:lnTo>
                  <a:lnTo>
                    <a:pt x="31708" y="205231"/>
                  </a:lnTo>
                  <a:lnTo>
                    <a:pt x="31686" y="217805"/>
                  </a:lnTo>
                  <a:lnTo>
                    <a:pt x="44386" y="217805"/>
                  </a:lnTo>
                  <a:lnTo>
                    <a:pt x="44767" y="0"/>
                  </a:lnTo>
                  <a:close/>
                </a:path>
                <a:path w="76200" h="281304">
                  <a:moveTo>
                    <a:pt x="76136" y="205231"/>
                  </a:moveTo>
                  <a:lnTo>
                    <a:pt x="44408" y="205231"/>
                  </a:lnTo>
                  <a:lnTo>
                    <a:pt x="44386" y="217805"/>
                  </a:lnTo>
                  <a:lnTo>
                    <a:pt x="69818" y="217805"/>
                  </a:lnTo>
                  <a:lnTo>
                    <a:pt x="76136" y="205231"/>
                  </a:lnTo>
                  <a:close/>
                </a:path>
              </a:pathLst>
            </a:custGeom>
            <a:solidFill>
              <a:srgbClr val="4449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6315455" y="3284220"/>
            <a:ext cx="0" cy="1757045"/>
          </a:xfrm>
          <a:custGeom>
            <a:avLst/>
            <a:gdLst/>
            <a:ahLst/>
            <a:cxnLst/>
            <a:rect l="l" t="t" r="r" b="b"/>
            <a:pathLst>
              <a:path w="0" h="1757045">
                <a:moveTo>
                  <a:pt x="0" y="0"/>
                </a:moveTo>
                <a:lnTo>
                  <a:pt x="0" y="1756536"/>
                </a:lnTo>
              </a:path>
            </a:pathLst>
          </a:custGeom>
          <a:ln w="6096">
            <a:solidFill>
              <a:srgbClr val="40404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7426325" y="3381628"/>
            <a:ext cx="2647950" cy="760730"/>
            <a:chOff x="7426325" y="3381628"/>
            <a:chExt cx="2647950" cy="760730"/>
          </a:xfrm>
        </p:grpSpPr>
        <p:sp>
          <p:nvSpPr>
            <p:cNvPr id="31" name="object 31"/>
            <p:cNvSpPr/>
            <p:nvPr/>
          </p:nvSpPr>
          <p:spPr>
            <a:xfrm>
              <a:off x="7429500" y="3631691"/>
              <a:ext cx="2641600" cy="0"/>
            </a:xfrm>
            <a:custGeom>
              <a:avLst/>
              <a:gdLst/>
              <a:ahLst/>
              <a:cxnLst/>
              <a:rect l="l" t="t" r="r" b="b"/>
              <a:pathLst>
                <a:path w="2641600" h="0">
                  <a:moveTo>
                    <a:pt x="0" y="0"/>
                  </a:moveTo>
                  <a:lnTo>
                    <a:pt x="66294" y="0"/>
                  </a:lnTo>
                </a:path>
                <a:path w="2641600" h="0">
                  <a:moveTo>
                    <a:pt x="456438" y="0"/>
                  </a:moveTo>
                  <a:lnTo>
                    <a:pt x="2641219" y="0"/>
                  </a:lnTo>
                </a:path>
              </a:pathLst>
            </a:custGeom>
            <a:ln w="6096">
              <a:solidFill>
                <a:srgbClr val="6C6D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495793" y="3396233"/>
              <a:ext cx="390525" cy="731520"/>
            </a:xfrm>
            <a:custGeom>
              <a:avLst/>
              <a:gdLst/>
              <a:ahLst/>
              <a:cxnLst/>
              <a:rect l="l" t="t" r="r" b="b"/>
              <a:pathLst>
                <a:path w="390525" h="731520">
                  <a:moveTo>
                    <a:pt x="390144" y="0"/>
                  </a:moveTo>
                  <a:lnTo>
                    <a:pt x="0" y="0"/>
                  </a:lnTo>
                  <a:lnTo>
                    <a:pt x="0" y="731519"/>
                  </a:lnTo>
                  <a:lnTo>
                    <a:pt x="390144" y="731519"/>
                  </a:lnTo>
                  <a:lnTo>
                    <a:pt x="390144" y="0"/>
                  </a:lnTo>
                  <a:close/>
                </a:path>
              </a:pathLst>
            </a:custGeom>
            <a:solidFill>
              <a:srgbClr val="EDD2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495793" y="3396233"/>
              <a:ext cx="390525" cy="731520"/>
            </a:xfrm>
            <a:custGeom>
              <a:avLst/>
              <a:gdLst/>
              <a:ahLst/>
              <a:cxnLst/>
              <a:rect l="l" t="t" r="r" b="b"/>
              <a:pathLst>
                <a:path w="390525" h="731520">
                  <a:moveTo>
                    <a:pt x="0" y="731519"/>
                  </a:moveTo>
                  <a:lnTo>
                    <a:pt x="390144" y="731519"/>
                  </a:lnTo>
                  <a:lnTo>
                    <a:pt x="390144" y="0"/>
                  </a:lnTo>
                  <a:lnTo>
                    <a:pt x="0" y="0"/>
                  </a:lnTo>
                  <a:lnTo>
                    <a:pt x="0" y="731519"/>
                  </a:lnTo>
                  <a:close/>
                </a:path>
              </a:pathLst>
            </a:custGeom>
            <a:ln w="28956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950454" y="3312033"/>
            <a:ext cx="7753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E7E7E"/>
                </a:solidFill>
                <a:latin typeface="Tahoma"/>
                <a:cs typeface="Tahoma"/>
              </a:rPr>
              <a:t>Over-</a:t>
            </a:r>
            <a:r>
              <a:rPr dirty="0" sz="900" spc="-10">
                <a:solidFill>
                  <a:srgbClr val="7E7E7E"/>
                </a:solidFill>
                <a:latin typeface="Tahoma"/>
                <a:cs typeface="Tahoma"/>
              </a:rPr>
              <a:t>hydrated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50454" y="3449192"/>
            <a:ext cx="9798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E7E7E"/>
                </a:solidFill>
                <a:latin typeface="Tahoma"/>
                <a:cs typeface="Tahoma"/>
              </a:rPr>
              <a:t>Extracellular</a:t>
            </a:r>
            <a:r>
              <a:rPr dirty="0" sz="900" spc="5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Tahoma"/>
                <a:cs typeface="Tahoma"/>
              </a:rPr>
              <a:t>water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703832" y="3572255"/>
            <a:ext cx="1474470" cy="1234440"/>
            <a:chOff x="1703832" y="3572255"/>
            <a:chExt cx="1474470" cy="1234440"/>
          </a:xfrm>
        </p:grpSpPr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24388" y="3572255"/>
              <a:ext cx="1116861" cy="123429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03832" y="4096511"/>
              <a:ext cx="447040" cy="76200"/>
            </a:xfrm>
            <a:custGeom>
              <a:avLst/>
              <a:gdLst/>
              <a:ahLst/>
              <a:cxnLst/>
              <a:rect l="l" t="t" r="r" b="b"/>
              <a:pathLst>
                <a:path w="447039" h="76200">
                  <a:moveTo>
                    <a:pt x="446532" y="38100"/>
                  </a:moveTo>
                  <a:lnTo>
                    <a:pt x="444715" y="29235"/>
                  </a:lnTo>
                  <a:lnTo>
                    <a:pt x="439813" y="21958"/>
                  </a:lnTo>
                  <a:lnTo>
                    <a:pt x="432536" y="17056"/>
                  </a:lnTo>
                  <a:lnTo>
                    <a:pt x="423672" y="15240"/>
                  </a:lnTo>
                  <a:lnTo>
                    <a:pt x="414794" y="17056"/>
                  </a:lnTo>
                  <a:lnTo>
                    <a:pt x="407517" y="21958"/>
                  </a:lnTo>
                  <a:lnTo>
                    <a:pt x="402615" y="29235"/>
                  </a:lnTo>
                  <a:lnTo>
                    <a:pt x="402094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402094" y="44450"/>
                  </a:lnTo>
                  <a:lnTo>
                    <a:pt x="402615" y="46977"/>
                  </a:lnTo>
                  <a:lnTo>
                    <a:pt x="407517" y="54254"/>
                  </a:lnTo>
                  <a:lnTo>
                    <a:pt x="414794" y="59156"/>
                  </a:lnTo>
                  <a:lnTo>
                    <a:pt x="423672" y="60960"/>
                  </a:lnTo>
                  <a:lnTo>
                    <a:pt x="432536" y="59156"/>
                  </a:lnTo>
                  <a:lnTo>
                    <a:pt x="439813" y="54254"/>
                  </a:lnTo>
                  <a:lnTo>
                    <a:pt x="444715" y="46977"/>
                  </a:lnTo>
                  <a:lnTo>
                    <a:pt x="446532" y="38100"/>
                  </a:lnTo>
                  <a:close/>
                </a:path>
              </a:pathLst>
            </a:custGeom>
            <a:solidFill>
              <a:srgbClr val="921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104644" y="411175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19" y="22860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20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60"/>
                  </a:lnTo>
                  <a:close/>
                </a:path>
              </a:pathLst>
            </a:custGeom>
            <a:ln w="12192">
              <a:solidFill>
                <a:srgbClr val="921F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732532" y="375361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19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19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921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732532" y="375361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20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19" y="22860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19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60"/>
                  </a:lnTo>
                  <a:close/>
                </a:path>
              </a:pathLst>
            </a:custGeom>
            <a:ln w="12192">
              <a:solidFill>
                <a:srgbClr val="921F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778252" y="3738371"/>
              <a:ext cx="400050" cy="76200"/>
            </a:xfrm>
            <a:custGeom>
              <a:avLst/>
              <a:gdLst/>
              <a:ahLst/>
              <a:cxnLst/>
              <a:rect l="l" t="t" r="r" b="b"/>
              <a:pathLst>
                <a:path w="400050" h="76200">
                  <a:moveTo>
                    <a:pt x="323342" y="0"/>
                  </a:moveTo>
                  <a:lnTo>
                    <a:pt x="323342" y="76200"/>
                  </a:lnTo>
                  <a:lnTo>
                    <a:pt x="386842" y="44450"/>
                  </a:lnTo>
                  <a:lnTo>
                    <a:pt x="336042" y="44450"/>
                  </a:lnTo>
                  <a:lnTo>
                    <a:pt x="336042" y="31750"/>
                  </a:lnTo>
                  <a:lnTo>
                    <a:pt x="386842" y="31750"/>
                  </a:lnTo>
                  <a:lnTo>
                    <a:pt x="323342" y="0"/>
                  </a:lnTo>
                  <a:close/>
                </a:path>
                <a:path w="400050" h="76200">
                  <a:moveTo>
                    <a:pt x="323342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23342" y="44450"/>
                  </a:lnTo>
                  <a:lnTo>
                    <a:pt x="323342" y="31750"/>
                  </a:lnTo>
                  <a:close/>
                </a:path>
                <a:path w="400050" h="76200">
                  <a:moveTo>
                    <a:pt x="386842" y="31750"/>
                  </a:moveTo>
                  <a:lnTo>
                    <a:pt x="336042" y="31750"/>
                  </a:lnTo>
                  <a:lnTo>
                    <a:pt x="336042" y="44450"/>
                  </a:lnTo>
                  <a:lnTo>
                    <a:pt x="386842" y="44450"/>
                  </a:lnTo>
                  <a:lnTo>
                    <a:pt x="399542" y="38100"/>
                  </a:lnTo>
                  <a:lnTo>
                    <a:pt x="386842" y="31750"/>
                  </a:lnTo>
                  <a:close/>
                </a:path>
              </a:pathLst>
            </a:custGeom>
            <a:solidFill>
              <a:srgbClr val="921F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2263520" y="3256026"/>
            <a:ext cx="119634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35">
                <a:solidFill>
                  <a:srgbClr val="4A4F5A"/>
                </a:solidFill>
                <a:latin typeface="Tahoma"/>
                <a:cs typeface="Tahoma"/>
              </a:rPr>
              <a:t>Intracellular</a:t>
            </a:r>
            <a:r>
              <a:rPr dirty="0" sz="12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4A4F5A"/>
                </a:solidFill>
                <a:latin typeface="Tahoma"/>
                <a:cs typeface="Tahoma"/>
              </a:rPr>
              <a:t>water</a:t>
            </a:r>
            <a:endParaRPr sz="1200">
              <a:latin typeface="Tahoma"/>
              <a:cs typeface="Tahoma"/>
            </a:endParaRPr>
          </a:p>
          <a:p>
            <a:pPr algn="r" marR="18415">
              <a:lnSpc>
                <a:spcPts val="1770"/>
              </a:lnSpc>
            </a:pPr>
            <a:r>
              <a:rPr dirty="0" sz="1500" spc="-25" b="1">
                <a:solidFill>
                  <a:srgbClr val="970F0F"/>
                </a:solidFill>
                <a:latin typeface="Tahoma"/>
                <a:cs typeface="Tahoma"/>
              </a:rPr>
              <a:t>ICW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24560" y="3621938"/>
            <a:ext cx="1231265" cy="4616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Extracellular</a:t>
            </a:r>
            <a:r>
              <a:rPr dirty="0" sz="12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4A4F5A"/>
                </a:solidFill>
                <a:latin typeface="Tahoma"/>
                <a:cs typeface="Tahoma"/>
              </a:rPr>
              <a:t>water</a:t>
            </a:r>
            <a:endParaRPr sz="1200">
              <a:latin typeface="Tahoma"/>
              <a:cs typeface="Tahoma"/>
            </a:endParaRPr>
          </a:p>
          <a:p>
            <a:pPr marL="487045">
              <a:lnSpc>
                <a:spcPct val="100000"/>
              </a:lnSpc>
              <a:spcBef>
                <a:spcPts val="105"/>
              </a:spcBef>
            </a:pPr>
            <a:r>
              <a:rPr dirty="0" sz="1500" spc="-25" b="1">
                <a:solidFill>
                  <a:srgbClr val="970F0F"/>
                </a:solidFill>
                <a:latin typeface="Tahoma"/>
                <a:cs typeface="Tahoma"/>
              </a:rPr>
              <a:t>ECW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37323" y="3778377"/>
            <a:ext cx="304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70" b="1">
                <a:solidFill>
                  <a:srgbClr val="9F112C"/>
                </a:solidFill>
                <a:latin typeface="Tahoma"/>
                <a:cs typeface="Tahoma"/>
              </a:rPr>
              <a:t>40</a:t>
            </a:r>
            <a:r>
              <a:rPr dirty="0" sz="1000" spc="-170" b="1">
                <a:solidFill>
                  <a:srgbClr val="9F112C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06461" y="3712209"/>
            <a:ext cx="374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Tahoma"/>
                <a:cs typeface="Tahoma"/>
              </a:rPr>
              <a:t>ECW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572243" y="3639311"/>
            <a:ext cx="391795" cy="490855"/>
          </a:xfrm>
          <a:prstGeom prst="rect">
            <a:avLst/>
          </a:prstGeom>
          <a:solidFill>
            <a:srgbClr val="EDD29E"/>
          </a:solidFill>
        </p:spPr>
        <p:txBody>
          <a:bodyPr wrap="square" lIns="0" tIns="889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700"/>
              </a:spcBef>
            </a:pPr>
            <a:r>
              <a:rPr dirty="0" sz="1200" spc="55">
                <a:latin typeface="Tahoma"/>
                <a:cs typeface="Tahoma"/>
              </a:rPr>
              <a:t>ECW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95031" y="4160520"/>
            <a:ext cx="390525" cy="672465"/>
          </a:xfrm>
          <a:prstGeom prst="rect">
            <a:avLst/>
          </a:prstGeom>
          <a:solidFill>
            <a:srgbClr val="B3DFF0"/>
          </a:solidFill>
        </p:spPr>
        <p:txBody>
          <a:bodyPr wrap="square" lIns="0" tIns="679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endParaRPr sz="1200">
              <a:latin typeface="Times New Roman"/>
              <a:cs typeface="Times New Roman"/>
            </a:endParaRPr>
          </a:p>
          <a:p>
            <a:pPr marL="42545">
              <a:lnSpc>
                <a:spcPct val="100000"/>
              </a:lnSpc>
            </a:pPr>
            <a:r>
              <a:rPr dirty="0" sz="1200" spc="-25">
                <a:latin typeface="Tahoma"/>
                <a:cs typeface="Tahoma"/>
              </a:rPr>
              <a:t>ICW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561448" y="4152772"/>
            <a:ext cx="419734" cy="440690"/>
            <a:chOff x="9561448" y="4152772"/>
            <a:chExt cx="419734" cy="440690"/>
          </a:xfrm>
        </p:grpSpPr>
        <p:sp>
          <p:nvSpPr>
            <p:cNvPr id="47" name="object 47"/>
            <p:cNvSpPr/>
            <p:nvPr/>
          </p:nvSpPr>
          <p:spPr>
            <a:xfrm>
              <a:off x="9576053" y="4167377"/>
              <a:ext cx="390525" cy="411480"/>
            </a:xfrm>
            <a:custGeom>
              <a:avLst/>
              <a:gdLst/>
              <a:ahLst/>
              <a:cxnLst/>
              <a:rect l="l" t="t" r="r" b="b"/>
              <a:pathLst>
                <a:path w="390525" h="411479">
                  <a:moveTo>
                    <a:pt x="390144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390144" y="411480"/>
                  </a:lnTo>
                  <a:lnTo>
                    <a:pt x="390144" y="0"/>
                  </a:lnTo>
                  <a:close/>
                </a:path>
              </a:pathLst>
            </a:custGeom>
            <a:solidFill>
              <a:srgbClr val="B3DF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576053" y="4167377"/>
              <a:ext cx="390525" cy="411480"/>
            </a:xfrm>
            <a:custGeom>
              <a:avLst/>
              <a:gdLst/>
              <a:ahLst/>
              <a:cxnLst/>
              <a:rect l="l" t="t" r="r" b="b"/>
              <a:pathLst>
                <a:path w="390525" h="411479">
                  <a:moveTo>
                    <a:pt x="0" y="411480"/>
                  </a:moveTo>
                  <a:lnTo>
                    <a:pt x="390144" y="411480"/>
                  </a:lnTo>
                  <a:lnTo>
                    <a:pt x="390144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28956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9576054" y="4149852"/>
            <a:ext cx="390525" cy="429259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1025"/>
              </a:spcBef>
            </a:pPr>
            <a:r>
              <a:rPr dirty="0" sz="1200" spc="-25">
                <a:latin typeface="Tahoma"/>
                <a:cs typeface="Tahoma"/>
              </a:rPr>
              <a:t>ICW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394447" y="3416808"/>
            <a:ext cx="2641600" cy="1419225"/>
            <a:chOff x="7394447" y="3416808"/>
            <a:chExt cx="2641600" cy="1419225"/>
          </a:xfrm>
        </p:grpSpPr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01711" y="3416808"/>
              <a:ext cx="181356" cy="22555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936991" y="4149852"/>
              <a:ext cx="1567815" cy="0"/>
            </a:xfrm>
            <a:custGeom>
              <a:avLst/>
              <a:gdLst/>
              <a:ahLst/>
              <a:cxnLst/>
              <a:rect l="l" t="t" r="r" b="b"/>
              <a:pathLst>
                <a:path w="1567815" h="0">
                  <a:moveTo>
                    <a:pt x="0" y="0"/>
                  </a:moveTo>
                  <a:lnTo>
                    <a:pt x="1567560" y="0"/>
                  </a:lnTo>
                </a:path>
              </a:pathLst>
            </a:custGeom>
            <a:ln w="6096">
              <a:solidFill>
                <a:srgbClr val="4A4F5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394447" y="4829556"/>
              <a:ext cx="2641600" cy="0"/>
            </a:xfrm>
            <a:custGeom>
              <a:avLst/>
              <a:gdLst/>
              <a:ahLst/>
              <a:cxnLst/>
              <a:rect l="l" t="t" r="r" b="b"/>
              <a:pathLst>
                <a:path w="2641600" h="0">
                  <a:moveTo>
                    <a:pt x="0" y="0"/>
                  </a:moveTo>
                  <a:lnTo>
                    <a:pt x="2641219" y="0"/>
                  </a:lnTo>
                </a:path>
              </a:pathLst>
            </a:custGeom>
            <a:ln w="6096">
              <a:solidFill>
                <a:srgbClr val="6C6D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86543" y="4610100"/>
              <a:ext cx="182879" cy="225551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9162033" y="3712845"/>
            <a:ext cx="301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Tahoma"/>
                <a:cs typeface="Tahoma"/>
              </a:rPr>
              <a:t>40</a:t>
            </a:r>
            <a:r>
              <a:rPr dirty="0" sz="1000" spc="-25"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156572" y="4305680"/>
            <a:ext cx="304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70" b="1">
                <a:solidFill>
                  <a:srgbClr val="9F112C"/>
                </a:solidFill>
                <a:latin typeface="Tahoma"/>
                <a:cs typeface="Tahoma"/>
              </a:rPr>
              <a:t>60</a:t>
            </a:r>
            <a:r>
              <a:rPr dirty="0" sz="1000" spc="-170" b="1">
                <a:solidFill>
                  <a:srgbClr val="9F112C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044176" y="4211192"/>
            <a:ext cx="1186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7E7E7E"/>
                </a:solidFill>
                <a:latin typeface="Tahoma"/>
                <a:cs typeface="Tahoma"/>
              </a:rPr>
              <a:t>Dehydration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7E7E7E"/>
                </a:solidFill>
                <a:latin typeface="Tahoma"/>
                <a:cs typeface="Tahoma"/>
              </a:rPr>
              <a:t>Low</a:t>
            </a:r>
            <a:r>
              <a:rPr dirty="0" sz="900" spc="-75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7E7E7E"/>
                </a:solidFill>
                <a:latin typeface="Tahoma"/>
                <a:cs typeface="Tahoma"/>
              </a:rPr>
              <a:t>Intracellular</a:t>
            </a:r>
            <a:r>
              <a:rPr dirty="0" sz="900" spc="-4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7E7E7E"/>
                </a:solidFill>
                <a:latin typeface="Tahoma"/>
                <a:cs typeface="Tahoma"/>
              </a:rPr>
              <a:t>water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041006" y="4391914"/>
            <a:ext cx="301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Tahoma"/>
                <a:cs typeface="Tahoma"/>
              </a:rPr>
              <a:t>60</a:t>
            </a:r>
            <a:r>
              <a:rPr dirty="0" sz="1000" spc="-25"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9" name="object 6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04279" y="5147309"/>
            <a:ext cx="3941999" cy="612647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937375" y="5096636"/>
            <a:ext cx="149987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127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646D7C"/>
                </a:solidFill>
                <a:latin typeface="Tahoma"/>
                <a:cs typeface="Tahoma"/>
              </a:rPr>
              <a:t>Acute</a:t>
            </a:r>
            <a:r>
              <a:rPr dirty="0" sz="1200" spc="-17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646D7C"/>
                </a:solidFill>
                <a:latin typeface="Tahoma"/>
                <a:cs typeface="Tahoma"/>
              </a:rPr>
              <a:t>kidney</a:t>
            </a:r>
            <a:r>
              <a:rPr dirty="0" sz="1200" spc="-15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646D7C"/>
                </a:solidFill>
                <a:latin typeface="Tahoma"/>
                <a:cs typeface="Tahoma"/>
              </a:rPr>
              <a:t>failure, Chronic</a:t>
            </a:r>
            <a:r>
              <a:rPr dirty="0" sz="1200" spc="-15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646D7C"/>
                </a:solidFill>
                <a:latin typeface="Tahoma"/>
                <a:cs typeface="Tahoma"/>
              </a:rPr>
              <a:t>kidney</a:t>
            </a:r>
            <a:r>
              <a:rPr dirty="0" sz="1200" spc="-15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646D7C"/>
                </a:solidFill>
                <a:latin typeface="Tahoma"/>
                <a:cs typeface="Tahoma"/>
              </a:rPr>
              <a:t>disease, </a:t>
            </a:r>
            <a:r>
              <a:rPr dirty="0" sz="1200" spc="-30">
                <a:solidFill>
                  <a:srgbClr val="646D7C"/>
                </a:solidFill>
                <a:latin typeface="Tahoma"/>
                <a:cs typeface="Tahoma"/>
              </a:rPr>
              <a:t>Post-</a:t>
            </a:r>
            <a:r>
              <a:rPr dirty="0" sz="1200" spc="-40">
                <a:solidFill>
                  <a:srgbClr val="646D7C"/>
                </a:solidFill>
                <a:latin typeface="Tahoma"/>
                <a:cs typeface="Tahoma"/>
              </a:rPr>
              <a:t>surgery</a:t>
            </a:r>
            <a:r>
              <a:rPr dirty="0" sz="1200" spc="-5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646D7C"/>
                </a:solidFill>
                <a:latin typeface="Tahoma"/>
                <a:cs typeface="Tahoma"/>
              </a:rPr>
              <a:t>Etc.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193783" y="5201539"/>
            <a:ext cx="1276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040" marR="5080" indent="-5334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646D7C"/>
                </a:solidFill>
                <a:latin typeface="Tahoma"/>
                <a:cs typeface="Tahoma"/>
              </a:rPr>
              <a:t>Malnutrition,</a:t>
            </a:r>
            <a:r>
              <a:rPr dirty="0" sz="1200" spc="-3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646D7C"/>
                </a:solidFill>
                <a:latin typeface="Tahoma"/>
                <a:cs typeface="Tahoma"/>
              </a:rPr>
              <a:t>Aging, Cachexia,</a:t>
            </a:r>
            <a:r>
              <a:rPr dirty="0" sz="1200" spc="-13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646D7C"/>
                </a:solidFill>
                <a:latin typeface="Tahoma"/>
                <a:cs typeface="Tahoma"/>
              </a:rPr>
              <a:t>ALS</a:t>
            </a:r>
            <a:r>
              <a:rPr dirty="0" sz="1200" spc="-15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646D7C"/>
                </a:solidFill>
                <a:latin typeface="Tahoma"/>
                <a:cs typeface="Tahoma"/>
              </a:rPr>
              <a:t>Etc.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506723" y="5573267"/>
            <a:ext cx="889000" cy="1143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58419">
              <a:lnSpc>
                <a:spcPts val="875"/>
              </a:lnSpc>
            </a:pPr>
            <a:r>
              <a:rPr dirty="0" sz="800" spc="-10" b="1">
                <a:solidFill>
                  <a:srgbClr val="393938"/>
                </a:solidFill>
                <a:latin typeface="Tahoma"/>
                <a:cs typeface="Tahoma"/>
              </a:rPr>
              <a:t>0.380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2840" y="6476288"/>
            <a:ext cx="273050" cy="1002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53058" y="1408557"/>
            <a:ext cx="2303653" cy="19443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706114" y="1416938"/>
            <a:ext cx="471170" cy="154305"/>
          </a:xfrm>
          <a:custGeom>
            <a:avLst/>
            <a:gdLst/>
            <a:ahLst/>
            <a:cxnLst/>
            <a:rect l="l" t="t" r="r" b="b"/>
            <a:pathLst>
              <a:path w="471170" h="154305">
                <a:moveTo>
                  <a:pt x="214826" y="69214"/>
                </a:moveTo>
                <a:lnTo>
                  <a:pt x="177546" y="69214"/>
                </a:lnTo>
                <a:lnTo>
                  <a:pt x="181101" y="70612"/>
                </a:lnTo>
                <a:lnTo>
                  <a:pt x="186182" y="76200"/>
                </a:lnTo>
                <a:lnTo>
                  <a:pt x="187451" y="80645"/>
                </a:lnTo>
                <a:lnTo>
                  <a:pt x="187451" y="91312"/>
                </a:lnTo>
                <a:lnTo>
                  <a:pt x="178804" y="91525"/>
                </a:lnTo>
                <a:lnTo>
                  <a:pt x="170942" y="92154"/>
                </a:lnTo>
                <a:lnTo>
                  <a:pt x="138684" y="102743"/>
                </a:lnTo>
                <a:lnTo>
                  <a:pt x="133985" y="105918"/>
                </a:lnTo>
                <a:lnTo>
                  <a:pt x="130683" y="109474"/>
                </a:lnTo>
                <a:lnTo>
                  <a:pt x="128905" y="113411"/>
                </a:lnTo>
                <a:lnTo>
                  <a:pt x="127000" y="117348"/>
                </a:lnTo>
                <a:lnTo>
                  <a:pt x="125984" y="121158"/>
                </a:lnTo>
                <a:lnTo>
                  <a:pt x="125984" y="129666"/>
                </a:lnTo>
                <a:lnTo>
                  <a:pt x="126630" y="133223"/>
                </a:lnTo>
                <a:lnTo>
                  <a:pt x="126746" y="133858"/>
                </a:lnTo>
                <a:lnTo>
                  <a:pt x="128270" y="137413"/>
                </a:lnTo>
                <a:lnTo>
                  <a:pt x="129666" y="141097"/>
                </a:lnTo>
                <a:lnTo>
                  <a:pt x="131825" y="144145"/>
                </a:lnTo>
                <a:lnTo>
                  <a:pt x="134620" y="146558"/>
                </a:lnTo>
                <a:lnTo>
                  <a:pt x="137287" y="148971"/>
                </a:lnTo>
                <a:lnTo>
                  <a:pt x="140588" y="150875"/>
                </a:lnTo>
                <a:lnTo>
                  <a:pt x="148462" y="153415"/>
                </a:lnTo>
                <a:lnTo>
                  <a:pt x="152781" y="154050"/>
                </a:lnTo>
                <a:lnTo>
                  <a:pt x="161162" y="154050"/>
                </a:lnTo>
                <a:lnTo>
                  <a:pt x="190881" y="140335"/>
                </a:lnTo>
                <a:lnTo>
                  <a:pt x="218059" y="140335"/>
                </a:lnTo>
                <a:lnTo>
                  <a:pt x="218059" y="133223"/>
                </a:lnTo>
                <a:lnTo>
                  <a:pt x="163830" y="133223"/>
                </a:lnTo>
                <a:lnTo>
                  <a:pt x="160909" y="132461"/>
                </a:lnTo>
                <a:lnTo>
                  <a:pt x="157141" y="129666"/>
                </a:lnTo>
                <a:lnTo>
                  <a:pt x="156108" y="127381"/>
                </a:lnTo>
                <a:lnTo>
                  <a:pt x="156073" y="121158"/>
                </a:lnTo>
                <a:lnTo>
                  <a:pt x="156463" y="119887"/>
                </a:lnTo>
                <a:lnTo>
                  <a:pt x="181101" y="109855"/>
                </a:lnTo>
                <a:lnTo>
                  <a:pt x="218059" y="109855"/>
                </a:lnTo>
                <a:lnTo>
                  <a:pt x="218059" y="80645"/>
                </a:lnTo>
                <a:lnTo>
                  <a:pt x="217421" y="77215"/>
                </a:lnTo>
                <a:lnTo>
                  <a:pt x="217326" y="76708"/>
                </a:lnTo>
                <a:lnTo>
                  <a:pt x="217232" y="76200"/>
                </a:lnTo>
                <a:lnTo>
                  <a:pt x="217113" y="75564"/>
                </a:lnTo>
                <a:lnTo>
                  <a:pt x="217043" y="75184"/>
                </a:lnTo>
                <a:lnTo>
                  <a:pt x="215137" y="70103"/>
                </a:lnTo>
                <a:lnTo>
                  <a:pt x="214826" y="69214"/>
                </a:lnTo>
                <a:close/>
              </a:path>
              <a:path w="471170" h="154305">
                <a:moveTo>
                  <a:pt x="218059" y="140335"/>
                </a:moveTo>
                <a:lnTo>
                  <a:pt x="190881" y="140335"/>
                </a:lnTo>
                <a:lnTo>
                  <a:pt x="193039" y="146050"/>
                </a:lnTo>
                <a:lnTo>
                  <a:pt x="194056" y="148589"/>
                </a:lnTo>
                <a:lnTo>
                  <a:pt x="195416" y="150495"/>
                </a:lnTo>
                <a:lnTo>
                  <a:pt x="195579" y="150495"/>
                </a:lnTo>
                <a:lnTo>
                  <a:pt x="196850" y="151130"/>
                </a:lnTo>
                <a:lnTo>
                  <a:pt x="198374" y="152019"/>
                </a:lnTo>
                <a:lnTo>
                  <a:pt x="201422" y="152526"/>
                </a:lnTo>
                <a:lnTo>
                  <a:pt x="218059" y="152526"/>
                </a:lnTo>
                <a:lnTo>
                  <a:pt x="218059" y="140335"/>
                </a:lnTo>
                <a:close/>
              </a:path>
              <a:path w="471170" h="154305">
                <a:moveTo>
                  <a:pt x="218059" y="109855"/>
                </a:moveTo>
                <a:lnTo>
                  <a:pt x="187451" y="109855"/>
                </a:lnTo>
                <a:lnTo>
                  <a:pt x="187451" y="124206"/>
                </a:lnTo>
                <a:lnTo>
                  <a:pt x="184276" y="127381"/>
                </a:lnTo>
                <a:lnTo>
                  <a:pt x="181228" y="129666"/>
                </a:lnTo>
                <a:lnTo>
                  <a:pt x="175133" y="132461"/>
                </a:lnTo>
                <a:lnTo>
                  <a:pt x="171576" y="133223"/>
                </a:lnTo>
                <a:lnTo>
                  <a:pt x="218059" y="133223"/>
                </a:lnTo>
                <a:lnTo>
                  <a:pt x="218059" y="109855"/>
                </a:lnTo>
                <a:close/>
              </a:path>
              <a:path w="471170" h="154305">
                <a:moveTo>
                  <a:pt x="183261" y="45212"/>
                </a:moveTo>
                <a:lnTo>
                  <a:pt x="168021" y="45212"/>
                </a:lnTo>
                <a:lnTo>
                  <a:pt x="159765" y="46609"/>
                </a:lnTo>
                <a:lnTo>
                  <a:pt x="152019" y="49402"/>
                </a:lnTo>
                <a:lnTo>
                  <a:pt x="144272" y="52070"/>
                </a:lnTo>
                <a:lnTo>
                  <a:pt x="137160" y="56261"/>
                </a:lnTo>
                <a:lnTo>
                  <a:pt x="130810" y="61849"/>
                </a:lnTo>
                <a:lnTo>
                  <a:pt x="137413" y="73278"/>
                </a:lnTo>
                <a:lnTo>
                  <a:pt x="138684" y="74549"/>
                </a:lnTo>
                <a:lnTo>
                  <a:pt x="140208" y="75564"/>
                </a:lnTo>
                <a:lnTo>
                  <a:pt x="141779" y="76708"/>
                </a:lnTo>
                <a:lnTo>
                  <a:pt x="141986" y="76708"/>
                </a:lnTo>
                <a:lnTo>
                  <a:pt x="143510" y="77215"/>
                </a:lnTo>
                <a:lnTo>
                  <a:pt x="148082" y="77215"/>
                </a:lnTo>
                <a:lnTo>
                  <a:pt x="150240" y="76708"/>
                </a:lnTo>
                <a:lnTo>
                  <a:pt x="151891" y="75946"/>
                </a:lnTo>
                <a:lnTo>
                  <a:pt x="153670" y="75184"/>
                </a:lnTo>
                <a:lnTo>
                  <a:pt x="155575" y="74168"/>
                </a:lnTo>
                <a:lnTo>
                  <a:pt x="157130" y="73278"/>
                </a:lnTo>
                <a:lnTo>
                  <a:pt x="159258" y="72262"/>
                </a:lnTo>
                <a:lnTo>
                  <a:pt x="161289" y="71247"/>
                </a:lnTo>
                <a:lnTo>
                  <a:pt x="166115" y="69723"/>
                </a:lnTo>
                <a:lnTo>
                  <a:pt x="169163" y="69214"/>
                </a:lnTo>
                <a:lnTo>
                  <a:pt x="214826" y="69214"/>
                </a:lnTo>
                <a:lnTo>
                  <a:pt x="213360" y="65024"/>
                </a:lnTo>
                <a:lnTo>
                  <a:pt x="210565" y="60578"/>
                </a:lnTo>
                <a:lnTo>
                  <a:pt x="203453" y="53212"/>
                </a:lnTo>
                <a:lnTo>
                  <a:pt x="199136" y="50419"/>
                </a:lnTo>
                <a:lnTo>
                  <a:pt x="194056" y="48387"/>
                </a:lnTo>
                <a:lnTo>
                  <a:pt x="188975" y="46227"/>
                </a:lnTo>
                <a:lnTo>
                  <a:pt x="183261" y="45212"/>
                </a:lnTo>
                <a:close/>
              </a:path>
              <a:path w="471170" h="154305">
                <a:moveTo>
                  <a:pt x="425196" y="45593"/>
                </a:moveTo>
                <a:lnTo>
                  <a:pt x="409066" y="45593"/>
                </a:lnTo>
                <a:lnTo>
                  <a:pt x="401827" y="46862"/>
                </a:lnTo>
                <a:lnTo>
                  <a:pt x="388620" y="51943"/>
                </a:lnTo>
                <a:lnTo>
                  <a:pt x="382905" y="55499"/>
                </a:lnTo>
                <a:lnTo>
                  <a:pt x="378206" y="60198"/>
                </a:lnTo>
                <a:lnTo>
                  <a:pt x="373380" y="64770"/>
                </a:lnTo>
                <a:lnTo>
                  <a:pt x="369697" y="70485"/>
                </a:lnTo>
                <a:lnTo>
                  <a:pt x="367157" y="77088"/>
                </a:lnTo>
                <a:lnTo>
                  <a:pt x="364489" y="83820"/>
                </a:lnTo>
                <a:lnTo>
                  <a:pt x="363220" y="91312"/>
                </a:lnTo>
                <a:lnTo>
                  <a:pt x="363220" y="107950"/>
                </a:lnTo>
                <a:lnTo>
                  <a:pt x="364489" y="115443"/>
                </a:lnTo>
                <a:lnTo>
                  <a:pt x="367157" y="122174"/>
                </a:lnTo>
                <a:lnTo>
                  <a:pt x="369697" y="128905"/>
                </a:lnTo>
                <a:lnTo>
                  <a:pt x="373380" y="134620"/>
                </a:lnTo>
                <a:lnTo>
                  <a:pt x="378206" y="139319"/>
                </a:lnTo>
                <a:lnTo>
                  <a:pt x="382905" y="144018"/>
                </a:lnTo>
                <a:lnTo>
                  <a:pt x="388620" y="147700"/>
                </a:lnTo>
                <a:lnTo>
                  <a:pt x="401827" y="152781"/>
                </a:lnTo>
                <a:lnTo>
                  <a:pt x="409066" y="154050"/>
                </a:lnTo>
                <a:lnTo>
                  <a:pt x="425196" y="154050"/>
                </a:lnTo>
                <a:lnTo>
                  <a:pt x="460501" y="134620"/>
                </a:lnTo>
                <a:lnTo>
                  <a:pt x="463039" y="130683"/>
                </a:lnTo>
                <a:lnTo>
                  <a:pt x="409701" y="130683"/>
                </a:lnTo>
                <a:lnTo>
                  <a:pt x="404240" y="128143"/>
                </a:lnTo>
                <a:lnTo>
                  <a:pt x="397383" y="117983"/>
                </a:lnTo>
                <a:lnTo>
                  <a:pt x="395732" y="110109"/>
                </a:lnTo>
                <a:lnTo>
                  <a:pt x="395732" y="89408"/>
                </a:lnTo>
                <a:lnTo>
                  <a:pt x="397383" y="81661"/>
                </a:lnTo>
                <a:lnTo>
                  <a:pt x="404240" y="71500"/>
                </a:lnTo>
                <a:lnTo>
                  <a:pt x="409701" y="68961"/>
                </a:lnTo>
                <a:lnTo>
                  <a:pt x="463202" y="68961"/>
                </a:lnTo>
                <a:lnTo>
                  <a:pt x="460501" y="64770"/>
                </a:lnTo>
                <a:lnTo>
                  <a:pt x="455802" y="60198"/>
                </a:lnTo>
                <a:lnTo>
                  <a:pt x="451103" y="55499"/>
                </a:lnTo>
                <a:lnTo>
                  <a:pt x="445515" y="51943"/>
                </a:lnTo>
                <a:lnTo>
                  <a:pt x="432435" y="46862"/>
                </a:lnTo>
                <a:lnTo>
                  <a:pt x="425196" y="45593"/>
                </a:lnTo>
                <a:close/>
              </a:path>
              <a:path w="471170" h="154305">
                <a:moveTo>
                  <a:pt x="463202" y="68961"/>
                </a:moveTo>
                <a:lnTo>
                  <a:pt x="424434" y="68961"/>
                </a:lnTo>
                <a:lnTo>
                  <a:pt x="429768" y="71500"/>
                </a:lnTo>
                <a:lnTo>
                  <a:pt x="433070" y="76581"/>
                </a:lnTo>
                <a:lnTo>
                  <a:pt x="436499" y="81661"/>
                </a:lnTo>
                <a:lnTo>
                  <a:pt x="438276" y="89408"/>
                </a:lnTo>
                <a:lnTo>
                  <a:pt x="438276" y="110109"/>
                </a:lnTo>
                <a:lnTo>
                  <a:pt x="436499" y="117983"/>
                </a:lnTo>
                <a:lnTo>
                  <a:pt x="433070" y="123062"/>
                </a:lnTo>
                <a:lnTo>
                  <a:pt x="429768" y="128143"/>
                </a:lnTo>
                <a:lnTo>
                  <a:pt x="424434" y="130683"/>
                </a:lnTo>
                <a:lnTo>
                  <a:pt x="463039" y="130683"/>
                </a:lnTo>
                <a:lnTo>
                  <a:pt x="464185" y="128905"/>
                </a:lnTo>
                <a:lnTo>
                  <a:pt x="466725" y="122174"/>
                </a:lnTo>
                <a:lnTo>
                  <a:pt x="469391" y="115443"/>
                </a:lnTo>
                <a:lnTo>
                  <a:pt x="470662" y="107950"/>
                </a:lnTo>
                <a:lnTo>
                  <a:pt x="470662" y="91312"/>
                </a:lnTo>
                <a:lnTo>
                  <a:pt x="469391" y="83820"/>
                </a:lnTo>
                <a:lnTo>
                  <a:pt x="466725" y="77088"/>
                </a:lnTo>
                <a:lnTo>
                  <a:pt x="464185" y="70485"/>
                </a:lnTo>
                <a:lnTo>
                  <a:pt x="463202" y="68961"/>
                </a:lnTo>
                <a:close/>
              </a:path>
              <a:path w="471170" h="154305">
                <a:moveTo>
                  <a:pt x="347852" y="47244"/>
                </a:moveTo>
                <a:lnTo>
                  <a:pt x="316484" y="47244"/>
                </a:lnTo>
                <a:lnTo>
                  <a:pt x="316484" y="152400"/>
                </a:lnTo>
                <a:lnTo>
                  <a:pt x="347852" y="152400"/>
                </a:lnTo>
                <a:lnTo>
                  <a:pt x="347852" y="47244"/>
                </a:lnTo>
                <a:close/>
              </a:path>
              <a:path w="471170" h="154305">
                <a:moveTo>
                  <a:pt x="48006" y="4699"/>
                </a:moveTo>
                <a:lnTo>
                  <a:pt x="0" y="4699"/>
                </a:lnTo>
                <a:lnTo>
                  <a:pt x="0" y="152400"/>
                </a:lnTo>
                <a:lnTo>
                  <a:pt x="34289" y="152400"/>
                </a:lnTo>
                <a:lnTo>
                  <a:pt x="34289" y="97789"/>
                </a:lnTo>
                <a:lnTo>
                  <a:pt x="87264" y="97789"/>
                </a:lnTo>
                <a:lnTo>
                  <a:pt x="77724" y="90550"/>
                </a:lnTo>
                <a:lnTo>
                  <a:pt x="82550" y="88773"/>
                </a:lnTo>
                <a:lnTo>
                  <a:pt x="86740" y="86360"/>
                </a:lnTo>
                <a:lnTo>
                  <a:pt x="94107" y="80772"/>
                </a:lnTo>
                <a:lnTo>
                  <a:pt x="97282" y="77470"/>
                </a:lnTo>
                <a:lnTo>
                  <a:pt x="99640" y="74168"/>
                </a:lnTo>
                <a:lnTo>
                  <a:pt x="34289" y="74168"/>
                </a:lnTo>
                <a:lnTo>
                  <a:pt x="34289" y="30352"/>
                </a:lnTo>
                <a:lnTo>
                  <a:pt x="103838" y="30352"/>
                </a:lnTo>
                <a:lnTo>
                  <a:pt x="101981" y="25653"/>
                </a:lnTo>
                <a:lnTo>
                  <a:pt x="62849" y="5540"/>
                </a:lnTo>
                <a:lnTo>
                  <a:pt x="55719" y="4911"/>
                </a:lnTo>
                <a:lnTo>
                  <a:pt x="48006" y="4699"/>
                </a:lnTo>
                <a:close/>
              </a:path>
              <a:path w="471170" h="154305">
                <a:moveTo>
                  <a:pt x="87264" y="97789"/>
                </a:moveTo>
                <a:lnTo>
                  <a:pt x="45593" y="97789"/>
                </a:lnTo>
                <a:lnTo>
                  <a:pt x="47625" y="98171"/>
                </a:lnTo>
                <a:lnTo>
                  <a:pt x="49149" y="98933"/>
                </a:lnTo>
                <a:lnTo>
                  <a:pt x="77470" y="145923"/>
                </a:lnTo>
                <a:lnTo>
                  <a:pt x="79883" y="150240"/>
                </a:lnTo>
                <a:lnTo>
                  <a:pt x="84074" y="152400"/>
                </a:lnTo>
                <a:lnTo>
                  <a:pt x="120776" y="152400"/>
                </a:lnTo>
                <a:lnTo>
                  <a:pt x="89485" y="101091"/>
                </a:lnTo>
                <a:lnTo>
                  <a:pt x="87884" y="98551"/>
                </a:lnTo>
                <a:lnTo>
                  <a:pt x="87264" y="97789"/>
                </a:lnTo>
                <a:close/>
              </a:path>
              <a:path w="471170" h="154305">
                <a:moveTo>
                  <a:pt x="103838" y="30352"/>
                </a:moveTo>
                <a:lnTo>
                  <a:pt x="56896" y="30352"/>
                </a:lnTo>
                <a:lnTo>
                  <a:pt x="63373" y="32131"/>
                </a:lnTo>
                <a:lnTo>
                  <a:pt x="67690" y="35813"/>
                </a:lnTo>
                <a:lnTo>
                  <a:pt x="71882" y="39497"/>
                </a:lnTo>
                <a:lnTo>
                  <a:pt x="74040" y="44576"/>
                </a:lnTo>
                <a:lnTo>
                  <a:pt x="74040" y="54228"/>
                </a:lnTo>
                <a:lnTo>
                  <a:pt x="73533" y="57276"/>
                </a:lnTo>
                <a:lnTo>
                  <a:pt x="72516" y="60071"/>
                </a:lnTo>
                <a:lnTo>
                  <a:pt x="71627" y="62864"/>
                </a:lnTo>
                <a:lnTo>
                  <a:pt x="52705" y="74168"/>
                </a:lnTo>
                <a:lnTo>
                  <a:pt x="99640" y="74168"/>
                </a:lnTo>
                <a:lnTo>
                  <a:pt x="107441" y="42163"/>
                </a:lnTo>
                <a:lnTo>
                  <a:pt x="106299" y="36449"/>
                </a:lnTo>
                <a:lnTo>
                  <a:pt x="103838" y="30352"/>
                </a:lnTo>
                <a:close/>
              </a:path>
              <a:path w="471170" h="154305">
                <a:moveTo>
                  <a:pt x="275209" y="68961"/>
                </a:moveTo>
                <a:lnTo>
                  <a:pt x="243839" y="68961"/>
                </a:lnTo>
                <a:lnTo>
                  <a:pt x="243914" y="128397"/>
                </a:lnTo>
                <a:lnTo>
                  <a:pt x="244475" y="132207"/>
                </a:lnTo>
                <a:lnTo>
                  <a:pt x="245872" y="135889"/>
                </a:lnTo>
                <a:lnTo>
                  <a:pt x="247269" y="139700"/>
                </a:lnTo>
                <a:lnTo>
                  <a:pt x="249174" y="143001"/>
                </a:lnTo>
                <a:lnTo>
                  <a:pt x="251840" y="145669"/>
                </a:lnTo>
                <a:lnTo>
                  <a:pt x="254381" y="148336"/>
                </a:lnTo>
                <a:lnTo>
                  <a:pt x="257556" y="150368"/>
                </a:lnTo>
                <a:lnTo>
                  <a:pt x="261365" y="151764"/>
                </a:lnTo>
                <a:lnTo>
                  <a:pt x="265175" y="153288"/>
                </a:lnTo>
                <a:lnTo>
                  <a:pt x="269621" y="154050"/>
                </a:lnTo>
                <a:lnTo>
                  <a:pt x="280035" y="154050"/>
                </a:lnTo>
                <a:lnTo>
                  <a:pt x="285241" y="153288"/>
                </a:lnTo>
                <a:lnTo>
                  <a:pt x="295401" y="150240"/>
                </a:lnTo>
                <a:lnTo>
                  <a:pt x="299974" y="147955"/>
                </a:lnTo>
                <a:lnTo>
                  <a:pt x="304038" y="144907"/>
                </a:lnTo>
                <a:lnTo>
                  <a:pt x="294513" y="129921"/>
                </a:lnTo>
                <a:lnTo>
                  <a:pt x="294240" y="129539"/>
                </a:lnTo>
                <a:lnTo>
                  <a:pt x="279908" y="129539"/>
                </a:lnTo>
                <a:lnTo>
                  <a:pt x="278257" y="128777"/>
                </a:lnTo>
                <a:lnTo>
                  <a:pt x="275844" y="125602"/>
                </a:lnTo>
                <a:lnTo>
                  <a:pt x="275209" y="123571"/>
                </a:lnTo>
                <a:lnTo>
                  <a:pt x="275209" y="68961"/>
                </a:lnTo>
                <a:close/>
              </a:path>
              <a:path w="471170" h="154305">
                <a:moveTo>
                  <a:pt x="291676" y="127253"/>
                </a:moveTo>
                <a:lnTo>
                  <a:pt x="289433" y="127253"/>
                </a:lnTo>
                <a:lnTo>
                  <a:pt x="288163" y="127888"/>
                </a:lnTo>
                <a:lnTo>
                  <a:pt x="287993" y="127888"/>
                </a:lnTo>
                <a:lnTo>
                  <a:pt x="287316" y="128397"/>
                </a:lnTo>
                <a:lnTo>
                  <a:pt x="287020" y="128397"/>
                </a:lnTo>
                <a:lnTo>
                  <a:pt x="285496" y="129159"/>
                </a:lnTo>
                <a:lnTo>
                  <a:pt x="284988" y="129159"/>
                </a:lnTo>
                <a:lnTo>
                  <a:pt x="283844" y="129539"/>
                </a:lnTo>
                <a:lnTo>
                  <a:pt x="294240" y="129539"/>
                </a:lnTo>
                <a:lnTo>
                  <a:pt x="293454" y="128397"/>
                </a:lnTo>
                <a:lnTo>
                  <a:pt x="292734" y="127888"/>
                </a:lnTo>
                <a:lnTo>
                  <a:pt x="291676" y="127253"/>
                </a:lnTo>
                <a:close/>
              </a:path>
              <a:path w="471170" h="154305">
                <a:moveTo>
                  <a:pt x="275209" y="16763"/>
                </a:moveTo>
                <a:lnTo>
                  <a:pt x="255015" y="16763"/>
                </a:lnTo>
                <a:lnTo>
                  <a:pt x="252730" y="18414"/>
                </a:lnTo>
                <a:lnTo>
                  <a:pt x="245745" y="47244"/>
                </a:lnTo>
                <a:lnTo>
                  <a:pt x="228981" y="50546"/>
                </a:lnTo>
                <a:lnTo>
                  <a:pt x="228981" y="64770"/>
                </a:lnTo>
                <a:lnTo>
                  <a:pt x="229615" y="66294"/>
                </a:lnTo>
                <a:lnTo>
                  <a:pt x="230759" y="67437"/>
                </a:lnTo>
                <a:lnTo>
                  <a:pt x="231901" y="68452"/>
                </a:lnTo>
                <a:lnTo>
                  <a:pt x="233299" y="68961"/>
                </a:lnTo>
                <a:lnTo>
                  <a:pt x="300736" y="68961"/>
                </a:lnTo>
                <a:lnTo>
                  <a:pt x="300736" y="47498"/>
                </a:lnTo>
                <a:lnTo>
                  <a:pt x="275209" y="47498"/>
                </a:lnTo>
                <a:lnTo>
                  <a:pt x="275209" y="16763"/>
                </a:lnTo>
                <a:close/>
              </a:path>
              <a:path w="471170" h="154305">
                <a:moveTo>
                  <a:pt x="334899" y="0"/>
                </a:moveTo>
                <a:lnTo>
                  <a:pt x="329691" y="0"/>
                </a:lnTo>
                <a:lnTo>
                  <a:pt x="327278" y="508"/>
                </a:lnTo>
                <a:lnTo>
                  <a:pt x="325120" y="1524"/>
                </a:lnTo>
                <a:lnTo>
                  <a:pt x="322834" y="2412"/>
                </a:lnTo>
                <a:lnTo>
                  <a:pt x="313689" y="15875"/>
                </a:lnTo>
                <a:lnTo>
                  <a:pt x="313689" y="20955"/>
                </a:lnTo>
                <a:lnTo>
                  <a:pt x="329691" y="36702"/>
                </a:lnTo>
                <a:lnTo>
                  <a:pt x="334899" y="36702"/>
                </a:lnTo>
                <a:lnTo>
                  <a:pt x="351536" y="20955"/>
                </a:lnTo>
                <a:lnTo>
                  <a:pt x="351536" y="15875"/>
                </a:lnTo>
                <a:lnTo>
                  <a:pt x="351027" y="13462"/>
                </a:lnTo>
                <a:lnTo>
                  <a:pt x="350012" y="11302"/>
                </a:lnTo>
                <a:lnTo>
                  <a:pt x="348996" y="9016"/>
                </a:lnTo>
                <a:lnTo>
                  <a:pt x="347599" y="7112"/>
                </a:lnTo>
                <a:lnTo>
                  <a:pt x="345821" y="5461"/>
                </a:lnTo>
                <a:lnTo>
                  <a:pt x="344170" y="3683"/>
                </a:lnTo>
                <a:lnTo>
                  <a:pt x="342138" y="2412"/>
                </a:lnTo>
                <a:lnTo>
                  <a:pt x="339725" y="1524"/>
                </a:lnTo>
                <a:lnTo>
                  <a:pt x="337438" y="508"/>
                </a:lnTo>
                <a:lnTo>
                  <a:pt x="334899" y="0"/>
                </a:lnTo>
                <a:close/>
              </a:path>
            </a:pathLst>
          </a:custGeom>
          <a:solidFill>
            <a:srgbClr val="9F11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2065020" y="1376933"/>
            <a:ext cx="3266440" cy="4685030"/>
            <a:chOff x="2065020" y="1376933"/>
            <a:chExt cx="3266440" cy="468503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1101" y="1934099"/>
              <a:ext cx="3189910" cy="412774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065020" y="5716181"/>
              <a:ext cx="363855" cy="76200"/>
            </a:xfrm>
            <a:custGeom>
              <a:avLst/>
              <a:gdLst/>
              <a:ahLst/>
              <a:cxnLst/>
              <a:rect l="l" t="t" r="r" b="b"/>
              <a:pathLst>
                <a:path w="363855" h="76200">
                  <a:moveTo>
                    <a:pt x="75692" y="0"/>
                  </a:moveTo>
                  <a:lnTo>
                    <a:pt x="0" y="39217"/>
                  </a:lnTo>
                  <a:lnTo>
                    <a:pt x="76707" y="76199"/>
                  </a:lnTo>
                  <a:lnTo>
                    <a:pt x="76287" y="44640"/>
                  </a:lnTo>
                  <a:lnTo>
                    <a:pt x="63627" y="44640"/>
                  </a:lnTo>
                  <a:lnTo>
                    <a:pt x="63373" y="31940"/>
                  </a:lnTo>
                  <a:lnTo>
                    <a:pt x="76115" y="31752"/>
                  </a:lnTo>
                  <a:lnTo>
                    <a:pt x="75692" y="0"/>
                  </a:lnTo>
                  <a:close/>
                </a:path>
                <a:path w="363855" h="76200">
                  <a:moveTo>
                    <a:pt x="76115" y="31752"/>
                  </a:moveTo>
                  <a:lnTo>
                    <a:pt x="63373" y="31940"/>
                  </a:lnTo>
                  <a:lnTo>
                    <a:pt x="63518" y="39217"/>
                  </a:lnTo>
                  <a:lnTo>
                    <a:pt x="63627" y="44640"/>
                  </a:lnTo>
                  <a:lnTo>
                    <a:pt x="76284" y="44454"/>
                  </a:lnTo>
                  <a:lnTo>
                    <a:pt x="76214" y="39217"/>
                  </a:lnTo>
                  <a:lnTo>
                    <a:pt x="76115" y="31752"/>
                  </a:lnTo>
                  <a:close/>
                </a:path>
                <a:path w="363855" h="76200">
                  <a:moveTo>
                    <a:pt x="76284" y="44454"/>
                  </a:moveTo>
                  <a:lnTo>
                    <a:pt x="63627" y="44640"/>
                  </a:lnTo>
                  <a:lnTo>
                    <a:pt x="76287" y="44640"/>
                  </a:lnTo>
                  <a:lnTo>
                    <a:pt x="76284" y="44454"/>
                  </a:lnTo>
                  <a:close/>
                </a:path>
                <a:path w="363855" h="76200">
                  <a:moveTo>
                    <a:pt x="363347" y="27520"/>
                  </a:moveTo>
                  <a:lnTo>
                    <a:pt x="76115" y="31752"/>
                  </a:lnTo>
                  <a:lnTo>
                    <a:pt x="76214" y="39217"/>
                  </a:lnTo>
                  <a:lnTo>
                    <a:pt x="76284" y="44454"/>
                  </a:lnTo>
                  <a:lnTo>
                    <a:pt x="363600" y="40220"/>
                  </a:lnTo>
                  <a:lnTo>
                    <a:pt x="363435" y="31940"/>
                  </a:lnTo>
                  <a:lnTo>
                    <a:pt x="363347" y="27520"/>
                  </a:lnTo>
                  <a:close/>
                </a:path>
              </a:pathLst>
            </a:custGeom>
            <a:solidFill>
              <a:srgbClr val="921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99610" y="1376933"/>
              <a:ext cx="0" cy="594995"/>
            </a:xfrm>
            <a:custGeom>
              <a:avLst/>
              <a:gdLst/>
              <a:ahLst/>
              <a:cxnLst/>
              <a:rect l="l" t="t" r="r" b="b"/>
              <a:pathLst>
                <a:path w="0" h="594994">
                  <a:moveTo>
                    <a:pt x="0" y="0"/>
                  </a:moveTo>
                  <a:lnTo>
                    <a:pt x="0" y="594867"/>
                  </a:lnTo>
                </a:path>
              </a:pathLst>
            </a:custGeom>
            <a:ln w="19812">
              <a:solidFill>
                <a:srgbClr val="921F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644009" y="1467738"/>
            <a:ext cx="60509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Can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4A4F5A"/>
                </a:solidFill>
                <a:latin typeface="Tahoma"/>
                <a:cs typeface="Tahoma"/>
              </a:rPr>
              <a:t>assess</a:t>
            </a:r>
            <a:r>
              <a:rPr dirty="0" sz="14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circulatory</a:t>
            </a:r>
            <a:r>
              <a:rPr dirty="0" sz="1400" spc="-14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status</a:t>
            </a:r>
            <a:r>
              <a:rPr dirty="0" sz="1400" spc="-11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&amp;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evaluate</a:t>
            </a:r>
            <a:r>
              <a:rPr dirty="0" sz="1400" spc="-10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961B2E"/>
                </a:solidFill>
                <a:latin typeface="Tahoma"/>
                <a:cs typeface="Tahoma"/>
              </a:rPr>
              <a:t>edema</a:t>
            </a:r>
            <a:r>
              <a:rPr dirty="0" sz="1400" spc="-45">
                <a:solidFill>
                  <a:srgbClr val="4A4F5A"/>
                </a:solidFill>
                <a:latin typeface="Tahoma"/>
                <a:cs typeface="Tahoma"/>
              </a:rPr>
              <a:t>,</a:t>
            </a:r>
            <a:r>
              <a:rPr dirty="0" sz="14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side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effect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chemotherapy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137655" y="2115439"/>
          <a:ext cx="4405630" cy="55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5675"/>
                <a:gridCol w="1096010"/>
                <a:gridCol w="1260475"/>
                <a:gridCol w="1005205"/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46D7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Normal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46D7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Mild</a:t>
                      </a:r>
                      <a:r>
                        <a:rPr dirty="0" sz="1200" spc="-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Edema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46D7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Edema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46D7C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80">
                          <a:latin typeface="Tahoma"/>
                          <a:cs typeface="Tahoma"/>
                        </a:rPr>
                        <a:t>ECW</a:t>
                      </a:r>
                      <a:r>
                        <a:rPr dirty="0" sz="12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>
                          <a:latin typeface="Tahoma"/>
                          <a:cs typeface="Tahoma"/>
                        </a:rPr>
                        <a:t>Ratio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>
                          <a:latin typeface="Tahoma"/>
                          <a:cs typeface="Tahoma"/>
                        </a:rPr>
                        <a:t>0.360~0.390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>
                          <a:latin typeface="Tahoma"/>
                          <a:cs typeface="Tahoma"/>
                        </a:rPr>
                        <a:t>0.390~0.400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>
                          <a:latin typeface="Tahoma"/>
                          <a:cs typeface="Tahoma"/>
                        </a:rPr>
                        <a:t>&gt;0.400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57574" y="2798281"/>
            <a:ext cx="4306626" cy="62440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716015" y="3650360"/>
            <a:ext cx="171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55">
                <a:solidFill>
                  <a:srgbClr val="C00000"/>
                </a:solidFill>
                <a:latin typeface="Tahoma"/>
                <a:cs typeface="Tahoma"/>
              </a:rPr>
              <a:t>√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55614" y="3583168"/>
            <a:ext cx="5801995" cy="101536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500" spc="-95" b="1">
                <a:solidFill>
                  <a:srgbClr val="90001F"/>
                </a:solidFill>
                <a:latin typeface="Tahoma"/>
                <a:cs typeface="Tahoma"/>
              </a:rPr>
              <a:t>Excessive</a:t>
            </a:r>
            <a:r>
              <a:rPr dirty="0" sz="1500" spc="-155" b="1">
                <a:solidFill>
                  <a:srgbClr val="90001F"/>
                </a:solidFill>
                <a:latin typeface="Tahoma"/>
                <a:cs typeface="Tahoma"/>
              </a:rPr>
              <a:t> </a:t>
            </a:r>
            <a:r>
              <a:rPr dirty="0" sz="1500" spc="-20" b="1">
                <a:solidFill>
                  <a:srgbClr val="90001F"/>
                </a:solidFill>
                <a:latin typeface="Tahoma"/>
                <a:cs typeface="Tahoma"/>
              </a:rPr>
              <a:t>ECW</a:t>
            </a:r>
            <a:r>
              <a:rPr dirty="0" sz="1500" spc="-125" b="1">
                <a:solidFill>
                  <a:srgbClr val="90001F"/>
                </a:solidFill>
                <a:latin typeface="Tahoma"/>
                <a:cs typeface="Tahoma"/>
              </a:rPr>
              <a:t> </a:t>
            </a:r>
            <a:r>
              <a:rPr dirty="0" sz="1500" spc="-105" b="1">
                <a:solidFill>
                  <a:srgbClr val="90001F"/>
                </a:solidFill>
                <a:latin typeface="Tahoma"/>
                <a:cs typeface="Tahoma"/>
              </a:rPr>
              <a:t>compared</a:t>
            </a:r>
            <a:r>
              <a:rPr dirty="0" sz="1500" spc="-135" b="1">
                <a:solidFill>
                  <a:srgbClr val="90001F"/>
                </a:solidFill>
                <a:latin typeface="Tahoma"/>
                <a:cs typeface="Tahoma"/>
              </a:rPr>
              <a:t> </a:t>
            </a:r>
            <a:r>
              <a:rPr dirty="0" sz="1500" spc="-70" b="1">
                <a:solidFill>
                  <a:srgbClr val="90001F"/>
                </a:solidFill>
                <a:latin typeface="Tahoma"/>
                <a:cs typeface="Tahoma"/>
              </a:rPr>
              <a:t>to</a:t>
            </a:r>
            <a:r>
              <a:rPr dirty="0" sz="1500" spc="-125" b="1">
                <a:solidFill>
                  <a:srgbClr val="90001F"/>
                </a:solidFill>
                <a:latin typeface="Tahoma"/>
                <a:cs typeface="Tahoma"/>
              </a:rPr>
              <a:t> </a:t>
            </a:r>
            <a:r>
              <a:rPr dirty="0" sz="1500" spc="-20" b="1">
                <a:solidFill>
                  <a:srgbClr val="90001F"/>
                </a:solidFill>
                <a:latin typeface="Tahoma"/>
                <a:cs typeface="Tahoma"/>
              </a:rPr>
              <a:t>ICW,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50000"/>
              </a:lnSpc>
              <a:spcBef>
                <a:spcPts val="30"/>
              </a:spcBef>
            </a:pP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It</a:t>
            </a:r>
            <a:r>
              <a:rPr dirty="0" sz="1400" spc="3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may</a:t>
            </a:r>
            <a:r>
              <a:rPr dirty="0" sz="1400" spc="3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indicate</a:t>
            </a:r>
            <a:r>
              <a:rPr dirty="0" sz="1400" spc="3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potential</a:t>
            </a:r>
            <a:r>
              <a:rPr dirty="0" sz="1400" spc="3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health</a:t>
            </a:r>
            <a:r>
              <a:rPr dirty="0" sz="1400" spc="3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issues</a:t>
            </a:r>
            <a:r>
              <a:rPr dirty="0" sz="1400" spc="3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such</a:t>
            </a:r>
            <a:r>
              <a:rPr dirty="0" sz="1400" spc="3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as</a:t>
            </a:r>
            <a:r>
              <a:rPr dirty="0" sz="1400" spc="3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hormonal</a:t>
            </a:r>
            <a:r>
              <a:rPr dirty="0" sz="1400" spc="3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imbalances, excessive</a:t>
            </a:r>
            <a:r>
              <a:rPr dirty="0" sz="1400" spc="-1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salt</a:t>
            </a:r>
            <a:r>
              <a:rPr dirty="0" sz="14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intake,</a:t>
            </a:r>
            <a:r>
              <a:rPr dirty="0" sz="14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or</a:t>
            </a:r>
            <a:r>
              <a:rPr dirty="0" sz="1400" spc="-1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85858"/>
                </a:solidFill>
                <a:latin typeface="Tahoma"/>
                <a:cs typeface="Tahoma"/>
              </a:rPr>
              <a:t>a</a:t>
            </a:r>
            <a:r>
              <a:rPr dirty="0" sz="1400" spc="-1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high</a:t>
            </a:r>
            <a:r>
              <a:rPr dirty="0" sz="1400" spc="-1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level</a:t>
            </a:r>
            <a:r>
              <a:rPr dirty="0" sz="1400" spc="-1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of</a:t>
            </a:r>
            <a:r>
              <a:rPr dirty="0" sz="1400" spc="-1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toxins</a:t>
            </a:r>
            <a:r>
              <a:rPr dirty="0" sz="1400" spc="-1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in</a:t>
            </a:r>
            <a:r>
              <a:rPr dirty="0" sz="1400" spc="-1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the</a:t>
            </a:r>
            <a:r>
              <a:rPr dirty="0" sz="1400" spc="-1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body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16015" y="4838446"/>
            <a:ext cx="171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55">
                <a:solidFill>
                  <a:srgbClr val="C00000"/>
                </a:solidFill>
                <a:latin typeface="Tahoma"/>
                <a:cs typeface="Tahoma"/>
              </a:rPr>
              <a:t>√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0805" y="5535269"/>
            <a:ext cx="8718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9F112C"/>
                </a:solidFill>
                <a:latin typeface="Tahoma"/>
                <a:cs typeface="Tahoma"/>
              </a:rPr>
              <a:t>Edema</a:t>
            </a:r>
            <a:r>
              <a:rPr dirty="0" sz="12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9F112C"/>
                </a:solidFill>
                <a:latin typeface="Tahoma"/>
                <a:cs typeface="Tahoma"/>
              </a:rPr>
              <a:t>if</a:t>
            </a:r>
            <a:endParaRPr sz="12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9F112C"/>
                </a:solidFill>
                <a:latin typeface="Tahoma"/>
                <a:cs typeface="Tahoma"/>
              </a:rPr>
              <a:t>Above</a:t>
            </a:r>
            <a:r>
              <a:rPr dirty="0" sz="1200" spc="-5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9F112C"/>
                </a:solidFill>
                <a:latin typeface="Tahoma"/>
                <a:cs typeface="Tahoma"/>
              </a:rPr>
              <a:t>0.390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55614" y="4773031"/>
            <a:ext cx="5485765" cy="101536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500" spc="-85" b="1">
                <a:solidFill>
                  <a:srgbClr val="90001F"/>
                </a:solidFill>
                <a:latin typeface="Tahoma"/>
                <a:cs typeface="Tahoma"/>
              </a:rPr>
              <a:t>When</a:t>
            </a:r>
            <a:r>
              <a:rPr dirty="0" sz="1500" spc="-130" b="1">
                <a:solidFill>
                  <a:srgbClr val="90001F"/>
                </a:solidFill>
                <a:latin typeface="Tahoma"/>
                <a:cs typeface="Tahoma"/>
              </a:rPr>
              <a:t> </a:t>
            </a:r>
            <a:r>
              <a:rPr dirty="0" sz="1500" spc="-85" b="1">
                <a:solidFill>
                  <a:srgbClr val="90001F"/>
                </a:solidFill>
                <a:latin typeface="Tahoma"/>
                <a:cs typeface="Tahoma"/>
              </a:rPr>
              <a:t>ICW</a:t>
            </a:r>
            <a:r>
              <a:rPr dirty="0" sz="1500" spc="-130" b="1">
                <a:solidFill>
                  <a:srgbClr val="90001F"/>
                </a:solidFill>
                <a:latin typeface="Tahoma"/>
                <a:cs typeface="Tahoma"/>
              </a:rPr>
              <a:t> </a:t>
            </a:r>
            <a:r>
              <a:rPr dirty="0" sz="1500" spc="-95" b="1">
                <a:solidFill>
                  <a:srgbClr val="90001F"/>
                </a:solidFill>
                <a:latin typeface="Tahoma"/>
                <a:cs typeface="Tahoma"/>
              </a:rPr>
              <a:t>is</a:t>
            </a:r>
            <a:r>
              <a:rPr dirty="0" sz="1500" spc="-130" b="1">
                <a:solidFill>
                  <a:srgbClr val="90001F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90001F"/>
                </a:solidFill>
                <a:latin typeface="Tahoma"/>
                <a:cs typeface="Tahoma"/>
              </a:rPr>
              <a:t>sufficient,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50200"/>
              </a:lnSpc>
              <a:spcBef>
                <a:spcPts val="25"/>
              </a:spcBef>
            </a:pP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Adequate</a:t>
            </a:r>
            <a:r>
              <a:rPr dirty="0" sz="1400" spc="1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nutrients</a:t>
            </a:r>
            <a:r>
              <a:rPr dirty="0" sz="1400" spc="1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can</a:t>
            </a:r>
            <a:r>
              <a:rPr dirty="0" sz="1400" spc="1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be</a:t>
            </a:r>
            <a:r>
              <a:rPr dirty="0" sz="1400" spc="1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transported</a:t>
            </a:r>
            <a:r>
              <a:rPr dirty="0" sz="1400" spc="1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into</a:t>
            </a:r>
            <a:r>
              <a:rPr dirty="0" sz="1400" spc="1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cells</a:t>
            </a:r>
            <a:r>
              <a:rPr dirty="0" sz="1400" spc="1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which</a:t>
            </a:r>
            <a:r>
              <a:rPr dirty="0" sz="1400" spc="1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can</a:t>
            </a:r>
            <a:r>
              <a:rPr dirty="0" sz="1400" spc="1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support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cellular</a:t>
            </a:r>
            <a:r>
              <a:rPr dirty="0" sz="1400" spc="-1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metabolism,</a:t>
            </a:r>
            <a:r>
              <a:rPr dirty="0" sz="1400" spc="-8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aiding</a:t>
            </a:r>
            <a:r>
              <a:rPr dirty="0" sz="14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in</a:t>
            </a:r>
            <a:r>
              <a:rPr dirty="0" sz="14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energy</a:t>
            </a:r>
            <a:r>
              <a:rPr dirty="0" sz="1400" spc="-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production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0584" y="1051686"/>
            <a:ext cx="924135" cy="1494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2263" y="1416938"/>
            <a:ext cx="1026160" cy="1540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55241" y="1777111"/>
            <a:ext cx="760539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5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cancer</a:t>
            </a:r>
            <a:r>
              <a:rPr dirty="0" sz="1400" spc="-13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patients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sarcopenia,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the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9F112C"/>
                </a:solidFill>
                <a:latin typeface="Tahoma"/>
                <a:cs typeface="Tahoma"/>
              </a:rPr>
              <a:t>ECW/TBW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ratio</a:t>
            </a:r>
            <a:r>
              <a:rPr dirty="0" sz="1400" spc="-10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is</a:t>
            </a:r>
            <a:r>
              <a:rPr dirty="0" sz="1400" spc="-8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more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significant</a:t>
            </a:r>
            <a:r>
              <a:rPr dirty="0" sz="1400" spc="-8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than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any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other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clinical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indicator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in</a:t>
            </a:r>
            <a:r>
              <a:rPr dirty="0" sz="1400" spc="-9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predicting</a:t>
            </a:r>
            <a:r>
              <a:rPr dirty="0" sz="1400" spc="-10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survival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rates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High</a:t>
            </a:r>
            <a:r>
              <a:rPr dirty="0" sz="1400" spc="-5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4A4F5A"/>
                </a:solidFill>
                <a:latin typeface="Tahoma"/>
                <a:cs typeface="Tahoma"/>
              </a:rPr>
              <a:t>ECW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ratio</a:t>
            </a:r>
            <a:r>
              <a:rPr dirty="0" sz="1400" spc="-5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&amp;</a:t>
            </a:r>
            <a:r>
              <a:rPr dirty="0" sz="14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NLR(Neutrophil-to-Lymphocyte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Ratio)</a:t>
            </a:r>
            <a:r>
              <a:rPr dirty="0" sz="14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further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increase</a:t>
            </a:r>
            <a:r>
              <a:rPr dirty="0" sz="14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4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risk</a:t>
            </a:r>
            <a:r>
              <a:rPr dirty="0" sz="1400" spc="-4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4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mortality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374505" y="1855470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429" y="0"/>
                </a:lnTo>
                <a:lnTo>
                  <a:pt x="7747" y="1524"/>
                </a:lnTo>
                <a:lnTo>
                  <a:pt x="4572" y="4571"/>
                </a:lnTo>
                <a:lnTo>
                  <a:pt x="1524" y="7619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1"/>
                </a:lnTo>
                <a:lnTo>
                  <a:pt x="4572" y="26669"/>
                </a:lnTo>
                <a:lnTo>
                  <a:pt x="7747" y="29717"/>
                </a:lnTo>
                <a:lnTo>
                  <a:pt x="11429" y="31241"/>
                </a:lnTo>
                <a:lnTo>
                  <a:pt x="19939" y="31241"/>
                </a:lnTo>
                <a:lnTo>
                  <a:pt x="23622" y="29717"/>
                </a:lnTo>
                <a:lnTo>
                  <a:pt x="26797" y="26669"/>
                </a:lnTo>
                <a:lnTo>
                  <a:pt x="29845" y="23621"/>
                </a:lnTo>
                <a:lnTo>
                  <a:pt x="31369" y="19938"/>
                </a:lnTo>
                <a:lnTo>
                  <a:pt x="31369" y="11302"/>
                </a:lnTo>
                <a:lnTo>
                  <a:pt x="29845" y="7619"/>
                </a:lnTo>
                <a:lnTo>
                  <a:pt x="26797" y="4571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9476867" y="1822195"/>
            <a:ext cx="2282825" cy="267335"/>
            <a:chOff x="9476867" y="1822195"/>
            <a:chExt cx="2282825" cy="26733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77756" y="1822195"/>
              <a:ext cx="2281936" cy="11493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76867" y="1974595"/>
              <a:ext cx="910335" cy="114934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9374505" y="222427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429" y="0"/>
                </a:lnTo>
                <a:lnTo>
                  <a:pt x="7747" y="1524"/>
                </a:lnTo>
                <a:lnTo>
                  <a:pt x="4572" y="4572"/>
                </a:lnTo>
                <a:lnTo>
                  <a:pt x="1524" y="7620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2"/>
                </a:lnTo>
                <a:lnTo>
                  <a:pt x="4572" y="26670"/>
                </a:lnTo>
                <a:lnTo>
                  <a:pt x="7747" y="29718"/>
                </a:lnTo>
                <a:lnTo>
                  <a:pt x="11429" y="31242"/>
                </a:lnTo>
                <a:lnTo>
                  <a:pt x="19939" y="31242"/>
                </a:lnTo>
                <a:lnTo>
                  <a:pt x="23622" y="29718"/>
                </a:lnTo>
                <a:lnTo>
                  <a:pt x="26797" y="26670"/>
                </a:lnTo>
                <a:lnTo>
                  <a:pt x="29845" y="23622"/>
                </a:lnTo>
                <a:lnTo>
                  <a:pt x="31369" y="19938"/>
                </a:lnTo>
                <a:lnTo>
                  <a:pt x="31369" y="11302"/>
                </a:lnTo>
                <a:lnTo>
                  <a:pt x="29845" y="7620"/>
                </a:lnTo>
                <a:lnTo>
                  <a:pt x="26797" y="4572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477629" y="2191004"/>
            <a:ext cx="1753235" cy="267335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9374505" y="259308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429" y="0"/>
                </a:lnTo>
                <a:lnTo>
                  <a:pt x="7747" y="1524"/>
                </a:lnTo>
                <a:lnTo>
                  <a:pt x="4572" y="4572"/>
                </a:lnTo>
                <a:lnTo>
                  <a:pt x="1524" y="7619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2"/>
                </a:lnTo>
                <a:lnTo>
                  <a:pt x="4572" y="26669"/>
                </a:lnTo>
                <a:lnTo>
                  <a:pt x="7747" y="29717"/>
                </a:lnTo>
                <a:lnTo>
                  <a:pt x="11429" y="31241"/>
                </a:lnTo>
                <a:lnTo>
                  <a:pt x="19939" y="31241"/>
                </a:lnTo>
                <a:lnTo>
                  <a:pt x="23622" y="29717"/>
                </a:lnTo>
                <a:lnTo>
                  <a:pt x="26797" y="26669"/>
                </a:lnTo>
                <a:lnTo>
                  <a:pt x="29845" y="23622"/>
                </a:lnTo>
                <a:lnTo>
                  <a:pt x="31369" y="19938"/>
                </a:lnTo>
                <a:lnTo>
                  <a:pt x="31369" y="11302"/>
                </a:lnTo>
                <a:lnTo>
                  <a:pt x="29845" y="7619"/>
                </a:lnTo>
                <a:lnTo>
                  <a:pt x="26797" y="4572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86138" y="2554985"/>
            <a:ext cx="1379351" cy="11976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76755" y="2840651"/>
            <a:ext cx="4370603" cy="30771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00492" y="3260774"/>
            <a:ext cx="5016763" cy="247959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1285473" y="6476200"/>
            <a:ext cx="280670" cy="100330"/>
            <a:chOff x="11285473" y="6476200"/>
            <a:chExt cx="280670" cy="1003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5473" y="6476200"/>
              <a:ext cx="111378" cy="910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18188" y="6489801"/>
              <a:ext cx="147700" cy="867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0584" y="1051686"/>
            <a:ext cx="924135" cy="1494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2263" y="1416938"/>
            <a:ext cx="1026160" cy="15405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220214" y="1751457"/>
            <a:ext cx="732663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Early</a:t>
            </a:r>
            <a:r>
              <a:rPr dirty="0" sz="1400" spc="-13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61B2E"/>
                </a:solidFill>
                <a:latin typeface="Tahoma"/>
                <a:cs typeface="Tahoma"/>
              </a:rPr>
              <a:t>diagnosis</a:t>
            </a:r>
            <a:r>
              <a:rPr dirty="0" sz="1400" spc="-11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of</a:t>
            </a:r>
            <a:r>
              <a:rPr dirty="0" sz="1400" spc="-12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61B2E"/>
                </a:solidFill>
                <a:latin typeface="Tahoma"/>
                <a:cs typeface="Tahoma"/>
              </a:rPr>
              <a:t>lymphedema</a:t>
            </a:r>
            <a:r>
              <a:rPr dirty="0" sz="1400" spc="-10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(with</a:t>
            </a:r>
            <a:r>
              <a:rPr dirty="0" sz="1400" spc="-13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difference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impedance</a:t>
            </a:r>
            <a:r>
              <a:rPr dirty="0" sz="1400" spc="-1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400" spc="-12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over</a:t>
            </a:r>
            <a:r>
              <a:rPr dirty="0" sz="1400" spc="-1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4A4F5A"/>
                </a:solidFill>
                <a:latin typeface="Tahoma"/>
                <a:cs typeface="Tahoma"/>
              </a:rPr>
              <a:t>10%</a:t>
            </a:r>
            <a:r>
              <a:rPr dirty="0" sz="1400" spc="-1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between</a:t>
            </a:r>
            <a:r>
              <a:rPr dirty="0" sz="1400" spc="-1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400" spc="-12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arms) </a:t>
            </a:r>
            <a:r>
              <a:rPr dirty="0" sz="1400" spc="-20">
                <a:solidFill>
                  <a:srgbClr val="4A4F5A"/>
                </a:solidFill>
                <a:latin typeface="Tahoma"/>
                <a:cs typeface="Tahoma"/>
              </a:rPr>
              <a:t>can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be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used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for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961B2E"/>
                </a:solidFill>
                <a:latin typeface="Tahoma"/>
                <a:cs typeface="Tahoma"/>
              </a:rPr>
              <a:t>assessing</a:t>
            </a:r>
            <a:r>
              <a:rPr dirty="0" sz="1400" spc="-8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treatment</a:t>
            </a:r>
            <a:r>
              <a:rPr dirty="0" sz="1400" spc="-10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effectiveness</a:t>
            </a:r>
            <a:r>
              <a:rPr dirty="0" sz="1400" spc="-3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&amp;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predicting</a:t>
            </a:r>
            <a:r>
              <a:rPr dirty="0" sz="1400" spc="-10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treatment</a:t>
            </a:r>
            <a:r>
              <a:rPr dirty="0" sz="1400" spc="-10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61B2E"/>
                </a:solidFill>
                <a:latin typeface="Tahoma"/>
                <a:cs typeface="Tahoma"/>
              </a:rPr>
              <a:t>outcomes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47597" y="5026914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430" y="0"/>
                </a:lnTo>
                <a:lnTo>
                  <a:pt x="7746" y="1524"/>
                </a:lnTo>
                <a:lnTo>
                  <a:pt x="4699" y="4572"/>
                </a:lnTo>
                <a:lnTo>
                  <a:pt x="1524" y="7619"/>
                </a:lnTo>
                <a:lnTo>
                  <a:pt x="0" y="11303"/>
                </a:lnTo>
                <a:lnTo>
                  <a:pt x="0" y="19938"/>
                </a:lnTo>
                <a:lnTo>
                  <a:pt x="1524" y="23622"/>
                </a:lnTo>
                <a:lnTo>
                  <a:pt x="4699" y="26669"/>
                </a:lnTo>
                <a:lnTo>
                  <a:pt x="7746" y="29844"/>
                </a:lnTo>
                <a:lnTo>
                  <a:pt x="11430" y="31368"/>
                </a:lnTo>
                <a:lnTo>
                  <a:pt x="19939" y="31368"/>
                </a:lnTo>
                <a:lnTo>
                  <a:pt x="23749" y="29844"/>
                </a:lnTo>
                <a:lnTo>
                  <a:pt x="26796" y="26669"/>
                </a:lnTo>
                <a:lnTo>
                  <a:pt x="29844" y="23622"/>
                </a:lnTo>
                <a:lnTo>
                  <a:pt x="31368" y="19938"/>
                </a:lnTo>
                <a:lnTo>
                  <a:pt x="31368" y="11303"/>
                </a:lnTo>
                <a:lnTo>
                  <a:pt x="29844" y="7619"/>
                </a:lnTo>
                <a:lnTo>
                  <a:pt x="23749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0847" y="4993766"/>
            <a:ext cx="1726438" cy="11480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47597" y="524332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430" y="0"/>
                </a:lnTo>
                <a:lnTo>
                  <a:pt x="7746" y="1523"/>
                </a:lnTo>
                <a:lnTo>
                  <a:pt x="4699" y="4571"/>
                </a:lnTo>
                <a:lnTo>
                  <a:pt x="1524" y="7619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1"/>
                </a:lnTo>
                <a:lnTo>
                  <a:pt x="4699" y="26669"/>
                </a:lnTo>
                <a:lnTo>
                  <a:pt x="7746" y="29844"/>
                </a:lnTo>
                <a:lnTo>
                  <a:pt x="11430" y="31368"/>
                </a:lnTo>
                <a:lnTo>
                  <a:pt x="19939" y="31368"/>
                </a:lnTo>
                <a:lnTo>
                  <a:pt x="23749" y="29844"/>
                </a:lnTo>
                <a:lnTo>
                  <a:pt x="26796" y="26669"/>
                </a:lnTo>
                <a:lnTo>
                  <a:pt x="29844" y="23621"/>
                </a:lnTo>
                <a:lnTo>
                  <a:pt x="31368" y="19938"/>
                </a:lnTo>
                <a:lnTo>
                  <a:pt x="31368" y="11302"/>
                </a:lnTo>
                <a:lnTo>
                  <a:pt x="29844" y="7619"/>
                </a:lnTo>
                <a:lnTo>
                  <a:pt x="23749" y="1523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60119" y="5210175"/>
            <a:ext cx="1430147" cy="9410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55674" y="5362575"/>
            <a:ext cx="1232408" cy="94106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347597" y="5612142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430" y="0"/>
                </a:lnTo>
                <a:lnTo>
                  <a:pt x="7746" y="1523"/>
                </a:lnTo>
                <a:lnTo>
                  <a:pt x="4699" y="4571"/>
                </a:lnTo>
                <a:lnTo>
                  <a:pt x="1524" y="7619"/>
                </a:lnTo>
                <a:lnTo>
                  <a:pt x="0" y="11302"/>
                </a:lnTo>
                <a:lnTo>
                  <a:pt x="0" y="19951"/>
                </a:lnTo>
                <a:lnTo>
                  <a:pt x="1524" y="23647"/>
                </a:lnTo>
                <a:lnTo>
                  <a:pt x="4699" y="26708"/>
                </a:lnTo>
                <a:lnTo>
                  <a:pt x="7746" y="29781"/>
                </a:lnTo>
                <a:lnTo>
                  <a:pt x="11430" y="31305"/>
                </a:lnTo>
                <a:lnTo>
                  <a:pt x="19939" y="31305"/>
                </a:lnTo>
                <a:lnTo>
                  <a:pt x="23749" y="29781"/>
                </a:lnTo>
                <a:lnTo>
                  <a:pt x="29844" y="23647"/>
                </a:lnTo>
                <a:lnTo>
                  <a:pt x="31368" y="19951"/>
                </a:lnTo>
                <a:lnTo>
                  <a:pt x="31368" y="11302"/>
                </a:lnTo>
                <a:lnTo>
                  <a:pt x="29844" y="7619"/>
                </a:lnTo>
                <a:lnTo>
                  <a:pt x="23749" y="1523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59230" y="5574029"/>
            <a:ext cx="1385450" cy="11977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48228" y="2497419"/>
            <a:ext cx="2511552" cy="3564741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081082" y="2461703"/>
            <a:ext cx="3070225" cy="3625215"/>
            <a:chOff x="6081082" y="2461703"/>
            <a:chExt cx="3070225" cy="3625215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81082" y="2461703"/>
              <a:ext cx="2644281" cy="362482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662289" y="5443092"/>
              <a:ext cx="488950" cy="76200"/>
            </a:xfrm>
            <a:custGeom>
              <a:avLst/>
              <a:gdLst/>
              <a:ahLst/>
              <a:cxnLst/>
              <a:rect l="l" t="t" r="r" b="b"/>
              <a:pathLst>
                <a:path w="488950" h="76200">
                  <a:moveTo>
                    <a:pt x="412750" y="0"/>
                  </a:moveTo>
                  <a:lnTo>
                    <a:pt x="412399" y="26288"/>
                  </a:lnTo>
                  <a:lnTo>
                    <a:pt x="412325" y="31834"/>
                  </a:lnTo>
                  <a:lnTo>
                    <a:pt x="424941" y="32003"/>
                  </a:lnTo>
                  <a:lnTo>
                    <a:pt x="424814" y="44703"/>
                  </a:lnTo>
                  <a:lnTo>
                    <a:pt x="412153" y="44703"/>
                  </a:lnTo>
                  <a:lnTo>
                    <a:pt x="411733" y="76199"/>
                  </a:lnTo>
                  <a:lnTo>
                    <a:pt x="476883" y="44703"/>
                  </a:lnTo>
                  <a:lnTo>
                    <a:pt x="424814" y="44703"/>
                  </a:lnTo>
                  <a:lnTo>
                    <a:pt x="412156" y="44533"/>
                  </a:lnTo>
                  <a:lnTo>
                    <a:pt x="477235" y="44533"/>
                  </a:lnTo>
                  <a:lnTo>
                    <a:pt x="488441" y="39115"/>
                  </a:lnTo>
                  <a:lnTo>
                    <a:pt x="412750" y="0"/>
                  </a:lnTo>
                  <a:close/>
                </a:path>
                <a:path w="488950" h="76200">
                  <a:moveTo>
                    <a:pt x="412325" y="31834"/>
                  </a:moveTo>
                  <a:lnTo>
                    <a:pt x="412230" y="38988"/>
                  </a:lnTo>
                  <a:lnTo>
                    <a:pt x="412156" y="44533"/>
                  </a:lnTo>
                  <a:lnTo>
                    <a:pt x="424814" y="44703"/>
                  </a:lnTo>
                  <a:lnTo>
                    <a:pt x="424941" y="32003"/>
                  </a:lnTo>
                  <a:lnTo>
                    <a:pt x="412325" y="31834"/>
                  </a:lnTo>
                  <a:close/>
                </a:path>
                <a:path w="488950" h="76200">
                  <a:moveTo>
                    <a:pt x="253" y="26288"/>
                  </a:moveTo>
                  <a:lnTo>
                    <a:pt x="0" y="38988"/>
                  </a:lnTo>
                  <a:lnTo>
                    <a:pt x="412156" y="44533"/>
                  </a:lnTo>
                  <a:lnTo>
                    <a:pt x="412230" y="38988"/>
                  </a:lnTo>
                  <a:lnTo>
                    <a:pt x="412325" y="31834"/>
                  </a:lnTo>
                  <a:lnTo>
                    <a:pt x="253" y="26288"/>
                  </a:lnTo>
                  <a:close/>
                </a:path>
              </a:pathLst>
            </a:custGeom>
            <a:solidFill>
              <a:srgbClr val="921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131814" y="5226558"/>
              <a:ext cx="2540635" cy="349250"/>
            </a:xfrm>
            <a:custGeom>
              <a:avLst/>
              <a:gdLst/>
              <a:ahLst/>
              <a:cxnLst/>
              <a:rect l="l" t="t" r="r" b="b"/>
              <a:pathLst>
                <a:path w="2540634" h="349250">
                  <a:moveTo>
                    <a:pt x="0" y="348996"/>
                  </a:moveTo>
                  <a:lnTo>
                    <a:pt x="2540508" y="348996"/>
                  </a:lnTo>
                  <a:lnTo>
                    <a:pt x="2540508" y="0"/>
                  </a:lnTo>
                  <a:lnTo>
                    <a:pt x="0" y="0"/>
                  </a:lnTo>
                  <a:lnTo>
                    <a:pt x="0" y="348996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9321038" y="5275834"/>
            <a:ext cx="1509395" cy="399415"/>
            <a:chOff x="9321038" y="5275834"/>
            <a:chExt cx="1509395" cy="399415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31452" y="5275834"/>
              <a:ext cx="838580" cy="1163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27388" y="5428234"/>
              <a:ext cx="1502790" cy="11493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21038" y="5580634"/>
              <a:ext cx="1348993" cy="94208"/>
            </a:xfrm>
            <a:prstGeom prst="rect">
              <a:avLst/>
            </a:prstGeom>
          </p:spPr>
        </p:pic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0584" y="1051686"/>
            <a:ext cx="924135" cy="1494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53058" y="1421637"/>
            <a:ext cx="1146175" cy="184150"/>
          </a:xfrm>
          <a:custGeom>
            <a:avLst/>
            <a:gdLst/>
            <a:ahLst/>
            <a:cxnLst/>
            <a:rect l="l" t="t" r="r" b="b"/>
            <a:pathLst>
              <a:path w="1146175" h="184150">
                <a:moveTo>
                  <a:pt x="111506" y="41402"/>
                </a:moveTo>
                <a:lnTo>
                  <a:pt x="110363" y="35052"/>
                </a:lnTo>
                <a:lnTo>
                  <a:pt x="106680" y="25654"/>
                </a:lnTo>
                <a:lnTo>
                  <a:pt x="105791" y="23368"/>
                </a:lnTo>
                <a:lnTo>
                  <a:pt x="77216" y="3238"/>
                </a:lnTo>
                <a:lnTo>
                  <a:pt x="77216" y="44831"/>
                </a:lnTo>
                <a:lnTo>
                  <a:pt x="77216" y="55880"/>
                </a:lnTo>
                <a:lnTo>
                  <a:pt x="75311" y="61849"/>
                </a:lnTo>
                <a:lnTo>
                  <a:pt x="71374" y="66040"/>
                </a:lnTo>
                <a:lnTo>
                  <a:pt x="67437" y="70358"/>
                </a:lnTo>
                <a:lnTo>
                  <a:pt x="60960" y="72517"/>
                </a:lnTo>
                <a:lnTo>
                  <a:pt x="34290" y="72517"/>
                </a:lnTo>
                <a:lnTo>
                  <a:pt x="34290" y="25654"/>
                </a:lnTo>
                <a:lnTo>
                  <a:pt x="56388" y="25654"/>
                </a:lnTo>
                <a:lnTo>
                  <a:pt x="60198" y="26162"/>
                </a:lnTo>
                <a:lnTo>
                  <a:pt x="63246" y="27305"/>
                </a:lnTo>
                <a:lnTo>
                  <a:pt x="66421" y="28321"/>
                </a:lnTo>
                <a:lnTo>
                  <a:pt x="77216" y="44831"/>
                </a:lnTo>
                <a:lnTo>
                  <a:pt x="77216" y="3238"/>
                </a:lnTo>
                <a:lnTo>
                  <a:pt x="73025" y="2095"/>
                </a:lnTo>
                <a:lnTo>
                  <a:pt x="66611" y="939"/>
                </a:lnTo>
                <a:lnTo>
                  <a:pt x="59613" y="241"/>
                </a:lnTo>
                <a:lnTo>
                  <a:pt x="52070" y="0"/>
                </a:lnTo>
                <a:lnTo>
                  <a:pt x="0" y="0"/>
                </a:lnTo>
                <a:lnTo>
                  <a:pt x="0" y="147701"/>
                </a:lnTo>
                <a:lnTo>
                  <a:pt x="34290" y="147701"/>
                </a:lnTo>
                <a:lnTo>
                  <a:pt x="34290" y="98298"/>
                </a:lnTo>
                <a:lnTo>
                  <a:pt x="52070" y="98298"/>
                </a:lnTo>
                <a:lnTo>
                  <a:pt x="92202" y="88773"/>
                </a:lnTo>
                <a:lnTo>
                  <a:pt x="106362" y="72517"/>
                </a:lnTo>
                <a:lnTo>
                  <a:pt x="107950" y="68453"/>
                </a:lnTo>
                <a:lnTo>
                  <a:pt x="110363" y="62357"/>
                </a:lnTo>
                <a:lnTo>
                  <a:pt x="111455" y="55880"/>
                </a:lnTo>
                <a:lnTo>
                  <a:pt x="111506" y="41402"/>
                </a:lnTo>
                <a:close/>
              </a:path>
              <a:path w="1146175" h="184150">
                <a:moveTo>
                  <a:pt x="226822" y="86614"/>
                </a:moveTo>
                <a:lnTo>
                  <a:pt x="225552" y="79121"/>
                </a:lnTo>
                <a:lnTo>
                  <a:pt x="222885" y="72390"/>
                </a:lnTo>
                <a:lnTo>
                  <a:pt x="220345" y="65786"/>
                </a:lnTo>
                <a:lnTo>
                  <a:pt x="219354" y="64262"/>
                </a:lnTo>
                <a:lnTo>
                  <a:pt x="216662" y="60071"/>
                </a:lnTo>
                <a:lnTo>
                  <a:pt x="211963" y="55499"/>
                </a:lnTo>
                <a:lnTo>
                  <a:pt x="207264" y="50800"/>
                </a:lnTo>
                <a:lnTo>
                  <a:pt x="201676" y="47244"/>
                </a:lnTo>
                <a:lnTo>
                  <a:pt x="194437" y="44437"/>
                </a:lnTo>
                <a:lnTo>
                  <a:pt x="194437" y="84709"/>
                </a:lnTo>
                <a:lnTo>
                  <a:pt x="194437" y="105410"/>
                </a:lnTo>
                <a:lnTo>
                  <a:pt x="192659" y="113284"/>
                </a:lnTo>
                <a:lnTo>
                  <a:pt x="189230" y="118364"/>
                </a:lnTo>
                <a:lnTo>
                  <a:pt x="185928" y="123444"/>
                </a:lnTo>
                <a:lnTo>
                  <a:pt x="180594" y="125984"/>
                </a:lnTo>
                <a:lnTo>
                  <a:pt x="165862" y="125984"/>
                </a:lnTo>
                <a:lnTo>
                  <a:pt x="160401" y="123444"/>
                </a:lnTo>
                <a:lnTo>
                  <a:pt x="153543" y="113284"/>
                </a:lnTo>
                <a:lnTo>
                  <a:pt x="151892" y="105410"/>
                </a:lnTo>
                <a:lnTo>
                  <a:pt x="151892" y="84709"/>
                </a:lnTo>
                <a:lnTo>
                  <a:pt x="153543" y="76962"/>
                </a:lnTo>
                <a:lnTo>
                  <a:pt x="160401" y="66802"/>
                </a:lnTo>
                <a:lnTo>
                  <a:pt x="165862" y="64262"/>
                </a:lnTo>
                <a:lnTo>
                  <a:pt x="180594" y="64262"/>
                </a:lnTo>
                <a:lnTo>
                  <a:pt x="185928" y="66802"/>
                </a:lnTo>
                <a:lnTo>
                  <a:pt x="189230" y="71882"/>
                </a:lnTo>
                <a:lnTo>
                  <a:pt x="192659" y="76962"/>
                </a:lnTo>
                <a:lnTo>
                  <a:pt x="194437" y="84709"/>
                </a:lnTo>
                <a:lnTo>
                  <a:pt x="194437" y="44437"/>
                </a:lnTo>
                <a:lnTo>
                  <a:pt x="188595" y="42164"/>
                </a:lnTo>
                <a:lnTo>
                  <a:pt x="181356" y="40894"/>
                </a:lnTo>
                <a:lnTo>
                  <a:pt x="165227" y="40894"/>
                </a:lnTo>
                <a:lnTo>
                  <a:pt x="157988" y="42164"/>
                </a:lnTo>
                <a:lnTo>
                  <a:pt x="144780" y="47244"/>
                </a:lnTo>
                <a:lnTo>
                  <a:pt x="139065" y="50800"/>
                </a:lnTo>
                <a:lnTo>
                  <a:pt x="134366" y="55499"/>
                </a:lnTo>
                <a:lnTo>
                  <a:pt x="129540" y="60071"/>
                </a:lnTo>
                <a:lnTo>
                  <a:pt x="125857" y="65786"/>
                </a:lnTo>
                <a:lnTo>
                  <a:pt x="123317" y="72390"/>
                </a:lnTo>
                <a:lnTo>
                  <a:pt x="120650" y="79121"/>
                </a:lnTo>
                <a:lnTo>
                  <a:pt x="119380" y="86614"/>
                </a:lnTo>
                <a:lnTo>
                  <a:pt x="119380" y="103251"/>
                </a:lnTo>
                <a:lnTo>
                  <a:pt x="120650" y="110744"/>
                </a:lnTo>
                <a:lnTo>
                  <a:pt x="123317" y="117475"/>
                </a:lnTo>
                <a:lnTo>
                  <a:pt x="125857" y="124206"/>
                </a:lnTo>
                <a:lnTo>
                  <a:pt x="129540" y="129921"/>
                </a:lnTo>
                <a:lnTo>
                  <a:pt x="134366" y="134620"/>
                </a:lnTo>
                <a:lnTo>
                  <a:pt x="139065" y="139319"/>
                </a:lnTo>
                <a:lnTo>
                  <a:pt x="144780" y="143002"/>
                </a:lnTo>
                <a:lnTo>
                  <a:pt x="157988" y="148082"/>
                </a:lnTo>
                <a:lnTo>
                  <a:pt x="165227" y="149352"/>
                </a:lnTo>
                <a:lnTo>
                  <a:pt x="181356" y="149352"/>
                </a:lnTo>
                <a:lnTo>
                  <a:pt x="216662" y="129921"/>
                </a:lnTo>
                <a:lnTo>
                  <a:pt x="219189" y="125984"/>
                </a:lnTo>
                <a:lnTo>
                  <a:pt x="220345" y="124206"/>
                </a:lnTo>
                <a:lnTo>
                  <a:pt x="222885" y="117475"/>
                </a:lnTo>
                <a:lnTo>
                  <a:pt x="225552" y="110744"/>
                </a:lnTo>
                <a:lnTo>
                  <a:pt x="226822" y="103251"/>
                </a:lnTo>
                <a:lnTo>
                  <a:pt x="226822" y="86614"/>
                </a:lnTo>
                <a:close/>
              </a:path>
              <a:path w="1146175" h="184150">
                <a:moveTo>
                  <a:pt x="312801" y="109347"/>
                </a:moveTo>
                <a:lnTo>
                  <a:pt x="305320" y="94996"/>
                </a:lnTo>
                <a:lnTo>
                  <a:pt x="302882" y="92710"/>
                </a:lnTo>
                <a:lnTo>
                  <a:pt x="285356" y="84582"/>
                </a:lnTo>
                <a:lnTo>
                  <a:pt x="282448" y="83566"/>
                </a:lnTo>
                <a:lnTo>
                  <a:pt x="276606" y="81788"/>
                </a:lnTo>
                <a:lnTo>
                  <a:pt x="274066" y="80899"/>
                </a:lnTo>
                <a:lnTo>
                  <a:pt x="271653" y="79883"/>
                </a:lnTo>
                <a:lnTo>
                  <a:pt x="269367" y="78994"/>
                </a:lnTo>
                <a:lnTo>
                  <a:pt x="267589" y="77851"/>
                </a:lnTo>
                <a:lnTo>
                  <a:pt x="266192" y="76581"/>
                </a:lnTo>
                <a:lnTo>
                  <a:pt x="264795" y="75184"/>
                </a:lnTo>
                <a:lnTo>
                  <a:pt x="264160" y="73660"/>
                </a:lnTo>
                <a:lnTo>
                  <a:pt x="264160" y="69088"/>
                </a:lnTo>
                <a:lnTo>
                  <a:pt x="264452" y="68326"/>
                </a:lnTo>
                <a:lnTo>
                  <a:pt x="265176" y="66802"/>
                </a:lnTo>
                <a:lnTo>
                  <a:pt x="269494" y="63754"/>
                </a:lnTo>
                <a:lnTo>
                  <a:pt x="272542" y="62992"/>
                </a:lnTo>
                <a:lnTo>
                  <a:pt x="279273" y="62992"/>
                </a:lnTo>
                <a:lnTo>
                  <a:pt x="281686" y="63373"/>
                </a:lnTo>
                <a:lnTo>
                  <a:pt x="286004" y="64643"/>
                </a:lnTo>
                <a:lnTo>
                  <a:pt x="288036" y="65278"/>
                </a:lnTo>
                <a:lnTo>
                  <a:pt x="289687" y="66040"/>
                </a:lnTo>
                <a:lnTo>
                  <a:pt x="291465" y="66802"/>
                </a:lnTo>
                <a:lnTo>
                  <a:pt x="292989" y="67564"/>
                </a:lnTo>
                <a:lnTo>
                  <a:pt x="296633" y="69088"/>
                </a:lnTo>
                <a:lnTo>
                  <a:pt x="300990" y="69088"/>
                </a:lnTo>
                <a:lnTo>
                  <a:pt x="302514" y="68326"/>
                </a:lnTo>
                <a:lnTo>
                  <a:pt x="303403" y="67818"/>
                </a:lnTo>
                <a:lnTo>
                  <a:pt x="304292" y="66802"/>
                </a:lnTo>
                <a:lnTo>
                  <a:pt x="305054" y="65532"/>
                </a:lnTo>
                <a:lnTo>
                  <a:pt x="306679" y="62992"/>
                </a:lnTo>
                <a:lnTo>
                  <a:pt x="312166" y="54483"/>
                </a:lnTo>
                <a:lnTo>
                  <a:pt x="310134" y="52578"/>
                </a:lnTo>
                <a:lnTo>
                  <a:pt x="308127" y="50927"/>
                </a:lnTo>
                <a:lnTo>
                  <a:pt x="305308" y="49149"/>
                </a:lnTo>
                <a:lnTo>
                  <a:pt x="302768" y="47498"/>
                </a:lnTo>
                <a:lnTo>
                  <a:pt x="299974" y="45974"/>
                </a:lnTo>
                <a:lnTo>
                  <a:pt x="296799" y="44831"/>
                </a:lnTo>
                <a:lnTo>
                  <a:pt x="294043" y="43688"/>
                </a:lnTo>
                <a:lnTo>
                  <a:pt x="294220" y="43688"/>
                </a:lnTo>
                <a:lnTo>
                  <a:pt x="290449" y="42672"/>
                </a:lnTo>
                <a:lnTo>
                  <a:pt x="286893" y="41910"/>
                </a:lnTo>
                <a:lnTo>
                  <a:pt x="283337" y="41275"/>
                </a:lnTo>
                <a:lnTo>
                  <a:pt x="279654" y="40894"/>
                </a:lnTo>
                <a:lnTo>
                  <a:pt x="268859" y="40894"/>
                </a:lnTo>
                <a:lnTo>
                  <a:pt x="262026" y="41910"/>
                </a:lnTo>
                <a:lnTo>
                  <a:pt x="262534" y="41910"/>
                </a:lnTo>
                <a:lnTo>
                  <a:pt x="257683" y="43688"/>
                </a:lnTo>
                <a:lnTo>
                  <a:pt x="234315" y="69723"/>
                </a:lnTo>
                <a:lnTo>
                  <a:pt x="234315" y="78994"/>
                </a:lnTo>
                <a:lnTo>
                  <a:pt x="242062" y="94996"/>
                </a:lnTo>
                <a:lnTo>
                  <a:pt x="244348" y="97409"/>
                </a:lnTo>
                <a:lnTo>
                  <a:pt x="246888" y="99314"/>
                </a:lnTo>
                <a:lnTo>
                  <a:pt x="249936" y="100838"/>
                </a:lnTo>
                <a:lnTo>
                  <a:pt x="252857" y="102362"/>
                </a:lnTo>
                <a:lnTo>
                  <a:pt x="255778" y="103632"/>
                </a:lnTo>
                <a:lnTo>
                  <a:pt x="258826" y="104648"/>
                </a:lnTo>
                <a:lnTo>
                  <a:pt x="261874" y="105791"/>
                </a:lnTo>
                <a:lnTo>
                  <a:pt x="264922" y="106680"/>
                </a:lnTo>
                <a:lnTo>
                  <a:pt x="270764" y="108458"/>
                </a:lnTo>
                <a:lnTo>
                  <a:pt x="273431" y="109347"/>
                </a:lnTo>
                <a:lnTo>
                  <a:pt x="275717" y="110363"/>
                </a:lnTo>
                <a:lnTo>
                  <a:pt x="278003" y="111252"/>
                </a:lnTo>
                <a:lnTo>
                  <a:pt x="279781" y="112522"/>
                </a:lnTo>
                <a:lnTo>
                  <a:pt x="282702" y="115189"/>
                </a:lnTo>
                <a:lnTo>
                  <a:pt x="283337" y="116840"/>
                </a:lnTo>
                <a:lnTo>
                  <a:pt x="283273" y="120396"/>
                </a:lnTo>
                <a:lnTo>
                  <a:pt x="283184" y="120777"/>
                </a:lnTo>
                <a:lnTo>
                  <a:pt x="283083" y="121285"/>
                </a:lnTo>
                <a:lnTo>
                  <a:pt x="272656" y="128143"/>
                </a:lnTo>
                <a:lnTo>
                  <a:pt x="266700" y="128143"/>
                </a:lnTo>
                <a:lnTo>
                  <a:pt x="264833" y="127889"/>
                </a:lnTo>
                <a:lnTo>
                  <a:pt x="264223" y="127889"/>
                </a:lnTo>
                <a:lnTo>
                  <a:pt x="261620" y="126873"/>
                </a:lnTo>
                <a:lnTo>
                  <a:pt x="259334" y="126111"/>
                </a:lnTo>
                <a:lnTo>
                  <a:pt x="257429" y="125222"/>
                </a:lnTo>
                <a:lnTo>
                  <a:pt x="255866" y="124333"/>
                </a:lnTo>
                <a:lnTo>
                  <a:pt x="254000" y="123317"/>
                </a:lnTo>
                <a:lnTo>
                  <a:pt x="252476" y="122428"/>
                </a:lnTo>
                <a:lnTo>
                  <a:pt x="250952" y="121666"/>
                </a:lnTo>
                <a:lnTo>
                  <a:pt x="249555" y="120777"/>
                </a:lnTo>
                <a:lnTo>
                  <a:pt x="247904" y="120396"/>
                </a:lnTo>
                <a:lnTo>
                  <a:pt x="244094" y="120396"/>
                </a:lnTo>
                <a:lnTo>
                  <a:pt x="242570" y="120777"/>
                </a:lnTo>
                <a:lnTo>
                  <a:pt x="230886" y="136271"/>
                </a:lnTo>
                <a:lnTo>
                  <a:pt x="232918" y="138176"/>
                </a:lnTo>
                <a:lnTo>
                  <a:pt x="265049" y="149352"/>
                </a:lnTo>
                <a:lnTo>
                  <a:pt x="275717" y="149352"/>
                </a:lnTo>
                <a:lnTo>
                  <a:pt x="309765" y="128143"/>
                </a:lnTo>
                <a:lnTo>
                  <a:pt x="311785" y="123571"/>
                </a:lnTo>
                <a:lnTo>
                  <a:pt x="312801" y="118745"/>
                </a:lnTo>
                <a:lnTo>
                  <a:pt x="312801" y="109347"/>
                </a:lnTo>
                <a:close/>
              </a:path>
              <a:path w="1146175" h="184150">
                <a:moveTo>
                  <a:pt x="393954" y="140208"/>
                </a:moveTo>
                <a:lnTo>
                  <a:pt x="384429" y="125222"/>
                </a:lnTo>
                <a:lnTo>
                  <a:pt x="384149" y="124841"/>
                </a:lnTo>
                <a:lnTo>
                  <a:pt x="383362" y="123698"/>
                </a:lnTo>
                <a:lnTo>
                  <a:pt x="382638" y="123190"/>
                </a:lnTo>
                <a:lnTo>
                  <a:pt x="381584" y="122555"/>
                </a:lnTo>
                <a:lnTo>
                  <a:pt x="379349" y="122555"/>
                </a:lnTo>
                <a:lnTo>
                  <a:pt x="378079" y="123190"/>
                </a:lnTo>
                <a:lnTo>
                  <a:pt x="377901" y="123190"/>
                </a:lnTo>
                <a:lnTo>
                  <a:pt x="377228" y="123698"/>
                </a:lnTo>
                <a:lnTo>
                  <a:pt x="376936" y="123698"/>
                </a:lnTo>
                <a:lnTo>
                  <a:pt x="375412" y="124460"/>
                </a:lnTo>
                <a:lnTo>
                  <a:pt x="374904" y="124460"/>
                </a:lnTo>
                <a:lnTo>
                  <a:pt x="373761" y="124841"/>
                </a:lnTo>
                <a:lnTo>
                  <a:pt x="369824" y="124841"/>
                </a:lnTo>
                <a:lnTo>
                  <a:pt x="368173" y="124079"/>
                </a:lnTo>
                <a:lnTo>
                  <a:pt x="365760" y="120904"/>
                </a:lnTo>
                <a:lnTo>
                  <a:pt x="365125" y="118872"/>
                </a:lnTo>
                <a:lnTo>
                  <a:pt x="365125" y="64262"/>
                </a:lnTo>
                <a:lnTo>
                  <a:pt x="390652" y="64262"/>
                </a:lnTo>
                <a:lnTo>
                  <a:pt x="390652" y="42799"/>
                </a:lnTo>
                <a:lnTo>
                  <a:pt x="365125" y="42799"/>
                </a:lnTo>
                <a:lnTo>
                  <a:pt x="365125" y="12065"/>
                </a:lnTo>
                <a:lnTo>
                  <a:pt x="344932" y="12065"/>
                </a:lnTo>
                <a:lnTo>
                  <a:pt x="342646" y="13716"/>
                </a:lnTo>
                <a:lnTo>
                  <a:pt x="335661" y="42545"/>
                </a:lnTo>
                <a:lnTo>
                  <a:pt x="318897" y="45847"/>
                </a:lnTo>
                <a:lnTo>
                  <a:pt x="318897" y="60071"/>
                </a:lnTo>
                <a:lnTo>
                  <a:pt x="319532" y="61595"/>
                </a:lnTo>
                <a:lnTo>
                  <a:pt x="320675" y="62738"/>
                </a:lnTo>
                <a:lnTo>
                  <a:pt x="321818" y="63754"/>
                </a:lnTo>
                <a:lnTo>
                  <a:pt x="323215" y="64262"/>
                </a:lnTo>
                <a:lnTo>
                  <a:pt x="333756" y="64262"/>
                </a:lnTo>
                <a:lnTo>
                  <a:pt x="333819" y="123698"/>
                </a:lnTo>
                <a:lnTo>
                  <a:pt x="334391" y="127508"/>
                </a:lnTo>
                <a:lnTo>
                  <a:pt x="335788" y="131191"/>
                </a:lnTo>
                <a:lnTo>
                  <a:pt x="337185" y="135001"/>
                </a:lnTo>
                <a:lnTo>
                  <a:pt x="339090" y="138303"/>
                </a:lnTo>
                <a:lnTo>
                  <a:pt x="341757" y="140970"/>
                </a:lnTo>
                <a:lnTo>
                  <a:pt x="344297" y="143637"/>
                </a:lnTo>
                <a:lnTo>
                  <a:pt x="347472" y="145669"/>
                </a:lnTo>
                <a:lnTo>
                  <a:pt x="351282" y="147066"/>
                </a:lnTo>
                <a:lnTo>
                  <a:pt x="355092" y="148590"/>
                </a:lnTo>
                <a:lnTo>
                  <a:pt x="359537" y="149352"/>
                </a:lnTo>
                <a:lnTo>
                  <a:pt x="369951" y="149352"/>
                </a:lnTo>
                <a:lnTo>
                  <a:pt x="375158" y="148590"/>
                </a:lnTo>
                <a:lnTo>
                  <a:pt x="385318" y="145542"/>
                </a:lnTo>
                <a:lnTo>
                  <a:pt x="389890" y="143256"/>
                </a:lnTo>
                <a:lnTo>
                  <a:pt x="393954" y="140208"/>
                </a:lnTo>
                <a:close/>
              </a:path>
              <a:path w="1146175" h="184150">
                <a:moveTo>
                  <a:pt x="458076" y="73342"/>
                </a:moveTo>
                <a:lnTo>
                  <a:pt x="403352" y="73342"/>
                </a:lnTo>
                <a:lnTo>
                  <a:pt x="403352" y="98679"/>
                </a:lnTo>
                <a:lnTo>
                  <a:pt x="458076" y="98679"/>
                </a:lnTo>
                <a:lnTo>
                  <a:pt x="458076" y="73342"/>
                </a:lnTo>
                <a:close/>
              </a:path>
              <a:path w="1146175" h="184150">
                <a:moveTo>
                  <a:pt x="549021" y="109347"/>
                </a:moveTo>
                <a:lnTo>
                  <a:pt x="541540" y="94996"/>
                </a:lnTo>
                <a:lnTo>
                  <a:pt x="539115" y="92710"/>
                </a:lnTo>
                <a:lnTo>
                  <a:pt x="521589" y="84582"/>
                </a:lnTo>
                <a:lnTo>
                  <a:pt x="518668" y="83566"/>
                </a:lnTo>
                <a:lnTo>
                  <a:pt x="512826" y="81788"/>
                </a:lnTo>
                <a:lnTo>
                  <a:pt x="510286" y="80899"/>
                </a:lnTo>
                <a:lnTo>
                  <a:pt x="507873" y="79883"/>
                </a:lnTo>
                <a:lnTo>
                  <a:pt x="505587" y="78994"/>
                </a:lnTo>
                <a:lnTo>
                  <a:pt x="503809" y="77851"/>
                </a:lnTo>
                <a:lnTo>
                  <a:pt x="502412" y="76581"/>
                </a:lnTo>
                <a:lnTo>
                  <a:pt x="501015" y="75184"/>
                </a:lnTo>
                <a:lnTo>
                  <a:pt x="500380" y="73660"/>
                </a:lnTo>
                <a:lnTo>
                  <a:pt x="500380" y="69088"/>
                </a:lnTo>
                <a:lnTo>
                  <a:pt x="500672" y="68326"/>
                </a:lnTo>
                <a:lnTo>
                  <a:pt x="501396" y="66802"/>
                </a:lnTo>
                <a:lnTo>
                  <a:pt x="505714" y="63754"/>
                </a:lnTo>
                <a:lnTo>
                  <a:pt x="508762" y="62992"/>
                </a:lnTo>
                <a:lnTo>
                  <a:pt x="515493" y="62992"/>
                </a:lnTo>
                <a:lnTo>
                  <a:pt x="517906" y="63373"/>
                </a:lnTo>
                <a:lnTo>
                  <a:pt x="522224" y="64643"/>
                </a:lnTo>
                <a:lnTo>
                  <a:pt x="524256" y="65278"/>
                </a:lnTo>
                <a:lnTo>
                  <a:pt x="525907" y="66040"/>
                </a:lnTo>
                <a:lnTo>
                  <a:pt x="527685" y="66802"/>
                </a:lnTo>
                <a:lnTo>
                  <a:pt x="529209" y="67564"/>
                </a:lnTo>
                <a:lnTo>
                  <a:pt x="532853" y="69088"/>
                </a:lnTo>
                <a:lnTo>
                  <a:pt x="537210" y="69088"/>
                </a:lnTo>
                <a:lnTo>
                  <a:pt x="538734" y="68326"/>
                </a:lnTo>
                <a:lnTo>
                  <a:pt x="539623" y="67818"/>
                </a:lnTo>
                <a:lnTo>
                  <a:pt x="540512" y="66802"/>
                </a:lnTo>
                <a:lnTo>
                  <a:pt x="541274" y="65532"/>
                </a:lnTo>
                <a:lnTo>
                  <a:pt x="542899" y="62992"/>
                </a:lnTo>
                <a:lnTo>
                  <a:pt x="548386" y="54483"/>
                </a:lnTo>
                <a:lnTo>
                  <a:pt x="546354" y="52578"/>
                </a:lnTo>
                <a:lnTo>
                  <a:pt x="544347" y="50927"/>
                </a:lnTo>
                <a:lnTo>
                  <a:pt x="541528" y="49149"/>
                </a:lnTo>
                <a:lnTo>
                  <a:pt x="538988" y="47498"/>
                </a:lnTo>
                <a:lnTo>
                  <a:pt x="536194" y="45974"/>
                </a:lnTo>
                <a:lnTo>
                  <a:pt x="533019" y="44831"/>
                </a:lnTo>
                <a:lnTo>
                  <a:pt x="530263" y="43688"/>
                </a:lnTo>
                <a:lnTo>
                  <a:pt x="530440" y="43688"/>
                </a:lnTo>
                <a:lnTo>
                  <a:pt x="526669" y="42672"/>
                </a:lnTo>
                <a:lnTo>
                  <a:pt x="523113" y="41910"/>
                </a:lnTo>
                <a:lnTo>
                  <a:pt x="519557" y="41275"/>
                </a:lnTo>
                <a:lnTo>
                  <a:pt x="515874" y="40894"/>
                </a:lnTo>
                <a:lnTo>
                  <a:pt x="505079" y="40894"/>
                </a:lnTo>
                <a:lnTo>
                  <a:pt x="498246" y="41910"/>
                </a:lnTo>
                <a:lnTo>
                  <a:pt x="498754" y="41910"/>
                </a:lnTo>
                <a:lnTo>
                  <a:pt x="493903" y="43688"/>
                </a:lnTo>
                <a:lnTo>
                  <a:pt x="470535" y="69723"/>
                </a:lnTo>
                <a:lnTo>
                  <a:pt x="470535" y="78994"/>
                </a:lnTo>
                <a:lnTo>
                  <a:pt x="478282" y="94996"/>
                </a:lnTo>
                <a:lnTo>
                  <a:pt x="480568" y="97409"/>
                </a:lnTo>
                <a:lnTo>
                  <a:pt x="483108" y="99314"/>
                </a:lnTo>
                <a:lnTo>
                  <a:pt x="486156" y="100838"/>
                </a:lnTo>
                <a:lnTo>
                  <a:pt x="489077" y="102362"/>
                </a:lnTo>
                <a:lnTo>
                  <a:pt x="491998" y="103632"/>
                </a:lnTo>
                <a:lnTo>
                  <a:pt x="495046" y="104648"/>
                </a:lnTo>
                <a:lnTo>
                  <a:pt x="498094" y="105791"/>
                </a:lnTo>
                <a:lnTo>
                  <a:pt x="501142" y="106680"/>
                </a:lnTo>
                <a:lnTo>
                  <a:pt x="506984" y="108458"/>
                </a:lnTo>
                <a:lnTo>
                  <a:pt x="509651" y="109347"/>
                </a:lnTo>
                <a:lnTo>
                  <a:pt x="511937" y="110363"/>
                </a:lnTo>
                <a:lnTo>
                  <a:pt x="514223" y="111252"/>
                </a:lnTo>
                <a:lnTo>
                  <a:pt x="516001" y="112522"/>
                </a:lnTo>
                <a:lnTo>
                  <a:pt x="518922" y="115189"/>
                </a:lnTo>
                <a:lnTo>
                  <a:pt x="519557" y="116840"/>
                </a:lnTo>
                <a:lnTo>
                  <a:pt x="519493" y="120396"/>
                </a:lnTo>
                <a:lnTo>
                  <a:pt x="519404" y="120777"/>
                </a:lnTo>
                <a:lnTo>
                  <a:pt x="519303" y="121285"/>
                </a:lnTo>
                <a:lnTo>
                  <a:pt x="508889" y="128143"/>
                </a:lnTo>
                <a:lnTo>
                  <a:pt x="502920" y="128143"/>
                </a:lnTo>
                <a:lnTo>
                  <a:pt x="501053" y="127889"/>
                </a:lnTo>
                <a:lnTo>
                  <a:pt x="500443" y="127889"/>
                </a:lnTo>
                <a:lnTo>
                  <a:pt x="497840" y="126873"/>
                </a:lnTo>
                <a:lnTo>
                  <a:pt x="495554" y="126111"/>
                </a:lnTo>
                <a:lnTo>
                  <a:pt x="493649" y="125222"/>
                </a:lnTo>
                <a:lnTo>
                  <a:pt x="492086" y="124333"/>
                </a:lnTo>
                <a:lnTo>
                  <a:pt x="490220" y="123317"/>
                </a:lnTo>
                <a:lnTo>
                  <a:pt x="488696" y="122428"/>
                </a:lnTo>
                <a:lnTo>
                  <a:pt x="487172" y="121666"/>
                </a:lnTo>
                <a:lnTo>
                  <a:pt x="485775" y="120777"/>
                </a:lnTo>
                <a:lnTo>
                  <a:pt x="484124" y="120396"/>
                </a:lnTo>
                <a:lnTo>
                  <a:pt x="480314" y="120396"/>
                </a:lnTo>
                <a:lnTo>
                  <a:pt x="478790" y="120777"/>
                </a:lnTo>
                <a:lnTo>
                  <a:pt x="467106" y="136271"/>
                </a:lnTo>
                <a:lnTo>
                  <a:pt x="469138" y="138176"/>
                </a:lnTo>
                <a:lnTo>
                  <a:pt x="501269" y="149352"/>
                </a:lnTo>
                <a:lnTo>
                  <a:pt x="511937" y="149352"/>
                </a:lnTo>
                <a:lnTo>
                  <a:pt x="545985" y="128143"/>
                </a:lnTo>
                <a:lnTo>
                  <a:pt x="548005" y="123571"/>
                </a:lnTo>
                <a:lnTo>
                  <a:pt x="549021" y="118745"/>
                </a:lnTo>
                <a:lnTo>
                  <a:pt x="549021" y="109347"/>
                </a:lnTo>
                <a:close/>
              </a:path>
              <a:path w="1146175" h="184150">
                <a:moveTo>
                  <a:pt x="655574" y="42545"/>
                </a:moveTo>
                <a:lnTo>
                  <a:pt x="624205" y="42545"/>
                </a:lnTo>
                <a:lnTo>
                  <a:pt x="624205" y="117475"/>
                </a:lnTo>
                <a:lnTo>
                  <a:pt x="621411" y="120015"/>
                </a:lnTo>
                <a:lnTo>
                  <a:pt x="618490" y="122047"/>
                </a:lnTo>
                <a:lnTo>
                  <a:pt x="612394" y="124841"/>
                </a:lnTo>
                <a:lnTo>
                  <a:pt x="609219" y="125603"/>
                </a:lnTo>
                <a:lnTo>
                  <a:pt x="601091" y="125603"/>
                </a:lnTo>
                <a:lnTo>
                  <a:pt x="597662" y="124206"/>
                </a:lnTo>
                <a:lnTo>
                  <a:pt x="592963" y="118491"/>
                </a:lnTo>
                <a:lnTo>
                  <a:pt x="591820" y="114427"/>
                </a:lnTo>
                <a:lnTo>
                  <a:pt x="591820" y="42545"/>
                </a:lnTo>
                <a:lnTo>
                  <a:pt x="560324" y="42545"/>
                </a:lnTo>
                <a:lnTo>
                  <a:pt x="560324" y="115062"/>
                </a:lnTo>
                <a:lnTo>
                  <a:pt x="561022" y="120015"/>
                </a:lnTo>
                <a:lnTo>
                  <a:pt x="590296" y="149352"/>
                </a:lnTo>
                <a:lnTo>
                  <a:pt x="599440" y="149352"/>
                </a:lnTo>
                <a:lnTo>
                  <a:pt x="620268" y="141605"/>
                </a:lnTo>
                <a:lnTo>
                  <a:pt x="622427" y="140081"/>
                </a:lnTo>
                <a:lnTo>
                  <a:pt x="624459" y="138303"/>
                </a:lnTo>
                <a:lnTo>
                  <a:pt x="626491" y="136271"/>
                </a:lnTo>
                <a:lnTo>
                  <a:pt x="628396" y="142367"/>
                </a:lnTo>
                <a:lnTo>
                  <a:pt x="629666" y="145923"/>
                </a:lnTo>
                <a:lnTo>
                  <a:pt x="632206" y="147701"/>
                </a:lnTo>
                <a:lnTo>
                  <a:pt x="655574" y="147701"/>
                </a:lnTo>
                <a:lnTo>
                  <a:pt x="655574" y="136271"/>
                </a:lnTo>
                <a:lnTo>
                  <a:pt x="655574" y="125603"/>
                </a:lnTo>
                <a:lnTo>
                  <a:pt x="655574" y="42545"/>
                </a:lnTo>
                <a:close/>
              </a:path>
              <a:path w="1146175" h="184150">
                <a:moveTo>
                  <a:pt x="746379" y="43942"/>
                </a:moveTo>
                <a:lnTo>
                  <a:pt x="743458" y="41656"/>
                </a:lnTo>
                <a:lnTo>
                  <a:pt x="739648" y="40513"/>
                </a:lnTo>
                <a:lnTo>
                  <a:pt x="729107" y="40513"/>
                </a:lnTo>
                <a:lnTo>
                  <a:pt x="706120" y="59817"/>
                </a:lnTo>
                <a:lnTo>
                  <a:pt x="704469" y="49911"/>
                </a:lnTo>
                <a:lnTo>
                  <a:pt x="704316" y="49149"/>
                </a:lnTo>
                <a:lnTo>
                  <a:pt x="704215" y="48641"/>
                </a:lnTo>
                <a:lnTo>
                  <a:pt x="703834" y="47498"/>
                </a:lnTo>
                <a:lnTo>
                  <a:pt x="703453" y="46482"/>
                </a:lnTo>
                <a:lnTo>
                  <a:pt x="703122" y="45720"/>
                </a:lnTo>
                <a:lnTo>
                  <a:pt x="703072" y="45593"/>
                </a:lnTo>
                <a:lnTo>
                  <a:pt x="698119" y="42672"/>
                </a:lnTo>
                <a:lnTo>
                  <a:pt x="676656" y="42672"/>
                </a:lnTo>
                <a:lnTo>
                  <a:pt x="676656" y="147701"/>
                </a:lnTo>
                <a:lnTo>
                  <a:pt x="708025" y="147701"/>
                </a:lnTo>
                <a:lnTo>
                  <a:pt x="708025" y="83185"/>
                </a:lnTo>
                <a:lnTo>
                  <a:pt x="712851" y="74422"/>
                </a:lnTo>
                <a:lnTo>
                  <a:pt x="719137" y="70104"/>
                </a:lnTo>
                <a:lnTo>
                  <a:pt x="730872" y="70104"/>
                </a:lnTo>
                <a:lnTo>
                  <a:pt x="731901" y="70231"/>
                </a:lnTo>
                <a:lnTo>
                  <a:pt x="736346" y="70993"/>
                </a:lnTo>
                <a:lnTo>
                  <a:pt x="738886" y="70993"/>
                </a:lnTo>
                <a:lnTo>
                  <a:pt x="743572" y="59817"/>
                </a:lnTo>
                <a:lnTo>
                  <a:pt x="746379" y="43942"/>
                </a:lnTo>
                <a:close/>
              </a:path>
              <a:path w="1146175" h="184150">
                <a:moveTo>
                  <a:pt x="849884" y="45847"/>
                </a:moveTo>
                <a:lnTo>
                  <a:pt x="818134" y="45847"/>
                </a:lnTo>
                <a:lnTo>
                  <a:pt x="814705" y="44196"/>
                </a:lnTo>
                <a:lnTo>
                  <a:pt x="811149" y="42926"/>
                </a:lnTo>
                <a:lnTo>
                  <a:pt x="809371" y="42532"/>
                </a:lnTo>
                <a:lnTo>
                  <a:pt x="809371" y="71374"/>
                </a:lnTo>
                <a:lnTo>
                  <a:pt x="809371" y="79756"/>
                </a:lnTo>
                <a:lnTo>
                  <a:pt x="808101" y="83058"/>
                </a:lnTo>
                <a:lnTo>
                  <a:pt x="805815" y="85725"/>
                </a:lnTo>
                <a:lnTo>
                  <a:pt x="803529" y="88265"/>
                </a:lnTo>
                <a:lnTo>
                  <a:pt x="799719" y="89535"/>
                </a:lnTo>
                <a:lnTo>
                  <a:pt x="791972" y="89535"/>
                </a:lnTo>
                <a:lnTo>
                  <a:pt x="789813" y="89281"/>
                </a:lnTo>
                <a:lnTo>
                  <a:pt x="787908" y="88519"/>
                </a:lnTo>
                <a:lnTo>
                  <a:pt x="786003" y="87884"/>
                </a:lnTo>
                <a:lnTo>
                  <a:pt x="784479" y="86868"/>
                </a:lnTo>
                <a:lnTo>
                  <a:pt x="783437" y="85725"/>
                </a:lnTo>
                <a:lnTo>
                  <a:pt x="782066" y="84328"/>
                </a:lnTo>
                <a:lnTo>
                  <a:pt x="781253" y="83058"/>
                </a:lnTo>
                <a:lnTo>
                  <a:pt x="780580" y="81280"/>
                </a:lnTo>
                <a:lnTo>
                  <a:pt x="780224" y="80137"/>
                </a:lnTo>
                <a:lnTo>
                  <a:pt x="780110" y="79756"/>
                </a:lnTo>
                <a:lnTo>
                  <a:pt x="780034" y="79502"/>
                </a:lnTo>
                <a:lnTo>
                  <a:pt x="779780" y="77597"/>
                </a:lnTo>
                <a:lnTo>
                  <a:pt x="779780" y="71374"/>
                </a:lnTo>
                <a:lnTo>
                  <a:pt x="780923" y="68072"/>
                </a:lnTo>
                <a:lnTo>
                  <a:pt x="783209" y="65532"/>
                </a:lnTo>
                <a:lnTo>
                  <a:pt x="785495" y="63246"/>
                </a:lnTo>
                <a:lnTo>
                  <a:pt x="785202" y="63246"/>
                </a:lnTo>
                <a:lnTo>
                  <a:pt x="789305" y="61976"/>
                </a:lnTo>
                <a:lnTo>
                  <a:pt x="799719" y="61976"/>
                </a:lnTo>
                <a:lnTo>
                  <a:pt x="803948" y="63246"/>
                </a:lnTo>
                <a:lnTo>
                  <a:pt x="803643" y="63246"/>
                </a:lnTo>
                <a:lnTo>
                  <a:pt x="805815" y="65532"/>
                </a:lnTo>
                <a:lnTo>
                  <a:pt x="808101" y="68072"/>
                </a:lnTo>
                <a:lnTo>
                  <a:pt x="809371" y="71374"/>
                </a:lnTo>
                <a:lnTo>
                  <a:pt x="809371" y="42532"/>
                </a:lnTo>
                <a:lnTo>
                  <a:pt x="803148" y="41148"/>
                </a:lnTo>
                <a:lnTo>
                  <a:pt x="798957" y="40767"/>
                </a:lnTo>
                <a:lnTo>
                  <a:pt x="788416" y="40767"/>
                </a:lnTo>
                <a:lnTo>
                  <a:pt x="782701" y="41529"/>
                </a:lnTo>
                <a:lnTo>
                  <a:pt x="777367" y="43180"/>
                </a:lnTo>
                <a:lnTo>
                  <a:pt x="772160" y="44704"/>
                </a:lnTo>
                <a:lnTo>
                  <a:pt x="754507" y="60706"/>
                </a:lnTo>
                <a:lnTo>
                  <a:pt x="752221" y="64897"/>
                </a:lnTo>
                <a:lnTo>
                  <a:pt x="751205" y="69596"/>
                </a:lnTo>
                <a:lnTo>
                  <a:pt x="751205" y="81280"/>
                </a:lnTo>
                <a:lnTo>
                  <a:pt x="752729" y="86868"/>
                </a:lnTo>
                <a:lnTo>
                  <a:pt x="755904" y="91567"/>
                </a:lnTo>
                <a:lnTo>
                  <a:pt x="758952" y="96393"/>
                </a:lnTo>
                <a:lnTo>
                  <a:pt x="763270" y="100330"/>
                </a:lnTo>
                <a:lnTo>
                  <a:pt x="768731" y="103124"/>
                </a:lnTo>
                <a:lnTo>
                  <a:pt x="766318" y="104267"/>
                </a:lnTo>
                <a:lnTo>
                  <a:pt x="755650" y="116840"/>
                </a:lnTo>
                <a:lnTo>
                  <a:pt x="755103" y="118237"/>
                </a:lnTo>
                <a:lnTo>
                  <a:pt x="755015" y="118491"/>
                </a:lnTo>
                <a:lnTo>
                  <a:pt x="754913" y="119126"/>
                </a:lnTo>
                <a:lnTo>
                  <a:pt x="754849" y="125730"/>
                </a:lnTo>
                <a:lnTo>
                  <a:pt x="755523" y="128524"/>
                </a:lnTo>
                <a:lnTo>
                  <a:pt x="758317" y="133350"/>
                </a:lnTo>
                <a:lnTo>
                  <a:pt x="760222" y="135382"/>
                </a:lnTo>
                <a:lnTo>
                  <a:pt x="762635" y="136906"/>
                </a:lnTo>
                <a:lnTo>
                  <a:pt x="757682" y="138684"/>
                </a:lnTo>
                <a:lnTo>
                  <a:pt x="753745" y="141224"/>
                </a:lnTo>
                <a:lnTo>
                  <a:pt x="750951" y="144399"/>
                </a:lnTo>
                <a:lnTo>
                  <a:pt x="748157" y="147701"/>
                </a:lnTo>
                <a:lnTo>
                  <a:pt x="746633" y="151638"/>
                </a:lnTo>
                <a:lnTo>
                  <a:pt x="746734" y="160274"/>
                </a:lnTo>
                <a:lnTo>
                  <a:pt x="779145" y="183007"/>
                </a:lnTo>
                <a:lnTo>
                  <a:pt x="786257" y="183896"/>
                </a:lnTo>
                <a:lnTo>
                  <a:pt x="802894" y="183896"/>
                </a:lnTo>
                <a:lnTo>
                  <a:pt x="810387" y="182753"/>
                </a:lnTo>
                <a:lnTo>
                  <a:pt x="816864" y="180594"/>
                </a:lnTo>
                <a:lnTo>
                  <a:pt x="823341" y="178562"/>
                </a:lnTo>
                <a:lnTo>
                  <a:pt x="842251" y="162306"/>
                </a:lnTo>
                <a:lnTo>
                  <a:pt x="843724" y="159385"/>
                </a:lnTo>
                <a:lnTo>
                  <a:pt x="845616" y="155702"/>
                </a:lnTo>
                <a:lnTo>
                  <a:pt x="845807" y="155067"/>
                </a:lnTo>
                <a:lnTo>
                  <a:pt x="846836" y="150876"/>
                </a:lnTo>
                <a:lnTo>
                  <a:pt x="846836" y="141986"/>
                </a:lnTo>
                <a:lnTo>
                  <a:pt x="846836" y="141224"/>
                </a:lnTo>
                <a:lnTo>
                  <a:pt x="845947" y="136906"/>
                </a:lnTo>
                <a:lnTo>
                  <a:pt x="842137" y="130302"/>
                </a:lnTo>
                <a:lnTo>
                  <a:pt x="839724" y="127635"/>
                </a:lnTo>
                <a:lnTo>
                  <a:pt x="836676" y="125730"/>
                </a:lnTo>
                <a:lnTo>
                  <a:pt x="833628" y="123698"/>
                </a:lnTo>
                <a:lnTo>
                  <a:pt x="830199" y="122301"/>
                </a:lnTo>
                <a:lnTo>
                  <a:pt x="822325" y="120523"/>
                </a:lnTo>
                <a:lnTo>
                  <a:pt x="818388" y="119888"/>
                </a:lnTo>
                <a:lnTo>
                  <a:pt x="817880" y="119849"/>
                </a:lnTo>
                <a:lnTo>
                  <a:pt x="817880" y="149606"/>
                </a:lnTo>
                <a:lnTo>
                  <a:pt x="817880" y="152908"/>
                </a:lnTo>
                <a:lnTo>
                  <a:pt x="813181" y="159131"/>
                </a:lnTo>
                <a:lnTo>
                  <a:pt x="811314" y="160274"/>
                </a:lnTo>
                <a:lnTo>
                  <a:pt x="811149" y="160274"/>
                </a:lnTo>
                <a:lnTo>
                  <a:pt x="808863" y="161036"/>
                </a:lnTo>
                <a:lnTo>
                  <a:pt x="808507" y="161036"/>
                </a:lnTo>
                <a:lnTo>
                  <a:pt x="802665" y="162052"/>
                </a:lnTo>
                <a:lnTo>
                  <a:pt x="802170" y="162052"/>
                </a:lnTo>
                <a:lnTo>
                  <a:pt x="799719" y="162306"/>
                </a:lnTo>
                <a:lnTo>
                  <a:pt x="790956" y="162306"/>
                </a:lnTo>
                <a:lnTo>
                  <a:pt x="787527" y="162052"/>
                </a:lnTo>
                <a:lnTo>
                  <a:pt x="782066" y="161036"/>
                </a:lnTo>
                <a:lnTo>
                  <a:pt x="779780" y="160274"/>
                </a:lnTo>
                <a:lnTo>
                  <a:pt x="778256" y="159385"/>
                </a:lnTo>
                <a:lnTo>
                  <a:pt x="776605" y="158496"/>
                </a:lnTo>
                <a:lnTo>
                  <a:pt x="775462" y="157480"/>
                </a:lnTo>
                <a:lnTo>
                  <a:pt x="774827" y="156210"/>
                </a:lnTo>
                <a:lnTo>
                  <a:pt x="774192" y="155067"/>
                </a:lnTo>
                <a:lnTo>
                  <a:pt x="773811" y="153670"/>
                </a:lnTo>
                <a:lnTo>
                  <a:pt x="773811" y="150114"/>
                </a:lnTo>
                <a:lnTo>
                  <a:pt x="774446" y="148209"/>
                </a:lnTo>
                <a:lnTo>
                  <a:pt x="776986" y="144907"/>
                </a:lnTo>
                <a:lnTo>
                  <a:pt x="778637" y="143383"/>
                </a:lnTo>
                <a:lnTo>
                  <a:pt x="780542" y="141986"/>
                </a:lnTo>
                <a:lnTo>
                  <a:pt x="783463" y="142621"/>
                </a:lnTo>
                <a:lnTo>
                  <a:pt x="787844" y="143002"/>
                </a:lnTo>
                <a:lnTo>
                  <a:pt x="803275" y="143002"/>
                </a:lnTo>
                <a:lnTo>
                  <a:pt x="806881" y="143383"/>
                </a:lnTo>
                <a:lnTo>
                  <a:pt x="806488" y="143383"/>
                </a:lnTo>
                <a:lnTo>
                  <a:pt x="808101" y="143637"/>
                </a:lnTo>
                <a:lnTo>
                  <a:pt x="810260" y="144018"/>
                </a:lnTo>
                <a:lnTo>
                  <a:pt x="813816" y="145288"/>
                </a:lnTo>
                <a:lnTo>
                  <a:pt x="815213" y="146050"/>
                </a:lnTo>
                <a:lnTo>
                  <a:pt x="816229" y="147193"/>
                </a:lnTo>
                <a:lnTo>
                  <a:pt x="817372" y="148209"/>
                </a:lnTo>
                <a:lnTo>
                  <a:pt x="817880" y="149606"/>
                </a:lnTo>
                <a:lnTo>
                  <a:pt x="817880" y="119849"/>
                </a:lnTo>
                <a:lnTo>
                  <a:pt x="810260" y="119126"/>
                </a:lnTo>
                <a:lnTo>
                  <a:pt x="796912" y="119126"/>
                </a:lnTo>
                <a:lnTo>
                  <a:pt x="791845" y="118491"/>
                </a:lnTo>
                <a:lnTo>
                  <a:pt x="788797" y="118237"/>
                </a:lnTo>
                <a:lnTo>
                  <a:pt x="786384" y="117729"/>
                </a:lnTo>
                <a:lnTo>
                  <a:pt x="784606" y="116840"/>
                </a:lnTo>
                <a:lnTo>
                  <a:pt x="782701" y="116078"/>
                </a:lnTo>
                <a:lnTo>
                  <a:pt x="781812" y="114808"/>
                </a:lnTo>
                <a:lnTo>
                  <a:pt x="781812" y="111252"/>
                </a:lnTo>
                <a:lnTo>
                  <a:pt x="782955" y="109728"/>
                </a:lnTo>
                <a:lnTo>
                  <a:pt x="785241" y="108331"/>
                </a:lnTo>
                <a:lnTo>
                  <a:pt x="788162" y="108712"/>
                </a:lnTo>
                <a:lnTo>
                  <a:pt x="791210" y="108966"/>
                </a:lnTo>
                <a:lnTo>
                  <a:pt x="800481" y="108966"/>
                </a:lnTo>
                <a:lnTo>
                  <a:pt x="805129" y="108331"/>
                </a:lnTo>
                <a:lnTo>
                  <a:pt x="806069" y="108204"/>
                </a:lnTo>
                <a:lnTo>
                  <a:pt x="811276" y="106553"/>
                </a:lnTo>
                <a:lnTo>
                  <a:pt x="816483" y="105029"/>
                </a:lnTo>
                <a:lnTo>
                  <a:pt x="820928" y="102743"/>
                </a:lnTo>
                <a:lnTo>
                  <a:pt x="828548" y="96901"/>
                </a:lnTo>
                <a:lnTo>
                  <a:pt x="831596" y="93218"/>
                </a:lnTo>
                <a:lnTo>
                  <a:pt x="833488" y="89535"/>
                </a:lnTo>
                <a:lnTo>
                  <a:pt x="833755" y="89027"/>
                </a:lnTo>
                <a:lnTo>
                  <a:pt x="836041" y="84963"/>
                </a:lnTo>
                <a:lnTo>
                  <a:pt x="837057" y="80137"/>
                </a:lnTo>
                <a:lnTo>
                  <a:pt x="837018" y="71374"/>
                </a:lnTo>
                <a:lnTo>
                  <a:pt x="836676" y="68453"/>
                </a:lnTo>
                <a:lnTo>
                  <a:pt x="835660" y="65532"/>
                </a:lnTo>
                <a:lnTo>
                  <a:pt x="845693" y="63246"/>
                </a:lnTo>
                <a:lnTo>
                  <a:pt x="847471" y="62484"/>
                </a:lnTo>
                <a:lnTo>
                  <a:pt x="847915" y="61976"/>
                </a:lnTo>
                <a:lnTo>
                  <a:pt x="848360" y="61468"/>
                </a:lnTo>
                <a:lnTo>
                  <a:pt x="849376" y="60452"/>
                </a:lnTo>
                <a:lnTo>
                  <a:pt x="849884" y="59055"/>
                </a:lnTo>
                <a:lnTo>
                  <a:pt x="849884" y="45847"/>
                </a:lnTo>
                <a:close/>
              </a:path>
              <a:path w="1146175" h="184150">
                <a:moveTo>
                  <a:pt x="951738" y="81534"/>
                </a:moveTo>
                <a:lnTo>
                  <a:pt x="950658" y="75184"/>
                </a:lnTo>
                <a:lnTo>
                  <a:pt x="950595" y="74803"/>
                </a:lnTo>
                <a:lnTo>
                  <a:pt x="948309" y="68707"/>
                </a:lnTo>
                <a:lnTo>
                  <a:pt x="923544" y="44183"/>
                </a:lnTo>
                <a:lnTo>
                  <a:pt x="923544" y="82550"/>
                </a:lnTo>
                <a:lnTo>
                  <a:pt x="884428" y="82550"/>
                </a:lnTo>
                <a:lnTo>
                  <a:pt x="885444" y="76073"/>
                </a:lnTo>
                <a:lnTo>
                  <a:pt x="887730" y="71120"/>
                </a:lnTo>
                <a:lnTo>
                  <a:pt x="894461" y="64389"/>
                </a:lnTo>
                <a:lnTo>
                  <a:pt x="898817" y="62738"/>
                </a:lnTo>
                <a:lnTo>
                  <a:pt x="909104" y="62738"/>
                </a:lnTo>
                <a:lnTo>
                  <a:pt x="923544" y="82550"/>
                </a:lnTo>
                <a:lnTo>
                  <a:pt x="923544" y="44183"/>
                </a:lnTo>
                <a:lnTo>
                  <a:pt x="917829" y="42037"/>
                </a:lnTo>
                <a:lnTo>
                  <a:pt x="911479" y="40894"/>
                </a:lnTo>
                <a:lnTo>
                  <a:pt x="896493" y="40894"/>
                </a:lnTo>
                <a:lnTo>
                  <a:pt x="889254" y="42291"/>
                </a:lnTo>
                <a:lnTo>
                  <a:pt x="876554" y="47879"/>
                </a:lnTo>
                <a:lnTo>
                  <a:pt x="871093" y="51562"/>
                </a:lnTo>
                <a:lnTo>
                  <a:pt x="866648" y="56388"/>
                </a:lnTo>
                <a:lnTo>
                  <a:pt x="862076" y="61087"/>
                </a:lnTo>
                <a:lnTo>
                  <a:pt x="858647" y="66548"/>
                </a:lnTo>
                <a:lnTo>
                  <a:pt x="856234" y="72898"/>
                </a:lnTo>
                <a:lnTo>
                  <a:pt x="853821" y="79121"/>
                </a:lnTo>
                <a:lnTo>
                  <a:pt x="852678" y="85852"/>
                </a:lnTo>
                <a:lnTo>
                  <a:pt x="852678" y="102108"/>
                </a:lnTo>
                <a:lnTo>
                  <a:pt x="873125" y="139700"/>
                </a:lnTo>
                <a:lnTo>
                  <a:pt x="898652" y="149352"/>
                </a:lnTo>
                <a:lnTo>
                  <a:pt x="909574" y="149352"/>
                </a:lnTo>
                <a:lnTo>
                  <a:pt x="947928" y="135001"/>
                </a:lnTo>
                <a:lnTo>
                  <a:pt x="951103" y="131191"/>
                </a:lnTo>
                <a:lnTo>
                  <a:pt x="946696" y="125730"/>
                </a:lnTo>
                <a:lnTo>
                  <a:pt x="942086" y="120015"/>
                </a:lnTo>
                <a:lnTo>
                  <a:pt x="940816" y="118237"/>
                </a:lnTo>
                <a:lnTo>
                  <a:pt x="938911" y="117221"/>
                </a:lnTo>
                <a:lnTo>
                  <a:pt x="934466" y="117221"/>
                </a:lnTo>
                <a:lnTo>
                  <a:pt x="932688" y="117729"/>
                </a:lnTo>
                <a:lnTo>
                  <a:pt x="930910" y="118618"/>
                </a:lnTo>
                <a:lnTo>
                  <a:pt x="929259" y="119507"/>
                </a:lnTo>
                <a:lnTo>
                  <a:pt x="927354" y="120396"/>
                </a:lnTo>
                <a:lnTo>
                  <a:pt x="912495" y="125730"/>
                </a:lnTo>
                <a:lnTo>
                  <a:pt x="901954" y="125730"/>
                </a:lnTo>
                <a:lnTo>
                  <a:pt x="896366" y="123825"/>
                </a:lnTo>
                <a:lnTo>
                  <a:pt x="887730" y="115951"/>
                </a:lnTo>
                <a:lnTo>
                  <a:pt x="885063" y="109474"/>
                </a:lnTo>
                <a:lnTo>
                  <a:pt x="884047" y="100711"/>
                </a:lnTo>
                <a:lnTo>
                  <a:pt x="946988" y="100711"/>
                </a:lnTo>
                <a:lnTo>
                  <a:pt x="948182" y="100203"/>
                </a:lnTo>
                <a:lnTo>
                  <a:pt x="951725" y="82550"/>
                </a:lnTo>
                <a:lnTo>
                  <a:pt x="951738" y="81534"/>
                </a:lnTo>
                <a:close/>
              </a:path>
              <a:path w="1146175" h="184150">
                <a:moveTo>
                  <a:pt x="1146111" y="42672"/>
                </a:moveTo>
                <a:lnTo>
                  <a:pt x="1118552" y="42672"/>
                </a:lnTo>
                <a:lnTo>
                  <a:pt x="1117219" y="43053"/>
                </a:lnTo>
                <a:lnTo>
                  <a:pt x="1115695" y="44196"/>
                </a:lnTo>
                <a:lnTo>
                  <a:pt x="1114044" y="45212"/>
                </a:lnTo>
                <a:lnTo>
                  <a:pt x="1113739" y="45593"/>
                </a:lnTo>
                <a:lnTo>
                  <a:pt x="1112977" y="46609"/>
                </a:lnTo>
                <a:lnTo>
                  <a:pt x="1112520" y="48006"/>
                </a:lnTo>
                <a:lnTo>
                  <a:pt x="1096899" y="93091"/>
                </a:lnTo>
                <a:lnTo>
                  <a:pt x="1095311" y="97536"/>
                </a:lnTo>
                <a:lnTo>
                  <a:pt x="1094486" y="99568"/>
                </a:lnTo>
                <a:lnTo>
                  <a:pt x="1093673" y="101727"/>
                </a:lnTo>
                <a:lnTo>
                  <a:pt x="1092962" y="103759"/>
                </a:lnTo>
                <a:lnTo>
                  <a:pt x="1092327" y="105918"/>
                </a:lnTo>
                <a:lnTo>
                  <a:pt x="1091311" y="101727"/>
                </a:lnTo>
                <a:lnTo>
                  <a:pt x="1089914" y="97536"/>
                </a:lnTo>
                <a:lnTo>
                  <a:pt x="1088390" y="93345"/>
                </a:lnTo>
                <a:lnTo>
                  <a:pt x="1071118" y="48006"/>
                </a:lnTo>
                <a:lnTo>
                  <a:pt x="1070610" y="46609"/>
                </a:lnTo>
                <a:lnTo>
                  <a:pt x="1069594" y="45212"/>
                </a:lnTo>
                <a:lnTo>
                  <a:pt x="1069111" y="44831"/>
                </a:lnTo>
                <a:lnTo>
                  <a:pt x="1067701" y="43688"/>
                </a:lnTo>
                <a:lnTo>
                  <a:pt x="1066927" y="43053"/>
                </a:lnTo>
                <a:lnTo>
                  <a:pt x="1065491" y="42672"/>
                </a:lnTo>
                <a:lnTo>
                  <a:pt x="1034859" y="42672"/>
                </a:lnTo>
                <a:lnTo>
                  <a:pt x="1035304" y="43573"/>
                </a:lnTo>
                <a:lnTo>
                  <a:pt x="1033856" y="42672"/>
                </a:lnTo>
                <a:lnTo>
                  <a:pt x="1031113" y="41148"/>
                </a:lnTo>
                <a:lnTo>
                  <a:pt x="1027938" y="40513"/>
                </a:lnTo>
                <a:lnTo>
                  <a:pt x="1018667" y="40513"/>
                </a:lnTo>
                <a:lnTo>
                  <a:pt x="995680" y="59817"/>
                </a:lnTo>
                <a:lnTo>
                  <a:pt x="994029" y="49911"/>
                </a:lnTo>
                <a:lnTo>
                  <a:pt x="993876" y="49149"/>
                </a:lnTo>
                <a:lnTo>
                  <a:pt x="993775" y="48641"/>
                </a:lnTo>
                <a:lnTo>
                  <a:pt x="993394" y="47498"/>
                </a:lnTo>
                <a:lnTo>
                  <a:pt x="993051" y="46609"/>
                </a:lnTo>
                <a:lnTo>
                  <a:pt x="992682" y="45720"/>
                </a:lnTo>
                <a:lnTo>
                  <a:pt x="992632" y="45593"/>
                </a:lnTo>
                <a:lnTo>
                  <a:pt x="992124" y="44831"/>
                </a:lnTo>
                <a:lnTo>
                  <a:pt x="990727" y="43688"/>
                </a:lnTo>
                <a:lnTo>
                  <a:pt x="989838" y="43307"/>
                </a:lnTo>
                <a:lnTo>
                  <a:pt x="989152" y="43053"/>
                </a:lnTo>
                <a:lnTo>
                  <a:pt x="989393" y="43053"/>
                </a:lnTo>
                <a:lnTo>
                  <a:pt x="987679" y="42672"/>
                </a:lnTo>
                <a:lnTo>
                  <a:pt x="966216" y="42672"/>
                </a:lnTo>
                <a:lnTo>
                  <a:pt x="966216" y="147701"/>
                </a:lnTo>
                <a:lnTo>
                  <a:pt x="997585" y="147701"/>
                </a:lnTo>
                <a:lnTo>
                  <a:pt x="997585" y="83185"/>
                </a:lnTo>
                <a:lnTo>
                  <a:pt x="1002411" y="74422"/>
                </a:lnTo>
                <a:lnTo>
                  <a:pt x="1008697" y="70104"/>
                </a:lnTo>
                <a:lnTo>
                  <a:pt x="1020432" y="70104"/>
                </a:lnTo>
                <a:lnTo>
                  <a:pt x="1021461" y="70231"/>
                </a:lnTo>
                <a:lnTo>
                  <a:pt x="1025906" y="70993"/>
                </a:lnTo>
                <a:lnTo>
                  <a:pt x="1028446" y="70993"/>
                </a:lnTo>
                <a:lnTo>
                  <a:pt x="1033145" y="59817"/>
                </a:lnTo>
                <a:lnTo>
                  <a:pt x="1035646" y="45720"/>
                </a:lnTo>
                <a:lnTo>
                  <a:pt x="1035735" y="45212"/>
                </a:lnTo>
                <a:lnTo>
                  <a:pt x="1035812" y="44831"/>
                </a:lnTo>
                <a:lnTo>
                  <a:pt x="1076833" y="138430"/>
                </a:lnTo>
                <a:lnTo>
                  <a:pt x="1056513" y="180975"/>
                </a:lnTo>
                <a:lnTo>
                  <a:pt x="1083056" y="180975"/>
                </a:lnTo>
                <a:lnTo>
                  <a:pt x="1089914" y="174879"/>
                </a:lnTo>
                <a:lnTo>
                  <a:pt x="1119225" y="105918"/>
                </a:lnTo>
                <a:lnTo>
                  <a:pt x="1146111" y="42672"/>
                </a:lnTo>
                <a:close/>
              </a:path>
            </a:pathLst>
          </a:custGeom>
          <a:solidFill>
            <a:srgbClr val="3939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76373" y="1772538"/>
            <a:ext cx="607949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Overhydration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status</a:t>
            </a:r>
            <a:r>
              <a:rPr dirty="0" sz="1400" spc="-7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by</a:t>
            </a:r>
            <a:r>
              <a:rPr dirty="0" sz="1400" spc="-7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9F112C"/>
                </a:solidFill>
                <a:latin typeface="Tahoma"/>
                <a:cs typeface="Tahoma"/>
              </a:rPr>
              <a:t>ECW</a:t>
            </a:r>
            <a:r>
              <a:rPr dirty="0" sz="1400" spc="-9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ratio</a:t>
            </a:r>
            <a:r>
              <a:rPr dirty="0" sz="1400" spc="-6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on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postoperative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day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3</a:t>
            </a:r>
            <a:r>
              <a:rPr dirty="0" sz="1400" spc="-6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needs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careful</a:t>
            </a:r>
            <a:r>
              <a:rPr dirty="0" sz="1400" spc="-6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monitoring</a:t>
            </a:r>
            <a:r>
              <a:rPr dirty="0" sz="1400" spc="-7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and</a:t>
            </a:r>
            <a:r>
              <a:rPr dirty="0" sz="1400" spc="-6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appropriate</a:t>
            </a:r>
            <a:r>
              <a:rPr dirty="0" sz="1400" spc="-7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interventions</a:t>
            </a:r>
            <a:r>
              <a:rPr dirty="0" sz="1400" spc="-6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to</a:t>
            </a:r>
            <a:r>
              <a:rPr dirty="0" sz="14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improve</a:t>
            </a:r>
            <a:r>
              <a:rPr dirty="0" sz="14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clinical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outcomes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21116" y="1803780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0065" y="0"/>
                </a:moveTo>
                <a:lnTo>
                  <a:pt x="15748" y="0"/>
                </a:lnTo>
                <a:lnTo>
                  <a:pt x="11429" y="0"/>
                </a:lnTo>
                <a:lnTo>
                  <a:pt x="7747" y="1524"/>
                </a:lnTo>
                <a:lnTo>
                  <a:pt x="1650" y="7620"/>
                </a:lnTo>
                <a:lnTo>
                  <a:pt x="0" y="11303"/>
                </a:lnTo>
                <a:lnTo>
                  <a:pt x="0" y="19939"/>
                </a:lnTo>
                <a:lnTo>
                  <a:pt x="1650" y="23622"/>
                </a:lnTo>
                <a:lnTo>
                  <a:pt x="7747" y="29718"/>
                </a:lnTo>
                <a:lnTo>
                  <a:pt x="11429" y="31369"/>
                </a:lnTo>
                <a:lnTo>
                  <a:pt x="20065" y="31369"/>
                </a:lnTo>
                <a:lnTo>
                  <a:pt x="23749" y="29718"/>
                </a:lnTo>
                <a:lnTo>
                  <a:pt x="29844" y="23622"/>
                </a:lnTo>
                <a:lnTo>
                  <a:pt x="31368" y="19939"/>
                </a:lnTo>
                <a:lnTo>
                  <a:pt x="31368" y="11303"/>
                </a:lnTo>
                <a:lnTo>
                  <a:pt x="29844" y="7620"/>
                </a:lnTo>
                <a:lnTo>
                  <a:pt x="23749" y="1524"/>
                </a:lnTo>
                <a:lnTo>
                  <a:pt x="20065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8523478" y="1770633"/>
            <a:ext cx="2818765" cy="268605"/>
            <a:chOff x="8523478" y="1770633"/>
            <a:chExt cx="2818765" cy="26860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24367" y="1770633"/>
              <a:ext cx="2817749" cy="1148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23478" y="1923033"/>
              <a:ext cx="2719087" cy="116204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8421116" y="2172589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0065" y="0"/>
                </a:moveTo>
                <a:lnTo>
                  <a:pt x="15748" y="0"/>
                </a:lnTo>
                <a:lnTo>
                  <a:pt x="11429" y="0"/>
                </a:lnTo>
                <a:lnTo>
                  <a:pt x="7747" y="1524"/>
                </a:lnTo>
                <a:lnTo>
                  <a:pt x="1650" y="7620"/>
                </a:lnTo>
                <a:lnTo>
                  <a:pt x="0" y="11302"/>
                </a:lnTo>
                <a:lnTo>
                  <a:pt x="0" y="19938"/>
                </a:lnTo>
                <a:lnTo>
                  <a:pt x="1650" y="23622"/>
                </a:lnTo>
                <a:lnTo>
                  <a:pt x="7747" y="29718"/>
                </a:lnTo>
                <a:lnTo>
                  <a:pt x="11429" y="31369"/>
                </a:lnTo>
                <a:lnTo>
                  <a:pt x="20065" y="31369"/>
                </a:lnTo>
                <a:lnTo>
                  <a:pt x="23749" y="29718"/>
                </a:lnTo>
                <a:lnTo>
                  <a:pt x="29844" y="23622"/>
                </a:lnTo>
                <a:lnTo>
                  <a:pt x="31368" y="19938"/>
                </a:lnTo>
                <a:lnTo>
                  <a:pt x="31368" y="11302"/>
                </a:lnTo>
                <a:lnTo>
                  <a:pt x="29844" y="7620"/>
                </a:lnTo>
                <a:lnTo>
                  <a:pt x="23749" y="1524"/>
                </a:lnTo>
                <a:lnTo>
                  <a:pt x="20065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532748" y="2139442"/>
            <a:ext cx="2265933" cy="26720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93493" y="2806439"/>
            <a:ext cx="4183084" cy="3141119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275832" y="2671572"/>
            <a:ext cx="2350135" cy="2845435"/>
            <a:chOff x="6275832" y="2671572"/>
            <a:chExt cx="2350135" cy="2845435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75832" y="4951476"/>
              <a:ext cx="2350008" cy="56540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53556" y="2671572"/>
              <a:ext cx="2040636" cy="232257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57210" y="5191505"/>
              <a:ext cx="413384" cy="149860"/>
            </a:xfrm>
            <a:custGeom>
              <a:avLst/>
              <a:gdLst/>
              <a:ahLst/>
              <a:cxnLst/>
              <a:rect l="l" t="t" r="r" b="b"/>
              <a:pathLst>
                <a:path w="413384" h="149860">
                  <a:moveTo>
                    <a:pt x="0" y="149352"/>
                  </a:moveTo>
                  <a:lnTo>
                    <a:pt x="413003" y="149352"/>
                  </a:lnTo>
                  <a:lnTo>
                    <a:pt x="413003" y="0"/>
                  </a:lnTo>
                  <a:lnTo>
                    <a:pt x="0" y="0"/>
                  </a:lnTo>
                  <a:lnTo>
                    <a:pt x="0" y="149352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50610" y="2721030"/>
            <a:ext cx="1941773" cy="2211050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8711183" y="5020055"/>
            <a:ext cx="2235835" cy="463550"/>
            <a:chOff x="8711183" y="5020055"/>
            <a:chExt cx="2235835" cy="463550"/>
          </a:xfrm>
        </p:grpSpPr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11183" y="5020055"/>
              <a:ext cx="2235707" cy="46329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537697" y="5197601"/>
              <a:ext cx="381000" cy="143510"/>
            </a:xfrm>
            <a:custGeom>
              <a:avLst/>
              <a:gdLst/>
              <a:ahLst/>
              <a:cxnLst/>
              <a:rect l="l" t="t" r="r" b="b"/>
              <a:pathLst>
                <a:path w="381000" h="143510">
                  <a:moveTo>
                    <a:pt x="0" y="143256"/>
                  </a:moveTo>
                  <a:lnTo>
                    <a:pt x="381000" y="143256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143256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450787" y="5569125"/>
            <a:ext cx="4411065" cy="32325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0584" y="1051686"/>
            <a:ext cx="924135" cy="1494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53058" y="1421637"/>
            <a:ext cx="1146175" cy="184150"/>
          </a:xfrm>
          <a:custGeom>
            <a:avLst/>
            <a:gdLst/>
            <a:ahLst/>
            <a:cxnLst/>
            <a:rect l="l" t="t" r="r" b="b"/>
            <a:pathLst>
              <a:path w="1146175" h="184150">
                <a:moveTo>
                  <a:pt x="111506" y="41402"/>
                </a:moveTo>
                <a:lnTo>
                  <a:pt x="110363" y="35052"/>
                </a:lnTo>
                <a:lnTo>
                  <a:pt x="106680" y="25654"/>
                </a:lnTo>
                <a:lnTo>
                  <a:pt x="105791" y="23368"/>
                </a:lnTo>
                <a:lnTo>
                  <a:pt x="77216" y="3238"/>
                </a:lnTo>
                <a:lnTo>
                  <a:pt x="77216" y="44831"/>
                </a:lnTo>
                <a:lnTo>
                  <a:pt x="77216" y="55880"/>
                </a:lnTo>
                <a:lnTo>
                  <a:pt x="75311" y="61849"/>
                </a:lnTo>
                <a:lnTo>
                  <a:pt x="71374" y="66040"/>
                </a:lnTo>
                <a:lnTo>
                  <a:pt x="67437" y="70358"/>
                </a:lnTo>
                <a:lnTo>
                  <a:pt x="60960" y="72517"/>
                </a:lnTo>
                <a:lnTo>
                  <a:pt x="34290" y="72517"/>
                </a:lnTo>
                <a:lnTo>
                  <a:pt x="34290" y="25654"/>
                </a:lnTo>
                <a:lnTo>
                  <a:pt x="56388" y="25654"/>
                </a:lnTo>
                <a:lnTo>
                  <a:pt x="60198" y="26162"/>
                </a:lnTo>
                <a:lnTo>
                  <a:pt x="63246" y="27305"/>
                </a:lnTo>
                <a:lnTo>
                  <a:pt x="66421" y="28321"/>
                </a:lnTo>
                <a:lnTo>
                  <a:pt x="77216" y="44831"/>
                </a:lnTo>
                <a:lnTo>
                  <a:pt x="77216" y="3238"/>
                </a:lnTo>
                <a:lnTo>
                  <a:pt x="73025" y="2095"/>
                </a:lnTo>
                <a:lnTo>
                  <a:pt x="66611" y="939"/>
                </a:lnTo>
                <a:lnTo>
                  <a:pt x="59613" y="241"/>
                </a:lnTo>
                <a:lnTo>
                  <a:pt x="52070" y="0"/>
                </a:lnTo>
                <a:lnTo>
                  <a:pt x="0" y="0"/>
                </a:lnTo>
                <a:lnTo>
                  <a:pt x="0" y="147701"/>
                </a:lnTo>
                <a:lnTo>
                  <a:pt x="34290" y="147701"/>
                </a:lnTo>
                <a:lnTo>
                  <a:pt x="34290" y="98298"/>
                </a:lnTo>
                <a:lnTo>
                  <a:pt x="52070" y="98298"/>
                </a:lnTo>
                <a:lnTo>
                  <a:pt x="92202" y="88773"/>
                </a:lnTo>
                <a:lnTo>
                  <a:pt x="106362" y="72517"/>
                </a:lnTo>
                <a:lnTo>
                  <a:pt x="107950" y="68453"/>
                </a:lnTo>
                <a:lnTo>
                  <a:pt x="110363" y="62357"/>
                </a:lnTo>
                <a:lnTo>
                  <a:pt x="111455" y="55880"/>
                </a:lnTo>
                <a:lnTo>
                  <a:pt x="111506" y="41402"/>
                </a:lnTo>
                <a:close/>
              </a:path>
              <a:path w="1146175" h="184150">
                <a:moveTo>
                  <a:pt x="226822" y="86614"/>
                </a:moveTo>
                <a:lnTo>
                  <a:pt x="225552" y="79121"/>
                </a:lnTo>
                <a:lnTo>
                  <a:pt x="222885" y="72390"/>
                </a:lnTo>
                <a:lnTo>
                  <a:pt x="220345" y="65786"/>
                </a:lnTo>
                <a:lnTo>
                  <a:pt x="219354" y="64262"/>
                </a:lnTo>
                <a:lnTo>
                  <a:pt x="216662" y="60071"/>
                </a:lnTo>
                <a:lnTo>
                  <a:pt x="211963" y="55499"/>
                </a:lnTo>
                <a:lnTo>
                  <a:pt x="207264" y="50800"/>
                </a:lnTo>
                <a:lnTo>
                  <a:pt x="201676" y="47244"/>
                </a:lnTo>
                <a:lnTo>
                  <a:pt x="194437" y="44437"/>
                </a:lnTo>
                <a:lnTo>
                  <a:pt x="194437" y="84709"/>
                </a:lnTo>
                <a:lnTo>
                  <a:pt x="194437" y="105410"/>
                </a:lnTo>
                <a:lnTo>
                  <a:pt x="192659" y="113284"/>
                </a:lnTo>
                <a:lnTo>
                  <a:pt x="189230" y="118364"/>
                </a:lnTo>
                <a:lnTo>
                  <a:pt x="185928" y="123444"/>
                </a:lnTo>
                <a:lnTo>
                  <a:pt x="180594" y="125984"/>
                </a:lnTo>
                <a:lnTo>
                  <a:pt x="165862" y="125984"/>
                </a:lnTo>
                <a:lnTo>
                  <a:pt x="160401" y="123444"/>
                </a:lnTo>
                <a:lnTo>
                  <a:pt x="153543" y="113284"/>
                </a:lnTo>
                <a:lnTo>
                  <a:pt x="151892" y="105410"/>
                </a:lnTo>
                <a:lnTo>
                  <a:pt x="151892" y="84709"/>
                </a:lnTo>
                <a:lnTo>
                  <a:pt x="153543" y="76962"/>
                </a:lnTo>
                <a:lnTo>
                  <a:pt x="160401" y="66802"/>
                </a:lnTo>
                <a:lnTo>
                  <a:pt x="165862" y="64262"/>
                </a:lnTo>
                <a:lnTo>
                  <a:pt x="180594" y="64262"/>
                </a:lnTo>
                <a:lnTo>
                  <a:pt x="185928" y="66802"/>
                </a:lnTo>
                <a:lnTo>
                  <a:pt x="189230" y="71882"/>
                </a:lnTo>
                <a:lnTo>
                  <a:pt x="192659" y="76962"/>
                </a:lnTo>
                <a:lnTo>
                  <a:pt x="194437" y="84709"/>
                </a:lnTo>
                <a:lnTo>
                  <a:pt x="194437" y="44437"/>
                </a:lnTo>
                <a:lnTo>
                  <a:pt x="188595" y="42164"/>
                </a:lnTo>
                <a:lnTo>
                  <a:pt x="181356" y="40894"/>
                </a:lnTo>
                <a:lnTo>
                  <a:pt x="165227" y="40894"/>
                </a:lnTo>
                <a:lnTo>
                  <a:pt x="157988" y="42164"/>
                </a:lnTo>
                <a:lnTo>
                  <a:pt x="144780" y="47244"/>
                </a:lnTo>
                <a:lnTo>
                  <a:pt x="139065" y="50800"/>
                </a:lnTo>
                <a:lnTo>
                  <a:pt x="134366" y="55499"/>
                </a:lnTo>
                <a:lnTo>
                  <a:pt x="129540" y="60071"/>
                </a:lnTo>
                <a:lnTo>
                  <a:pt x="125857" y="65786"/>
                </a:lnTo>
                <a:lnTo>
                  <a:pt x="123317" y="72390"/>
                </a:lnTo>
                <a:lnTo>
                  <a:pt x="120650" y="79121"/>
                </a:lnTo>
                <a:lnTo>
                  <a:pt x="119380" y="86614"/>
                </a:lnTo>
                <a:lnTo>
                  <a:pt x="119380" y="103251"/>
                </a:lnTo>
                <a:lnTo>
                  <a:pt x="120650" y="110744"/>
                </a:lnTo>
                <a:lnTo>
                  <a:pt x="123317" y="117475"/>
                </a:lnTo>
                <a:lnTo>
                  <a:pt x="125857" y="124206"/>
                </a:lnTo>
                <a:lnTo>
                  <a:pt x="129540" y="129921"/>
                </a:lnTo>
                <a:lnTo>
                  <a:pt x="134366" y="134620"/>
                </a:lnTo>
                <a:lnTo>
                  <a:pt x="139065" y="139319"/>
                </a:lnTo>
                <a:lnTo>
                  <a:pt x="144780" y="143002"/>
                </a:lnTo>
                <a:lnTo>
                  <a:pt x="157988" y="148082"/>
                </a:lnTo>
                <a:lnTo>
                  <a:pt x="165227" y="149352"/>
                </a:lnTo>
                <a:lnTo>
                  <a:pt x="181356" y="149352"/>
                </a:lnTo>
                <a:lnTo>
                  <a:pt x="216662" y="129921"/>
                </a:lnTo>
                <a:lnTo>
                  <a:pt x="219189" y="125984"/>
                </a:lnTo>
                <a:lnTo>
                  <a:pt x="220345" y="124206"/>
                </a:lnTo>
                <a:lnTo>
                  <a:pt x="222885" y="117475"/>
                </a:lnTo>
                <a:lnTo>
                  <a:pt x="225552" y="110744"/>
                </a:lnTo>
                <a:lnTo>
                  <a:pt x="226822" y="103251"/>
                </a:lnTo>
                <a:lnTo>
                  <a:pt x="226822" y="86614"/>
                </a:lnTo>
                <a:close/>
              </a:path>
              <a:path w="1146175" h="184150">
                <a:moveTo>
                  <a:pt x="312801" y="109347"/>
                </a:moveTo>
                <a:lnTo>
                  <a:pt x="305320" y="94996"/>
                </a:lnTo>
                <a:lnTo>
                  <a:pt x="302882" y="92710"/>
                </a:lnTo>
                <a:lnTo>
                  <a:pt x="285356" y="84582"/>
                </a:lnTo>
                <a:lnTo>
                  <a:pt x="282448" y="83566"/>
                </a:lnTo>
                <a:lnTo>
                  <a:pt x="276606" y="81788"/>
                </a:lnTo>
                <a:lnTo>
                  <a:pt x="274066" y="80899"/>
                </a:lnTo>
                <a:lnTo>
                  <a:pt x="271653" y="79883"/>
                </a:lnTo>
                <a:lnTo>
                  <a:pt x="269367" y="78994"/>
                </a:lnTo>
                <a:lnTo>
                  <a:pt x="267589" y="77851"/>
                </a:lnTo>
                <a:lnTo>
                  <a:pt x="266192" y="76581"/>
                </a:lnTo>
                <a:lnTo>
                  <a:pt x="264795" y="75184"/>
                </a:lnTo>
                <a:lnTo>
                  <a:pt x="264160" y="73660"/>
                </a:lnTo>
                <a:lnTo>
                  <a:pt x="264160" y="69088"/>
                </a:lnTo>
                <a:lnTo>
                  <a:pt x="264452" y="68326"/>
                </a:lnTo>
                <a:lnTo>
                  <a:pt x="265176" y="66802"/>
                </a:lnTo>
                <a:lnTo>
                  <a:pt x="269494" y="63754"/>
                </a:lnTo>
                <a:lnTo>
                  <a:pt x="272542" y="62992"/>
                </a:lnTo>
                <a:lnTo>
                  <a:pt x="279273" y="62992"/>
                </a:lnTo>
                <a:lnTo>
                  <a:pt x="281686" y="63373"/>
                </a:lnTo>
                <a:lnTo>
                  <a:pt x="286004" y="64643"/>
                </a:lnTo>
                <a:lnTo>
                  <a:pt x="288036" y="65278"/>
                </a:lnTo>
                <a:lnTo>
                  <a:pt x="289687" y="66040"/>
                </a:lnTo>
                <a:lnTo>
                  <a:pt x="291465" y="66802"/>
                </a:lnTo>
                <a:lnTo>
                  <a:pt x="292989" y="67564"/>
                </a:lnTo>
                <a:lnTo>
                  <a:pt x="296633" y="69088"/>
                </a:lnTo>
                <a:lnTo>
                  <a:pt x="300990" y="69088"/>
                </a:lnTo>
                <a:lnTo>
                  <a:pt x="302514" y="68326"/>
                </a:lnTo>
                <a:lnTo>
                  <a:pt x="303403" y="67818"/>
                </a:lnTo>
                <a:lnTo>
                  <a:pt x="304292" y="66802"/>
                </a:lnTo>
                <a:lnTo>
                  <a:pt x="305054" y="65532"/>
                </a:lnTo>
                <a:lnTo>
                  <a:pt x="306679" y="62992"/>
                </a:lnTo>
                <a:lnTo>
                  <a:pt x="312166" y="54483"/>
                </a:lnTo>
                <a:lnTo>
                  <a:pt x="310134" y="52578"/>
                </a:lnTo>
                <a:lnTo>
                  <a:pt x="308127" y="50927"/>
                </a:lnTo>
                <a:lnTo>
                  <a:pt x="305308" y="49149"/>
                </a:lnTo>
                <a:lnTo>
                  <a:pt x="302768" y="47498"/>
                </a:lnTo>
                <a:lnTo>
                  <a:pt x="299974" y="45974"/>
                </a:lnTo>
                <a:lnTo>
                  <a:pt x="296799" y="44831"/>
                </a:lnTo>
                <a:lnTo>
                  <a:pt x="294043" y="43688"/>
                </a:lnTo>
                <a:lnTo>
                  <a:pt x="294220" y="43688"/>
                </a:lnTo>
                <a:lnTo>
                  <a:pt x="290449" y="42672"/>
                </a:lnTo>
                <a:lnTo>
                  <a:pt x="286893" y="41910"/>
                </a:lnTo>
                <a:lnTo>
                  <a:pt x="283337" y="41275"/>
                </a:lnTo>
                <a:lnTo>
                  <a:pt x="279654" y="40894"/>
                </a:lnTo>
                <a:lnTo>
                  <a:pt x="268859" y="40894"/>
                </a:lnTo>
                <a:lnTo>
                  <a:pt x="262026" y="41910"/>
                </a:lnTo>
                <a:lnTo>
                  <a:pt x="262534" y="41910"/>
                </a:lnTo>
                <a:lnTo>
                  <a:pt x="257683" y="43688"/>
                </a:lnTo>
                <a:lnTo>
                  <a:pt x="234315" y="69723"/>
                </a:lnTo>
                <a:lnTo>
                  <a:pt x="234315" y="78994"/>
                </a:lnTo>
                <a:lnTo>
                  <a:pt x="242062" y="94996"/>
                </a:lnTo>
                <a:lnTo>
                  <a:pt x="244348" y="97409"/>
                </a:lnTo>
                <a:lnTo>
                  <a:pt x="246888" y="99314"/>
                </a:lnTo>
                <a:lnTo>
                  <a:pt x="249936" y="100838"/>
                </a:lnTo>
                <a:lnTo>
                  <a:pt x="252857" y="102362"/>
                </a:lnTo>
                <a:lnTo>
                  <a:pt x="255778" y="103632"/>
                </a:lnTo>
                <a:lnTo>
                  <a:pt x="258826" y="104648"/>
                </a:lnTo>
                <a:lnTo>
                  <a:pt x="261874" y="105791"/>
                </a:lnTo>
                <a:lnTo>
                  <a:pt x="264922" y="106680"/>
                </a:lnTo>
                <a:lnTo>
                  <a:pt x="270764" y="108458"/>
                </a:lnTo>
                <a:lnTo>
                  <a:pt x="273431" y="109347"/>
                </a:lnTo>
                <a:lnTo>
                  <a:pt x="275717" y="110363"/>
                </a:lnTo>
                <a:lnTo>
                  <a:pt x="278003" y="111252"/>
                </a:lnTo>
                <a:lnTo>
                  <a:pt x="279781" y="112522"/>
                </a:lnTo>
                <a:lnTo>
                  <a:pt x="282702" y="115189"/>
                </a:lnTo>
                <a:lnTo>
                  <a:pt x="283337" y="116840"/>
                </a:lnTo>
                <a:lnTo>
                  <a:pt x="283273" y="120396"/>
                </a:lnTo>
                <a:lnTo>
                  <a:pt x="283184" y="120777"/>
                </a:lnTo>
                <a:lnTo>
                  <a:pt x="283083" y="121285"/>
                </a:lnTo>
                <a:lnTo>
                  <a:pt x="272656" y="128143"/>
                </a:lnTo>
                <a:lnTo>
                  <a:pt x="266700" y="128143"/>
                </a:lnTo>
                <a:lnTo>
                  <a:pt x="264833" y="127889"/>
                </a:lnTo>
                <a:lnTo>
                  <a:pt x="264223" y="127889"/>
                </a:lnTo>
                <a:lnTo>
                  <a:pt x="261620" y="126873"/>
                </a:lnTo>
                <a:lnTo>
                  <a:pt x="259334" y="126111"/>
                </a:lnTo>
                <a:lnTo>
                  <a:pt x="257429" y="125222"/>
                </a:lnTo>
                <a:lnTo>
                  <a:pt x="255866" y="124333"/>
                </a:lnTo>
                <a:lnTo>
                  <a:pt x="254000" y="123317"/>
                </a:lnTo>
                <a:lnTo>
                  <a:pt x="252476" y="122428"/>
                </a:lnTo>
                <a:lnTo>
                  <a:pt x="250952" y="121666"/>
                </a:lnTo>
                <a:lnTo>
                  <a:pt x="249555" y="120777"/>
                </a:lnTo>
                <a:lnTo>
                  <a:pt x="247904" y="120396"/>
                </a:lnTo>
                <a:lnTo>
                  <a:pt x="244094" y="120396"/>
                </a:lnTo>
                <a:lnTo>
                  <a:pt x="242570" y="120777"/>
                </a:lnTo>
                <a:lnTo>
                  <a:pt x="230886" y="136271"/>
                </a:lnTo>
                <a:lnTo>
                  <a:pt x="232918" y="138176"/>
                </a:lnTo>
                <a:lnTo>
                  <a:pt x="265049" y="149352"/>
                </a:lnTo>
                <a:lnTo>
                  <a:pt x="275717" y="149352"/>
                </a:lnTo>
                <a:lnTo>
                  <a:pt x="309765" y="128143"/>
                </a:lnTo>
                <a:lnTo>
                  <a:pt x="311785" y="123571"/>
                </a:lnTo>
                <a:lnTo>
                  <a:pt x="312801" y="118745"/>
                </a:lnTo>
                <a:lnTo>
                  <a:pt x="312801" y="109347"/>
                </a:lnTo>
                <a:close/>
              </a:path>
              <a:path w="1146175" h="184150">
                <a:moveTo>
                  <a:pt x="393954" y="140208"/>
                </a:moveTo>
                <a:lnTo>
                  <a:pt x="384429" y="125222"/>
                </a:lnTo>
                <a:lnTo>
                  <a:pt x="384149" y="124841"/>
                </a:lnTo>
                <a:lnTo>
                  <a:pt x="383362" y="123698"/>
                </a:lnTo>
                <a:lnTo>
                  <a:pt x="382638" y="123190"/>
                </a:lnTo>
                <a:lnTo>
                  <a:pt x="381584" y="122555"/>
                </a:lnTo>
                <a:lnTo>
                  <a:pt x="379349" y="122555"/>
                </a:lnTo>
                <a:lnTo>
                  <a:pt x="378079" y="123190"/>
                </a:lnTo>
                <a:lnTo>
                  <a:pt x="377901" y="123190"/>
                </a:lnTo>
                <a:lnTo>
                  <a:pt x="377228" y="123698"/>
                </a:lnTo>
                <a:lnTo>
                  <a:pt x="376936" y="123698"/>
                </a:lnTo>
                <a:lnTo>
                  <a:pt x="375412" y="124460"/>
                </a:lnTo>
                <a:lnTo>
                  <a:pt x="374904" y="124460"/>
                </a:lnTo>
                <a:lnTo>
                  <a:pt x="373761" y="124841"/>
                </a:lnTo>
                <a:lnTo>
                  <a:pt x="369824" y="124841"/>
                </a:lnTo>
                <a:lnTo>
                  <a:pt x="368173" y="124079"/>
                </a:lnTo>
                <a:lnTo>
                  <a:pt x="365760" y="120904"/>
                </a:lnTo>
                <a:lnTo>
                  <a:pt x="365125" y="118872"/>
                </a:lnTo>
                <a:lnTo>
                  <a:pt x="365125" y="64262"/>
                </a:lnTo>
                <a:lnTo>
                  <a:pt x="390652" y="64262"/>
                </a:lnTo>
                <a:lnTo>
                  <a:pt x="390652" y="42799"/>
                </a:lnTo>
                <a:lnTo>
                  <a:pt x="365125" y="42799"/>
                </a:lnTo>
                <a:lnTo>
                  <a:pt x="365125" y="12065"/>
                </a:lnTo>
                <a:lnTo>
                  <a:pt x="344932" y="12065"/>
                </a:lnTo>
                <a:lnTo>
                  <a:pt x="342646" y="13716"/>
                </a:lnTo>
                <a:lnTo>
                  <a:pt x="335661" y="42545"/>
                </a:lnTo>
                <a:lnTo>
                  <a:pt x="318897" y="45847"/>
                </a:lnTo>
                <a:lnTo>
                  <a:pt x="318897" y="60071"/>
                </a:lnTo>
                <a:lnTo>
                  <a:pt x="319532" y="61595"/>
                </a:lnTo>
                <a:lnTo>
                  <a:pt x="320675" y="62738"/>
                </a:lnTo>
                <a:lnTo>
                  <a:pt x="321818" y="63754"/>
                </a:lnTo>
                <a:lnTo>
                  <a:pt x="323215" y="64262"/>
                </a:lnTo>
                <a:lnTo>
                  <a:pt x="333756" y="64262"/>
                </a:lnTo>
                <a:lnTo>
                  <a:pt x="333819" y="123698"/>
                </a:lnTo>
                <a:lnTo>
                  <a:pt x="334391" y="127508"/>
                </a:lnTo>
                <a:lnTo>
                  <a:pt x="335788" y="131191"/>
                </a:lnTo>
                <a:lnTo>
                  <a:pt x="337185" y="135001"/>
                </a:lnTo>
                <a:lnTo>
                  <a:pt x="339090" y="138303"/>
                </a:lnTo>
                <a:lnTo>
                  <a:pt x="341757" y="140970"/>
                </a:lnTo>
                <a:lnTo>
                  <a:pt x="344297" y="143637"/>
                </a:lnTo>
                <a:lnTo>
                  <a:pt x="347472" y="145669"/>
                </a:lnTo>
                <a:lnTo>
                  <a:pt x="351282" y="147066"/>
                </a:lnTo>
                <a:lnTo>
                  <a:pt x="355092" y="148590"/>
                </a:lnTo>
                <a:lnTo>
                  <a:pt x="359537" y="149352"/>
                </a:lnTo>
                <a:lnTo>
                  <a:pt x="369951" y="149352"/>
                </a:lnTo>
                <a:lnTo>
                  <a:pt x="375158" y="148590"/>
                </a:lnTo>
                <a:lnTo>
                  <a:pt x="385318" y="145542"/>
                </a:lnTo>
                <a:lnTo>
                  <a:pt x="389890" y="143256"/>
                </a:lnTo>
                <a:lnTo>
                  <a:pt x="393954" y="140208"/>
                </a:lnTo>
                <a:close/>
              </a:path>
              <a:path w="1146175" h="184150">
                <a:moveTo>
                  <a:pt x="458076" y="73342"/>
                </a:moveTo>
                <a:lnTo>
                  <a:pt x="403352" y="73342"/>
                </a:lnTo>
                <a:lnTo>
                  <a:pt x="403352" y="98679"/>
                </a:lnTo>
                <a:lnTo>
                  <a:pt x="458076" y="98679"/>
                </a:lnTo>
                <a:lnTo>
                  <a:pt x="458076" y="73342"/>
                </a:lnTo>
                <a:close/>
              </a:path>
              <a:path w="1146175" h="184150">
                <a:moveTo>
                  <a:pt x="549021" y="109347"/>
                </a:moveTo>
                <a:lnTo>
                  <a:pt x="541540" y="94996"/>
                </a:lnTo>
                <a:lnTo>
                  <a:pt x="539115" y="92710"/>
                </a:lnTo>
                <a:lnTo>
                  <a:pt x="521589" y="84582"/>
                </a:lnTo>
                <a:lnTo>
                  <a:pt x="518668" y="83566"/>
                </a:lnTo>
                <a:lnTo>
                  <a:pt x="512826" y="81788"/>
                </a:lnTo>
                <a:lnTo>
                  <a:pt x="510286" y="80899"/>
                </a:lnTo>
                <a:lnTo>
                  <a:pt x="507873" y="79883"/>
                </a:lnTo>
                <a:lnTo>
                  <a:pt x="505587" y="78994"/>
                </a:lnTo>
                <a:lnTo>
                  <a:pt x="503809" y="77851"/>
                </a:lnTo>
                <a:lnTo>
                  <a:pt x="502412" y="76581"/>
                </a:lnTo>
                <a:lnTo>
                  <a:pt x="501015" y="75184"/>
                </a:lnTo>
                <a:lnTo>
                  <a:pt x="500380" y="73660"/>
                </a:lnTo>
                <a:lnTo>
                  <a:pt x="500380" y="69088"/>
                </a:lnTo>
                <a:lnTo>
                  <a:pt x="500672" y="68326"/>
                </a:lnTo>
                <a:lnTo>
                  <a:pt x="501396" y="66802"/>
                </a:lnTo>
                <a:lnTo>
                  <a:pt x="505714" y="63754"/>
                </a:lnTo>
                <a:lnTo>
                  <a:pt x="508762" y="62992"/>
                </a:lnTo>
                <a:lnTo>
                  <a:pt x="515493" y="62992"/>
                </a:lnTo>
                <a:lnTo>
                  <a:pt x="517906" y="63373"/>
                </a:lnTo>
                <a:lnTo>
                  <a:pt x="522224" y="64643"/>
                </a:lnTo>
                <a:lnTo>
                  <a:pt x="524256" y="65278"/>
                </a:lnTo>
                <a:lnTo>
                  <a:pt x="525907" y="66040"/>
                </a:lnTo>
                <a:lnTo>
                  <a:pt x="527685" y="66802"/>
                </a:lnTo>
                <a:lnTo>
                  <a:pt x="529209" y="67564"/>
                </a:lnTo>
                <a:lnTo>
                  <a:pt x="532853" y="69088"/>
                </a:lnTo>
                <a:lnTo>
                  <a:pt x="537210" y="69088"/>
                </a:lnTo>
                <a:lnTo>
                  <a:pt x="538734" y="68326"/>
                </a:lnTo>
                <a:lnTo>
                  <a:pt x="539623" y="67818"/>
                </a:lnTo>
                <a:lnTo>
                  <a:pt x="540512" y="66802"/>
                </a:lnTo>
                <a:lnTo>
                  <a:pt x="541274" y="65532"/>
                </a:lnTo>
                <a:lnTo>
                  <a:pt x="542899" y="62992"/>
                </a:lnTo>
                <a:lnTo>
                  <a:pt x="548386" y="54483"/>
                </a:lnTo>
                <a:lnTo>
                  <a:pt x="546354" y="52578"/>
                </a:lnTo>
                <a:lnTo>
                  <a:pt x="544347" y="50927"/>
                </a:lnTo>
                <a:lnTo>
                  <a:pt x="541528" y="49149"/>
                </a:lnTo>
                <a:lnTo>
                  <a:pt x="538988" y="47498"/>
                </a:lnTo>
                <a:lnTo>
                  <a:pt x="536194" y="45974"/>
                </a:lnTo>
                <a:lnTo>
                  <a:pt x="533019" y="44831"/>
                </a:lnTo>
                <a:lnTo>
                  <a:pt x="530263" y="43688"/>
                </a:lnTo>
                <a:lnTo>
                  <a:pt x="530440" y="43688"/>
                </a:lnTo>
                <a:lnTo>
                  <a:pt x="526669" y="42672"/>
                </a:lnTo>
                <a:lnTo>
                  <a:pt x="523113" y="41910"/>
                </a:lnTo>
                <a:lnTo>
                  <a:pt x="519557" y="41275"/>
                </a:lnTo>
                <a:lnTo>
                  <a:pt x="515874" y="40894"/>
                </a:lnTo>
                <a:lnTo>
                  <a:pt x="505079" y="40894"/>
                </a:lnTo>
                <a:lnTo>
                  <a:pt x="498246" y="41910"/>
                </a:lnTo>
                <a:lnTo>
                  <a:pt x="498754" y="41910"/>
                </a:lnTo>
                <a:lnTo>
                  <a:pt x="493903" y="43688"/>
                </a:lnTo>
                <a:lnTo>
                  <a:pt x="470535" y="69723"/>
                </a:lnTo>
                <a:lnTo>
                  <a:pt x="470535" y="78994"/>
                </a:lnTo>
                <a:lnTo>
                  <a:pt x="478282" y="94996"/>
                </a:lnTo>
                <a:lnTo>
                  <a:pt x="480568" y="97409"/>
                </a:lnTo>
                <a:lnTo>
                  <a:pt x="483108" y="99314"/>
                </a:lnTo>
                <a:lnTo>
                  <a:pt x="486156" y="100838"/>
                </a:lnTo>
                <a:lnTo>
                  <a:pt x="489077" y="102362"/>
                </a:lnTo>
                <a:lnTo>
                  <a:pt x="491998" y="103632"/>
                </a:lnTo>
                <a:lnTo>
                  <a:pt x="495046" y="104648"/>
                </a:lnTo>
                <a:lnTo>
                  <a:pt x="498094" y="105791"/>
                </a:lnTo>
                <a:lnTo>
                  <a:pt x="501142" y="106680"/>
                </a:lnTo>
                <a:lnTo>
                  <a:pt x="506984" y="108458"/>
                </a:lnTo>
                <a:lnTo>
                  <a:pt x="509651" y="109347"/>
                </a:lnTo>
                <a:lnTo>
                  <a:pt x="511937" y="110363"/>
                </a:lnTo>
                <a:lnTo>
                  <a:pt x="514223" y="111252"/>
                </a:lnTo>
                <a:lnTo>
                  <a:pt x="516001" y="112522"/>
                </a:lnTo>
                <a:lnTo>
                  <a:pt x="518922" y="115189"/>
                </a:lnTo>
                <a:lnTo>
                  <a:pt x="519557" y="116840"/>
                </a:lnTo>
                <a:lnTo>
                  <a:pt x="519493" y="120396"/>
                </a:lnTo>
                <a:lnTo>
                  <a:pt x="519404" y="120777"/>
                </a:lnTo>
                <a:lnTo>
                  <a:pt x="519303" y="121285"/>
                </a:lnTo>
                <a:lnTo>
                  <a:pt x="508889" y="128143"/>
                </a:lnTo>
                <a:lnTo>
                  <a:pt x="502920" y="128143"/>
                </a:lnTo>
                <a:lnTo>
                  <a:pt x="501053" y="127889"/>
                </a:lnTo>
                <a:lnTo>
                  <a:pt x="500443" y="127889"/>
                </a:lnTo>
                <a:lnTo>
                  <a:pt x="497840" y="126873"/>
                </a:lnTo>
                <a:lnTo>
                  <a:pt x="495554" y="126111"/>
                </a:lnTo>
                <a:lnTo>
                  <a:pt x="493649" y="125222"/>
                </a:lnTo>
                <a:lnTo>
                  <a:pt x="492086" y="124333"/>
                </a:lnTo>
                <a:lnTo>
                  <a:pt x="490220" y="123317"/>
                </a:lnTo>
                <a:lnTo>
                  <a:pt x="488696" y="122428"/>
                </a:lnTo>
                <a:lnTo>
                  <a:pt x="487172" y="121666"/>
                </a:lnTo>
                <a:lnTo>
                  <a:pt x="485775" y="120777"/>
                </a:lnTo>
                <a:lnTo>
                  <a:pt x="484124" y="120396"/>
                </a:lnTo>
                <a:lnTo>
                  <a:pt x="480314" y="120396"/>
                </a:lnTo>
                <a:lnTo>
                  <a:pt x="478790" y="120777"/>
                </a:lnTo>
                <a:lnTo>
                  <a:pt x="467106" y="136271"/>
                </a:lnTo>
                <a:lnTo>
                  <a:pt x="469138" y="138176"/>
                </a:lnTo>
                <a:lnTo>
                  <a:pt x="501269" y="149352"/>
                </a:lnTo>
                <a:lnTo>
                  <a:pt x="511937" y="149352"/>
                </a:lnTo>
                <a:lnTo>
                  <a:pt x="545985" y="128143"/>
                </a:lnTo>
                <a:lnTo>
                  <a:pt x="548005" y="123571"/>
                </a:lnTo>
                <a:lnTo>
                  <a:pt x="549021" y="118745"/>
                </a:lnTo>
                <a:lnTo>
                  <a:pt x="549021" y="109347"/>
                </a:lnTo>
                <a:close/>
              </a:path>
              <a:path w="1146175" h="184150">
                <a:moveTo>
                  <a:pt x="655574" y="42545"/>
                </a:moveTo>
                <a:lnTo>
                  <a:pt x="624205" y="42545"/>
                </a:lnTo>
                <a:lnTo>
                  <a:pt x="624205" y="117475"/>
                </a:lnTo>
                <a:lnTo>
                  <a:pt x="621411" y="120015"/>
                </a:lnTo>
                <a:lnTo>
                  <a:pt x="618490" y="122047"/>
                </a:lnTo>
                <a:lnTo>
                  <a:pt x="612394" y="124841"/>
                </a:lnTo>
                <a:lnTo>
                  <a:pt x="609219" y="125603"/>
                </a:lnTo>
                <a:lnTo>
                  <a:pt x="601091" y="125603"/>
                </a:lnTo>
                <a:lnTo>
                  <a:pt x="597662" y="124206"/>
                </a:lnTo>
                <a:lnTo>
                  <a:pt x="592963" y="118491"/>
                </a:lnTo>
                <a:lnTo>
                  <a:pt x="591820" y="114427"/>
                </a:lnTo>
                <a:lnTo>
                  <a:pt x="591820" y="42545"/>
                </a:lnTo>
                <a:lnTo>
                  <a:pt x="560324" y="42545"/>
                </a:lnTo>
                <a:lnTo>
                  <a:pt x="560324" y="115062"/>
                </a:lnTo>
                <a:lnTo>
                  <a:pt x="561022" y="120015"/>
                </a:lnTo>
                <a:lnTo>
                  <a:pt x="590296" y="149352"/>
                </a:lnTo>
                <a:lnTo>
                  <a:pt x="599440" y="149352"/>
                </a:lnTo>
                <a:lnTo>
                  <a:pt x="620268" y="141605"/>
                </a:lnTo>
                <a:lnTo>
                  <a:pt x="622427" y="140081"/>
                </a:lnTo>
                <a:lnTo>
                  <a:pt x="624459" y="138303"/>
                </a:lnTo>
                <a:lnTo>
                  <a:pt x="626491" y="136271"/>
                </a:lnTo>
                <a:lnTo>
                  <a:pt x="628396" y="142367"/>
                </a:lnTo>
                <a:lnTo>
                  <a:pt x="629666" y="145923"/>
                </a:lnTo>
                <a:lnTo>
                  <a:pt x="632206" y="147701"/>
                </a:lnTo>
                <a:lnTo>
                  <a:pt x="655574" y="147701"/>
                </a:lnTo>
                <a:lnTo>
                  <a:pt x="655574" y="136271"/>
                </a:lnTo>
                <a:lnTo>
                  <a:pt x="655574" y="125603"/>
                </a:lnTo>
                <a:lnTo>
                  <a:pt x="655574" y="42545"/>
                </a:lnTo>
                <a:close/>
              </a:path>
              <a:path w="1146175" h="184150">
                <a:moveTo>
                  <a:pt x="746379" y="43942"/>
                </a:moveTo>
                <a:lnTo>
                  <a:pt x="743458" y="41656"/>
                </a:lnTo>
                <a:lnTo>
                  <a:pt x="739648" y="40513"/>
                </a:lnTo>
                <a:lnTo>
                  <a:pt x="729107" y="40513"/>
                </a:lnTo>
                <a:lnTo>
                  <a:pt x="706120" y="59817"/>
                </a:lnTo>
                <a:lnTo>
                  <a:pt x="704469" y="49911"/>
                </a:lnTo>
                <a:lnTo>
                  <a:pt x="704316" y="49149"/>
                </a:lnTo>
                <a:lnTo>
                  <a:pt x="704215" y="48641"/>
                </a:lnTo>
                <a:lnTo>
                  <a:pt x="703834" y="47498"/>
                </a:lnTo>
                <a:lnTo>
                  <a:pt x="703453" y="46482"/>
                </a:lnTo>
                <a:lnTo>
                  <a:pt x="703122" y="45720"/>
                </a:lnTo>
                <a:lnTo>
                  <a:pt x="703072" y="45593"/>
                </a:lnTo>
                <a:lnTo>
                  <a:pt x="698119" y="42672"/>
                </a:lnTo>
                <a:lnTo>
                  <a:pt x="676656" y="42672"/>
                </a:lnTo>
                <a:lnTo>
                  <a:pt x="676656" y="147701"/>
                </a:lnTo>
                <a:lnTo>
                  <a:pt x="708025" y="147701"/>
                </a:lnTo>
                <a:lnTo>
                  <a:pt x="708025" y="83185"/>
                </a:lnTo>
                <a:lnTo>
                  <a:pt x="712851" y="74422"/>
                </a:lnTo>
                <a:lnTo>
                  <a:pt x="719137" y="70104"/>
                </a:lnTo>
                <a:lnTo>
                  <a:pt x="730872" y="70104"/>
                </a:lnTo>
                <a:lnTo>
                  <a:pt x="731901" y="70231"/>
                </a:lnTo>
                <a:lnTo>
                  <a:pt x="736346" y="70993"/>
                </a:lnTo>
                <a:lnTo>
                  <a:pt x="738886" y="70993"/>
                </a:lnTo>
                <a:lnTo>
                  <a:pt x="743572" y="59817"/>
                </a:lnTo>
                <a:lnTo>
                  <a:pt x="746379" y="43942"/>
                </a:lnTo>
                <a:close/>
              </a:path>
              <a:path w="1146175" h="184150">
                <a:moveTo>
                  <a:pt x="849884" y="45847"/>
                </a:moveTo>
                <a:lnTo>
                  <a:pt x="818134" y="45847"/>
                </a:lnTo>
                <a:lnTo>
                  <a:pt x="814705" y="44196"/>
                </a:lnTo>
                <a:lnTo>
                  <a:pt x="811149" y="42926"/>
                </a:lnTo>
                <a:lnTo>
                  <a:pt x="809371" y="42532"/>
                </a:lnTo>
                <a:lnTo>
                  <a:pt x="809371" y="71374"/>
                </a:lnTo>
                <a:lnTo>
                  <a:pt x="809371" y="79756"/>
                </a:lnTo>
                <a:lnTo>
                  <a:pt x="808101" y="83058"/>
                </a:lnTo>
                <a:lnTo>
                  <a:pt x="805815" y="85725"/>
                </a:lnTo>
                <a:lnTo>
                  <a:pt x="803529" y="88265"/>
                </a:lnTo>
                <a:lnTo>
                  <a:pt x="799719" y="89535"/>
                </a:lnTo>
                <a:lnTo>
                  <a:pt x="791972" y="89535"/>
                </a:lnTo>
                <a:lnTo>
                  <a:pt x="789813" y="89281"/>
                </a:lnTo>
                <a:lnTo>
                  <a:pt x="787908" y="88519"/>
                </a:lnTo>
                <a:lnTo>
                  <a:pt x="786003" y="87884"/>
                </a:lnTo>
                <a:lnTo>
                  <a:pt x="784479" y="86868"/>
                </a:lnTo>
                <a:lnTo>
                  <a:pt x="783437" y="85725"/>
                </a:lnTo>
                <a:lnTo>
                  <a:pt x="782066" y="84328"/>
                </a:lnTo>
                <a:lnTo>
                  <a:pt x="781253" y="83058"/>
                </a:lnTo>
                <a:lnTo>
                  <a:pt x="780580" y="81280"/>
                </a:lnTo>
                <a:lnTo>
                  <a:pt x="780224" y="80137"/>
                </a:lnTo>
                <a:lnTo>
                  <a:pt x="780110" y="79756"/>
                </a:lnTo>
                <a:lnTo>
                  <a:pt x="780034" y="79502"/>
                </a:lnTo>
                <a:lnTo>
                  <a:pt x="779780" y="77597"/>
                </a:lnTo>
                <a:lnTo>
                  <a:pt x="779780" y="71374"/>
                </a:lnTo>
                <a:lnTo>
                  <a:pt x="780923" y="68072"/>
                </a:lnTo>
                <a:lnTo>
                  <a:pt x="783209" y="65532"/>
                </a:lnTo>
                <a:lnTo>
                  <a:pt x="785495" y="63246"/>
                </a:lnTo>
                <a:lnTo>
                  <a:pt x="785202" y="63246"/>
                </a:lnTo>
                <a:lnTo>
                  <a:pt x="789305" y="61976"/>
                </a:lnTo>
                <a:lnTo>
                  <a:pt x="799719" y="61976"/>
                </a:lnTo>
                <a:lnTo>
                  <a:pt x="803948" y="63246"/>
                </a:lnTo>
                <a:lnTo>
                  <a:pt x="803643" y="63246"/>
                </a:lnTo>
                <a:lnTo>
                  <a:pt x="805815" y="65532"/>
                </a:lnTo>
                <a:lnTo>
                  <a:pt x="808101" y="68072"/>
                </a:lnTo>
                <a:lnTo>
                  <a:pt x="809371" y="71374"/>
                </a:lnTo>
                <a:lnTo>
                  <a:pt x="809371" y="42532"/>
                </a:lnTo>
                <a:lnTo>
                  <a:pt x="803148" y="41148"/>
                </a:lnTo>
                <a:lnTo>
                  <a:pt x="798957" y="40767"/>
                </a:lnTo>
                <a:lnTo>
                  <a:pt x="788416" y="40767"/>
                </a:lnTo>
                <a:lnTo>
                  <a:pt x="782701" y="41529"/>
                </a:lnTo>
                <a:lnTo>
                  <a:pt x="777367" y="43180"/>
                </a:lnTo>
                <a:lnTo>
                  <a:pt x="772160" y="44704"/>
                </a:lnTo>
                <a:lnTo>
                  <a:pt x="754507" y="60706"/>
                </a:lnTo>
                <a:lnTo>
                  <a:pt x="752221" y="64897"/>
                </a:lnTo>
                <a:lnTo>
                  <a:pt x="751205" y="69596"/>
                </a:lnTo>
                <a:lnTo>
                  <a:pt x="751205" y="81280"/>
                </a:lnTo>
                <a:lnTo>
                  <a:pt x="752729" y="86868"/>
                </a:lnTo>
                <a:lnTo>
                  <a:pt x="755904" y="91567"/>
                </a:lnTo>
                <a:lnTo>
                  <a:pt x="758952" y="96393"/>
                </a:lnTo>
                <a:lnTo>
                  <a:pt x="763270" y="100330"/>
                </a:lnTo>
                <a:lnTo>
                  <a:pt x="768731" y="103124"/>
                </a:lnTo>
                <a:lnTo>
                  <a:pt x="766318" y="104267"/>
                </a:lnTo>
                <a:lnTo>
                  <a:pt x="755650" y="116840"/>
                </a:lnTo>
                <a:lnTo>
                  <a:pt x="755103" y="118237"/>
                </a:lnTo>
                <a:lnTo>
                  <a:pt x="755015" y="118491"/>
                </a:lnTo>
                <a:lnTo>
                  <a:pt x="754913" y="119126"/>
                </a:lnTo>
                <a:lnTo>
                  <a:pt x="754849" y="125730"/>
                </a:lnTo>
                <a:lnTo>
                  <a:pt x="755523" y="128524"/>
                </a:lnTo>
                <a:lnTo>
                  <a:pt x="758317" y="133350"/>
                </a:lnTo>
                <a:lnTo>
                  <a:pt x="760222" y="135382"/>
                </a:lnTo>
                <a:lnTo>
                  <a:pt x="762635" y="136906"/>
                </a:lnTo>
                <a:lnTo>
                  <a:pt x="757682" y="138684"/>
                </a:lnTo>
                <a:lnTo>
                  <a:pt x="753745" y="141224"/>
                </a:lnTo>
                <a:lnTo>
                  <a:pt x="750951" y="144399"/>
                </a:lnTo>
                <a:lnTo>
                  <a:pt x="748157" y="147701"/>
                </a:lnTo>
                <a:lnTo>
                  <a:pt x="746633" y="151638"/>
                </a:lnTo>
                <a:lnTo>
                  <a:pt x="746734" y="160274"/>
                </a:lnTo>
                <a:lnTo>
                  <a:pt x="779145" y="183007"/>
                </a:lnTo>
                <a:lnTo>
                  <a:pt x="786257" y="183896"/>
                </a:lnTo>
                <a:lnTo>
                  <a:pt x="802894" y="183896"/>
                </a:lnTo>
                <a:lnTo>
                  <a:pt x="810387" y="182753"/>
                </a:lnTo>
                <a:lnTo>
                  <a:pt x="816864" y="180594"/>
                </a:lnTo>
                <a:lnTo>
                  <a:pt x="823341" y="178562"/>
                </a:lnTo>
                <a:lnTo>
                  <a:pt x="842251" y="162306"/>
                </a:lnTo>
                <a:lnTo>
                  <a:pt x="843724" y="159385"/>
                </a:lnTo>
                <a:lnTo>
                  <a:pt x="845616" y="155702"/>
                </a:lnTo>
                <a:lnTo>
                  <a:pt x="845807" y="155067"/>
                </a:lnTo>
                <a:lnTo>
                  <a:pt x="846836" y="150876"/>
                </a:lnTo>
                <a:lnTo>
                  <a:pt x="846836" y="141986"/>
                </a:lnTo>
                <a:lnTo>
                  <a:pt x="846836" y="141224"/>
                </a:lnTo>
                <a:lnTo>
                  <a:pt x="845947" y="136906"/>
                </a:lnTo>
                <a:lnTo>
                  <a:pt x="842137" y="130302"/>
                </a:lnTo>
                <a:lnTo>
                  <a:pt x="839724" y="127635"/>
                </a:lnTo>
                <a:lnTo>
                  <a:pt x="836676" y="125730"/>
                </a:lnTo>
                <a:lnTo>
                  <a:pt x="833628" y="123698"/>
                </a:lnTo>
                <a:lnTo>
                  <a:pt x="830199" y="122301"/>
                </a:lnTo>
                <a:lnTo>
                  <a:pt x="822325" y="120523"/>
                </a:lnTo>
                <a:lnTo>
                  <a:pt x="818388" y="119888"/>
                </a:lnTo>
                <a:lnTo>
                  <a:pt x="817880" y="119849"/>
                </a:lnTo>
                <a:lnTo>
                  <a:pt x="817880" y="149606"/>
                </a:lnTo>
                <a:lnTo>
                  <a:pt x="817880" y="152908"/>
                </a:lnTo>
                <a:lnTo>
                  <a:pt x="813181" y="159131"/>
                </a:lnTo>
                <a:lnTo>
                  <a:pt x="811314" y="160274"/>
                </a:lnTo>
                <a:lnTo>
                  <a:pt x="811149" y="160274"/>
                </a:lnTo>
                <a:lnTo>
                  <a:pt x="808863" y="161036"/>
                </a:lnTo>
                <a:lnTo>
                  <a:pt x="808507" y="161036"/>
                </a:lnTo>
                <a:lnTo>
                  <a:pt x="802665" y="162052"/>
                </a:lnTo>
                <a:lnTo>
                  <a:pt x="802170" y="162052"/>
                </a:lnTo>
                <a:lnTo>
                  <a:pt x="799719" y="162306"/>
                </a:lnTo>
                <a:lnTo>
                  <a:pt x="790956" y="162306"/>
                </a:lnTo>
                <a:lnTo>
                  <a:pt x="787527" y="162052"/>
                </a:lnTo>
                <a:lnTo>
                  <a:pt x="782066" y="161036"/>
                </a:lnTo>
                <a:lnTo>
                  <a:pt x="779780" y="160274"/>
                </a:lnTo>
                <a:lnTo>
                  <a:pt x="778256" y="159385"/>
                </a:lnTo>
                <a:lnTo>
                  <a:pt x="776605" y="158496"/>
                </a:lnTo>
                <a:lnTo>
                  <a:pt x="775462" y="157480"/>
                </a:lnTo>
                <a:lnTo>
                  <a:pt x="774827" y="156210"/>
                </a:lnTo>
                <a:lnTo>
                  <a:pt x="774192" y="155067"/>
                </a:lnTo>
                <a:lnTo>
                  <a:pt x="773811" y="153670"/>
                </a:lnTo>
                <a:lnTo>
                  <a:pt x="773811" y="150114"/>
                </a:lnTo>
                <a:lnTo>
                  <a:pt x="774446" y="148209"/>
                </a:lnTo>
                <a:lnTo>
                  <a:pt x="776986" y="144907"/>
                </a:lnTo>
                <a:lnTo>
                  <a:pt x="778637" y="143383"/>
                </a:lnTo>
                <a:lnTo>
                  <a:pt x="780542" y="141986"/>
                </a:lnTo>
                <a:lnTo>
                  <a:pt x="783463" y="142621"/>
                </a:lnTo>
                <a:lnTo>
                  <a:pt x="787844" y="143002"/>
                </a:lnTo>
                <a:lnTo>
                  <a:pt x="803275" y="143002"/>
                </a:lnTo>
                <a:lnTo>
                  <a:pt x="806881" y="143383"/>
                </a:lnTo>
                <a:lnTo>
                  <a:pt x="806488" y="143383"/>
                </a:lnTo>
                <a:lnTo>
                  <a:pt x="808101" y="143637"/>
                </a:lnTo>
                <a:lnTo>
                  <a:pt x="810260" y="144018"/>
                </a:lnTo>
                <a:lnTo>
                  <a:pt x="813816" y="145288"/>
                </a:lnTo>
                <a:lnTo>
                  <a:pt x="815213" y="146050"/>
                </a:lnTo>
                <a:lnTo>
                  <a:pt x="816229" y="147193"/>
                </a:lnTo>
                <a:lnTo>
                  <a:pt x="817372" y="148209"/>
                </a:lnTo>
                <a:lnTo>
                  <a:pt x="817880" y="149606"/>
                </a:lnTo>
                <a:lnTo>
                  <a:pt x="817880" y="119849"/>
                </a:lnTo>
                <a:lnTo>
                  <a:pt x="810260" y="119126"/>
                </a:lnTo>
                <a:lnTo>
                  <a:pt x="796912" y="119126"/>
                </a:lnTo>
                <a:lnTo>
                  <a:pt x="791845" y="118491"/>
                </a:lnTo>
                <a:lnTo>
                  <a:pt x="788797" y="118237"/>
                </a:lnTo>
                <a:lnTo>
                  <a:pt x="786384" y="117729"/>
                </a:lnTo>
                <a:lnTo>
                  <a:pt x="784606" y="116840"/>
                </a:lnTo>
                <a:lnTo>
                  <a:pt x="782701" y="116078"/>
                </a:lnTo>
                <a:lnTo>
                  <a:pt x="781812" y="114808"/>
                </a:lnTo>
                <a:lnTo>
                  <a:pt x="781812" y="111252"/>
                </a:lnTo>
                <a:lnTo>
                  <a:pt x="782955" y="109728"/>
                </a:lnTo>
                <a:lnTo>
                  <a:pt x="785241" y="108331"/>
                </a:lnTo>
                <a:lnTo>
                  <a:pt x="788162" y="108712"/>
                </a:lnTo>
                <a:lnTo>
                  <a:pt x="791210" y="108966"/>
                </a:lnTo>
                <a:lnTo>
                  <a:pt x="800481" y="108966"/>
                </a:lnTo>
                <a:lnTo>
                  <a:pt x="805129" y="108331"/>
                </a:lnTo>
                <a:lnTo>
                  <a:pt x="806069" y="108204"/>
                </a:lnTo>
                <a:lnTo>
                  <a:pt x="811276" y="106553"/>
                </a:lnTo>
                <a:lnTo>
                  <a:pt x="816483" y="105029"/>
                </a:lnTo>
                <a:lnTo>
                  <a:pt x="820928" y="102743"/>
                </a:lnTo>
                <a:lnTo>
                  <a:pt x="828548" y="96901"/>
                </a:lnTo>
                <a:lnTo>
                  <a:pt x="831596" y="93218"/>
                </a:lnTo>
                <a:lnTo>
                  <a:pt x="833488" y="89535"/>
                </a:lnTo>
                <a:lnTo>
                  <a:pt x="833755" y="89027"/>
                </a:lnTo>
                <a:lnTo>
                  <a:pt x="836041" y="84963"/>
                </a:lnTo>
                <a:lnTo>
                  <a:pt x="837057" y="80137"/>
                </a:lnTo>
                <a:lnTo>
                  <a:pt x="837018" y="71374"/>
                </a:lnTo>
                <a:lnTo>
                  <a:pt x="836676" y="68453"/>
                </a:lnTo>
                <a:lnTo>
                  <a:pt x="835660" y="65532"/>
                </a:lnTo>
                <a:lnTo>
                  <a:pt x="845693" y="63246"/>
                </a:lnTo>
                <a:lnTo>
                  <a:pt x="847471" y="62484"/>
                </a:lnTo>
                <a:lnTo>
                  <a:pt x="847915" y="61976"/>
                </a:lnTo>
                <a:lnTo>
                  <a:pt x="848360" y="61468"/>
                </a:lnTo>
                <a:lnTo>
                  <a:pt x="849376" y="60452"/>
                </a:lnTo>
                <a:lnTo>
                  <a:pt x="849884" y="59055"/>
                </a:lnTo>
                <a:lnTo>
                  <a:pt x="849884" y="45847"/>
                </a:lnTo>
                <a:close/>
              </a:path>
              <a:path w="1146175" h="184150">
                <a:moveTo>
                  <a:pt x="951738" y="81534"/>
                </a:moveTo>
                <a:lnTo>
                  <a:pt x="950658" y="75184"/>
                </a:lnTo>
                <a:lnTo>
                  <a:pt x="950595" y="74803"/>
                </a:lnTo>
                <a:lnTo>
                  <a:pt x="948309" y="68707"/>
                </a:lnTo>
                <a:lnTo>
                  <a:pt x="923544" y="44183"/>
                </a:lnTo>
                <a:lnTo>
                  <a:pt x="923544" y="82550"/>
                </a:lnTo>
                <a:lnTo>
                  <a:pt x="884428" y="82550"/>
                </a:lnTo>
                <a:lnTo>
                  <a:pt x="885444" y="76073"/>
                </a:lnTo>
                <a:lnTo>
                  <a:pt x="887730" y="71120"/>
                </a:lnTo>
                <a:lnTo>
                  <a:pt x="894461" y="64389"/>
                </a:lnTo>
                <a:lnTo>
                  <a:pt x="898817" y="62738"/>
                </a:lnTo>
                <a:lnTo>
                  <a:pt x="909104" y="62738"/>
                </a:lnTo>
                <a:lnTo>
                  <a:pt x="923544" y="82550"/>
                </a:lnTo>
                <a:lnTo>
                  <a:pt x="923544" y="44183"/>
                </a:lnTo>
                <a:lnTo>
                  <a:pt x="917829" y="42037"/>
                </a:lnTo>
                <a:lnTo>
                  <a:pt x="911479" y="40894"/>
                </a:lnTo>
                <a:lnTo>
                  <a:pt x="896493" y="40894"/>
                </a:lnTo>
                <a:lnTo>
                  <a:pt x="889254" y="42291"/>
                </a:lnTo>
                <a:lnTo>
                  <a:pt x="876554" y="47879"/>
                </a:lnTo>
                <a:lnTo>
                  <a:pt x="871093" y="51562"/>
                </a:lnTo>
                <a:lnTo>
                  <a:pt x="866648" y="56388"/>
                </a:lnTo>
                <a:lnTo>
                  <a:pt x="862076" y="61087"/>
                </a:lnTo>
                <a:lnTo>
                  <a:pt x="858647" y="66548"/>
                </a:lnTo>
                <a:lnTo>
                  <a:pt x="856234" y="72898"/>
                </a:lnTo>
                <a:lnTo>
                  <a:pt x="853821" y="79121"/>
                </a:lnTo>
                <a:lnTo>
                  <a:pt x="852678" y="85852"/>
                </a:lnTo>
                <a:lnTo>
                  <a:pt x="852678" y="102108"/>
                </a:lnTo>
                <a:lnTo>
                  <a:pt x="873125" y="139700"/>
                </a:lnTo>
                <a:lnTo>
                  <a:pt x="898652" y="149352"/>
                </a:lnTo>
                <a:lnTo>
                  <a:pt x="909574" y="149352"/>
                </a:lnTo>
                <a:lnTo>
                  <a:pt x="947928" y="135001"/>
                </a:lnTo>
                <a:lnTo>
                  <a:pt x="951103" y="131191"/>
                </a:lnTo>
                <a:lnTo>
                  <a:pt x="946696" y="125730"/>
                </a:lnTo>
                <a:lnTo>
                  <a:pt x="942086" y="120015"/>
                </a:lnTo>
                <a:lnTo>
                  <a:pt x="940816" y="118237"/>
                </a:lnTo>
                <a:lnTo>
                  <a:pt x="938911" y="117221"/>
                </a:lnTo>
                <a:lnTo>
                  <a:pt x="934466" y="117221"/>
                </a:lnTo>
                <a:lnTo>
                  <a:pt x="932688" y="117729"/>
                </a:lnTo>
                <a:lnTo>
                  <a:pt x="930910" y="118618"/>
                </a:lnTo>
                <a:lnTo>
                  <a:pt x="929259" y="119507"/>
                </a:lnTo>
                <a:lnTo>
                  <a:pt x="927354" y="120396"/>
                </a:lnTo>
                <a:lnTo>
                  <a:pt x="912495" y="125730"/>
                </a:lnTo>
                <a:lnTo>
                  <a:pt x="901954" y="125730"/>
                </a:lnTo>
                <a:lnTo>
                  <a:pt x="896366" y="123825"/>
                </a:lnTo>
                <a:lnTo>
                  <a:pt x="887730" y="115951"/>
                </a:lnTo>
                <a:lnTo>
                  <a:pt x="885063" y="109474"/>
                </a:lnTo>
                <a:lnTo>
                  <a:pt x="884047" y="100711"/>
                </a:lnTo>
                <a:lnTo>
                  <a:pt x="946988" y="100711"/>
                </a:lnTo>
                <a:lnTo>
                  <a:pt x="948182" y="100203"/>
                </a:lnTo>
                <a:lnTo>
                  <a:pt x="951725" y="82550"/>
                </a:lnTo>
                <a:lnTo>
                  <a:pt x="951738" y="81534"/>
                </a:lnTo>
                <a:close/>
              </a:path>
              <a:path w="1146175" h="184150">
                <a:moveTo>
                  <a:pt x="1146111" y="42672"/>
                </a:moveTo>
                <a:lnTo>
                  <a:pt x="1118552" y="42672"/>
                </a:lnTo>
                <a:lnTo>
                  <a:pt x="1117219" y="43053"/>
                </a:lnTo>
                <a:lnTo>
                  <a:pt x="1115695" y="44196"/>
                </a:lnTo>
                <a:lnTo>
                  <a:pt x="1114044" y="45212"/>
                </a:lnTo>
                <a:lnTo>
                  <a:pt x="1113739" y="45593"/>
                </a:lnTo>
                <a:lnTo>
                  <a:pt x="1112977" y="46609"/>
                </a:lnTo>
                <a:lnTo>
                  <a:pt x="1112520" y="48006"/>
                </a:lnTo>
                <a:lnTo>
                  <a:pt x="1096899" y="93091"/>
                </a:lnTo>
                <a:lnTo>
                  <a:pt x="1095311" y="97536"/>
                </a:lnTo>
                <a:lnTo>
                  <a:pt x="1094486" y="99568"/>
                </a:lnTo>
                <a:lnTo>
                  <a:pt x="1093673" y="101727"/>
                </a:lnTo>
                <a:lnTo>
                  <a:pt x="1092962" y="103759"/>
                </a:lnTo>
                <a:lnTo>
                  <a:pt x="1092327" y="105918"/>
                </a:lnTo>
                <a:lnTo>
                  <a:pt x="1091311" y="101727"/>
                </a:lnTo>
                <a:lnTo>
                  <a:pt x="1089914" y="97536"/>
                </a:lnTo>
                <a:lnTo>
                  <a:pt x="1088390" y="93345"/>
                </a:lnTo>
                <a:lnTo>
                  <a:pt x="1071118" y="48006"/>
                </a:lnTo>
                <a:lnTo>
                  <a:pt x="1070610" y="46609"/>
                </a:lnTo>
                <a:lnTo>
                  <a:pt x="1069594" y="45212"/>
                </a:lnTo>
                <a:lnTo>
                  <a:pt x="1069111" y="44831"/>
                </a:lnTo>
                <a:lnTo>
                  <a:pt x="1067701" y="43688"/>
                </a:lnTo>
                <a:lnTo>
                  <a:pt x="1066927" y="43053"/>
                </a:lnTo>
                <a:lnTo>
                  <a:pt x="1065491" y="42672"/>
                </a:lnTo>
                <a:lnTo>
                  <a:pt x="1034859" y="42672"/>
                </a:lnTo>
                <a:lnTo>
                  <a:pt x="1035304" y="43573"/>
                </a:lnTo>
                <a:lnTo>
                  <a:pt x="1033856" y="42672"/>
                </a:lnTo>
                <a:lnTo>
                  <a:pt x="1031113" y="41148"/>
                </a:lnTo>
                <a:lnTo>
                  <a:pt x="1027938" y="40513"/>
                </a:lnTo>
                <a:lnTo>
                  <a:pt x="1018667" y="40513"/>
                </a:lnTo>
                <a:lnTo>
                  <a:pt x="995680" y="59817"/>
                </a:lnTo>
                <a:lnTo>
                  <a:pt x="994029" y="49911"/>
                </a:lnTo>
                <a:lnTo>
                  <a:pt x="993876" y="49149"/>
                </a:lnTo>
                <a:lnTo>
                  <a:pt x="993775" y="48641"/>
                </a:lnTo>
                <a:lnTo>
                  <a:pt x="993394" y="47498"/>
                </a:lnTo>
                <a:lnTo>
                  <a:pt x="993051" y="46609"/>
                </a:lnTo>
                <a:lnTo>
                  <a:pt x="992682" y="45720"/>
                </a:lnTo>
                <a:lnTo>
                  <a:pt x="992632" y="45593"/>
                </a:lnTo>
                <a:lnTo>
                  <a:pt x="992124" y="44831"/>
                </a:lnTo>
                <a:lnTo>
                  <a:pt x="990727" y="43688"/>
                </a:lnTo>
                <a:lnTo>
                  <a:pt x="989838" y="43307"/>
                </a:lnTo>
                <a:lnTo>
                  <a:pt x="989152" y="43053"/>
                </a:lnTo>
                <a:lnTo>
                  <a:pt x="989393" y="43053"/>
                </a:lnTo>
                <a:lnTo>
                  <a:pt x="987679" y="42672"/>
                </a:lnTo>
                <a:lnTo>
                  <a:pt x="966216" y="42672"/>
                </a:lnTo>
                <a:lnTo>
                  <a:pt x="966216" y="147701"/>
                </a:lnTo>
                <a:lnTo>
                  <a:pt x="997585" y="147701"/>
                </a:lnTo>
                <a:lnTo>
                  <a:pt x="997585" y="83185"/>
                </a:lnTo>
                <a:lnTo>
                  <a:pt x="1002411" y="74422"/>
                </a:lnTo>
                <a:lnTo>
                  <a:pt x="1008697" y="70104"/>
                </a:lnTo>
                <a:lnTo>
                  <a:pt x="1020432" y="70104"/>
                </a:lnTo>
                <a:lnTo>
                  <a:pt x="1021461" y="70231"/>
                </a:lnTo>
                <a:lnTo>
                  <a:pt x="1025906" y="70993"/>
                </a:lnTo>
                <a:lnTo>
                  <a:pt x="1028446" y="70993"/>
                </a:lnTo>
                <a:lnTo>
                  <a:pt x="1033145" y="59817"/>
                </a:lnTo>
                <a:lnTo>
                  <a:pt x="1035646" y="45720"/>
                </a:lnTo>
                <a:lnTo>
                  <a:pt x="1035735" y="45212"/>
                </a:lnTo>
                <a:lnTo>
                  <a:pt x="1035812" y="44831"/>
                </a:lnTo>
                <a:lnTo>
                  <a:pt x="1076833" y="138430"/>
                </a:lnTo>
                <a:lnTo>
                  <a:pt x="1056513" y="180975"/>
                </a:lnTo>
                <a:lnTo>
                  <a:pt x="1083056" y="180975"/>
                </a:lnTo>
                <a:lnTo>
                  <a:pt x="1089914" y="174879"/>
                </a:lnTo>
                <a:lnTo>
                  <a:pt x="1119225" y="105918"/>
                </a:lnTo>
                <a:lnTo>
                  <a:pt x="1146111" y="42672"/>
                </a:lnTo>
                <a:close/>
              </a:path>
            </a:pathLst>
          </a:custGeom>
          <a:solidFill>
            <a:srgbClr val="3939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350250" y="1633982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2" y="0"/>
                </a:lnTo>
                <a:lnTo>
                  <a:pt x="7620" y="1523"/>
                </a:lnTo>
                <a:lnTo>
                  <a:pt x="1524" y="7619"/>
                </a:lnTo>
                <a:lnTo>
                  <a:pt x="0" y="11302"/>
                </a:lnTo>
                <a:lnTo>
                  <a:pt x="0" y="20065"/>
                </a:lnTo>
                <a:lnTo>
                  <a:pt x="1524" y="23748"/>
                </a:lnTo>
                <a:lnTo>
                  <a:pt x="7620" y="29844"/>
                </a:lnTo>
                <a:lnTo>
                  <a:pt x="11302" y="31368"/>
                </a:lnTo>
                <a:lnTo>
                  <a:pt x="19939" y="31368"/>
                </a:lnTo>
                <a:lnTo>
                  <a:pt x="23622" y="29844"/>
                </a:lnTo>
                <a:lnTo>
                  <a:pt x="26670" y="26796"/>
                </a:lnTo>
                <a:lnTo>
                  <a:pt x="29845" y="23748"/>
                </a:lnTo>
                <a:lnTo>
                  <a:pt x="31369" y="20065"/>
                </a:lnTo>
                <a:lnTo>
                  <a:pt x="31369" y="11302"/>
                </a:lnTo>
                <a:lnTo>
                  <a:pt x="29845" y="7619"/>
                </a:lnTo>
                <a:lnTo>
                  <a:pt x="26670" y="4571"/>
                </a:lnTo>
                <a:lnTo>
                  <a:pt x="23622" y="1523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53373" y="1600835"/>
            <a:ext cx="3213734" cy="26733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55445" y="1844801"/>
            <a:ext cx="641731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Patients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4A4F5A"/>
                </a:solidFill>
                <a:latin typeface="Tahoma"/>
                <a:cs typeface="Tahoma"/>
              </a:rPr>
              <a:t>an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imbalanced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9F112C"/>
                </a:solidFill>
                <a:latin typeface="Tahoma"/>
                <a:cs typeface="Tahoma"/>
              </a:rPr>
              <a:t>ECW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ratio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had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9F112C"/>
                </a:solidFill>
                <a:latin typeface="Tahoma"/>
                <a:cs typeface="Tahoma"/>
              </a:rPr>
              <a:t>a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9F112C"/>
                </a:solidFill>
                <a:latin typeface="Tahoma"/>
                <a:cs typeface="Tahoma"/>
              </a:rPr>
              <a:t>2.8</a:t>
            </a:r>
            <a:r>
              <a:rPr dirty="0" sz="1400" spc="-10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times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higher</a:t>
            </a:r>
            <a:r>
              <a:rPr dirty="0" sz="1400" spc="-12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risk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of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complications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such</a:t>
            </a:r>
            <a:r>
              <a:rPr dirty="0" sz="1400" spc="-14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as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ascites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&amp;</a:t>
            </a:r>
            <a:r>
              <a:rPr dirty="0" sz="1400" spc="-12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fluid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accumulation</a:t>
            </a:r>
            <a:r>
              <a:rPr dirty="0" sz="1400" spc="-15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compared</a:t>
            </a:r>
            <a:r>
              <a:rPr dirty="0" sz="1400" spc="-12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to</a:t>
            </a:r>
            <a:r>
              <a:rPr dirty="0" sz="1400" spc="-13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those</a:t>
            </a:r>
            <a:r>
              <a:rPr dirty="0" sz="1400" spc="-13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13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balanced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ratio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50250" y="2002789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2" y="0"/>
                </a:lnTo>
                <a:lnTo>
                  <a:pt x="7620" y="1524"/>
                </a:lnTo>
                <a:lnTo>
                  <a:pt x="1524" y="7620"/>
                </a:lnTo>
                <a:lnTo>
                  <a:pt x="0" y="11302"/>
                </a:lnTo>
                <a:lnTo>
                  <a:pt x="0" y="20065"/>
                </a:lnTo>
                <a:lnTo>
                  <a:pt x="1524" y="23749"/>
                </a:lnTo>
                <a:lnTo>
                  <a:pt x="7620" y="29845"/>
                </a:lnTo>
                <a:lnTo>
                  <a:pt x="11302" y="31369"/>
                </a:lnTo>
                <a:lnTo>
                  <a:pt x="19939" y="31369"/>
                </a:lnTo>
                <a:lnTo>
                  <a:pt x="23622" y="29845"/>
                </a:lnTo>
                <a:lnTo>
                  <a:pt x="26670" y="26797"/>
                </a:lnTo>
                <a:lnTo>
                  <a:pt x="29845" y="23749"/>
                </a:lnTo>
                <a:lnTo>
                  <a:pt x="31369" y="20065"/>
                </a:lnTo>
                <a:lnTo>
                  <a:pt x="31369" y="11302"/>
                </a:lnTo>
                <a:lnTo>
                  <a:pt x="29845" y="7620"/>
                </a:lnTo>
                <a:lnTo>
                  <a:pt x="26670" y="4572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64042" y="1970532"/>
            <a:ext cx="801751" cy="11404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312782" y="1969642"/>
            <a:ext cx="1151890" cy="114935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8350250" y="2219198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2" y="0"/>
                </a:lnTo>
                <a:lnTo>
                  <a:pt x="7620" y="1524"/>
                </a:lnTo>
                <a:lnTo>
                  <a:pt x="1524" y="7619"/>
                </a:lnTo>
                <a:lnTo>
                  <a:pt x="0" y="11302"/>
                </a:lnTo>
                <a:lnTo>
                  <a:pt x="0" y="20065"/>
                </a:lnTo>
                <a:lnTo>
                  <a:pt x="1524" y="23749"/>
                </a:lnTo>
                <a:lnTo>
                  <a:pt x="7620" y="29844"/>
                </a:lnTo>
                <a:lnTo>
                  <a:pt x="11302" y="31368"/>
                </a:lnTo>
                <a:lnTo>
                  <a:pt x="19939" y="31368"/>
                </a:lnTo>
                <a:lnTo>
                  <a:pt x="23622" y="29844"/>
                </a:lnTo>
                <a:lnTo>
                  <a:pt x="26670" y="26797"/>
                </a:lnTo>
                <a:lnTo>
                  <a:pt x="29845" y="23749"/>
                </a:lnTo>
                <a:lnTo>
                  <a:pt x="31369" y="20065"/>
                </a:lnTo>
                <a:lnTo>
                  <a:pt x="31369" y="11302"/>
                </a:lnTo>
                <a:lnTo>
                  <a:pt x="29845" y="7619"/>
                </a:lnTo>
                <a:lnTo>
                  <a:pt x="26670" y="4572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61882" y="2181098"/>
            <a:ext cx="1379353" cy="1198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57166" y="2841213"/>
            <a:ext cx="4415991" cy="66145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3912" y="3584685"/>
            <a:ext cx="4679464" cy="200449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39539" y="5665149"/>
            <a:ext cx="2000521" cy="258678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6387084" y="2820923"/>
            <a:ext cx="4615180" cy="3213100"/>
            <a:chOff x="6387084" y="2820923"/>
            <a:chExt cx="4615180" cy="3213100"/>
          </a:xfrm>
        </p:grpSpPr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87084" y="2820923"/>
              <a:ext cx="4614671" cy="321265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290054" y="2832353"/>
              <a:ext cx="3016250" cy="1652270"/>
            </a:xfrm>
            <a:custGeom>
              <a:avLst/>
              <a:gdLst/>
              <a:ahLst/>
              <a:cxnLst/>
              <a:rect l="l" t="t" r="r" b="b"/>
              <a:pathLst>
                <a:path w="3016250" h="1652270">
                  <a:moveTo>
                    <a:pt x="2528316" y="1652015"/>
                  </a:moveTo>
                  <a:lnTo>
                    <a:pt x="2979420" y="1652015"/>
                  </a:lnTo>
                  <a:lnTo>
                    <a:pt x="2979420" y="1505711"/>
                  </a:lnTo>
                  <a:lnTo>
                    <a:pt x="2528316" y="1505711"/>
                  </a:lnTo>
                  <a:lnTo>
                    <a:pt x="2528316" y="1652015"/>
                  </a:lnTo>
                  <a:close/>
                </a:path>
                <a:path w="3016250" h="1652270">
                  <a:moveTo>
                    <a:pt x="0" y="1652015"/>
                  </a:moveTo>
                  <a:lnTo>
                    <a:pt x="452627" y="1652015"/>
                  </a:lnTo>
                  <a:lnTo>
                    <a:pt x="452627" y="1505711"/>
                  </a:lnTo>
                  <a:lnTo>
                    <a:pt x="0" y="1505711"/>
                  </a:lnTo>
                  <a:lnTo>
                    <a:pt x="0" y="1652015"/>
                  </a:lnTo>
                  <a:close/>
                </a:path>
                <a:path w="3016250" h="1652270">
                  <a:moveTo>
                    <a:pt x="2564892" y="147827"/>
                  </a:moveTo>
                  <a:lnTo>
                    <a:pt x="3015996" y="147827"/>
                  </a:lnTo>
                  <a:lnTo>
                    <a:pt x="3015996" y="0"/>
                  </a:lnTo>
                  <a:lnTo>
                    <a:pt x="2564892" y="0"/>
                  </a:lnTo>
                  <a:lnTo>
                    <a:pt x="2564892" y="147827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2469" y="2586989"/>
            <a:ext cx="2916173" cy="17360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86078" y="1825193"/>
            <a:ext cx="713105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-355" b="1" i="1">
                <a:solidFill>
                  <a:srgbClr val="D9D9D9"/>
                </a:solidFill>
                <a:latin typeface="Trebuchet MS"/>
                <a:cs typeface="Trebuchet MS"/>
              </a:rPr>
              <a:t>03</a:t>
            </a:r>
            <a:endParaRPr sz="50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4264" y="2914269"/>
            <a:ext cx="2610180" cy="1756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5360" y="3474720"/>
            <a:ext cx="3706495" cy="2760345"/>
          </a:xfrm>
          <a:custGeom>
            <a:avLst/>
            <a:gdLst/>
            <a:ahLst/>
            <a:cxnLst/>
            <a:rect l="l" t="t" r="r" b="b"/>
            <a:pathLst>
              <a:path w="3706495" h="2760345">
                <a:moveTo>
                  <a:pt x="1853184" y="0"/>
                </a:moveTo>
                <a:lnTo>
                  <a:pt x="1803814" y="624"/>
                </a:lnTo>
                <a:lnTo>
                  <a:pt x="1754762" y="2488"/>
                </a:lnTo>
                <a:lnTo>
                  <a:pt x="1706045" y="5575"/>
                </a:lnTo>
                <a:lnTo>
                  <a:pt x="1657679" y="9871"/>
                </a:lnTo>
                <a:lnTo>
                  <a:pt x="1609679" y="15359"/>
                </a:lnTo>
                <a:lnTo>
                  <a:pt x="1562062" y="22024"/>
                </a:lnTo>
                <a:lnTo>
                  <a:pt x="1514843" y="29851"/>
                </a:lnTo>
                <a:lnTo>
                  <a:pt x="1468039" y="38823"/>
                </a:lnTo>
                <a:lnTo>
                  <a:pt x="1421665" y="48927"/>
                </a:lnTo>
                <a:lnTo>
                  <a:pt x="1375738" y="60145"/>
                </a:lnTo>
                <a:lnTo>
                  <a:pt x="1330274" y="72462"/>
                </a:lnTo>
                <a:lnTo>
                  <a:pt x="1285288" y="85864"/>
                </a:lnTo>
                <a:lnTo>
                  <a:pt x="1240797" y="100334"/>
                </a:lnTo>
                <a:lnTo>
                  <a:pt x="1196816" y="115857"/>
                </a:lnTo>
                <a:lnTo>
                  <a:pt x="1153362" y="132418"/>
                </a:lnTo>
                <a:lnTo>
                  <a:pt x="1110451" y="150001"/>
                </a:lnTo>
                <a:lnTo>
                  <a:pt x="1068098" y="168590"/>
                </a:lnTo>
                <a:lnTo>
                  <a:pt x="1026320" y="188170"/>
                </a:lnTo>
                <a:lnTo>
                  <a:pt x="985132" y="208725"/>
                </a:lnTo>
                <a:lnTo>
                  <a:pt x="944552" y="230240"/>
                </a:lnTo>
                <a:lnTo>
                  <a:pt x="904593" y="252700"/>
                </a:lnTo>
                <a:lnTo>
                  <a:pt x="865274" y="276089"/>
                </a:lnTo>
                <a:lnTo>
                  <a:pt x="826609" y="300391"/>
                </a:lnTo>
                <a:lnTo>
                  <a:pt x="788615" y="325590"/>
                </a:lnTo>
                <a:lnTo>
                  <a:pt x="751308" y="351673"/>
                </a:lnTo>
                <a:lnTo>
                  <a:pt x="714703" y="378622"/>
                </a:lnTo>
                <a:lnTo>
                  <a:pt x="678818" y="406422"/>
                </a:lnTo>
                <a:lnTo>
                  <a:pt x="643666" y="435058"/>
                </a:lnTo>
                <a:lnTo>
                  <a:pt x="609266" y="464515"/>
                </a:lnTo>
                <a:lnTo>
                  <a:pt x="575632" y="494776"/>
                </a:lnTo>
                <a:lnTo>
                  <a:pt x="542782" y="525827"/>
                </a:lnTo>
                <a:lnTo>
                  <a:pt x="510730" y="557652"/>
                </a:lnTo>
                <a:lnTo>
                  <a:pt x="479492" y="590234"/>
                </a:lnTo>
                <a:lnTo>
                  <a:pt x="449086" y="623560"/>
                </a:lnTo>
                <a:lnTo>
                  <a:pt x="419526" y="657613"/>
                </a:lnTo>
                <a:lnTo>
                  <a:pt x="390829" y="692377"/>
                </a:lnTo>
                <a:lnTo>
                  <a:pt x="363011" y="727838"/>
                </a:lnTo>
                <a:lnTo>
                  <a:pt x="336088" y="763980"/>
                </a:lnTo>
                <a:lnTo>
                  <a:pt x="310075" y="800786"/>
                </a:lnTo>
                <a:lnTo>
                  <a:pt x="284990" y="838243"/>
                </a:lnTo>
                <a:lnTo>
                  <a:pt x="260847" y="876334"/>
                </a:lnTo>
                <a:lnTo>
                  <a:pt x="237663" y="915043"/>
                </a:lnTo>
                <a:lnTo>
                  <a:pt x="215454" y="954356"/>
                </a:lnTo>
                <a:lnTo>
                  <a:pt x="194236" y="994256"/>
                </a:lnTo>
                <a:lnTo>
                  <a:pt x="174025" y="1034728"/>
                </a:lnTo>
                <a:lnTo>
                  <a:pt x="154836" y="1075757"/>
                </a:lnTo>
                <a:lnTo>
                  <a:pt x="136687" y="1117328"/>
                </a:lnTo>
                <a:lnTo>
                  <a:pt x="119592" y="1159423"/>
                </a:lnTo>
                <a:lnTo>
                  <a:pt x="103569" y="1202029"/>
                </a:lnTo>
                <a:lnTo>
                  <a:pt x="88632" y="1245130"/>
                </a:lnTo>
                <a:lnTo>
                  <a:pt x="74798" y="1288710"/>
                </a:lnTo>
                <a:lnTo>
                  <a:pt x="62084" y="1332753"/>
                </a:lnTo>
                <a:lnTo>
                  <a:pt x="50504" y="1377244"/>
                </a:lnTo>
                <a:lnTo>
                  <a:pt x="40075" y="1422168"/>
                </a:lnTo>
                <a:lnTo>
                  <a:pt x="30813" y="1467509"/>
                </a:lnTo>
                <a:lnTo>
                  <a:pt x="22734" y="1513252"/>
                </a:lnTo>
                <a:lnTo>
                  <a:pt x="15854" y="1559381"/>
                </a:lnTo>
                <a:lnTo>
                  <a:pt x="10189" y="1605880"/>
                </a:lnTo>
                <a:lnTo>
                  <a:pt x="5755" y="1652734"/>
                </a:lnTo>
                <a:lnTo>
                  <a:pt x="2568" y="1699928"/>
                </a:lnTo>
                <a:lnTo>
                  <a:pt x="644" y="1747445"/>
                </a:lnTo>
                <a:lnTo>
                  <a:pt x="0" y="1795271"/>
                </a:lnTo>
                <a:lnTo>
                  <a:pt x="746" y="1846725"/>
                </a:lnTo>
                <a:lnTo>
                  <a:pt x="2974" y="1897822"/>
                </a:lnTo>
                <a:lnTo>
                  <a:pt x="6662" y="1948544"/>
                </a:lnTo>
                <a:lnTo>
                  <a:pt x="11790" y="1998869"/>
                </a:lnTo>
                <a:lnTo>
                  <a:pt x="18340" y="2048780"/>
                </a:lnTo>
                <a:lnTo>
                  <a:pt x="26289" y="2098255"/>
                </a:lnTo>
                <a:lnTo>
                  <a:pt x="35620" y="2147277"/>
                </a:lnTo>
                <a:lnTo>
                  <a:pt x="46311" y="2195825"/>
                </a:lnTo>
                <a:lnTo>
                  <a:pt x="58343" y="2243880"/>
                </a:lnTo>
                <a:lnTo>
                  <a:pt x="71696" y="2291422"/>
                </a:lnTo>
                <a:lnTo>
                  <a:pt x="86350" y="2338432"/>
                </a:lnTo>
                <a:lnTo>
                  <a:pt x="102284" y="2384890"/>
                </a:lnTo>
                <a:lnTo>
                  <a:pt x="119480" y="2430777"/>
                </a:lnTo>
                <a:lnTo>
                  <a:pt x="137916" y="2476073"/>
                </a:lnTo>
                <a:lnTo>
                  <a:pt x="157574" y="2520759"/>
                </a:lnTo>
                <a:lnTo>
                  <a:pt x="178432" y="2564815"/>
                </a:lnTo>
                <a:lnTo>
                  <a:pt x="200471" y="2608222"/>
                </a:lnTo>
                <a:lnTo>
                  <a:pt x="223672" y="2650959"/>
                </a:lnTo>
                <a:lnTo>
                  <a:pt x="292023" y="2759964"/>
                </a:lnTo>
                <a:lnTo>
                  <a:pt x="1038733" y="2759964"/>
                </a:lnTo>
                <a:lnTo>
                  <a:pt x="1035050" y="2757246"/>
                </a:lnTo>
                <a:lnTo>
                  <a:pt x="998355" y="2726794"/>
                </a:lnTo>
                <a:lnTo>
                  <a:pt x="962875" y="2695051"/>
                </a:lnTo>
                <a:lnTo>
                  <a:pt x="928648" y="2662053"/>
                </a:lnTo>
                <a:lnTo>
                  <a:pt x="895713" y="2627837"/>
                </a:lnTo>
                <a:lnTo>
                  <a:pt x="864108" y="2592441"/>
                </a:lnTo>
                <a:lnTo>
                  <a:pt x="833873" y="2555903"/>
                </a:lnTo>
                <a:lnTo>
                  <a:pt x="805045" y="2518260"/>
                </a:lnTo>
                <a:lnTo>
                  <a:pt x="777664" y="2479549"/>
                </a:lnTo>
                <a:lnTo>
                  <a:pt x="751769" y="2439809"/>
                </a:lnTo>
                <a:lnTo>
                  <a:pt x="727398" y="2399076"/>
                </a:lnTo>
                <a:lnTo>
                  <a:pt x="704590" y="2357388"/>
                </a:lnTo>
                <a:lnTo>
                  <a:pt x="683384" y="2314783"/>
                </a:lnTo>
                <a:lnTo>
                  <a:pt x="663819" y="2271297"/>
                </a:lnTo>
                <a:lnTo>
                  <a:pt x="645933" y="2226969"/>
                </a:lnTo>
                <a:lnTo>
                  <a:pt x="629765" y="2181836"/>
                </a:lnTo>
                <a:lnTo>
                  <a:pt x="615354" y="2135936"/>
                </a:lnTo>
                <a:lnTo>
                  <a:pt x="602739" y="2089305"/>
                </a:lnTo>
                <a:lnTo>
                  <a:pt x="591958" y="2041982"/>
                </a:lnTo>
                <a:lnTo>
                  <a:pt x="583050" y="1994003"/>
                </a:lnTo>
                <a:lnTo>
                  <a:pt x="576055" y="1945407"/>
                </a:lnTo>
                <a:lnTo>
                  <a:pt x="571010" y="1896231"/>
                </a:lnTo>
                <a:lnTo>
                  <a:pt x="567955" y="1846512"/>
                </a:lnTo>
                <a:lnTo>
                  <a:pt x="566928" y="1796288"/>
                </a:lnTo>
                <a:lnTo>
                  <a:pt x="567856" y="1748525"/>
                </a:lnTo>
                <a:lnTo>
                  <a:pt x="570620" y="1701216"/>
                </a:lnTo>
                <a:lnTo>
                  <a:pt x="575186" y="1654395"/>
                </a:lnTo>
                <a:lnTo>
                  <a:pt x="581521" y="1608093"/>
                </a:lnTo>
                <a:lnTo>
                  <a:pt x="589590" y="1562343"/>
                </a:lnTo>
                <a:lnTo>
                  <a:pt x="599362" y="1517176"/>
                </a:lnTo>
                <a:lnTo>
                  <a:pt x="610803" y="1472624"/>
                </a:lnTo>
                <a:lnTo>
                  <a:pt x="623879" y="1428722"/>
                </a:lnTo>
                <a:lnTo>
                  <a:pt x="638558" y="1385499"/>
                </a:lnTo>
                <a:lnTo>
                  <a:pt x="654805" y="1342989"/>
                </a:lnTo>
                <a:lnTo>
                  <a:pt x="672587" y="1301224"/>
                </a:lnTo>
                <a:lnTo>
                  <a:pt x="691873" y="1260237"/>
                </a:lnTo>
                <a:lnTo>
                  <a:pt x="712627" y="1220058"/>
                </a:lnTo>
                <a:lnTo>
                  <a:pt x="734816" y="1180722"/>
                </a:lnTo>
                <a:lnTo>
                  <a:pt x="758408" y="1142259"/>
                </a:lnTo>
                <a:lnTo>
                  <a:pt x="783370" y="1104702"/>
                </a:lnTo>
                <a:lnTo>
                  <a:pt x="809667" y="1068084"/>
                </a:lnTo>
                <a:lnTo>
                  <a:pt x="837266" y="1032437"/>
                </a:lnTo>
                <a:lnTo>
                  <a:pt x="866135" y="997792"/>
                </a:lnTo>
                <a:lnTo>
                  <a:pt x="896240" y="964183"/>
                </a:lnTo>
                <a:lnTo>
                  <a:pt x="927547" y="931641"/>
                </a:lnTo>
                <a:lnTo>
                  <a:pt x="960024" y="900199"/>
                </a:lnTo>
                <a:lnTo>
                  <a:pt x="993636" y="869889"/>
                </a:lnTo>
                <a:lnTo>
                  <a:pt x="1028352" y="840743"/>
                </a:lnTo>
                <a:lnTo>
                  <a:pt x="1064137" y="812793"/>
                </a:lnTo>
                <a:lnTo>
                  <a:pt x="1100958" y="786072"/>
                </a:lnTo>
                <a:lnTo>
                  <a:pt x="1138782" y="760612"/>
                </a:lnTo>
                <a:lnTo>
                  <a:pt x="1177575" y="736445"/>
                </a:lnTo>
                <a:lnTo>
                  <a:pt x="1217305" y="713603"/>
                </a:lnTo>
                <a:lnTo>
                  <a:pt x="1257937" y="692119"/>
                </a:lnTo>
                <a:lnTo>
                  <a:pt x="1299440" y="672026"/>
                </a:lnTo>
                <a:lnTo>
                  <a:pt x="1341779" y="653354"/>
                </a:lnTo>
                <a:lnTo>
                  <a:pt x="1384920" y="636137"/>
                </a:lnTo>
                <a:lnTo>
                  <a:pt x="1428832" y="620406"/>
                </a:lnTo>
                <a:lnTo>
                  <a:pt x="1473480" y="606194"/>
                </a:lnTo>
                <a:lnTo>
                  <a:pt x="1518831" y="593534"/>
                </a:lnTo>
                <a:lnTo>
                  <a:pt x="1564853" y="582457"/>
                </a:lnTo>
                <a:lnTo>
                  <a:pt x="1611510" y="572995"/>
                </a:lnTo>
                <a:lnTo>
                  <a:pt x="1658772" y="565182"/>
                </a:lnTo>
                <a:lnTo>
                  <a:pt x="1706603" y="559049"/>
                </a:lnTo>
                <a:lnTo>
                  <a:pt x="1754971" y="554628"/>
                </a:lnTo>
                <a:lnTo>
                  <a:pt x="1803842" y="551952"/>
                </a:lnTo>
                <a:lnTo>
                  <a:pt x="1853184" y="551052"/>
                </a:lnTo>
                <a:lnTo>
                  <a:pt x="1902525" y="551952"/>
                </a:lnTo>
                <a:lnTo>
                  <a:pt x="1951396" y="554628"/>
                </a:lnTo>
                <a:lnTo>
                  <a:pt x="1999764" y="559049"/>
                </a:lnTo>
                <a:lnTo>
                  <a:pt x="2047595" y="565182"/>
                </a:lnTo>
                <a:lnTo>
                  <a:pt x="2094857" y="572995"/>
                </a:lnTo>
                <a:lnTo>
                  <a:pt x="2141514" y="582457"/>
                </a:lnTo>
                <a:lnTo>
                  <a:pt x="2187536" y="593534"/>
                </a:lnTo>
                <a:lnTo>
                  <a:pt x="2232887" y="606194"/>
                </a:lnTo>
                <a:lnTo>
                  <a:pt x="2277535" y="620406"/>
                </a:lnTo>
                <a:lnTo>
                  <a:pt x="2321447" y="636137"/>
                </a:lnTo>
                <a:lnTo>
                  <a:pt x="2364588" y="653354"/>
                </a:lnTo>
                <a:lnTo>
                  <a:pt x="2406927" y="672026"/>
                </a:lnTo>
                <a:lnTo>
                  <a:pt x="2448430" y="692119"/>
                </a:lnTo>
                <a:lnTo>
                  <a:pt x="2489062" y="713603"/>
                </a:lnTo>
                <a:lnTo>
                  <a:pt x="2528792" y="736445"/>
                </a:lnTo>
                <a:lnTo>
                  <a:pt x="2567585" y="760612"/>
                </a:lnTo>
                <a:lnTo>
                  <a:pt x="2605409" y="786072"/>
                </a:lnTo>
                <a:lnTo>
                  <a:pt x="2642230" y="812793"/>
                </a:lnTo>
                <a:lnTo>
                  <a:pt x="2678015" y="840743"/>
                </a:lnTo>
                <a:lnTo>
                  <a:pt x="2712731" y="869889"/>
                </a:lnTo>
                <a:lnTo>
                  <a:pt x="2746343" y="900199"/>
                </a:lnTo>
                <a:lnTo>
                  <a:pt x="2778820" y="931641"/>
                </a:lnTo>
                <a:lnTo>
                  <a:pt x="2810127" y="964183"/>
                </a:lnTo>
                <a:lnTo>
                  <a:pt x="2840232" y="997792"/>
                </a:lnTo>
                <a:lnTo>
                  <a:pt x="2869101" y="1032437"/>
                </a:lnTo>
                <a:lnTo>
                  <a:pt x="2896700" y="1068084"/>
                </a:lnTo>
                <a:lnTo>
                  <a:pt x="2922997" y="1104702"/>
                </a:lnTo>
                <a:lnTo>
                  <a:pt x="2947959" y="1142259"/>
                </a:lnTo>
                <a:lnTo>
                  <a:pt x="2971551" y="1180722"/>
                </a:lnTo>
                <a:lnTo>
                  <a:pt x="2993740" y="1220058"/>
                </a:lnTo>
                <a:lnTo>
                  <a:pt x="3014494" y="1260237"/>
                </a:lnTo>
                <a:lnTo>
                  <a:pt x="3033780" y="1301224"/>
                </a:lnTo>
                <a:lnTo>
                  <a:pt x="3051562" y="1342989"/>
                </a:lnTo>
                <a:lnTo>
                  <a:pt x="3067809" y="1385499"/>
                </a:lnTo>
                <a:lnTo>
                  <a:pt x="3082488" y="1428722"/>
                </a:lnTo>
                <a:lnTo>
                  <a:pt x="3095564" y="1472624"/>
                </a:lnTo>
                <a:lnTo>
                  <a:pt x="3107005" y="1517176"/>
                </a:lnTo>
                <a:lnTo>
                  <a:pt x="3116777" y="1562343"/>
                </a:lnTo>
                <a:lnTo>
                  <a:pt x="3124846" y="1608093"/>
                </a:lnTo>
                <a:lnTo>
                  <a:pt x="3131181" y="1654395"/>
                </a:lnTo>
                <a:lnTo>
                  <a:pt x="3135747" y="1701216"/>
                </a:lnTo>
                <a:lnTo>
                  <a:pt x="3138511" y="1748525"/>
                </a:lnTo>
                <a:lnTo>
                  <a:pt x="3139440" y="1796288"/>
                </a:lnTo>
                <a:lnTo>
                  <a:pt x="3138412" y="1846512"/>
                </a:lnTo>
                <a:lnTo>
                  <a:pt x="3135357" y="1896231"/>
                </a:lnTo>
                <a:lnTo>
                  <a:pt x="3130312" y="1945407"/>
                </a:lnTo>
                <a:lnTo>
                  <a:pt x="3123317" y="1994003"/>
                </a:lnTo>
                <a:lnTo>
                  <a:pt x="3114409" y="2041982"/>
                </a:lnTo>
                <a:lnTo>
                  <a:pt x="3103628" y="2089305"/>
                </a:lnTo>
                <a:lnTo>
                  <a:pt x="3091013" y="2135936"/>
                </a:lnTo>
                <a:lnTo>
                  <a:pt x="3076602" y="2181836"/>
                </a:lnTo>
                <a:lnTo>
                  <a:pt x="3060434" y="2226969"/>
                </a:lnTo>
                <a:lnTo>
                  <a:pt x="3042548" y="2271297"/>
                </a:lnTo>
                <a:lnTo>
                  <a:pt x="3022983" y="2314783"/>
                </a:lnTo>
                <a:lnTo>
                  <a:pt x="3001777" y="2357388"/>
                </a:lnTo>
                <a:lnTo>
                  <a:pt x="2978969" y="2399076"/>
                </a:lnTo>
                <a:lnTo>
                  <a:pt x="2954598" y="2439809"/>
                </a:lnTo>
                <a:lnTo>
                  <a:pt x="2928703" y="2479549"/>
                </a:lnTo>
                <a:lnTo>
                  <a:pt x="2901322" y="2518260"/>
                </a:lnTo>
                <a:lnTo>
                  <a:pt x="2872494" y="2555903"/>
                </a:lnTo>
                <a:lnTo>
                  <a:pt x="2842259" y="2592441"/>
                </a:lnTo>
                <a:lnTo>
                  <a:pt x="2810654" y="2627837"/>
                </a:lnTo>
                <a:lnTo>
                  <a:pt x="2777719" y="2662053"/>
                </a:lnTo>
                <a:lnTo>
                  <a:pt x="2743492" y="2695051"/>
                </a:lnTo>
                <a:lnTo>
                  <a:pt x="2708012" y="2726794"/>
                </a:lnTo>
                <a:lnTo>
                  <a:pt x="2671317" y="2757246"/>
                </a:lnTo>
                <a:lnTo>
                  <a:pt x="2667635" y="2759964"/>
                </a:lnTo>
                <a:lnTo>
                  <a:pt x="3414394" y="2759964"/>
                </a:lnTo>
                <a:lnTo>
                  <a:pt x="3482720" y="2650959"/>
                </a:lnTo>
                <a:lnTo>
                  <a:pt x="3505917" y="2608222"/>
                </a:lnTo>
                <a:lnTo>
                  <a:pt x="3527953" y="2564815"/>
                </a:lnTo>
                <a:lnTo>
                  <a:pt x="3548808" y="2520759"/>
                </a:lnTo>
                <a:lnTo>
                  <a:pt x="3568463" y="2476073"/>
                </a:lnTo>
                <a:lnTo>
                  <a:pt x="3586897" y="2430777"/>
                </a:lnTo>
                <a:lnTo>
                  <a:pt x="3604090" y="2384890"/>
                </a:lnTo>
                <a:lnTo>
                  <a:pt x="3620023" y="2338432"/>
                </a:lnTo>
                <a:lnTo>
                  <a:pt x="3634675" y="2291422"/>
                </a:lnTo>
                <a:lnTo>
                  <a:pt x="3648027" y="2243880"/>
                </a:lnTo>
                <a:lnTo>
                  <a:pt x="3660058" y="2195825"/>
                </a:lnTo>
                <a:lnTo>
                  <a:pt x="3670749" y="2147277"/>
                </a:lnTo>
                <a:lnTo>
                  <a:pt x="3680079" y="2098255"/>
                </a:lnTo>
                <a:lnTo>
                  <a:pt x="3688028" y="2048780"/>
                </a:lnTo>
                <a:lnTo>
                  <a:pt x="3694577" y="1998869"/>
                </a:lnTo>
                <a:lnTo>
                  <a:pt x="3699705" y="1948544"/>
                </a:lnTo>
                <a:lnTo>
                  <a:pt x="3703393" y="1897822"/>
                </a:lnTo>
                <a:lnTo>
                  <a:pt x="3705621" y="1846725"/>
                </a:lnTo>
                <a:lnTo>
                  <a:pt x="3706367" y="1795271"/>
                </a:lnTo>
                <a:lnTo>
                  <a:pt x="3705723" y="1747445"/>
                </a:lnTo>
                <a:lnTo>
                  <a:pt x="3703799" y="1699928"/>
                </a:lnTo>
                <a:lnTo>
                  <a:pt x="3700612" y="1652734"/>
                </a:lnTo>
                <a:lnTo>
                  <a:pt x="3696178" y="1605880"/>
                </a:lnTo>
                <a:lnTo>
                  <a:pt x="3690513" y="1559381"/>
                </a:lnTo>
                <a:lnTo>
                  <a:pt x="3683633" y="1513252"/>
                </a:lnTo>
                <a:lnTo>
                  <a:pt x="3675554" y="1467509"/>
                </a:lnTo>
                <a:lnTo>
                  <a:pt x="3666292" y="1422168"/>
                </a:lnTo>
                <a:lnTo>
                  <a:pt x="3655863" y="1377244"/>
                </a:lnTo>
                <a:lnTo>
                  <a:pt x="3644283" y="1332753"/>
                </a:lnTo>
                <a:lnTo>
                  <a:pt x="3631569" y="1288710"/>
                </a:lnTo>
                <a:lnTo>
                  <a:pt x="3617735" y="1245130"/>
                </a:lnTo>
                <a:lnTo>
                  <a:pt x="3602798" y="1202029"/>
                </a:lnTo>
                <a:lnTo>
                  <a:pt x="3586775" y="1159423"/>
                </a:lnTo>
                <a:lnTo>
                  <a:pt x="3569680" y="1117328"/>
                </a:lnTo>
                <a:lnTo>
                  <a:pt x="3551531" y="1075757"/>
                </a:lnTo>
                <a:lnTo>
                  <a:pt x="3532342" y="1034728"/>
                </a:lnTo>
                <a:lnTo>
                  <a:pt x="3512131" y="994256"/>
                </a:lnTo>
                <a:lnTo>
                  <a:pt x="3490913" y="954356"/>
                </a:lnTo>
                <a:lnTo>
                  <a:pt x="3468704" y="915043"/>
                </a:lnTo>
                <a:lnTo>
                  <a:pt x="3445520" y="876334"/>
                </a:lnTo>
                <a:lnTo>
                  <a:pt x="3421377" y="838243"/>
                </a:lnTo>
                <a:lnTo>
                  <a:pt x="3396292" y="800786"/>
                </a:lnTo>
                <a:lnTo>
                  <a:pt x="3370279" y="763980"/>
                </a:lnTo>
                <a:lnTo>
                  <a:pt x="3343356" y="727838"/>
                </a:lnTo>
                <a:lnTo>
                  <a:pt x="3315538" y="692377"/>
                </a:lnTo>
                <a:lnTo>
                  <a:pt x="3286841" y="657613"/>
                </a:lnTo>
                <a:lnTo>
                  <a:pt x="3257281" y="623560"/>
                </a:lnTo>
                <a:lnTo>
                  <a:pt x="3226875" y="590234"/>
                </a:lnTo>
                <a:lnTo>
                  <a:pt x="3195637" y="557652"/>
                </a:lnTo>
                <a:lnTo>
                  <a:pt x="3163585" y="525827"/>
                </a:lnTo>
                <a:lnTo>
                  <a:pt x="3130735" y="494776"/>
                </a:lnTo>
                <a:lnTo>
                  <a:pt x="3097101" y="464515"/>
                </a:lnTo>
                <a:lnTo>
                  <a:pt x="3062701" y="435058"/>
                </a:lnTo>
                <a:lnTo>
                  <a:pt x="3027549" y="406422"/>
                </a:lnTo>
                <a:lnTo>
                  <a:pt x="2991664" y="378622"/>
                </a:lnTo>
                <a:lnTo>
                  <a:pt x="2955059" y="351673"/>
                </a:lnTo>
                <a:lnTo>
                  <a:pt x="2917752" y="325590"/>
                </a:lnTo>
                <a:lnTo>
                  <a:pt x="2879758" y="300391"/>
                </a:lnTo>
                <a:lnTo>
                  <a:pt x="2841093" y="276089"/>
                </a:lnTo>
                <a:lnTo>
                  <a:pt x="2801774" y="252700"/>
                </a:lnTo>
                <a:lnTo>
                  <a:pt x="2761815" y="230240"/>
                </a:lnTo>
                <a:lnTo>
                  <a:pt x="2721235" y="208725"/>
                </a:lnTo>
                <a:lnTo>
                  <a:pt x="2680047" y="188170"/>
                </a:lnTo>
                <a:lnTo>
                  <a:pt x="2638269" y="168590"/>
                </a:lnTo>
                <a:lnTo>
                  <a:pt x="2595916" y="150001"/>
                </a:lnTo>
                <a:lnTo>
                  <a:pt x="2553005" y="132418"/>
                </a:lnTo>
                <a:lnTo>
                  <a:pt x="2509551" y="115857"/>
                </a:lnTo>
                <a:lnTo>
                  <a:pt x="2465570" y="100334"/>
                </a:lnTo>
                <a:lnTo>
                  <a:pt x="2421079" y="85864"/>
                </a:lnTo>
                <a:lnTo>
                  <a:pt x="2376093" y="72462"/>
                </a:lnTo>
                <a:lnTo>
                  <a:pt x="2330629" y="60145"/>
                </a:lnTo>
                <a:lnTo>
                  <a:pt x="2284702" y="48927"/>
                </a:lnTo>
                <a:lnTo>
                  <a:pt x="2238328" y="38823"/>
                </a:lnTo>
                <a:lnTo>
                  <a:pt x="2191524" y="29851"/>
                </a:lnTo>
                <a:lnTo>
                  <a:pt x="2144305" y="22024"/>
                </a:lnTo>
                <a:lnTo>
                  <a:pt x="2096688" y="15359"/>
                </a:lnTo>
                <a:lnTo>
                  <a:pt x="2048688" y="9871"/>
                </a:lnTo>
                <a:lnTo>
                  <a:pt x="2000322" y="5575"/>
                </a:lnTo>
                <a:lnTo>
                  <a:pt x="1951605" y="2488"/>
                </a:lnTo>
                <a:lnTo>
                  <a:pt x="1902553" y="624"/>
                </a:lnTo>
                <a:lnTo>
                  <a:pt x="1853184" y="0"/>
                </a:lnTo>
                <a:close/>
              </a:path>
            </a:pathLst>
          </a:custGeom>
          <a:solidFill>
            <a:srgbClr val="EDEE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6350508" y="272437"/>
            <a:ext cx="4304030" cy="5812155"/>
            <a:chOff x="6350508" y="272437"/>
            <a:chExt cx="4304030" cy="581215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0508" y="272437"/>
              <a:ext cx="4303776" cy="58117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98336" y="714755"/>
              <a:ext cx="744220" cy="158750"/>
            </a:xfrm>
            <a:custGeom>
              <a:avLst/>
              <a:gdLst/>
              <a:ahLst/>
              <a:cxnLst/>
              <a:rect l="l" t="t" r="r" b="b"/>
              <a:pathLst>
                <a:path w="744220" h="158750">
                  <a:moveTo>
                    <a:pt x="743712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743712" y="158496"/>
                  </a:lnTo>
                  <a:lnTo>
                    <a:pt x="7437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6416802" y="1820417"/>
            <a:ext cx="3758565" cy="2636520"/>
          </a:xfrm>
          <a:custGeom>
            <a:avLst/>
            <a:gdLst/>
            <a:ahLst/>
            <a:cxnLst/>
            <a:rect l="l" t="t" r="r" b="b"/>
            <a:pathLst>
              <a:path w="3758565" h="2636520">
                <a:moveTo>
                  <a:pt x="0" y="795527"/>
                </a:moveTo>
                <a:lnTo>
                  <a:pt x="2712720" y="795527"/>
                </a:lnTo>
                <a:lnTo>
                  <a:pt x="2712720" y="0"/>
                </a:lnTo>
                <a:lnTo>
                  <a:pt x="0" y="0"/>
                </a:lnTo>
                <a:lnTo>
                  <a:pt x="0" y="795527"/>
                </a:lnTo>
                <a:close/>
              </a:path>
              <a:path w="3758565" h="2636520">
                <a:moveTo>
                  <a:pt x="24384" y="2636519"/>
                </a:moveTo>
                <a:lnTo>
                  <a:pt x="2720340" y="2636519"/>
                </a:lnTo>
                <a:lnTo>
                  <a:pt x="2720340" y="1371600"/>
                </a:lnTo>
                <a:lnTo>
                  <a:pt x="24384" y="1371600"/>
                </a:lnTo>
                <a:lnTo>
                  <a:pt x="24384" y="2636519"/>
                </a:lnTo>
                <a:close/>
              </a:path>
              <a:path w="3758565" h="2636520">
                <a:moveTo>
                  <a:pt x="2718816" y="1854707"/>
                </a:moveTo>
                <a:lnTo>
                  <a:pt x="3758184" y="1854707"/>
                </a:lnTo>
                <a:lnTo>
                  <a:pt x="3758184" y="1709927"/>
                </a:lnTo>
                <a:lnTo>
                  <a:pt x="2718816" y="1709927"/>
                </a:lnTo>
                <a:lnTo>
                  <a:pt x="2718816" y="1854707"/>
                </a:lnTo>
                <a:close/>
              </a:path>
            </a:pathLst>
          </a:custGeom>
          <a:ln w="25908">
            <a:solidFill>
              <a:srgbClr val="9000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83429" y="2189226"/>
            <a:ext cx="1839595" cy="1431290"/>
          </a:xfrm>
          <a:custGeom>
            <a:avLst/>
            <a:gdLst/>
            <a:ahLst/>
            <a:cxnLst/>
            <a:rect l="l" t="t" r="r" b="b"/>
            <a:pathLst>
              <a:path w="1839595" h="1431289">
                <a:moveTo>
                  <a:pt x="1832864" y="0"/>
                </a:moveTo>
                <a:lnTo>
                  <a:pt x="931418" y="0"/>
                </a:lnTo>
                <a:lnTo>
                  <a:pt x="931418" y="703326"/>
                </a:lnTo>
                <a:lnTo>
                  <a:pt x="0" y="703326"/>
                </a:lnTo>
              </a:path>
              <a:path w="1839595" h="1431289">
                <a:moveTo>
                  <a:pt x="1839595" y="1431036"/>
                </a:moveTo>
                <a:lnTo>
                  <a:pt x="929767" y="1431036"/>
                </a:lnTo>
                <a:lnTo>
                  <a:pt x="929767" y="704088"/>
                </a:lnTo>
                <a:lnTo>
                  <a:pt x="19812" y="704088"/>
                </a:lnTo>
              </a:path>
            </a:pathLst>
          </a:custGeom>
          <a:ln w="19812">
            <a:solidFill>
              <a:srgbClr val="9000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205084" y="3411473"/>
            <a:ext cx="1714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55">
                <a:solidFill>
                  <a:srgbClr val="C00000"/>
                </a:solidFill>
                <a:latin typeface="Tahoma"/>
                <a:cs typeface="Tahoma"/>
              </a:rPr>
              <a:t>√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7257" y="3994911"/>
            <a:ext cx="1171371" cy="2105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97557" y="4646421"/>
            <a:ext cx="985012" cy="1314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90876" y="4960620"/>
            <a:ext cx="1198372" cy="13271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03882" y="5276088"/>
            <a:ext cx="1381379" cy="13271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63317" y="5590044"/>
            <a:ext cx="1262500" cy="1638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2263" y="1408557"/>
            <a:ext cx="2927096" cy="19443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02278" y="1995042"/>
            <a:ext cx="896747" cy="16332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19655" y="2161032"/>
            <a:ext cx="896112" cy="339147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12058" y="2252472"/>
            <a:ext cx="720090" cy="3293591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720139" y="1716209"/>
            <a:ext cx="4388485" cy="1610995"/>
            <a:chOff x="5720139" y="1716209"/>
            <a:chExt cx="4388485" cy="1610995"/>
          </a:xfrm>
        </p:grpSpPr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20139" y="1716209"/>
              <a:ext cx="4387985" cy="40072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4375" y="2140375"/>
              <a:ext cx="4332735" cy="1186408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4738115" y="3621110"/>
            <a:ext cx="3136265" cy="1256665"/>
            <a:chOff x="4738115" y="3621110"/>
            <a:chExt cx="3136265" cy="1256665"/>
          </a:xfrm>
        </p:grpSpPr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79655" y="3621110"/>
              <a:ext cx="3094215" cy="125641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48021" y="4360926"/>
              <a:ext cx="993775" cy="154305"/>
            </a:xfrm>
            <a:custGeom>
              <a:avLst/>
              <a:gdLst/>
              <a:ahLst/>
              <a:cxnLst/>
              <a:rect l="l" t="t" r="r" b="b"/>
              <a:pathLst>
                <a:path w="993775" h="154304">
                  <a:moveTo>
                    <a:pt x="0" y="153924"/>
                  </a:moveTo>
                  <a:lnTo>
                    <a:pt x="993648" y="153924"/>
                  </a:lnTo>
                  <a:lnTo>
                    <a:pt x="993648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16277" y="5663095"/>
            <a:ext cx="1114679" cy="13275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402329" y="5657202"/>
            <a:ext cx="869188" cy="13275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139683" y="3621713"/>
            <a:ext cx="3293364" cy="244228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2263" y="1408557"/>
            <a:ext cx="2927096" cy="19443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090672" y="2066544"/>
            <a:ext cx="2397760" cy="299085"/>
          </a:xfrm>
          <a:custGeom>
            <a:avLst/>
            <a:gdLst/>
            <a:ahLst/>
            <a:cxnLst/>
            <a:rect l="l" t="t" r="r" b="b"/>
            <a:pathLst>
              <a:path w="2397760" h="299085">
                <a:moveTo>
                  <a:pt x="2247900" y="0"/>
                </a:moveTo>
                <a:lnTo>
                  <a:pt x="149351" y="0"/>
                </a:lnTo>
                <a:lnTo>
                  <a:pt x="102168" y="7620"/>
                </a:lnTo>
                <a:lnTo>
                  <a:pt x="61173" y="28834"/>
                </a:lnTo>
                <a:lnTo>
                  <a:pt x="28834" y="61173"/>
                </a:lnTo>
                <a:lnTo>
                  <a:pt x="7619" y="102168"/>
                </a:lnTo>
                <a:lnTo>
                  <a:pt x="0" y="149351"/>
                </a:lnTo>
                <a:lnTo>
                  <a:pt x="7619" y="196535"/>
                </a:lnTo>
                <a:lnTo>
                  <a:pt x="28834" y="237530"/>
                </a:lnTo>
                <a:lnTo>
                  <a:pt x="61173" y="269869"/>
                </a:lnTo>
                <a:lnTo>
                  <a:pt x="102168" y="291083"/>
                </a:lnTo>
                <a:lnTo>
                  <a:pt x="149351" y="298703"/>
                </a:lnTo>
                <a:lnTo>
                  <a:pt x="2247900" y="298703"/>
                </a:lnTo>
                <a:lnTo>
                  <a:pt x="2295083" y="291083"/>
                </a:lnTo>
                <a:lnTo>
                  <a:pt x="2336078" y="269869"/>
                </a:lnTo>
                <a:lnTo>
                  <a:pt x="2368417" y="237530"/>
                </a:lnTo>
                <a:lnTo>
                  <a:pt x="2389631" y="196535"/>
                </a:lnTo>
                <a:lnTo>
                  <a:pt x="2397252" y="149351"/>
                </a:lnTo>
                <a:lnTo>
                  <a:pt x="2389631" y="102168"/>
                </a:lnTo>
                <a:lnTo>
                  <a:pt x="2368417" y="61173"/>
                </a:lnTo>
                <a:lnTo>
                  <a:pt x="2336078" y="28834"/>
                </a:lnTo>
                <a:lnTo>
                  <a:pt x="2295083" y="7620"/>
                </a:lnTo>
                <a:lnTo>
                  <a:pt x="2247900" y="0"/>
                </a:lnTo>
                <a:close/>
              </a:path>
            </a:pathLst>
          </a:custGeom>
          <a:solidFill>
            <a:srgbClr val="6776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323082" y="2068448"/>
            <a:ext cx="187261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Tahoma"/>
                <a:cs typeface="Tahoma"/>
              </a:rPr>
              <a:t>Age</a:t>
            </a:r>
            <a:r>
              <a:rPr dirty="0" sz="16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FFFFFF"/>
                </a:solidFill>
                <a:latin typeface="Tahoma"/>
                <a:cs typeface="Tahoma"/>
              </a:rPr>
              <a:t>41,</a:t>
            </a:r>
            <a:r>
              <a:rPr dirty="0" sz="16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ahoma"/>
                <a:cs typeface="Tahoma"/>
              </a:rPr>
              <a:t>173cm,</a:t>
            </a:r>
            <a:r>
              <a:rPr dirty="0" sz="16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ahoma"/>
                <a:cs typeface="Tahoma"/>
              </a:rPr>
              <a:t>64kg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9" name="object 19" descr="텍스트, 번호, 스크린샷, 폰트이(가) 표시된 사진  자동 생성된 설명"/>
          <p:cNvGrpSpPr/>
          <p:nvPr/>
        </p:nvGrpSpPr>
        <p:grpSpPr>
          <a:xfrm>
            <a:off x="2144267" y="2531364"/>
            <a:ext cx="4485640" cy="2127885"/>
            <a:chOff x="2144267" y="2531364"/>
            <a:chExt cx="4485640" cy="2127885"/>
          </a:xfrm>
        </p:grpSpPr>
        <p:pic>
          <p:nvPicPr>
            <p:cNvPr id="20" name="object 20" descr="텍스트, 번호, 스크린샷, 폰트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4267" y="2531364"/>
              <a:ext cx="4485132" cy="21275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41041" y="2858262"/>
              <a:ext cx="3702050" cy="1711960"/>
            </a:xfrm>
            <a:custGeom>
              <a:avLst/>
              <a:gdLst/>
              <a:ahLst/>
              <a:cxnLst/>
              <a:rect l="l" t="t" r="r" b="b"/>
              <a:pathLst>
                <a:path w="3702050" h="1711960">
                  <a:moveTo>
                    <a:pt x="0" y="697991"/>
                  </a:moveTo>
                  <a:lnTo>
                    <a:pt x="3701796" y="697991"/>
                  </a:lnTo>
                  <a:lnTo>
                    <a:pt x="3701796" y="0"/>
                  </a:lnTo>
                  <a:lnTo>
                    <a:pt x="0" y="0"/>
                  </a:lnTo>
                  <a:lnTo>
                    <a:pt x="0" y="697991"/>
                  </a:lnTo>
                  <a:close/>
                </a:path>
                <a:path w="3702050" h="1711960">
                  <a:moveTo>
                    <a:pt x="0" y="1711452"/>
                  </a:moveTo>
                  <a:lnTo>
                    <a:pt x="3701796" y="1711452"/>
                  </a:lnTo>
                  <a:lnTo>
                    <a:pt x="3701796" y="1013459"/>
                  </a:lnTo>
                  <a:lnTo>
                    <a:pt x="0" y="1013459"/>
                  </a:lnTo>
                  <a:lnTo>
                    <a:pt x="0" y="1711452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576322" y="4846777"/>
            <a:ext cx="3502025" cy="1088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143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A4F5A"/>
                </a:solidFill>
                <a:latin typeface="Tahoma"/>
                <a:cs typeface="Tahoma"/>
              </a:rPr>
              <a:t>Limb</a:t>
            </a:r>
            <a:r>
              <a:rPr dirty="0" sz="1600" spc="-16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125">
                <a:solidFill>
                  <a:srgbClr val="4A4F5A"/>
                </a:solidFill>
                <a:latin typeface="Tahoma"/>
                <a:cs typeface="Tahoma"/>
              </a:rPr>
              <a:t>SMM</a:t>
            </a:r>
            <a:r>
              <a:rPr dirty="0" sz="1600" spc="-1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395" b="1">
                <a:solidFill>
                  <a:srgbClr val="4A4F5A"/>
                </a:solidFill>
                <a:latin typeface="Tahoma"/>
                <a:cs typeface="Tahoma"/>
              </a:rPr>
              <a:t>÷</a:t>
            </a:r>
            <a:r>
              <a:rPr dirty="0" sz="1600" spc="-155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4A4F5A"/>
                </a:solidFill>
                <a:latin typeface="Tahoma"/>
                <a:cs typeface="Tahoma"/>
              </a:rPr>
              <a:t>height</a:t>
            </a:r>
            <a:r>
              <a:rPr dirty="0" sz="1600" spc="-1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A4F5A"/>
                </a:solidFill>
                <a:latin typeface="Tahoma"/>
                <a:cs typeface="Tahoma"/>
              </a:rPr>
              <a:t>squared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600" spc="-35">
                <a:solidFill>
                  <a:srgbClr val="4A4F5A"/>
                </a:solidFill>
                <a:latin typeface="Tahoma"/>
                <a:cs typeface="Tahoma"/>
              </a:rPr>
              <a:t>(2.50</a:t>
            </a:r>
            <a:r>
              <a:rPr dirty="0" sz="1600" spc="-1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4A4F5A"/>
                </a:solidFill>
                <a:latin typeface="Tahoma"/>
                <a:cs typeface="Tahoma"/>
              </a:rPr>
              <a:t>+</a:t>
            </a:r>
            <a:r>
              <a:rPr dirty="0" sz="1600" spc="-1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A4F5A"/>
                </a:solidFill>
                <a:latin typeface="Tahoma"/>
                <a:cs typeface="Tahoma"/>
              </a:rPr>
              <a:t>2.61</a:t>
            </a:r>
            <a:r>
              <a:rPr dirty="0" sz="1600" spc="-1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4A4F5A"/>
                </a:solidFill>
                <a:latin typeface="Tahoma"/>
                <a:cs typeface="Tahoma"/>
              </a:rPr>
              <a:t>+</a:t>
            </a:r>
            <a:r>
              <a:rPr dirty="0" sz="1600" spc="-1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4A4F5A"/>
                </a:solidFill>
                <a:latin typeface="Tahoma"/>
                <a:cs typeface="Tahoma"/>
              </a:rPr>
              <a:t>6.45</a:t>
            </a:r>
            <a:r>
              <a:rPr dirty="0" sz="1600" spc="-1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4A4F5A"/>
                </a:solidFill>
                <a:latin typeface="Tahoma"/>
                <a:cs typeface="Tahoma"/>
              </a:rPr>
              <a:t>+</a:t>
            </a:r>
            <a:r>
              <a:rPr dirty="0" sz="1600" spc="-1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4A4F5A"/>
                </a:solidFill>
                <a:latin typeface="Tahoma"/>
                <a:cs typeface="Tahoma"/>
              </a:rPr>
              <a:t>6.43)</a:t>
            </a:r>
            <a:r>
              <a:rPr dirty="0" sz="1600" spc="-1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395" b="1">
                <a:solidFill>
                  <a:srgbClr val="4A4F5A"/>
                </a:solidFill>
                <a:latin typeface="Tahoma"/>
                <a:cs typeface="Tahoma"/>
              </a:rPr>
              <a:t>÷</a:t>
            </a:r>
            <a:r>
              <a:rPr dirty="0" sz="1600" spc="-15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4A4F5A"/>
                </a:solidFill>
                <a:latin typeface="Tahoma"/>
                <a:cs typeface="Tahoma"/>
              </a:rPr>
              <a:t>2.99</a:t>
            </a:r>
            <a:r>
              <a:rPr dirty="0" sz="1600" spc="-1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4A4F5A"/>
                </a:solidFill>
                <a:latin typeface="Tahoma"/>
                <a:cs typeface="Tahoma"/>
              </a:rPr>
              <a:t>=</a:t>
            </a:r>
            <a:r>
              <a:rPr dirty="0" sz="1600" spc="-1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9F112C"/>
                </a:solidFill>
                <a:latin typeface="Tahoma"/>
                <a:cs typeface="Tahoma"/>
              </a:rPr>
              <a:t>6.01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25011" y="5152644"/>
            <a:ext cx="76200" cy="389890"/>
          </a:xfrm>
          <a:custGeom>
            <a:avLst/>
            <a:gdLst/>
            <a:ahLst/>
            <a:cxnLst/>
            <a:rect l="l" t="t" r="r" b="b"/>
            <a:pathLst>
              <a:path w="76200" h="389889">
                <a:moveTo>
                  <a:pt x="31750" y="313562"/>
                </a:moveTo>
                <a:lnTo>
                  <a:pt x="0" y="313562"/>
                </a:lnTo>
                <a:lnTo>
                  <a:pt x="38100" y="389762"/>
                </a:lnTo>
                <a:lnTo>
                  <a:pt x="69850" y="326262"/>
                </a:lnTo>
                <a:lnTo>
                  <a:pt x="31750" y="326262"/>
                </a:lnTo>
                <a:lnTo>
                  <a:pt x="31750" y="313562"/>
                </a:lnTo>
                <a:close/>
              </a:path>
              <a:path w="76200" h="389889">
                <a:moveTo>
                  <a:pt x="44450" y="0"/>
                </a:moveTo>
                <a:lnTo>
                  <a:pt x="31750" y="0"/>
                </a:lnTo>
                <a:lnTo>
                  <a:pt x="31750" y="326262"/>
                </a:lnTo>
                <a:lnTo>
                  <a:pt x="44450" y="326262"/>
                </a:lnTo>
                <a:lnTo>
                  <a:pt x="44450" y="0"/>
                </a:lnTo>
                <a:close/>
              </a:path>
              <a:path w="76200" h="389889">
                <a:moveTo>
                  <a:pt x="76200" y="313562"/>
                </a:moveTo>
                <a:lnTo>
                  <a:pt x="44450" y="313562"/>
                </a:lnTo>
                <a:lnTo>
                  <a:pt x="44450" y="326262"/>
                </a:lnTo>
                <a:lnTo>
                  <a:pt x="69850" y="326262"/>
                </a:lnTo>
                <a:lnTo>
                  <a:pt x="76200" y="313562"/>
                </a:lnTo>
                <a:close/>
              </a:path>
            </a:pathLst>
          </a:custGeom>
          <a:solidFill>
            <a:srgbClr val="9F1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57215" y="5152644"/>
            <a:ext cx="76200" cy="389890"/>
          </a:xfrm>
          <a:custGeom>
            <a:avLst/>
            <a:gdLst/>
            <a:ahLst/>
            <a:cxnLst/>
            <a:rect l="l" t="t" r="r" b="b"/>
            <a:pathLst>
              <a:path w="76200" h="389889">
                <a:moveTo>
                  <a:pt x="31750" y="313562"/>
                </a:moveTo>
                <a:lnTo>
                  <a:pt x="0" y="313562"/>
                </a:lnTo>
                <a:lnTo>
                  <a:pt x="38100" y="389762"/>
                </a:lnTo>
                <a:lnTo>
                  <a:pt x="69850" y="326262"/>
                </a:lnTo>
                <a:lnTo>
                  <a:pt x="31750" y="326262"/>
                </a:lnTo>
                <a:lnTo>
                  <a:pt x="31750" y="313562"/>
                </a:lnTo>
                <a:close/>
              </a:path>
              <a:path w="76200" h="389889">
                <a:moveTo>
                  <a:pt x="44450" y="0"/>
                </a:moveTo>
                <a:lnTo>
                  <a:pt x="31750" y="0"/>
                </a:lnTo>
                <a:lnTo>
                  <a:pt x="31750" y="326262"/>
                </a:lnTo>
                <a:lnTo>
                  <a:pt x="44450" y="326262"/>
                </a:lnTo>
                <a:lnTo>
                  <a:pt x="44450" y="0"/>
                </a:lnTo>
                <a:close/>
              </a:path>
              <a:path w="76200" h="389889">
                <a:moveTo>
                  <a:pt x="76200" y="313562"/>
                </a:moveTo>
                <a:lnTo>
                  <a:pt x="44450" y="313562"/>
                </a:lnTo>
                <a:lnTo>
                  <a:pt x="44450" y="326262"/>
                </a:lnTo>
                <a:lnTo>
                  <a:pt x="69850" y="326262"/>
                </a:lnTo>
                <a:lnTo>
                  <a:pt x="76200" y="31356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텍스트, 도표, 평행, 번호이(가) 표시된 사진  자동 생성된 설명"/>
          <p:cNvGrpSpPr/>
          <p:nvPr/>
        </p:nvGrpSpPr>
        <p:grpSpPr>
          <a:xfrm>
            <a:off x="6783323" y="1659635"/>
            <a:ext cx="3584575" cy="4415155"/>
            <a:chOff x="6783323" y="1659635"/>
            <a:chExt cx="3584575" cy="4415155"/>
          </a:xfrm>
        </p:grpSpPr>
        <p:pic>
          <p:nvPicPr>
            <p:cNvPr id="14" name="object 14" descr="텍스트, 도표, 평행, 번호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83323" y="1659635"/>
              <a:ext cx="3584448" cy="44150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088123" y="5478779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0" y="271272"/>
                  </a:moveTo>
                  <a:lnTo>
                    <a:pt x="4369" y="222509"/>
                  </a:lnTo>
                  <a:lnTo>
                    <a:pt x="16966" y="176615"/>
                  </a:lnTo>
                  <a:lnTo>
                    <a:pt x="37027" y="134354"/>
                  </a:lnTo>
                  <a:lnTo>
                    <a:pt x="63786" y="96493"/>
                  </a:lnTo>
                  <a:lnTo>
                    <a:pt x="96478" y="63798"/>
                  </a:lnTo>
                  <a:lnTo>
                    <a:pt x="134337" y="37036"/>
                  </a:lnTo>
                  <a:lnTo>
                    <a:pt x="176600" y="16971"/>
                  </a:lnTo>
                  <a:lnTo>
                    <a:pt x="222499" y="4370"/>
                  </a:lnTo>
                  <a:lnTo>
                    <a:pt x="271272" y="0"/>
                  </a:lnTo>
                  <a:lnTo>
                    <a:pt x="320044" y="4370"/>
                  </a:lnTo>
                  <a:lnTo>
                    <a:pt x="365943" y="16971"/>
                  </a:lnTo>
                  <a:lnTo>
                    <a:pt x="408206" y="37036"/>
                  </a:lnTo>
                  <a:lnTo>
                    <a:pt x="446065" y="63798"/>
                  </a:lnTo>
                  <a:lnTo>
                    <a:pt x="478757" y="96493"/>
                  </a:lnTo>
                  <a:lnTo>
                    <a:pt x="505516" y="134354"/>
                  </a:lnTo>
                  <a:lnTo>
                    <a:pt x="525577" y="176615"/>
                  </a:lnTo>
                  <a:lnTo>
                    <a:pt x="538174" y="222509"/>
                  </a:lnTo>
                  <a:lnTo>
                    <a:pt x="542544" y="271272"/>
                  </a:lnTo>
                  <a:lnTo>
                    <a:pt x="538174" y="320034"/>
                  </a:lnTo>
                  <a:lnTo>
                    <a:pt x="525577" y="365928"/>
                  </a:lnTo>
                  <a:lnTo>
                    <a:pt x="505516" y="408189"/>
                  </a:lnTo>
                  <a:lnTo>
                    <a:pt x="478757" y="446050"/>
                  </a:lnTo>
                  <a:lnTo>
                    <a:pt x="446065" y="478745"/>
                  </a:lnTo>
                  <a:lnTo>
                    <a:pt x="408206" y="505507"/>
                  </a:lnTo>
                  <a:lnTo>
                    <a:pt x="365943" y="525572"/>
                  </a:lnTo>
                  <a:lnTo>
                    <a:pt x="320044" y="538173"/>
                  </a:lnTo>
                  <a:lnTo>
                    <a:pt x="271272" y="542544"/>
                  </a:lnTo>
                  <a:lnTo>
                    <a:pt x="222499" y="538173"/>
                  </a:lnTo>
                  <a:lnTo>
                    <a:pt x="176600" y="525572"/>
                  </a:lnTo>
                  <a:lnTo>
                    <a:pt x="134337" y="505507"/>
                  </a:lnTo>
                  <a:lnTo>
                    <a:pt x="96478" y="478745"/>
                  </a:lnTo>
                  <a:lnTo>
                    <a:pt x="63786" y="446050"/>
                  </a:lnTo>
                  <a:lnTo>
                    <a:pt x="37027" y="408189"/>
                  </a:lnTo>
                  <a:lnTo>
                    <a:pt x="16966" y="365928"/>
                  </a:lnTo>
                  <a:lnTo>
                    <a:pt x="4369" y="320034"/>
                  </a:lnTo>
                  <a:lnTo>
                    <a:pt x="0" y="271272"/>
                  </a:lnTo>
                  <a:close/>
                </a:path>
              </a:pathLst>
            </a:custGeom>
            <a:ln w="1219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42263" y="1419986"/>
            <a:ext cx="342900" cy="151130"/>
          </a:xfrm>
          <a:custGeom>
            <a:avLst/>
            <a:gdLst/>
            <a:ahLst/>
            <a:cxnLst/>
            <a:rect l="l" t="t" r="r" b="b"/>
            <a:pathLst>
              <a:path w="342900" h="151130">
                <a:moveTo>
                  <a:pt x="149606" y="1904"/>
                </a:moveTo>
                <a:lnTo>
                  <a:pt x="117475" y="1904"/>
                </a:lnTo>
                <a:lnTo>
                  <a:pt x="117475" y="149351"/>
                </a:lnTo>
                <a:lnTo>
                  <a:pt x="147700" y="149351"/>
                </a:lnTo>
                <a:lnTo>
                  <a:pt x="147574" y="60325"/>
                </a:lnTo>
                <a:lnTo>
                  <a:pt x="147193" y="53212"/>
                </a:lnTo>
                <a:lnTo>
                  <a:pt x="146953" y="51053"/>
                </a:lnTo>
                <a:lnTo>
                  <a:pt x="177416" y="51053"/>
                </a:lnTo>
                <a:lnTo>
                  <a:pt x="154305" y="5587"/>
                </a:lnTo>
                <a:lnTo>
                  <a:pt x="151384" y="2666"/>
                </a:lnTo>
                <a:lnTo>
                  <a:pt x="149606" y="1904"/>
                </a:lnTo>
                <a:close/>
              </a:path>
              <a:path w="342900" h="151130">
                <a:moveTo>
                  <a:pt x="283463" y="51053"/>
                </a:moveTo>
                <a:lnTo>
                  <a:pt x="253873" y="51053"/>
                </a:lnTo>
                <a:lnTo>
                  <a:pt x="253492" y="55752"/>
                </a:lnTo>
                <a:lnTo>
                  <a:pt x="253237" y="60325"/>
                </a:lnTo>
                <a:lnTo>
                  <a:pt x="253237" y="149351"/>
                </a:lnTo>
                <a:lnTo>
                  <a:pt x="283463" y="149351"/>
                </a:lnTo>
                <a:lnTo>
                  <a:pt x="283463" y="51053"/>
                </a:lnTo>
                <a:close/>
              </a:path>
              <a:path w="342900" h="151130">
                <a:moveTo>
                  <a:pt x="177416" y="51053"/>
                </a:moveTo>
                <a:lnTo>
                  <a:pt x="147004" y="51053"/>
                </a:lnTo>
                <a:lnTo>
                  <a:pt x="186181" y="126873"/>
                </a:lnTo>
                <a:lnTo>
                  <a:pt x="195580" y="134112"/>
                </a:lnTo>
                <a:lnTo>
                  <a:pt x="205486" y="134112"/>
                </a:lnTo>
                <a:lnTo>
                  <a:pt x="214756" y="126873"/>
                </a:lnTo>
                <a:lnTo>
                  <a:pt x="229499" y="98298"/>
                </a:lnTo>
                <a:lnTo>
                  <a:pt x="200533" y="98298"/>
                </a:lnTo>
                <a:lnTo>
                  <a:pt x="199390" y="95376"/>
                </a:lnTo>
                <a:lnTo>
                  <a:pt x="195580" y="86995"/>
                </a:lnTo>
                <a:lnTo>
                  <a:pt x="194309" y="84327"/>
                </a:lnTo>
                <a:lnTo>
                  <a:pt x="193040" y="81787"/>
                </a:lnTo>
                <a:lnTo>
                  <a:pt x="177416" y="51053"/>
                </a:lnTo>
                <a:close/>
              </a:path>
              <a:path w="342900" h="151130">
                <a:moveTo>
                  <a:pt x="283463" y="1904"/>
                </a:moveTo>
                <a:lnTo>
                  <a:pt x="251333" y="1904"/>
                </a:lnTo>
                <a:lnTo>
                  <a:pt x="249555" y="2666"/>
                </a:lnTo>
                <a:lnTo>
                  <a:pt x="208025" y="81534"/>
                </a:lnTo>
                <a:lnTo>
                  <a:pt x="200533" y="98298"/>
                </a:lnTo>
                <a:lnTo>
                  <a:pt x="229499" y="98298"/>
                </a:lnTo>
                <a:lnTo>
                  <a:pt x="253873" y="51053"/>
                </a:lnTo>
                <a:lnTo>
                  <a:pt x="283463" y="51053"/>
                </a:lnTo>
                <a:lnTo>
                  <a:pt x="283463" y="1904"/>
                </a:lnTo>
                <a:close/>
              </a:path>
              <a:path w="342900" h="151130">
                <a:moveTo>
                  <a:pt x="342392" y="1650"/>
                </a:moveTo>
                <a:lnTo>
                  <a:pt x="307975" y="1650"/>
                </a:lnTo>
                <a:lnTo>
                  <a:pt x="307975" y="149351"/>
                </a:lnTo>
                <a:lnTo>
                  <a:pt x="342392" y="149351"/>
                </a:lnTo>
                <a:lnTo>
                  <a:pt x="342392" y="1650"/>
                </a:lnTo>
                <a:close/>
              </a:path>
              <a:path w="342900" h="151130">
                <a:moveTo>
                  <a:pt x="19684" y="111378"/>
                </a:moveTo>
                <a:lnTo>
                  <a:pt x="16128" y="111378"/>
                </a:lnTo>
                <a:lnTo>
                  <a:pt x="14731" y="111760"/>
                </a:lnTo>
                <a:lnTo>
                  <a:pt x="11937" y="113284"/>
                </a:lnTo>
                <a:lnTo>
                  <a:pt x="10921" y="114300"/>
                </a:lnTo>
                <a:lnTo>
                  <a:pt x="10159" y="115442"/>
                </a:lnTo>
                <a:lnTo>
                  <a:pt x="0" y="131445"/>
                </a:lnTo>
                <a:lnTo>
                  <a:pt x="2921" y="134365"/>
                </a:lnTo>
                <a:lnTo>
                  <a:pt x="36703" y="149478"/>
                </a:lnTo>
                <a:lnTo>
                  <a:pt x="41402" y="150495"/>
                </a:lnTo>
                <a:lnTo>
                  <a:pt x="46100" y="151002"/>
                </a:lnTo>
                <a:lnTo>
                  <a:pt x="59055" y="151002"/>
                </a:lnTo>
                <a:lnTo>
                  <a:pt x="66548" y="149733"/>
                </a:lnTo>
                <a:lnTo>
                  <a:pt x="79756" y="144652"/>
                </a:lnTo>
                <a:lnTo>
                  <a:pt x="85343" y="141097"/>
                </a:lnTo>
                <a:lnTo>
                  <a:pt x="89789" y="136651"/>
                </a:lnTo>
                <a:lnTo>
                  <a:pt x="94361" y="132334"/>
                </a:lnTo>
                <a:lnTo>
                  <a:pt x="97662" y="127126"/>
                </a:lnTo>
                <a:lnTo>
                  <a:pt x="98997" y="123825"/>
                </a:lnTo>
                <a:lnTo>
                  <a:pt x="47117" y="123825"/>
                </a:lnTo>
                <a:lnTo>
                  <a:pt x="43180" y="123189"/>
                </a:lnTo>
                <a:lnTo>
                  <a:pt x="39750" y="121792"/>
                </a:lnTo>
                <a:lnTo>
                  <a:pt x="36449" y="120523"/>
                </a:lnTo>
                <a:lnTo>
                  <a:pt x="33400" y="119125"/>
                </a:lnTo>
                <a:lnTo>
                  <a:pt x="30861" y="117601"/>
                </a:lnTo>
                <a:lnTo>
                  <a:pt x="28193" y="116077"/>
                </a:lnTo>
                <a:lnTo>
                  <a:pt x="25908" y="114680"/>
                </a:lnTo>
                <a:lnTo>
                  <a:pt x="23875" y="113284"/>
                </a:lnTo>
                <a:lnTo>
                  <a:pt x="21717" y="112013"/>
                </a:lnTo>
                <a:lnTo>
                  <a:pt x="19684" y="111378"/>
                </a:lnTo>
                <a:close/>
              </a:path>
              <a:path w="342900" h="151130">
                <a:moveTo>
                  <a:pt x="60959" y="0"/>
                </a:moveTo>
                <a:lnTo>
                  <a:pt x="48259" y="0"/>
                </a:lnTo>
                <a:lnTo>
                  <a:pt x="41148" y="1270"/>
                </a:lnTo>
                <a:lnTo>
                  <a:pt x="9249" y="27432"/>
                </a:lnTo>
                <a:lnTo>
                  <a:pt x="6858" y="33020"/>
                </a:lnTo>
                <a:lnTo>
                  <a:pt x="5715" y="38353"/>
                </a:lnTo>
                <a:lnTo>
                  <a:pt x="5715" y="50800"/>
                </a:lnTo>
                <a:lnTo>
                  <a:pt x="6642" y="56134"/>
                </a:lnTo>
                <a:lnTo>
                  <a:pt x="6731" y="56641"/>
                </a:lnTo>
                <a:lnTo>
                  <a:pt x="8533" y="61087"/>
                </a:lnTo>
                <a:lnTo>
                  <a:pt x="10414" y="66039"/>
                </a:lnTo>
                <a:lnTo>
                  <a:pt x="38608" y="85471"/>
                </a:lnTo>
                <a:lnTo>
                  <a:pt x="42671" y="86867"/>
                </a:lnTo>
                <a:lnTo>
                  <a:pt x="50673" y="89153"/>
                </a:lnTo>
                <a:lnTo>
                  <a:pt x="54609" y="90170"/>
                </a:lnTo>
                <a:lnTo>
                  <a:pt x="58039" y="91439"/>
                </a:lnTo>
                <a:lnTo>
                  <a:pt x="64134" y="94234"/>
                </a:lnTo>
                <a:lnTo>
                  <a:pt x="66675" y="96138"/>
                </a:lnTo>
                <a:lnTo>
                  <a:pt x="70484" y="100457"/>
                </a:lnTo>
                <a:lnTo>
                  <a:pt x="71374" y="103250"/>
                </a:lnTo>
                <a:lnTo>
                  <a:pt x="71374" y="112649"/>
                </a:lnTo>
                <a:lnTo>
                  <a:pt x="69723" y="116966"/>
                </a:lnTo>
                <a:lnTo>
                  <a:pt x="62737" y="122427"/>
                </a:lnTo>
                <a:lnTo>
                  <a:pt x="57912" y="123825"/>
                </a:lnTo>
                <a:lnTo>
                  <a:pt x="98997" y="123825"/>
                </a:lnTo>
                <a:lnTo>
                  <a:pt x="102386" y="115442"/>
                </a:lnTo>
                <a:lnTo>
                  <a:pt x="102489" y="115188"/>
                </a:lnTo>
                <a:lnTo>
                  <a:pt x="103631" y="108838"/>
                </a:lnTo>
                <a:lnTo>
                  <a:pt x="103631" y="95885"/>
                </a:lnTo>
                <a:lnTo>
                  <a:pt x="102743" y="90550"/>
                </a:lnTo>
                <a:lnTo>
                  <a:pt x="82803" y="67690"/>
                </a:lnTo>
                <a:lnTo>
                  <a:pt x="78867" y="65659"/>
                </a:lnTo>
                <a:lnTo>
                  <a:pt x="74803" y="64008"/>
                </a:lnTo>
                <a:lnTo>
                  <a:pt x="70739" y="62484"/>
                </a:lnTo>
                <a:lnTo>
                  <a:pt x="66548" y="61087"/>
                </a:lnTo>
                <a:lnTo>
                  <a:pt x="62484" y="59689"/>
                </a:lnTo>
                <a:lnTo>
                  <a:pt x="54609" y="57403"/>
                </a:lnTo>
                <a:lnTo>
                  <a:pt x="51181" y="56134"/>
                </a:lnTo>
                <a:lnTo>
                  <a:pt x="48006" y="54610"/>
                </a:lnTo>
                <a:lnTo>
                  <a:pt x="44958" y="53212"/>
                </a:lnTo>
                <a:lnTo>
                  <a:pt x="42545" y="51562"/>
                </a:lnTo>
                <a:lnTo>
                  <a:pt x="40640" y="49529"/>
                </a:lnTo>
                <a:lnTo>
                  <a:pt x="38734" y="47625"/>
                </a:lnTo>
                <a:lnTo>
                  <a:pt x="37718" y="45212"/>
                </a:lnTo>
                <a:lnTo>
                  <a:pt x="37718" y="37591"/>
                </a:lnTo>
                <a:lnTo>
                  <a:pt x="39259" y="34036"/>
                </a:lnTo>
                <a:lnTo>
                  <a:pt x="39370" y="33782"/>
                </a:lnTo>
                <a:lnTo>
                  <a:pt x="45448" y="28448"/>
                </a:lnTo>
                <a:lnTo>
                  <a:pt x="45110" y="28448"/>
                </a:lnTo>
                <a:lnTo>
                  <a:pt x="50418" y="27050"/>
                </a:lnTo>
                <a:lnTo>
                  <a:pt x="95541" y="27050"/>
                </a:lnTo>
                <a:lnTo>
                  <a:pt x="101600" y="15748"/>
                </a:lnTo>
                <a:lnTo>
                  <a:pt x="81787" y="4190"/>
                </a:lnTo>
                <a:lnTo>
                  <a:pt x="77978" y="2793"/>
                </a:lnTo>
                <a:lnTo>
                  <a:pt x="73914" y="1777"/>
                </a:lnTo>
                <a:lnTo>
                  <a:pt x="69596" y="1142"/>
                </a:lnTo>
                <a:lnTo>
                  <a:pt x="65405" y="380"/>
                </a:lnTo>
                <a:lnTo>
                  <a:pt x="60959" y="0"/>
                </a:lnTo>
                <a:close/>
              </a:path>
              <a:path w="342900" h="151130">
                <a:moveTo>
                  <a:pt x="95541" y="27050"/>
                </a:moveTo>
                <a:lnTo>
                  <a:pt x="60578" y="27050"/>
                </a:lnTo>
                <a:lnTo>
                  <a:pt x="63881" y="27432"/>
                </a:lnTo>
                <a:lnTo>
                  <a:pt x="66802" y="28448"/>
                </a:lnTo>
                <a:lnTo>
                  <a:pt x="69596" y="29463"/>
                </a:lnTo>
                <a:lnTo>
                  <a:pt x="72262" y="30479"/>
                </a:lnTo>
                <a:lnTo>
                  <a:pt x="74549" y="31750"/>
                </a:lnTo>
                <a:lnTo>
                  <a:pt x="76708" y="33020"/>
                </a:lnTo>
                <a:lnTo>
                  <a:pt x="78740" y="34036"/>
                </a:lnTo>
                <a:lnTo>
                  <a:pt x="80645" y="35051"/>
                </a:lnTo>
                <a:lnTo>
                  <a:pt x="82423" y="36067"/>
                </a:lnTo>
                <a:lnTo>
                  <a:pt x="84074" y="36575"/>
                </a:lnTo>
                <a:lnTo>
                  <a:pt x="87375" y="36575"/>
                </a:lnTo>
                <a:lnTo>
                  <a:pt x="88773" y="36067"/>
                </a:lnTo>
                <a:lnTo>
                  <a:pt x="91059" y="34543"/>
                </a:lnTo>
                <a:lnTo>
                  <a:pt x="92075" y="33274"/>
                </a:lnTo>
                <a:lnTo>
                  <a:pt x="93012" y="31750"/>
                </a:lnTo>
                <a:lnTo>
                  <a:pt x="95541" y="27050"/>
                </a:lnTo>
                <a:close/>
              </a:path>
            </a:pathLst>
          </a:custGeom>
          <a:solidFill>
            <a:srgbClr val="9F1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43964" y="1469389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5400" h="101600">
                <a:moveTo>
                  <a:pt x="14350" y="75946"/>
                </a:moveTo>
                <a:lnTo>
                  <a:pt x="10922" y="75946"/>
                </a:lnTo>
                <a:lnTo>
                  <a:pt x="9271" y="76326"/>
                </a:lnTo>
                <a:lnTo>
                  <a:pt x="0" y="86995"/>
                </a:lnTo>
                <a:lnTo>
                  <a:pt x="0" y="90550"/>
                </a:lnTo>
                <a:lnTo>
                  <a:pt x="10922" y="101473"/>
                </a:lnTo>
                <a:lnTo>
                  <a:pt x="14350" y="101473"/>
                </a:lnTo>
                <a:lnTo>
                  <a:pt x="25273" y="90550"/>
                </a:lnTo>
                <a:lnTo>
                  <a:pt x="25273" y="86995"/>
                </a:lnTo>
                <a:lnTo>
                  <a:pt x="14350" y="75946"/>
                </a:lnTo>
                <a:close/>
              </a:path>
              <a:path w="25400" h="101600">
                <a:moveTo>
                  <a:pt x="14350" y="0"/>
                </a:moveTo>
                <a:lnTo>
                  <a:pt x="10922" y="0"/>
                </a:lnTo>
                <a:lnTo>
                  <a:pt x="9271" y="381"/>
                </a:lnTo>
                <a:lnTo>
                  <a:pt x="0" y="11049"/>
                </a:lnTo>
                <a:lnTo>
                  <a:pt x="0" y="14605"/>
                </a:lnTo>
                <a:lnTo>
                  <a:pt x="381" y="16256"/>
                </a:lnTo>
                <a:lnTo>
                  <a:pt x="1650" y="19304"/>
                </a:lnTo>
                <a:lnTo>
                  <a:pt x="2540" y="20574"/>
                </a:lnTo>
                <a:lnTo>
                  <a:pt x="3683" y="21717"/>
                </a:lnTo>
                <a:lnTo>
                  <a:pt x="4825" y="22987"/>
                </a:lnTo>
                <a:lnTo>
                  <a:pt x="6096" y="23875"/>
                </a:lnTo>
                <a:lnTo>
                  <a:pt x="7619" y="24511"/>
                </a:lnTo>
                <a:lnTo>
                  <a:pt x="9271" y="25146"/>
                </a:lnTo>
                <a:lnTo>
                  <a:pt x="10922" y="25400"/>
                </a:lnTo>
                <a:lnTo>
                  <a:pt x="14350" y="25400"/>
                </a:lnTo>
                <a:lnTo>
                  <a:pt x="21590" y="21717"/>
                </a:lnTo>
                <a:lnTo>
                  <a:pt x="22733" y="20574"/>
                </a:lnTo>
                <a:lnTo>
                  <a:pt x="23749" y="19304"/>
                </a:lnTo>
                <a:lnTo>
                  <a:pt x="25018" y="16256"/>
                </a:lnTo>
                <a:lnTo>
                  <a:pt x="25273" y="14605"/>
                </a:lnTo>
                <a:lnTo>
                  <a:pt x="25273" y="11049"/>
                </a:lnTo>
                <a:lnTo>
                  <a:pt x="16002" y="381"/>
                </a:lnTo>
                <a:lnTo>
                  <a:pt x="14350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1819275" y="1418971"/>
            <a:ext cx="2722880" cy="185420"/>
            <a:chOff x="1819275" y="1418971"/>
            <a:chExt cx="2722880" cy="18542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9275" y="1419987"/>
              <a:ext cx="1720850" cy="18402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5685" y="1418971"/>
              <a:ext cx="965962" cy="184276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595748" y="1419986"/>
            <a:ext cx="3211830" cy="186690"/>
            <a:chOff x="4595748" y="1419986"/>
            <a:chExt cx="3211830" cy="18669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95748" y="1419986"/>
              <a:ext cx="2676271" cy="1863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07833" y="1464817"/>
              <a:ext cx="499491" cy="141478"/>
            </a:xfrm>
            <a:prstGeom prst="rect">
              <a:avLst/>
            </a:prstGeom>
          </p:spPr>
        </p:pic>
      </p:grpSp>
      <p:pic>
        <p:nvPicPr>
          <p:cNvPr id="20" name="object 20" descr="화면 캡처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23060" y="1863554"/>
            <a:ext cx="3420925" cy="3943230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5586984" y="2226564"/>
            <a:ext cx="0" cy="3370579"/>
          </a:xfrm>
          <a:custGeom>
            <a:avLst/>
            <a:gdLst/>
            <a:ahLst/>
            <a:cxnLst/>
            <a:rect l="l" t="t" r="r" b="b"/>
            <a:pathLst>
              <a:path w="0" h="3370579">
                <a:moveTo>
                  <a:pt x="0" y="0"/>
                </a:moveTo>
                <a:lnTo>
                  <a:pt x="0" y="3370046"/>
                </a:lnTo>
              </a:path>
            </a:pathLst>
          </a:custGeom>
          <a:ln w="6096">
            <a:solidFill>
              <a:srgbClr val="40404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6318200" y="1822748"/>
            <a:ext cx="4699000" cy="3272790"/>
            <a:chOff x="6318200" y="1822748"/>
            <a:chExt cx="4699000" cy="3272790"/>
          </a:xfrm>
        </p:grpSpPr>
        <p:pic>
          <p:nvPicPr>
            <p:cNvPr id="24" name="object 24" descr="화면 캡처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18200" y="1822748"/>
              <a:ext cx="4698744" cy="300285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607551" y="4747259"/>
              <a:ext cx="76200" cy="348615"/>
            </a:xfrm>
            <a:custGeom>
              <a:avLst/>
              <a:gdLst/>
              <a:ahLst/>
              <a:cxnLst/>
              <a:rect l="l" t="t" r="r" b="b"/>
              <a:pathLst>
                <a:path w="76200" h="348614">
                  <a:moveTo>
                    <a:pt x="44450" y="0"/>
                  </a:moveTo>
                  <a:lnTo>
                    <a:pt x="31750" y="0"/>
                  </a:lnTo>
                  <a:lnTo>
                    <a:pt x="31750" y="50800"/>
                  </a:lnTo>
                  <a:lnTo>
                    <a:pt x="44450" y="50800"/>
                  </a:lnTo>
                  <a:lnTo>
                    <a:pt x="44450" y="0"/>
                  </a:lnTo>
                  <a:close/>
                </a:path>
                <a:path w="76200" h="348614">
                  <a:moveTo>
                    <a:pt x="44450" y="88900"/>
                  </a:moveTo>
                  <a:lnTo>
                    <a:pt x="31750" y="88900"/>
                  </a:lnTo>
                  <a:lnTo>
                    <a:pt x="31750" y="139700"/>
                  </a:lnTo>
                  <a:lnTo>
                    <a:pt x="44450" y="139700"/>
                  </a:lnTo>
                  <a:lnTo>
                    <a:pt x="44450" y="88900"/>
                  </a:lnTo>
                  <a:close/>
                </a:path>
                <a:path w="76200" h="348614">
                  <a:moveTo>
                    <a:pt x="44450" y="177800"/>
                  </a:moveTo>
                  <a:lnTo>
                    <a:pt x="31750" y="177800"/>
                  </a:lnTo>
                  <a:lnTo>
                    <a:pt x="31750" y="228600"/>
                  </a:lnTo>
                  <a:lnTo>
                    <a:pt x="44450" y="228600"/>
                  </a:lnTo>
                  <a:lnTo>
                    <a:pt x="44450" y="177800"/>
                  </a:lnTo>
                  <a:close/>
                </a:path>
                <a:path w="76200" h="348614">
                  <a:moveTo>
                    <a:pt x="31750" y="271906"/>
                  </a:moveTo>
                  <a:lnTo>
                    <a:pt x="0" y="271906"/>
                  </a:lnTo>
                  <a:lnTo>
                    <a:pt x="38100" y="348106"/>
                  </a:lnTo>
                  <a:lnTo>
                    <a:pt x="69850" y="284606"/>
                  </a:lnTo>
                  <a:lnTo>
                    <a:pt x="31750" y="284606"/>
                  </a:lnTo>
                  <a:lnTo>
                    <a:pt x="31750" y="271906"/>
                  </a:lnTo>
                  <a:close/>
                </a:path>
                <a:path w="76200" h="348614">
                  <a:moveTo>
                    <a:pt x="44450" y="266700"/>
                  </a:moveTo>
                  <a:lnTo>
                    <a:pt x="31750" y="266700"/>
                  </a:lnTo>
                  <a:lnTo>
                    <a:pt x="31750" y="284606"/>
                  </a:lnTo>
                  <a:lnTo>
                    <a:pt x="44450" y="284606"/>
                  </a:lnTo>
                  <a:lnTo>
                    <a:pt x="44450" y="266700"/>
                  </a:lnTo>
                  <a:close/>
                </a:path>
                <a:path w="76200" h="348614">
                  <a:moveTo>
                    <a:pt x="76200" y="271906"/>
                  </a:moveTo>
                  <a:lnTo>
                    <a:pt x="44450" y="271906"/>
                  </a:lnTo>
                  <a:lnTo>
                    <a:pt x="44450" y="284606"/>
                  </a:lnTo>
                  <a:lnTo>
                    <a:pt x="69850" y="284606"/>
                  </a:lnTo>
                  <a:lnTo>
                    <a:pt x="76200" y="271906"/>
                  </a:lnTo>
                  <a:close/>
                </a:path>
              </a:pathLst>
            </a:custGeom>
            <a:solidFill>
              <a:srgbClr val="970F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397495" y="3153155"/>
            <a:ext cx="398145" cy="4038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300" spc="-50">
                <a:solidFill>
                  <a:srgbClr val="9A0000"/>
                </a:solidFill>
                <a:latin typeface="Tahoma"/>
                <a:cs typeface="Tahoma"/>
              </a:rPr>
              <a:t>+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33356" y="3425698"/>
            <a:ext cx="1212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45">
                <a:solidFill>
                  <a:srgbClr val="9A0000"/>
                </a:solidFill>
                <a:latin typeface="Tahoma"/>
                <a:cs typeface="Tahoma"/>
              </a:rPr>
              <a:t>+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80759" y="2043683"/>
            <a:ext cx="4884420" cy="2684145"/>
            <a:chOff x="6080759" y="2043683"/>
            <a:chExt cx="4884420" cy="2684145"/>
          </a:xfrm>
        </p:grpSpPr>
        <p:sp>
          <p:nvSpPr>
            <p:cNvPr id="29" name="object 29"/>
            <p:cNvSpPr/>
            <p:nvPr/>
          </p:nvSpPr>
          <p:spPr>
            <a:xfrm>
              <a:off x="6286499" y="2043683"/>
              <a:ext cx="1045844" cy="325120"/>
            </a:xfrm>
            <a:custGeom>
              <a:avLst/>
              <a:gdLst/>
              <a:ahLst/>
              <a:cxnLst/>
              <a:rect l="l" t="t" r="r" b="b"/>
              <a:pathLst>
                <a:path w="1045845" h="325119">
                  <a:moveTo>
                    <a:pt x="883157" y="0"/>
                  </a:moveTo>
                  <a:lnTo>
                    <a:pt x="162305" y="0"/>
                  </a:ln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5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2"/>
                  </a:lnTo>
                  <a:lnTo>
                    <a:pt x="883157" y="324612"/>
                  </a:lnTo>
                  <a:lnTo>
                    <a:pt x="926313" y="318815"/>
                  </a:lnTo>
                  <a:lnTo>
                    <a:pt x="965087" y="302457"/>
                  </a:lnTo>
                  <a:lnTo>
                    <a:pt x="997934" y="277082"/>
                  </a:lnTo>
                  <a:lnTo>
                    <a:pt x="1023309" y="244235"/>
                  </a:lnTo>
                  <a:lnTo>
                    <a:pt x="1039667" y="205461"/>
                  </a:lnTo>
                  <a:lnTo>
                    <a:pt x="1045464" y="162305"/>
                  </a:lnTo>
                  <a:lnTo>
                    <a:pt x="1039667" y="119150"/>
                  </a:lnTo>
                  <a:lnTo>
                    <a:pt x="1023309" y="80376"/>
                  </a:lnTo>
                  <a:lnTo>
                    <a:pt x="997934" y="47529"/>
                  </a:lnTo>
                  <a:lnTo>
                    <a:pt x="965087" y="22154"/>
                  </a:lnTo>
                  <a:lnTo>
                    <a:pt x="926313" y="5796"/>
                  </a:lnTo>
                  <a:lnTo>
                    <a:pt x="883157" y="0"/>
                  </a:lnTo>
                  <a:close/>
                </a:path>
              </a:pathLst>
            </a:custGeom>
            <a:solidFill>
              <a:srgbClr val="9F11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72427" y="2121153"/>
              <a:ext cx="736841" cy="15849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970519" y="2043683"/>
              <a:ext cx="1127760" cy="325120"/>
            </a:xfrm>
            <a:custGeom>
              <a:avLst/>
              <a:gdLst/>
              <a:ahLst/>
              <a:cxnLst/>
              <a:rect l="l" t="t" r="r" b="b"/>
              <a:pathLst>
                <a:path w="1127759" h="325119">
                  <a:moveTo>
                    <a:pt x="965453" y="0"/>
                  </a:moveTo>
                  <a:lnTo>
                    <a:pt x="162305" y="0"/>
                  </a:ln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5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2"/>
                  </a:lnTo>
                  <a:lnTo>
                    <a:pt x="965453" y="324612"/>
                  </a:lnTo>
                  <a:lnTo>
                    <a:pt x="1008609" y="318815"/>
                  </a:lnTo>
                  <a:lnTo>
                    <a:pt x="1047383" y="302457"/>
                  </a:lnTo>
                  <a:lnTo>
                    <a:pt x="1080230" y="277082"/>
                  </a:lnTo>
                  <a:lnTo>
                    <a:pt x="1105605" y="244235"/>
                  </a:lnTo>
                  <a:lnTo>
                    <a:pt x="1121963" y="205461"/>
                  </a:lnTo>
                  <a:lnTo>
                    <a:pt x="1127759" y="162305"/>
                  </a:lnTo>
                  <a:lnTo>
                    <a:pt x="1121963" y="119150"/>
                  </a:lnTo>
                  <a:lnTo>
                    <a:pt x="1105605" y="80376"/>
                  </a:lnTo>
                  <a:lnTo>
                    <a:pt x="1080230" y="47529"/>
                  </a:lnTo>
                  <a:lnTo>
                    <a:pt x="1047383" y="22154"/>
                  </a:lnTo>
                  <a:lnTo>
                    <a:pt x="1008609" y="5796"/>
                  </a:lnTo>
                  <a:lnTo>
                    <a:pt x="965453" y="0"/>
                  </a:lnTo>
                  <a:close/>
                </a:path>
              </a:pathLst>
            </a:custGeom>
            <a:solidFill>
              <a:srgbClr val="9F11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36381" y="2121153"/>
              <a:ext cx="860005" cy="15849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838944" y="2046731"/>
              <a:ext cx="1126490" cy="325120"/>
            </a:xfrm>
            <a:custGeom>
              <a:avLst/>
              <a:gdLst/>
              <a:ahLst/>
              <a:cxnLst/>
              <a:rect l="l" t="t" r="r" b="b"/>
              <a:pathLst>
                <a:path w="1126490" h="325119">
                  <a:moveTo>
                    <a:pt x="963929" y="0"/>
                  </a:moveTo>
                  <a:lnTo>
                    <a:pt x="162305" y="0"/>
                  </a:ln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5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2"/>
                  </a:lnTo>
                  <a:lnTo>
                    <a:pt x="963929" y="324612"/>
                  </a:lnTo>
                  <a:lnTo>
                    <a:pt x="1007085" y="318815"/>
                  </a:lnTo>
                  <a:lnTo>
                    <a:pt x="1045859" y="302457"/>
                  </a:lnTo>
                  <a:lnTo>
                    <a:pt x="1078706" y="277082"/>
                  </a:lnTo>
                  <a:lnTo>
                    <a:pt x="1104081" y="244235"/>
                  </a:lnTo>
                  <a:lnTo>
                    <a:pt x="1120439" y="205461"/>
                  </a:lnTo>
                  <a:lnTo>
                    <a:pt x="1126235" y="162305"/>
                  </a:lnTo>
                  <a:lnTo>
                    <a:pt x="1120439" y="119150"/>
                  </a:lnTo>
                  <a:lnTo>
                    <a:pt x="1104081" y="80376"/>
                  </a:lnTo>
                  <a:lnTo>
                    <a:pt x="1078706" y="47529"/>
                  </a:lnTo>
                  <a:lnTo>
                    <a:pt x="1045859" y="22154"/>
                  </a:lnTo>
                  <a:lnTo>
                    <a:pt x="1007085" y="5796"/>
                  </a:lnTo>
                  <a:lnTo>
                    <a:pt x="963929" y="0"/>
                  </a:lnTo>
                  <a:close/>
                </a:path>
              </a:pathLst>
            </a:custGeom>
            <a:solidFill>
              <a:srgbClr val="9F11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24871" y="2124455"/>
              <a:ext cx="814044" cy="15849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831835" y="4367783"/>
              <a:ext cx="589915" cy="338455"/>
            </a:xfrm>
            <a:custGeom>
              <a:avLst/>
              <a:gdLst/>
              <a:ahLst/>
              <a:cxnLst/>
              <a:rect l="l" t="t" r="r" b="b"/>
              <a:pathLst>
                <a:path w="589915" h="338454">
                  <a:moveTo>
                    <a:pt x="589787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589787" y="338327"/>
                  </a:lnTo>
                  <a:lnTo>
                    <a:pt x="589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17763" y="4397375"/>
              <a:ext cx="294640" cy="14173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30895" y="4519244"/>
              <a:ext cx="471830" cy="14203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080759" y="4389119"/>
              <a:ext cx="588645" cy="338455"/>
            </a:xfrm>
            <a:custGeom>
              <a:avLst/>
              <a:gdLst/>
              <a:ahLst/>
              <a:cxnLst/>
              <a:rect l="l" t="t" r="r" b="b"/>
              <a:pathLst>
                <a:path w="588645" h="338454">
                  <a:moveTo>
                    <a:pt x="588263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588263" y="338327"/>
                  </a:lnTo>
                  <a:lnTo>
                    <a:pt x="588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65417" y="4418660"/>
              <a:ext cx="294639" cy="14203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78549" y="4540326"/>
              <a:ext cx="471830" cy="14203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70363" y="4407154"/>
              <a:ext cx="294640" cy="14173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683495" y="4529073"/>
              <a:ext cx="471830" cy="141731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5918453" y="4319778"/>
            <a:ext cx="1335405" cy="480059"/>
          </a:xfrm>
          <a:prstGeom prst="rect">
            <a:avLst/>
          </a:prstGeom>
          <a:ln w="19811">
            <a:solidFill>
              <a:srgbClr val="90001F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320"/>
              </a:spcBef>
            </a:pPr>
            <a:r>
              <a:rPr dirty="0" sz="2000" spc="-355">
                <a:solidFill>
                  <a:srgbClr val="C00000"/>
                </a:solidFill>
                <a:latin typeface="Tahoma"/>
                <a:cs typeface="Tahoma"/>
              </a:rPr>
              <a:t>√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224015" y="5140452"/>
            <a:ext cx="2348865" cy="864235"/>
            <a:chOff x="6224015" y="5140452"/>
            <a:chExt cx="2348865" cy="864235"/>
          </a:xfrm>
        </p:grpSpPr>
        <p:sp>
          <p:nvSpPr>
            <p:cNvPr id="44" name="object 44"/>
            <p:cNvSpPr/>
            <p:nvPr/>
          </p:nvSpPr>
          <p:spPr>
            <a:xfrm>
              <a:off x="6224015" y="5140452"/>
              <a:ext cx="2345690" cy="253365"/>
            </a:xfrm>
            <a:custGeom>
              <a:avLst/>
              <a:gdLst/>
              <a:ahLst/>
              <a:cxnLst/>
              <a:rect l="l" t="t" r="r" b="b"/>
              <a:pathLst>
                <a:path w="2345690" h="253364">
                  <a:moveTo>
                    <a:pt x="2345436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2345436" y="252984"/>
                  </a:lnTo>
                  <a:lnTo>
                    <a:pt x="2345436" y="0"/>
                  </a:lnTo>
                  <a:close/>
                </a:path>
              </a:pathLst>
            </a:custGeom>
            <a:solidFill>
              <a:srgbClr val="9F11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24115" y="5165471"/>
              <a:ext cx="821435" cy="18592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224015" y="5428488"/>
              <a:ext cx="2348865" cy="576580"/>
            </a:xfrm>
            <a:custGeom>
              <a:avLst/>
              <a:gdLst/>
              <a:ahLst/>
              <a:cxnLst/>
              <a:rect l="l" t="t" r="r" b="b"/>
              <a:pathLst>
                <a:path w="2348865" h="576579">
                  <a:moveTo>
                    <a:pt x="2348484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2348484" y="576072"/>
                  </a:lnTo>
                  <a:lnTo>
                    <a:pt x="2348484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49769" y="5453786"/>
              <a:ext cx="403859" cy="18592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72857" y="5453786"/>
              <a:ext cx="368046" cy="18592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667243" y="5453786"/>
              <a:ext cx="164592" cy="18592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847077" y="5613806"/>
              <a:ext cx="405765" cy="18592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71689" y="5613806"/>
              <a:ext cx="896442" cy="18592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04177" y="5773826"/>
              <a:ext cx="403859" cy="18592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27265" y="5773826"/>
              <a:ext cx="665479" cy="18592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26197" y="5773826"/>
              <a:ext cx="946315" cy="185928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8769095" y="5148071"/>
            <a:ext cx="2352040" cy="867410"/>
            <a:chOff x="8769095" y="5148071"/>
            <a:chExt cx="2352040" cy="867410"/>
          </a:xfrm>
        </p:grpSpPr>
        <p:sp>
          <p:nvSpPr>
            <p:cNvPr id="56" name="object 56"/>
            <p:cNvSpPr/>
            <p:nvPr/>
          </p:nvSpPr>
          <p:spPr>
            <a:xfrm>
              <a:off x="8769095" y="5148071"/>
              <a:ext cx="2352040" cy="254635"/>
            </a:xfrm>
            <a:custGeom>
              <a:avLst/>
              <a:gdLst/>
              <a:ahLst/>
              <a:cxnLst/>
              <a:rect l="l" t="t" r="r" b="b"/>
              <a:pathLst>
                <a:path w="2352040" h="254635">
                  <a:moveTo>
                    <a:pt x="2351531" y="0"/>
                  </a:moveTo>
                  <a:lnTo>
                    <a:pt x="0" y="0"/>
                  </a:lnTo>
                  <a:lnTo>
                    <a:pt x="0" y="254507"/>
                  </a:lnTo>
                  <a:lnTo>
                    <a:pt x="2351531" y="254507"/>
                  </a:lnTo>
                  <a:lnTo>
                    <a:pt x="2351531" y="0"/>
                  </a:lnTo>
                  <a:close/>
                </a:path>
              </a:pathLst>
            </a:custGeom>
            <a:solidFill>
              <a:srgbClr val="9F11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318624" y="5173979"/>
              <a:ext cx="1328293" cy="18592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769095" y="5437631"/>
              <a:ext cx="2352040" cy="577850"/>
            </a:xfrm>
            <a:custGeom>
              <a:avLst/>
              <a:gdLst/>
              <a:ahLst/>
              <a:cxnLst/>
              <a:rect l="l" t="t" r="r" b="b"/>
              <a:pathLst>
                <a:path w="2352040" h="577850">
                  <a:moveTo>
                    <a:pt x="2351531" y="0"/>
                  </a:moveTo>
                  <a:lnTo>
                    <a:pt x="0" y="0"/>
                  </a:lnTo>
                  <a:lnTo>
                    <a:pt x="0" y="577596"/>
                  </a:lnTo>
                  <a:lnTo>
                    <a:pt x="2351531" y="577596"/>
                  </a:lnTo>
                  <a:lnTo>
                    <a:pt x="2351531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596373" y="5463235"/>
              <a:ext cx="403859" cy="18592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919461" y="5463235"/>
              <a:ext cx="487172" cy="18592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428733" y="5623255"/>
              <a:ext cx="403859" cy="18592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751821" y="5623255"/>
              <a:ext cx="782878" cy="18592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0462133" y="5621908"/>
              <a:ext cx="83820" cy="186055"/>
            </a:xfrm>
            <a:custGeom>
              <a:avLst/>
              <a:gdLst/>
              <a:ahLst/>
              <a:cxnLst/>
              <a:rect l="l" t="t" r="r" b="b"/>
              <a:pathLst>
                <a:path w="83820" h="186054">
                  <a:moveTo>
                    <a:pt x="83820" y="0"/>
                  </a:moveTo>
                  <a:lnTo>
                    <a:pt x="41148" y="0"/>
                  </a:lnTo>
                  <a:lnTo>
                    <a:pt x="0" y="0"/>
                  </a:lnTo>
                  <a:lnTo>
                    <a:pt x="0" y="185928"/>
                  </a:lnTo>
                  <a:lnTo>
                    <a:pt x="41148" y="185928"/>
                  </a:lnTo>
                  <a:lnTo>
                    <a:pt x="83820" y="185928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EFF0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50400" y="5782970"/>
              <a:ext cx="993267" cy="18623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72801" y="5782970"/>
              <a:ext cx="945984" cy="18623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707260" y="5957722"/>
            <a:ext cx="31451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Tahoma"/>
                <a:cs typeface="Tahoma"/>
              </a:rPr>
              <a:t>Fig</a:t>
            </a:r>
            <a:r>
              <a:rPr dirty="0" sz="700" spc="-40">
                <a:latin typeface="Tahoma"/>
                <a:cs typeface="Tahoma"/>
              </a:rPr>
              <a:t> </a:t>
            </a:r>
            <a:r>
              <a:rPr dirty="0" sz="700" spc="-35">
                <a:latin typeface="Tahoma"/>
                <a:cs typeface="Tahoma"/>
              </a:rPr>
              <a:t>1.</a:t>
            </a:r>
            <a:r>
              <a:rPr dirty="0" sz="700" spc="-6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AWGS</a:t>
            </a:r>
            <a:r>
              <a:rPr dirty="0" sz="700" spc="-4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2019</a:t>
            </a:r>
            <a:r>
              <a:rPr dirty="0" sz="700" spc="-8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algorithm</a:t>
            </a:r>
            <a:r>
              <a:rPr dirty="0" sz="700" spc="-4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for</a:t>
            </a:r>
            <a:r>
              <a:rPr dirty="0" sz="700" spc="-30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sarcopenia.</a:t>
            </a:r>
            <a:r>
              <a:rPr dirty="0" sz="700" spc="-25">
                <a:latin typeface="Tahoma"/>
                <a:cs typeface="Tahoma"/>
              </a:rPr>
              <a:t> F,</a:t>
            </a:r>
            <a:r>
              <a:rPr dirty="0" sz="700" spc="-45">
                <a:latin typeface="Tahoma"/>
                <a:cs typeface="Tahoma"/>
              </a:rPr>
              <a:t> </a:t>
            </a:r>
            <a:r>
              <a:rPr dirty="0" sz="700" spc="-20">
                <a:latin typeface="Tahoma"/>
                <a:cs typeface="Tahoma"/>
              </a:rPr>
              <a:t>female;</a:t>
            </a:r>
            <a:r>
              <a:rPr dirty="0" sz="700" spc="-5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M,</a:t>
            </a:r>
            <a:r>
              <a:rPr dirty="0" sz="700" spc="-35">
                <a:latin typeface="Tahoma"/>
                <a:cs typeface="Tahoma"/>
              </a:rPr>
              <a:t> </a:t>
            </a:r>
            <a:r>
              <a:rPr dirty="0" sz="700" spc="-25">
                <a:latin typeface="Tahoma"/>
                <a:cs typeface="Tahoma"/>
              </a:rPr>
              <a:t>male.</a:t>
            </a:r>
            <a:r>
              <a:rPr dirty="0" sz="700" spc="-45">
                <a:latin typeface="Tahoma"/>
                <a:cs typeface="Tahoma"/>
              </a:rPr>
              <a:t> </a:t>
            </a:r>
            <a:r>
              <a:rPr dirty="0" sz="700" spc="-65">
                <a:latin typeface="Tahoma"/>
                <a:cs typeface="Tahoma"/>
              </a:rPr>
              <a:t>(</a:t>
            </a:r>
            <a:r>
              <a:rPr dirty="0" sz="700" spc="-65" i="1">
                <a:latin typeface="Lucida Sans"/>
                <a:cs typeface="Lucida Sans"/>
              </a:rPr>
              <a:t>Chen</a:t>
            </a:r>
            <a:r>
              <a:rPr dirty="0" sz="700" spc="-40" i="1">
                <a:latin typeface="Lucida Sans"/>
                <a:cs typeface="Lucida Sans"/>
              </a:rPr>
              <a:t> </a:t>
            </a:r>
            <a:r>
              <a:rPr dirty="0" sz="700" spc="-50" i="1">
                <a:latin typeface="Lucida Sans"/>
                <a:cs typeface="Lucida Sans"/>
              </a:rPr>
              <a:t>et</a:t>
            </a:r>
            <a:r>
              <a:rPr dirty="0" sz="700" spc="-45" i="1">
                <a:latin typeface="Lucida Sans"/>
                <a:cs typeface="Lucida Sans"/>
              </a:rPr>
              <a:t> </a:t>
            </a:r>
            <a:r>
              <a:rPr dirty="0" sz="700" spc="-70" i="1">
                <a:latin typeface="Lucida Sans"/>
                <a:cs typeface="Lucida Sans"/>
              </a:rPr>
              <a:t>al.,</a:t>
            </a:r>
            <a:r>
              <a:rPr dirty="0" sz="700" spc="-55" i="1">
                <a:latin typeface="Lucida Sans"/>
                <a:cs typeface="Lucida Sans"/>
              </a:rPr>
              <a:t> </a:t>
            </a:r>
            <a:r>
              <a:rPr dirty="0" sz="700" spc="-10" i="1">
                <a:latin typeface="Lucida Sans"/>
                <a:cs typeface="Lucida Sans"/>
              </a:rPr>
              <a:t>2020</a:t>
            </a:r>
            <a:r>
              <a:rPr dirty="0" sz="700" spc="-1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42263" y="1419986"/>
            <a:ext cx="342900" cy="151130"/>
          </a:xfrm>
          <a:custGeom>
            <a:avLst/>
            <a:gdLst/>
            <a:ahLst/>
            <a:cxnLst/>
            <a:rect l="l" t="t" r="r" b="b"/>
            <a:pathLst>
              <a:path w="342900" h="151130">
                <a:moveTo>
                  <a:pt x="149606" y="1904"/>
                </a:moveTo>
                <a:lnTo>
                  <a:pt x="117475" y="1904"/>
                </a:lnTo>
                <a:lnTo>
                  <a:pt x="117475" y="149351"/>
                </a:lnTo>
                <a:lnTo>
                  <a:pt x="147700" y="149351"/>
                </a:lnTo>
                <a:lnTo>
                  <a:pt x="147574" y="60325"/>
                </a:lnTo>
                <a:lnTo>
                  <a:pt x="147193" y="53212"/>
                </a:lnTo>
                <a:lnTo>
                  <a:pt x="146953" y="51053"/>
                </a:lnTo>
                <a:lnTo>
                  <a:pt x="177416" y="51053"/>
                </a:lnTo>
                <a:lnTo>
                  <a:pt x="154305" y="5587"/>
                </a:lnTo>
                <a:lnTo>
                  <a:pt x="151384" y="2666"/>
                </a:lnTo>
                <a:lnTo>
                  <a:pt x="149606" y="1904"/>
                </a:lnTo>
                <a:close/>
              </a:path>
              <a:path w="342900" h="151130">
                <a:moveTo>
                  <a:pt x="283463" y="51053"/>
                </a:moveTo>
                <a:lnTo>
                  <a:pt x="253873" y="51053"/>
                </a:lnTo>
                <a:lnTo>
                  <a:pt x="253492" y="55752"/>
                </a:lnTo>
                <a:lnTo>
                  <a:pt x="253237" y="60325"/>
                </a:lnTo>
                <a:lnTo>
                  <a:pt x="253237" y="149351"/>
                </a:lnTo>
                <a:lnTo>
                  <a:pt x="283463" y="149351"/>
                </a:lnTo>
                <a:lnTo>
                  <a:pt x="283463" y="51053"/>
                </a:lnTo>
                <a:close/>
              </a:path>
              <a:path w="342900" h="151130">
                <a:moveTo>
                  <a:pt x="177416" y="51053"/>
                </a:moveTo>
                <a:lnTo>
                  <a:pt x="147004" y="51053"/>
                </a:lnTo>
                <a:lnTo>
                  <a:pt x="186181" y="126873"/>
                </a:lnTo>
                <a:lnTo>
                  <a:pt x="195580" y="134112"/>
                </a:lnTo>
                <a:lnTo>
                  <a:pt x="205486" y="134112"/>
                </a:lnTo>
                <a:lnTo>
                  <a:pt x="214756" y="126873"/>
                </a:lnTo>
                <a:lnTo>
                  <a:pt x="229499" y="98298"/>
                </a:lnTo>
                <a:lnTo>
                  <a:pt x="200533" y="98298"/>
                </a:lnTo>
                <a:lnTo>
                  <a:pt x="199390" y="95376"/>
                </a:lnTo>
                <a:lnTo>
                  <a:pt x="195580" y="86995"/>
                </a:lnTo>
                <a:lnTo>
                  <a:pt x="194309" y="84327"/>
                </a:lnTo>
                <a:lnTo>
                  <a:pt x="193040" y="81787"/>
                </a:lnTo>
                <a:lnTo>
                  <a:pt x="177416" y="51053"/>
                </a:lnTo>
                <a:close/>
              </a:path>
              <a:path w="342900" h="151130">
                <a:moveTo>
                  <a:pt x="283463" y="1904"/>
                </a:moveTo>
                <a:lnTo>
                  <a:pt x="251333" y="1904"/>
                </a:lnTo>
                <a:lnTo>
                  <a:pt x="249555" y="2666"/>
                </a:lnTo>
                <a:lnTo>
                  <a:pt x="208025" y="81534"/>
                </a:lnTo>
                <a:lnTo>
                  <a:pt x="200533" y="98298"/>
                </a:lnTo>
                <a:lnTo>
                  <a:pt x="229499" y="98298"/>
                </a:lnTo>
                <a:lnTo>
                  <a:pt x="253873" y="51053"/>
                </a:lnTo>
                <a:lnTo>
                  <a:pt x="283463" y="51053"/>
                </a:lnTo>
                <a:lnTo>
                  <a:pt x="283463" y="1904"/>
                </a:lnTo>
                <a:close/>
              </a:path>
              <a:path w="342900" h="151130">
                <a:moveTo>
                  <a:pt x="342392" y="1650"/>
                </a:moveTo>
                <a:lnTo>
                  <a:pt x="307975" y="1650"/>
                </a:lnTo>
                <a:lnTo>
                  <a:pt x="307975" y="149351"/>
                </a:lnTo>
                <a:lnTo>
                  <a:pt x="342392" y="149351"/>
                </a:lnTo>
                <a:lnTo>
                  <a:pt x="342392" y="1650"/>
                </a:lnTo>
                <a:close/>
              </a:path>
              <a:path w="342900" h="151130">
                <a:moveTo>
                  <a:pt x="19684" y="111378"/>
                </a:moveTo>
                <a:lnTo>
                  <a:pt x="16128" y="111378"/>
                </a:lnTo>
                <a:lnTo>
                  <a:pt x="14731" y="111760"/>
                </a:lnTo>
                <a:lnTo>
                  <a:pt x="11937" y="113284"/>
                </a:lnTo>
                <a:lnTo>
                  <a:pt x="10921" y="114300"/>
                </a:lnTo>
                <a:lnTo>
                  <a:pt x="10159" y="115442"/>
                </a:lnTo>
                <a:lnTo>
                  <a:pt x="0" y="131445"/>
                </a:lnTo>
                <a:lnTo>
                  <a:pt x="2921" y="134365"/>
                </a:lnTo>
                <a:lnTo>
                  <a:pt x="36703" y="149478"/>
                </a:lnTo>
                <a:lnTo>
                  <a:pt x="41402" y="150495"/>
                </a:lnTo>
                <a:lnTo>
                  <a:pt x="46100" y="151002"/>
                </a:lnTo>
                <a:lnTo>
                  <a:pt x="59055" y="151002"/>
                </a:lnTo>
                <a:lnTo>
                  <a:pt x="66548" y="149733"/>
                </a:lnTo>
                <a:lnTo>
                  <a:pt x="79756" y="144652"/>
                </a:lnTo>
                <a:lnTo>
                  <a:pt x="85343" y="141097"/>
                </a:lnTo>
                <a:lnTo>
                  <a:pt x="89789" y="136651"/>
                </a:lnTo>
                <a:lnTo>
                  <a:pt x="94361" y="132334"/>
                </a:lnTo>
                <a:lnTo>
                  <a:pt x="97662" y="127126"/>
                </a:lnTo>
                <a:lnTo>
                  <a:pt x="98997" y="123825"/>
                </a:lnTo>
                <a:lnTo>
                  <a:pt x="47117" y="123825"/>
                </a:lnTo>
                <a:lnTo>
                  <a:pt x="43180" y="123189"/>
                </a:lnTo>
                <a:lnTo>
                  <a:pt x="39750" y="121792"/>
                </a:lnTo>
                <a:lnTo>
                  <a:pt x="36449" y="120523"/>
                </a:lnTo>
                <a:lnTo>
                  <a:pt x="33400" y="119125"/>
                </a:lnTo>
                <a:lnTo>
                  <a:pt x="30861" y="117601"/>
                </a:lnTo>
                <a:lnTo>
                  <a:pt x="28193" y="116077"/>
                </a:lnTo>
                <a:lnTo>
                  <a:pt x="25908" y="114680"/>
                </a:lnTo>
                <a:lnTo>
                  <a:pt x="23875" y="113284"/>
                </a:lnTo>
                <a:lnTo>
                  <a:pt x="21717" y="112013"/>
                </a:lnTo>
                <a:lnTo>
                  <a:pt x="19684" y="111378"/>
                </a:lnTo>
                <a:close/>
              </a:path>
              <a:path w="342900" h="151130">
                <a:moveTo>
                  <a:pt x="60959" y="0"/>
                </a:moveTo>
                <a:lnTo>
                  <a:pt x="48259" y="0"/>
                </a:lnTo>
                <a:lnTo>
                  <a:pt x="41148" y="1270"/>
                </a:lnTo>
                <a:lnTo>
                  <a:pt x="9249" y="27432"/>
                </a:lnTo>
                <a:lnTo>
                  <a:pt x="6858" y="33020"/>
                </a:lnTo>
                <a:lnTo>
                  <a:pt x="5715" y="38353"/>
                </a:lnTo>
                <a:lnTo>
                  <a:pt x="5715" y="50800"/>
                </a:lnTo>
                <a:lnTo>
                  <a:pt x="6642" y="56134"/>
                </a:lnTo>
                <a:lnTo>
                  <a:pt x="6731" y="56641"/>
                </a:lnTo>
                <a:lnTo>
                  <a:pt x="8533" y="61087"/>
                </a:lnTo>
                <a:lnTo>
                  <a:pt x="10414" y="66039"/>
                </a:lnTo>
                <a:lnTo>
                  <a:pt x="38608" y="85471"/>
                </a:lnTo>
                <a:lnTo>
                  <a:pt x="42671" y="86867"/>
                </a:lnTo>
                <a:lnTo>
                  <a:pt x="50673" y="89153"/>
                </a:lnTo>
                <a:lnTo>
                  <a:pt x="54609" y="90170"/>
                </a:lnTo>
                <a:lnTo>
                  <a:pt x="58039" y="91439"/>
                </a:lnTo>
                <a:lnTo>
                  <a:pt x="64134" y="94234"/>
                </a:lnTo>
                <a:lnTo>
                  <a:pt x="66675" y="96138"/>
                </a:lnTo>
                <a:lnTo>
                  <a:pt x="70484" y="100457"/>
                </a:lnTo>
                <a:lnTo>
                  <a:pt x="71374" y="103250"/>
                </a:lnTo>
                <a:lnTo>
                  <a:pt x="71374" y="112649"/>
                </a:lnTo>
                <a:lnTo>
                  <a:pt x="69723" y="116966"/>
                </a:lnTo>
                <a:lnTo>
                  <a:pt x="62737" y="122427"/>
                </a:lnTo>
                <a:lnTo>
                  <a:pt x="57912" y="123825"/>
                </a:lnTo>
                <a:lnTo>
                  <a:pt x="98997" y="123825"/>
                </a:lnTo>
                <a:lnTo>
                  <a:pt x="102386" y="115442"/>
                </a:lnTo>
                <a:lnTo>
                  <a:pt x="102489" y="115188"/>
                </a:lnTo>
                <a:lnTo>
                  <a:pt x="103631" y="108838"/>
                </a:lnTo>
                <a:lnTo>
                  <a:pt x="103631" y="95885"/>
                </a:lnTo>
                <a:lnTo>
                  <a:pt x="102743" y="90550"/>
                </a:lnTo>
                <a:lnTo>
                  <a:pt x="82803" y="67690"/>
                </a:lnTo>
                <a:lnTo>
                  <a:pt x="78867" y="65659"/>
                </a:lnTo>
                <a:lnTo>
                  <a:pt x="74803" y="64008"/>
                </a:lnTo>
                <a:lnTo>
                  <a:pt x="70739" y="62484"/>
                </a:lnTo>
                <a:lnTo>
                  <a:pt x="66548" y="61087"/>
                </a:lnTo>
                <a:lnTo>
                  <a:pt x="62484" y="59689"/>
                </a:lnTo>
                <a:lnTo>
                  <a:pt x="54609" y="57403"/>
                </a:lnTo>
                <a:lnTo>
                  <a:pt x="51181" y="56134"/>
                </a:lnTo>
                <a:lnTo>
                  <a:pt x="48006" y="54610"/>
                </a:lnTo>
                <a:lnTo>
                  <a:pt x="44958" y="53212"/>
                </a:lnTo>
                <a:lnTo>
                  <a:pt x="42545" y="51562"/>
                </a:lnTo>
                <a:lnTo>
                  <a:pt x="40640" y="49529"/>
                </a:lnTo>
                <a:lnTo>
                  <a:pt x="38734" y="47625"/>
                </a:lnTo>
                <a:lnTo>
                  <a:pt x="37718" y="45212"/>
                </a:lnTo>
                <a:lnTo>
                  <a:pt x="37718" y="37591"/>
                </a:lnTo>
                <a:lnTo>
                  <a:pt x="39259" y="34036"/>
                </a:lnTo>
                <a:lnTo>
                  <a:pt x="39370" y="33782"/>
                </a:lnTo>
                <a:lnTo>
                  <a:pt x="45448" y="28448"/>
                </a:lnTo>
                <a:lnTo>
                  <a:pt x="45110" y="28448"/>
                </a:lnTo>
                <a:lnTo>
                  <a:pt x="50418" y="27050"/>
                </a:lnTo>
                <a:lnTo>
                  <a:pt x="95541" y="27050"/>
                </a:lnTo>
                <a:lnTo>
                  <a:pt x="101600" y="15748"/>
                </a:lnTo>
                <a:lnTo>
                  <a:pt x="81787" y="4190"/>
                </a:lnTo>
                <a:lnTo>
                  <a:pt x="77978" y="2793"/>
                </a:lnTo>
                <a:lnTo>
                  <a:pt x="73914" y="1777"/>
                </a:lnTo>
                <a:lnTo>
                  <a:pt x="69596" y="1142"/>
                </a:lnTo>
                <a:lnTo>
                  <a:pt x="65405" y="380"/>
                </a:lnTo>
                <a:lnTo>
                  <a:pt x="60959" y="0"/>
                </a:lnTo>
                <a:close/>
              </a:path>
              <a:path w="342900" h="151130">
                <a:moveTo>
                  <a:pt x="95541" y="27050"/>
                </a:moveTo>
                <a:lnTo>
                  <a:pt x="60578" y="27050"/>
                </a:lnTo>
                <a:lnTo>
                  <a:pt x="63881" y="27432"/>
                </a:lnTo>
                <a:lnTo>
                  <a:pt x="66802" y="28448"/>
                </a:lnTo>
                <a:lnTo>
                  <a:pt x="69596" y="29463"/>
                </a:lnTo>
                <a:lnTo>
                  <a:pt x="72262" y="30479"/>
                </a:lnTo>
                <a:lnTo>
                  <a:pt x="74549" y="31750"/>
                </a:lnTo>
                <a:lnTo>
                  <a:pt x="76708" y="33020"/>
                </a:lnTo>
                <a:lnTo>
                  <a:pt x="78740" y="34036"/>
                </a:lnTo>
                <a:lnTo>
                  <a:pt x="80645" y="35051"/>
                </a:lnTo>
                <a:lnTo>
                  <a:pt x="82423" y="36067"/>
                </a:lnTo>
                <a:lnTo>
                  <a:pt x="84074" y="36575"/>
                </a:lnTo>
                <a:lnTo>
                  <a:pt x="87375" y="36575"/>
                </a:lnTo>
                <a:lnTo>
                  <a:pt x="88773" y="36067"/>
                </a:lnTo>
                <a:lnTo>
                  <a:pt x="91059" y="34543"/>
                </a:lnTo>
                <a:lnTo>
                  <a:pt x="92075" y="33274"/>
                </a:lnTo>
                <a:lnTo>
                  <a:pt x="93012" y="31750"/>
                </a:lnTo>
                <a:lnTo>
                  <a:pt x="95541" y="27050"/>
                </a:lnTo>
                <a:close/>
              </a:path>
            </a:pathLst>
          </a:custGeom>
          <a:solidFill>
            <a:srgbClr val="9F112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3964" y="1419986"/>
            <a:ext cx="2934589" cy="18630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4152900" y="2281427"/>
            <a:ext cx="2696210" cy="477520"/>
          </a:xfrm>
          <a:custGeom>
            <a:avLst/>
            <a:gdLst/>
            <a:ahLst/>
            <a:cxnLst/>
            <a:rect l="l" t="t" r="r" b="b"/>
            <a:pathLst>
              <a:path w="2696209" h="477519">
                <a:moveTo>
                  <a:pt x="2655697" y="0"/>
                </a:moveTo>
                <a:lnTo>
                  <a:pt x="40259" y="0"/>
                </a:lnTo>
                <a:lnTo>
                  <a:pt x="24592" y="3165"/>
                </a:lnTo>
                <a:lnTo>
                  <a:pt x="11795" y="11795"/>
                </a:lnTo>
                <a:lnTo>
                  <a:pt x="3165" y="24592"/>
                </a:lnTo>
                <a:lnTo>
                  <a:pt x="0" y="40259"/>
                </a:lnTo>
                <a:lnTo>
                  <a:pt x="0" y="436752"/>
                </a:lnTo>
                <a:lnTo>
                  <a:pt x="3165" y="452419"/>
                </a:lnTo>
                <a:lnTo>
                  <a:pt x="11795" y="465216"/>
                </a:lnTo>
                <a:lnTo>
                  <a:pt x="24592" y="473846"/>
                </a:lnTo>
                <a:lnTo>
                  <a:pt x="40259" y="477012"/>
                </a:lnTo>
                <a:lnTo>
                  <a:pt x="2655697" y="477012"/>
                </a:lnTo>
                <a:lnTo>
                  <a:pt x="2671363" y="473846"/>
                </a:lnTo>
                <a:lnTo>
                  <a:pt x="2684160" y="465216"/>
                </a:lnTo>
                <a:lnTo>
                  <a:pt x="2692790" y="452419"/>
                </a:lnTo>
                <a:lnTo>
                  <a:pt x="2695955" y="436752"/>
                </a:lnTo>
                <a:lnTo>
                  <a:pt x="2695955" y="40259"/>
                </a:lnTo>
                <a:lnTo>
                  <a:pt x="2692790" y="24592"/>
                </a:lnTo>
                <a:lnTo>
                  <a:pt x="2684160" y="11795"/>
                </a:lnTo>
                <a:lnTo>
                  <a:pt x="2671363" y="3165"/>
                </a:lnTo>
                <a:lnTo>
                  <a:pt x="2655697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378197" y="2374137"/>
            <a:ext cx="22504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14" b="1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dirty="0" sz="1600" spc="-1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FFFFFF"/>
                </a:solidFill>
                <a:latin typeface="Tahoma"/>
                <a:cs typeface="Tahoma"/>
              </a:rPr>
              <a:t>clinical</a:t>
            </a:r>
            <a:r>
              <a:rPr dirty="0" sz="1600" spc="-1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FFFFFF"/>
                </a:solidFill>
                <a:latin typeface="Tahoma"/>
                <a:cs typeface="Tahoma"/>
              </a:rPr>
              <a:t>condition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905243" y="2286000"/>
            <a:ext cx="4476115" cy="477520"/>
            <a:chOff x="6905243" y="2286000"/>
            <a:chExt cx="4476115" cy="477520"/>
          </a:xfrm>
        </p:grpSpPr>
        <p:sp>
          <p:nvSpPr>
            <p:cNvPr id="20" name="object 20"/>
            <p:cNvSpPr/>
            <p:nvPr/>
          </p:nvSpPr>
          <p:spPr>
            <a:xfrm>
              <a:off x="7872983" y="2286000"/>
              <a:ext cx="3508375" cy="477520"/>
            </a:xfrm>
            <a:custGeom>
              <a:avLst/>
              <a:gdLst/>
              <a:ahLst/>
              <a:cxnLst/>
              <a:rect l="l" t="t" r="r" b="b"/>
              <a:pathLst>
                <a:path w="3508375" h="477519">
                  <a:moveTo>
                    <a:pt x="3467989" y="0"/>
                  </a:moveTo>
                  <a:lnTo>
                    <a:pt x="40259" y="0"/>
                  </a:lnTo>
                  <a:lnTo>
                    <a:pt x="24592" y="3165"/>
                  </a:lnTo>
                  <a:lnTo>
                    <a:pt x="11795" y="11795"/>
                  </a:lnTo>
                  <a:lnTo>
                    <a:pt x="3165" y="24592"/>
                  </a:lnTo>
                  <a:lnTo>
                    <a:pt x="0" y="40259"/>
                  </a:lnTo>
                  <a:lnTo>
                    <a:pt x="0" y="436752"/>
                  </a:lnTo>
                  <a:lnTo>
                    <a:pt x="3165" y="452419"/>
                  </a:lnTo>
                  <a:lnTo>
                    <a:pt x="11795" y="465216"/>
                  </a:lnTo>
                  <a:lnTo>
                    <a:pt x="24592" y="473846"/>
                  </a:lnTo>
                  <a:lnTo>
                    <a:pt x="40259" y="477012"/>
                  </a:lnTo>
                  <a:lnTo>
                    <a:pt x="3467989" y="477012"/>
                  </a:lnTo>
                  <a:lnTo>
                    <a:pt x="3483655" y="473846"/>
                  </a:lnTo>
                  <a:lnTo>
                    <a:pt x="3496452" y="465216"/>
                  </a:lnTo>
                  <a:lnTo>
                    <a:pt x="3505082" y="452419"/>
                  </a:lnTo>
                  <a:lnTo>
                    <a:pt x="3508248" y="436752"/>
                  </a:lnTo>
                  <a:lnTo>
                    <a:pt x="3508248" y="40259"/>
                  </a:lnTo>
                  <a:lnTo>
                    <a:pt x="3505082" y="24592"/>
                  </a:lnTo>
                  <a:lnTo>
                    <a:pt x="3496452" y="11795"/>
                  </a:lnTo>
                  <a:lnTo>
                    <a:pt x="3483655" y="3165"/>
                  </a:lnTo>
                  <a:lnTo>
                    <a:pt x="3467989" y="0"/>
                  </a:lnTo>
                  <a:close/>
                </a:path>
              </a:pathLst>
            </a:custGeom>
            <a:solidFill>
              <a:srgbClr val="970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905243" y="2497963"/>
              <a:ext cx="946785" cy="103505"/>
            </a:xfrm>
            <a:custGeom>
              <a:avLst/>
              <a:gdLst/>
              <a:ahLst/>
              <a:cxnLst/>
              <a:rect l="l" t="t" r="r" b="b"/>
              <a:pathLst>
                <a:path w="946784" h="103505">
                  <a:moveTo>
                    <a:pt x="38100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38100" y="58038"/>
                  </a:lnTo>
                  <a:lnTo>
                    <a:pt x="38100" y="45338"/>
                  </a:lnTo>
                  <a:close/>
                </a:path>
                <a:path w="946784" h="103505">
                  <a:moveTo>
                    <a:pt x="114300" y="45338"/>
                  </a:moveTo>
                  <a:lnTo>
                    <a:pt x="76200" y="45338"/>
                  </a:lnTo>
                  <a:lnTo>
                    <a:pt x="76200" y="58038"/>
                  </a:lnTo>
                  <a:lnTo>
                    <a:pt x="114300" y="58038"/>
                  </a:lnTo>
                  <a:lnTo>
                    <a:pt x="114300" y="45338"/>
                  </a:lnTo>
                  <a:close/>
                </a:path>
                <a:path w="946784" h="103505">
                  <a:moveTo>
                    <a:pt x="190500" y="45338"/>
                  </a:moveTo>
                  <a:lnTo>
                    <a:pt x="152400" y="45338"/>
                  </a:lnTo>
                  <a:lnTo>
                    <a:pt x="152400" y="58038"/>
                  </a:lnTo>
                  <a:lnTo>
                    <a:pt x="190500" y="58038"/>
                  </a:lnTo>
                  <a:lnTo>
                    <a:pt x="190500" y="45338"/>
                  </a:lnTo>
                  <a:close/>
                </a:path>
                <a:path w="946784" h="103505">
                  <a:moveTo>
                    <a:pt x="266700" y="45338"/>
                  </a:moveTo>
                  <a:lnTo>
                    <a:pt x="228600" y="45338"/>
                  </a:lnTo>
                  <a:lnTo>
                    <a:pt x="228600" y="58038"/>
                  </a:lnTo>
                  <a:lnTo>
                    <a:pt x="266700" y="58038"/>
                  </a:lnTo>
                  <a:lnTo>
                    <a:pt x="266700" y="45338"/>
                  </a:lnTo>
                  <a:close/>
                </a:path>
                <a:path w="946784" h="103505">
                  <a:moveTo>
                    <a:pt x="342900" y="45338"/>
                  </a:moveTo>
                  <a:lnTo>
                    <a:pt x="304800" y="45338"/>
                  </a:lnTo>
                  <a:lnTo>
                    <a:pt x="304800" y="58038"/>
                  </a:lnTo>
                  <a:lnTo>
                    <a:pt x="342900" y="58038"/>
                  </a:lnTo>
                  <a:lnTo>
                    <a:pt x="342900" y="45338"/>
                  </a:lnTo>
                  <a:close/>
                </a:path>
                <a:path w="946784" h="103505">
                  <a:moveTo>
                    <a:pt x="419100" y="45338"/>
                  </a:moveTo>
                  <a:lnTo>
                    <a:pt x="381000" y="45338"/>
                  </a:lnTo>
                  <a:lnTo>
                    <a:pt x="381000" y="58038"/>
                  </a:lnTo>
                  <a:lnTo>
                    <a:pt x="419100" y="58038"/>
                  </a:lnTo>
                  <a:lnTo>
                    <a:pt x="419100" y="45338"/>
                  </a:lnTo>
                  <a:close/>
                </a:path>
                <a:path w="946784" h="103505">
                  <a:moveTo>
                    <a:pt x="495300" y="45338"/>
                  </a:moveTo>
                  <a:lnTo>
                    <a:pt x="457200" y="45338"/>
                  </a:lnTo>
                  <a:lnTo>
                    <a:pt x="457200" y="58038"/>
                  </a:lnTo>
                  <a:lnTo>
                    <a:pt x="495300" y="58038"/>
                  </a:lnTo>
                  <a:lnTo>
                    <a:pt x="495300" y="45338"/>
                  </a:lnTo>
                  <a:close/>
                </a:path>
                <a:path w="946784" h="103505">
                  <a:moveTo>
                    <a:pt x="571500" y="45338"/>
                  </a:moveTo>
                  <a:lnTo>
                    <a:pt x="533400" y="45338"/>
                  </a:lnTo>
                  <a:lnTo>
                    <a:pt x="533400" y="58038"/>
                  </a:lnTo>
                  <a:lnTo>
                    <a:pt x="571500" y="58038"/>
                  </a:lnTo>
                  <a:lnTo>
                    <a:pt x="571500" y="45338"/>
                  </a:lnTo>
                  <a:close/>
                </a:path>
                <a:path w="946784" h="103505">
                  <a:moveTo>
                    <a:pt x="647700" y="45338"/>
                  </a:moveTo>
                  <a:lnTo>
                    <a:pt x="609600" y="45338"/>
                  </a:lnTo>
                  <a:lnTo>
                    <a:pt x="609600" y="58038"/>
                  </a:lnTo>
                  <a:lnTo>
                    <a:pt x="647700" y="58038"/>
                  </a:lnTo>
                  <a:lnTo>
                    <a:pt x="647700" y="45338"/>
                  </a:lnTo>
                  <a:close/>
                </a:path>
                <a:path w="946784" h="103505">
                  <a:moveTo>
                    <a:pt x="723900" y="45338"/>
                  </a:moveTo>
                  <a:lnTo>
                    <a:pt x="685800" y="45338"/>
                  </a:lnTo>
                  <a:lnTo>
                    <a:pt x="685800" y="58038"/>
                  </a:lnTo>
                  <a:lnTo>
                    <a:pt x="723900" y="58038"/>
                  </a:lnTo>
                  <a:lnTo>
                    <a:pt x="723900" y="45338"/>
                  </a:lnTo>
                  <a:close/>
                </a:path>
                <a:path w="946784" h="103505">
                  <a:moveTo>
                    <a:pt x="800100" y="45338"/>
                  </a:moveTo>
                  <a:lnTo>
                    <a:pt x="762000" y="45338"/>
                  </a:lnTo>
                  <a:lnTo>
                    <a:pt x="762000" y="58038"/>
                  </a:lnTo>
                  <a:lnTo>
                    <a:pt x="800100" y="58038"/>
                  </a:lnTo>
                  <a:lnTo>
                    <a:pt x="800100" y="45338"/>
                  </a:lnTo>
                  <a:close/>
                </a:path>
                <a:path w="946784" h="103505">
                  <a:moveTo>
                    <a:pt x="914400" y="55710"/>
                  </a:moveTo>
                  <a:lnTo>
                    <a:pt x="851407" y="92456"/>
                  </a:lnTo>
                  <a:lnTo>
                    <a:pt x="850391" y="96265"/>
                  </a:lnTo>
                  <a:lnTo>
                    <a:pt x="853948" y="102362"/>
                  </a:lnTo>
                  <a:lnTo>
                    <a:pt x="857884" y="103377"/>
                  </a:lnTo>
                  <a:lnTo>
                    <a:pt x="935640" y="58038"/>
                  </a:lnTo>
                  <a:lnTo>
                    <a:pt x="914400" y="58038"/>
                  </a:lnTo>
                  <a:lnTo>
                    <a:pt x="914400" y="55710"/>
                  </a:lnTo>
                  <a:close/>
                </a:path>
                <a:path w="946784" h="103505">
                  <a:moveTo>
                    <a:pt x="876300" y="45338"/>
                  </a:moveTo>
                  <a:lnTo>
                    <a:pt x="838200" y="45338"/>
                  </a:lnTo>
                  <a:lnTo>
                    <a:pt x="838200" y="58038"/>
                  </a:lnTo>
                  <a:lnTo>
                    <a:pt x="876300" y="58038"/>
                  </a:lnTo>
                  <a:lnTo>
                    <a:pt x="876300" y="45338"/>
                  </a:lnTo>
                  <a:close/>
                </a:path>
                <a:path w="946784" h="103505">
                  <a:moveTo>
                    <a:pt x="921294" y="51688"/>
                  </a:moveTo>
                  <a:lnTo>
                    <a:pt x="914400" y="55710"/>
                  </a:lnTo>
                  <a:lnTo>
                    <a:pt x="914400" y="58038"/>
                  </a:lnTo>
                  <a:lnTo>
                    <a:pt x="933830" y="58038"/>
                  </a:lnTo>
                  <a:lnTo>
                    <a:pt x="933830" y="57150"/>
                  </a:lnTo>
                  <a:lnTo>
                    <a:pt x="930655" y="57150"/>
                  </a:lnTo>
                  <a:lnTo>
                    <a:pt x="921294" y="51688"/>
                  </a:lnTo>
                  <a:close/>
                </a:path>
                <a:path w="946784" h="103505">
                  <a:moveTo>
                    <a:pt x="935640" y="45338"/>
                  </a:moveTo>
                  <a:lnTo>
                    <a:pt x="933830" y="45338"/>
                  </a:lnTo>
                  <a:lnTo>
                    <a:pt x="933830" y="58038"/>
                  </a:lnTo>
                  <a:lnTo>
                    <a:pt x="935640" y="58038"/>
                  </a:lnTo>
                  <a:lnTo>
                    <a:pt x="946530" y="51688"/>
                  </a:lnTo>
                  <a:lnTo>
                    <a:pt x="935640" y="45338"/>
                  </a:lnTo>
                  <a:close/>
                </a:path>
                <a:path w="946784" h="103505">
                  <a:moveTo>
                    <a:pt x="930655" y="46227"/>
                  </a:moveTo>
                  <a:lnTo>
                    <a:pt x="921294" y="51688"/>
                  </a:lnTo>
                  <a:lnTo>
                    <a:pt x="930655" y="57150"/>
                  </a:lnTo>
                  <a:lnTo>
                    <a:pt x="930655" y="46227"/>
                  </a:lnTo>
                  <a:close/>
                </a:path>
                <a:path w="946784" h="103505">
                  <a:moveTo>
                    <a:pt x="933830" y="46227"/>
                  </a:moveTo>
                  <a:lnTo>
                    <a:pt x="930655" y="46227"/>
                  </a:lnTo>
                  <a:lnTo>
                    <a:pt x="930655" y="57150"/>
                  </a:lnTo>
                  <a:lnTo>
                    <a:pt x="933830" y="57150"/>
                  </a:lnTo>
                  <a:lnTo>
                    <a:pt x="933830" y="46227"/>
                  </a:lnTo>
                  <a:close/>
                </a:path>
                <a:path w="946784" h="103505">
                  <a:moveTo>
                    <a:pt x="914400" y="47667"/>
                  </a:moveTo>
                  <a:lnTo>
                    <a:pt x="914400" y="55710"/>
                  </a:lnTo>
                  <a:lnTo>
                    <a:pt x="921294" y="51688"/>
                  </a:lnTo>
                  <a:lnTo>
                    <a:pt x="914400" y="47667"/>
                  </a:lnTo>
                  <a:close/>
                </a:path>
                <a:path w="946784" h="103505">
                  <a:moveTo>
                    <a:pt x="933830" y="45338"/>
                  </a:moveTo>
                  <a:lnTo>
                    <a:pt x="914400" y="45338"/>
                  </a:lnTo>
                  <a:lnTo>
                    <a:pt x="914400" y="47667"/>
                  </a:lnTo>
                  <a:lnTo>
                    <a:pt x="921294" y="51688"/>
                  </a:lnTo>
                  <a:lnTo>
                    <a:pt x="930655" y="46227"/>
                  </a:lnTo>
                  <a:lnTo>
                    <a:pt x="933830" y="46227"/>
                  </a:lnTo>
                  <a:lnTo>
                    <a:pt x="933830" y="45338"/>
                  </a:lnTo>
                  <a:close/>
                </a:path>
                <a:path w="946784" h="103505">
                  <a:moveTo>
                    <a:pt x="857884" y="0"/>
                  </a:moveTo>
                  <a:lnTo>
                    <a:pt x="853948" y="1015"/>
                  </a:lnTo>
                  <a:lnTo>
                    <a:pt x="850391" y="7112"/>
                  </a:lnTo>
                  <a:lnTo>
                    <a:pt x="851407" y="10922"/>
                  </a:lnTo>
                  <a:lnTo>
                    <a:pt x="914400" y="47667"/>
                  </a:lnTo>
                  <a:lnTo>
                    <a:pt x="914400" y="45338"/>
                  </a:lnTo>
                  <a:lnTo>
                    <a:pt x="935640" y="45338"/>
                  </a:lnTo>
                  <a:lnTo>
                    <a:pt x="857884" y="0"/>
                  </a:lnTo>
                  <a:close/>
                </a:path>
              </a:pathLst>
            </a:custGeom>
            <a:solidFill>
              <a:srgbClr val="921F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372092" y="2363850"/>
            <a:ext cx="5378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20" b="1">
                <a:solidFill>
                  <a:srgbClr val="FFFFFF"/>
                </a:solidFill>
                <a:latin typeface="Tahoma"/>
                <a:cs typeface="Tahoma"/>
              </a:rPr>
              <a:t>Aging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8472" y="2968751"/>
            <a:ext cx="3035935" cy="1678305"/>
            <a:chOff x="728472" y="2968751"/>
            <a:chExt cx="3035935" cy="1678305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472" y="2968751"/>
              <a:ext cx="3035808" cy="16779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007364" y="3182111"/>
              <a:ext cx="1666239" cy="576580"/>
            </a:xfrm>
            <a:custGeom>
              <a:avLst/>
              <a:gdLst/>
              <a:ahLst/>
              <a:cxnLst/>
              <a:rect l="l" t="t" r="r" b="b"/>
              <a:pathLst>
                <a:path w="1666239" h="576579">
                  <a:moveTo>
                    <a:pt x="1007364" y="426720"/>
                  </a:moveTo>
                  <a:lnTo>
                    <a:pt x="0" y="426720"/>
                  </a:lnTo>
                  <a:lnTo>
                    <a:pt x="0" y="576072"/>
                  </a:lnTo>
                  <a:lnTo>
                    <a:pt x="1007364" y="576072"/>
                  </a:lnTo>
                  <a:lnTo>
                    <a:pt x="1007364" y="426720"/>
                  </a:lnTo>
                  <a:close/>
                </a:path>
                <a:path w="1666239" h="576579">
                  <a:moveTo>
                    <a:pt x="1665732" y="0"/>
                  </a:moveTo>
                  <a:lnTo>
                    <a:pt x="0" y="0"/>
                  </a:lnTo>
                  <a:lnTo>
                    <a:pt x="0" y="149352"/>
                  </a:lnTo>
                  <a:lnTo>
                    <a:pt x="1665732" y="149352"/>
                  </a:lnTo>
                  <a:lnTo>
                    <a:pt x="1665732" y="0"/>
                  </a:lnTo>
                  <a:close/>
                </a:path>
              </a:pathLst>
            </a:custGeom>
            <a:solidFill>
              <a:srgbClr val="921F3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4152900" y="2958083"/>
            <a:ext cx="2696210" cy="477520"/>
          </a:xfrm>
          <a:custGeom>
            <a:avLst/>
            <a:gdLst/>
            <a:ahLst/>
            <a:cxnLst/>
            <a:rect l="l" t="t" r="r" b="b"/>
            <a:pathLst>
              <a:path w="2696209" h="477520">
                <a:moveTo>
                  <a:pt x="2655697" y="0"/>
                </a:moveTo>
                <a:lnTo>
                  <a:pt x="40259" y="0"/>
                </a:lnTo>
                <a:lnTo>
                  <a:pt x="24592" y="3165"/>
                </a:lnTo>
                <a:lnTo>
                  <a:pt x="11795" y="11795"/>
                </a:lnTo>
                <a:lnTo>
                  <a:pt x="3165" y="24592"/>
                </a:lnTo>
                <a:lnTo>
                  <a:pt x="0" y="40258"/>
                </a:lnTo>
                <a:lnTo>
                  <a:pt x="0" y="436752"/>
                </a:lnTo>
                <a:lnTo>
                  <a:pt x="3165" y="452419"/>
                </a:lnTo>
                <a:lnTo>
                  <a:pt x="11795" y="465216"/>
                </a:lnTo>
                <a:lnTo>
                  <a:pt x="24592" y="473846"/>
                </a:lnTo>
                <a:lnTo>
                  <a:pt x="40259" y="477012"/>
                </a:lnTo>
                <a:lnTo>
                  <a:pt x="2655697" y="477012"/>
                </a:lnTo>
                <a:lnTo>
                  <a:pt x="2671363" y="473846"/>
                </a:lnTo>
                <a:lnTo>
                  <a:pt x="2684160" y="465216"/>
                </a:lnTo>
                <a:lnTo>
                  <a:pt x="2692790" y="452419"/>
                </a:lnTo>
                <a:lnTo>
                  <a:pt x="2695955" y="436752"/>
                </a:lnTo>
                <a:lnTo>
                  <a:pt x="2695955" y="40258"/>
                </a:lnTo>
                <a:lnTo>
                  <a:pt x="2692790" y="24592"/>
                </a:lnTo>
                <a:lnTo>
                  <a:pt x="2684160" y="11795"/>
                </a:lnTo>
                <a:lnTo>
                  <a:pt x="2671363" y="3165"/>
                </a:lnTo>
                <a:lnTo>
                  <a:pt x="2655697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236846" y="3055747"/>
            <a:ext cx="25539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35" b="1">
                <a:solidFill>
                  <a:srgbClr val="FFFFFF"/>
                </a:solidFill>
                <a:latin typeface="Tahoma"/>
                <a:cs typeface="Tahoma"/>
              </a:rPr>
              <a:t>Secondary</a:t>
            </a:r>
            <a:r>
              <a:rPr dirty="0" sz="1600" spc="-1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FFFFFF"/>
                </a:solidFill>
                <a:latin typeface="Tahoma"/>
                <a:cs typeface="Tahoma"/>
              </a:rPr>
              <a:t>clinical</a:t>
            </a:r>
            <a:r>
              <a:rPr dirty="0" sz="1600" spc="-1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FFFFFF"/>
                </a:solidFill>
                <a:latin typeface="Tahoma"/>
                <a:cs typeface="Tahoma"/>
              </a:rPr>
              <a:t>conditions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905243" y="2974848"/>
            <a:ext cx="4476115" cy="475615"/>
            <a:chOff x="6905243" y="2974848"/>
            <a:chExt cx="4476115" cy="475615"/>
          </a:xfrm>
        </p:grpSpPr>
        <p:sp>
          <p:nvSpPr>
            <p:cNvPr id="25" name="object 25"/>
            <p:cNvSpPr/>
            <p:nvPr/>
          </p:nvSpPr>
          <p:spPr>
            <a:xfrm>
              <a:off x="7872983" y="2974848"/>
              <a:ext cx="3508375" cy="475615"/>
            </a:xfrm>
            <a:custGeom>
              <a:avLst/>
              <a:gdLst/>
              <a:ahLst/>
              <a:cxnLst/>
              <a:rect l="l" t="t" r="r" b="b"/>
              <a:pathLst>
                <a:path w="3508375" h="475614">
                  <a:moveTo>
                    <a:pt x="3468116" y="0"/>
                  </a:moveTo>
                  <a:lnTo>
                    <a:pt x="40132" y="0"/>
                  </a:lnTo>
                  <a:lnTo>
                    <a:pt x="24538" y="3163"/>
                  </a:lnTo>
                  <a:lnTo>
                    <a:pt x="11779" y="11779"/>
                  </a:lnTo>
                  <a:lnTo>
                    <a:pt x="3163" y="24538"/>
                  </a:lnTo>
                  <a:lnTo>
                    <a:pt x="0" y="40131"/>
                  </a:lnTo>
                  <a:lnTo>
                    <a:pt x="0" y="435355"/>
                  </a:lnTo>
                  <a:lnTo>
                    <a:pt x="3163" y="450949"/>
                  </a:lnTo>
                  <a:lnTo>
                    <a:pt x="11779" y="463708"/>
                  </a:lnTo>
                  <a:lnTo>
                    <a:pt x="24538" y="472324"/>
                  </a:lnTo>
                  <a:lnTo>
                    <a:pt x="40132" y="475488"/>
                  </a:lnTo>
                  <a:lnTo>
                    <a:pt x="3468116" y="475488"/>
                  </a:lnTo>
                  <a:lnTo>
                    <a:pt x="3483709" y="472324"/>
                  </a:lnTo>
                  <a:lnTo>
                    <a:pt x="3496468" y="463708"/>
                  </a:lnTo>
                  <a:lnTo>
                    <a:pt x="3505084" y="450949"/>
                  </a:lnTo>
                  <a:lnTo>
                    <a:pt x="3508248" y="435355"/>
                  </a:lnTo>
                  <a:lnTo>
                    <a:pt x="3508248" y="40131"/>
                  </a:lnTo>
                  <a:lnTo>
                    <a:pt x="3505084" y="24538"/>
                  </a:lnTo>
                  <a:lnTo>
                    <a:pt x="3496468" y="11779"/>
                  </a:lnTo>
                  <a:lnTo>
                    <a:pt x="3483709" y="3163"/>
                  </a:lnTo>
                  <a:lnTo>
                    <a:pt x="3468116" y="0"/>
                  </a:lnTo>
                  <a:close/>
                </a:path>
              </a:pathLst>
            </a:custGeom>
            <a:solidFill>
              <a:srgbClr val="970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905243" y="3160903"/>
              <a:ext cx="946785" cy="103505"/>
            </a:xfrm>
            <a:custGeom>
              <a:avLst/>
              <a:gdLst/>
              <a:ahLst/>
              <a:cxnLst/>
              <a:rect l="l" t="t" r="r" b="b"/>
              <a:pathLst>
                <a:path w="946784" h="103504">
                  <a:moveTo>
                    <a:pt x="38100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38100" y="58038"/>
                  </a:lnTo>
                  <a:lnTo>
                    <a:pt x="38100" y="45338"/>
                  </a:lnTo>
                  <a:close/>
                </a:path>
                <a:path w="946784" h="103504">
                  <a:moveTo>
                    <a:pt x="114300" y="45338"/>
                  </a:moveTo>
                  <a:lnTo>
                    <a:pt x="76200" y="45338"/>
                  </a:lnTo>
                  <a:lnTo>
                    <a:pt x="76200" y="58038"/>
                  </a:lnTo>
                  <a:lnTo>
                    <a:pt x="114300" y="58038"/>
                  </a:lnTo>
                  <a:lnTo>
                    <a:pt x="114300" y="45338"/>
                  </a:lnTo>
                  <a:close/>
                </a:path>
                <a:path w="946784" h="103504">
                  <a:moveTo>
                    <a:pt x="190500" y="45338"/>
                  </a:moveTo>
                  <a:lnTo>
                    <a:pt x="152400" y="45338"/>
                  </a:lnTo>
                  <a:lnTo>
                    <a:pt x="152400" y="58038"/>
                  </a:lnTo>
                  <a:lnTo>
                    <a:pt x="190500" y="58038"/>
                  </a:lnTo>
                  <a:lnTo>
                    <a:pt x="190500" y="45338"/>
                  </a:lnTo>
                  <a:close/>
                </a:path>
                <a:path w="946784" h="103504">
                  <a:moveTo>
                    <a:pt x="266700" y="45338"/>
                  </a:moveTo>
                  <a:lnTo>
                    <a:pt x="228600" y="45338"/>
                  </a:lnTo>
                  <a:lnTo>
                    <a:pt x="228600" y="58038"/>
                  </a:lnTo>
                  <a:lnTo>
                    <a:pt x="266700" y="58038"/>
                  </a:lnTo>
                  <a:lnTo>
                    <a:pt x="266700" y="45338"/>
                  </a:lnTo>
                  <a:close/>
                </a:path>
                <a:path w="946784" h="103504">
                  <a:moveTo>
                    <a:pt x="342900" y="45338"/>
                  </a:moveTo>
                  <a:lnTo>
                    <a:pt x="304800" y="45338"/>
                  </a:lnTo>
                  <a:lnTo>
                    <a:pt x="304800" y="58038"/>
                  </a:lnTo>
                  <a:lnTo>
                    <a:pt x="342900" y="58038"/>
                  </a:lnTo>
                  <a:lnTo>
                    <a:pt x="342900" y="45338"/>
                  </a:lnTo>
                  <a:close/>
                </a:path>
                <a:path w="946784" h="103504">
                  <a:moveTo>
                    <a:pt x="419100" y="45338"/>
                  </a:moveTo>
                  <a:lnTo>
                    <a:pt x="381000" y="45338"/>
                  </a:lnTo>
                  <a:lnTo>
                    <a:pt x="381000" y="58038"/>
                  </a:lnTo>
                  <a:lnTo>
                    <a:pt x="419100" y="58038"/>
                  </a:lnTo>
                  <a:lnTo>
                    <a:pt x="419100" y="45338"/>
                  </a:lnTo>
                  <a:close/>
                </a:path>
                <a:path w="946784" h="103504">
                  <a:moveTo>
                    <a:pt x="495300" y="45338"/>
                  </a:moveTo>
                  <a:lnTo>
                    <a:pt x="457200" y="45338"/>
                  </a:lnTo>
                  <a:lnTo>
                    <a:pt x="457200" y="58038"/>
                  </a:lnTo>
                  <a:lnTo>
                    <a:pt x="495300" y="58038"/>
                  </a:lnTo>
                  <a:lnTo>
                    <a:pt x="495300" y="45338"/>
                  </a:lnTo>
                  <a:close/>
                </a:path>
                <a:path w="946784" h="103504">
                  <a:moveTo>
                    <a:pt x="571500" y="45338"/>
                  </a:moveTo>
                  <a:lnTo>
                    <a:pt x="533400" y="45338"/>
                  </a:lnTo>
                  <a:lnTo>
                    <a:pt x="533400" y="58038"/>
                  </a:lnTo>
                  <a:lnTo>
                    <a:pt x="571500" y="58038"/>
                  </a:lnTo>
                  <a:lnTo>
                    <a:pt x="571500" y="45338"/>
                  </a:lnTo>
                  <a:close/>
                </a:path>
                <a:path w="946784" h="103504">
                  <a:moveTo>
                    <a:pt x="647700" y="45338"/>
                  </a:moveTo>
                  <a:lnTo>
                    <a:pt x="609600" y="45338"/>
                  </a:lnTo>
                  <a:lnTo>
                    <a:pt x="609600" y="58038"/>
                  </a:lnTo>
                  <a:lnTo>
                    <a:pt x="647700" y="58038"/>
                  </a:lnTo>
                  <a:lnTo>
                    <a:pt x="647700" y="45338"/>
                  </a:lnTo>
                  <a:close/>
                </a:path>
                <a:path w="946784" h="103504">
                  <a:moveTo>
                    <a:pt x="723900" y="45338"/>
                  </a:moveTo>
                  <a:lnTo>
                    <a:pt x="685800" y="45338"/>
                  </a:lnTo>
                  <a:lnTo>
                    <a:pt x="685800" y="58038"/>
                  </a:lnTo>
                  <a:lnTo>
                    <a:pt x="723900" y="58038"/>
                  </a:lnTo>
                  <a:lnTo>
                    <a:pt x="723900" y="45338"/>
                  </a:lnTo>
                  <a:close/>
                </a:path>
                <a:path w="946784" h="103504">
                  <a:moveTo>
                    <a:pt x="800100" y="45338"/>
                  </a:moveTo>
                  <a:lnTo>
                    <a:pt x="762000" y="45338"/>
                  </a:lnTo>
                  <a:lnTo>
                    <a:pt x="762000" y="58038"/>
                  </a:lnTo>
                  <a:lnTo>
                    <a:pt x="800100" y="58038"/>
                  </a:lnTo>
                  <a:lnTo>
                    <a:pt x="800100" y="45338"/>
                  </a:lnTo>
                  <a:close/>
                </a:path>
                <a:path w="946784" h="103504">
                  <a:moveTo>
                    <a:pt x="914400" y="55710"/>
                  </a:moveTo>
                  <a:lnTo>
                    <a:pt x="851407" y="92456"/>
                  </a:lnTo>
                  <a:lnTo>
                    <a:pt x="850391" y="96266"/>
                  </a:lnTo>
                  <a:lnTo>
                    <a:pt x="853948" y="102362"/>
                  </a:lnTo>
                  <a:lnTo>
                    <a:pt x="857884" y="103377"/>
                  </a:lnTo>
                  <a:lnTo>
                    <a:pt x="935640" y="58038"/>
                  </a:lnTo>
                  <a:lnTo>
                    <a:pt x="914400" y="58038"/>
                  </a:lnTo>
                  <a:lnTo>
                    <a:pt x="914400" y="55710"/>
                  </a:lnTo>
                  <a:close/>
                </a:path>
                <a:path w="946784" h="103504">
                  <a:moveTo>
                    <a:pt x="876300" y="45338"/>
                  </a:moveTo>
                  <a:lnTo>
                    <a:pt x="838200" y="45338"/>
                  </a:lnTo>
                  <a:lnTo>
                    <a:pt x="838200" y="58038"/>
                  </a:lnTo>
                  <a:lnTo>
                    <a:pt x="876300" y="58038"/>
                  </a:lnTo>
                  <a:lnTo>
                    <a:pt x="876300" y="45338"/>
                  </a:lnTo>
                  <a:close/>
                </a:path>
                <a:path w="946784" h="103504">
                  <a:moveTo>
                    <a:pt x="921294" y="51688"/>
                  </a:moveTo>
                  <a:lnTo>
                    <a:pt x="914400" y="55710"/>
                  </a:lnTo>
                  <a:lnTo>
                    <a:pt x="914400" y="58038"/>
                  </a:lnTo>
                  <a:lnTo>
                    <a:pt x="933830" y="58038"/>
                  </a:lnTo>
                  <a:lnTo>
                    <a:pt x="933830" y="57150"/>
                  </a:lnTo>
                  <a:lnTo>
                    <a:pt x="930655" y="57150"/>
                  </a:lnTo>
                  <a:lnTo>
                    <a:pt x="921294" y="51688"/>
                  </a:lnTo>
                  <a:close/>
                </a:path>
                <a:path w="946784" h="103504">
                  <a:moveTo>
                    <a:pt x="935640" y="45338"/>
                  </a:moveTo>
                  <a:lnTo>
                    <a:pt x="933830" y="45338"/>
                  </a:lnTo>
                  <a:lnTo>
                    <a:pt x="933830" y="58038"/>
                  </a:lnTo>
                  <a:lnTo>
                    <a:pt x="935640" y="58038"/>
                  </a:lnTo>
                  <a:lnTo>
                    <a:pt x="946530" y="51688"/>
                  </a:lnTo>
                  <a:lnTo>
                    <a:pt x="935640" y="45338"/>
                  </a:lnTo>
                  <a:close/>
                </a:path>
                <a:path w="946784" h="103504">
                  <a:moveTo>
                    <a:pt x="930655" y="46227"/>
                  </a:moveTo>
                  <a:lnTo>
                    <a:pt x="921294" y="51688"/>
                  </a:lnTo>
                  <a:lnTo>
                    <a:pt x="930655" y="57150"/>
                  </a:lnTo>
                  <a:lnTo>
                    <a:pt x="930655" y="46227"/>
                  </a:lnTo>
                  <a:close/>
                </a:path>
                <a:path w="946784" h="103504">
                  <a:moveTo>
                    <a:pt x="933830" y="46227"/>
                  </a:moveTo>
                  <a:lnTo>
                    <a:pt x="930655" y="46227"/>
                  </a:lnTo>
                  <a:lnTo>
                    <a:pt x="930655" y="57150"/>
                  </a:lnTo>
                  <a:lnTo>
                    <a:pt x="933830" y="57150"/>
                  </a:lnTo>
                  <a:lnTo>
                    <a:pt x="933830" y="46227"/>
                  </a:lnTo>
                  <a:close/>
                </a:path>
                <a:path w="946784" h="103504">
                  <a:moveTo>
                    <a:pt x="914400" y="47667"/>
                  </a:moveTo>
                  <a:lnTo>
                    <a:pt x="914400" y="55710"/>
                  </a:lnTo>
                  <a:lnTo>
                    <a:pt x="921294" y="51688"/>
                  </a:lnTo>
                  <a:lnTo>
                    <a:pt x="914400" y="47667"/>
                  </a:lnTo>
                  <a:close/>
                </a:path>
                <a:path w="946784" h="103504">
                  <a:moveTo>
                    <a:pt x="933830" y="45338"/>
                  </a:moveTo>
                  <a:lnTo>
                    <a:pt x="914400" y="45338"/>
                  </a:lnTo>
                  <a:lnTo>
                    <a:pt x="914400" y="47667"/>
                  </a:lnTo>
                  <a:lnTo>
                    <a:pt x="921294" y="51688"/>
                  </a:lnTo>
                  <a:lnTo>
                    <a:pt x="930655" y="46227"/>
                  </a:lnTo>
                  <a:lnTo>
                    <a:pt x="933830" y="46227"/>
                  </a:lnTo>
                  <a:lnTo>
                    <a:pt x="933830" y="45338"/>
                  </a:lnTo>
                  <a:close/>
                </a:path>
                <a:path w="946784" h="103504">
                  <a:moveTo>
                    <a:pt x="857884" y="0"/>
                  </a:moveTo>
                  <a:lnTo>
                    <a:pt x="853948" y="1016"/>
                  </a:lnTo>
                  <a:lnTo>
                    <a:pt x="850391" y="7112"/>
                  </a:lnTo>
                  <a:lnTo>
                    <a:pt x="851407" y="10922"/>
                  </a:lnTo>
                  <a:lnTo>
                    <a:pt x="914400" y="47667"/>
                  </a:lnTo>
                  <a:lnTo>
                    <a:pt x="914400" y="45338"/>
                  </a:lnTo>
                  <a:lnTo>
                    <a:pt x="935640" y="45338"/>
                  </a:lnTo>
                  <a:lnTo>
                    <a:pt x="857884" y="0"/>
                  </a:lnTo>
                  <a:close/>
                </a:path>
              </a:pathLst>
            </a:custGeom>
            <a:solidFill>
              <a:srgbClr val="921F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937754" y="3055747"/>
            <a:ext cx="33604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30" b="1">
                <a:solidFill>
                  <a:srgbClr val="FFFFFF"/>
                </a:solidFill>
                <a:latin typeface="Tahoma"/>
                <a:cs typeface="Tahoma"/>
              </a:rPr>
              <a:t>Disease,</a:t>
            </a:r>
            <a:r>
              <a:rPr dirty="0" sz="1600" spc="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FFFFFF"/>
                </a:solidFill>
                <a:latin typeface="Tahoma"/>
                <a:cs typeface="Tahoma"/>
              </a:rPr>
              <a:t>Nutrition,</a:t>
            </a:r>
            <a:r>
              <a:rPr dirty="0" sz="1600" spc="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FFFFFF"/>
                </a:solidFill>
                <a:latin typeface="Tahoma"/>
                <a:cs typeface="Tahoma"/>
              </a:rPr>
              <a:t>Functional</a:t>
            </a:r>
            <a:r>
              <a:rPr dirty="0" sz="1600" spc="-22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85" b="1">
                <a:solidFill>
                  <a:srgbClr val="FFFFFF"/>
                </a:solidFill>
                <a:latin typeface="Tahoma"/>
                <a:cs typeface="Tahoma"/>
              </a:rPr>
              <a:t>decline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9959" y="3912234"/>
            <a:ext cx="774382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400" spc="-125" b="1">
                <a:latin typeface="Tahoma"/>
                <a:cs typeface="Tahoma"/>
              </a:rPr>
              <a:t>Disease</a:t>
            </a:r>
            <a:r>
              <a:rPr dirty="0" sz="1400" spc="-114" b="1">
                <a:latin typeface="Tahoma"/>
                <a:cs typeface="Tahoma"/>
              </a:rPr>
              <a:t> </a:t>
            </a:r>
            <a:r>
              <a:rPr dirty="0" sz="1400" spc="-150">
                <a:latin typeface="Tahoma"/>
                <a:cs typeface="Tahoma"/>
              </a:rPr>
              <a:t>:</a:t>
            </a:r>
            <a:r>
              <a:rPr dirty="0" sz="1400" spc="110">
                <a:latin typeface="Tahoma"/>
                <a:cs typeface="Tahoma"/>
              </a:rPr>
              <a:t> </a:t>
            </a:r>
            <a:r>
              <a:rPr dirty="0" sz="1400" spc="-120" b="1">
                <a:solidFill>
                  <a:srgbClr val="C00000"/>
                </a:solidFill>
                <a:latin typeface="Tahoma"/>
                <a:cs typeface="Tahoma"/>
              </a:rPr>
              <a:t>Cancer</a:t>
            </a:r>
            <a:r>
              <a:rPr dirty="0" sz="1400" spc="-120">
                <a:latin typeface="Tahoma"/>
                <a:cs typeface="Tahoma"/>
              </a:rPr>
              <a:t>,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 spc="-50">
                <a:latin typeface="Tahoma"/>
                <a:cs typeface="Tahoma"/>
              </a:rPr>
              <a:t>diabetes,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chronic</a:t>
            </a:r>
            <a:r>
              <a:rPr dirty="0" sz="1400" spc="-175">
                <a:latin typeface="Tahoma"/>
                <a:cs typeface="Tahoma"/>
              </a:rPr>
              <a:t> </a:t>
            </a:r>
            <a:r>
              <a:rPr dirty="0" sz="1400" spc="-60">
                <a:latin typeface="Tahoma"/>
                <a:cs typeface="Tahoma"/>
              </a:rPr>
              <a:t>disease,</a:t>
            </a:r>
            <a:r>
              <a:rPr dirty="0" sz="1400" spc="-110">
                <a:latin typeface="Tahoma"/>
                <a:cs typeface="Tahoma"/>
              </a:rPr>
              <a:t> </a:t>
            </a:r>
            <a:r>
              <a:rPr dirty="0" sz="1400" spc="-35">
                <a:latin typeface="Tahoma"/>
                <a:cs typeface="Tahoma"/>
              </a:rPr>
              <a:t>degenerative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-35">
                <a:latin typeface="Tahoma"/>
                <a:cs typeface="Tahoma"/>
              </a:rPr>
              <a:t>neuronal</a:t>
            </a:r>
            <a:r>
              <a:rPr dirty="0" sz="1400" spc="-140">
                <a:latin typeface="Tahoma"/>
                <a:cs typeface="Tahoma"/>
              </a:rPr>
              <a:t> </a:t>
            </a:r>
            <a:r>
              <a:rPr dirty="0" sz="1400" spc="-60">
                <a:latin typeface="Tahoma"/>
                <a:cs typeface="Tahoma"/>
              </a:rPr>
              <a:t>disease,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-40">
                <a:latin typeface="Tahoma"/>
                <a:cs typeface="Tahoma"/>
              </a:rPr>
              <a:t>autoimmune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-60">
                <a:latin typeface="Tahoma"/>
                <a:cs typeface="Tahoma"/>
              </a:rPr>
              <a:t>disease,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etc.</a:t>
            </a:r>
            <a:endParaRPr sz="14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400" spc="-100" b="1">
                <a:latin typeface="Tahoma"/>
                <a:cs typeface="Tahoma"/>
              </a:rPr>
              <a:t>Nutrition</a:t>
            </a:r>
            <a:r>
              <a:rPr dirty="0" sz="1400" spc="-145" b="1">
                <a:latin typeface="Tahoma"/>
                <a:cs typeface="Tahoma"/>
              </a:rPr>
              <a:t> </a:t>
            </a:r>
            <a:r>
              <a:rPr dirty="0" sz="1400" spc="-150">
                <a:latin typeface="Tahoma"/>
                <a:cs typeface="Tahoma"/>
              </a:rPr>
              <a:t>:</a:t>
            </a:r>
            <a:r>
              <a:rPr dirty="0" sz="1400" spc="-18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Malnutrition,</a:t>
            </a:r>
            <a:r>
              <a:rPr dirty="0" sz="1400" spc="-14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intake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limitations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-35">
                <a:latin typeface="Tahoma"/>
                <a:cs typeface="Tahoma"/>
              </a:rPr>
              <a:t>due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190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dental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abnormalities,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2464" y="4793107"/>
            <a:ext cx="26244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Tahoma"/>
                <a:cs typeface="Tahoma"/>
              </a:rPr>
              <a:t>AWGS</a:t>
            </a:r>
            <a:r>
              <a:rPr dirty="0" sz="800" spc="-114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2019</a:t>
            </a:r>
            <a:r>
              <a:rPr dirty="0" sz="800" spc="-135">
                <a:latin typeface="Tahoma"/>
                <a:cs typeface="Tahoma"/>
              </a:rPr>
              <a:t> </a:t>
            </a:r>
            <a:r>
              <a:rPr dirty="0" sz="800" spc="-40">
                <a:latin typeface="Tahoma"/>
                <a:cs typeface="Tahoma"/>
              </a:rPr>
              <a:t>algorithm</a:t>
            </a:r>
            <a:r>
              <a:rPr dirty="0" sz="800" spc="-5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for</a:t>
            </a:r>
            <a:r>
              <a:rPr dirty="0" sz="800" spc="-105">
                <a:latin typeface="Tahoma"/>
                <a:cs typeface="Tahoma"/>
              </a:rPr>
              <a:t> </a:t>
            </a:r>
            <a:r>
              <a:rPr dirty="0" sz="800" spc="-45">
                <a:latin typeface="Tahoma"/>
                <a:cs typeface="Tahoma"/>
              </a:rPr>
              <a:t>sarcopenia</a:t>
            </a:r>
            <a:r>
              <a:rPr dirty="0" sz="800" spc="-50">
                <a:latin typeface="Tahoma"/>
                <a:cs typeface="Tahoma"/>
              </a:rPr>
              <a:t> </a:t>
            </a:r>
            <a:r>
              <a:rPr dirty="0" sz="800" spc="-60">
                <a:latin typeface="Tahoma"/>
                <a:cs typeface="Tahoma"/>
              </a:rPr>
              <a:t>(source: </a:t>
            </a:r>
            <a:r>
              <a:rPr dirty="0" sz="800" spc="-20">
                <a:latin typeface="Tahoma"/>
                <a:cs typeface="Tahoma"/>
              </a:rPr>
              <a:t>Chen</a:t>
            </a:r>
            <a:r>
              <a:rPr dirty="0" sz="800" spc="-9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et</a:t>
            </a:r>
            <a:r>
              <a:rPr dirty="0" sz="800" spc="-105">
                <a:latin typeface="Tahoma"/>
                <a:cs typeface="Tahoma"/>
              </a:rPr>
              <a:t> </a:t>
            </a:r>
            <a:r>
              <a:rPr dirty="0" sz="800" spc="-75">
                <a:latin typeface="Tahoma"/>
                <a:cs typeface="Tahoma"/>
              </a:rPr>
              <a:t>al.,</a:t>
            </a:r>
            <a:r>
              <a:rPr dirty="0" sz="800" spc="-10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2020)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0540" y="4765675"/>
            <a:ext cx="47586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latin typeface="Tahoma"/>
                <a:cs typeface="Tahoma"/>
              </a:rPr>
              <a:t>decreased</a:t>
            </a:r>
            <a:r>
              <a:rPr dirty="0" sz="1400" spc="-125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absorption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of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nourishment</a:t>
            </a:r>
            <a:r>
              <a:rPr dirty="0" sz="1400" spc="-130">
                <a:latin typeface="Tahoma"/>
                <a:cs typeface="Tahoma"/>
              </a:rPr>
              <a:t> </a:t>
            </a:r>
            <a:r>
              <a:rPr dirty="0" sz="1400" spc="-35">
                <a:latin typeface="Tahoma"/>
                <a:cs typeface="Tahoma"/>
              </a:rPr>
              <a:t>due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180">
                <a:latin typeface="Tahoma"/>
                <a:cs typeface="Tahoma"/>
              </a:rPr>
              <a:t> </a:t>
            </a:r>
            <a:r>
              <a:rPr dirty="0" sz="1400" spc="-35">
                <a:latin typeface="Tahoma"/>
                <a:cs typeface="Tahoma"/>
              </a:rPr>
              <a:t>cancer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 spc="-50">
                <a:latin typeface="Tahoma"/>
                <a:cs typeface="Tahoma"/>
              </a:rPr>
              <a:t>surgery,</a:t>
            </a:r>
            <a:r>
              <a:rPr dirty="0" sz="1400" spc="-145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etc.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89959" y="5192648"/>
            <a:ext cx="78149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400" spc="-114" b="1">
                <a:latin typeface="Tahoma"/>
                <a:cs typeface="Tahoma"/>
              </a:rPr>
              <a:t>Functional</a:t>
            </a:r>
            <a:r>
              <a:rPr dirty="0" sz="1400" spc="-125" b="1">
                <a:latin typeface="Tahoma"/>
                <a:cs typeface="Tahoma"/>
              </a:rPr>
              <a:t> decline</a:t>
            </a:r>
            <a:r>
              <a:rPr dirty="0" sz="1400" spc="-125">
                <a:latin typeface="Tahoma"/>
                <a:cs typeface="Tahoma"/>
              </a:rPr>
              <a:t>:</a:t>
            </a:r>
            <a:r>
              <a:rPr dirty="0" sz="1400" spc="-190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Decreased</a:t>
            </a:r>
            <a:r>
              <a:rPr dirty="0" sz="1400" spc="-114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activity</a:t>
            </a:r>
            <a:r>
              <a:rPr dirty="0" sz="1400" spc="-140">
                <a:latin typeface="Tahoma"/>
                <a:cs typeface="Tahoma"/>
              </a:rPr>
              <a:t> </a:t>
            </a:r>
            <a:r>
              <a:rPr dirty="0" sz="1400" spc="-50">
                <a:latin typeface="Tahoma"/>
                <a:cs typeface="Tahoma"/>
              </a:rPr>
              <a:t>level,</a:t>
            </a:r>
            <a:r>
              <a:rPr dirty="0" sz="1400" spc="-120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reduced</a:t>
            </a:r>
            <a:r>
              <a:rPr dirty="0" sz="1400" spc="-114">
                <a:latin typeface="Tahoma"/>
                <a:cs typeface="Tahoma"/>
              </a:rPr>
              <a:t> </a:t>
            </a:r>
            <a:r>
              <a:rPr dirty="0" sz="1400" spc="-50">
                <a:latin typeface="Tahoma"/>
                <a:cs typeface="Tahoma"/>
              </a:rPr>
              <a:t>exercise,</a:t>
            </a:r>
            <a:r>
              <a:rPr dirty="0" sz="1400" spc="-110">
                <a:latin typeface="Tahoma"/>
                <a:cs typeface="Tahoma"/>
              </a:rPr>
              <a:t> </a:t>
            </a:r>
            <a:r>
              <a:rPr dirty="0" sz="1400" spc="-35">
                <a:latin typeface="Tahoma"/>
                <a:cs typeface="Tahoma"/>
              </a:rPr>
              <a:t>social</a:t>
            </a:r>
            <a:r>
              <a:rPr dirty="0" sz="1400" spc="-140">
                <a:latin typeface="Tahoma"/>
                <a:cs typeface="Tahoma"/>
              </a:rPr>
              <a:t> </a:t>
            </a:r>
            <a:r>
              <a:rPr dirty="0" sz="1400" spc="-45">
                <a:latin typeface="Tahoma"/>
                <a:cs typeface="Tahoma"/>
              </a:rPr>
              <a:t>avoidance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-35">
                <a:latin typeface="Tahoma"/>
                <a:cs typeface="Tahoma"/>
              </a:rPr>
              <a:t>due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170">
                <a:latin typeface="Tahoma"/>
                <a:cs typeface="Tahoma"/>
              </a:rPr>
              <a:t> </a:t>
            </a:r>
            <a:r>
              <a:rPr dirty="0" sz="1400" spc="-45">
                <a:latin typeface="Tahoma"/>
                <a:cs typeface="Tahoma"/>
              </a:rPr>
              <a:t>depression,</a:t>
            </a:r>
            <a:r>
              <a:rPr dirty="0" sz="1400" spc="-110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etc.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473" y="6476200"/>
            <a:ext cx="280416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42263" y="1419986"/>
            <a:ext cx="342900" cy="151130"/>
          </a:xfrm>
          <a:custGeom>
            <a:avLst/>
            <a:gdLst/>
            <a:ahLst/>
            <a:cxnLst/>
            <a:rect l="l" t="t" r="r" b="b"/>
            <a:pathLst>
              <a:path w="342900" h="151130">
                <a:moveTo>
                  <a:pt x="149606" y="1904"/>
                </a:moveTo>
                <a:lnTo>
                  <a:pt x="117475" y="1904"/>
                </a:lnTo>
                <a:lnTo>
                  <a:pt x="117475" y="149351"/>
                </a:lnTo>
                <a:lnTo>
                  <a:pt x="147700" y="149351"/>
                </a:lnTo>
                <a:lnTo>
                  <a:pt x="147574" y="60325"/>
                </a:lnTo>
                <a:lnTo>
                  <a:pt x="147193" y="53212"/>
                </a:lnTo>
                <a:lnTo>
                  <a:pt x="146953" y="51053"/>
                </a:lnTo>
                <a:lnTo>
                  <a:pt x="177416" y="51053"/>
                </a:lnTo>
                <a:lnTo>
                  <a:pt x="154305" y="5587"/>
                </a:lnTo>
                <a:lnTo>
                  <a:pt x="151384" y="2666"/>
                </a:lnTo>
                <a:lnTo>
                  <a:pt x="149606" y="1904"/>
                </a:lnTo>
                <a:close/>
              </a:path>
              <a:path w="342900" h="151130">
                <a:moveTo>
                  <a:pt x="283463" y="51053"/>
                </a:moveTo>
                <a:lnTo>
                  <a:pt x="253873" y="51053"/>
                </a:lnTo>
                <a:lnTo>
                  <a:pt x="253492" y="55752"/>
                </a:lnTo>
                <a:lnTo>
                  <a:pt x="253237" y="60325"/>
                </a:lnTo>
                <a:lnTo>
                  <a:pt x="253237" y="149351"/>
                </a:lnTo>
                <a:lnTo>
                  <a:pt x="283463" y="149351"/>
                </a:lnTo>
                <a:lnTo>
                  <a:pt x="283463" y="51053"/>
                </a:lnTo>
                <a:close/>
              </a:path>
              <a:path w="342900" h="151130">
                <a:moveTo>
                  <a:pt x="177416" y="51053"/>
                </a:moveTo>
                <a:lnTo>
                  <a:pt x="147004" y="51053"/>
                </a:lnTo>
                <a:lnTo>
                  <a:pt x="186181" y="126873"/>
                </a:lnTo>
                <a:lnTo>
                  <a:pt x="195580" y="134112"/>
                </a:lnTo>
                <a:lnTo>
                  <a:pt x="205486" y="134112"/>
                </a:lnTo>
                <a:lnTo>
                  <a:pt x="214756" y="126873"/>
                </a:lnTo>
                <a:lnTo>
                  <a:pt x="229499" y="98298"/>
                </a:lnTo>
                <a:lnTo>
                  <a:pt x="200533" y="98298"/>
                </a:lnTo>
                <a:lnTo>
                  <a:pt x="199390" y="95376"/>
                </a:lnTo>
                <a:lnTo>
                  <a:pt x="195580" y="86995"/>
                </a:lnTo>
                <a:lnTo>
                  <a:pt x="194309" y="84327"/>
                </a:lnTo>
                <a:lnTo>
                  <a:pt x="193040" y="81787"/>
                </a:lnTo>
                <a:lnTo>
                  <a:pt x="177416" y="51053"/>
                </a:lnTo>
                <a:close/>
              </a:path>
              <a:path w="342900" h="151130">
                <a:moveTo>
                  <a:pt x="283463" y="1904"/>
                </a:moveTo>
                <a:lnTo>
                  <a:pt x="251333" y="1904"/>
                </a:lnTo>
                <a:lnTo>
                  <a:pt x="249555" y="2666"/>
                </a:lnTo>
                <a:lnTo>
                  <a:pt x="208025" y="81534"/>
                </a:lnTo>
                <a:lnTo>
                  <a:pt x="200533" y="98298"/>
                </a:lnTo>
                <a:lnTo>
                  <a:pt x="229499" y="98298"/>
                </a:lnTo>
                <a:lnTo>
                  <a:pt x="253873" y="51053"/>
                </a:lnTo>
                <a:lnTo>
                  <a:pt x="283463" y="51053"/>
                </a:lnTo>
                <a:lnTo>
                  <a:pt x="283463" y="1904"/>
                </a:lnTo>
                <a:close/>
              </a:path>
              <a:path w="342900" h="151130">
                <a:moveTo>
                  <a:pt x="342392" y="1650"/>
                </a:moveTo>
                <a:lnTo>
                  <a:pt x="307975" y="1650"/>
                </a:lnTo>
                <a:lnTo>
                  <a:pt x="307975" y="149351"/>
                </a:lnTo>
                <a:lnTo>
                  <a:pt x="342392" y="149351"/>
                </a:lnTo>
                <a:lnTo>
                  <a:pt x="342392" y="1650"/>
                </a:lnTo>
                <a:close/>
              </a:path>
              <a:path w="342900" h="151130">
                <a:moveTo>
                  <a:pt x="19684" y="111378"/>
                </a:moveTo>
                <a:lnTo>
                  <a:pt x="16128" y="111378"/>
                </a:lnTo>
                <a:lnTo>
                  <a:pt x="14731" y="111760"/>
                </a:lnTo>
                <a:lnTo>
                  <a:pt x="11937" y="113284"/>
                </a:lnTo>
                <a:lnTo>
                  <a:pt x="10921" y="114300"/>
                </a:lnTo>
                <a:lnTo>
                  <a:pt x="10159" y="115442"/>
                </a:lnTo>
                <a:lnTo>
                  <a:pt x="0" y="131445"/>
                </a:lnTo>
                <a:lnTo>
                  <a:pt x="2921" y="134365"/>
                </a:lnTo>
                <a:lnTo>
                  <a:pt x="36703" y="149478"/>
                </a:lnTo>
                <a:lnTo>
                  <a:pt x="41402" y="150495"/>
                </a:lnTo>
                <a:lnTo>
                  <a:pt x="46100" y="151002"/>
                </a:lnTo>
                <a:lnTo>
                  <a:pt x="59055" y="151002"/>
                </a:lnTo>
                <a:lnTo>
                  <a:pt x="66548" y="149733"/>
                </a:lnTo>
                <a:lnTo>
                  <a:pt x="79756" y="144652"/>
                </a:lnTo>
                <a:lnTo>
                  <a:pt x="85343" y="141097"/>
                </a:lnTo>
                <a:lnTo>
                  <a:pt x="89789" y="136651"/>
                </a:lnTo>
                <a:lnTo>
                  <a:pt x="94361" y="132334"/>
                </a:lnTo>
                <a:lnTo>
                  <a:pt x="97662" y="127126"/>
                </a:lnTo>
                <a:lnTo>
                  <a:pt x="98997" y="123825"/>
                </a:lnTo>
                <a:lnTo>
                  <a:pt x="47117" y="123825"/>
                </a:lnTo>
                <a:lnTo>
                  <a:pt x="43180" y="123189"/>
                </a:lnTo>
                <a:lnTo>
                  <a:pt x="39750" y="121792"/>
                </a:lnTo>
                <a:lnTo>
                  <a:pt x="36449" y="120523"/>
                </a:lnTo>
                <a:lnTo>
                  <a:pt x="33400" y="119125"/>
                </a:lnTo>
                <a:lnTo>
                  <a:pt x="30861" y="117601"/>
                </a:lnTo>
                <a:lnTo>
                  <a:pt x="28193" y="116077"/>
                </a:lnTo>
                <a:lnTo>
                  <a:pt x="25908" y="114680"/>
                </a:lnTo>
                <a:lnTo>
                  <a:pt x="23875" y="113284"/>
                </a:lnTo>
                <a:lnTo>
                  <a:pt x="21717" y="112013"/>
                </a:lnTo>
                <a:lnTo>
                  <a:pt x="19684" y="111378"/>
                </a:lnTo>
                <a:close/>
              </a:path>
              <a:path w="342900" h="151130">
                <a:moveTo>
                  <a:pt x="60959" y="0"/>
                </a:moveTo>
                <a:lnTo>
                  <a:pt x="48259" y="0"/>
                </a:lnTo>
                <a:lnTo>
                  <a:pt x="41148" y="1270"/>
                </a:lnTo>
                <a:lnTo>
                  <a:pt x="9249" y="27432"/>
                </a:lnTo>
                <a:lnTo>
                  <a:pt x="6858" y="33020"/>
                </a:lnTo>
                <a:lnTo>
                  <a:pt x="5715" y="38353"/>
                </a:lnTo>
                <a:lnTo>
                  <a:pt x="5715" y="50800"/>
                </a:lnTo>
                <a:lnTo>
                  <a:pt x="6642" y="56134"/>
                </a:lnTo>
                <a:lnTo>
                  <a:pt x="6731" y="56641"/>
                </a:lnTo>
                <a:lnTo>
                  <a:pt x="8533" y="61087"/>
                </a:lnTo>
                <a:lnTo>
                  <a:pt x="10414" y="66039"/>
                </a:lnTo>
                <a:lnTo>
                  <a:pt x="38608" y="85471"/>
                </a:lnTo>
                <a:lnTo>
                  <a:pt x="42671" y="86867"/>
                </a:lnTo>
                <a:lnTo>
                  <a:pt x="50673" y="89153"/>
                </a:lnTo>
                <a:lnTo>
                  <a:pt x="54609" y="90170"/>
                </a:lnTo>
                <a:lnTo>
                  <a:pt x="58039" y="91439"/>
                </a:lnTo>
                <a:lnTo>
                  <a:pt x="64134" y="94234"/>
                </a:lnTo>
                <a:lnTo>
                  <a:pt x="66675" y="96138"/>
                </a:lnTo>
                <a:lnTo>
                  <a:pt x="70484" y="100457"/>
                </a:lnTo>
                <a:lnTo>
                  <a:pt x="71374" y="103250"/>
                </a:lnTo>
                <a:lnTo>
                  <a:pt x="71374" y="112649"/>
                </a:lnTo>
                <a:lnTo>
                  <a:pt x="69723" y="116966"/>
                </a:lnTo>
                <a:lnTo>
                  <a:pt x="62737" y="122427"/>
                </a:lnTo>
                <a:lnTo>
                  <a:pt x="57912" y="123825"/>
                </a:lnTo>
                <a:lnTo>
                  <a:pt x="98997" y="123825"/>
                </a:lnTo>
                <a:lnTo>
                  <a:pt x="102386" y="115442"/>
                </a:lnTo>
                <a:lnTo>
                  <a:pt x="102489" y="115188"/>
                </a:lnTo>
                <a:lnTo>
                  <a:pt x="103631" y="108838"/>
                </a:lnTo>
                <a:lnTo>
                  <a:pt x="103631" y="95885"/>
                </a:lnTo>
                <a:lnTo>
                  <a:pt x="102743" y="90550"/>
                </a:lnTo>
                <a:lnTo>
                  <a:pt x="82803" y="67690"/>
                </a:lnTo>
                <a:lnTo>
                  <a:pt x="78867" y="65659"/>
                </a:lnTo>
                <a:lnTo>
                  <a:pt x="74803" y="64008"/>
                </a:lnTo>
                <a:lnTo>
                  <a:pt x="70739" y="62484"/>
                </a:lnTo>
                <a:lnTo>
                  <a:pt x="66548" y="61087"/>
                </a:lnTo>
                <a:lnTo>
                  <a:pt x="62484" y="59689"/>
                </a:lnTo>
                <a:lnTo>
                  <a:pt x="54609" y="57403"/>
                </a:lnTo>
                <a:lnTo>
                  <a:pt x="51181" y="56134"/>
                </a:lnTo>
                <a:lnTo>
                  <a:pt x="48006" y="54610"/>
                </a:lnTo>
                <a:lnTo>
                  <a:pt x="44958" y="53212"/>
                </a:lnTo>
                <a:lnTo>
                  <a:pt x="42545" y="51562"/>
                </a:lnTo>
                <a:lnTo>
                  <a:pt x="40640" y="49529"/>
                </a:lnTo>
                <a:lnTo>
                  <a:pt x="38734" y="47625"/>
                </a:lnTo>
                <a:lnTo>
                  <a:pt x="37718" y="45212"/>
                </a:lnTo>
                <a:lnTo>
                  <a:pt x="37718" y="37591"/>
                </a:lnTo>
                <a:lnTo>
                  <a:pt x="39259" y="34036"/>
                </a:lnTo>
                <a:lnTo>
                  <a:pt x="39370" y="33782"/>
                </a:lnTo>
                <a:lnTo>
                  <a:pt x="45448" y="28448"/>
                </a:lnTo>
                <a:lnTo>
                  <a:pt x="45110" y="28448"/>
                </a:lnTo>
                <a:lnTo>
                  <a:pt x="50418" y="27050"/>
                </a:lnTo>
                <a:lnTo>
                  <a:pt x="95541" y="27050"/>
                </a:lnTo>
                <a:lnTo>
                  <a:pt x="101600" y="15748"/>
                </a:lnTo>
                <a:lnTo>
                  <a:pt x="81787" y="4190"/>
                </a:lnTo>
                <a:lnTo>
                  <a:pt x="77978" y="2793"/>
                </a:lnTo>
                <a:lnTo>
                  <a:pt x="73914" y="1777"/>
                </a:lnTo>
                <a:lnTo>
                  <a:pt x="69596" y="1142"/>
                </a:lnTo>
                <a:lnTo>
                  <a:pt x="65405" y="380"/>
                </a:lnTo>
                <a:lnTo>
                  <a:pt x="60959" y="0"/>
                </a:lnTo>
                <a:close/>
              </a:path>
              <a:path w="342900" h="151130">
                <a:moveTo>
                  <a:pt x="95541" y="27050"/>
                </a:moveTo>
                <a:lnTo>
                  <a:pt x="60578" y="27050"/>
                </a:lnTo>
                <a:lnTo>
                  <a:pt x="63881" y="27432"/>
                </a:lnTo>
                <a:lnTo>
                  <a:pt x="66802" y="28448"/>
                </a:lnTo>
                <a:lnTo>
                  <a:pt x="69596" y="29463"/>
                </a:lnTo>
                <a:lnTo>
                  <a:pt x="72262" y="30479"/>
                </a:lnTo>
                <a:lnTo>
                  <a:pt x="74549" y="31750"/>
                </a:lnTo>
                <a:lnTo>
                  <a:pt x="76708" y="33020"/>
                </a:lnTo>
                <a:lnTo>
                  <a:pt x="78740" y="34036"/>
                </a:lnTo>
                <a:lnTo>
                  <a:pt x="80645" y="35051"/>
                </a:lnTo>
                <a:lnTo>
                  <a:pt x="82423" y="36067"/>
                </a:lnTo>
                <a:lnTo>
                  <a:pt x="84074" y="36575"/>
                </a:lnTo>
                <a:lnTo>
                  <a:pt x="87375" y="36575"/>
                </a:lnTo>
                <a:lnTo>
                  <a:pt x="88773" y="36067"/>
                </a:lnTo>
                <a:lnTo>
                  <a:pt x="91059" y="34543"/>
                </a:lnTo>
                <a:lnTo>
                  <a:pt x="92075" y="33274"/>
                </a:lnTo>
                <a:lnTo>
                  <a:pt x="93012" y="31750"/>
                </a:lnTo>
                <a:lnTo>
                  <a:pt x="95541" y="27050"/>
                </a:lnTo>
                <a:close/>
              </a:path>
            </a:pathLst>
          </a:custGeom>
          <a:solidFill>
            <a:srgbClr val="9F1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43964" y="1469389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5400" h="101600">
                <a:moveTo>
                  <a:pt x="14350" y="75946"/>
                </a:moveTo>
                <a:lnTo>
                  <a:pt x="10922" y="75946"/>
                </a:lnTo>
                <a:lnTo>
                  <a:pt x="9271" y="76326"/>
                </a:lnTo>
                <a:lnTo>
                  <a:pt x="0" y="86995"/>
                </a:lnTo>
                <a:lnTo>
                  <a:pt x="0" y="90550"/>
                </a:lnTo>
                <a:lnTo>
                  <a:pt x="10922" y="101473"/>
                </a:lnTo>
                <a:lnTo>
                  <a:pt x="14350" y="101473"/>
                </a:lnTo>
                <a:lnTo>
                  <a:pt x="25273" y="90550"/>
                </a:lnTo>
                <a:lnTo>
                  <a:pt x="25273" y="86995"/>
                </a:lnTo>
                <a:lnTo>
                  <a:pt x="14350" y="75946"/>
                </a:lnTo>
                <a:close/>
              </a:path>
              <a:path w="25400" h="101600">
                <a:moveTo>
                  <a:pt x="14350" y="0"/>
                </a:moveTo>
                <a:lnTo>
                  <a:pt x="10922" y="0"/>
                </a:lnTo>
                <a:lnTo>
                  <a:pt x="9271" y="381"/>
                </a:lnTo>
                <a:lnTo>
                  <a:pt x="0" y="11049"/>
                </a:lnTo>
                <a:lnTo>
                  <a:pt x="0" y="14605"/>
                </a:lnTo>
                <a:lnTo>
                  <a:pt x="381" y="16256"/>
                </a:lnTo>
                <a:lnTo>
                  <a:pt x="1650" y="19304"/>
                </a:lnTo>
                <a:lnTo>
                  <a:pt x="2540" y="20574"/>
                </a:lnTo>
                <a:lnTo>
                  <a:pt x="3683" y="21717"/>
                </a:lnTo>
                <a:lnTo>
                  <a:pt x="4825" y="22987"/>
                </a:lnTo>
                <a:lnTo>
                  <a:pt x="6096" y="23875"/>
                </a:lnTo>
                <a:lnTo>
                  <a:pt x="7619" y="24511"/>
                </a:lnTo>
                <a:lnTo>
                  <a:pt x="9271" y="25146"/>
                </a:lnTo>
                <a:lnTo>
                  <a:pt x="10922" y="25400"/>
                </a:lnTo>
                <a:lnTo>
                  <a:pt x="14350" y="25400"/>
                </a:lnTo>
                <a:lnTo>
                  <a:pt x="21590" y="21717"/>
                </a:lnTo>
                <a:lnTo>
                  <a:pt x="22733" y="20574"/>
                </a:lnTo>
                <a:lnTo>
                  <a:pt x="23749" y="19304"/>
                </a:lnTo>
                <a:lnTo>
                  <a:pt x="25018" y="16256"/>
                </a:lnTo>
                <a:lnTo>
                  <a:pt x="25273" y="14605"/>
                </a:lnTo>
                <a:lnTo>
                  <a:pt x="25273" y="11049"/>
                </a:lnTo>
                <a:lnTo>
                  <a:pt x="16002" y="381"/>
                </a:lnTo>
                <a:lnTo>
                  <a:pt x="14350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1816989" y="1418716"/>
            <a:ext cx="1981200" cy="184785"/>
            <a:chOff x="1816989" y="1418716"/>
            <a:chExt cx="1981200" cy="18478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6989" y="1418970"/>
              <a:ext cx="1147191" cy="1842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3804" y="1418716"/>
              <a:ext cx="794131" cy="152273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36199" y="2072158"/>
            <a:ext cx="4732799" cy="441799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346394" y="2649845"/>
            <a:ext cx="5830570" cy="3188335"/>
            <a:chOff x="1346394" y="2649845"/>
            <a:chExt cx="5830570" cy="318833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6394" y="2649845"/>
              <a:ext cx="5830304" cy="301513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91434" y="4239005"/>
              <a:ext cx="1229360" cy="0"/>
            </a:xfrm>
            <a:custGeom>
              <a:avLst/>
              <a:gdLst/>
              <a:ahLst/>
              <a:cxnLst/>
              <a:rect l="l" t="t" r="r" b="b"/>
              <a:pathLst>
                <a:path w="1229360" h="0">
                  <a:moveTo>
                    <a:pt x="0" y="0"/>
                  </a:moveTo>
                  <a:lnTo>
                    <a:pt x="1229360" y="0"/>
                  </a:lnTo>
                </a:path>
              </a:pathLst>
            </a:custGeom>
            <a:ln w="19812">
              <a:solidFill>
                <a:srgbClr val="B42A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78298" y="5696407"/>
              <a:ext cx="735266" cy="1417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61049" y="5696407"/>
              <a:ext cx="768426" cy="141731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7757159" y="2033016"/>
            <a:ext cx="2651760" cy="1787525"/>
            <a:chOff x="7757159" y="2033016"/>
            <a:chExt cx="2651760" cy="1787525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55607" y="3591305"/>
              <a:ext cx="86868" cy="22898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757159" y="2033016"/>
              <a:ext cx="2651760" cy="294640"/>
            </a:xfrm>
            <a:custGeom>
              <a:avLst/>
              <a:gdLst/>
              <a:ahLst/>
              <a:cxnLst/>
              <a:rect l="l" t="t" r="r" b="b"/>
              <a:pathLst>
                <a:path w="2651759" h="294639">
                  <a:moveTo>
                    <a:pt x="2621407" y="0"/>
                  </a:moveTo>
                  <a:lnTo>
                    <a:pt x="30353" y="0"/>
                  </a:lnTo>
                  <a:lnTo>
                    <a:pt x="18538" y="2385"/>
                  </a:lnTo>
                  <a:lnTo>
                    <a:pt x="8890" y="8889"/>
                  </a:lnTo>
                  <a:lnTo>
                    <a:pt x="2385" y="18538"/>
                  </a:lnTo>
                  <a:lnTo>
                    <a:pt x="0" y="30353"/>
                  </a:lnTo>
                  <a:lnTo>
                    <a:pt x="0" y="263779"/>
                  </a:lnTo>
                  <a:lnTo>
                    <a:pt x="2385" y="275593"/>
                  </a:lnTo>
                  <a:lnTo>
                    <a:pt x="8890" y="285242"/>
                  </a:lnTo>
                  <a:lnTo>
                    <a:pt x="18538" y="291746"/>
                  </a:lnTo>
                  <a:lnTo>
                    <a:pt x="30353" y="294132"/>
                  </a:lnTo>
                  <a:lnTo>
                    <a:pt x="2621407" y="294132"/>
                  </a:lnTo>
                  <a:lnTo>
                    <a:pt x="2633221" y="291746"/>
                  </a:lnTo>
                  <a:lnTo>
                    <a:pt x="2642870" y="285242"/>
                  </a:lnTo>
                  <a:lnTo>
                    <a:pt x="2649374" y="275593"/>
                  </a:lnTo>
                  <a:lnTo>
                    <a:pt x="2651760" y="263779"/>
                  </a:lnTo>
                  <a:lnTo>
                    <a:pt x="2651760" y="30353"/>
                  </a:lnTo>
                  <a:lnTo>
                    <a:pt x="2649374" y="18538"/>
                  </a:lnTo>
                  <a:lnTo>
                    <a:pt x="2642870" y="8889"/>
                  </a:lnTo>
                  <a:lnTo>
                    <a:pt x="2633221" y="2385"/>
                  </a:lnTo>
                  <a:lnTo>
                    <a:pt x="2621407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7422642" y="1715465"/>
            <a:ext cx="3282950" cy="568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35">
                <a:solidFill>
                  <a:srgbClr val="970F0F"/>
                </a:solidFill>
                <a:latin typeface="Tahoma"/>
                <a:cs typeface="Tahoma"/>
              </a:rPr>
              <a:t>[Changes</a:t>
            </a:r>
            <a:r>
              <a:rPr dirty="0" sz="1400" spc="80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970F0F"/>
                </a:solidFill>
                <a:latin typeface="Tahoma"/>
                <a:cs typeface="Tahoma"/>
              </a:rPr>
              <a:t>due</a:t>
            </a:r>
            <a:r>
              <a:rPr dirty="0" sz="1400" spc="-204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70F0F"/>
                </a:solidFill>
                <a:latin typeface="Tahoma"/>
                <a:cs typeface="Tahoma"/>
              </a:rPr>
              <a:t>to</a:t>
            </a:r>
            <a:r>
              <a:rPr dirty="0" sz="1400" spc="-220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120" b="1">
                <a:solidFill>
                  <a:srgbClr val="970F0F"/>
                </a:solidFill>
                <a:latin typeface="Tahoma"/>
                <a:cs typeface="Tahoma"/>
              </a:rPr>
              <a:t>Cancer-</a:t>
            </a:r>
            <a:r>
              <a:rPr dirty="0" sz="1400" spc="-150" b="1">
                <a:solidFill>
                  <a:srgbClr val="970F0F"/>
                </a:solidFill>
                <a:latin typeface="Tahoma"/>
                <a:cs typeface="Tahoma"/>
              </a:rPr>
              <a:t>Induced</a:t>
            </a:r>
            <a:r>
              <a:rPr dirty="0" sz="1400" spc="-16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75" b="1">
                <a:solidFill>
                  <a:srgbClr val="970F0F"/>
                </a:solidFill>
                <a:latin typeface="Tahoma"/>
                <a:cs typeface="Tahoma"/>
              </a:rPr>
              <a:t>Cachexia</a:t>
            </a:r>
            <a:r>
              <a:rPr dirty="0" sz="1400" spc="-75">
                <a:solidFill>
                  <a:srgbClr val="970F0F"/>
                </a:solidFill>
                <a:latin typeface="Tahoma"/>
                <a:cs typeface="Tahoma"/>
              </a:rPr>
              <a:t>]</a:t>
            </a:r>
            <a:endParaRPr sz="1400">
              <a:latin typeface="Tahoma"/>
              <a:cs typeface="Tahoma"/>
            </a:endParaRPr>
          </a:p>
          <a:p>
            <a:pPr algn="ctr" marR="2540">
              <a:lnSpc>
                <a:spcPct val="100000"/>
              </a:lnSpc>
              <a:spcBef>
                <a:spcPts val="1150"/>
              </a:spcBef>
            </a:pP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Significant</a:t>
            </a:r>
            <a:r>
              <a:rPr dirty="0" sz="12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weigh</a:t>
            </a:r>
            <a:r>
              <a:rPr dirty="0" sz="12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751064" y="2327910"/>
            <a:ext cx="2664460" cy="1807210"/>
            <a:chOff x="7751064" y="2327910"/>
            <a:chExt cx="2664460" cy="1807210"/>
          </a:xfrm>
        </p:grpSpPr>
        <p:sp>
          <p:nvSpPr>
            <p:cNvPr id="30" name="object 30"/>
            <p:cNvSpPr/>
            <p:nvPr/>
          </p:nvSpPr>
          <p:spPr>
            <a:xfrm>
              <a:off x="7757160" y="2574036"/>
              <a:ext cx="2651760" cy="294640"/>
            </a:xfrm>
            <a:custGeom>
              <a:avLst/>
              <a:gdLst/>
              <a:ahLst/>
              <a:cxnLst/>
              <a:rect l="l" t="t" r="r" b="b"/>
              <a:pathLst>
                <a:path w="2651759" h="294639">
                  <a:moveTo>
                    <a:pt x="2621407" y="0"/>
                  </a:moveTo>
                  <a:lnTo>
                    <a:pt x="30353" y="0"/>
                  </a:lnTo>
                  <a:lnTo>
                    <a:pt x="18538" y="2385"/>
                  </a:lnTo>
                  <a:lnTo>
                    <a:pt x="8890" y="8889"/>
                  </a:lnTo>
                  <a:lnTo>
                    <a:pt x="2385" y="18538"/>
                  </a:lnTo>
                  <a:lnTo>
                    <a:pt x="0" y="30352"/>
                  </a:lnTo>
                  <a:lnTo>
                    <a:pt x="0" y="263778"/>
                  </a:lnTo>
                  <a:lnTo>
                    <a:pt x="2385" y="275593"/>
                  </a:lnTo>
                  <a:lnTo>
                    <a:pt x="8890" y="285241"/>
                  </a:lnTo>
                  <a:lnTo>
                    <a:pt x="18538" y="291746"/>
                  </a:lnTo>
                  <a:lnTo>
                    <a:pt x="30353" y="294131"/>
                  </a:lnTo>
                  <a:lnTo>
                    <a:pt x="2621407" y="294131"/>
                  </a:lnTo>
                  <a:lnTo>
                    <a:pt x="2633221" y="291746"/>
                  </a:lnTo>
                  <a:lnTo>
                    <a:pt x="2642870" y="285241"/>
                  </a:lnTo>
                  <a:lnTo>
                    <a:pt x="2649374" y="275593"/>
                  </a:lnTo>
                  <a:lnTo>
                    <a:pt x="2651760" y="263778"/>
                  </a:lnTo>
                  <a:lnTo>
                    <a:pt x="2651760" y="30352"/>
                  </a:lnTo>
                  <a:lnTo>
                    <a:pt x="2649374" y="18538"/>
                  </a:lnTo>
                  <a:lnTo>
                    <a:pt x="2642870" y="8889"/>
                  </a:lnTo>
                  <a:lnTo>
                    <a:pt x="2633221" y="2385"/>
                  </a:lnTo>
                  <a:lnTo>
                    <a:pt x="2621407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757160" y="2574036"/>
              <a:ext cx="2651760" cy="294640"/>
            </a:xfrm>
            <a:custGeom>
              <a:avLst/>
              <a:gdLst/>
              <a:ahLst/>
              <a:cxnLst/>
              <a:rect l="l" t="t" r="r" b="b"/>
              <a:pathLst>
                <a:path w="2651759" h="294639">
                  <a:moveTo>
                    <a:pt x="0" y="30352"/>
                  </a:moveTo>
                  <a:lnTo>
                    <a:pt x="2385" y="18538"/>
                  </a:lnTo>
                  <a:lnTo>
                    <a:pt x="8890" y="8889"/>
                  </a:lnTo>
                  <a:lnTo>
                    <a:pt x="18538" y="2385"/>
                  </a:lnTo>
                  <a:lnTo>
                    <a:pt x="30353" y="0"/>
                  </a:lnTo>
                  <a:lnTo>
                    <a:pt x="2621407" y="0"/>
                  </a:lnTo>
                  <a:lnTo>
                    <a:pt x="2633221" y="2385"/>
                  </a:lnTo>
                  <a:lnTo>
                    <a:pt x="2642870" y="8889"/>
                  </a:lnTo>
                  <a:lnTo>
                    <a:pt x="2649374" y="18538"/>
                  </a:lnTo>
                  <a:lnTo>
                    <a:pt x="2651760" y="30352"/>
                  </a:lnTo>
                  <a:lnTo>
                    <a:pt x="2651760" y="263778"/>
                  </a:lnTo>
                  <a:lnTo>
                    <a:pt x="2649374" y="275593"/>
                  </a:lnTo>
                  <a:lnTo>
                    <a:pt x="2642870" y="285241"/>
                  </a:lnTo>
                  <a:lnTo>
                    <a:pt x="2633221" y="291746"/>
                  </a:lnTo>
                  <a:lnTo>
                    <a:pt x="2621407" y="294131"/>
                  </a:lnTo>
                  <a:lnTo>
                    <a:pt x="30353" y="294131"/>
                  </a:lnTo>
                  <a:lnTo>
                    <a:pt x="18538" y="291746"/>
                  </a:lnTo>
                  <a:lnTo>
                    <a:pt x="8890" y="285241"/>
                  </a:lnTo>
                  <a:lnTo>
                    <a:pt x="2385" y="275593"/>
                  </a:lnTo>
                  <a:lnTo>
                    <a:pt x="0" y="263778"/>
                  </a:lnTo>
                  <a:lnTo>
                    <a:pt x="0" y="30352"/>
                  </a:lnTo>
                  <a:close/>
                </a:path>
              </a:pathLst>
            </a:custGeom>
            <a:ln w="12191">
              <a:solidFill>
                <a:srgbClr val="961B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757160" y="3113531"/>
              <a:ext cx="2651760" cy="1021080"/>
            </a:xfrm>
            <a:custGeom>
              <a:avLst/>
              <a:gdLst/>
              <a:ahLst/>
              <a:cxnLst/>
              <a:rect l="l" t="t" r="r" b="b"/>
              <a:pathLst>
                <a:path w="2651759" h="1021079">
                  <a:moveTo>
                    <a:pt x="2651760" y="757301"/>
                  </a:moveTo>
                  <a:lnTo>
                    <a:pt x="2649372" y="745490"/>
                  </a:lnTo>
                  <a:lnTo>
                    <a:pt x="2642870" y="735850"/>
                  </a:lnTo>
                  <a:lnTo>
                    <a:pt x="2633218" y="729335"/>
                  </a:lnTo>
                  <a:lnTo>
                    <a:pt x="2621407" y="726948"/>
                  </a:lnTo>
                  <a:lnTo>
                    <a:pt x="30353" y="726948"/>
                  </a:lnTo>
                  <a:lnTo>
                    <a:pt x="18529" y="729335"/>
                  </a:lnTo>
                  <a:lnTo>
                    <a:pt x="8890" y="735850"/>
                  </a:lnTo>
                  <a:lnTo>
                    <a:pt x="2374" y="745490"/>
                  </a:lnTo>
                  <a:lnTo>
                    <a:pt x="0" y="757301"/>
                  </a:lnTo>
                  <a:lnTo>
                    <a:pt x="0" y="990727"/>
                  </a:lnTo>
                  <a:lnTo>
                    <a:pt x="2374" y="1002550"/>
                  </a:lnTo>
                  <a:lnTo>
                    <a:pt x="8890" y="1012190"/>
                  </a:lnTo>
                  <a:lnTo>
                    <a:pt x="18529" y="1018705"/>
                  </a:lnTo>
                  <a:lnTo>
                    <a:pt x="30353" y="1021080"/>
                  </a:lnTo>
                  <a:lnTo>
                    <a:pt x="2621407" y="1021080"/>
                  </a:lnTo>
                  <a:lnTo>
                    <a:pt x="2633218" y="1018705"/>
                  </a:lnTo>
                  <a:lnTo>
                    <a:pt x="2642870" y="1012190"/>
                  </a:lnTo>
                  <a:lnTo>
                    <a:pt x="2649372" y="1002550"/>
                  </a:lnTo>
                  <a:lnTo>
                    <a:pt x="2651760" y="990727"/>
                  </a:lnTo>
                  <a:lnTo>
                    <a:pt x="2651760" y="757301"/>
                  </a:lnTo>
                  <a:close/>
                </a:path>
                <a:path w="2651759" h="1021079">
                  <a:moveTo>
                    <a:pt x="2651760" y="49657"/>
                  </a:moveTo>
                  <a:lnTo>
                    <a:pt x="2647848" y="30327"/>
                  </a:lnTo>
                  <a:lnTo>
                    <a:pt x="2637218" y="14541"/>
                  </a:lnTo>
                  <a:lnTo>
                    <a:pt x="2621432" y="3911"/>
                  </a:lnTo>
                  <a:lnTo>
                    <a:pt x="2602103" y="0"/>
                  </a:lnTo>
                  <a:lnTo>
                    <a:pt x="49657" y="0"/>
                  </a:lnTo>
                  <a:lnTo>
                    <a:pt x="30314" y="3911"/>
                  </a:lnTo>
                  <a:lnTo>
                    <a:pt x="14541" y="14541"/>
                  </a:lnTo>
                  <a:lnTo>
                    <a:pt x="3898" y="30327"/>
                  </a:lnTo>
                  <a:lnTo>
                    <a:pt x="0" y="49657"/>
                  </a:lnTo>
                  <a:lnTo>
                    <a:pt x="0" y="431939"/>
                  </a:lnTo>
                  <a:lnTo>
                    <a:pt x="3898" y="451269"/>
                  </a:lnTo>
                  <a:lnTo>
                    <a:pt x="14528" y="467042"/>
                  </a:lnTo>
                  <a:lnTo>
                    <a:pt x="30314" y="477685"/>
                  </a:lnTo>
                  <a:lnTo>
                    <a:pt x="49657" y="481584"/>
                  </a:lnTo>
                  <a:lnTo>
                    <a:pt x="2602103" y="481584"/>
                  </a:lnTo>
                  <a:lnTo>
                    <a:pt x="2621432" y="477685"/>
                  </a:lnTo>
                  <a:lnTo>
                    <a:pt x="2637205" y="467042"/>
                  </a:lnTo>
                  <a:lnTo>
                    <a:pt x="2647848" y="451269"/>
                  </a:lnTo>
                  <a:lnTo>
                    <a:pt x="2651760" y="431939"/>
                  </a:lnTo>
                  <a:lnTo>
                    <a:pt x="2651760" y="49657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55608" y="2327910"/>
              <a:ext cx="86868" cy="22898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55608" y="2868930"/>
              <a:ext cx="86868" cy="228981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501128" y="4841747"/>
            <a:ext cx="257556" cy="237743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7874507" y="4785359"/>
            <a:ext cx="2711450" cy="276225"/>
          </a:xfrm>
          <a:custGeom>
            <a:avLst/>
            <a:gdLst/>
            <a:ahLst/>
            <a:cxnLst/>
            <a:rect l="l" t="t" r="r" b="b"/>
            <a:pathLst>
              <a:path w="2711450" h="276225">
                <a:moveTo>
                  <a:pt x="2678303" y="0"/>
                </a:moveTo>
                <a:lnTo>
                  <a:pt x="32893" y="0"/>
                </a:lnTo>
                <a:lnTo>
                  <a:pt x="20091" y="2585"/>
                </a:lnTo>
                <a:lnTo>
                  <a:pt x="9636" y="9636"/>
                </a:lnTo>
                <a:lnTo>
                  <a:pt x="2585" y="20091"/>
                </a:lnTo>
                <a:lnTo>
                  <a:pt x="0" y="32892"/>
                </a:lnTo>
                <a:lnTo>
                  <a:pt x="0" y="242950"/>
                </a:lnTo>
                <a:lnTo>
                  <a:pt x="2585" y="255752"/>
                </a:lnTo>
                <a:lnTo>
                  <a:pt x="9636" y="266207"/>
                </a:lnTo>
                <a:lnTo>
                  <a:pt x="20091" y="273258"/>
                </a:lnTo>
                <a:lnTo>
                  <a:pt x="32893" y="275844"/>
                </a:lnTo>
                <a:lnTo>
                  <a:pt x="2678303" y="275844"/>
                </a:lnTo>
                <a:lnTo>
                  <a:pt x="2691104" y="273258"/>
                </a:lnTo>
                <a:lnTo>
                  <a:pt x="2701559" y="266207"/>
                </a:lnTo>
                <a:lnTo>
                  <a:pt x="2708610" y="255752"/>
                </a:lnTo>
                <a:lnTo>
                  <a:pt x="2711196" y="242950"/>
                </a:lnTo>
                <a:lnTo>
                  <a:pt x="2711196" y="32892"/>
                </a:lnTo>
                <a:lnTo>
                  <a:pt x="2708610" y="20091"/>
                </a:lnTo>
                <a:lnTo>
                  <a:pt x="2701559" y="9636"/>
                </a:lnTo>
                <a:lnTo>
                  <a:pt x="2691104" y="2585"/>
                </a:lnTo>
                <a:lnTo>
                  <a:pt x="2678303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08747" y="5257800"/>
            <a:ext cx="257555" cy="237744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7874507" y="5227320"/>
            <a:ext cx="2711450" cy="276225"/>
          </a:xfrm>
          <a:custGeom>
            <a:avLst/>
            <a:gdLst/>
            <a:ahLst/>
            <a:cxnLst/>
            <a:rect l="l" t="t" r="r" b="b"/>
            <a:pathLst>
              <a:path w="2711450" h="276225">
                <a:moveTo>
                  <a:pt x="2678303" y="0"/>
                </a:moveTo>
                <a:lnTo>
                  <a:pt x="32893" y="0"/>
                </a:lnTo>
                <a:lnTo>
                  <a:pt x="20091" y="2585"/>
                </a:lnTo>
                <a:lnTo>
                  <a:pt x="9636" y="9636"/>
                </a:lnTo>
                <a:lnTo>
                  <a:pt x="2585" y="20091"/>
                </a:lnTo>
                <a:lnTo>
                  <a:pt x="0" y="32892"/>
                </a:lnTo>
                <a:lnTo>
                  <a:pt x="0" y="242950"/>
                </a:lnTo>
                <a:lnTo>
                  <a:pt x="2585" y="255752"/>
                </a:lnTo>
                <a:lnTo>
                  <a:pt x="9636" y="266207"/>
                </a:lnTo>
                <a:lnTo>
                  <a:pt x="20091" y="273258"/>
                </a:lnTo>
                <a:lnTo>
                  <a:pt x="32893" y="275843"/>
                </a:lnTo>
                <a:lnTo>
                  <a:pt x="2678303" y="275843"/>
                </a:lnTo>
                <a:lnTo>
                  <a:pt x="2691104" y="273258"/>
                </a:lnTo>
                <a:lnTo>
                  <a:pt x="2701559" y="266207"/>
                </a:lnTo>
                <a:lnTo>
                  <a:pt x="2708610" y="255752"/>
                </a:lnTo>
                <a:lnTo>
                  <a:pt x="2711196" y="242950"/>
                </a:lnTo>
                <a:lnTo>
                  <a:pt x="2711196" y="32892"/>
                </a:lnTo>
                <a:lnTo>
                  <a:pt x="2708610" y="20091"/>
                </a:lnTo>
                <a:lnTo>
                  <a:pt x="2701559" y="9636"/>
                </a:lnTo>
                <a:lnTo>
                  <a:pt x="2691104" y="2585"/>
                </a:lnTo>
                <a:lnTo>
                  <a:pt x="2678303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926705" y="2615565"/>
            <a:ext cx="2610485" cy="285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755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Muscle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200">
              <a:latin typeface="Tahoma"/>
              <a:cs typeface="Tahoma"/>
            </a:endParaRPr>
          </a:p>
          <a:p>
            <a:pPr algn="ctr" marR="292100">
              <a:lnSpc>
                <a:spcPct val="100000"/>
              </a:lnSpc>
            </a:pP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Resistance</a:t>
            </a:r>
            <a:r>
              <a:rPr dirty="0" sz="12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2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standard</a:t>
            </a:r>
            <a:r>
              <a:rPr dirty="0" sz="12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treatment</a:t>
            </a:r>
            <a:endParaRPr sz="1200">
              <a:latin typeface="Tahoma"/>
              <a:cs typeface="Tahoma"/>
            </a:endParaRPr>
          </a:p>
          <a:p>
            <a:pPr algn="ctr" marR="292735">
              <a:lnSpc>
                <a:spcPct val="100000"/>
              </a:lnSpc>
            </a:pP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(Chemotherapy/Radiation)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ahoma"/>
              <a:cs typeface="Tahoma"/>
            </a:endParaRPr>
          </a:p>
          <a:p>
            <a:pPr marL="311150">
              <a:lnSpc>
                <a:spcPct val="100000"/>
              </a:lnSpc>
            </a:pP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Impossible</a:t>
            </a:r>
            <a:r>
              <a:rPr dirty="0" sz="12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2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live</a:t>
            </a:r>
            <a:r>
              <a:rPr dirty="0" sz="12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normal</a:t>
            </a:r>
            <a:r>
              <a:rPr dirty="0" sz="12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life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970F0F"/>
                </a:solidFill>
                <a:latin typeface="Tahoma"/>
                <a:cs typeface="Tahoma"/>
              </a:rPr>
              <a:t>[Criteria</a:t>
            </a:r>
            <a:r>
              <a:rPr dirty="0" sz="1400" spc="-140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70F0F"/>
                </a:solidFill>
                <a:latin typeface="Tahoma"/>
                <a:cs typeface="Tahoma"/>
              </a:rPr>
              <a:t>for</a:t>
            </a:r>
            <a:r>
              <a:rPr dirty="0" sz="1400" spc="-180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135" b="1">
                <a:solidFill>
                  <a:srgbClr val="970F0F"/>
                </a:solidFill>
                <a:latin typeface="Tahoma"/>
                <a:cs typeface="Tahoma"/>
              </a:rPr>
              <a:t>Diagnosing</a:t>
            </a:r>
            <a:r>
              <a:rPr dirty="0" sz="1400" spc="-13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970F0F"/>
                </a:solidFill>
                <a:latin typeface="Tahoma"/>
                <a:cs typeface="Tahoma"/>
              </a:rPr>
              <a:t>Cachexia</a:t>
            </a:r>
            <a:r>
              <a:rPr dirty="0" sz="1400" spc="-60">
                <a:solidFill>
                  <a:srgbClr val="970F0F"/>
                </a:solidFill>
                <a:latin typeface="Tahoma"/>
                <a:cs typeface="Tahoma"/>
              </a:rPr>
              <a:t>]</a:t>
            </a:r>
            <a:endParaRPr sz="140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  <a:spcBef>
                <a:spcPts val="1285"/>
              </a:spcBef>
            </a:pP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Weight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FFFFFF"/>
                </a:solidFill>
                <a:latin typeface="Tahoma"/>
                <a:cs typeface="Tahoma"/>
              </a:rPr>
              <a:t>&gt;</a:t>
            </a:r>
            <a:r>
              <a:rPr dirty="0" sz="12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5%</a:t>
            </a:r>
            <a:r>
              <a:rPr dirty="0" sz="12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dirty="0" sz="12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2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past</a:t>
            </a:r>
            <a:r>
              <a:rPr dirty="0" sz="12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dirty="0" sz="12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months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200">
              <a:latin typeface="Tahoma"/>
              <a:cs typeface="Tahoma"/>
            </a:endParaRPr>
          </a:p>
          <a:p>
            <a:pPr marL="40513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BMI</a:t>
            </a:r>
            <a:r>
              <a:rPr dirty="0" sz="12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FFFFFF"/>
                </a:solidFill>
                <a:latin typeface="Tahoma"/>
                <a:cs typeface="Tahoma"/>
              </a:rPr>
              <a:t>&lt;</a:t>
            </a:r>
            <a:r>
              <a:rPr dirty="0" sz="12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20</a:t>
            </a:r>
            <a:r>
              <a:rPr dirty="0" sz="12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dirty="0" sz="12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Weight</a:t>
            </a:r>
            <a:r>
              <a:rPr dirty="0" sz="12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FFFFFF"/>
                </a:solidFill>
                <a:latin typeface="Tahoma"/>
                <a:cs typeface="Tahoma"/>
              </a:rPr>
              <a:t>&gt;</a:t>
            </a:r>
            <a:r>
              <a:rPr dirty="0" sz="12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2%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61835" y="5694375"/>
            <a:ext cx="781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6633"/>
                </a:solidFill>
                <a:latin typeface="Malgun Gothic"/>
                <a:cs typeface="Malgun Gothic"/>
              </a:rPr>
              <a:t>–</a:t>
            </a:r>
            <a:endParaRPr sz="800">
              <a:latin typeface="Malgun Gothic"/>
              <a:cs typeface="Malgun Gothic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626352" y="5696407"/>
            <a:ext cx="192024" cy="14173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508747" y="5678423"/>
            <a:ext cx="257555" cy="237744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7874507" y="5660135"/>
            <a:ext cx="2711450" cy="274320"/>
          </a:xfrm>
          <a:custGeom>
            <a:avLst/>
            <a:gdLst/>
            <a:ahLst/>
            <a:cxnLst/>
            <a:rect l="l" t="t" r="r" b="b"/>
            <a:pathLst>
              <a:path w="2711450" h="274320">
                <a:moveTo>
                  <a:pt x="2678557" y="0"/>
                </a:moveTo>
                <a:lnTo>
                  <a:pt x="32639" y="0"/>
                </a:lnTo>
                <a:lnTo>
                  <a:pt x="19931" y="2565"/>
                </a:lnTo>
                <a:lnTo>
                  <a:pt x="9556" y="9563"/>
                </a:lnTo>
                <a:lnTo>
                  <a:pt x="2563" y="19941"/>
                </a:lnTo>
                <a:lnTo>
                  <a:pt x="0" y="32651"/>
                </a:lnTo>
                <a:lnTo>
                  <a:pt x="0" y="241668"/>
                </a:lnTo>
                <a:lnTo>
                  <a:pt x="2563" y="254378"/>
                </a:lnTo>
                <a:lnTo>
                  <a:pt x="9556" y="264756"/>
                </a:lnTo>
                <a:lnTo>
                  <a:pt x="19931" y="271754"/>
                </a:lnTo>
                <a:lnTo>
                  <a:pt x="32639" y="274319"/>
                </a:lnTo>
                <a:lnTo>
                  <a:pt x="2678557" y="274319"/>
                </a:lnTo>
                <a:lnTo>
                  <a:pt x="2691264" y="271754"/>
                </a:lnTo>
                <a:lnTo>
                  <a:pt x="2701639" y="264756"/>
                </a:lnTo>
                <a:lnTo>
                  <a:pt x="2708632" y="254378"/>
                </a:lnTo>
                <a:lnTo>
                  <a:pt x="2711196" y="241668"/>
                </a:lnTo>
                <a:lnTo>
                  <a:pt x="2711196" y="32651"/>
                </a:lnTo>
                <a:lnTo>
                  <a:pt x="2708632" y="19941"/>
                </a:lnTo>
                <a:lnTo>
                  <a:pt x="2701639" y="9563"/>
                </a:lnTo>
                <a:lnTo>
                  <a:pt x="2691264" y="2565"/>
                </a:lnTo>
                <a:lnTo>
                  <a:pt x="2678557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352281" y="5691022"/>
            <a:ext cx="17157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Severe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skeletal</a:t>
            </a:r>
            <a:r>
              <a:rPr dirty="0" sz="12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muscle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4077" y="6476200"/>
            <a:ext cx="281813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42263" y="1419986"/>
            <a:ext cx="342900" cy="151130"/>
          </a:xfrm>
          <a:custGeom>
            <a:avLst/>
            <a:gdLst/>
            <a:ahLst/>
            <a:cxnLst/>
            <a:rect l="l" t="t" r="r" b="b"/>
            <a:pathLst>
              <a:path w="342900" h="151130">
                <a:moveTo>
                  <a:pt x="149606" y="1904"/>
                </a:moveTo>
                <a:lnTo>
                  <a:pt x="117475" y="1904"/>
                </a:lnTo>
                <a:lnTo>
                  <a:pt x="117475" y="149351"/>
                </a:lnTo>
                <a:lnTo>
                  <a:pt x="147700" y="149351"/>
                </a:lnTo>
                <a:lnTo>
                  <a:pt x="147574" y="60325"/>
                </a:lnTo>
                <a:lnTo>
                  <a:pt x="147193" y="53212"/>
                </a:lnTo>
                <a:lnTo>
                  <a:pt x="146953" y="51053"/>
                </a:lnTo>
                <a:lnTo>
                  <a:pt x="177416" y="51053"/>
                </a:lnTo>
                <a:lnTo>
                  <a:pt x="154305" y="5587"/>
                </a:lnTo>
                <a:lnTo>
                  <a:pt x="151384" y="2666"/>
                </a:lnTo>
                <a:lnTo>
                  <a:pt x="149606" y="1904"/>
                </a:lnTo>
                <a:close/>
              </a:path>
              <a:path w="342900" h="151130">
                <a:moveTo>
                  <a:pt x="283463" y="51053"/>
                </a:moveTo>
                <a:lnTo>
                  <a:pt x="253873" y="51053"/>
                </a:lnTo>
                <a:lnTo>
                  <a:pt x="253492" y="55752"/>
                </a:lnTo>
                <a:lnTo>
                  <a:pt x="253237" y="60325"/>
                </a:lnTo>
                <a:lnTo>
                  <a:pt x="253237" y="149351"/>
                </a:lnTo>
                <a:lnTo>
                  <a:pt x="283463" y="149351"/>
                </a:lnTo>
                <a:lnTo>
                  <a:pt x="283463" y="51053"/>
                </a:lnTo>
                <a:close/>
              </a:path>
              <a:path w="342900" h="151130">
                <a:moveTo>
                  <a:pt x="177416" y="51053"/>
                </a:moveTo>
                <a:lnTo>
                  <a:pt x="147004" y="51053"/>
                </a:lnTo>
                <a:lnTo>
                  <a:pt x="186181" y="126873"/>
                </a:lnTo>
                <a:lnTo>
                  <a:pt x="195580" y="134112"/>
                </a:lnTo>
                <a:lnTo>
                  <a:pt x="205486" y="134112"/>
                </a:lnTo>
                <a:lnTo>
                  <a:pt x="214756" y="126873"/>
                </a:lnTo>
                <a:lnTo>
                  <a:pt x="229499" y="98298"/>
                </a:lnTo>
                <a:lnTo>
                  <a:pt x="200533" y="98298"/>
                </a:lnTo>
                <a:lnTo>
                  <a:pt x="199390" y="95376"/>
                </a:lnTo>
                <a:lnTo>
                  <a:pt x="195580" y="86995"/>
                </a:lnTo>
                <a:lnTo>
                  <a:pt x="194309" y="84327"/>
                </a:lnTo>
                <a:lnTo>
                  <a:pt x="193040" y="81787"/>
                </a:lnTo>
                <a:lnTo>
                  <a:pt x="177416" y="51053"/>
                </a:lnTo>
                <a:close/>
              </a:path>
              <a:path w="342900" h="151130">
                <a:moveTo>
                  <a:pt x="283463" y="1904"/>
                </a:moveTo>
                <a:lnTo>
                  <a:pt x="251333" y="1904"/>
                </a:lnTo>
                <a:lnTo>
                  <a:pt x="249555" y="2666"/>
                </a:lnTo>
                <a:lnTo>
                  <a:pt x="208025" y="81534"/>
                </a:lnTo>
                <a:lnTo>
                  <a:pt x="200533" y="98298"/>
                </a:lnTo>
                <a:lnTo>
                  <a:pt x="229499" y="98298"/>
                </a:lnTo>
                <a:lnTo>
                  <a:pt x="253873" y="51053"/>
                </a:lnTo>
                <a:lnTo>
                  <a:pt x="283463" y="51053"/>
                </a:lnTo>
                <a:lnTo>
                  <a:pt x="283463" y="1904"/>
                </a:lnTo>
                <a:close/>
              </a:path>
              <a:path w="342900" h="151130">
                <a:moveTo>
                  <a:pt x="342392" y="1650"/>
                </a:moveTo>
                <a:lnTo>
                  <a:pt x="307975" y="1650"/>
                </a:lnTo>
                <a:lnTo>
                  <a:pt x="307975" y="149351"/>
                </a:lnTo>
                <a:lnTo>
                  <a:pt x="342392" y="149351"/>
                </a:lnTo>
                <a:lnTo>
                  <a:pt x="342392" y="1650"/>
                </a:lnTo>
                <a:close/>
              </a:path>
              <a:path w="342900" h="151130">
                <a:moveTo>
                  <a:pt x="19684" y="111378"/>
                </a:moveTo>
                <a:lnTo>
                  <a:pt x="16128" y="111378"/>
                </a:lnTo>
                <a:lnTo>
                  <a:pt x="14731" y="111760"/>
                </a:lnTo>
                <a:lnTo>
                  <a:pt x="11937" y="113284"/>
                </a:lnTo>
                <a:lnTo>
                  <a:pt x="10921" y="114300"/>
                </a:lnTo>
                <a:lnTo>
                  <a:pt x="10159" y="115442"/>
                </a:lnTo>
                <a:lnTo>
                  <a:pt x="0" y="131445"/>
                </a:lnTo>
                <a:lnTo>
                  <a:pt x="2921" y="134365"/>
                </a:lnTo>
                <a:lnTo>
                  <a:pt x="36703" y="149478"/>
                </a:lnTo>
                <a:lnTo>
                  <a:pt x="41402" y="150495"/>
                </a:lnTo>
                <a:lnTo>
                  <a:pt x="46100" y="151002"/>
                </a:lnTo>
                <a:lnTo>
                  <a:pt x="59055" y="151002"/>
                </a:lnTo>
                <a:lnTo>
                  <a:pt x="66548" y="149733"/>
                </a:lnTo>
                <a:lnTo>
                  <a:pt x="79756" y="144652"/>
                </a:lnTo>
                <a:lnTo>
                  <a:pt x="85343" y="141097"/>
                </a:lnTo>
                <a:lnTo>
                  <a:pt x="89789" y="136651"/>
                </a:lnTo>
                <a:lnTo>
                  <a:pt x="94361" y="132334"/>
                </a:lnTo>
                <a:lnTo>
                  <a:pt x="97662" y="127126"/>
                </a:lnTo>
                <a:lnTo>
                  <a:pt x="98997" y="123825"/>
                </a:lnTo>
                <a:lnTo>
                  <a:pt x="47117" y="123825"/>
                </a:lnTo>
                <a:lnTo>
                  <a:pt x="43180" y="123189"/>
                </a:lnTo>
                <a:lnTo>
                  <a:pt x="39750" y="121792"/>
                </a:lnTo>
                <a:lnTo>
                  <a:pt x="36449" y="120523"/>
                </a:lnTo>
                <a:lnTo>
                  <a:pt x="33400" y="119125"/>
                </a:lnTo>
                <a:lnTo>
                  <a:pt x="30861" y="117601"/>
                </a:lnTo>
                <a:lnTo>
                  <a:pt x="28193" y="116077"/>
                </a:lnTo>
                <a:lnTo>
                  <a:pt x="25908" y="114680"/>
                </a:lnTo>
                <a:lnTo>
                  <a:pt x="23875" y="113284"/>
                </a:lnTo>
                <a:lnTo>
                  <a:pt x="21717" y="112013"/>
                </a:lnTo>
                <a:lnTo>
                  <a:pt x="19684" y="111378"/>
                </a:lnTo>
                <a:close/>
              </a:path>
              <a:path w="342900" h="151130">
                <a:moveTo>
                  <a:pt x="60959" y="0"/>
                </a:moveTo>
                <a:lnTo>
                  <a:pt x="48259" y="0"/>
                </a:lnTo>
                <a:lnTo>
                  <a:pt x="41148" y="1270"/>
                </a:lnTo>
                <a:lnTo>
                  <a:pt x="9249" y="27432"/>
                </a:lnTo>
                <a:lnTo>
                  <a:pt x="6858" y="33020"/>
                </a:lnTo>
                <a:lnTo>
                  <a:pt x="5715" y="38353"/>
                </a:lnTo>
                <a:lnTo>
                  <a:pt x="5715" y="50800"/>
                </a:lnTo>
                <a:lnTo>
                  <a:pt x="6642" y="56134"/>
                </a:lnTo>
                <a:lnTo>
                  <a:pt x="6731" y="56641"/>
                </a:lnTo>
                <a:lnTo>
                  <a:pt x="8533" y="61087"/>
                </a:lnTo>
                <a:lnTo>
                  <a:pt x="10414" y="66039"/>
                </a:lnTo>
                <a:lnTo>
                  <a:pt x="38608" y="85471"/>
                </a:lnTo>
                <a:lnTo>
                  <a:pt x="42671" y="86867"/>
                </a:lnTo>
                <a:lnTo>
                  <a:pt x="50673" y="89153"/>
                </a:lnTo>
                <a:lnTo>
                  <a:pt x="54609" y="90170"/>
                </a:lnTo>
                <a:lnTo>
                  <a:pt x="58039" y="91439"/>
                </a:lnTo>
                <a:lnTo>
                  <a:pt x="64134" y="94234"/>
                </a:lnTo>
                <a:lnTo>
                  <a:pt x="66675" y="96138"/>
                </a:lnTo>
                <a:lnTo>
                  <a:pt x="70484" y="100457"/>
                </a:lnTo>
                <a:lnTo>
                  <a:pt x="71374" y="103250"/>
                </a:lnTo>
                <a:lnTo>
                  <a:pt x="71374" y="112649"/>
                </a:lnTo>
                <a:lnTo>
                  <a:pt x="69723" y="116966"/>
                </a:lnTo>
                <a:lnTo>
                  <a:pt x="62737" y="122427"/>
                </a:lnTo>
                <a:lnTo>
                  <a:pt x="57912" y="123825"/>
                </a:lnTo>
                <a:lnTo>
                  <a:pt x="98997" y="123825"/>
                </a:lnTo>
                <a:lnTo>
                  <a:pt x="102386" y="115442"/>
                </a:lnTo>
                <a:lnTo>
                  <a:pt x="102489" y="115188"/>
                </a:lnTo>
                <a:lnTo>
                  <a:pt x="103631" y="108838"/>
                </a:lnTo>
                <a:lnTo>
                  <a:pt x="103631" y="95885"/>
                </a:lnTo>
                <a:lnTo>
                  <a:pt x="102743" y="90550"/>
                </a:lnTo>
                <a:lnTo>
                  <a:pt x="82803" y="67690"/>
                </a:lnTo>
                <a:lnTo>
                  <a:pt x="78867" y="65659"/>
                </a:lnTo>
                <a:lnTo>
                  <a:pt x="74803" y="64008"/>
                </a:lnTo>
                <a:lnTo>
                  <a:pt x="70739" y="62484"/>
                </a:lnTo>
                <a:lnTo>
                  <a:pt x="66548" y="61087"/>
                </a:lnTo>
                <a:lnTo>
                  <a:pt x="62484" y="59689"/>
                </a:lnTo>
                <a:lnTo>
                  <a:pt x="54609" y="57403"/>
                </a:lnTo>
                <a:lnTo>
                  <a:pt x="51181" y="56134"/>
                </a:lnTo>
                <a:lnTo>
                  <a:pt x="48006" y="54610"/>
                </a:lnTo>
                <a:lnTo>
                  <a:pt x="44958" y="53212"/>
                </a:lnTo>
                <a:lnTo>
                  <a:pt x="42545" y="51562"/>
                </a:lnTo>
                <a:lnTo>
                  <a:pt x="40640" y="49529"/>
                </a:lnTo>
                <a:lnTo>
                  <a:pt x="38734" y="47625"/>
                </a:lnTo>
                <a:lnTo>
                  <a:pt x="37718" y="45212"/>
                </a:lnTo>
                <a:lnTo>
                  <a:pt x="37718" y="37591"/>
                </a:lnTo>
                <a:lnTo>
                  <a:pt x="39259" y="34036"/>
                </a:lnTo>
                <a:lnTo>
                  <a:pt x="39370" y="33782"/>
                </a:lnTo>
                <a:lnTo>
                  <a:pt x="45448" y="28448"/>
                </a:lnTo>
                <a:lnTo>
                  <a:pt x="45110" y="28448"/>
                </a:lnTo>
                <a:lnTo>
                  <a:pt x="50418" y="27050"/>
                </a:lnTo>
                <a:lnTo>
                  <a:pt x="95541" y="27050"/>
                </a:lnTo>
                <a:lnTo>
                  <a:pt x="101600" y="15748"/>
                </a:lnTo>
                <a:lnTo>
                  <a:pt x="81787" y="4190"/>
                </a:lnTo>
                <a:lnTo>
                  <a:pt x="77978" y="2793"/>
                </a:lnTo>
                <a:lnTo>
                  <a:pt x="73914" y="1777"/>
                </a:lnTo>
                <a:lnTo>
                  <a:pt x="69596" y="1142"/>
                </a:lnTo>
                <a:lnTo>
                  <a:pt x="65405" y="380"/>
                </a:lnTo>
                <a:lnTo>
                  <a:pt x="60959" y="0"/>
                </a:lnTo>
                <a:close/>
              </a:path>
              <a:path w="342900" h="151130">
                <a:moveTo>
                  <a:pt x="95541" y="27050"/>
                </a:moveTo>
                <a:lnTo>
                  <a:pt x="60578" y="27050"/>
                </a:lnTo>
                <a:lnTo>
                  <a:pt x="63881" y="27432"/>
                </a:lnTo>
                <a:lnTo>
                  <a:pt x="66802" y="28448"/>
                </a:lnTo>
                <a:lnTo>
                  <a:pt x="69596" y="29463"/>
                </a:lnTo>
                <a:lnTo>
                  <a:pt x="72262" y="30479"/>
                </a:lnTo>
                <a:lnTo>
                  <a:pt x="74549" y="31750"/>
                </a:lnTo>
                <a:lnTo>
                  <a:pt x="76708" y="33020"/>
                </a:lnTo>
                <a:lnTo>
                  <a:pt x="78740" y="34036"/>
                </a:lnTo>
                <a:lnTo>
                  <a:pt x="80645" y="35051"/>
                </a:lnTo>
                <a:lnTo>
                  <a:pt x="82423" y="36067"/>
                </a:lnTo>
                <a:lnTo>
                  <a:pt x="84074" y="36575"/>
                </a:lnTo>
                <a:lnTo>
                  <a:pt x="87375" y="36575"/>
                </a:lnTo>
                <a:lnTo>
                  <a:pt x="88773" y="36067"/>
                </a:lnTo>
                <a:lnTo>
                  <a:pt x="91059" y="34543"/>
                </a:lnTo>
                <a:lnTo>
                  <a:pt x="92075" y="33274"/>
                </a:lnTo>
                <a:lnTo>
                  <a:pt x="93012" y="31750"/>
                </a:lnTo>
                <a:lnTo>
                  <a:pt x="95541" y="27050"/>
                </a:lnTo>
                <a:close/>
              </a:path>
            </a:pathLst>
          </a:custGeom>
          <a:solidFill>
            <a:srgbClr val="9F11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43964" y="1469389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5400" h="101600">
                <a:moveTo>
                  <a:pt x="14350" y="75946"/>
                </a:moveTo>
                <a:lnTo>
                  <a:pt x="10922" y="75946"/>
                </a:lnTo>
                <a:lnTo>
                  <a:pt x="9271" y="76326"/>
                </a:lnTo>
                <a:lnTo>
                  <a:pt x="0" y="86995"/>
                </a:lnTo>
                <a:lnTo>
                  <a:pt x="0" y="90550"/>
                </a:lnTo>
                <a:lnTo>
                  <a:pt x="10922" y="101473"/>
                </a:lnTo>
                <a:lnTo>
                  <a:pt x="14350" y="101473"/>
                </a:lnTo>
                <a:lnTo>
                  <a:pt x="25273" y="90550"/>
                </a:lnTo>
                <a:lnTo>
                  <a:pt x="25273" y="86995"/>
                </a:lnTo>
                <a:lnTo>
                  <a:pt x="14350" y="75946"/>
                </a:lnTo>
                <a:close/>
              </a:path>
              <a:path w="25400" h="101600">
                <a:moveTo>
                  <a:pt x="14350" y="0"/>
                </a:moveTo>
                <a:lnTo>
                  <a:pt x="10922" y="0"/>
                </a:lnTo>
                <a:lnTo>
                  <a:pt x="9271" y="381"/>
                </a:lnTo>
                <a:lnTo>
                  <a:pt x="0" y="11049"/>
                </a:lnTo>
                <a:lnTo>
                  <a:pt x="0" y="14605"/>
                </a:lnTo>
                <a:lnTo>
                  <a:pt x="381" y="16256"/>
                </a:lnTo>
                <a:lnTo>
                  <a:pt x="1650" y="19304"/>
                </a:lnTo>
                <a:lnTo>
                  <a:pt x="2540" y="20574"/>
                </a:lnTo>
                <a:lnTo>
                  <a:pt x="3683" y="21717"/>
                </a:lnTo>
                <a:lnTo>
                  <a:pt x="4825" y="22987"/>
                </a:lnTo>
                <a:lnTo>
                  <a:pt x="6096" y="23875"/>
                </a:lnTo>
                <a:lnTo>
                  <a:pt x="7619" y="24511"/>
                </a:lnTo>
                <a:lnTo>
                  <a:pt x="9271" y="25146"/>
                </a:lnTo>
                <a:lnTo>
                  <a:pt x="10922" y="25400"/>
                </a:lnTo>
                <a:lnTo>
                  <a:pt x="14350" y="25400"/>
                </a:lnTo>
                <a:lnTo>
                  <a:pt x="21590" y="21717"/>
                </a:lnTo>
                <a:lnTo>
                  <a:pt x="22733" y="20574"/>
                </a:lnTo>
                <a:lnTo>
                  <a:pt x="23749" y="19304"/>
                </a:lnTo>
                <a:lnTo>
                  <a:pt x="25018" y="16256"/>
                </a:lnTo>
                <a:lnTo>
                  <a:pt x="25273" y="14605"/>
                </a:lnTo>
                <a:lnTo>
                  <a:pt x="25273" y="11049"/>
                </a:lnTo>
                <a:lnTo>
                  <a:pt x="16002" y="381"/>
                </a:lnTo>
                <a:lnTo>
                  <a:pt x="14350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1816989" y="1418716"/>
            <a:ext cx="1981200" cy="184785"/>
            <a:chOff x="1816989" y="1418716"/>
            <a:chExt cx="1981200" cy="18478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16989" y="1418970"/>
              <a:ext cx="1147191" cy="1842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03804" y="1418716"/>
              <a:ext cx="794131" cy="15227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559178" y="2140457"/>
            <a:ext cx="8750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4" b="1">
                <a:solidFill>
                  <a:srgbClr val="970F0F"/>
                </a:solidFill>
                <a:latin typeface="Tahoma"/>
                <a:cs typeface="Tahoma"/>
              </a:rPr>
              <a:t>Sarcopenia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49680" y="2448941"/>
            <a:ext cx="2734945" cy="2507615"/>
            <a:chOff x="1249680" y="2448941"/>
            <a:chExt cx="2734945" cy="2507615"/>
          </a:xfrm>
        </p:grpSpPr>
        <p:sp>
          <p:nvSpPr>
            <p:cNvPr id="20" name="object 20"/>
            <p:cNvSpPr/>
            <p:nvPr/>
          </p:nvSpPr>
          <p:spPr>
            <a:xfrm>
              <a:off x="2594356" y="3227831"/>
              <a:ext cx="1390015" cy="1728470"/>
            </a:xfrm>
            <a:custGeom>
              <a:avLst/>
              <a:gdLst/>
              <a:ahLst/>
              <a:cxnLst/>
              <a:rect l="l" t="t" r="r" b="b"/>
              <a:pathLst>
                <a:path w="1390014" h="1728470">
                  <a:moveTo>
                    <a:pt x="44704" y="1600200"/>
                  </a:moveTo>
                  <a:lnTo>
                    <a:pt x="31991" y="1600200"/>
                  </a:lnTo>
                  <a:lnTo>
                    <a:pt x="31737" y="1651000"/>
                  </a:lnTo>
                  <a:lnTo>
                    <a:pt x="44450" y="1651000"/>
                  </a:lnTo>
                  <a:lnTo>
                    <a:pt x="44704" y="1600200"/>
                  </a:lnTo>
                  <a:close/>
                </a:path>
                <a:path w="1390014" h="1728470">
                  <a:moveTo>
                    <a:pt x="45212" y="1511300"/>
                  </a:moveTo>
                  <a:lnTo>
                    <a:pt x="32499" y="1511300"/>
                  </a:lnTo>
                  <a:lnTo>
                    <a:pt x="32245" y="1562100"/>
                  </a:lnTo>
                  <a:lnTo>
                    <a:pt x="44958" y="1562100"/>
                  </a:lnTo>
                  <a:lnTo>
                    <a:pt x="45212" y="1511300"/>
                  </a:lnTo>
                  <a:close/>
                </a:path>
                <a:path w="1390014" h="1728470">
                  <a:moveTo>
                    <a:pt x="45720" y="1422400"/>
                  </a:moveTo>
                  <a:lnTo>
                    <a:pt x="33007" y="1422400"/>
                  </a:lnTo>
                  <a:lnTo>
                    <a:pt x="32753" y="1473200"/>
                  </a:lnTo>
                  <a:lnTo>
                    <a:pt x="45466" y="1473200"/>
                  </a:lnTo>
                  <a:lnTo>
                    <a:pt x="45720" y="1422400"/>
                  </a:lnTo>
                  <a:close/>
                </a:path>
                <a:path w="1390014" h="1728470">
                  <a:moveTo>
                    <a:pt x="46355" y="1333500"/>
                  </a:moveTo>
                  <a:lnTo>
                    <a:pt x="33642" y="1333500"/>
                  </a:lnTo>
                  <a:lnTo>
                    <a:pt x="33261" y="1384300"/>
                  </a:lnTo>
                  <a:lnTo>
                    <a:pt x="45974" y="1384300"/>
                  </a:lnTo>
                  <a:lnTo>
                    <a:pt x="46355" y="1333500"/>
                  </a:lnTo>
                  <a:close/>
                </a:path>
                <a:path w="1390014" h="1728470">
                  <a:moveTo>
                    <a:pt x="46863" y="1244600"/>
                  </a:moveTo>
                  <a:lnTo>
                    <a:pt x="34163" y="1244600"/>
                  </a:lnTo>
                  <a:lnTo>
                    <a:pt x="33769" y="1295400"/>
                  </a:lnTo>
                  <a:lnTo>
                    <a:pt x="46482" y="1295400"/>
                  </a:lnTo>
                  <a:lnTo>
                    <a:pt x="46863" y="1244600"/>
                  </a:lnTo>
                  <a:close/>
                </a:path>
                <a:path w="1390014" h="1728470">
                  <a:moveTo>
                    <a:pt x="47371" y="1155700"/>
                  </a:moveTo>
                  <a:lnTo>
                    <a:pt x="34671" y="1155700"/>
                  </a:lnTo>
                  <a:lnTo>
                    <a:pt x="34417" y="1206500"/>
                  </a:lnTo>
                  <a:lnTo>
                    <a:pt x="47117" y="1206500"/>
                  </a:lnTo>
                  <a:lnTo>
                    <a:pt x="47371" y="1155700"/>
                  </a:lnTo>
                  <a:close/>
                </a:path>
                <a:path w="1390014" h="1728470">
                  <a:moveTo>
                    <a:pt x="47879" y="1066800"/>
                  </a:moveTo>
                  <a:lnTo>
                    <a:pt x="35179" y="1066800"/>
                  </a:lnTo>
                  <a:lnTo>
                    <a:pt x="34925" y="1117600"/>
                  </a:lnTo>
                  <a:lnTo>
                    <a:pt x="47625" y="1117600"/>
                  </a:lnTo>
                  <a:lnTo>
                    <a:pt x="47879" y="1066800"/>
                  </a:lnTo>
                  <a:close/>
                </a:path>
                <a:path w="1390014" h="1728470">
                  <a:moveTo>
                    <a:pt x="48387" y="977900"/>
                  </a:moveTo>
                  <a:lnTo>
                    <a:pt x="35687" y="977900"/>
                  </a:lnTo>
                  <a:lnTo>
                    <a:pt x="35433" y="1028700"/>
                  </a:lnTo>
                  <a:lnTo>
                    <a:pt x="48133" y="1028700"/>
                  </a:lnTo>
                  <a:lnTo>
                    <a:pt x="48387" y="977900"/>
                  </a:lnTo>
                  <a:close/>
                </a:path>
                <a:path w="1390014" h="1728470">
                  <a:moveTo>
                    <a:pt x="49022" y="889000"/>
                  </a:moveTo>
                  <a:lnTo>
                    <a:pt x="36322" y="889000"/>
                  </a:lnTo>
                  <a:lnTo>
                    <a:pt x="35941" y="939800"/>
                  </a:lnTo>
                  <a:lnTo>
                    <a:pt x="48641" y="939800"/>
                  </a:lnTo>
                  <a:lnTo>
                    <a:pt x="49022" y="889000"/>
                  </a:lnTo>
                  <a:close/>
                </a:path>
                <a:path w="1390014" h="1728470">
                  <a:moveTo>
                    <a:pt x="49530" y="800100"/>
                  </a:moveTo>
                  <a:lnTo>
                    <a:pt x="36830" y="800100"/>
                  </a:lnTo>
                  <a:lnTo>
                    <a:pt x="36449" y="850900"/>
                  </a:lnTo>
                  <a:lnTo>
                    <a:pt x="49149" y="850900"/>
                  </a:lnTo>
                  <a:lnTo>
                    <a:pt x="49530" y="800100"/>
                  </a:lnTo>
                  <a:close/>
                </a:path>
                <a:path w="1390014" h="1728470">
                  <a:moveTo>
                    <a:pt x="50038" y="711200"/>
                  </a:moveTo>
                  <a:lnTo>
                    <a:pt x="37338" y="711200"/>
                  </a:lnTo>
                  <a:lnTo>
                    <a:pt x="36957" y="762000"/>
                  </a:lnTo>
                  <a:lnTo>
                    <a:pt x="49657" y="762000"/>
                  </a:lnTo>
                  <a:lnTo>
                    <a:pt x="50038" y="711200"/>
                  </a:lnTo>
                  <a:close/>
                </a:path>
                <a:path w="1390014" h="1728470">
                  <a:moveTo>
                    <a:pt x="50546" y="622300"/>
                  </a:moveTo>
                  <a:lnTo>
                    <a:pt x="37846" y="622300"/>
                  </a:lnTo>
                  <a:lnTo>
                    <a:pt x="37592" y="673100"/>
                  </a:lnTo>
                  <a:lnTo>
                    <a:pt x="50292" y="673100"/>
                  </a:lnTo>
                  <a:lnTo>
                    <a:pt x="50546" y="622300"/>
                  </a:lnTo>
                  <a:close/>
                </a:path>
                <a:path w="1390014" h="1728470">
                  <a:moveTo>
                    <a:pt x="51054" y="533400"/>
                  </a:moveTo>
                  <a:lnTo>
                    <a:pt x="38354" y="533400"/>
                  </a:lnTo>
                  <a:lnTo>
                    <a:pt x="38100" y="584200"/>
                  </a:lnTo>
                  <a:lnTo>
                    <a:pt x="50800" y="584200"/>
                  </a:lnTo>
                  <a:lnTo>
                    <a:pt x="51054" y="533400"/>
                  </a:lnTo>
                  <a:close/>
                </a:path>
                <a:path w="1390014" h="1728470">
                  <a:moveTo>
                    <a:pt x="51562" y="444500"/>
                  </a:moveTo>
                  <a:lnTo>
                    <a:pt x="38862" y="444500"/>
                  </a:lnTo>
                  <a:lnTo>
                    <a:pt x="38608" y="495300"/>
                  </a:lnTo>
                  <a:lnTo>
                    <a:pt x="51308" y="495300"/>
                  </a:lnTo>
                  <a:lnTo>
                    <a:pt x="51562" y="444500"/>
                  </a:lnTo>
                  <a:close/>
                </a:path>
                <a:path w="1390014" h="1728470">
                  <a:moveTo>
                    <a:pt x="52197" y="355612"/>
                  </a:moveTo>
                  <a:lnTo>
                    <a:pt x="39497" y="355612"/>
                  </a:lnTo>
                  <a:lnTo>
                    <a:pt x="39116" y="406400"/>
                  </a:lnTo>
                  <a:lnTo>
                    <a:pt x="51816" y="406400"/>
                  </a:lnTo>
                  <a:lnTo>
                    <a:pt x="52197" y="355612"/>
                  </a:lnTo>
                  <a:close/>
                </a:path>
                <a:path w="1390014" h="1728470">
                  <a:moveTo>
                    <a:pt x="52705" y="266700"/>
                  </a:moveTo>
                  <a:lnTo>
                    <a:pt x="40005" y="266700"/>
                  </a:lnTo>
                  <a:lnTo>
                    <a:pt x="39624" y="317512"/>
                  </a:lnTo>
                  <a:lnTo>
                    <a:pt x="52324" y="317512"/>
                  </a:lnTo>
                  <a:lnTo>
                    <a:pt x="52705" y="266700"/>
                  </a:lnTo>
                  <a:close/>
                </a:path>
                <a:path w="1390014" h="1728470">
                  <a:moveTo>
                    <a:pt x="53213" y="177800"/>
                  </a:moveTo>
                  <a:lnTo>
                    <a:pt x="40513" y="177800"/>
                  </a:lnTo>
                  <a:lnTo>
                    <a:pt x="40259" y="228600"/>
                  </a:lnTo>
                  <a:lnTo>
                    <a:pt x="52959" y="228600"/>
                  </a:lnTo>
                  <a:lnTo>
                    <a:pt x="53213" y="177800"/>
                  </a:lnTo>
                  <a:close/>
                </a:path>
                <a:path w="1390014" h="1728470">
                  <a:moveTo>
                    <a:pt x="53721" y="88900"/>
                  </a:moveTo>
                  <a:lnTo>
                    <a:pt x="41021" y="88900"/>
                  </a:lnTo>
                  <a:lnTo>
                    <a:pt x="40767" y="139700"/>
                  </a:lnTo>
                  <a:lnTo>
                    <a:pt x="53467" y="139700"/>
                  </a:lnTo>
                  <a:lnTo>
                    <a:pt x="53721" y="88900"/>
                  </a:lnTo>
                  <a:close/>
                </a:path>
                <a:path w="1390014" h="1728470">
                  <a:moveTo>
                    <a:pt x="54229" y="0"/>
                  </a:moveTo>
                  <a:lnTo>
                    <a:pt x="41529" y="0"/>
                  </a:lnTo>
                  <a:lnTo>
                    <a:pt x="41275" y="50800"/>
                  </a:lnTo>
                  <a:lnTo>
                    <a:pt x="53975" y="50800"/>
                  </a:lnTo>
                  <a:lnTo>
                    <a:pt x="54229" y="0"/>
                  </a:lnTo>
                  <a:close/>
                </a:path>
                <a:path w="1390014" h="1728470">
                  <a:moveTo>
                    <a:pt x="76200" y="1652397"/>
                  </a:moveTo>
                  <a:lnTo>
                    <a:pt x="0" y="1651889"/>
                  </a:lnTo>
                  <a:lnTo>
                    <a:pt x="37592" y="1728343"/>
                  </a:lnTo>
                  <a:lnTo>
                    <a:pt x="76200" y="1652397"/>
                  </a:lnTo>
                  <a:close/>
                </a:path>
                <a:path w="1390014" h="1728470">
                  <a:moveTo>
                    <a:pt x="1358392" y="1600200"/>
                  </a:moveTo>
                  <a:lnTo>
                    <a:pt x="1345679" y="1600200"/>
                  </a:lnTo>
                  <a:lnTo>
                    <a:pt x="1345425" y="1651000"/>
                  </a:lnTo>
                  <a:lnTo>
                    <a:pt x="1358138" y="1651000"/>
                  </a:lnTo>
                  <a:lnTo>
                    <a:pt x="1358392" y="1600200"/>
                  </a:lnTo>
                  <a:close/>
                </a:path>
                <a:path w="1390014" h="1728470">
                  <a:moveTo>
                    <a:pt x="1358900" y="1511300"/>
                  </a:moveTo>
                  <a:lnTo>
                    <a:pt x="1346187" y="1511300"/>
                  </a:lnTo>
                  <a:lnTo>
                    <a:pt x="1345933" y="1562100"/>
                  </a:lnTo>
                  <a:lnTo>
                    <a:pt x="1358646" y="1562100"/>
                  </a:lnTo>
                  <a:lnTo>
                    <a:pt x="1358900" y="1511300"/>
                  </a:lnTo>
                  <a:close/>
                </a:path>
                <a:path w="1390014" h="1728470">
                  <a:moveTo>
                    <a:pt x="1359408" y="1422400"/>
                  </a:moveTo>
                  <a:lnTo>
                    <a:pt x="1346695" y="1422400"/>
                  </a:lnTo>
                  <a:lnTo>
                    <a:pt x="1346441" y="1473200"/>
                  </a:lnTo>
                  <a:lnTo>
                    <a:pt x="1359154" y="1473200"/>
                  </a:lnTo>
                  <a:lnTo>
                    <a:pt x="1359408" y="1422400"/>
                  </a:lnTo>
                  <a:close/>
                </a:path>
                <a:path w="1390014" h="1728470">
                  <a:moveTo>
                    <a:pt x="1360043" y="1333500"/>
                  </a:moveTo>
                  <a:lnTo>
                    <a:pt x="1347330" y="1333500"/>
                  </a:lnTo>
                  <a:lnTo>
                    <a:pt x="1346949" y="1384300"/>
                  </a:lnTo>
                  <a:lnTo>
                    <a:pt x="1359662" y="1384300"/>
                  </a:lnTo>
                  <a:lnTo>
                    <a:pt x="1360043" y="1333500"/>
                  </a:lnTo>
                  <a:close/>
                </a:path>
                <a:path w="1390014" h="1728470">
                  <a:moveTo>
                    <a:pt x="1360551" y="1244600"/>
                  </a:moveTo>
                  <a:lnTo>
                    <a:pt x="1347851" y="1244600"/>
                  </a:lnTo>
                  <a:lnTo>
                    <a:pt x="1347457" y="1295400"/>
                  </a:lnTo>
                  <a:lnTo>
                    <a:pt x="1360170" y="1295400"/>
                  </a:lnTo>
                  <a:lnTo>
                    <a:pt x="1360551" y="1244600"/>
                  </a:lnTo>
                  <a:close/>
                </a:path>
                <a:path w="1390014" h="1728470">
                  <a:moveTo>
                    <a:pt x="1361059" y="1155700"/>
                  </a:moveTo>
                  <a:lnTo>
                    <a:pt x="1348359" y="1155700"/>
                  </a:lnTo>
                  <a:lnTo>
                    <a:pt x="1348105" y="1206500"/>
                  </a:lnTo>
                  <a:lnTo>
                    <a:pt x="1360805" y="1206500"/>
                  </a:lnTo>
                  <a:lnTo>
                    <a:pt x="1361059" y="1155700"/>
                  </a:lnTo>
                  <a:close/>
                </a:path>
                <a:path w="1390014" h="1728470">
                  <a:moveTo>
                    <a:pt x="1361567" y="1066800"/>
                  </a:moveTo>
                  <a:lnTo>
                    <a:pt x="1348867" y="1066800"/>
                  </a:lnTo>
                  <a:lnTo>
                    <a:pt x="1348613" y="1117600"/>
                  </a:lnTo>
                  <a:lnTo>
                    <a:pt x="1361313" y="1117600"/>
                  </a:lnTo>
                  <a:lnTo>
                    <a:pt x="1361567" y="1066800"/>
                  </a:lnTo>
                  <a:close/>
                </a:path>
                <a:path w="1390014" h="1728470">
                  <a:moveTo>
                    <a:pt x="1362075" y="977900"/>
                  </a:moveTo>
                  <a:lnTo>
                    <a:pt x="1349375" y="977900"/>
                  </a:lnTo>
                  <a:lnTo>
                    <a:pt x="1349121" y="1028700"/>
                  </a:lnTo>
                  <a:lnTo>
                    <a:pt x="1361821" y="1028700"/>
                  </a:lnTo>
                  <a:lnTo>
                    <a:pt x="1362075" y="977900"/>
                  </a:lnTo>
                  <a:close/>
                </a:path>
                <a:path w="1390014" h="1728470">
                  <a:moveTo>
                    <a:pt x="1362710" y="889000"/>
                  </a:moveTo>
                  <a:lnTo>
                    <a:pt x="1350010" y="889000"/>
                  </a:lnTo>
                  <a:lnTo>
                    <a:pt x="1349629" y="939800"/>
                  </a:lnTo>
                  <a:lnTo>
                    <a:pt x="1362329" y="939800"/>
                  </a:lnTo>
                  <a:lnTo>
                    <a:pt x="1362710" y="889000"/>
                  </a:lnTo>
                  <a:close/>
                </a:path>
                <a:path w="1390014" h="1728470">
                  <a:moveTo>
                    <a:pt x="1363218" y="800100"/>
                  </a:moveTo>
                  <a:lnTo>
                    <a:pt x="1350518" y="800100"/>
                  </a:lnTo>
                  <a:lnTo>
                    <a:pt x="1350137" y="850900"/>
                  </a:lnTo>
                  <a:lnTo>
                    <a:pt x="1362837" y="850900"/>
                  </a:lnTo>
                  <a:lnTo>
                    <a:pt x="1363218" y="800100"/>
                  </a:lnTo>
                  <a:close/>
                </a:path>
                <a:path w="1390014" h="1728470">
                  <a:moveTo>
                    <a:pt x="1363726" y="711200"/>
                  </a:moveTo>
                  <a:lnTo>
                    <a:pt x="1351026" y="711200"/>
                  </a:lnTo>
                  <a:lnTo>
                    <a:pt x="1350645" y="762000"/>
                  </a:lnTo>
                  <a:lnTo>
                    <a:pt x="1363345" y="762000"/>
                  </a:lnTo>
                  <a:lnTo>
                    <a:pt x="1363726" y="711200"/>
                  </a:lnTo>
                  <a:close/>
                </a:path>
                <a:path w="1390014" h="1728470">
                  <a:moveTo>
                    <a:pt x="1364234" y="622300"/>
                  </a:moveTo>
                  <a:lnTo>
                    <a:pt x="1351534" y="622300"/>
                  </a:lnTo>
                  <a:lnTo>
                    <a:pt x="1351280" y="673100"/>
                  </a:lnTo>
                  <a:lnTo>
                    <a:pt x="1363980" y="673100"/>
                  </a:lnTo>
                  <a:lnTo>
                    <a:pt x="1364234" y="622300"/>
                  </a:lnTo>
                  <a:close/>
                </a:path>
                <a:path w="1390014" h="1728470">
                  <a:moveTo>
                    <a:pt x="1364742" y="533400"/>
                  </a:moveTo>
                  <a:lnTo>
                    <a:pt x="1352042" y="533400"/>
                  </a:lnTo>
                  <a:lnTo>
                    <a:pt x="1351788" y="584200"/>
                  </a:lnTo>
                  <a:lnTo>
                    <a:pt x="1364488" y="584200"/>
                  </a:lnTo>
                  <a:lnTo>
                    <a:pt x="1364742" y="533400"/>
                  </a:lnTo>
                  <a:close/>
                </a:path>
                <a:path w="1390014" h="1728470">
                  <a:moveTo>
                    <a:pt x="1365250" y="444500"/>
                  </a:moveTo>
                  <a:lnTo>
                    <a:pt x="1352550" y="444500"/>
                  </a:lnTo>
                  <a:lnTo>
                    <a:pt x="1352296" y="495300"/>
                  </a:lnTo>
                  <a:lnTo>
                    <a:pt x="1364996" y="495300"/>
                  </a:lnTo>
                  <a:lnTo>
                    <a:pt x="1365250" y="444500"/>
                  </a:lnTo>
                  <a:close/>
                </a:path>
                <a:path w="1390014" h="1728470">
                  <a:moveTo>
                    <a:pt x="1365885" y="355612"/>
                  </a:moveTo>
                  <a:lnTo>
                    <a:pt x="1353185" y="355612"/>
                  </a:lnTo>
                  <a:lnTo>
                    <a:pt x="1352804" y="406400"/>
                  </a:lnTo>
                  <a:lnTo>
                    <a:pt x="1365504" y="406400"/>
                  </a:lnTo>
                  <a:lnTo>
                    <a:pt x="1365885" y="355612"/>
                  </a:lnTo>
                  <a:close/>
                </a:path>
                <a:path w="1390014" h="1728470">
                  <a:moveTo>
                    <a:pt x="1366393" y="266700"/>
                  </a:moveTo>
                  <a:lnTo>
                    <a:pt x="1353693" y="266700"/>
                  </a:lnTo>
                  <a:lnTo>
                    <a:pt x="1353312" y="317512"/>
                  </a:lnTo>
                  <a:lnTo>
                    <a:pt x="1366012" y="317512"/>
                  </a:lnTo>
                  <a:lnTo>
                    <a:pt x="1366393" y="266700"/>
                  </a:lnTo>
                  <a:close/>
                </a:path>
                <a:path w="1390014" h="1728470">
                  <a:moveTo>
                    <a:pt x="1366901" y="177800"/>
                  </a:moveTo>
                  <a:lnTo>
                    <a:pt x="1354201" y="177800"/>
                  </a:lnTo>
                  <a:lnTo>
                    <a:pt x="1353947" y="228600"/>
                  </a:lnTo>
                  <a:lnTo>
                    <a:pt x="1366647" y="228600"/>
                  </a:lnTo>
                  <a:lnTo>
                    <a:pt x="1366901" y="177800"/>
                  </a:lnTo>
                  <a:close/>
                </a:path>
                <a:path w="1390014" h="1728470">
                  <a:moveTo>
                    <a:pt x="1367409" y="88900"/>
                  </a:moveTo>
                  <a:lnTo>
                    <a:pt x="1354709" y="88900"/>
                  </a:lnTo>
                  <a:lnTo>
                    <a:pt x="1354455" y="139700"/>
                  </a:lnTo>
                  <a:lnTo>
                    <a:pt x="1367155" y="139700"/>
                  </a:lnTo>
                  <a:lnTo>
                    <a:pt x="1367409" y="88900"/>
                  </a:lnTo>
                  <a:close/>
                </a:path>
                <a:path w="1390014" h="1728470">
                  <a:moveTo>
                    <a:pt x="1367917" y="0"/>
                  </a:moveTo>
                  <a:lnTo>
                    <a:pt x="1355217" y="0"/>
                  </a:lnTo>
                  <a:lnTo>
                    <a:pt x="1354963" y="50800"/>
                  </a:lnTo>
                  <a:lnTo>
                    <a:pt x="1367663" y="50800"/>
                  </a:lnTo>
                  <a:lnTo>
                    <a:pt x="1367917" y="0"/>
                  </a:lnTo>
                  <a:close/>
                </a:path>
                <a:path w="1390014" h="1728470">
                  <a:moveTo>
                    <a:pt x="1389888" y="1652397"/>
                  </a:moveTo>
                  <a:lnTo>
                    <a:pt x="1313688" y="1651889"/>
                  </a:lnTo>
                  <a:lnTo>
                    <a:pt x="1351280" y="1728343"/>
                  </a:lnTo>
                  <a:lnTo>
                    <a:pt x="1389888" y="1652397"/>
                  </a:lnTo>
                  <a:close/>
                </a:path>
              </a:pathLst>
            </a:custGeom>
            <a:solidFill>
              <a:srgbClr val="970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300984" y="2452116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w="0" h="1757045">
                  <a:moveTo>
                    <a:pt x="0" y="0"/>
                  </a:moveTo>
                  <a:lnTo>
                    <a:pt x="0" y="1756537"/>
                  </a:lnTo>
                </a:path>
              </a:pathLst>
            </a:custGeom>
            <a:ln w="6096">
              <a:solidFill>
                <a:srgbClr val="40404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49680" y="2452116"/>
              <a:ext cx="1521460" cy="800100"/>
            </a:xfrm>
            <a:custGeom>
              <a:avLst/>
              <a:gdLst/>
              <a:ahLst/>
              <a:cxnLst/>
              <a:rect l="l" t="t" r="r" b="b"/>
              <a:pathLst>
                <a:path w="1521460" h="800100">
                  <a:moveTo>
                    <a:pt x="1438402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717550"/>
                  </a:lnTo>
                  <a:lnTo>
                    <a:pt x="6486" y="749682"/>
                  </a:lnTo>
                  <a:lnTo>
                    <a:pt x="24177" y="775922"/>
                  </a:lnTo>
                  <a:lnTo>
                    <a:pt x="50417" y="793613"/>
                  </a:lnTo>
                  <a:lnTo>
                    <a:pt x="82550" y="800100"/>
                  </a:lnTo>
                  <a:lnTo>
                    <a:pt x="1438402" y="800100"/>
                  </a:lnTo>
                  <a:lnTo>
                    <a:pt x="1470534" y="793613"/>
                  </a:lnTo>
                  <a:lnTo>
                    <a:pt x="1496774" y="775922"/>
                  </a:lnTo>
                  <a:lnTo>
                    <a:pt x="1514465" y="749682"/>
                  </a:lnTo>
                  <a:lnTo>
                    <a:pt x="1520952" y="717550"/>
                  </a:lnTo>
                  <a:lnTo>
                    <a:pt x="1520952" y="82550"/>
                  </a:lnTo>
                  <a:lnTo>
                    <a:pt x="1514465" y="50417"/>
                  </a:lnTo>
                  <a:lnTo>
                    <a:pt x="1496774" y="24177"/>
                  </a:lnTo>
                  <a:lnTo>
                    <a:pt x="1470534" y="6486"/>
                  </a:lnTo>
                  <a:lnTo>
                    <a:pt x="1438402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538986" y="2564129"/>
            <a:ext cx="9429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FFFFFF"/>
                </a:solidFill>
                <a:latin typeface="Tahoma"/>
                <a:cs typeface="Tahoma"/>
              </a:rPr>
              <a:t>Age-</a:t>
            </a:r>
            <a:r>
              <a:rPr dirty="0" sz="1200" spc="-10" b="1">
                <a:solidFill>
                  <a:srgbClr val="FFFFFF"/>
                </a:solidFill>
                <a:latin typeface="Tahoma"/>
                <a:cs typeface="Tahoma"/>
              </a:rPr>
              <a:t>related Chronic 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Inflammation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96284" y="2452116"/>
            <a:ext cx="1521460" cy="800100"/>
          </a:xfrm>
          <a:custGeom>
            <a:avLst/>
            <a:gdLst/>
            <a:ahLst/>
            <a:cxnLst/>
            <a:rect l="l" t="t" r="r" b="b"/>
            <a:pathLst>
              <a:path w="1521460" h="800100">
                <a:moveTo>
                  <a:pt x="1438402" y="0"/>
                </a:moveTo>
                <a:lnTo>
                  <a:pt x="82550" y="0"/>
                </a:lnTo>
                <a:lnTo>
                  <a:pt x="50417" y="6486"/>
                </a:lnTo>
                <a:lnTo>
                  <a:pt x="24177" y="24177"/>
                </a:lnTo>
                <a:lnTo>
                  <a:pt x="6486" y="50417"/>
                </a:lnTo>
                <a:lnTo>
                  <a:pt x="0" y="82550"/>
                </a:lnTo>
                <a:lnTo>
                  <a:pt x="0" y="717550"/>
                </a:lnTo>
                <a:lnTo>
                  <a:pt x="6486" y="749682"/>
                </a:lnTo>
                <a:lnTo>
                  <a:pt x="24177" y="775922"/>
                </a:lnTo>
                <a:lnTo>
                  <a:pt x="50417" y="793613"/>
                </a:lnTo>
                <a:lnTo>
                  <a:pt x="82550" y="800100"/>
                </a:lnTo>
                <a:lnTo>
                  <a:pt x="1438402" y="800100"/>
                </a:lnTo>
                <a:lnTo>
                  <a:pt x="1470534" y="793613"/>
                </a:lnTo>
                <a:lnTo>
                  <a:pt x="1496774" y="775922"/>
                </a:lnTo>
                <a:lnTo>
                  <a:pt x="1514465" y="749682"/>
                </a:lnTo>
                <a:lnTo>
                  <a:pt x="1520952" y="717550"/>
                </a:lnTo>
                <a:lnTo>
                  <a:pt x="1520952" y="82550"/>
                </a:lnTo>
                <a:lnTo>
                  <a:pt x="1514465" y="50417"/>
                </a:lnTo>
                <a:lnTo>
                  <a:pt x="1496774" y="24177"/>
                </a:lnTo>
                <a:lnTo>
                  <a:pt x="1470534" y="6486"/>
                </a:lnTo>
                <a:lnTo>
                  <a:pt x="1438402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998721" y="2141601"/>
            <a:ext cx="1116965" cy="1064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970F0F"/>
                </a:solidFill>
                <a:latin typeface="Tahoma"/>
                <a:cs typeface="Tahoma"/>
              </a:rPr>
              <a:t>Cachexia</a:t>
            </a:r>
            <a:endParaRPr sz="1400">
              <a:latin typeface="Tahoma"/>
              <a:cs typeface="Tahoma"/>
            </a:endParaRPr>
          </a:p>
          <a:p>
            <a:pPr algn="ctr" marL="12700" marR="5080" indent="-635">
              <a:lnSpc>
                <a:spcPct val="100000"/>
              </a:lnSpc>
              <a:spcBef>
                <a:spcPts val="1095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Inflammatory-</a:t>
            </a:r>
            <a:r>
              <a:rPr dirty="0" sz="1200" spc="-70" b="1">
                <a:solidFill>
                  <a:srgbClr val="FFFFFF"/>
                </a:solidFill>
                <a:latin typeface="Tahoma"/>
                <a:cs typeface="Tahoma"/>
              </a:rPr>
              <a:t>related</a:t>
            </a:r>
            <a:r>
              <a:rPr dirty="0" sz="12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85" b="1">
                <a:solidFill>
                  <a:srgbClr val="FFFFFF"/>
                </a:solidFill>
                <a:latin typeface="Tahoma"/>
                <a:cs typeface="Tahoma"/>
              </a:rPr>
              <a:t>diseases </a:t>
            </a:r>
            <a:r>
              <a:rPr dirty="0" sz="1050" spc="-70">
                <a:solidFill>
                  <a:srgbClr val="FFFFFF"/>
                </a:solidFill>
                <a:latin typeface="Tahoma"/>
                <a:cs typeface="Tahoma"/>
              </a:rPr>
              <a:t>(e.g.</a:t>
            </a:r>
            <a:r>
              <a:rPr dirty="0" sz="10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FFFF"/>
                </a:solidFill>
                <a:latin typeface="Tahoma"/>
                <a:cs typeface="Tahoma"/>
              </a:rPr>
              <a:t>Cancer,</a:t>
            </a:r>
            <a:r>
              <a:rPr dirty="0" sz="10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Tahoma"/>
                <a:cs typeface="Tahoma"/>
              </a:rPr>
              <a:t>AIDS, Sepsis,</a:t>
            </a:r>
            <a:r>
              <a:rPr dirty="0" sz="10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Tahoma"/>
                <a:cs typeface="Tahoma"/>
              </a:rPr>
              <a:t>etc.)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26252" y="3029711"/>
            <a:ext cx="256032" cy="237743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292088" y="2985008"/>
            <a:ext cx="542734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70" b="1">
                <a:solidFill>
                  <a:srgbClr val="393938"/>
                </a:solidFill>
                <a:latin typeface="Tahoma"/>
                <a:cs typeface="Tahoma"/>
              </a:rPr>
              <a:t>The</a:t>
            </a:r>
            <a:r>
              <a:rPr dirty="0" sz="1200" spc="-80" b="1">
                <a:solidFill>
                  <a:srgbClr val="393938"/>
                </a:solidFill>
                <a:latin typeface="Tahoma"/>
                <a:cs typeface="Tahoma"/>
              </a:rPr>
              <a:t> prevalence</a:t>
            </a:r>
            <a:r>
              <a:rPr dirty="0" sz="1200" spc="-85" b="1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393938"/>
                </a:solidFill>
                <a:latin typeface="Tahoma"/>
                <a:cs typeface="Tahoma"/>
              </a:rPr>
              <a:t>of </a:t>
            </a:r>
            <a:r>
              <a:rPr dirty="0" sz="1200" spc="-80" b="1">
                <a:solidFill>
                  <a:srgbClr val="393938"/>
                </a:solidFill>
                <a:latin typeface="Tahoma"/>
                <a:cs typeface="Tahoma"/>
              </a:rPr>
              <a:t>sarcopenia</a:t>
            </a:r>
            <a:r>
              <a:rPr dirty="0" sz="1200" spc="-75" b="1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before</a:t>
            </a:r>
            <a:r>
              <a:rPr dirty="0" sz="1200" spc="-12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starting</a:t>
            </a:r>
            <a:r>
              <a:rPr dirty="0" sz="1200" spc="-6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treatment</a:t>
            </a:r>
            <a:r>
              <a:rPr dirty="0" sz="1200" spc="-8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in</a:t>
            </a:r>
            <a:r>
              <a:rPr dirty="0" sz="1200" spc="-10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cancer</a:t>
            </a:r>
            <a:r>
              <a:rPr dirty="0" sz="1200" spc="-10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patients</a:t>
            </a:r>
            <a:r>
              <a:rPr dirty="0" sz="1200" spc="-9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393938"/>
                </a:solidFill>
                <a:latin typeface="Tahoma"/>
                <a:cs typeface="Tahoma"/>
              </a:rPr>
              <a:t>ranges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from</a:t>
            </a:r>
            <a:r>
              <a:rPr dirty="0" sz="1200" spc="-13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215" b="1">
                <a:solidFill>
                  <a:srgbClr val="393938"/>
                </a:solidFill>
                <a:latin typeface="Tahoma"/>
                <a:cs typeface="Tahoma"/>
              </a:rPr>
              <a:t>15%</a:t>
            </a:r>
            <a:r>
              <a:rPr dirty="0" sz="1200" spc="-75" b="1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55" b="1">
                <a:solidFill>
                  <a:srgbClr val="393938"/>
                </a:solidFill>
                <a:latin typeface="Tahoma"/>
                <a:cs typeface="Tahoma"/>
              </a:rPr>
              <a:t>to</a:t>
            </a:r>
            <a:r>
              <a:rPr dirty="0" sz="1200" spc="-85" b="1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393938"/>
                </a:solidFill>
                <a:latin typeface="Tahoma"/>
                <a:cs typeface="Tahoma"/>
              </a:rPr>
              <a:t>75%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393938"/>
                </a:solidFill>
                <a:latin typeface="Tahoma"/>
                <a:cs typeface="Tahoma"/>
              </a:rPr>
              <a:t>It</a:t>
            </a:r>
            <a:r>
              <a:rPr dirty="0" sz="1200" spc="-9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is</a:t>
            </a:r>
            <a:r>
              <a:rPr dirty="0" sz="1200" spc="-7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particularly</a:t>
            </a:r>
            <a:r>
              <a:rPr dirty="0" sz="1200" spc="-7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393938"/>
                </a:solidFill>
                <a:latin typeface="Tahoma"/>
                <a:cs typeface="Tahoma"/>
              </a:rPr>
              <a:t>high</a:t>
            </a:r>
            <a:r>
              <a:rPr dirty="0" sz="1200" spc="-11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in</a:t>
            </a:r>
            <a:r>
              <a:rPr dirty="0" sz="1200" spc="-7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393938"/>
                </a:solidFill>
                <a:latin typeface="Tahoma"/>
                <a:cs typeface="Tahoma"/>
              </a:rPr>
              <a:t>patients </a:t>
            </a:r>
            <a:r>
              <a:rPr dirty="0" sz="1200" spc="-75" b="1">
                <a:solidFill>
                  <a:srgbClr val="393938"/>
                </a:solidFill>
                <a:latin typeface="Tahoma"/>
                <a:cs typeface="Tahoma"/>
              </a:rPr>
              <a:t>with</a:t>
            </a:r>
            <a:r>
              <a:rPr dirty="0" sz="1200" spc="-50" b="1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393938"/>
                </a:solidFill>
                <a:latin typeface="Tahoma"/>
                <a:cs typeface="Tahoma"/>
              </a:rPr>
              <a:t>gastrointestinal </a:t>
            </a:r>
            <a:r>
              <a:rPr dirty="0" sz="1200" spc="-10" b="1">
                <a:solidFill>
                  <a:srgbClr val="393938"/>
                </a:solidFill>
                <a:latin typeface="Tahoma"/>
                <a:cs typeface="Tahoma"/>
              </a:rPr>
              <a:t>cancers</a:t>
            </a:r>
            <a:r>
              <a:rPr dirty="0" sz="1200" spc="-10">
                <a:solidFill>
                  <a:srgbClr val="393938"/>
                </a:solidFill>
                <a:latin typeface="Tahoma"/>
                <a:cs typeface="Tahoma"/>
              </a:rPr>
              <a:t>,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Tahoma"/>
                <a:cs typeface="Tahoma"/>
              </a:rPr>
              <a:t>and</a:t>
            </a:r>
            <a:r>
              <a:rPr dirty="0" sz="1200" spc="-120"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961B2E"/>
                </a:solidFill>
                <a:latin typeface="Tahoma"/>
                <a:cs typeface="Tahoma"/>
              </a:rPr>
              <a:t>the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61B2E"/>
                </a:solidFill>
                <a:latin typeface="Tahoma"/>
                <a:cs typeface="Tahoma"/>
              </a:rPr>
              <a:t>prognosis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70" b="1">
                <a:solidFill>
                  <a:srgbClr val="961B2E"/>
                </a:solidFill>
                <a:latin typeface="Tahoma"/>
                <a:cs typeface="Tahoma"/>
              </a:rPr>
              <a:t>is</a:t>
            </a:r>
            <a:r>
              <a:rPr dirty="0" sz="1200" spc="-8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961B2E"/>
                </a:solidFill>
                <a:latin typeface="Tahoma"/>
                <a:cs typeface="Tahoma"/>
              </a:rPr>
              <a:t>poor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961B2E"/>
                </a:solidFill>
                <a:latin typeface="Tahoma"/>
                <a:cs typeface="Tahoma"/>
              </a:rPr>
              <a:t>if</a:t>
            </a:r>
            <a:r>
              <a:rPr dirty="0" sz="1200" spc="-8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61B2E"/>
                </a:solidFill>
                <a:latin typeface="Tahoma"/>
                <a:cs typeface="Tahoma"/>
              </a:rPr>
              <a:t>sarcopenia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70" b="1">
                <a:solidFill>
                  <a:srgbClr val="961B2E"/>
                </a:solidFill>
                <a:latin typeface="Tahoma"/>
                <a:cs typeface="Tahoma"/>
              </a:rPr>
              <a:t>is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961B2E"/>
                </a:solidFill>
                <a:latin typeface="Tahoma"/>
                <a:cs typeface="Tahoma"/>
              </a:rPr>
              <a:t>present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961B2E"/>
                </a:solidFill>
                <a:latin typeface="Tahoma"/>
                <a:cs typeface="Tahoma"/>
              </a:rPr>
              <a:t>at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961B2E"/>
                </a:solidFill>
                <a:latin typeface="Tahoma"/>
                <a:cs typeface="Tahoma"/>
              </a:rPr>
              <a:t>the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61B2E"/>
                </a:solidFill>
                <a:latin typeface="Tahoma"/>
                <a:cs typeface="Tahoma"/>
              </a:rPr>
              <a:t>time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961B2E"/>
                </a:solidFill>
                <a:latin typeface="Tahoma"/>
                <a:cs typeface="Tahoma"/>
              </a:rPr>
              <a:t>of</a:t>
            </a:r>
            <a:r>
              <a:rPr dirty="0" sz="1200" spc="-8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961B2E"/>
                </a:solidFill>
                <a:latin typeface="Tahoma"/>
                <a:cs typeface="Tahoma"/>
              </a:rPr>
              <a:t>diagnosis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67711" y="3822191"/>
            <a:ext cx="2068195" cy="463550"/>
            <a:chOff x="2267711" y="3822191"/>
            <a:chExt cx="2068195" cy="463550"/>
          </a:xfrm>
        </p:grpSpPr>
        <p:sp>
          <p:nvSpPr>
            <p:cNvPr id="28" name="object 28"/>
            <p:cNvSpPr/>
            <p:nvPr/>
          </p:nvSpPr>
          <p:spPr>
            <a:xfrm>
              <a:off x="2273807" y="3828287"/>
              <a:ext cx="2056130" cy="451484"/>
            </a:xfrm>
            <a:custGeom>
              <a:avLst/>
              <a:gdLst/>
              <a:ahLst/>
              <a:cxnLst/>
              <a:rect l="l" t="t" r="r" b="b"/>
              <a:pathLst>
                <a:path w="2056129" h="451485">
                  <a:moveTo>
                    <a:pt x="2009394" y="0"/>
                  </a:moveTo>
                  <a:lnTo>
                    <a:pt x="46481" y="0"/>
                  </a:lnTo>
                  <a:lnTo>
                    <a:pt x="28396" y="3655"/>
                  </a:lnTo>
                  <a:lnTo>
                    <a:pt x="13620" y="13620"/>
                  </a:lnTo>
                  <a:lnTo>
                    <a:pt x="3655" y="28396"/>
                  </a:lnTo>
                  <a:lnTo>
                    <a:pt x="0" y="46481"/>
                  </a:lnTo>
                  <a:lnTo>
                    <a:pt x="0" y="404622"/>
                  </a:lnTo>
                  <a:lnTo>
                    <a:pt x="3655" y="422707"/>
                  </a:lnTo>
                  <a:lnTo>
                    <a:pt x="13620" y="437483"/>
                  </a:lnTo>
                  <a:lnTo>
                    <a:pt x="28396" y="447448"/>
                  </a:lnTo>
                  <a:lnTo>
                    <a:pt x="46481" y="451104"/>
                  </a:lnTo>
                  <a:lnTo>
                    <a:pt x="2009394" y="451104"/>
                  </a:lnTo>
                  <a:lnTo>
                    <a:pt x="2027479" y="447448"/>
                  </a:lnTo>
                  <a:lnTo>
                    <a:pt x="2042255" y="437483"/>
                  </a:lnTo>
                  <a:lnTo>
                    <a:pt x="2052220" y="422707"/>
                  </a:lnTo>
                  <a:lnTo>
                    <a:pt x="2055876" y="404622"/>
                  </a:lnTo>
                  <a:lnTo>
                    <a:pt x="2055876" y="46481"/>
                  </a:lnTo>
                  <a:lnTo>
                    <a:pt x="2052220" y="28396"/>
                  </a:lnTo>
                  <a:lnTo>
                    <a:pt x="2042255" y="13620"/>
                  </a:lnTo>
                  <a:lnTo>
                    <a:pt x="2027479" y="3655"/>
                  </a:lnTo>
                  <a:lnTo>
                    <a:pt x="2009394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73807" y="3828287"/>
              <a:ext cx="2056130" cy="451484"/>
            </a:xfrm>
            <a:custGeom>
              <a:avLst/>
              <a:gdLst/>
              <a:ahLst/>
              <a:cxnLst/>
              <a:rect l="l" t="t" r="r" b="b"/>
              <a:pathLst>
                <a:path w="2056129" h="451485">
                  <a:moveTo>
                    <a:pt x="0" y="46481"/>
                  </a:moveTo>
                  <a:lnTo>
                    <a:pt x="3655" y="28396"/>
                  </a:lnTo>
                  <a:lnTo>
                    <a:pt x="13620" y="13620"/>
                  </a:lnTo>
                  <a:lnTo>
                    <a:pt x="28396" y="3655"/>
                  </a:lnTo>
                  <a:lnTo>
                    <a:pt x="46481" y="0"/>
                  </a:lnTo>
                  <a:lnTo>
                    <a:pt x="2009394" y="0"/>
                  </a:lnTo>
                  <a:lnTo>
                    <a:pt x="2027479" y="3655"/>
                  </a:lnTo>
                  <a:lnTo>
                    <a:pt x="2042255" y="13620"/>
                  </a:lnTo>
                  <a:lnTo>
                    <a:pt x="2052220" y="28396"/>
                  </a:lnTo>
                  <a:lnTo>
                    <a:pt x="2055876" y="46481"/>
                  </a:lnTo>
                  <a:lnTo>
                    <a:pt x="2055876" y="404622"/>
                  </a:lnTo>
                  <a:lnTo>
                    <a:pt x="2052220" y="422707"/>
                  </a:lnTo>
                  <a:lnTo>
                    <a:pt x="2042255" y="437483"/>
                  </a:lnTo>
                  <a:lnTo>
                    <a:pt x="2027479" y="447448"/>
                  </a:lnTo>
                  <a:lnTo>
                    <a:pt x="2009394" y="451104"/>
                  </a:lnTo>
                  <a:lnTo>
                    <a:pt x="46481" y="451104"/>
                  </a:lnTo>
                  <a:lnTo>
                    <a:pt x="28396" y="447448"/>
                  </a:lnTo>
                  <a:lnTo>
                    <a:pt x="13620" y="437483"/>
                  </a:lnTo>
                  <a:lnTo>
                    <a:pt x="3655" y="422707"/>
                  </a:lnTo>
                  <a:lnTo>
                    <a:pt x="0" y="404622"/>
                  </a:lnTo>
                  <a:lnTo>
                    <a:pt x="0" y="46481"/>
                  </a:lnTo>
                  <a:close/>
                </a:path>
              </a:pathLst>
            </a:custGeom>
            <a:ln w="12192">
              <a:solidFill>
                <a:srgbClr val="961B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2613405" y="3857701"/>
            <a:ext cx="13773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Muscle</a:t>
            </a:r>
            <a:r>
              <a:rPr dirty="0" sz="12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Atrophy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Loss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2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Muscle</a:t>
            </a:r>
            <a:r>
              <a:rPr dirty="0"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Mass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826252" y="4265676"/>
            <a:ext cx="256032" cy="23926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6303645" y="4240783"/>
            <a:ext cx="5252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393938"/>
                </a:solidFill>
                <a:latin typeface="Tahoma"/>
                <a:cs typeface="Tahoma"/>
              </a:rPr>
              <a:t>Even</a:t>
            </a:r>
            <a:r>
              <a:rPr dirty="0" sz="1200" spc="-10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if</a:t>
            </a:r>
            <a:r>
              <a:rPr dirty="0" sz="1200" spc="-8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393938"/>
                </a:solidFill>
                <a:latin typeface="Tahoma"/>
                <a:cs typeface="Tahoma"/>
              </a:rPr>
              <a:t>sarcopenia</a:t>
            </a:r>
            <a:r>
              <a:rPr dirty="0" sz="1200" spc="-10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is</a:t>
            </a:r>
            <a:r>
              <a:rPr dirty="0" sz="1200" spc="-8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not</a:t>
            </a:r>
            <a:r>
              <a:rPr dirty="0" sz="1200" spc="-11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present</a:t>
            </a:r>
            <a:r>
              <a:rPr dirty="0" sz="1200" spc="-8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initially</a:t>
            </a:r>
            <a:r>
              <a:rPr dirty="0" sz="1200" spc="-9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in</a:t>
            </a:r>
            <a:r>
              <a:rPr dirty="0" sz="1200" spc="-10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393938"/>
                </a:solidFill>
                <a:latin typeface="Tahoma"/>
                <a:cs typeface="Tahoma"/>
              </a:rPr>
              <a:t>cancer</a:t>
            </a:r>
            <a:r>
              <a:rPr dirty="0" sz="1200" spc="-11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393938"/>
                </a:solidFill>
                <a:latin typeface="Tahoma"/>
                <a:cs typeface="Tahoma"/>
              </a:rPr>
              <a:t>patients,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-75" b="1">
                <a:solidFill>
                  <a:srgbClr val="961B2E"/>
                </a:solidFill>
                <a:latin typeface="Tahoma"/>
                <a:cs typeface="Tahoma"/>
              </a:rPr>
              <a:t>the</a:t>
            </a:r>
            <a:r>
              <a:rPr dirty="0" sz="1200" spc="-80" b="1">
                <a:solidFill>
                  <a:srgbClr val="961B2E"/>
                </a:solidFill>
                <a:latin typeface="Tahoma"/>
                <a:cs typeface="Tahoma"/>
              </a:rPr>
              <a:t> prognosis </a:t>
            </a:r>
            <a:r>
              <a:rPr dirty="0" sz="1200" spc="-70" b="1">
                <a:solidFill>
                  <a:srgbClr val="961B2E"/>
                </a:solidFill>
                <a:latin typeface="Tahoma"/>
                <a:cs typeface="Tahoma"/>
              </a:rPr>
              <a:t>is</a:t>
            </a:r>
            <a:r>
              <a:rPr dirty="0" sz="1200" spc="-7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961B2E"/>
                </a:solidFill>
                <a:latin typeface="Tahoma"/>
                <a:cs typeface="Tahoma"/>
              </a:rPr>
              <a:t>poor</a:t>
            </a:r>
            <a:r>
              <a:rPr dirty="0" sz="1200" spc="-7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961B2E"/>
                </a:solidFill>
                <a:latin typeface="Tahoma"/>
                <a:cs typeface="Tahoma"/>
              </a:rPr>
              <a:t>if</a:t>
            </a:r>
            <a:r>
              <a:rPr dirty="0" sz="1200" spc="-7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61B2E"/>
                </a:solidFill>
                <a:latin typeface="Tahoma"/>
                <a:cs typeface="Tahoma"/>
              </a:rPr>
              <a:t>sarcopenia</a:t>
            </a:r>
            <a:r>
              <a:rPr dirty="0" sz="1200" spc="-9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61B2E"/>
                </a:solidFill>
                <a:latin typeface="Tahoma"/>
                <a:cs typeface="Tahoma"/>
              </a:rPr>
              <a:t>develops</a:t>
            </a:r>
            <a:r>
              <a:rPr dirty="0" sz="1200" spc="-6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961B2E"/>
                </a:solidFill>
                <a:latin typeface="Tahoma"/>
                <a:cs typeface="Tahoma"/>
              </a:rPr>
              <a:t>or</a:t>
            </a:r>
            <a:r>
              <a:rPr dirty="0" sz="1200" spc="-70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85" b="1">
                <a:solidFill>
                  <a:srgbClr val="961B2E"/>
                </a:solidFill>
                <a:latin typeface="Tahoma"/>
                <a:cs typeface="Tahoma"/>
              </a:rPr>
              <a:t>worsens</a:t>
            </a:r>
            <a:r>
              <a:rPr dirty="0" sz="1200" spc="-6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961B2E"/>
                </a:solidFill>
                <a:latin typeface="Tahoma"/>
                <a:cs typeface="Tahoma"/>
              </a:rPr>
              <a:t>during</a:t>
            </a:r>
            <a:r>
              <a:rPr dirty="0" sz="1200" spc="-65" b="1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200" spc="-55" b="1">
                <a:solidFill>
                  <a:srgbClr val="961B2E"/>
                </a:solidFill>
                <a:latin typeface="Tahoma"/>
                <a:cs typeface="Tahoma"/>
              </a:rPr>
              <a:t>chemotherapy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67711" y="5074920"/>
            <a:ext cx="2068195" cy="664845"/>
            <a:chOff x="2267711" y="5074920"/>
            <a:chExt cx="2068195" cy="664845"/>
          </a:xfrm>
        </p:grpSpPr>
        <p:sp>
          <p:nvSpPr>
            <p:cNvPr id="32" name="object 32"/>
            <p:cNvSpPr/>
            <p:nvPr/>
          </p:nvSpPr>
          <p:spPr>
            <a:xfrm>
              <a:off x="2273807" y="5081016"/>
              <a:ext cx="2056130" cy="652780"/>
            </a:xfrm>
            <a:custGeom>
              <a:avLst/>
              <a:gdLst/>
              <a:ahLst/>
              <a:cxnLst/>
              <a:rect l="l" t="t" r="r" b="b"/>
              <a:pathLst>
                <a:path w="2056129" h="652779">
                  <a:moveTo>
                    <a:pt x="1988566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09"/>
                  </a:lnTo>
                  <a:lnTo>
                    <a:pt x="0" y="584974"/>
                  </a:lnTo>
                  <a:lnTo>
                    <a:pt x="5284" y="611166"/>
                  </a:lnTo>
                  <a:lnTo>
                    <a:pt x="19700" y="632558"/>
                  </a:lnTo>
                  <a:lnTo>
                    <a:pt x="41094" y="646982"/>
                  </a:lnTo>
                  <a:lnTo>
                    <a:pt x="67310" y="652271"/>
                  </a:lnTo>
                  <a:lnTo>
                    <a:pt x="1988566" y="652271"/>
                  </a:lnTo>
                  <a:lnTo>
                    <a:pt x="2014781" y="646982"/>
                  </a:lnTo>
                  <a:lnTo>
                    <a:pt x="2036175" y="632558"/>
                  </a:lnTo>
                  <a:lnTo>
                    <a:pt x="2050591" y="611166"/>
                  </a:lnTo>
                  <a:lnTo>
                    <a:pt x="2055876" y="584974"/>
                  </a:lnTo>
                  <a:lnTo>
                    <a:pt x="2055876" y="67309"/>
                  </a:lnTo>
                  <a:lnTo>
                    <a:pt x="2050591" y="41094"/>
                  </a:lnTo>
                  <a:lnTo>
                    <a:pt x="2036175" y="19700"/>
                  </a:lnTo>
                  <a:lnTo>
                    <a:pt x="2014781" y="5284"/>
                  </a:lnTo>
                  <a:lnTo>
                    <a:pt x="1988566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73807" y="5081016"/>
              <a:ext cx="2056130" cy="652780"/>
            </a:xfrm>
            <a:custGeom>
              <a:avLst/>
              <a:gdLst/>
              <a:ahLst/>
              <a:cxnLst/>
              <a:rect l="l" t="t" r="r" b="b"/>
              <a:pathLst>
                <a:path w="2056129" h="652779">
                  <a:moveTo>
                    <a:pt x="0" y="67309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988566" y="0"/>
                  </a:lnTo>
                  <a:lnTo>
                    <a:pt x="2014781" y="5284"/>
                  </a:lnTo>
                  <a:lnTo>
                    <a:pt x="2036175" y="19700"/>
                  </a:lnTo>
                  <a:lnTo>
                    <a:pt x="2050591" y="41094"/>
                  </a:lnTo>
                  <a:lnTo>
                    <a:pt x="2055876" y="67309"/>
                  </a:lnTo>
                  <a:lnTo>
                    <a:pt x="2055876" y="584974"/>
                  </a:lnTo>
                  <a:lnTo>
                    <a:pt x="2050591" y="611166"/>
                  </a:lnTo>
                  <a:lnTo>
                    <a:pt x="2036175" y="632558"/>
                  </a:lnTo>
                  <a:lnTo>
                    <a:pt x="2014781" y="646982"/>
                  </a:lnTo>
                  <a:lnTo>
                    <a:pt x="1988566" y="652271"/>
                  </a:lnTo>
                  <a:lnTo>
                    <a:pt x="67310" y="652271"/>
                  </a:lnTo>
                  <a:lnTo>
                    <a:pt x="41094" y="646982"/>
                  </a:lnTo>
                  <a:lnTo>
                    <a:pt x="19700" y="632558"/>
                  </a:lnTo>
                  <a:lnTo>
                    <a:pt x="5284" y="611166"/>
                  </a:lnTo>
                  <a:lnTo>
                    <a:pt x="0" y="584974"/>
                  </a:lnTo>
                  <a:lnTo>
                    <a:pt x="0" y="67309"/>
                  </a:lnTo>
                  <a:close/>
                </a:path>
              </a:pathLst>
            </a:custGeom>
            <a:ln w="12192">
              <a:solidFill>
                <a:srgbClr val="961B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2423286" y="5119878"/>
            <a:ext cx="175513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4673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Disability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Diminished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Quality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Life</a:t>
            </a:r>
            <a:endParaRPr sz="1200">
              <a:latin typeface="Tahoma"/>
              <a:cs typeface="Tahoma"/>
            </a:endParaRPr>
          </a:p>
          <a:p>
            <a:pPr marL="560705">
              <a:lnSpc>
                <a:spcPct val="100000"/>
              </a:lnSpc>
            </a:pP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Mortality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1284077" y="6476200"/>
            <a:ext cx="281940" cy="100330"/>
            <a:chOff x="11284077" y="6476200"/>
            <a:chExt cx="281940" cy="1003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4077" y="6476200"/>
              <a:ext cx="112775" cy="924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18189" y="6489801"/>
              <a:ext cx="147700" cy="867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824" y="1042288"/>
            <a:ext cx="2799956" cy="1869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2263" y="1416938"/>
            <a:ext cx="990854" cy="1856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730500" y="1726819"/>
            <a:ext cx="62604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Sarcopenia</a:t>
            </a:r>
            <a:r>
              <a:rPr dirty="0" sz="1400" spc="-11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is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associated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4A4F5A"/>
                </a:solidFill>
                <a:latin typeface="Tahoma"/>
                <a:cs typeface="Tahoma"/>
              </a:rPr>
              <a:t>an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increased</a:t>
            </a:r>
            <a:r>
              <a:rPr dirty="0" sz="1400" spc="-9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risk</a:t>
            </a:r>
            <a:r>
              <a:rPr dirty="0" sz="1400" spc="-10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of</a:t>
            </a:r>
            <a:r>
              <a:rPr dirty="0" sz="1400" spc="-8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61B2E"/>
                </a:solidFill>
                <a:latin typeface="Tahoma"/>
                <a:cs typeface="Tahoma"/>
              </a:rPr>
              <a:t>advanced</a:t>
            </a:r>
            <a:r>
              <a:rPr dirty="0" sz="1400" spc="-10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Colorectal</a:t>
            </a:r>
            <a:r>
              <a:rPr dirty="0" sz="1400" spc="-114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61B2E"/>
                </a:solidFill>
                <a:latin typeface="Tahoma"/>
                <a:cs typeface="Tahoma"/>
              </a:rPr>
              <a:t>Neoplasia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976682" y="2210990"/>
            <a:ext cx="6934200" cy="2861310"/>
            <a:chOff x="1976682" y="2210990"/>
            <a:chExt cx="6934200" cy="2861310"/>
          </a:xfrm>
        </p:grpSpPr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76682" y="2210990"/>
              <a:ext cx="4653791" cy="14160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15811" y="2734056"/>
              <a:ext cx="2726436" cy="22951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16573" y="2711958"/>
              <a:ext cx="2784475" cy="2350135"/>
            </a:xfrm>
            <a:custGeom>
              <a:avLst/>
              <a:gdLst/>
              <a:ahLst/>
              <a:cxnLst/>
              <a:rect l="l" t="t" r="r" b="b"/>
              <a:pathLst>
                <a:path w="2784475" h="2350135">
                  <a:moveTo>
                    <a:pt x="0" y="2350008"/>
                  </a:moveTo>
                  <a:lnTo>
                    <a:pt x="2784348" y="2350008"/>
                  </a:lnTo>
                  <a:lnTo>
                    <a:pt x="2784348" y="0"/>
                  </a:lnTo>
                  <a:lnTo>
                    <a:pt x="0" y="0"/>
                  </a:lnTo>
                  <a:lnTo>
                    <a:pt x="0" y="2350008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1948696" y="3753611"/>
            <a:ext cx="4098290" cy="1814830"/>
            <a:chOff x="1948696" y="3753611"/>
            <a:chExt cx="4098290" cy="1814830"/>
          </a:xfrm>
        </p:grpSpPr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48696" y="3791974"/>
              <a:ext cx="4098259" cy="177645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07129" y="3763517"/>
              <a:ext cx="600710" cy="917575"/>
            </a:xfrm>
            <a:custGeom>
              <a:avLst/>
              <a:gdLst/>
              <a:ahLst/>
              <a:cxnLst/>
              <a:rect l="l" t="t" r="r" b="b"/>
              <a:pathLst>
                <a:path w="600710" h="917575">
                  <a:moveTo>
                    <a:pt x="0" y="917447"/>
                  </a:moveTo>
                  <a:lnTo>
                    <a:pt x="600455" y="917447"/>
                  </a:lnTo>
                  <a:lnTo>
                    <a:pt x="600455" y="0"/>
                  </a:lnTo>
                  <a:lnTo>
                    <a:pt x="0" y="0"/>
                  </a:lnTo>
                  <a:lnTo>
                    <a:pt x="0" y="917447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9201784" y="4410836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3" y="0"/>
                </a:lnTo>
                <a:lnTo>
                  <a:pt x="7620" y="1524"/>
                </a:lnTo>
                <a:lnTo>
                  <a:pt x="1524" y="7619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1"/>
                </a:lnTo>
                <a:lnTo>
                  <a:pt x="4572" y="26669"/>
                </a:lnTo>
                <a:lnTo>
                  <a:pt x="7620" y="29844"/>
                </a:lnTo>
                <a:lnTo>
                  <a:pt x="11303" y="31368"/>
                </a:lnTo>
                <a:lnTo>
                  <a:pt x="19939" y="31368"/>
                </a:lnTo>
                <a:lnTo>
                  <a:pt x="23622" y="29844"/>
                </a:lnTo>
                <a:lnTo>
                  <a:pt x="26670" y="26669"/>
                </a:lnTo>
                <a:lnTo>
                  <a:pt x="29718" y="23621"/>
                </a:lnTo>
                <a:lnTo>
                  <a:pt x="31242" y="19938"/>
                </a:lnTo>
                <a:lnTo>
                  <a:pt x="31242" y="11302"/>
                </a:lnTo>
                <a:lnTo>
                  <a:pt x="29718" y="7619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9305035" y="4377690"/>
            <a:ext cx="2246630" cy="551815"/>
            <a:chOff x="9305035" y="4377690"/>
            <a:chExt cx="2246630" cy="551815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05035" y="4377690"/>
              <a:ext cx="2193544" cy="1148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09099" y="4525137"/>
              <a:ext cx="2242057" cy="403987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314306" y="4987290"/>
            <a:ext cx="1126744" cy="941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569616" y="5196430"/>
            <a:ext cx="1152578" cy="625659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9201784" y="523684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3" y="0"/>
                </a:lnTo>
                <a:lnTo>
                  <a:pt x="7620" y="1523"/>
                </a:lnTo>
                <a:lnTo>
                  <a:pt x="1524" y="7619"/>
                </a:lnTo>
                <a:lnTo>
                  <a:pt x="0" y="11302"/>
                </a:lnTo>
                <a:lnTo>
                  <a:pt x="0" y="19938"/>
                </a:lnTo>
                <a:lnTo>
                  <a:pt x="1524" y="23621"/>
                </a:lnTo>
                <a:lnTo>
                  <a:pt x="4572" y="26669"/>
                </a:lnTo>
                <a:lnTo>
                  <a:pt x="7620" y="29844"/>
                </a:lnTo>
                <a:lnTo>
                  <a:pt x="11303" y="31368"/>
                </a:lnTo>
                <a:lnTo>
                  <a:pt x="19939" y="31368"/>
                </a:lnTo>
                <a:lnTo>
                  <a:pt x="23622" y="29844"/>
                </a:lnTo>
                <a:lnTo>
                  <a:pt x="26670" y="26669"/>
                </a:lnTo>
                <a:lnTo>
                  <a:pt x="29718" y="23621"/>
                </a:lnTo>
                <a:lnTo>
                  <a:pt x="31242" y="19938"/>
                </a:lnTo>
                <a:lnTo>
                  <a:pt x="31242" y="11302"/>
                </a:lnTo>
                <a:lnTo>
                  <a:pt x="29718" y="7619"/>
                </a:lnTo>
                <a:lnTo>
                  <a:pt x="23622" y="1523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05035" y="5203697"/>
            <a:ext cx="1297686" cy="114807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9201784" y="5453253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3" y="0"/>
                </a:lnTo>
                <a:lnTo>
                  <a:pt x="7620" y="1524"/>
                </a:lnTo>
                <a:lnTo>
                  <a:pt x="1524" y="7620"/>
                </a:lnTo>
                <a:lnTo>
                  <a:pt x="0" y="11303"/>
                </a:lnTo>
                <a:lnTo>
                  <a:pt x="0" y="19939"/>
                </a:lnTo>
                <a:lnTo>
                  <a:pt x="1524" y="23622"/>
                </a:lnTo>
                <a:lnTo>
                  <a:pt x="4572" y="26670"/>
                </a:lnTo>
                <a:lnTo>
                  <a:pt x="7620" y="29845"/>
                </a:lnTo>
                <a:lnTo>
                  <a:pt x="11303" y="31369"/>
                </a:lnTo>
                <a:lnTo>
                  <a:pt x="19939" y="31369"/>
                </a:lnTo>
                <a:lnTo>
                  <a:pt x="23622" y="29845"/>
                </a:lnTo>
                <a:lnTo>
                  <a:pt x="26670" y="26670"/>
                </a:lnTo>
                <a:lnTo>
                  <a:pt x="29718" y="23622"/>
                </a:lnTo>
                <a:lnTo>
                  <a:pt x="31242" y="19939"/>
                </a:lnTo>
                <a:lnTo>
                  <a:pt x="31242" y="11303"/>
                </a:lnTo>
                <a:lnTo>
                  <a:pt x="29718" y="7620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308972" y="5420105"/>
            <a:ext cx="1627631" cy="11480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956279" y="5732743"/>
            <a:ext cx="1349276" cy="32755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416166" y="5991250"/>
            <a:ext cx="25895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 i="1">
                <a:solidFill>
                  <a:srgbClr val="7E7E7E"/>
                </a:solidFill>
                <a:latin typeface="Lucida Sans"/>
                <a:cs typeface="Lucida Sans"/>
              </a:rPr>
              <a:t>International</a:t>
            </a:r>
            <a:r>
              <a:rPr dirty="0" sz="800" spc="-55" i="1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800" spc="-70" i="1">
                <a:solidFill>
                  <a:srgbClr val="7E7E7E"/>
                </a:solidFill>
                <a:latin typeface="Lucida Sans"/>
                <a:cs typeface="Lucida Sans"/>
              </a:rPr>
              <a:t>Journal</a:t>
            </a:r>
            <a:r>
              <a:rPr dirty="0" sz="800" spc="-75" i="1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800" spc="-60" i="1">
                <a:solidFill>
                  <a:srgbClr val="7E7E7E"/>
                </a:solidFill>
                <a:latin typeface="Lucida Sans"/>
                <a:cs typeface="Lucida Sans"/>
              </a:rPr>
              <a:t>of</a:t>
            </a:r>
            <a:r>
              <a:rPr dirty="0" sz="800" spc="-50" i="1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800" spc="-65" i="1">
                <a:solidFill>
                  <a:srgbClr val="7E7E7E"/>
                </a:solidFill>
                <a:latin typeface="Lucida Sans"/>
                <a:cs typeface="Lucida Sans"/>
              </a:rPr>
              <a:t>Colorectal</a:t>
            </a:r>
            <a:r>
              <a:rPr dirty="0" sz="800" spc="-90" i="1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800" spc="-70" i="1">
                <a:solidFill>
                  <a:srgbClr val="7E7E7E"/>
                </a:solidFill>
                <a:latin typeface="Lucida Sans"/>
                <a:cs typeface="Lucida Sans"/>
              </a:rPr>
              <a:t>Disease</a:t>
            </a:r>
            <a:r>
              <a:rPr dirty="0" sz="800" spc="-25" i="1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800" spc="-45" i="1">
                <a:solidFill>
                  <a:srgbClr val="7E7E7E"/>
                </a:solidFill>
                <a:latin typeface="Lucida Sans"/>
                <a:cs typeface="Lucida Sans"/>
              </a:rPr>
              <a:t>2017;32:557-</a:t>
            </a:r>
            <a:r>
              <a:rPr dirty="0" sz="800" spc="-25" i="1">
                <a:solidFill>
                  <a:srgbClr val="7E7E7E"/>
                </a:solidFill>
                <a:latin typeface="Lucida Sans"/>
                <a:cs typeface="Lucida Sans"/>
              </a:rPr>
              <a:t>565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4077" y="6476200"/>
            <a:ext cx="281813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824" y="1042288"/>
            <a:ext cx="2799956" cy="1869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2263" y="1416938"/>
            <a:ext cx="990854" cy="1856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72260" y="1775587"/>
            <a:ext cx="99434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Sarcopenia</a:t>
            </a:r>
            <a:r>
              <a:rPr dirty="0" sz="1400" spc="-10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is</a:t>
            </a:r>
            <a:r>
              <a:rPr dirty="0" sz="14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prevalent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4A4F5A"/>
                </a:solidFill>
                <a:latin typeface="Tahoma"/>
                <a:cs typeface="Tahoma"/>
              </a:rPr>
              <a:t>among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elderly</a:t>
            </a:r>
            <a:r>
              <a:rPr dirty="0" sz="1400" spc="-7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Gastric</a:t>
            </a:r>
            <a:r>
              <a:rPr dirty="0" sz="1400" spc="-9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Cancer</a:t>
            </a:r>
            <a:r>
              <a:rPr dirty="0" sz="1400" spc="-11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patients</a:t>
            </a:r>
            <a:r>
              <a:rPr dirty="0" sz="1400" spc="-6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as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well</a:t>
            </a:r>
            <a:r>
              <a:rPr dirty="0" sz="1400" spc="-7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as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the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development</a:t>
            </a:r>
            <a:r>
              <a:rPr dirty="0" sz="1400" spc="-8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of</a:t>
            </a:r>
            <a:r>
              <a:rPr dirty="0" sz="1400" spc="-9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severe</a:t>
            </a:r>
            <a:r>
              <a:rPr dirty="0" sz="1400" spc="-9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61B2E"/>
                </a:solidFill>
                <a:latin typeface="Tahoma"/>
                <a:cs typeface="Tahoma"/>
              </a:rPr>
              <a:t>postoperative</a:t>
            </a:r>
            <a:r>
              <a:rPr dirty="0" sz="1400" spc="-10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61B2E"/>
                </a:solidFill>
                <a:latin typeface="Tahoma"/>
                <a:cs typeface="Tahoma"/>
              </a:rPr>
              <a:t>complications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54910" y="474141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8" y="0"/>
                </a:moveTo>
                <a:lnTo>
                  <a:pt x="15620" y="0"/>
                </a:lnTo>
                <a:lnTo>
                  <a:pt x="11302" y="0"/>
                </a:lnTo>
                <a:lnTo>
                  <a:pt x="7619" y="1523"/>
                </a:lnTo>
                <a:lnTo>
                  <a:pt x="1524" y="7619"/>
                </a:lnTo>
                <a:lnTo>
                  <a:pt x="0" y="11302"/>
                </a:lnTo>
                <a:lnTo>
                  <a:pt x="0" y="19938"/>
                </a:lnTo>
                <a:lnTo>
                  <a:pt x="1524" y="23748"/>
                </a:lnTo>
                <a:lnTo>
                  <a:pt x="7619" y="29844"/>
                </a:lnTo>
                <a:lnTo>
                  <a:pt x="11302" y="31368"/>
                </a:lnTo>
                <a:lnTo>
                  <a:pt x="19938" y="31368"/>
                </a:lnTo>
                <a:lnTo>
                  <a:pt x="23621" y="29844"/>
                </a:lnTo>
                <a:lnTo>
                  <a:pt x="26669" y="26796"/>
                </a:lnTo>
                <a:lnTo>
                  <a:pt x="29844" y="23748"/>
                </a:lnTo>
                <a:lnTo>
                  <a:pt x="31368" y="19938"/>
                </a:lnTo>
                <a:lnTo>
                  <a:pt x="31368" y="11302"/>
                </a:lnTo>
                <a:lnTo>
                  <a:pt x="29844" y="7619"/>
                </a:lnTo>
                <a:lnTo>
                  <a:pt x="26669" y="4571"/>
                </a:lnTo>
                <a:lnTo>
                  <a:pt x="23621" y="1523"/>
                </a:lnTo>
                <a:lnTo>
                  <a:pt x="19938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2058161" y="4708271"/>
            <a:ext cx="3071495" cy="419734"/>
            <a:chOff x="2058161" y="4708271"/>
            <a:chExt cx="3071495" cy="419734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8161" y="4708271"/>
              <a:ext cx="3071367" cy="1162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62225" y="4860671"/>
              <a:ext cx="2455164" cy="11620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62225" y="5013071"/>
              <a:ext cx="1555114" cy="114808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954910" y="5262626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8" y="0"/>
                </a:moveTo>
                <a:lnTo>
                  <a:pt x="15620" y="0"/>
                </a:lnTo>
                <a:lnTo>
                  <a:pt x="11302" y="0"/>
                </a:lnTo>
                <a:lnTo>
                  <a:pt x="7619" y="1524"/>
                </a:lnTo>
                <a:lnTo>
                  <a:pt x="1524" y="7620"/>
                </a:lnTo>
                <a:lnTo>
                  <a:pt x="0" y="11303"/>
                </a:lnTo>
                <a:lnTo>
                  <a:pt x="0" y="19939"/>
                </a:lnTo>
                <a:lnTo>
                  <a:pt x="1524" y="23749"/>
                </a:lnTo>
                <a:lnTo>
                  <a:pt x="7619" y="29845"/>
                </a:lnTo>
                <a:lnTo>
                  <a:pt x="11302" y="31368"/>
                </a:lnTo>
                <a:lnTo>
                  <a:pt x="19938" y="31368"/>
                </a:lnTo>
                <a:lnTo>
                  <a:pt x="23621" y="29845"/>
                </a:lnTo>
                <a:lnTo>
                  <a:pt x="26669" y="26796"/>
                </a:lnTo>
                <a:lnTo>
                  <a:pt x="29844" y="23749"/>
                </a:lnTo>
                <a:lnTo>
                  <a:pt x="31368" y="19939"/>
                </a:lnTo>
                <a:lnTo>
                  <a:pt x="31368" y="11303"/>
                </a:lnTo>
                <a:lnTo>
                  <a:pt x="29844" y="7620"/>
                </a:lnTo>
                <a:lnTo>
                  <a:pt x="26669" y="4571"/>
                </a:lnTo>
                <a:lnTo>
                  <a:pt x="23621" y="1524"/>
                </a:lnTo>
                <a:lnTo>
                  <a:pt x="19938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2060067" y="5229478"/>
            <a:ext cx="3246755" cy="268605"/>
            <a:chOff x="2060067" y="5229478"/>
            <a:chExt cx="3246755" cy="268605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60067" y="5229478"/>
              <a:ext cx="2971165" cy="11620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64970" y="5376925"/>
              <a:ext cx="3241735" cy="121158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1954910" y="5631484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8" y="0"/>
                </a:moveTo>
                <a:lnTo>
                  <a:pt x="15620" y="0"/>
                </a:lnTo>
                <a:lnTo>
                  <a:pt x="11302" y="0"/>
                </a:lnTo>
                <a:lnTo>
                  <a:pt x="7619" y="1524"/>
                </a:lnTo>
                <a:lnTo>
                  <a:pt x="1524" y="7607"/>
                </a:lnTo>
                <a:lnTo>
                  <a:pt x="0" y="11303"/>
                </a:lnTo>
                <a:lnTo>
                  <a:pt x="0" y="19939"/>
                </a:lnTo>
                <a:lnTo>
                  <a:pt x="1524" y="23634"/>
                </a:lnTo>
                <a:lnTo>
                  <a:pt x="7619" y="29768"/>
                </a:lnTo>
                <a:lnTo>
                  <a:pt x="11302" y="31305"/>
                </a:lnTo>
                <a:lnTo>
                  <a:pt x="19938" y="31305"/>
                </a:lnTo>
                <a:lnTo>
                  <a:pt x="23621" y="29768"/>
                </a:lnTo>
                <a:lnTo>
                  <a:pt x="26669" y="26708"/>
                </a:lnTo>
                <a:lnTo>
                  <a:pt x="29844" y="23634"/>
                </a:lnTo>
                <a:lnTo>
                  <a:pt x="31368" y="19939"/>
                </a:lnTo>
                <a:lnTo>
                  <a:pt x="31368" y="11303"/>
                </a:lnTo>
                <a:lnTo>
                  <a:pt x="29844" y="7607"/>
                </a:lnTo>
                <a:lnTo>
                  <a:pt x="26669" y="4559"/>
                </a:lnTo>
                <a:lnTo>
                  <a:pt x="23621" y="1524"/>
                </a:lnTo>
                <a:lnTo>
                  <a:pt x="19938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57019" y="5598286"/>
            <a:ext cx="1318895" cy="11624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21253" y="5598286"/>
            <a:ext cx="1114298" cy="11029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884628" y="2211323"/>
            <a:ext cx="9123680" cy="3877310"/>
            <a:chOff x="1884628" y="2211323"/>
            <a:chExt cx="9123680" cy="3877310"/>
          </a:xfrm>
        </p:grpSpPr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84628" y="2211323"/>
              <a:ext cx="4671176" cy="177445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12536" y="3147059"/>
              <a:ext cx="5195316" cy="294132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278118" y="5433822"/>
              <a:ext cx="3837940" cy="157480"/>
            </a:xfrm>
            <a:custGeom>
              <a:avLst/>
              <a:gdLst/>
              <a:ahLst/>
              <a:cxnLst/>
              <a:rect l="l" t="t" r="r" b="b"/>
              <a:pathLst>
                <a:path w="3837940" h="157479">
                  <a:moveTo>
                    <a:pt x="0" y="143255"/>
                  </a:moveTo>
                  <a:lnTo>
                    <a:pt x="528828" y="143255"/>
                  </a:lnTo>
                  <a:lnTo>
                    <a:pt x="528828" y="0"/>
                  </a:lnTo>
                  <a:lnTo>
                    <a:pt x="0" y="0"/>
                  </a:lnTo>
                  <a:lnTo>
                    <a:pt x="0" y="143255"/>
                  </a:lnTo>
                  <a:close/>
                </a:path>
                <a:path w="3837940" h="157479">
                  <a:moveTo>
                    <a:pt x="1655064" y="150875"/>
                  </a:moveTo>
                  <a:lnTo>
                    <a:pt x="2182367" y="150875"/>
                  </a:lnTo>
                  <a:lnTo>
                    <a:pt x="2182367" y="7619"/>
                  </a:lnTo>
                  <a:lnTo>
                    <a:pt x="1655064" y="7619"/>
                  </a:lnTo>
                  <a:lnTo>
                    <a:pt x="1655064" y="150875"/>
                  </a:lnTo>
                  <a:close/>
                </a:path>
                <a:path w="3837940" h="157479">
                  <a:moveTo>
                    <a:pt x="3310128" y="156971"/>
                  </a:moveTo>
                  <a:lnTo>
                    <a:pt x="3837432" y="156971"/>
                  </a:lnTo>
                  <a:lnTo>
                    <a:pt x="3837432" y="13715"/>
                  </a:lnTo>
                  <a:lnTo>
                    <a:pt x="3310128" y="13715"/>
                  </a:lnTo>
                  <a:lnTo>
                    <a:pt x="3310128" y="156971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4210303" y="5936691"/>
            <a:ext cx="14446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 i="1">
                <a:solidFill>
                  <a:srgbClr val="7E7E7E"/>
                </a:solidFill>
                <a:latin typeface="Lucida Sans"/>
                <a:cs typeface="Lucida Sans"/>
              </a:rPr>
              <a:t>Gastric</a:t>
            </a:r>
            <a:r>
              <a:rPr dirty="0" sz="800" spc="-15" i="1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800" spc="-80" i="1">
                <a:solidFill>
                  <a:srgbClr val="7E7E7E"/>
                </a:solidFill>
                <a:latin typeface="Lucida Sans"/>
                <a:cs typeface="Lucida Sans"/>
              </a:rPr>
              <a:t>Cancer</a:t>
            </a:r>
            <a:r>
              <a:rPr dirty="0" sz="800" spc="25" i="1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800" spc="-50" i="1">
                <a:solidFill>
                  <a:srgbClr val="7E7E7E"/>
                </a:solidFill>
                <a:latin typeface="Lucida Sans"/>
                <a:cs typeface="Lucida Sans"/>
              </a:rPr>
              <a:t>2016;19:986-</a:t>
            </a:r>
            <a:r>
              <a:rPr dirty="0" sz="800" spc="-25" i="1">
                <a:solidFill>
                  <a:srgbClr val="7E7E7E"/>
                </a:solidFill>
                <a:latin typeface="Lucida Sans"/>
                <a:cs typeface="Lucida Sans"/>
              </a:rPr>
              <a:t>993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4077" y="6476200"/>
            <a:ext cx="281813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824" y="1042288"/>
            <a:ext cx="2799956" cy="1869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2263" y="1416938"/>
            <a:ext cx="990854" cy="18567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361058" y="1839849"/>
            <a:ext cx="101834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The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survival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rate</a:t>
            </a:r>
            <a:r>
              <a:rPr dirty="0" sz="1400" spc="-9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sarcopenic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liver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transplant</a:t>
            </a:r>
            <a:r>
              <a:rPr dirty="0" sz="1400" spc="-10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patients</a:t>
            </a:r>
            <a:r>
              <a:rPr dirty="0" sz="1400" spc="-7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is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significantly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lower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compared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to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those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normal</a:t>
            </a:r>
            <a:r>
              <a:rPr dirty="0" sz="14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or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high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125">
                <a:solidFill>
                  <a:srgbClr val="4A4F5A"/>
                </a:solidFill>
                <a:latin typeface="Tahoma"/>
                <a:cs typeface="Tahoma"/>
              </a:rPr>
              <a:t>SMM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(p&lt;0.001)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34997" y="2616802"/>
            <a:ext cx="4921606" cy="4386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70526" y="3214665"/>
            <a:ext cx="2332927" cy="103521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80108" y="4976748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0065" y="0"/>
                </a:moveTo>
                <a:lnTo>
                  <a:pt x="15747" y="0"/>
                </a:lnTo>
                <a:lnTo>
                  <a:pt x="11429" y="0"/>
                </a:lnTo>
                <a:lnTo>
                  <a:pt x="7746" y="1524"/>
                </a:lnTo>
                <a:lnTo>
                  <a:pt x="1650" y="7619"/>
                </a:lnTo>
                <a:lnTo>
                  <a:pt x="0" y="11302"/>
                </a:lnTo>
                <a:lnTo>
                  <a:pt x="0" y="19938"/>
                </a:lnTo>
                <a:lnTo>
                  <a:pt x="1650" y="23621"/>
                </a:lnTo>
                <a:lnTo>
                  <a:pt x="7746" y="29718"/>
                </a:lnTo>
                <a:lnTo>
                  <a:pt x="11429" y="31242"/>
                </a:lnTo>
                <a:lnTo>
                  <a:pt x="20065" y="31242"/>
                </a:lnTo>
                <a:lnTo>
                  <a:pt x="23749" y="29718"/>
                </a:lnTo>
                <a:lnTo>
                  <a:pt x="29844" y="23621"/>
                </a:lnTo>
                <a:lnTo>
                  <a:pt x="31368" y="19938"/>
                </a:lnTo>
                <a:lnTo>
                  <a:pt x="31368" y="11302"/>
                </a:lnTo>
                <a:lnTo>
                  <a:pt x="29844" y="7619"/>
                </a:lnTo>
                <a:lnTo>
                  <a:pt x="23749" y="1524"/>
                </a:lnTo>
                <a:lnTo>
                  <a:pt x="20065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1483360" y="4943475"/>
            <a:ext cx="2476500" cy="267335"/>
            <a:chOff x="1483360" y="4943475"/>
            <a:chExt cx="2476500" cy="26733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3360" y="4943475"/>
              <a:ext cx="2476373" cy="1149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9329" y="5095875"/>
              <a:ext cx="2280285" cy="114935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380108" y="534555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0065" y="0"/>
                </a:moveTo>
                <a:lnTo>
                  <a:pt x="15747" y="0"/>
                </a:lnTo>
                <a:lnTo>
                  <a:pt x="11429" y="0"/>
                </a:lnTo>
                <a:lnTo>
                  <a:pt x="7746" y="1524"/>
                </a:lnTo>
                <a:lnTo>
                  <a:pt x="1650" y="7620"/>
                </a:lnTo>
                <a:lnTo>
                  <a:pt x="0" y="11303"/>
                </a:lnTo>
                <a:lnTo>
                  <a:pt x="0" y="19939"/>
                </a:lnTo>
                <a:lnTo>
                  <a:pt x="1650" y="23622"/>
                </a:lnTo>
                <a:lnTo>
                  <a:pt x="7746" y="29718"/>
                </a:lnTo>
                <a:lnTo>
                  <a:pt x="11429" y="31242"/>
                </a:lnTo>
                <a:lnTo>
                  <a:pt x="20065" y="31242"/>
                </a:lnTo>
                <a:lnTo>
                  <a:pt x="23749" y="29718"/>
                </a:lnTo>
                <a:lnTo>
                  <a:pt x="29844" y="23622"/>
                </a:lnTo>
                <a:lnTo>
                  <a:pt x="31368" y="19939"/>
                </a:lnTo>
                <a:lnTo>
                  <a:pt x="31368" y="11303"/>
                </a:lnTo>
                <a:lnTo>
                  <a:pt x="29844" y="7620"/>
                </a:lnTo>
                <a:lnTo>
                  <a:pt x="23749" y="1524"/>
                </a:lnTo>
                <a:lnTo>
                  <a:pt x="20065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91741" y="5307457"/>
            <a:ext cx="2462956" cy="272161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4344923" y="3395471"/>
            <a:ext cx="6829425" cy="2278380"/>
            <a:chOff x="4344923" y="3395471"/>
            <a:chExt cx="6829425" cy="2278380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44923" y="3395471"/>
              <a:ext cx="6829043" cy="227837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942581" y="4210049"/>
              <a:ext cx="4107179" cy="243840"/>
            </a:xfrm>
            <a:custGeom>
              <a:avLst/>
              <a:gdLst/>
              <a:ahLst/>
              <a:cxnLst/>
              <a:rect l="l" t="t" r="r" b="b"/>
              <a:pathLst>
                <a:path w="4107179" h="243839">
                  <a:moveTo>
                    <a:pt x="0" y="243839"/>
                  </a:moveTo>
                  <a:lnTo>
                    <a:pt x="598931" y="243839"/>
                  </a:lnTo>
                  <a:lnTo>
                    <a:pt x="598931" y="73151"/>
                  </a:lnTo>
                  <a:lnTo>
                    <a:pt x="0" y="73151"/>
                  </a:lnTo>
                  <a:lnTo>
                    <a:pt x="0" y="243839"/>
                  </a:lnTo>
                  <a:close/>
                </a:path>
                <a:path w="4107179" h="243839">
                  <a:moveTo>
                    <a:pt x="3508248" y="172212"/>
                  </a:moveTo>
                  <a:lnTo>
                    <a:pt x="4107179" y="172212"/>
                  </a:lnTo>
                  <a:lnTo>
                    <a:pt x="4107179" y="0"/>
                  </a:lnTo>
                  <a:lnTo>
                    <a:pt x="3508248" y="0"/>
                  </a:lnTo>
                  <a:lnTo>
                    <a:pt x="3508248" y="172212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248035" y="5861865"/>
            <a:ext cx="2657326" cy="20453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4077" y="6476200"/>
            <a:ext cx="281813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824" y="1042288"/>
            <a:ext cx="2799956" cy="1869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2263" y="1416938"/>
            <a:ext cx="2347849" cy="1856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08226" y="1948052"/>
            <a:ext cx="932243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492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Decreases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in</a:t>
            </a:r>
            <a:r>
              <a:rPr dirty="0" sz="1400" spc="-9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FFM(fat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free</a:t>
            </a:r>
            <a:r>
              <a:rPr dirty="0" sz="1400" spc="-8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9F112C"/>
                </a:solidFill>
                <a:latin typeface="Tahoma"/>
                <a:cs typeface="Tahoma"/>
              </a:rPr>
              <a:t>mass)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&amp;</a:t>
            </a:r>
            <a:r>
              <a:rPr dirty="0" sz="1400" spc="-7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AC(arm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circumference)</a:t>
            </a:r>
            <a:r>
              <a:rPr dirty="0" sz="1400" spc="-8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patients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with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4A4F5A"/>
                </a:solidFill>
                <a:latin typeface="Tahoma"/>
                <a:cs typeface="Tahoma"/>
              </a:rPr>
              <a:t>gastric,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hepatobiliary,</a:t>
            </a:r>
            <a:r>
              <a:rPr dirty="0" sz="14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and</a:t>
            </a:r>
            <a:r>
              <a:rPr dirty="0" sz="14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pancreatic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4A4F5A"/>
                </a:solidFill>
                <a:latin typeface="Tahoma"/>
                <a:cs typeface="Tahoma"/>
              </a:rPr>
              <a:t>cancers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serve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4A4F5A"/>
                </a:solidFill>
                <a:latin typeface="Tahoma"/>
                <a:cs typeface="Tahoma"/>
              </a:rPr>
              <a:t>as</a:t>
            </a:r>
            <a:r>
              <a:rPr dirty="0" sz="14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indicators</a:t>
            </a:r>
            <a:r>
              <a:rPr dirty="0" sz="14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of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reduced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muscle</a:t>
            </a:r>
            <a:r>
              <a:rPr dirty="0" sz="1400" spc="-12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9F112C"/>
                </a:solidFill>
                <a:latin typeface="Tahoma"/>
                <a:cs typeface="Tahoma"/>
              </a:rPr>
              <a:t>mass</a:t>
            </a:r>
            <a:r>
              <a:rPr dirty="0" sz="1400" spc="-9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&amp;</a:t>
            </a:r>
            <a:r>
              <a:rPr dirty="0" sz="14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malnutrition</a:t>
            </a:r>
            <a:r>
              <a:rPr dirty="0" sz="1400">
                <a:solidFill>
                  <a:srgbClr val="4A4F5A"/>
                </a:solidFill>
                <a:latin typeface="Tahoma"/>
                <a:cs typeface="Tahoma"/>
              </a:rPr>
              <a:t>,</a:t>
            </a:r>
            <a:r>
              <a:rPr dirty="0" sz="14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which</a:t>
            </a:r>
            <a:r>
              <a:rPr dirty="0" sz="1400" spc="-13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are</a:t>
            </a:r>
            <a:r>
              <a:rPr dirty="0" sz="1400" spc="-11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associated</a:t>
            </a:r>
            <a:r>
              <a:rPr dirty="0" sz="1400" spc="-9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with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9F112C"/>
                </a:solidFill>
                <a:latin typeface="Tahoma"/>
                <a:cs typeface="Tahoma"/>
              </a:rPr>
              <a:t>survival</a:t>
            </a:r>
            <a:r>
              <a:rPr dirty="0" sz="1400" spc="-114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9F112C"/>
                </a:solidFill>
                <a:latin typeface="Tahoma"/>
                <a:cs typeface="Tahoma"/>
              </a:rPr>
              <a:t>outcomes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36191" y="2718816"/>
            <a:ext cx="5107305" cy="3429000"/>
            <a:chOff x="1536191" y="2718816"/>
            <a:chExt cx="5107305" cy="3429000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36191" y="2718816"/>
              <a:ext cx="5106924" cy="34289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16201" y="5488686"/>
              <a:ext cx="2430145" cy="245745"/>
            </a:xfrm>
            <a:custGeom>
              <a:avLst/>
              <a:gdLst/>
              <a:ahLst/>
              <a:cxnLst/>
              <a:rect l="l" t="t" r="r" b="b"/>
              <a:pathLst>
                <a:path w="2430145" h="245745">
                  <a:moveTo>
                    <a:pt x="1205484" y="0"/>
                  </a:moveTo>
                  <a:lnTo>
                    <a:pt x="2429383" y="6984"/>
                  </a:lnTo>
                </a:path>
                <a:path w="2430145" h="245745">
                  <a:moveTo>
                    <a:pt x="0" y="118872"/>
                  </a:moveTo>
                  <a:lnTo>
                    <a:pt x="2429637" y="118872"/>
                  </a:lnTo>
                </a:path>
                <a:path w="2430145" h="245745">
                  <a:moveTo>
                    <a:pt x="0" y="245363"/>
                  </a:moveTo>
                  <a:lnTo>
                    <a:pt x="2429637" y="245363"/>
                  </a:lnTo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6700504" y="2743037"/>
            <a:ext cx="3620135" cy="1390015"/>
            <a:chOff x="6700504" y="2743037"/>
            <a:chExt cx="3620135" cy="139001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00504" y="2743037"/>
              <a:ext cx="3619690" cy="138977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881366" y="3571493"/>
              <a:ext cx="2354580" cy="149860"/>
            </a:xfrm>
            <a:custGeom>
              <a:avLst/>
              <a:gdLst/>
              <a:ahLst/>
              <a:cxnLst/>
              <a:rect l="l" t="t" r="r" b="b"/>
              <a:pathLst>
                <a:path w="2354579" h="149860">
                  <a:moveTo>
                    <a:pt x="0" y="128015"/>
                  </a:moveTo>
                  <a:lnTo>
                    <a:pt x="441959" y="128015"/>
                  </a:lnTo>
                  <a:lnTo>
                    <a:pt x="441959" y="0"/>
                  </a:lnTo>
                  <a:lnTo>
                    <a:pt x="0" y="0"/>
                  </a:lnTo>
                  <a:lnTo>
                    <a:pt x="0" y="128015"/>
                  </a:lnTo>
                  <a:close/>
                </a:path>
                <a:path w="2354579" h="149860">
                  <a:moveTo>
                    <a:pt x="1911095" y="149351"/>
                  </a:moveTo>
                  <a:lnTo>
                    <a:pt x="2354579" y="149351"/>
                  </a:lnTo>
                  <a:lnTo>
                    <a:pt x="2354579" y="21335"/>
                  </a:lnTo>
                  <a:lnTo>
                    <a:pt x="1911095" y="21335"/>
                  </a:lnTo>
                  <a:lnTo>
                    <a:pt x="1911095" y="149351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6782623" y="4193434"/>
            <a:ext cx="1680845" cy="1394460"/>
            <a:chOff x="6782623" y="4193434"/>
            <a:chExt cx="1680845" cy="139446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82623" y="4193434"/>
              <a:ext cx="1680734" cy="13942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49946" y="5004053"/>
              <a:ext cx="441959" cy="128270"/>
            </a:xfrm>
            <a:custGeom>
              <a:avLst/>
              <a:gdLst/>
              <a:ahLst/>
              <a:cxnLst/>
              <a:rect l="l" t="t" r="r" b="b"/>
              <a:pathLst>
                <a:path w="441959" h="128270">
                  <a:moveTo>
                    <a:pt x="0" y="128016"/>
                  </a:moveTo>
                  <a:lnTo>
                    <a:pt x="441959" y="128016"/>
                  </a:lnTo>
                  <a:lnTo>
                    <a:pt x="441959" y="0"/>
                  </a:lnTo>
                  <a:lnTo>
                    <a:pt x="0" y="0"/>
                  </a:lnTo>
                  <a:lnTo>
                    <a:pt x="0" y="128016"/>
                  </a:lnTo>
                  <a:close/>
                </a:path>
              </a:pathLst>
            </a:custGeom>
            <a:ln w="19812">
              <a:solidFill>
                <a:srgbClr val="9F11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8878061" y="4415916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3" y="0"/>
                </a:lnTo>
                <a:lnTo>
                  <a:pt x="7620" y="1523"/>
                </a:lnTo>
                <a:lnTo>
                  <a:pt x="1524" y="7619"/>
                </a:lnTo>
                <a:lnTo>
                  <a:pt x="0" y="11302"/>
                </a:lnTo>
                <a:lnTo>
                  <a:pt x="0" y="20065"/>
                </a:lnTo>
                <a:lnTo>
                  <a:pt x="1524" y="23748"/>
                </a:lnTo>
                <a:lnTo>
                  <a:pt x="7620" y="29844"/>
                </a:lnTo>
                <a:lnTo>
                  <a:pt x="11303" y="31368"/>
                </a:lnTo>
                <a:lnTo>
                  <a:pt x="19939" y="31368"/>
                </a:lnTo>
                <a:lnTo>
                  <a:pt x="23622" y="29844"/>
                </a:lnTo>
                <a:lnTo>
                  <a:pt x="29718" y="23748"/>
                </a:lnTo>
                <a:lnTo>
                  <a:pt x="31242" y="20065"/>
                </a:lnTo>
                <a:lnTo>
                  <a:pt x="31242" y="11302"/>
                </a:lnTo>
                <a:lnTo>
                  <a:pt x="29718" y="7619"/>
                </a:lnTo>
                <a:lnTo>
                  <a:pt x="23622" y="1523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8981185" y="4382770"/>
            <a:ext cx="2284095" cy="247015"/>
            <a:chOff x="8981185" y="4382770"/>
            <a:chExt cx="2284095" cy="247015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85122" y="4535170"/>
              <a:ext cx="2279777" cy="9423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81185" y="4382770"/>
              <a:ext cx="2153285" cy="114935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81058" y="4688459"/>
            <a:ext cx="1290447" cy="115316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8878061" y="493712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9939" y="0"/>
                </a:moveTo>
                <a:lnTo>
                  <a:pt x="15621" y="0"/>
                </a:lnTo>
                <a:lnTo>
                  <a:pt x="11303" y="0"/>
                </a:lnTo>
                <a:lnTo>
                  <a:pt x="7620" y="1524"/>
                </a:lnTo>
                <a:lnTo>
                  <a:pt x="1524" y="7619"/>
                </a:lnTo>
                <a:lnTo>
                  <a:pt x="0" y="11302"/>
                </a:lnTo>
                <a:lnTo>
                  <a:pt x="0" y="20066"/>
                </a:lnTo>
                <a:lnTo>
                  <a:pt x="1524" y="23749"/>
                </a:lnTo>
                <a:lnTo>
                  <a:pt x="7620" y="29844"/>
                </a:lnTo>
                <a:lnTo>
                  <a:pt x="11303" y="31368"/>
                </a:lnTo>
                <a:lnTo>
                  <a:pt x="19939" y="31368"/>
                </a:lnTo>
                <a:lnTo>
                  <a:pt x="23622" y="29844"/>
                </a:lnTo>
                <a:lnTo>
                  <a:pt x="29718" y="23749"/>
                </a:lnTo>
                <a:lnTo>
                  <a:pt x="31242" y="20066"/>
                </a:lnTo>
                <a:lnTo>
                  <a:pt x="31242" y="11302"/>
                </a:lnTo>
                <a:lnTo>
                  <a:pt x="29718" y="7619"/>
                </a:lnTo>
                <a:lnTo>
                  <a:pt x="23622" y="1524"/>
                </a:lnTo>
                <a:lnTo>
                  <a:pt x="19939" y="0"/>
                </a:lnTo>
                <a:close/>
              </a:path>
            </a:pathLst>
          </a:custGeom>
          <a:solidFill>
            <a:srgbClr val="9096A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8985250" y="4903978"/>
            <a:ext cx="2828925" cy="421005"/>
            <a:chOff x="8985250" y="4903978"/>
            <a:chExt cx="2828925" cy="421005"/>
          </a:xfrm>
        </p:grpSpPr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85250" y="4903978"/>
              <a:ext cx="2539365" cy="26733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88037" y="5203825"/>
              <a:ext cx="2825676" cy="121158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15513" y="5710383"/>
            <a:ext cx="3800370" cy="31809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4077" y="6476200"/>
            <a:ext cx="281813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824" y="1052702"/>
            <a:ext cx="1005319" cy="1484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363" y="1383791"/>
            <a:ext cx="227076" cy="2255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4549" y="1416938"/>
            <a:ext cx="4219448" cy="1856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28140" y="1765659"/>
            <a:ext cx="4804410" cy="156845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Reduced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muscle</a:t>
            </a:r>
            <a:r>
              <a:rPr dirty="0" sz="1200" spc="-10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pump</a:t>
            </a:r>
            <a:r>
              <a:rPr dirty="0" sz="12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function</a:t>
            </a:r>
            <a:r>
              <a:rPr dirty="0" sz="12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4A4F5A"/>
                </a:solidFill>
                <a:latin typeface="Tahoma"/>
                <a:cs typeface="Tahoma"/>
              </a:rPr>
              <a:t>(decreased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venous</a:t>
            </a:r>
            <a:r>
              <a:rPr dirty="0" sz="12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return)</a:t>
            </a:r>
            <a:endParaRPr sz="12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Impaired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physical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activity</a:t>
            </a:r>
            <a:r>
              <a:rPr dirty="0" sz="1200" spc="-9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(sedentary</a:t>
            </a:r>
            <a:r>
              <a:rPr dirty="0" sz="12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life</a:t>
            </a:r>
            <a:r>
              <a:rPr dirty="0" sz="12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4A4F5A"/>
                </a:solidFill>
                <a:latin typeface="Tahoma"/>
                <a:cs typeface="Tahoma"/>
              </a:rPr>
              <a:t>style,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venous</a:t>
            </a:r>
            <a:r>
              <a:rPr dirty="0" sz="12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insufficiency)</a:t>
            </a:r>
            <a:endParaRPr sz="12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High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fat</a:t>
            </a:r>
            <a:r>
              <a:rPr dirty="0" sz="1200" spc="-8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4A4F5A"/>
                </a:solidFill>
                <a:latin typeface="Tahoma"/>
                <a:cs typeface="Tahoma"/>
              </a:rPr>
              <a:t>mass</a:t>
            </a:r>
            <a:r>
              <a:rPr dirty="0" sz="1200" spc="-7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4A4F5A"/>
                </a:solidFill>
                <a:latin typeface="Tahoma"/>
                <a:cs typeface="Tahoma"/>
              </a:rPr>
              <a:t>(inflammation,</a:t>
            </a:r>
            <a:r>
              <a:rPr dirty="0" sz="1200" spc="-9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insulin</a:t>
            </a:r>
            <a:r>
              <a:rPr dirty="0" sz="12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resistance...)</a:t>
            </a:r>
            <a:endParaRPr sz="12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Age</a:t>
            </a:r>
            <a:r>
              <a:rPr dirty="0" sz="1200" spc="-105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A4F5A"/>
                </a:solidFill>
                <a:latin typeface="Tahoma"/>
                <a:cs typeface="Tahoma"/>
              </a:rPr>
              <a:t>related</a:t>
            </a:r>
            <a:r>
              <a:rPr dirty="0" sz="1200" spc="-8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A4F5A"/>
                </a:solidFill>
                <a:latin typeface="Tahoma"/>
                <a:cs typeface="Tahoma"/>
              </a:rPr>
              <a:t>changes</a:t>
            </a:r>
            <a:r>
              <a:rPr dirty="0" sz="12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(hormonal</a:t>
            </a:r>
            <a:r>
              <a:rPr dirty="0" sz="1200" spc="-114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4A4F5A"/>
                </a:solidFill>
                <a:latin typeface="Tahoma"/>
                <a:cs typeface="Tahoma"/>
              </a:rPr>
              <a:t>changes,</a:t>
            </a:r>
            <a:r>
              <a:rPr dirty="0" sz="1200" spc="-110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A4F5A"/>
                </a:solidFill>
                <a:latin typeface="Tahoma"/>
                <a:cs typeface="Tahoma"/>
              </a:rPr>
              <a:t>drugs...)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200">
              <a:latin typeface="Tahoma"/>
              <a:cs typeface="Tahoma"/>
            </a:endParaRPr>
          </a:p>
          <a:p>
            <a:pPr marL="2167890">
              <a:lnSpc>
                <a:spcPct val="100000"/>
              </a:lnSpc>
            </a:pPr>
            <a:r>
              <a:rPr dirty="0" sz="1200" spc="-60" b="1">
                <a:solidFill>
                  <a:srgbClr val="9F112C"/>
                </a:solidFill>
                <a:latin typeface="Tahoma"/>
                <a:cs typeface="Tahoma"/>
              </a:rPr>
              <a:t>About</a:t>
            </a:r>
            <a:r>
              <a:rPr dirty="0" sz="1200" spc="-7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9F112C"/>
                </a:solidFill>
                <a:latin typeface="Tahoma"/>
                <a:cs typeface="Tahoma"/>
              </a:rPr>
              <a:t>the</a:t>
            </a:r>
            <a:r>
              <a:rPr dirty="0" sz="1200" spc="-8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9F112C"/>
                </a:solidFill>
                <a:latin typeface="Tahoma"/>
                <a:cs typeface="Tahoma"/>
              </a:rPr>
              <a:t>muscle</a:t>
            </a:r>
            <a:r>
              <a:rPr dirty="0" sz="1200" spc="-8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9F112C"/>
                </a:solidFill>
                <a:latin typeface="Tahoma"/>
                <a:cs typeface="Tahoma"/>
              </a:rPr>
              <a:t>quality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51379" y="3452621"/>
            <a:ext cx="507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ahoma"/>
                <a:cs typeface="Tahoma"/>
              </a:rPr>
              <a:t>Muscle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14244" y="3465576"/>
            <a:ext cx="2971165" cy="2324735"/>
            <a:chOff x="2714244" y="3465576"/>
            <a:chExt cx="2971165" cy="2324735"/>
          </a:xfrm>
        </p:grpSpPr>
        <p:sp>
          <p:nvSpPr>
            <p:cNvPr id="15" name="object 15"/>
            <p:cNvSpPr/>
            <p:nvPr/>
          </p:nvSpPr>
          <p:spPr>
            <a:xfrm>
              <a:off x="2735580" y="3465575"/>
              <a:ext cx="2949575" cy="2307590"/>
            </a:xfrm>
            <a:custGeom>
              <a:avLst/>
              <a:gdLst/>
              <a:ahLst/>
              <a:cxnLst/>
              <a:rect l="l" t="t" r="r" b="b"/>
              <a:pathLst>
                <a:path w="2949575" h="2307590">
                  <a:moveTo>
                    <a:pt x="2949575" y="2269236"/>
                  </a:moveTo>
                  <a:lnTo>
                    <a:pt x="2936875" y="2262886"/>
                  </a:lnTo>
                  <a:lnTo>
                    <a:pt x="2873375" y="2231136"/>
                  </a:lnTo>
                  <a:lnTo>
                    <a:pt x="2873375" y="2262886"/>
                  </a:lnTo>
                  <a:lnTo>
                    <a:pt x="44450" y="2262886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271128"/>
                  </a:lnTo>
                  <a:lnTo>
                    <a:pt x="32004" y="2271128"/>
                  </a:lnTo>
                  <a:lnTo>
                    <a:pt x="32004" y="2275586"/>
                  </a:lnTo>
                  <a:lnTo>
                    <a:pt x="2873375" y="2275586"/>
                  </a:lnTo>
                  <a:lnTo>
                    <a:pt x="2873375" y="2307336"/>
                  </a:lnTo>
                  <a:lnTo>
                    <a:pt x="2936875" y="2275586"/>
                  </a:lnTo>
                  <a:lnTo>
                    <a:pt x="2949575" y="22692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14244" y="4629912"/>
              <a:ext cx="1516380" cy="1160780"/>
            </a:xfrm>
            <a:custGeom>
              <a:avLst/>
              <a:gdLst/>
              <a:ahLst/>
              <a:cxnLst/>
              <a:rect l="l" t="t" r="r" b="b"/>
              <a:pathLst>
                <a:path w="1516379" h="1160779">
                  <a:moveTo>
                    <a:pt x="0" y="0"/>
                  </a:moveTo>
                  <a:lnTo>
                    <a:pt x="121157" y="0"/>
                  </a:lnTo>
                </a:path>
                <a:path w="1516379" h="1160779">
                  <a:moveTo>
                    <a:pt x="1516380" y="1048512"/>
                  </a:moveTo>
                  <a:lnTo>
                    <a:pt x="1516380" y="1160335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6703821" y="3390391"/>
            <a:ext cx="1119505" cy="269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002352"/>
                </a:solidFill>
                <a:latin typeface="Arial"/>
                <a:cs typeface="Arial"/>
              </a:rPr>
              <a:t>Normal</a:t>
            </a:r>
            <a:r>
              <a:rPr dirty="0" sz="800" spc="-40" b="1">
                <a:solidFill>
                  <a:srgbClr val="002352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2352"/>
                </a:solidFill>
                <a:latin typeface="Arial"/>
                <a:cs typeface="Arial"/>
              </a:rPr>
              <a:t>healthy</a:t>
            </a:r>
            <a:r>
              <a:rPr dirty="0" sz="800" spc="-40" b="1">
                <a:solidFill>
                  <a:srgbClr val="002352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2352"/>
                </a:solidFill>
                <a:latin typeface="Arial"/>
                <a:cs typeface="Arial"/>
              </a:rPr>
              <a:t>people </a:t>
            </a:r>
            <a:r>
              <a:rPr dirty="0" sz="800" b="1">
                <a:solidFill>
                  <a:srgbClr val="002352"/>
                </a:solidFill>
                <a:latin typeface="Arial"/>
                <a:cs typeface="Arial"/>
              </a:rPr>
              <a:t>ECW/TBW</a:t>
            </a:r>
            <a:r>
              <a:rPr dirty="0" sz="800" spc="-30" b="1">
                <a:solidFill>
                  <a:srgbClr val="002352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2352"/>
                </a:solidFill>
                <a:latin typeface="Arial"/>
                <a:cs typeface="Arial"/>
              </a:rPr>
              <a:t>=</a:t>
            </a:r>
            <a:r>
              <a:rPr dirty="0" sz="800" spc="-15" b="1">
                <a:solidFill>
                  <a:srgbClr val="002352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2352"/>
                </a:solidFill>
                <a:latin typeface="Arial"/>
                <a:cs typeface="Arial"/>
              </a:rPr>
              <a:t>0.380</a:t>
            </a:r>
            <a:endParaRPr sz="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897493" y="3387978"/>
            <a:ext cx="891540" cy="269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>
                <a:solidFill>
                  <a:srgbClr val="002352"/>
                </a:solidFill>
                <a:latin typeface="Arial"/>
                <a:cs typeface="Arial"/>
              </a:rPr>
              <a:t>Edema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800" b="1">
                <a:solidFill>
                  <a:srgbClr val="002352"/>
                </a:solidFill>
                <a:latin typeface="Arial"/>
                <a:cs typeface="Arial"/>
              </a:rPr>
              <a:t>ECW/TBW</a:t>
            </a:r>
            <a:r>
              <a:rPr dirty="0" sz="800" spc="-25" b="1">
                <a:solidFill>
                  <a:srgbClr val="002352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2352"/>
                </a:solidFill>
                <a:latin typeface="Arial"/>
                <a:cs typeface="Arial"/>
              </a:rPr>
              <a:t>&gt;</a:t>
            </a:r>
            <a:r>
              <a:rPr dirty="0" sz="800" spc="-15" b="1">
                <a:solidFill>
                  <a:srgbClr val="002352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2352"/>
                </a:solidFill>
                <a:latin typeface="Arial"/>
                <a:cs typeface="Arial"/>
              </a:rPr>
              <a:t>0.390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795016" y="3544823"/>
          <a:ext cx="2947670" cy="2164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5735"/>
                <a:gridCol w="1435735"/>
              </a:tblGrid>
              <a:tr h="1084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R="7620">
                        <a:lnSpc>
                          <a:spcPct val="100000"/>
                        </a:lnSpc>
                      </a:pPr>
                      <a:r>
                        <a:rPr dirty="0" sz="1600" spc="-95" b="1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Best</a:t>
                      </a:r>
                      <a:r>
                        <a:rPr dirty="0" sz="1600" spc="-135" b="1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result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177165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17145">
                        <a:lnSpc>
                          <a:spcPct val="100000"/>
                        </a:lnSpc>
                      </a:pPr>
                      <a:r>
                        <a:rPr dirty="0" sz="1600" spc="-60" b="1">
                          <a:solidFill>
                            <a:srgbClr val="F5850A"/>
                          </a:solidFill>
                          <a:latin typeface="Tahoma"/>
                          <a:cs typeface="Tahoma"/>
                        </a:rPr>
                        <a:t>Not</a:t>
                      </a:r>
                      <a:r>
                        <a:rPr dirty="0" sz="1600" spc="-130" b="1">
                          <a:solidFill>
                            <a:srgbClr val="F5850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5850A"/>
                          </a:solidFill>
                          <a:latin typeface="Tahoma"/>
                          <a:cs typeface="Tahoma"/>
                        </a:rPr>
                        <a:t>good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177165">
                    <a:solidFill>
                      <a:srgbClr val="FFFF99">
                        <a:alpha val="79998"/>
                      </a:srgbClr>
                    </a:solidFill>
                  </a:tcPr>
                </a:tc>
              </a:tr>
              <a:tr h="1080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R="9525">
                        <a:lnSpc>
                          <a:spcPct val="100000"/>
                        </a:lnSpc>
                      </a:pPr>
                      <a:r>
                        <a:rPr dirty="0" sz="1600" spc="-65" b="1">
                          <a:solidFill>
                            <a:srgbClr val="F5850A"/>
                          </a:solidFill>
                          <a:latin typeface="Tahoma"/>
                          <a:cs typeface="Tahoma"/>
                        </a:rPr>
                        <a:t>Not</a:t>
                      </a:r>
                      <a:r>
                        <a:rPr dirty="0" sz="1600" spc="-125" b="1">
                          <a:solidFill>
                            <a:srgbClr val="F5850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5850A"/>
                          </a:solidFill>
                          <a:latin typeface="Tahoma"/>
                          <a:cs typeface="Tahoma"/>
                        </a:rPr>
                        <a:t>good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19812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99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17780">
                        <a:lnSpc>
                          <a:spcPct val="100000"/>
                        </a:lnSpc>
                      </a:pPr>
                      <a:r>
                        <a:rPr dirty="0" sz="1600" spc="-70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Worst</a:t>
                      </a:r>
                      <a:r>
                        <a:rPr dirty="0" sz="1600" spc="-120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result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7979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27" name="object 27"/>
          <p:cNvGrpSpPr/>
          <p:nvPr/>
        </p:nvGrpSpPr>
        <p:grpSpPr>
          <a:xfrm>
            <a:off x="2979178" y="4131716"/>
            <a:ext cx="911860" cy="481965"/>
            <a:chOff x="2979178" y="4131716"/>
            <a:chExt cx="911860" cy="481965"/>
          </a:xfrm>
        </p:grpSpPr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79178" y="4131716"/>
              <a:ext cx="473963" cy="4818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04259" y="4250436"/>
              <a:ext cx="286512" cy="24383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455416" y="4325619"/>
              <a:ext cx="147320" cy="133350"/>
            </a:xfrm>
            <a:custGeom>
              <a:avLst/>
              <a:gdLst/>
              <a:ahLst/>
              <a:cxnLst/>
              <a:rect l="l" t="t" r="r" b="b"/>
              <a:pathLst>
                <a:path w="147320" h="133350">
                  <a:moveTo>
                    <a:pt x="146812" y="58420"/>
                  </a:moveTo>
                  <a:lnTo>
                    <a:pt x="81534" y="58420"/>
                  </a:lnTo>
                  <a:lnTo>
                    <a:pt x="81534" y="0"/>
                  </a:lnTo>
                  <a:lnTo>
                    <a:pt x="65278" y="0"/>
                  </a:lnTo>
                  <a:lnTo>
                    <a:pt x="65278" y="58420"/>
                  </a:lnTo>
                  <a:lnTo>
                    <a:pt x="0" y="58420"/>
                  </a:lnTo>
                  <a:lnTo>
                    <a:pt x="0" y="74930"/>
                  </a:lnTo>
                  <a:lnTo>
                    <a:pt x="65278" y="74930"/>
                  </a:lnTo>
                  <a:lnTo>
                    <a:pt x="65278" y="133350"/>
                  </a:lnTo>
                  <a:lnTo>
                    <a:pt x="81534" y="133350"/>
                  </a:lnTo>
                  <a:lnTo>
                    <a:pt x="81534" y="74930"/>
                  </a:lnTo>
                  <a:lnTo>
                    <a:pt x="146812" y="74930"/>
                  </a:lnTo>
                  <a:lnTo>
                    <a:pt x="146812" y="58420"/>
                  </a:lnTo>
                  <a:close/>
                </a:path>
              </a:pathLst>
            </a:custGeom>
            <a:solidFill>
              <a:srgbClr val="B509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4452505" y="4128795"/>
            <a:ext cx="998855" cy="481965"/>
            <a:chOff x="4452505" y="4128795"/>
            <a:chExt cx="998855" cy="481965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52505" y="4128795"/>
              <a:ext cx="473963" cy="4818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10912" y="4198619"/>
              <a:ext cx="440436" cy="37338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883404" y="4317999"/>
              <a:ext cx="147320" cy="134620"/>
            </a:xfrm>
            <a:custGeom>
              <a:avLst/>
              <a:gdLst/>
              <a:ahLst/>
              <a:cxnLst/>
              <a:rect l="l" t="t" r="r" b="b"/>
              <a:pathLst>
                <a:path w="147320" h="134620">
                  <a:moveTo>
                    <a:pt x="146812" y="59690"/>
                  </a:moveTo>
                  <a:lnTo>
                    <a:pt x="81661" y="59690"/>
                  </a:lnTo>
                  <a:lnTo>
                    <a:pt x="81661" y="0"/>
                  </a:lnTo>
                  <a:lnTo>
                    <a:pt x="65151" y="0"/>
                  </a:lnTo>
                  <a:lnTo>
                    <a:pt x="65151" y="59690"/>
                  </a:lnTo>
                  <a:lnTo>
                    <a:pt x="0" y="59690"/>
                  </a:lnTo>
                  <a:lnTo>
                    <a:pt x="0" y="76200"/>
                  </a:lnTo>
                  <a:lnTo>
                    <a:pt x="65151" y="76200"/>
                  </a:lnTo>
                  <a:lnTo>
                    <a:pt x="65151" y="134620"/>
                  </a:lnTo>
                  <a:lnTo>
                    <a:pt x="81661" y="134620"/>
                  </a:lnTo>
                  <a:lnTo>
                    <a:pt x="81661" y="76200"/>
                  </a:lnTo>
                  <a:lnTo>
                    <a:pt x="146812" y="76200"/>
                  </a:lnTo>
                  <a:lnTo>
                    <a:pt x="146812" y="59690"/>
                  </a:lnTo>
                  <a:close/>
                </a:path>
              </a:pathLst>
            </a:custGeom>
            <a:solidFill>
              <a:srgbClr val="B509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383905" y="4207890"/>
            <a:ext cx="20383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35" b="1">
                <a:solidFill>
                  <a:srgbClr val="871A20"/>
                </a:solidFill>
                <a:latin typeface="Tahoma"/>
                <a:cs typeface="Tahoma"/>
              </a:rPr>
              <a:t>380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155" b="1">
                <a:solidFill>
                  <a:srgbClr val="871A20"/>
                </a:solidFill>
                <a:latin typeface="Tahoma"/>
                <a:cs typeface="Tahoma"/>
              </a:rPr>
              <a:t>____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0508" y="4509642"/>
            <a:ext cx="1313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Tahoma"/>
                <a:cs typeface="Tahoma"/>
              </a:rPr>
              <a:t>Cut</a:t>
            </a:r>
            <a:r>
              <a:rPr dirty="0" sz="1200" spc="-100" b="1">
                <a:latin typeface="Tahoma"/>
                <a:cs typeface="Tahoma"/>
              </a:rPr>
              <a:t> </a:t>
            </a:r>
            <a:r>
              <a:rPr dirty="0" sz="1200" spc="-25" b="1">
                <a:latin typeface="Tahoma"/>
                <a:cs typeface="Tahoma"/>
              </a:rPr>
              <a:t>off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200" spc="-60">
                <a:latin typeface="Tahoma"/>
                <a:cs typeface="Tahoma"/>
              </a:rPr>
              <a:t>(100%,</a:t>
            </a:r>
            <a:r>
              <a:rPr dirty="0" sz="1200" spc="-9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bottom</a:t>
            </a:r>
            <a:r>
              <a:rPr dirty="0" sz="1200" spc="-85">
                <a:latin typeface="Tahoma"/>
                <a:cs typeface="Tahoma"/>
              </a:rPr>
              <a:t> </a:t>
            </a:r>
            <a:r>
              <a:rPr dirty="0" sz="1200" spc="-20">
                <a:latin typeface="Tahoma"/>
                <a:cs typeface="Tahoma"/>
              </a:rPr>
              <a:t>bar)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83905" y="4573651"/>
            <a:ext cx="20383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35" b="1">
                <a:solidFill>
                  <a:srgbClr val="871A20"/>
                </a:solidFill>
                <a:latin typeface="Tahoma"/>
                <a:cs typeface="Tahoma"/>
              </a:rPr>
              <a:t>620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241857" y="4975669"/>
            <a:ext cx="988060" cy="415290"/>
            <a:chOff x="7241857" y="4975669"/>
            <a:chExt cx="988060" cy="415290"/>
          </a:xfrm>
        </p:grpSpPr>
        <p:sp>
          <p:nvSpPr>
            <p:cNvPr id="43" name="object 43"/>
            <p:cNvSpPr/>
            <p:nvPr/>
          </p:nvSpPr>
          <p:spPr>
            <a:xfrm>
              <a:off x="7246619" y="4980432"/>
              <a:ext cx="978535" cy="405765"/>
            </a:xfrm>
            <a:custGeom>
              <a:avLst/>
              <a:gdLst/>
              <a:ahLst/>
              <a:cxnLst/>
              <a:rect l="l" t="t" r="r" b="b"/>
              <a:pathLst>
                <a:path w="978534" h="405764">
                  <a:moveTo>
                    <a:pt x="489203" y="0"/>
                  </a:moveTo>
                  <a:lnTo>
                    <a:pt x="416895" y="1098"/>
                  </a:lnTo>
                  <a:lnTo>
                    <a:pt x="347887" y="4288"/>
                  </a:lnTo>
                  <a:lnTo>
                    <a:pt x="282935" y="9413"/>
                  </a:lnTo>
                  <a:lnTo>
                    <a:pt x="222793" y="16318"/>
                  </a:lnTo>
                  <a:lnTo>
                    <a:pt x="168219" y="24846"/>
                  </a:lnTo>
                  <a:lnTo>
                    <a:pt x="119967" y="34841"/>
                  </a:lnTo>
                  <a:lnTo>
                    <a:pt x="78794" y="46146"/>
                  </a:lnTo>
                  <a:lnTo>
                    <a:pt x="20706" y="72063"/>
                  </a:lnTo>
                  <a:lnTo>
                    <a:pt x="0" y="101346"/>
                  </a:lnTo>
                  <a:lnTo>
                    <a:pt x="0" y="304038"/>
                  </a:lnTo>
                  <a:lnTo>
                    <a:pt x="45455" y="346778"/>
                  </a:lnTo>
                  <a:lnTo>
                    <a:pt x="119967" y="370542"/>
                  </a:lnTo>
                  <a:lnTo>
                    <a:pt x="168219" y="380537"/>
                  </a:lnTo>
                  <a:lnTo>
                    <a:pt x="222793" y="389065"/>
                  </a:lnTo>
                  <a:lnTo>
                    <a:pt x="282935" y="395970"/>
                  </a:lnTo>
                  <a:lnTo>
                    <a:pt x="347887" y="401095"/>
                  </a:lnTo>
                  <a:lnTo>
                    <a:pt x="416895" y="404285"/>
                  </a:lnTo>
                  <a:lnTo>
                    <a:pt x="489203" y="405384"/>
                  </a:lnTo>
                  <a:lnTo>
                    <a:pt x="561512" y="404285"/>
                  </a:lnTo>
                  <a:lnTo>
                    <a:pt x="630520" y="401095"/>
                  </a:lnTo>
                  <a:lnTo>
                    <a:pt x="695472" y="395970"/>
                  </a:lnTo>
                  <a:lnTo>
                    <a:pt x="755614" y="389065"/>
                  </a:lnTo>
                  <a:lnTo>
                    <a:pt x="810188" y="380537"/>
                  </a:lnTo>
                  <a:lnTo>
                    <a:pt x="858440" y="370542"/>
                  </a:lnTo>
                  <a:lnTo>
                    <a:pt x="899613" y="359237"/>
                  </a:lnTo>
                  <a:lnTo>
                    <a:pt x="957701" y="333320"/>
                  </a:lnTo>
                  <a:lnTo>
                    <a:pt x="978407" y="304038"/>
                  </a:lnTo>
                  <a:lnTo>
                    <a:pt x="978407" y="101346"/>
                  </a:lnTo>
                  <a:lnTo>
                    <a:pt x="932952" y="58605"/>
                  </a:lnTo>
                  <a:lnTo>
                    <a:pt x="858440" y="34841"/>
                  </a:lnTo>
                  <a:lnTo>
                    <a:pt x="810188" y="24846"/>
                  </a:lnTo>
                  <a:lnTo>
                    <a:pt x="755614" y="16318"/>
                  </a:lnTo>
                  <a:lnTo>
                    <a:pt x="695472" y="9413"/>
                  </a:lnTo>
                  <a:lnTo>
                    <a:pt x="630520" y="4288"/>
                  </a:lnTo>
                  <a:lnTo>
                    <a:pt x="561512" y="1098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C4C7CA">
                <a:alpha val="4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246619" y="4980432"/>
              <a:ext cx="978535" cy="203200"/>
            </a:xfrm>
            <a:custGeom>
              <a:avLst/>
              <a:gdLst/>
              <a:ahLst/>
              <a:cxnLst/>
              <a:rect l="l" t="t" r="r" b="b"/>
              <a:pathLst>
                <a:path w="978534" h="203200">
                  <a:moveTo>
                    <a:pt x="489203" y="0"/>
                  </a:moveTo>
                  <a:lnTo>
                    <a:pt x="416924" y="1098"/>
                  </a:lnTo>
                  <a:lnTo>
                    <a:pt x="347934" y="4288"/>
                  </a:lnTo>
                  <a:lnTo>
                    <a:pt x="282989" y="9413"/>
                  </a:lnTo>
                  <a:lnTo>
                    <a:pt x="222849" y="16318"/>
                  </a:lnTo>
                  <a:lnTo>
                    <a:pt x="168270" y="24846"/>
                  </a:lnTo>
                  <a:lnTo>
                    <a:pt x="120010" y="34841"/>
                  </a:lnTo>
                  <a:lnTo>
                    <a:pt x="78826" y="46146"/>
                  </a:lnTo>
                  <a:lnTo>
                    <a:pt x="20716" y="72063"/>
                  </a:lnTo>
                  <a:lnTo>
                    <a:pt x="0" y="101346"/>
                  </a:lnTo>
                  <a:lnTo>
                    <a:pt x="5305" y="116330"/>
                  </a:lnTo>
                  <a:lnTo>
                    <a:pt x="45476" y="144086"/>
                  </a:lnTo>
                  <a:lnTo>
                    <a:pt x="120010" y="167850"/>
                  </a:lnTo>
                  <a:lnTo>
                    <a:pt x="168270" y="177845"/>
                  </a:lnTo>
                  <a:lnTo>
                    <a:pt x="222849" y="186373"/>
                  </a:lnTo>
                  <a:lnTo>
                    <a:pt x="282989" y="193278"/>
                  </a:lnTo>
                  <a:lnTo>
                    <a:pt x="347934" y="198403"/>
                  </a:lnTo>
                  <a:lnTo>
                    <a:pt x="416924" y="201593"/>
                  </a:lnTo>
                  <a:lnTo>
                    <a:pt x="489203" y="202692"/>
                  </a:lnTo>
                  <a:lnTo>
                    <a:pt x="561483" y="201593"/>
                  </a:lnTo>
                  <a:lnTo>
                    <a:pt x="630473" y="198403"/>
                  </a:lnTo>
                  <a:lnTo>
                    <a:pt x="695418" y="193278"/>
                  </a:lnTo>
                  <a:lnTo>
                    <a:pt x="755558" y="186373"/>
                  </a:lnTo>
                  <a:lnTo>
                    <a:pt x="810137" y="177845"/>
                  </a:lnTo>
                  <a:lnTo>
                    <a:pt x="858397" y="167850"/>
                  </a:lnTo>
                  <a:lnTo>
                    <a:pt x="899581" y="156545"/>
                  </a:lnTo>
                  <a:lnTo>
                    <a:pt x="957691" y="130628"/>
                  </a:lnTo>
                  <a:lnTo>
                    <a:pt x="978407" y="101346"/>
                  </a:lnTo>
                  <a:lnTo>
                    <a:pt x="973102" y="86361"/>
                  </a:lnTo>
                  <a:lnTo>
                    <a:pt x="932931" y="58605"/>
                  </a:lnTo>
                  <a:lnTo>
                    <a:pt x="858397" y="34841"/>
                  </a:lnTo>
                  <a:lnTo>
                    <a:pt x="810137" y="24846"/>
                  </a:lnTo>
                  <a:lnTo>
                    <a:pt x="755558" y="16318"/>
                  </a:lnTo>
                  <a:lnTo>
                    <a:pt x="695418" y="9413"/>
                  </a:lnTo>
                  <a:lnTo>
                    <a:pt x="630473" y="4288"/>
                  </a:lnTo>
                  <a:lnTo>
                    <a:pt x="561483" y="1098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246619" y="4980432"/>
              <a:ext cx="978535" cy="405765"/>
            </a:xfrm>
            <a:custGeom>
              <a:avLst/>
              <a:gdLst/>
              <a:ahLst/>
              <a:cxnLst/>
              <a:rect l="l" t="t" r="r" b="b"/>
              <a:pathLst>
                <a:path w="978534" h="405764">
                  <a:moveTo>
                    <a:pt x="978407" y="101346"/>
                  </a:moveTo>
                  <a:lnTo>
                    <a:pt x="932952" y="144086"/>
                  </a:lnTo>
                  <a:lnTo>
                    <a:pt x="858440" y="167850"/>
                  </a:lnTo>
                  <a:lnTo>
                    <a:pt x="810188" y="177845"/>
                  </a:lnTo>
                  <a:lnTo>
                    <a:pt x="755614" y="186373"/>
                  </a:lnTo>
                  <a:lnTo>
                    <a:pt x="695472" y="193278"/>
                  </a:lnTo>
                  <a:lnTo>
                    <a:pt x="630520" y="198403"/>
                  </a:lnTo>
                  <a:lnTo>
                    <a:pt x="561512" y="201593"/>
                  </a:lnTo>
                  <a:lnTo>
                    <a:pt x="489203" y="202692"/>
                  </a:lnTo>
                  <a:lnTo>
                    <a:pt x="416895" y="201593"/>
                  </a:lnTo>
                  <a:lnTo>
                    <a:pt x="347887" y="198403"/>
                  </a:lnTo>
                  <a:lnTo>
                    <a:pt x="282935" y="193278"/>
                  </a:lnTo>
                  <a:lnTo>
                    <a:pt x="222793" y="186373"/>
                  </a:lnTo>
                  <a:lnTo>
                    <a:pt x="168219" y="177845"/>
                  </a:lnTo>
                  <a:lnTo>
                    <a:pt x="119967" y="167850"/>
                  </a:lnTo>
                  <a:lnTo>
                    <a:pt x="78794" y="156545"/>
                  </a:lnTo>
                  <a:lnTo>
                    <a:pt x="20706" y="130628"/>
                  </a:lnTo>
                  <a:lnTo>
                    <a:pt x="0" y="101346"/>
                  </a:lnTo>
                  <a:lnTo>
                    <a:pt x="5302" y="86361"/>
                  </a:lnTo>
                  <a:lnTo>
                    <a:pt x="45455" y="58605"/>
                  </a:lnTo>
                  <a:lnTo>
                    <a:pt x="119967" y="34841"/>
                  </a:lnTo>
                  <a:lnTo>
                    <a:pt x="168219" y="24846"/>
                  </a:lnTo>
                  <a:lnTo>
                    <a:pt x="222793" y="16318"/>
                  </a:lnTo>
                  <a:lnTo>
                    <a:pt x="282935" y="9413"/>
                  </a:lnTo>
                  <a:lnTo>
                    <a:pt x="347887" y="4288"/>
                  </a:lnTo>
                  <a:lnTo>
                    <a:pt x="416895" y="1098"/>
                  </a:lnTo>
                  <a:lnTo>
                    <a:pt x="489203" y="0"/>
                  </a:lnTo>
                  <a:lnTo>
                    <a:pt x="561512" y="1098"/>
                  </a:lnTo>
                  <a:lnTo>
                    <a:pt x="630520" y="4288"/>
                  </a:lnTo>
                  <a:lnTo>
                    <a:pt x="695472" y="9413"/>
                  </a:lnTo>
                  <a:lnTo>
                    <a:pt x="755614" y="16318"/>
                  </a:lnTo>
                  <a:lnTo>
                    <a:pt x="810188" y="24846"/>
                  </a:lnTo>
                  <a:lnTo>
                    <a:pt x="858440" y="34841"/>
                  </a:lnTo>
                  <a:lnTo>
                    <a:pt x="899613" y="46146"/>
                  </a:lnTo>
                  <a:lnTo>
                    <a:pt x="957701" y="72063"/>
                  </a:lnTo>
                  <a:lnTo>
                    <a:pt x="978407" y="101346"/>
                  </a:lnTo>
                  <a:lnTo>
                    <a:pt x="978407" y="304038"/>
                  </a:lnTo>
                  <a:lnTo>
                    <a:pt x="932952" y="346778"/>
                  </a:lnTo>
                  <a:lnTo>
                    <a:pt x="858440" y="370542"/>
                  </a:lnTo>
                  <a:lnTo>
                    <a:pt x="810188" y="380537"/>
                  </a:lnTo>
                  <a:lnTo>
                    <a:pt x="755614" y="389065"/>
                  </a:lnTo>
                  <a:lnTo>
                    <a:pt x="695472" y="395970"/>
                  </a:lnTo>
                  <a:lnTo>
                    <a:pt x="630520" y="401095"/>
                  </a:lnTo>
                  <a:lnTo>
                    <a:pt x="561512" y="404285"/>
                  </a:lnTo>
                  <a:lnTo>
                    <a:pt x="489203" y="405384"/>
                  </a:lnTo>
                  <a:lnTo>
                    <a:pt x="416895" y="404285"/>
                  </a:lnTo>
                  <a:lnTo>
                    <a:pt x="347887" y="401095"/>
                  </a:lnTo>
                  <a:lnTo>
                    <a:pt x="282935" y="395970"/>
                  </a:lnTo>
                  <a:lnTo>
                    <a:pt x="222793" y="389065"/>
                  </a:lnTo>
                  <a:lnTo>
                    <a:pt x="168219" y="380537"/>
                  </a:lnTo>
                  <a:lnTo>
                    <a:pt x="119967" y="370542"/>
                  </a:lnTo>
                  <a:lnTo>
                    <a:pt x="78794" y="359237"/>
                  </a:lnTo>
                  <a:lnTo>
                    <a:pt x="20706" y="333320"/>
                  </a:lnTo>
                  <a:lnTo>
                    <a:pt x="0" y="304038"/>
                  </a:lnTo>
                  <a:lnTo>
                    <a:pt x="0" y="10134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7297293" y="5220716"/>
            <a:ext cx="8159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52575F"/>
                </a:solidFill>
                <a:latin typeface="Tahoma"/>
                <a:cs typeface="Tahoma"/>
              </a:rPr>
              <a:t>Protein</a:t>
            </a:r>
            <a:r>
              <a:rPr dirty="0" sz="800" spc="-135">
                <a:solidFill>
                  <a:srgbClr val="52575F"/>
                </a:solidFill>
                <a:latin typeface="Tahoma"/>
                <a:cs typeface="Tahoma"/>
              </a:rPr>
              <a:t> </a:t>
            </a:r>
            <a:r>
              <a:rPr dirty="0" sz="800" spc="-130">
                <a:solidFill>
                  <a:srgbClr val="52575F"/>
                </a:solidFill>
                <a:latin typeface="Tahoma"/>
                <a:cs typeface="Tahoma"/>
              </a:rPr>
              <a:t>+</a:t>
            </a:r>
            <a:r>
              <a:rPr dirty="0" sz="800" spc="-105">
                <a:solidFill>
                  <a:srgbClr val="52575F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2575F"/>
                </a:solidFill>
                <a:latin typeface="Tahoma"/>
                <a:cs typeface="Tahoma"/>
              </a:rPr>
              <a:t>Minerals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069323" y="3779520"/>
            <a:ext cx="253365" cy="1635760"/>
          </a:xfrm>
          <a:custGeom>
            <a:avLst/>
            <a:gdLst/>
            <a:ahLst/>
            <a:cxnLst/>
            <a:rect l="l" t="t" r="r" b="b"/>
            <a:pathLst>
              <a:path w="253365" h="1635760">
                <a:moveTo>
                  <a:pt x="252983" y="0"/>
                </a:moveTo>
                <a:lnTo>
                  <a:pt x="0" y="0"/>
                </a:lnTo>
                <a:lnTo>
                  <a:pt x="0" y="1635252"/>
                </a:lnTo>
                <a:lnTo>
                  <a:pt x="252983" y="1635252"/>
                </a:lnTo>
                <a:lnTo>
                  <a:pt x="252983" y="0"/>
                </a:lnTo>
                <a:close/>
              </a:path>
            </a:pathLst>
          </a:custGeom>
          <a:solidFill>
            <a:srgbClr val="DCDD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103671" y="4199029"/>
            <a:ext cx="147955" cy="118364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60" b="1">
                <a:latin typeface="Tahoma"/>
                <a:cs typeface="Tahoma"/>
              </a:rPr>
              <a:t>Edematous</a:t>
            </a:r>
            <a:r>
              <a:rPr dirty="0" sz="800" spc="-55" b="1">
                <a:latin typeface="Tahoma"/>
                <a:cs typeface="Tahoma"/>
              </a:rPr>
              <a:t> </a:t>
            </a:r>
            <a:r>
              <a:rPr dirty="0" sz="800" spc="-40" b="1">
                <a:latin typeface="Tahoma"/>
                <a:cs typeface="Tahoma"/>
              </a:rPr>
              <a:t>Fat</a:t>
            </a:r>
            <a:r>
              <a:rPr dirty="0" sz="800" spc="-55" b="1">
                <a:latin typeface="Tahoma"/>
                <a:cs typeface="Tahoma"/>
              </a:rPr>
              <a:t> </a:t>
            </a:r>
            <a:r>
              <a:rPr dirty="0" sz="800" spc="-40" b="1">
                <a:latin typeface="Tahoma"/>
                <a:cs typeface="Tahoma"/>
              </a:rPr>
              <a:t>Free</a:t>
            </a:r>
            <a:r>
              <a:rPr dirty="0" sz="800" spc="-65" b="1">
                <a:latin typeface="Tahoma"/>
                <a:cs typeface="Tahoma"/>
              </a:rPr>
              <a:t> </a:t>
            </a:r>
            <a:r>
              <a:rPr dirty="0" sz="800" spc="-25" b="1">
                <a:latin typeface="Tahoma"/>
                <a:cs typeface="Tahoma"/>
              </a:rPr>
              <a:t>Mass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479089" y="5032057"/>
            <a:ext cx="989965" cy="358775"/>
            <a:chOff x="9479089" y="5032057"/>
            <a:chExt cx="989965" cy="358775"/>
          </a:xfrm>
        </p:grpSpPr>
        <p:sp>
          <p:nvSpPr>
            <p:cNvPr id="48" name="object 48"/>
            <p:cNvSpPr/>
            <p:nvPr/>
          </p:nvSpPr>
          <p:spPr>
            <a:xfrm>
              <a:off x="9483852" y="5036820"/>
              <a:ext cx="980440" cy="349250"/>
            </a:xfrm>
            <a:custGeom>
              <a:avLst/>
              <a:gdLst/>
              <a:ahLst/>
              <a:cxnLst/>
              <a:rect l="l" t="t" r="r" b="b"/>
              <a:pathLst>
                <a:path w="980440" h="349250">
                  <a:moveTo>
                    <a:pt x="489966" y="0"/>
                  </a:moveTo>
                  <a:lnTo>
                    <a:pt x="417554" y="827"/>
                  </a:lnTo>
                  <a:lnTo>
                    <a:pt x="348444" y="3230"/>
                  </a:lnTo>
                  <a:lnTo>
                    <a:pt x="283393" y="7089"/>
                  </a:lnTo>
                  <a:lnTo>
                    <a:pt x="223158" y="12288"/>
                  </a:lnTo>
                  <a:lnTo>
                    <a:pt x="168497" y="18706"/>
                  </a:lnTo>
                  <a:lnTo>
                    <a:pt x="120168" y="26226"/>
                  </a:lnTo>
                  <a:lnTo>
                    <a:pt x="78927" y="34729"/>
                  </a:lnTo>
                  <a:lnTo>
                    <a:pt x="20741" y="54209"/>
                  </a:lnTo>
                  <a:lnTo>
                    <a:pt x="0" y="76199"/>
                  </a:lnTo>
                  <a:lnTo>
                    <a:pt x="0" y="272795"/>
                  </a:lnTo>
                  <a:lnTo>
                    <a:pt x="45532" y="304899"/>
                  </a:lnTo>
                  <a:lnTo>
                    <a:pt x="120168" y="322769"/>
                  </a:lnTo>
                  <a:lnTo>
                    <a:pt x="168497" y="330289"/>
                  </a:lnTo>
                  <a:lnTo>
                    <a:pt x="223158" y="336707"/>
                  </a:lnTo>
                  <a:lnTo>
                    <a:pt x="283393" y="341906"/>
                  </a:lnTo>
                  <a:lnTo>
                    <a:pt x="348444" y="345765"/>
                  </a:lnTo>
                  <a:lnTo>
                    <a:pt x="417554" y="348168"/>
                  </a:lnTo>
                  <a:lnTo>
                    <a:pt x="489966" y="348995"/>
                  </a:lnTo>
                  <a:lnTo>
                    <a:pt x="562377" y="348168"/>
                  </a:lnTo>
                  <a:lnTo>
                    <a:pt x="631487" y="345765"/>
                  </a:lnTo>
                  <a:lnTo>
                    <a:pt x="696538" y="341906"/>
                  </a:lnTo>
                  <a:lnTo>
                    <a:pt x="756773" y="336707"/>
                  </a:lnTo>
                  <a:lnTo>
                    <a:pt x="811434" y="330289"/>
                  </a:lnTo>
                  <a:lnTo>
                    <a:pt x="859763" y="322769"/>
                  </a:lnTo>
                  <a:lnTo>
                    <a:pt x="901004" y="314266"/>
                  </a:lnTo>
                  <a:lnTo>
                    <a:pt x="959190" y="294786"/>
                  </a:lnTo>
                  <a:lnTo>
                    <a:pt x="979931" y="272795"/>
                  </a:lnTo>
                  <a:lnTo>
                    <a:pt x="979931" y="76199"/>
                  </a:lnTo>
                  <a:lnTo>
                    <a:pt x="934399" y="44096"/>
                  </a:lnTo>
                  <a:lnTo>
                    <a:pt x="859763" y="26226"/>
                  </a:lnTo>
                  <a:lnTo>
                    <a:pt x="811434" y="18706"/>
                  </a:lnTo>
                  <a:lnTo>
                    <a:pt x="756773" y="12288"/>
                  </a:lnTo>
                  <a:lnTo>
                    <a:pt x="696538" y="7089"/>
                  </a:lnTo>
                  <a:lnTo>
                    <a:pt x="631487" y="3230"/>
                  </a:lnTo>
                  <a:lnTo>
                    <a:pt x="562377" y="827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4C7CA">
                <a:alpha val="4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483852" y="5036820"/>
              <a:ext cx="980440" cy="152400"/>
            </a:xfrm>
            <a:custGeom>
              <a:avLst/>
              <a:gdLst/>
              <a:ahLst/>
              <a:cxnLst/>
              <a:rect l="l" t="t" r="r" b="b"/>
              <a:pathLst>
                <a:path w="980440" h="152400">
                  <a:moveTo>
                    <a:pt x="489966" y="0"/>
                  </a:moveTo>
                  <a:lnTo>
                    <a:pt x="417554" y="827"/>
                  </a:lnTo>
                  <a:lnTo>
                    <a:pt x="348444" y="3230"/>
                  </a:lnTo>
                  <a:lnTo>
                    <a:pt x="283393" y="7089"/>
                  </a:lnTo>
                  <a:lnTo>
                    <a:pt x="223158" y="12288"/>
                  </a:lnTo>
                  <a:lnTo>
                    <a:pt x="168497" y="18706"/>
                  </a:lnTo>
                  <a:lnTo>
                    <a:pt x="120168" y="26226"/>
                  </a:lnTo>
                  <a:lnTo>
                    <a:pt x="78927" y="34729"/>
                  </a:lnTo>
                  <a:lnTo>
                    <a:pt x="20741" y="54209"/>
                  </a:lnTo>
                  <a:lnTo>
                    <a:pt x="0" y="76199"/>
                  </a:lnTo>
                  <a:lnTo>
                    <a:pt x="5311" y="87449"/>
                  </a:lnTo>
                  <a:lnTo>
                    <a:pt x="45532" y="108303"/>
                  </a:lnTo>
                  <a:lnTo>
                    <a:pt x="120168" y="126173"/>
                  </a:lnTo>
                  <a:lnTo>
                    <a:pt x="168497" y="133693"/>
                  </a:lnTo>
                  <a:lnTo>
                    <a:pt x="223158" y="140111"/>
                  </a:lnTo>
                  <a:lnTo>
                    <a:pt x="283393" y="145310"/>
                  </a:lnTo>
                  <a:lnTo>
                    <a:pt x="348444" y="149169"/>
                  </a:lnTo>
                  <a:lnTo>
                    <a:pt x="417554" y="151572"/>
                  </a:lnTo>
                  <a:lnTo>
                    <a:pt x="489966" y="152399"/>
                  </a:lnTo>
                  <a:lnTo>
                    <a:pt x="562377" y="151572"/>
                  </a:lnTo>
                  <a:lnTo>
                    <a:pt x="631487" y="149169"/>
                  </a:lnTo>
                  <a:lnTo>
                    <a:pt x="696538" y="145310"/>
                  </a:lnTo>
                  <a:lnTo>
                    <a:pt x="756773" y="140111"/>
                  </a:lnTo>
                  <a:lnTo>
                    <a:pt x="811434" y="133693"/>
                  </a:lnTo>
                  <a:lnTo>
                    <a:pt x="859763" y="126173"/>
                  </a:lnTo>
                  <a:lnTo>
                    <a:pt x="901004" y="117670"/>
                  </a:lnTo>
                  <a:lnTo>
                    <a:pt x="959190" y="98190"/>
                  </a:lnTo>
                  <a:lnTo>
                    <a:pt x="979931" y="76199"/>
                  </a:lnTo>
                  <a:lnTo>
                    <a:pt x="974620" y="64950"/>
                  </a:lnTo>
                  <a:lnTo>
                    <a:pt x="934399" y="44096"/>
                  </a:lnTo>
                  <a:lnTo>
                    <a:pt x="859763" y="26226"/>
                  </a:lnTo>
                  <a:lnTo>
                    <a:pt x="811434" y="18706"/>
                  </a:lnTo>
                  <a:lnTo>
                    <a:pt x="756773" y="12288"/>
                  </a:lnTo>
                  <a:lnTo>
                    <a:pt x="696538" y="7089"/>
                  </a:lnTo>
                  <a:lnTo>
                    <a:pt x="631487" y="3230"/>
                  </a:lnTo>
                  <a:lnTo>
                    <a:pt x="562377" y="827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483852" y="5036820"/>
              <a:ext cx="980440" cy="349250"/>
            </a:xfrm>
            <a:custGeom>
              <a:avLst/>
              <a:gdLst/>
              <a:ahLst/>
              <a:cxnLst/>
              <a:rect l="l" t="t" r="r" b="b"/>
              <a:pathLst>
                <a:path w="980440" h="349250">
                  <a:moveTo>
                    <a:pt x="979931" y="76199"/>
                  </a:moveTo>
                  <a:lnTo>
                    <a:pt x="934399" y="108303"/>
                  </a:lnTo>
                  <a:lnTo>
                    <a:pt x="859763" y="126173"/>
                  </a:lnTo>
                  <a:lnTo>
                    <a:pt x="811434" y="133693"/>
                  </a:lnTo>
                  <a:lnTo>
                    <a:pt x="756773" y="140111"/>
                  </a:lnTo>
                  <a:lnTo>
                    <a:pt x="696538" y="145310"/>
                  </a:lnTo>
                  <a:lnTo>
                    <a:pt x="631487" y="149169"/>
                  </a:lnTo>
                  <a:lnTo>
                    <a:pt x="562377" y="151572"/>
                  </a:lnTo>
                  <a:lnTo>
                    <a:pt x="489966" y="152399"/>
                  </a:lnTo>
                  <a:lnTo>
                    <a:pt x="417554" y="151572"/>
                  </a:lnTo>
                  <a:lnTo>
                    <a:pt x="348444" y="149169"/>
                  </a:lnTo>
                  <a:lnTo>
                    <a:pt x="283393" y="145310"/>
                  </a:lnTo>
                  <a:lnTo>
                    <a:pt x="223158" y="140111"/>
                  </a:lnTo>
                  <a:lnTo>
                    <a:pt x="168497" y="133693"/>
                  </a:lnTo>
                  <a:lnTo>
                    <a:pt x="120168" y="126173"/>
                  </a:lnTo>
                  <a:lnTo>
                    <a:pt x="78927" y="117670"/>
                  </a:lnTo>
                  <a:lnTo>
                    <a:pt x="20741" y="98190"/>
                  </a:lnTo>
                  <a:lnTo>
                    <a:pt x="0" y="76199"/>
                  </a:lnTo>
                  <a:lnTo>
                    <a:pt x="5311" y="64950"/>
                  </a:lnTo>
                  <a:lnTo>
                    <a:pt x="45532" y="44096"/>
                  </a:lnTo>
                  <a:lnTo>
                    <a:pt x="120168" y="26226"/>
                  </a:lnTo>
                  <a:lnTo>
                    <a:pt x="168497" y="18706"/>
                  </a:lnTo>
                  <a:lnTo>
                    <a:pt x="223158" y="12288"/>
                  </a:lnTo>
                  <a:lnTo>
                    <a:pt x="283393" y="7089"/>
                  </a:lnTo>
                  <a:lnTo>
                    <a:pt x="348444" y="3230"/>
                  </a:lnTo>
                  <a:lnTo>
                    <a:pt x="417554" y="827"/>
                  </a:lnTo>
                  <a:lnTo>
                    <a:pt x="489966" y="0"/>
                  </a:lnTo>
                  <a:lnTo>
                    <a:pt x="562377" y="827"/>
                  </a:lnTo>
                  <a:lnTo>
                    <a:pt x="631487" y="3230"/>
                  </a:lnTo>
                  <a:lnTo>
                    <a:pt x="696538" y="7089"/>
                  </a:lnTo>
                  <a:lnTo>
                    <a:pt x="756773" y="12288"/>
                  </a:lnTo>
                  <a:lnTo>
                    <a:pt x="811434" y="18706"/>
                  </a:lnTo>
                  <a:lnTo>
                    <a:pt x="859763" y="26226"/>
                  </a:lnTo>
                  <a:lnTo>
                    <a:pt x="901004" y="34729"/>
                  </a:lnTo>
                  <a:lnTo>
                    <a:pt x="959190" y="54209"/>
                  </a:lnTo>
                  <a:lnTo>
                    <a:pt x="979931" y="76199"/>
                  </a:lnTo>
                  <a:lnTo>
                    <a:pt x="979931" y="272795"/>
                  </a:lnTo>
                  <a:lnTo>
                    <a:pt x="934399" y="304899"/>
                  </a:lnTo>
                  <a:lnTo>
                    <a:pt x="859763" y="322769"/>
                  </a:lnTo>
                  <a:lnTo>
                    <a:pt x="811434" y="330289"/>
                  </a:lnTo>
                  <a:lnTo>
                    <a:pt x="756773" y="336707"/>
                  </a:lnTo>
                  <a:lnTo>
                    <a:pt x="696538" y="341906"/>
                  </a:lnTo>
                  <a:lnTo>
                    <a:pt x="631487" y="345765"/>
                  </a:lnTo>
                  <a:lnTo>
                    <a:pt x="562377" y="348168"/>
                  </a:lnTo>
                  <a:lnTo>
                    <a:pt x="489966" y="348995"/>
                  </a:lnTo>
                  <a:lnTo>
                    <a:pt x="417554" y="348168"/>
                  </a:lnTo>
                  <a:lnTo>
                    <a:pt x="348444" y="345765"/>
                  </a:lnTo>
                  <a:lnTo>
                    <a:pt x="283393" y="341906"/>
                  </a:lnTo>
                  <a:lnTo>
                    <a:pt x="223158" y="336707"/>
                  </a:lnTo>
                  <a:lnTo>
                    <a:pt x="168497" y="330289"/>
                  </a:lnTo>
                  <a:lnTo>
                    <a:pt x="120168" y="322769"/>
                  </a:lnTo>
                  <a:lnTo>
                    <a:pt x="78927" y="314266"/>
                  </a:lnTo>
                  <a:lnTo>
                    <a:pt x="20741" y="294786"/>
                  </a:lnTo>
                  <a:lnTo>
                    <a:pt x="0" y="272795"/>
                  </a:lnTo>
                  <a:lnTo>
                    <a:pt x="0" y="7619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9479089" y="4331017"/>
            <a:ext cx="989965" cy="861694"/>
            <a:chOff x="9479089" y="4331017"/>
            <a:chExt cx="989965" cy="861694"/>
          </a:xfrm>
        </p:grpSpPr>
        <p:sp>
          <p:nvSpPr>
            <p:cNvPr id="53" name="object 53"/>
            <p:cNvSpPr/>
            <p:nvPr/>
          </p:nvSpPr>
          <p:spPr>
            <a:xfrm>
              <a:off x="9483852" y="4335779"/>
              <a:ext cx="980440" cy="852169"/>
            </a:xfrm>
            <a:custGeom>
              <a:avLst/>
              <a:gdLst/>
              <a:ahLst/>
              <a:cxnLst/>
              <a:rect l="l" t="t" r="r" b="b"/>
              <a:pathLst>
                <a:path w="980440" h="852170">
                  <a:moveTo>
                    <a:pt x="489966" y="0"/>
                  </a:moveTo>
                  <a:lnTo>
                    <a:pt x="410482" y="939"/>
                  </a:lnTo>
                  <a:lnTo>
                    <a:pt x="335084" y="3658"/>
                  </a:lnTo>
                  <a:lnTo>
                    <a:pt x="264782" y="8010"/>
                  </a:lnTo>
                  <a:lnTo>
                    <a:pt x="200582" y="13846"/>
                  </a:lnTo>
                  <a:lnTo>
                    <a:pt x="143494" y="21018"/>
                  </a:lnTo>
                  <a:lnTo>
                    <a:pt x="94524" y="29379"/>
                  </a:lnTo>
                  <a:lnTo>
                    <a:pt x="54682" y="38781"/>
                  </a:lnTo>
                  <a:lnTo>
                    <a:pt x="6411" y="60117"/>
                  </a:lnTo>
                  <a:lnTo>
                    <a:pt x="0" y="71755"/>
                  </a:lnTo>
                  <a:lnTo>
                    <a:pt x="0" y="780161"/>
                  </a:lnTo>
                  <a:lnTo>
                    <a:pt x="54682" y="813134"/>
                  </a:lnTo>
                  <a:lnTo>
                    <a:pt x="94524" y="822536"/>
                  </a:lnTo>
                  <a:lnTo>
                    <a:pt x="143494" y="830897"/>
                  </a:lnTo>
                  <a:lnTo>
                    <a:pt x="200582" y="838069"/>
                  </a:lnTo>
                  <a:lnTo>
                    <a:pt x="264782" y="843905"/>
                  </a:lnTo>
                  <a:lnTo>
                    <a:pt x="335084" y="848257"/>
                  </a:lnTo>
                  <a:lnTo>
                    <a:pt x="410482" y="850976"/>
                  </a:lnTo>
                  <a:lnTo>
                    <a:pt x="489966" y="851916"/>
                  </a:lnTo>
                  <a:lnTo>
                    <a:pt x="569449" y="850976"/>
                  </a:lnTo>
                  <a:lnTo>
                    <a:pt x="644847" y="848257"/>
                  </a:lnTo>
                  <a:lnTo>
                    <a:pt x="715149" y="843905"/>
                  </a:lnTo>
                  <a:lnTo>
                    <a:pt x="779349" y="838069"/>
                  </a:lnTo>
                  <a:lnTo>
                    <a:pt x="836437" y="830897"/>
                  </a:lnTo>
                  <a:lnTo>
                    <a:pt x="885407" y="822536"/>
                  </a:lnTo>
                  <a:lnTo>
                    <a:pt x="925249" y="813134"/>
                  </a:lnTo>
                  <a:lnTo>
                    <a:pt x="973520" y="791798"/>
                  </a:lnTo>
                  <a:lnTo>
                    <a:pt x="979931" y="780161"/>
                  </a:lnTo>
                  <a:lnTo>
                    <a:pt x="979931" y="71755"/>
                  </a:lnTo>
                  <a:lnTo>
                    <a:pt x="925249" y="38781"/>
                  </a:lnTo>
                  <a:lnTo>
                    <a:pt x="885407" y="29379"/>
                  </a:lnTo>
                  <a:lnTo>
                    <a:pt x="836437" y="21018"/>
                  </a:lnTo>
                  <a:lnTo>
                    <a:pt x="779349" y="13846"/>
                  </a:lnTo>
                  <a:lnTo>
                    <a:pt x="715149" y="8010"/>
                  </a:lnTo>
                  <a:lnTo>
                    <a:pt x="644847" y="3658"/>
                  </a:lnTo>
                  <a:lnTo>
                    <a:pt x="569449" y="939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6699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483852" y="4335779"/>
              <a:ext cx="980440" cy="143510"/>
            </a:xfrm>
            <a:custGeom>
              <a:avLst/>
              <a:gdLst/>
              <a:ahLst/>
              <a:cxnLst/>
              <a:rect l="l" t="t" r="r" b="b"/>
              <a:pathLst>
                <a:path w="980440" h="143510">
                  <a:moveTo>
                    <a:pt x="489966" y="0"/>
                  </a:moveTo>
                  <a:lnTo>
                    <a:pt x="410482" y="939"/>
                  </a:lnTo>
                  <a:lnTo>
                    <a:pt x="335084" y="3657"/>
                  </a:lnTo>
                  <a:lnTo>
                    <a:pt x="264782" y="8006"/>
                  </a:lnTo>
                  <a:lnTo>
                    <a:pt x="200582" y="13837"/>
                  </a:lnTo>
                  <a:lnTo>
                    <a:pt x="143494" y="21002"/>
                  </a:lnTo>
                  <a:lnTo>
                    <a:pt x="94524" y="29352"/>
                  </a:lnTo>
                  <a:lnTo>
                    <a:pt x="54682" y="38738"/>
                  </a:lnTo>
                  <a:lnTo>
                    <a:pt x="6411" y="60024"/>
                  </a:lnTo>
                  <a:lnTo>
                    <a:pt x="0" y="71628"/>
                  </a:lnTo>
                  <a:lnTo>
                    <a:pt x="6411" y="83231"/>
                  </a:lnTo>
                  <a:lnTo>
                    <a:pt x="54682" y="104517"/>
                  </a:lnTo>
                  <a:lnTo>
                    <a:pt x="94524" y="113903"/>
                  </a:lnTo>
                  <a:lnTo>
                    <a:pt x="143494" y="122253"/>
                  </a:lnTo>
                  <a:lnTo>
                    <a:pt x="200582" y="129418"/>
                  </a:lnTo>
                  <a:lnTo>
                    <a:pt x="264782" y="135249"/>
                  </a:lnTo>
                  <a:lnTo>
                    <a:pt x="335084" y="139598"/>
                  </a:lnTo>
                  <a:lnTo>
                    <a:pt x="410482" y="142316"/>
                  </a:lnTo>
                  <a:lnTo>
                    <a:pt x="489966" y="143256"/>
                  </a:lnTo>
                  <a:lnTo>
                    <a:pt x="569449" y="142316"/>
                  </a:lnTo>
                  <a:lnTo>
                    <a:pt x="644847" y="139598"/>
                  </a:lnTo>
                  <a:lnTo>
                    <a:pt x="715149" y="135249"/>
                  </a:lnTo>
                  <a:lnTo>
                    <a:pt x="779349" y="129418"/>
                  </a:lnTo>
                  <a:lnTo>
                    <a:pt x="836437" y="122253"/>
                  </a:lnTo>
                  <a:lnTo>
                    <a:pt x="885407" y="113903"/>
                  </a:lnTo>
                  <a:lnTo>
                    <a:pt x="925249" y="104517"/>
                  </a:lnTo>
                  <a:lnTo>
                    <a:pt x="973520" y="83231"/>
                  </a:lnTo>
                  <a:lnTo>
                    <a:pt x="979931" y="71628"/>
                  </a:lnTo>
                  <a:lnTo>
                    <a:pt x="973520" y="60024"/>
                  </a:lnTo>
                  <a:lnTo>
                    <a:pt x="925249" y="38738"/>
                  </a:lnTo>
                  <a:lnTo>
                    <a:pt x="885407" y="29352"/>
                  </a:lnTo>
                  <a:lnTo>
                    <a:pt x="836437" y="21002"/>
                  </a:lnTo>
                  <a:lnTo>
                    <a:pt x="779349" y="13837"/>
                  </a:lnTo>
                  <a:lnTo>
                    <a:pt x="715149" y="8006"/>
                  </a:lnTo>
                  <a:lnTo>
                    <a:pt x="644847" y="3657"/>
                  </a:lnTo>
                  <a:lnTo>
                    <a:pt x="569449" y="939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483852" y="4335779"/>
              <a:ext cx="980440" cy="852169"/>
            </a:xfrm>
            <a:custGeom>
              <a:avLst/>
              <a:gdLst/>
              <a:ahLst/>
              <a:cxnLst/>
              <a:rect l="l" t="t" r="r" b="b"/>
              <a:pathLst>
                <a:path w="980440" h="852170">
                  <a:moveTo>
                    <a:pt x="979931" y="71755"/>
                  </a:moveTo>
                  <a:lnTo>
                    <a:pt x="925249" y="104728"/>
                  </a:lnTo>
                  <a:lnTo>
                    <a:pt x="885407" y="114130"/>
                  </a:lnTo>
                  <a:lnTo>
                    <a:pt x="836437" y="122491"/>
                  </a:lnTo>
                  <a:lnTo>
                    <a:pt x="779349" y="129663"/>
                  </a:lnTo>
                  <a:lnTo>
                    <a:pt x="715149" y="135499"/>
                  </a:lnTo>
                  <a:lnTo>
                    <a:pt x="644847" y="139851"/>
                  </a:lnTo>
                  <a:lnTo>
                    <a:pt x="569449" y="142570"/>
                  </a:lnTo>
                  <a:lnTo>
                    <a:pt x="489966" y="143510"/>
                  </a:lnTo>
                  <a:lnTo>
                    <a:pt x="410482" y="142570"/>
                  </a:lnTo>
                  <a:lnTo>
                    <a:pt x="335084" y="139851"/>
                  </a:lnTo>
                  <a:lnTo>
                    <a:pt x="264782" y="135499"/>
                  </a:lnTo>
                  <a:lnTo>
                    <a:pt x="200582" y="129663"/>
                  </a:lnTo>
                  <a:lnTo>
                    <a:pt x="143494" y="122491"/>
                  </a:lnTo>
                  <a:lnTo>
                    <a:pt x="94524" y="114130"/>
                  </a:lnTo>
                  <a:lnTo>
                    <a:pt x="54682" y="104728"/>
                  </a:lnTo>
                  <a:lnTo>
                    <a:pt x="6411" y="83392"/>
                  </a:lnTo>
                  <a:lnTo>
                    <a:pt x="0" y="71755"/>
                  </a:lnTo>
                  <a:lnTo>
                    <a:pt x="6411" y="60117"/>
                  </a:lnTo>
                  <a:lnTo>
                    <a:pt x="54682" y="38781"/>
                  </a:lnTo>
                  <a:lnTo>
                    <a:pt x="94524" y="29379"/>
                  </a:lnTo>
                  <a:lnTo>
                    <a:pt x="143494" y="21018"/>
                  </a:lnTo>
                  <a:lnTo>
                    <a:pt x="200582" y="13846"/>
                  </a:lnTo>
                  <a:lnTo>
                    <a:pt x="264782" y="8010"/>
                  </a:lnTo>
                  <a:lnTo>
                    <a:pt x="335084" y="3658"/>
                  </a:lnTo>
                  <a:lnTo>
                    <a:pt x="410482" y="939"/>
                  </a:lnTo>
                  <a:lnTo>
                    <a:pt x="489966" y="0"/>
                  </a:lnTo>
                  <a:lnTo>
                    <a:pt x="569449" y="939"/>
                  </a:lnTo>
                  <a:lnTo>
                    <a:pt x="644847" y="3658"/>
                  </a:lnTo>
                  <a:lnTo>
                    <a:pt x="715149" y="8010"/>
                  </a:lnTo>
                  <a:lnTo>
                    <a:pt x="779349" y="13846"/>
                  </a:lnTo>
                  <a:lnTo>
                    <a:pt x="836437" y="21018"/>
                  </a:lnTo>
                  <a:lnTo>
                    <a:pt x="885407" y="29379"/>
                  </a:lnTo>
                  <a:lnTo>
                    <a:pt x="925249" y="38781"/>
                  </a:lnTo>
                  <a:lnTo>
                    <a:pt x="973520" y="60117"/>
                  </a:lnTo>
                  <a:lnTo>
                    <a:pt x="979931" y="71755"/>
                  </a:lnTo>
                  <a:lnTo>
                    <a:pt x="979931" y="780161"/>
                  </a:lnTo>
                  <a:lnTo>
                    <a:pt x="925249" y="813134"/>
                  </a:lnTo>
                  <a:lnTo>
                    <a:pt x="885407" y="822536"/>
                  </a:lnTo>
                  <a:lnTo>
                    <a:pt x="836437" y="830897"/>
                  </a:lnTo>
                  <a:lnTo>
                    <a:pt x="779349" y="838069"/>
                  </a:lnTo>
                  <a:lnTo>
                    <a:pt x="715149" y="843905"/>
                  </a:lnTo>
                  <a:lnTo>
                    <a:pt x="644847" y="848257"/>
                  </a:lnTo>
                  <a:lnTo>
                    <a:pt x="569449" y="850976"/>
                  </a:lnTo>
                  <a:lnTo>
                    <a:pt x="489966" y="851916"/>
                  </a:lnTo>
                  <a:lnTo>
                    <a:pt x="410482" y="850976"/>
                  </a:lnTo>
                  <a:lnTo>
                    <a:pt x="335084" y="848257"/>
                  </a:lnTo>
                  <a:lnTo>
                    <a:pt x="264782" y="843905"/>
                  </a:lnTo>
                  <a:lnTo>
                    <a:pt x="200582" y="838069"/>
                  </a:lnTo>
                  <a:lnTo>
                    <a:pt x="143494" y="830897"/>
                  </a:lnTo>
                  <a:lnTo>
                    <a:pt x="94524" y="822536"/>
                  </a:lnTo>
                  <a:lnTo>
                    <a:pt x="54682" y="813134"/>
                  </a:lnTo>
                  <a:lnTo>
                    <a:pt x="6411" y="791798"/>
                  </a:lnTo>
                  <a:lnTo>
                    <a:pt x="0" y="780161"/>
                  </a:lnTo>
                  <a:lnTo>
                    <a:pt x="0" y="7175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/>
          <p:cNvGrpSpPr/>
          <p:nvPr/>
        </p:nvGrpSpPr>
        <p:grpSpPr>
          <a:xfrm>
            <a:off x="9479089" y="3701605"/>
            <a:ext cx="989965" cy="782320"/>
            <a:chOff x="9479089" y="3701605"/>
            <a:chExt cx="989965" cy="782320"/>
          </a:xfrm>
        </p:grpSpPr>
        <p:sp>
          <p:nvSpPr>
            <p:cNvPr id="59" name="object 59"/>
            <p:cNvSpPr/>
            <p:nvPr/>
          </p:nvSpPr>
          <p:spPr>
            <a:xfrm>
              <a:off x="9483852" y="3706367"/>
              <a:ext cx="980440" cy="772795"/>
            </a:xfrm>
            <a:custGeom>
              <a:avLst/>
              <a:gdLst/>
              <a:ahLst/>
              <a:cxnLst/>
              <a:rect l="l" t="t" r="r" b="b"/>
              <a:pathLst>
                <a:path w="980440" h="772795">
                  <a:moveTo>
                    <a:pt x="489966" y="0"/>
                  </a:moveTo>
                  <a:lnTo>
                    <a:pt x="417554" y="821"/>
                  </a:lnTo>
                  <a:lnTo>
                    <a:pt x="348444" y="3207"/>
                  </a:lnTo>
                  <a:lnTo>
                    <a:pt x="283393" y="7040"/>
                  </a:lnTo>
                  <a:lnTo>
                    <a:pt x="223158" y="12205"/>
                  </a:lnTo>
                  <a:lnTo>
                    <a:pt x="168497" y="18584"/>
                  </a:lnTo>
                  <a:lnTo>
                    <a:pt x="120168" y="26061"/>
                  </a:lnTo>
                  <a:lnTo>
                    <a:pt x="78927" y="34518"/>
                  </a:lnTo>
                  <a:lnTo>
                    <a:pt x="20741" y="53908"/>
                  </a:lnTo>
                  <a:lnTo>
                    <a:pt x="0" y="75818"/>
                  </a:lnTo>
                  <a:lnTo>
                    <a:pt x="0" y="696848"/>
                  </a:lnTo>
                  <a:lnTo>
                    <a:pt x="45532" y="728828"/>
                  </a:lnTo>
                  <a:lnTo>
                    <a:pt x="120168" y="746606"/>
                  </a:lnTo>
                  <a:lnTo>
                    <a:pt x="168497" y="754083"/>
                  </a:lnTo>
                  <a:lnTo>
                    <a:pt x="223158" y="760462"/>
                  </a:lnTo>
                  <a:lnTo>
                    <a:pt x="283393" y="765627"/>
                  </a:lnTo>
                  <a:lnTo>
                    <a:pt x="348444" y="769460"/>
                  </a:lnTo>
                  <a:lnTo>
                    <a:pt x="417554" y="771846"/>
                  </a:lnTo>
                  <a:lnTo>
                    <a:pt x="489966" y="772667"/>
                  </a:lnTo>
                  <a:lnTo>
                    <a:pt x="562377" y="771846"/>
                  </a:lnTo>
                  <a:lnTo>
                    <a:pt x="631487" y="769460"/>
                  </a:lnTo>
                  <a:lnTo>
                    <a:pt x="696538" y="765627"/>
                  </a:lnTo>
                  <a:lnTo>
                    <a:pt x="756773" y="760462"/>
                  </a:lnTo>
                  <a:lnTo>
                    <a:pt x="811434" y="754083"/>
                  </a:lnTo>
                  <a:lnTo>
                    <a:pt x="859763" y="746606"/>
                  </a:lnTo>
                  <a:lnTo>
                    <a:pt x="901004" y="738149"/>
                  </a:lnTo>
                  <a:lnTo>
                    <a:pt x="959190" y="718759"/>
                  </a:lnTo>
                  <a:lnTo>
                    <a:pt x="979931" y="696848"/>
                  </a:lnTo>
                  <a:lnTo>
                    <a:pt x="979931" y="75818"/>
                  </a:lnTo>
                  <a:lnTo>
                    <a:pt x="934399" y="43839"/>
                  </a:lnTo>
                  <a:lnTo>
                    <a:pt x="859763" y="26061"/>
                  </a:lnTo>
                  <a:lnTo>
                    <a:pt x="811434" y="18584"/>
                  </a:lnTo>
                  <a:lnTo>
                    <a:pt x="756773" y="12205"/>
                  </a:lnTo>
                  <a:lnTo>
                    <a:pt x="696538" y="7040"/>
                  </a:lnTo>
                  <a:lnTo>
                    <a:pt x="631487" y="3207"/>
                  </a:lnTo>
                  <a:lnTo>
                    <a:pt x="562377" y="821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C1E0FD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483852" y="3706367"/>
              <a:ext cx="980440" cy="152400"/>
            </a:xfrm>
            <a:custGeom>
              <a:avLst/>
              <a:gdLst/>
              <a:ahLst/>
              <a:cxnLst/>
              <a:rect l="l" t="t" r="r" b="b"/>
              <a:pathLst>
                <a:path w="980440" h="152400">
                  <a:moveTo>
                    <a:pt x="489966" y="0"/>
                  </a:moveTo>
                  <a:lnTo>
                    <a:pt x="417554" y="827"/>
                  </a:lnTo>
                  <a:lnTo>
                    <a:pt x="348444" y="3230"/>
                  </a:lnTo>
                  <a:lnTo>
                    <a:pt x="283393" y="7089"/>
                  </a:lnTo>
                  <a:lnTo>
                    <a:pt x="223158" y="12288"/>
                  </a:lnTo>
                  <a:lnTo>
                    <a:pt x="168497" y="18706"/>
                  </a:lnTo>
                  <a:lnTo>
                    <a:pt x="120168" y="26226"/>
                  </a:lnTo>
                  <a:lnTo>
                    <a:pt x="78927" y="34729"/>
                  </a:lnTo>
                  <a:lnTo>
                    <a:pt x="20741" y="54209"/>
                  </a:lnTo>
                  <a:lnTo>
                    <a:pt x="0" y="76199"/>
                  </a:lnTo>
                  <a:lnTo>
                    <a:pt x="5311" y="87449"/>
                  </a:lnTo>
                  <a:lnTo>
                    <a:pt x="45532" y="108303"/>
                  </a:lnTo>
                  <a:lnTo>
                    <a:pt x="120168" y="126173"/>
                  </a:lnTo>
                  <a:lnTo>
                    <a:pt x="168497" y="133693"/>
                  </a:lnTo>
                  <a:lnTo>
                    <a:pt x="223158" y="140111"/>
                  </a:lnTo>
                  <a:lnTo>
                    <a:pt x="283393" y="145310"/>
                  </a:lnTo>
                  <a:lnTo>
                    <a:pt x="348444" y="149169"/>
                  </a:lnTo>
                  <a:lnTo>
                    <a:pt x="417554" y="151572"/>
                  </a:lnTo>
                  <a:lnTo>
                    <a:pt x="489966" y="152399"/>
                  </a:lnTo>
                  <a:lnTo>
                    <a:pt x="562377" y="151572"/>
                  </a:lnTo>
                  <a:lnTo>
                    <a:pt x="631487" y="149169"/>
                  </a:lnTo>
                  <a:lnTo>
                    <a:pt x="696538" y="145310"/>
                  </a:lnTo>
                  <a:lnTo>
                    <a:pt x="756773" y="140111"/>
                  </a:lnTo>
                  <a:lnTo>
                    <a:pt x="811434" y="133693"/>
                  </a:lnTo>
                  <a:lnTo>
                    <a:pt x="859763" y="126173"/>
                  </a:lnTo>
                  <a:lnTo>
                    <a:pt x="901004" y="117670"/>
                  </a:lnTo>
                  <a:lnTo>
                    <a:pt x="959190" y="98190"/>
                  </a:lnTo>
                  <a:lnTo>
                    <a:pt x="979931" y="76199"/>
                  </a:lnTo>
                  <a:lnTo>
                    <a:pt x="974620" y="64950"/>
                  </a:lnTo>
                  <a:lnTo>
                    <a:pt x="934399" y="44096"/>
                  </a:lnTo>
                  <a:lnTo>
                    <a:pt x="859763" y="26226"/>
                  </a:lnTo>
                  <a:lnTo>
                    <a:pt x="811434" y="18706"/>
                  </a:lnTo>
                  <a:lnTo>
                    <a:pt x="756773" y="12288"/>
                  </a:lnTo>
                  <a:lnTo>
                    <a:pt x="696538" y="7089"/>
                  </a:lnTo>
                  <a:lnTo>
                    <a:pt x="631487" y="3230"/>
                  </a:lnTo>
                  <a:lnTo>
                    <a:pt x="562377" y="827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9483852" y="3706367"/>
              <a:ext cx="980440" cy="772795"/>
            </a:xfrm>
            <a:custGeom>
              <a:avLst/>
              <a:gdLst/>
              <a:ahLst/>
              <a:cxnLst/>
              <a:rect l="l" t="t" r="r" b="b"/>
              <a:pathLst>
                <a:path w="980440" h="772795">
                  <a:moveTo>
                    <a:pt x="979931" y="75818"/>
                  </a:moveTo>
                  <a:lnTo>
                    <a:pt x="934399" y="107719"/>
                  </a:lnTo>
                  <a:lnTo>
                    <a:pt x="859763" y="125470"/>
                  </a:lnTo>
                  <a:lnTo>
                    <a:pt x="811434" y="132938"/>
                  </a:lnTo>
                  <a:lnTo>
                    <a:pt x="756773" y="139311"/>
                  </a:lnTo>
                  <a:lnTo>
                    <a:pt x="696538" y="144472"/>
                  </a:lnTo>
                  <a:lnTo>
                    <a:pt x="631487" y="148304"/>
                  </a:lnTo>
                  <a:lnTo>
                    <a:pt x="562377" y="150689"/>
                  </a:lnTo>
                  <a:lnTo>
                    <a:pt x="489966" y="151510"/>
                  </a:lnTo>
                  <a:lnTo>
                    <a:pt x="417554" y="150689"/>
                  </a:lnTo>
                  <a:lnTo>
                    <a:pt x="348444" y="148304"/>
                  </a:lnTo>
                  <a:lnTo>
                    <a:pt x="283393" y="144472"/>
                  </a:lnTo>
                  <a:lnTo>
                    <a:pt x="223158" y="139311"/>
                  </a:lnTo>
                  <a:lnTo>
                    <a:pt x="168497" y="132938"/>
                  </a:lnTo>
                  <a:lnTo>
                    <a:pt x="120168" y="125470"/>
                  </a:lnTo>
                  <a:lnTo>
                    <a:pt x="78927" y="117025"/>
                  </a:lnTo>
                  <a:lnTo>
                    <a:pt x="20741" y="97672"/>
                  </a:lnTo>
                  <a:lnTo>
                    <a:pt x="0" y="75818"/>
                  </a:lnTo>
                  <a:lnTo>
                    <a:pt x="5311" y="64606"/>
                  </a:lnTo>
                  <a:lnTo>
                    <a:pt x="45532" y="43839"/>
                  </a:lnTo>
                  <a:lnTo>
                    <a:pt x="120168" y="26061"/>
                  </a:lnTo>
                  <a:lnTo>
                    <a:pt x="168497" y="18584"/>
                  </a:lnTo>
                  <a:lnTo>
                    <a:pt x="223158" y="12205"/>
                  </a:lnTo>
                  <a:lnTo>
                    <a:pt x="283393" y="7040"/>
                  </a:lnTo>
                  <a:lnTo>
                    <a:pt x="348444" y="3207"/>
                  </a:lnTo>
                  <a:lnTo>
                    <a:pt x="417554" y="821"/>
                  </a:lnTo>
                  <a:lnTo>
                    <a:pt x="489966" y="0"/>
                  </a:lnTo>
                  <a:lnTo>
                    <a:pt x="562377" y="821"/>
                  </a:lnTo>
                  <a:lnTo>
                    <a:pt x="631487" y="3207"/>
                  </a:lnTo>
                  <a:lnTo>
                    <a:pt x="696538" y="7040"/>
                  </a:lnTo>
                  <a:lnTo>
                    <a:pt x="756773" y="12205"/>
                  </a:lnTo>
                  <a:lnTo>
                    <a:pt x="811434" y="18584"/>
                  </a:lnTo>
                  <a:lnTo>
                    <a:pt x="859763" y="26061"/>
                  </a:lnTo>
                  <a:lnTo>
                    <a:pt x="901004" y="34518"/>
                  </a:lnTo>
                  <a:lnTo>
                    <a:pt x="959190" y="53908"/>
                  </a:lnTo>
                  <a:lnTo>
                    <a:pt x="979931" y="75818"/>
                  </a:lnTo>
                  <a:lnTo>
                    <a:pt x="979931" y="696848"/>
                  </a:lnTo>
                  <a:lnTo>
                    <a:pt x="934399" y="728828"/>
                  </a:lnTo>
                  <a:lnTo>
                    <a:pt x="859763" y="746606"/>
                  </a:lnTo>
                  <a:lnTo>
                    <a:pt x="811434" y="754083"/>
                  </a:lnTo>
                  <a:lnTo>
                    <a:pt x="756773" y="760462"/>
                  </a:lnTo>
                  <a:lnTo>
                    <a:pt x="696538" y="765627"/>
                  </a:lnTo>
                  <a:lnTo>
                    <a:pt x="631487" y="769460"/>
                  </a:lnTo>
                  <a:lnTo>
                    <a:pt x="562377" y="771846"/>
                  </a:lnTo>
                  <a:lnTo>
                    <a:pt x="489966" y="772667"/>
                  </a:lnTo>
                  <a:lnTo>
                    <a:pt x="417554" y="771846"/>
                  </a:lnTo>
                  <a:lnTo>
                    <a:pt x="348444" y="769460"/>
                  </a:lnTo>
                  <a:lnTo>
                    <a:pt x="283393" y="765627"/>
                  </a:lnTo>
                  <a:lnTo>
                    <a:pt x="223158" y="760462"/>
                  </a:lnTo>
                  <a:lnTo>
                    <a:pt x="168497" y="754083"/>
                  </a:lnTo>
                  <a:lnTo>
                    <a:pt x="120168" y="746606"/>
                  </a:lnTo>
                  <a:lnTo>
                    <a:pt x="78927" y="738149"/>
                  </a:lnTo>
                  <a:lnTo>
                    <a:pt x="20741" y="718759"/>
                  </a:lnTo>
                  <a:lnTo>
                    <a:pt x="0" y="696848"/>
                  </a:lnTo>
                  <a:lnTo>
                    <a:pt x="0" y="7581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/>
          <p:nvPr/>
        </p:nvSpPr>
        <p:spPr>
          <a:xfrm>
            <a:off x="9483090" y="3713226"/>
            <a:ext cx="980440" cy="350520"/>
          </a:xfrm>
          <a:custGeom>
            <a:avLst/>
            <a:gdLst/>
            <a:ahLst/>
            <a:cxnLst/>
            <a:rect l="l" t="t" r="r" b="b"/>
            <a:pathLst>
              <a:path w="980440" h="350520">
                <a:moveTo>
                  <a:pt x="979931" y="76581"/>
                </a:moveTo>
                <a:lnTo>
                  <a:pt x="934399" y="108785"/>
                </a:lnTo>
                <a:lnTo>
                  <a:pt x="859763" y="126715"/>
                </a:lnTo>
                <a:lnTo>
                  <a:pt x="811434" y="134261"/>
                </a:lnTo>
                <a:lnTo>
                  <a:pt x="756773" y="140702"/>
                </a:lnTo>
                <a:lnTo>
                  <a:pt x="696538" y="145919"/>
                </a:lnTo>
                <a:lnTo>
                  <a:pt x="631487" y="149793"/>
                </a:lnTo>
                <a:lnTo>
                  <a:pt x="562377" y="152204"/>
                </a:lnTo>
                <a:lnTo>
                  <a:pt x="489965" y="153035"/>
                </a:lnTo>
                <a:lnTo>
                  <a:pt x="417554" y="152204"/>
                </a:lnTo>
                <a:lnTo>
                  <a:pt x="348444" y="149793"/>
                </a:lnTo>
                <a:lnTo>
                  <a:pt x="283393" y="145919"/>
                </a:lnTo>
                <a:lnTo>
                  <a:pt x="223158" y="140702"/>
                </a:lnTo>
                <a:lnTo>
                  <a:pt x="168497" y="134261"/>
                </a:lnTo>
                <a:lnTo>
                  <a:pt x="120168" y="126715"/>
                </a:lnTo>
                <a:lnTo>
                  <a:pt x="78927" y="118184"/>
                </a:lnTo>
                <a:lnTo>
                  <a:pt x="20741" y="98639"/>
                </a:lnTo>
                <a:lnTo>
                  <a:pt x="0" y="76581"/>
                </a:lnTo>
                <a:lnTo>
                  <a:pt x="5311" y="65265"/>
                </a:lnTo>
                <a:lnTo>
                  <a:pt x="45532" y="44297"/>
                </a:lnTo>
                <a:lnTo>
                  <a:pt x="120168" y="26339"/>
                </a:lnTo>
                <a:lnTo>
                  <a:pt x="168497" y="18785"/>
                </a:lnTo>
                <a:lnTo>
                  <a:pt x="223158" y="12338"/>
                </a:lnTo>
                <a:lnTo>
                  <a:pt x="283393" y="7118"/>
                </a:lnTo>
                <a:lnTo>
                  <a:pt x="348444" y="3242"/>
                </a:lnTo>
                <a:lnTo>
                  <a:pt x="417554" y="830"/>
                </a:lnTo>
                <a:lnTo>
                  <a:pt x="489965" y="0"/>
                </a:lnTo>
                <a:lnTo>
                  <a:pt x="562377" y="830"/>
                </a:lnTo>
                <a:lnTo>
                  <a:pt x="631487" y="3242"/>
                </a:lnTo>
                <a:lnTo>
                  <a:pt x="696538" y="7118"/>
                </a:lnTo>
                <a:lnTo>
                  <a:pt x="756773" y="12338"/>
                </a:lnTo>
                <a:lnTo>
                  <a:pt x="811434" y="18785"/>
                </a:lnTo>
                <a:lnTo>
                  <a:pt x="859763" y="26339"/>
                </a:lnTo>
                <a:lnTo>
                  <a:pt x="901004" y="34883"/>
                </a:lnTo>
                <a:lnTo>
                  <a:pt x="959190" y="54464"/>
                </a:lnTo>
                <a:lnTo>
                  <a:pt x="979931" y="76581"/>
                </a:lnTo>
                <a:lnTo>
                  <a:pt x="979931" y="273938"/>
                </a:lnTo>
                <a:lnTo>
                  <a:pt x="934399" y="306222"/>
                </a:lnTo>
                <a:lnTo>
                  <a:pt x="859763" y="324180"/>
                </a:lnTo>
                <a:lnTo>
                  <a:pt x="811434" y="331734"/>
                </a:lnTo>
                <a:lnTo>
                  <a:pt x="756773" y="338181"/>
                </a:lnTo>
                <a:lnTo>
                  <a:pt x="696538" y="343401"/>
                </a:lnTo>
                <a:lnTo>
                  <a:pt x="631487" y="347277"/>
                </a:lnTo>
                <a:lnTo>
                  <a:pt x="562377" y="349689"/>
                </a:lnTo>
                <a:lnTo>
                  <a:pt x="489965" y="350519"/>
                </a:lnTo>
                <a:lnTo>
                  <a:pt x="417554" y="349689"/>
                </a:lnTo>
                <a:lnTo>
                  <a:pt x="348444" y="347277"/>
                </a:lnTo>
                <a:lnTo>
                  <a:pt x="283393" y="343401"/>
                </a:lnTo>
                <a:lnTo>
                  <a:pt x="223158" y="338181"/>
                </a:lnTo>
                <a:lnTo>
                  <a:pt x="168497" y="331734"/>
                </a:lnTo>
                <a:lnTo>
                  <a:pt x="120168" y="324180"/>
                </a:lnTo>
                <a:lnTo>
                  <a:pt x="78927" y="315636"/>
                </a:lnTo>
                <a:lnTo>
                  <a:pt x="20741" y="296055"/>
                </a:lnTo>
                <a:lnTo>
                  <a:pt x="0" y="273938"/>
                </a:lnTo>
                <a:lnTo>
                  <a:pt x="0" y="76581"/>
                </a:lnTo>
              </a:path>
            </a:pathLst>
          </a:custGeom>
          <a:ln w="19812">
            <a:solidFill>
              <a:srgbClr val="891C2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9524492" y="4138040"/>
            <a:ext cx="83693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52575F"/>
                </a:solidFill>
                <a:latin typeface="Tahoma"/>
                <a:cs typeface="Tahoma"/>
              </a:rPr>
              <a:t>Extracellular</a:t>
            </a:r>
            <a:r>
              <a:rPr dirty="0" sz="800" spc="-105">
                <a:solidFill>
                  <a:srgbClr val="52575F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2575F"/>
                </a:solidFill>
                <a:latin typeface="Tahoma"/>
                <a:cs typeface="Tahoma"/>
              </a:rPr>
              <a:t>water (ECW)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241857" y="4267009"/>
            <a:ext cx="988060" cy="925830"/>
            <a:chOff x="7241857" y="4267009"/>
            <a:chExt cx="988060" cy="925830"/>
          </a:xfrm>
        </p:grpSpPr>
        <p:sp>
          <p:nvSpPr>
            <p:cNvPr id="64" name="object 64"/>
            <p:cNvSpPr/>
            <p:nvPr/>
          </p:nvSpPr>
          <p:spPr>
            <a:xfrm>
              <a:off x="7246619" y="4271771"/>
              <a:ext cx="978535" cy="916305"/>
            </a:xfrm>
            <a:custGeom>
              <a:avLst/>
              <a:gdLst/>
              <a:ahLst/>
              <a:cxnLst/>
              <a:rect l="l" t="t" r="r" b="b"/>
              <a:pathLst>
                <a:path w="978534" h="916304">
                  <a:moveTo>
                    <a:pt x="489203" y="0"/>
                  </a:moveTo>
                  <a:lnTo>
                    <a:pt x="416895" y="1208"/>
                  </a:lnTo>
                  <a:lnTo>
                    <a:pt x="347887" y="4719"/>
                  </a:lnTo>
                  <a:lnTo>
                    <a:pt x="282935" y="10359"/>
                  </a:lnTo>
                  <a:lnTo>
                    <a:pt x="222793" y="17955"/>
                  </a:lnTo>
                  <a:lnTo>
                    <a:pt x="168219" y="27334"/>
                  </a:lnTo>
                  <a:lnTo>
                    <a:pt x="119967" y="38324"/>
                  </a:lnTo>
                  <a:lnTo>
                    <a:pt x="78794" y="50751"/>
                  </a:lnTo>
                  <a:lnTo>
                    <a:pt x="20706" y="79227"/>
                  </a:lnTo>
                  <a:lnTo>
                    <a:pt x="0" y="111378"/>
                  </a:lnTo>
                  <a:lnTo>
                    <a:pt x="0" y="804544"/>
                  </a:lnTo>
                  <a:lnTo>
                    <a:pt x="20706" y="836696"/>
                  </a:lnTo>
                  <a:lnTo>
                    <a:pt x="78794" y="865172"/>
                  </a:lnTo>
                  <a:lnTo>
                    <a:pt x="119967" y="877599"/>
                  </a:lnTo>
                  <a:lnTo>
                    <a:pt x="168219" y="888589"/>
                  </a:lnTo>
                  <a:lnTo>
                    <a:pt x="222793" y="897968"/>
                  </a:lnTo>
                  <a:lnTo>
                    <a:pt x="282935" y="905564"/>
                  </a:lnTo>
                  <a:lnTo>
                    <a:pt x="347887" y="911204"/>
                  </a:lnTo>
                  <a:lnTo>
                    <a:pt x="416895" y="914715"/>
                  </a:lnTo>
                  <a:lnTo>
                    <a:pt x="489203" y="915923"/>
                  </a:lnTo>
                  <a:lnTo>
                    <a:pt x="561512" y="914715"/>
                  </a:lnTo>
                  <a:lnTo>
                    <a:pt x="630520" y="911204"/>
                  </a:lnTo>
                  <a:lnTo>
                    <a:pt x="695472" y="905564"/>
                  </a:lnTo>
                  <a:lnTo>
                    <a:pt x="755614" y="897968"/>
                  </a:lnTo>
                  <a:lnTo>
                    <a:pt x="810188" y="888589"/>
                  </a:lnTo>
                  <a:lnTo>
                    <a:pt x="858440" y="877599"/>
                  </a:lnTo>
                  <a:lnTo>
                    <a:pt x="899613" y="865172"/>
                  </a:lnTo>
                  <a:lnTo>
                    <a:pt x="957701" y="836696"/>
                  </a:lnTo>
                  <a:lnTo>
                    <a:pt x="978407" y="804544"/>
                  </a:lnTo>
                  <a:lnTo>
                    <a:pt x="978407" y="111378"/>
                  </a:lnTo>
                  <a:lnTo>
                    <a:pt x="957701" y="79227"/>
                  </a:lnTo>
                  <a:lnTo>
                    <a:pt x="899613" y="50751"/>
                  </a:lnTo>
                  <a:lnTo>
                    <a:pt x="858440" y="38324"/>
                  </a:lnTo>
                  <a:lnTo>
                    <a:pt x="810188" y="27334"/>
                  </a:lnTo>
                  <a:lnTo>
                    <a:pt x="755614" y="17955"/>
                  </a:lnTo>
                  <a:lnTo>
                    <a:pt x="695472" y="10359"/>
                  </a:lnTo>
                  <a:lnTo>
                    <a:pt x="630520" y="4719"/>
                  </a:lnTo>
                  <a:lnTo>
                    <a:pt x="561512" y="1208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6699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246619" y="4271771"/>
              <a:ext cx="978535" cy="222885"/>
            </a:xfrm>
            <a:custGeom>
              <a:avLst/>
              <a:gdLst/>
              <a:ahLst/>
              <a:cxnLst/>
              <a:rect l="l" t="t" r="r" b="b"/>
              <a:pathLst>
                <a:path w="978534" h="222885">
                  <a:moveTo>
                    <a:pt x="489203" y="0"/>
                  </a:moveTo>
                  <a:lnTo>
                    <a:pt x="416924" y="1205"/>
                  </a:lnTo>
                  <a:lnTo>
                    <a:pt x="347934" y="4708"/>
                  </a:lnTo>
                  <a:lnTo>
                    <a:pt x="282989" y="10335"/>
                  </a:lnTo>
                  <a:lnTo>
                    <a:pt x="222849" y="17917"/>
                  </a:lnTo>
                  <a:lnTo>
                    <a:pt x="168270" y="27279"/>
                  </a:lnTo>
                  <a:lnTo>
                    <a:pt x="120010" y="38252"/>
                  </a:lnTo>
                  <a:lnTo>
                    <a:pt x="78826" y="50662"/>
                  </a:lnTo>
                  <a:lnTo>
                    <a:pt x="20716" y="79111"/>
                  </a:lnTo>
                  <a:lnTo>
                    <a:pt x="0" y="111251"/>
                  </a:lnTo>
                  <a:lnTo>
                    <a:pt x="5305" y="127697"/>
                  </a:lnTo>
                  <a:lnTo>
                    <a:pt x="45476" y="158163"/>
                  </a:lnTo>
                  <a:lnTo>
                    <a:pt x="120010" y="184251"/>
                  </a:lnTo>
                  <a:lnTo>
                    <a:pt x="168270" y="195224"/>
                  </a:lnTo>
                  <a:lnTo>
                    <a:pt x="222849" y="204586"/>
                  </a:lnTo>
                  <a:lnTo>
                    <a:pt x="282989" y="212168"/>
                  </a:lnTo>
                  <a:lnTo>
                    <a:pt x="347934" y="217795"/>
                  </a:lnTo>
                  <a:lnTo>
                    <a:pt x="416924" y="221298"/>
                  </a:lnTo>
                  <a:lnTo>
                    <a:pt x="489203" y="222503"/>
                  </a:lnTo>
                  <a:lnTo>
                    <a:pt x="561483" y="221298"/>
                  </a:lnTo>
                  <a:lnTo>
                    <a:pt x="630473" y="217795"/>
                  </a:lnTo>
                  <a:lnTo>
                    <a:pt x="695418" y="212168"/>
                  </a:lnTo>
                  <a:lnTo>
                    <a:pt x="755558" y="204586"/>
                  </a:lnTo>
                  <a:lnTo>
                    <a:pt x="810137" y="195224"/>
                  </a:lnTo>
                  <a:lnTo>
                    <a:pt x="858397" y="184251"/>
                  </a:lnTo>
                  <a:lnTo>
                    <a:pt x="899581" y="171841"/>
                  </a:lnTo>
                  <a:lnTo>
                    <a:pt x="957691" y="143392"/>
                  </a:lnTo>
                  <a:lnTo>
                    <a:pt x="978407" y="111251"/>
                  </a:lnTo>
                  <a:lnTo>
                    <a:pt x="973102" y="94806"/>
                  </a:lnTo>
                  <a:lnTo>
                    <a:pt x="932931" y="64340"/>
                  </a:lnTo>
                  <a:lnTo>
                    <a:pt x="858397" y="38252"/>
                  </a:lnTo>
                  <a:lnTo>
                    <a:pt x="810137" y="27279"/>
                  </a:lnTo>
                  <a:lnTo>
                    <a:pt x="755558" y="17917"/>
                  </a:lnTo>
                  <a:lnTo>
                    <a:pt x="695418" y="10335"/>
                  </a:lnTo>
                  <a:lnTo>
                    <a:pt x="630473" y="4708"/>
                  </a:lnTo>
                  <a:lnTo>
                    <a:pt x="561483" y="1205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246619" y="4271771"/>
              <a:ext cx="978535" cy="916305"/>
            </a:xfrm>
            <a:custGeom>
              <a:avLst/>
              <a:gdLst/>
              <a:ahLst/>
              <a:cxnLst/>
              <a:rect l="l" t="t" r="r" b="b"/>
              <a:pathLst>
                <a:path w="978534" h="916304">
                  <a:moveTo>
                    <a:pt x="978407" y="111378"/>
                  </a:moveTo>
                  <a:lnTo>
                    <a:pt x="957701" y="143519"/>
                  </a:lnTo>
                  <a:lnTo>
                    <a:pt x="899613" y="171968"/>
                  </a:lnTo>
                  <a:lnTo>
                    <a:pt x="858440" y="184378"/>
                  </a:lnTo>
                  <a:lnTo>
                    <a:pt x="810188" y="195351"/>
                  </a:lnTo>
                  <a:lnTo>
                    <a:pt x="755614" y="204713"/>
                  </a:lnTo>
                  <a:lnTo>
                    <a:pt x="695472" y="212295"/>
                  </a:lnTo>
                  <a:lnTo>
                    <a:pt x="630520" y="217922"/>
                  </a:lnTo>
                  <a:lnTo>
                    <a:pt x="561512" y="221425"/>
                  </a:lnTo>
                  <a:lnTo>
                    <a:pt x="489203" y="222630"/>
                  </a:lnTo>
                  <a:lnTo>
                    <a:pt x="416895" y="221425"/>
                  </a:lnTo>
                  <a:lnTo>
                    <a:pt x="347887" y="217922"/>
                  </a:lnTo>
                  <a:lnTo>
                    <a:pt x="282935" y="212295"/>
                  </a:lnTo>
                  <a:lnTo>
                    <a:pt x="222793" y="204713"/>
                  </a:lnTo>
                  <a:lnTo>
                    <a:pt x="168219" y="195351"/>
                  </a:lnTo>
                  <a:lnTo>
                    <a:pt x="119967" y="184378"/>
                  </a:lnTo>
                  <a:lnTo>
                    <a:pt x="78794" y="171968"/>
                  </a:lnTo>
                  <a:lnTo>
                    <a:pt x="20706" y="143519"/>
                  </a:lnTo>
                  <a:lnTo>
                    <a:pt x="0" y="111378"/>
                  </a:lnTo>
                  <a:lnTo>
                    <a:pt x="5302" y="94930"/>
                  </a:lnTo>
                  <a:lnTo>
                    <a:pt x="45455" y="64443"/>
                  </a:lnTo>
                  <a:lnTo>
                    <a:pt x="119967" y="38324"/>
                  </a:lnTo>
                  <a:lnTo>
                    <a:pt x="168219" y="27334"/>
                  </a:lnTo>
                  <a:lnTo>
                    <a:pt x="222793" y="17955"/>
                  </a:lnTo>
                  <a:lnTo>
                    <a:pt x="282935" y="10359"/>
                  </a:lnTo>
                  <a:lnTo>
                    <a:pt x="347887" y="4719"/>
                  </a:lnTo>
                  <a:lnTo>
                    <a:pt x="416895" y="1208"/>
                  </a:lnTo>
                  <a:lnTo>
                    <a:pt x="489203" y="0"/>
                  </a:lnTo>
                  <a:lnTo>
                    <a:pt x="561512" y="1208"/>
                  </a:lnTo>
                  <a:lnTo>
                    <a:pt x="630520" y="4719"/>
                  </a:lnTo>
                  <a:lnTo>
                    <a:pt x="695472" y="10359"/>
                  </a:lnTo>
                  <a:lnTo>
                    <a:pt x="755614" y="17955"/>
                  </a:lnTo>
                  <a:lnTo>
                    <a:pt x="810188" y="27334"/>
                  </a:lnTo>
                  <a:lnTo>
                    <a:pt x="858440" y="38324"/>
                  </a:lnTo>
                  <a:lnTo>
                    <a:pt x="899613" y="50751"/>
                  </a:lnTo>
                  <a:lnTo>
                    <a:pt x="957701" y="79227"/>
                  </a:lnTo>
                  <a:lnTo>
                    <a:pt x="978407" y="111378"/>
                  </a:lnTo>
                  <a:lnTo>
                    <a:pt x="978407" y="804544"/>
                  </a:lnTo>
                  <a:lnTo>
                    <a:pt x="957701" y="836696"/>
                  </a:lnTo>
                  <a:lnTo>
                    <a:pt x="899613" y="865172"/>
                  </a:lnTo>
                  <a:lnTo>
                    <a:pt x="858440" y="877599"/>
                  </a:lnTo>
                  <a:lnTo>
                    <a:pt x="810188" y="888589"/>
                  </a:lnTo>
                  <a:lnTo>
                    <a:pt x="755614" y="897968"/>
                  </a:lnTo>
                  <a:lnTo>
                    <a:pt x="695472" y="905564"/>
                  </a:lnTo>
                  <a:lnTo>
                    <a:pt x="630520" y="911204"/>
                  </a:lnTo>
                  <a:lnTo>
                    <a:pt x="561512" y="914715"/>
                  </a:lnTo>
                  <a:lnTo>
                    <a:pt x="489203" y="915923"/>
                  </a:lnTo>
                  <a:lnTo>
                    <a:pt x="416895" y="914715"/>
                  </a:lnTo>
                  <a:lnTo>
                    <a:pt x="347887" y="911204"/>
                  </a:lnTo>
                  <a:lnTo>
                    <a:pt x="282935" y="905564"/>
                  </a:lnTo>
                  <a:lnTo>
                    <a:pt x="222793" y="897968"/>
                  </a:lnTo>
                  <a:lnTo>
                    <a:pt x="168219" y="888589"/>
                  </a:lnTo>
                  <a:lnTo>
                    <a:pt x="119967" y="877599"/>
                  </a:lnTo>
                  <a:lnTo>
                    <a:pt x="78794" y="865172"/>
                  </a:lnTo>
                  <a:lnTo>
                    <a:pt x="20706" y="836696"/>
                  </a:lnTo>
                  <a:lnTo>
                    <a:pt x="0" y="804544"/>
                  </a:lnTo>
                  <a:lnTo>
                    <a:pt x="0" y="111378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/>
          <p:cNvGrpSpPr/>
          <p:nvPr/>
        </p:nvGrpSpPr>
        <p:grpSpPr>
          <a:xfrm>
            <a:off x="7242047" y="3883152"/>
            <a:ext cx="988060" cy="623570"/>
            <a:chOff x="7242047" y="3883152"/>
            <a:chExt cx="988060" cy="623570"/>
          </a:xfrm>
        </p:grpSpPr>
        <p:sp>
          <p:nvSpPr>
            <p:cNvPr id="70" name="object 70"/>
            <p:cNvSpPr/>
            <p:nvPr/>
          </p:nvSpPr>
          <p:spPr>
            <a:xfrm>
              <a:off x="7246619" y="3887724"/>
              <a:ext cx="978535" cy="614680"/>
            </a:xfrm>
            <a:custGeom>
              <a:avLst/>
              <a:gdLst/>
              <a:ahLst/>
              <a:cxnLst/>
              <a:rect l="l" t="t" r="r" b="b"/>
              <a:pathLst>
                <a:path w="978534" h="614679">
                  <a:moveTo>
                    <a:pt x="489203" y="0"/>
                  </a:moveTo>
                  <a:lnTo>
                    <a:pt x="416895" y="1208"/>
                  </a:lnTo>
                  <a:lnTo>
                    <a:pt x="347887" y="4720"/>
                  </a:lnTo>
                  <a:lnTo>
                    <a:pt x="282935" y="10361"/>
                  </a:lnTo>
                  <a:lnTo>
                    <a:pt x="222793" y="17961"/>
                  </a:lnTo>
                  <a:lnTo>
                    <a:pt x="168219" y="27346"/>
                  </a:lnTo>
                  <a:lnTo>
                    <a:pt x="119967" y="38345"/>
                  </a:lnTo>
                  <a:lnTo>
                    <a:pt x="78794" y="50784"/>
                  </a:lnTo>
                  <a:lnTo>
                    <a:pt x="20706" y="79297"/>
                  </a:lnTo>
                  <a:lnTo>
                    <a:pt x="0" y="111506"/>
                  </a:lnTo>
                  <a:lnTo>
                    <a:pt x="0" y="502665"/>
                  </a:lnTo>
                  <a:lnTo>
                    <a:pt x="20706" y="534874"/>
                  </a:lnTo>
                  <a:lnTo>
                    <a:pt x="78794" y="563387"/>
                  </a:lnTo>
                  <a:lnTo>
                    <a:pt x="119967" y="575826"/>
                  </a:lnTo>
                  <a:lnTo>
                    <a:pt x="168219" y="586825"/>
                  </a:lnTo>
                  <a:lnTo>
                    <a:pt x="222793" y="596210"/>
                  </a:lnTo>
                  <a:lnTo>
                    <a:pt x="282935" y="603810"/>
                  </a:lnTo>
                  <a:lnTo>
                    <a:pt x="347887" y="609451"/>
                  </a:lnTo>
                  <a:lnTo>
                    <a:pt x="416895" y="612963"/>
                  </a:lnTo>
                  <a:lnTo>
                    <a:pt x="489203" y="614171"/>
                  </a:lnTo>
                  <a:lnTo>
                    <a:pt x="561512" y="612963"/>
                  </a:lnTo>
                  <a:lnTo>
                    <a:pt x="630520" y="609451"/>
                  </a:lnTo>
                  <a:lnTo>
                    <a:pt x="695472" y="603810"/>
                  </a:lnTo>
                  <a:lnTo>
                    <a:pt x="755614" y="596210"/>
                  </a:lnTo>
                  <a:lnTo>
                    <a:pt x="810188" y="586825"/>
                  </a:lnTo>
                  <a:lnTo>
                    <a:pt x="858440" y="575826"/>
                  </a:lnTo>
                  <a:lnTo>
                    <a:pt x="899613" y="563387"/>
                  </a:lnTo>
                  <a:lnTo>
                    <a:pt x="957701" y="534874"/>
                  </a:lnTo>
                  <a:lnTo>
                    <a:pt x="978407" y="502665"/>
                  </a:lnTo>
                  <a:lnTo>
                    <a:pt x="978407" y="111506"/>
                  </a:lnTo>
                  <a:lnTo>
                    <a:pt x="957701" y="79297"/>
                  </a:lnTo>
                  <a:lnTo>
                    <a:pt x="899613" y="50784"/>
                  </a:lnTo>
                  <a:lnTo>
                    <a:pt x="858440" y="38345"/>
                  </a:lnTo>
                  <a:lnTo>
                    <a:pt x="810188" y="27346"/>
                  </a:lnTo>
                  <a:lnTo>
                    <a:pt x="755614" y="17961"/>
                  </a:lnTo>
                  <a:lnTo>
                    <a:pt x="695472" y="10361"/>
                  </a:lnTo>
                  <a:lnTo>
                    <a:pt x="630520" y="4720"/>
                  </a:lnTo>
                  <a:lnTo>
                    <a:pt x="561512" y="1208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C1E0FD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246619" y="3887724"/>
              <a:ext cx="978535" cy="222885"/>
            </a:xfrm>
            <a:custGeom>
              <a:avLst/>
              <a:gdLst/>
              <a:ahLst/>
              <a:cxnLst/>
              <a:rect l="l" t="t" r="r" b="b"/>
              <a:pathLst>
                <a:path w="978534" h="222885">
                  <a:moveTo>
                    <a:pt x="489203" y="0"/>
                  </a:moveTo>
                  <a:lnTo>
                    <a:pt x="416924" y="1205"/>
                  </a:lnTo>
                  <a:lnTo>
                    <a:pt x="347934" y="4708"/>
                  </a:lnTo>
                  <a:lnTo>
                    <a:pt x="282989" y="10335"/>
                  </a:lnTo>
                  <a:lnTo>
                    <a:pt x="222849" y="17917"/>
                  </a:lnTo>
                  <a:lnTo>
                    <a:pt x="168270" y="27279"/>
                  </a:lnTo>
                  <a:lnTo>
                    <a:pt x="120010" y="38252"/>
                  </a:lnTo>
                  <a:lnTo>
                    <a:pt x="78826" y="50662"/>
                  </a:lnTo>
                  <a:lnTo>
                    <a:pt x="20716" y="79111"/>
                  </a:lnTo>
                  <a:lnTo>
                    <a:pt x="0" y="111251"/>
                  </a:lnTo>
                  <a:lnTo>
                    <a:pt x="5305" y="127697"/>
                  </a:lnTo>
                  <a:lnTo>
                    <a:pt x="45476" y="158163"/>
                  </a:lnTo>
                  <a:lnTo>
                    <a:pt x="120010" y="184251"/>
                  </a:lnTo>
                  <a:lnTo>
                    <a:pt x="168270" y="195224"/>
                  </a:lnTo>
                  <a:lnTo>
                    <a:pt x="222849" y="204586"/>
                  </a:lnTo>
                  <a:lnTo>
                    <a:pt x="282989" y="212168"/>
                  </a:lnTo>
                  <a:lnTo>
                    <a:pt x="347934" y="217795"/>
                  </a:lnTo>
                  <a:lnTo>
                    <a:pt x="416924" y="221298"/>
                  </a:lnTo>
                  <a:lnTo>
                    <a:pt x="489203" y="222503"/>
                  </a:lnTo>
                  <a:lnTo>
                    <a:pt x="561483" y="221298"/>
                  </a:lnTo>
                  <a:lnTo>
                    <a:pt x="630473" y="217795"/>
                  </a:lnTo>
                  <a:lnTo>
                    <a:pt x="695418" y="212168"/>
                  </a:lnTo>
                  <a:lnTo>
                    <a:pt x="755558" y="204586"/>
                  </a:lnTo>
                  <a:lnTo>
                    <a:pt x="810137" y="195224"/>
                  </a:lnTo>
                  <a:lnTo>
                    <a:pt x="858397" y="184251"/>
                  </a:lnTo>
                  <a:lnTo>
                    <a:pt x="899581" y="171841"/>
                  </a:lnTo>
                  <a:lnTo>
                    <a:pt x="957691" y="143392"/>
                  </a:lnTo>
                  <a:lnTo>
                    <a:pt x="978407" y="111251"/>
                  </a:lnTo>
                  <a:lnTo>
                    <a:pt x="973102" y="94806"/>
                  </a:lnTo>
                  <a:lnTo>
                    <a:pt x="932931" y="64340"/>
                  </a:lnTo>
                  <a:lnTo>
                    <a:pt x="858397" y="38252"/>
                  </a:lnTo>
                  <a:lnTo>
                    <a:pt x="810137" y="27279"/>
                  </a:lnTo>
                  <a:lnTo>
                    <a:pt x="755558" y="17917"/>
                  </a:lnTo>
                  <a:lnTo>
                    <a:pt x="695418" y="10335"/>
                  </a:lnTo>
                  <a:lnTo>
                    <a:pt x="630473" y="4708"/>
                  </a:lnTo>
                  <a:lnTo>
                    <a:pt x="561483" y="1205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246619" y="3887724"/>
              <a:ext cx="978535" cy="614680"/>
            </a:xfrm>
            <a:custGeom>
              <a:avLst/>
              <a:gdLst/>
              <a:ahLst/>
              <a:cxnLst/>
              <a:rect l="l" t="t" r="r" b="b"/>
              <a:pathLst>
                <a:path w="978534" h="614679">
                  <a:moveTo>
                    <a:pt x="978407" y="111506"/>
                  </a:moveTo>
                  <a:lnTo>
                    <a:pt x="957701" y="143714"/>
                  </a:lnTo>
                  <a:lnTo>
                    <a:pt x="899613" y="172227"/>
                  </a:lnTo>
                  <a:lnTo>
                    <a:pt x="858440" y="184666"/>
                  </a:lnTo>
                  <a:lnTo>
                    <a:pt x="810188" y="195665"/>
                  </a:lnTo>
                  <a:lnTo>
                    <a:pt x="755614" y="205050"/>
                  </a:lnTo>
                  <a:lnTo>
                    <a:pt x="695472" y="212650"/>
                  </a:lnTo>
                  <a:lnTo>
                    <a:pt x="630520" y="218291"/>
                  </a:lnTo>
                  <a:lnTo>
                    <a:pt x="561512" y="221803"/>
                  </a:lnTo>
                  <a:lnTo>
                    <a:pt x="489203" y="223012"/>
                  </a:lnTo>
                  <a:lnTo>
                    <a:pt x="416895" y="221803"/>
                  </a:lnTo>
                  <a:lnTo>
                    <a:pt x="347887" y="218291"/>
                  </a:lnTo>
                  <a:lnTo>
                    <a:pt x="282935" y="212650"/>
                  </a:lnTo>
                  <a:lnTo>
                    <a:pt x="222793" y="205050"/>
                  </a:lnTo>
                  <a:lnTo>
                    <a:pt x="168219" y="195665"/>
                  </a:lnTo>
                  <a:lnTo>
                    <a:pt x="119967" y="184666"/>
                  </a:lnTo>
                  <a:lnTo>
                    <a:pt x="78794" y="172227"/>
                  </a:lnTo>
                  <a:lnTo>
                    <a:pt x="20706" y="143714"/>
                  </a:lnTo>
                  <a:lnTo>
                    <a:pt x="0" y="111506"/>
                  </a:lnTo>
                  <a:lnTo>
                    <a:pt x="5302" y="95025"/>
                  </a:lnTo>
                  <a:lnTo>
                    <a:pt x="45455" y="64492"/>
                  </a:lnTo>
                  <a:lnTo>
                    <a:pt x="119967" y="38345"/>
                  </a:lnTo>
                  <a:lnTo>
                    <a:pt x="168219" y="27346"/>
                  </a:lnTo>
                  <a:lnTo>
                    <a:pt x="222793" y="17961"/>
                  </a:lnTo>
                  <a:lnTo>
                    <a:pt x="282935" y="10361"/>
                  </a:lnTo>
                  <a:lnTo>
                    <a:pt x="347887" y="4720"/>
                  </a:lnTo>
                  <a:lnTo>
                    <a:pt x="416895" y="1208"/>
                  </a:lnTo>
                  <a:lnTo>
                    <a:pt x="489203" y="0"/>
                  </a:lnTo>
                  <a:lnTo>
                    <a:pt x="561512" y="1208"/>
                  </a:lnTo>
                  <a:lnTo>
                    <a:pt x="630520" y="4720"/>
                  </a:lnTo>
                  <a:lnTo>
                    <a:pt x="695472" y="10361"/>
                  </a:lnTo>
                  <a:lnTo>
                    <a:pt x="755614" y="17961"/>
                  </a:lnTo>
                  <a:lnTo>
                    <a:pt x="810188" y="27346"/>
                  </a:lnTo>
                  <a:lnTo>
                    <a:pt x="858440" y="38345"/>
                  </a:lnTo>
                  <a:lnTo>
                    <a:pt x="899613" y="50784"/>
                  </a:lnTo>
                  <a:lnTo>
                    <a:pt x="957701" y="79297"/>
                  </a:lnTo>
                  <a:lnTo>
                    <a:pt x="978407" y="111506"/>
                  </a:lnTo>
                  <a:lnTo>
                    <a:pt x="978407" y="502665"/>
                  </a:lnTo>
                  <a:lnTo>
                    <a:pt x="957701" y="534874"/>
                  </a:lnTo>
                  <a:lnTo>
                    <a:pt x="899613" y="563387"/>
                  </a:lnTo>
                  <a:lnTo>
                    <a:pt x="858440" y="575826"/>
                  </a:lnTo>
                  <a:lnTo>
                    <a:pt x="810188" y="586825"/>
                  </a:lnTo>
                  <a:lnTo>
                    <a:pt x="755614" y="596210"/>
                  </a:lnTo>
                  <a:lnTo>
                    <a:pt x="695472" y="603810"/>
                  </a:lnTo>
                  <a:lnTo>
                    <a:pt x="630520" y="609451"/>
                  </a:lnTo>
                  <a:lnTo>
                    <a:pt x="561512" y="612963"/>
                  </a:lnTo>
                  <a:lnTo>
                    <a:pt x="489203" y="614171"/>
                  </a:lnTo>
                  <a:lnTo>
                    <a:pt x="416895" y="612963"/>
                  </a:lnTo>
                  <a:lnTo>
                    <a:pt x="347887" y="609451"/>
                  </a:lnTo>
                  <a:lnTo>
                    <a:pt x="282935" y="603810"/>
                  </a:lnTo>
                  <a:lnTo>
                    <a:pt x="222793" y="596210"/>
                  </a:lnTo>
                  <a:lnTo>
                    <a:pt x="168219" y="586825"/>
                  </a:lnTo>
                  <a:lnTo>
                    <a:pt x="119967" y="575826"/>
                  </a:lnTo>
                  <a:lnTo>
                    <a:pt x="78794" y="563387"/>
                  </a:lnTo>
                  <a:lnTo>
                    <a:pt x="20706" y="534874"/>
                  </a:lnTo>
                  <a:lnTo>
                    <a:pt x="0" y="502665"/>
                  </a:lnTo>
                  <a:lnTo>
                    <a:pt x="0" y="111506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9568688" y="3865879"/>
            <a:ext cx="81406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9F112C"/>
                </a:solidFill>
                <a:latin typeface="Tahoma"/>
                <a:cs typeface="Tahoma"/>
              </a:rPr>
              <a:t>Fluid</a:t>
            </a:r>
            <a:r>
              <a:rPr dirty="0" sz="1000" spc="-55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9F112C"/>
                </a:solidFill>
                <a:latin typeface="Tahoma"/>
                <a:cs typeface="Tahoma"/>
              </a:rPr>
              <a:t>overload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693407" y="3982211"/>
            <a:ext cx="396240" cy="1353820"/>
          </a:xfrm>
          <a:custGeom>
            <a:avLst/>
            <a:gdLst/>
            <a:ahLst/>
            <a:cxnLst/>
            <a:rect l="l" t="t" r="r" b="b"/>
            <a:pathLst>
              <a:path w="396240" h="1353820">
                <a:moveTo>
                  <a:pt x="396240" y="0"/>
                </a:moveTo>
                <a:lnTo>
                  <a:pt x="0" y="0"/>
                </a:lnTo>
                <a:lnTo>
                  <a:pt x="0" y="1353312"/>
                </a:lnTo>
                <a:lnTo>
                  <a:pt x="396240" y="1353312"/>
                </a:lnTo>
                <a:lnTo>
                  <a:pt x="396240" y="0"/>
                </a:lnTo>
                <a:close/>
              </a:path>
            </a:pathLst>
          </a:custGeom>
          <a:solidFill>
            <a:srgbClr val="DCDD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6727500" y="4060986"/>
            <a:ext cx="147955" cy="124333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65" b="1">
                <a:latin typeface="Tahoma"/>
                <a:cs typeface="Tahoma"/>
              </a:rPr>
              <a:t>Eu-</a:t>
            </a:r>
            <a:r>
              <a:rPr dirty="0" sz="800" spc="-50" b="1">
                <a:latin typeface="Tahoma"/>
                <a:cs typeface="Tahoma"/>
              </a:rPr>
              <a:t>hydrated</a:t>
            </a:r>
            <a:r>
              <a:rPr dirty="0" sz="800" spc="-90" b="1">
                <a:latin typeface="Tahoma"/>
                <a:cs typeface="Tahoma"/>
              </a:rPr>
              <a:t> </a:t>
            </a:r>
            <a:r>
              <a:rPr dirty="0" sz="800" spc="-40" b="1">
                <a:latin typeface="Tahoma"/>
                <a:cs typeface="Tahoma"/>
              </a:rPr>
              <a:t>Fat</a:t>
            </a:r>
            <a:r>
              <a:rPr dirty="0" sz="800" spc="-30" b="1">
                <a:latin typeface="Tahoma"/>
                <a:cs typeface="Tahoma"/>
              </a:rPr>
              <a:t> </a:t>
            </a:r>
            <a:r>
              <a:rPr dirty="0" sz="800" spc="-40" b="1">
                <a:latin typeface="Tahoma"/>
                <a:cs typeface="Tahoma"/>
              </a:rPr>
              <a:t>Free</a:t>
            </a:r>
            <a:r>
              <a:rPr dirty="0" sz="800" spc="-60" b="1">
                <a:latin typeface="Tahoma"/>
                <a:cs typeface="Tahoma"/>
              </a:rPr>
              <a:t> </a:t>
            </a:r>
            <a:r>
              <a:rPr dirty="0" sz="800" spc="-20" b="1">
                <a:latin typeface="Tahoma"/>
                <a:cs typeface="Tahoma"/>
              </a:rPr>
              <a:t>Mass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303134" y="4139310"/>
            <a:ext cx="83693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52575F"/>
                </a:solidFill>
                <a:latin typeface="Tahoma"/>
                <a:cs typeface="Tahoma"/>
              </a:rPr>
              <a:t>Extracellular</a:t>
            </a:r>
            <a:r>
              <a:rPr dirty="0" sz="800" spc="-105">
                <a:solidFill>
                  <a:srgbClr val="52575F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2575F"/>
                </a:solidFill>
                <a:latin typeface="Tahoma"/>
                <a:cs typeface="Tahoma"/>
              </a:rPr>
              <a:t>water (ECW)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669651" y="4195064"/>
            <a:ext cx="20383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35" b="1">
                <a:solidFill>
                  <a:srgbClr val="871A20"/>
                </a:solidFill>
                <a:latin typeface="Tahoma"/>
                <a:cs typeface="Tahoma"/>
              </a:rPr>
              <a:t>397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155" b="1">
                <a:solidFill>
                  <a:srgbClr val="871A20"/>
                </a:solidFill>
                <a:latin typeface="Tahoma"/>
                <a:cs typeface="Tahoma"/>
              </a:rPr>
              <a:t>____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297293" y="4568444"/>
            <a:ext cx="8750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5" b="1">
                <a:solidFill>
                  <a:srgbClr val="52575F"/>
                </a:solidFill>
                <a:latin typeface="Tahoma"/>
                <a:cs typeface="Tahoma"/>
              </a:rPr>
              <a:t>Intracellular</a:t>
            </a:r>
            <a:r>
              <a:rPr dirty="0" sz="800" spc="-20" b="1">
                <a:solidFill>
                  <a:srgbClr val="52575F"/>
                </a:solidFill>
                <a:latin typeface="Tahoma"/>
                <a:cs typeface="Tahoma"/>
              </a:rPr>
              <a:t> </a:t>
            </a:r>
            <a:r>
              <a:rPr dirty="0" sz="800" spc="-35" b="1">
                <a:solidFill>
                  <a:srgbClr val="52575F"/>
                </a:solidFill>
                <a:latin typeface="Tahoma"/>
                <a:cs typeface="Tahoma"/>
              </a:rPr>
              <a:t>water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535794" y="4580382"/>
            <a:ext cx="8750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5" b="1">
                <a:solidFill>
                  <a:srgbClr val="52575F"/>
                </a:solidFill>
                <a:latin typeface="Tahoma"/>
                <a:cs typeface="Tahoma"/>
              </a:rPr>
              <a:t>Intracellular</a:t>
            </a:r>
            <a:r>
              <a:rPr dirty="0" sz="800" spc="-20" b="1">
                <a:solidFill>
                  <a:srgbClr val="52575F"/>
                </a:solidFill>
                <a:latin typeface="Tahoma"/>
                <a:cs typeface="Tahoma"/>
              </a:rPr>
              <a:t> </a:t>
            </a:r>
            <a:r>
              <a:rPr dirty="0" sz="800" spc="-35" b="1">
                <a:solidFill>
                  <a:srgbClr val="52575F"/>
                </a:solidFill>
                <a:latin typeface="Tahoma"/>
                <a:cs typeface="Tahoma"/>
              </a:rPr>
              <a:t>water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669651" y="4560823"/>
            <a:ext cx="20383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35" b="1">
                <a:solidFill>
                  <a:srgbClr val="871A20"/>
                </a:solidFill>
                <a:latin typeface="Tahoma"/>
                <a:cs typeface="Tahoma"/>
              </a:rPr>
              <a:t>603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297293" y="4854955"/>
            <a:ext cx="2940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 b="1">
                <a:solidFill>
                  <a:srgbClr val="52575F"/>
                </a:solidFill>
                <a:latin typeface="Tahoma"/>
                <a:cs typeface="Tahoma"/>
              </a:rPr>
              <a:t>(ICW)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535794" y="4866894"/>
            <a:ext cx="2940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 b="1">
                <a:solidFill>
                  <a:srgbClr val="52575F"/>
                </a:solidFill>
                <a:latin typeface="Tahoma"/>
                <a:cs typeface="Tahoma"/>
              </a:rPr>
              <a:t>(ICW)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152209" y="5333248"/>
            <a:ext cx="711200" cy="269240"/>
            <a:chOff x="3152209" y="5333248"/>
            <a:chExt cx="711200" cy="26924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52209" y="5333248"/>
              <a:ext cx="264687" cy="2690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98164" y="5355335"/>
              <a:ext cx="265175" cy="22555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449320" y="5401309"/>
              <a:ext cx="147320" cy="134620"/>
            </a:xfrm>
            <a:custGeom>
              <a:avLst/>
              <a:gdLst/>
              <a:ahLst/>
              <a:cxnLst/>
              <a:rect l="l" t="t" r="r" b="b"/>
              <a:pathLst>
                <a:path w="147320" h="134620">
                  <a:moveTo>
                    <a:pt x="146812" y="58420"/>
                  </a:moveTo>
                  <a:lnTo>
                    <a:pt x="81534" y="58420"/>
                  </a:lnTo>
                  <a:lnTo>
                    <a:pt x="81534" y="0"/>
                  </a:lnTo>
                  <a:lnTo>
                    <a:pt x="65278" y="0"/>
                  </a:lnTo>
                  <a:lnTo>
                    <a:pt x="65278" y="58420"/>
                  </a:lnTo>
                  <a:lnTo>
                    <a:pt x="0" y="58420"/>
                  </a:lnTo>
                  <a:lnTo>
                    <a:pt x="0" y="74930"/>
                  </a:lnTo>
                  <a:lnTo>
                    <a:pt x="65278" y="74930"/>
                  </a:lnTo>
                  <a:lnTo>
                    <a:pt x="65278" y="134620"/>
                  </a:lnTo>
                  <a:lnTo>
                    <a:pt x="81534" y="134620"/>
                  </a:lnTo>
                  <a:lnTo>
                    <a:pt x="81534" y="74930"/>
                  </a:lnTo>
                  <a:lnTo>
                    <a:pt x="146812" y="74930"/>
                  </a:lnTo>
                  <a:lnTo>
                    <a:pt x="146812" y="58420"/>
                  </a:lnTo>
                  <a:close/>
                </a:path>
              </a:pathLst>
            </a:custGeom>
            <a:solidFill>
              <a:srgbClr val="B5093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26777" y="5330873"/>
            <a:ext cx="259026" cy="263311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4843779" y="5280659"/>
            <a:ext cx="574040" cy="373380"/>
            <a:chOff x="4843779" y="5280659"/>
            <a:chExt cx="574040" cy="373380"/>
          </a:xfrm>
        </p:grpSpPr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77383" y="5280659"/>
              <a:ext cx="440436" cy="37337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843780" y="5403849"/>
              <a:ext cx="147320" cy="135890"/>
            </a:xfrm>
            <a:custGeom>
              <a:avLst/>
              <a:gdLst/>
              <a:ahLst/>
              <a:cxnLst/>
              <a:rect l="l" t="t" r="r" b="b"/>
              <a:pathLst>
                <a:path w="147320" h="135889">
                  <a:moveTo>
                    <a:pt x="146812" y="59690"/>
                  </a:moveTo>
                  <a:lnTo>
                    <a:pt x="81661" y="59690"/>
                  </a:lnTo>
                  <a:lnTo>
                    <a:pt x="81661" y="0"/>
                  </a:lnTo>
                  <a:lnTo>
                    <a:pt x="65151" y="0"/>
                  </a:lnTo>
                  <a:lnTo>
                    <a:pt x="65151" y="59690"/>
                  </a:lnTo>
                  <a:lnTo>
                    <a:pt x="0" y="59690"/>
                  </a:lnTo>
                  <a:lnTo>
                    <a:pt x="0" y="76200"/>
                  </a:lnTo>
                  <a:lnTo>
                    <a:pt x="65151" y="76200"/>
                  </a:lnTo>
                  <a:lnTo>
                    <a:pt x="65151" y="135890"/>
                  </a:lnTo>
                  <a:lnTo>
                    <a:pt x="81661" y="135890"/>
                  </a:lnTo>
                  <a:lnTo>
                    <a:pt x="81661" y="76200"/>
                  </a:lnTo>
                  <a:lnTo>
                    <a:pt x="146812" y="76200"/>
                  </a:lnTo>
                  <a:lnTo>
                    <a:pt x="146812" y="59690"/>
                  </a:lnTo>
                  <a:close/>
                </a:path>
              </a:pathLst>
            </a:custGeom>
            <a:solidFill>
              <a:srgbClr val="B509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9535794" y="5236209"/>
            <a:ext cx="8159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52575F"/>
                </a:solidFill>
                <a:latin typeface="Tahoma"/>
                <a:cs typeface="Tahoma"/>
              </a:rPr>
              <a:t>Protein</a:t>
            </a:r>
            <a:r>
              <a:rPr dirty="0" sz="800" spc="-135">
                <a:solidFill>
                  <a:srgbClr val="52575F"/>
                </a:solidFill>
                <a:latin typeface="Tahoma"/>
                <a:cs typeface="Tahoma"/>
              </a:rPr>
              <a:t> </a:t>
            </a:r>
            <a:r>
              <a:rPr dirty="0" sz="800" spc="-130">
                <a:solidFill>
                  <a:srgbClr val="52575F"/>
                </a:solidFill>
                <a:latin typeface="Tahoma"/>
                <a:cs typeface="Tahoma"/>
              </a:rPr>
              <a:t>+</a:t>
            </a:r>
            <a:r>
              <a:rPr dirty="0" sz="800" spc="-105">
                <a:solidFill>
                  <a:srgbClr val="52575F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2575F"/>
                </a:solidFill>
                <a:latin typeface="Tahoma"/>
                <a:cs typeface="Tahoma"/>
              </a:rPr>
              <a:t>Minerals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34154" y="5846775"/>
            <a:ext cx="414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 b="1">
                <a:latin typeface="Tahoma"/>
                <a:cs typeface="Tahoma"/>
              </a:rPr>
              <a:t>0.390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58714" y="5837326"/>
            <a:ext cx="760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80">
                <a:latin typeface="Tahoma"/>
                <a:cs typeface="Tahoma"/>
              </a:rPr>
              <a:t>ECW</a:t>
            </a:r>
            <a:r>
              <a:rPr dirty="0" sz="1200" spc="-135">
                <a:latin typeface="Tahoma"/>
                <a:cs typeface="Tahoma"/>
              </a:rPr>
              <a:t> </a:t>
            </a:r>
            <a:r>
              <a:rPr dirty="0" sz="1200" spc="-10">
                <a:latin typeface="Tahoma"/>
                <a:cs typeface="Tahoma"/>
              </a:rPr>
              <a:t>Ratio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81" name="object 81" descr="Afbeelding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557259" y="5663184"/>
            <a:ext cx="2833116" cy="4663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4077" y="6476200"/>
            <a:ext cx="281813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02</a:t>
            </a:r>
            <a:r>
              <a:rPr dirty="0" sz="2400" spc="-3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Application</a:t>
            </a:r>
            <a:r>
              <a:rPr dirty="0" baseline="1157" sz="3600" spc="-375">
                <a:solidFill>
                  <a:srgbClr val="393938"/>
                </a:solidFill>
              </a:rPr>
              <a:t> </a:t>
            </a:r>
            <a:r>
              <a:rPr dirty="0" baseline="1157" sz="3600" spc="-150">
                <a:solidFill>
                  <a:srgbClr val="393938"/>
                </a:solidFill>
              </a:rPr>
              <a:t>of</a:t>
            </a:r>
            <a:r>
              <a:rPr dirty="0" baseline="1157" sz="3600" spc="-427">
                <a:solidFill>
                  <a:srgbClr val="393938"/>
                </a:solidFill>
              </a:rPr>
              <a:t> </a:t>
            </a:r>
            <a:r>
              <a:rPr dirty="0" baseline="1157" sz="3600" spc="-232">
                <a:solidFill>
                  <a:srgbClr val="393938"/>
                </a:solidFill>
              </a:rPr>
              <a:t>InBody</a:t>
            </a:r>
            <a:endParaRPr baseline="1157" sz="36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51035" y="626363"/>
            <a:ext cx="2756916" cy="365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2063" y="1050289"/>
            <a:ext cx="1312341" cy="150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791" y="1389888"/>
            <a:ext cx="234696" cy="2331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1119" y="1416938"/>
            <a:ext cx="1272413" cy="18859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668523" y="1418716"/>
            <a:ext cx="3037205" cy="152400"/>
            <a:chOff x="2668523" y="1418716"/>
            <a:chExt cx="3037205" cy="15240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68523" y="1419986"/>
              <a:ext cx="1618868" cy="1510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29810" y="1418716"/>
              <a:ext cx="1375410" cy="152273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5755513" y="1421130"/>
            <a:ext cx="441959" cy="149860"/>
          </a:xfrm>
          <a:custGeom>
            <a:avLst/>
            <a:gdLst/>
            <a:ahLst/>
            <a:cxnLst/>
            <a:rect l="l" t="t" r="r" b="b"/>
            <a:pathLst>
              <a:path w="441960" h="149859">
                <a:moveTo>
                  <a:pt x="257048" y="1650"/>
                </a:moveTo>
                <a:lnTo>
                  <a:pt x="231775" y="1650"/>
                </a:lnTo>
                <a:lnTo>
                  <a:pt x="277240" y="148209"/>
                </a:lnTo>
                <a:lnTo>
                  <a:pt x="301878" y="148209"/>
                </a:lnTo>
                <a:lnTo>
                  <a:pt x="314028" y="110617"/>
                </a:lnTo>
                <a:lnTo>
                  <a:pt x="291846" y="110617"/>
                </a:lnTo>
                <a:lnTo>
                  <a:pt x="291338" y="107696"/>
                </a:lnTo>
                <a:lnTo>
                  <a:pt x="290957" y="105029"/>
                </a:lnTo>
                <a:lnTo>
                  <a:pt x="289940" y="99949"/>
                </a:lnTo>
                <a:lnTo>
                  <a:pt x="289306" y="97662"/>
                </a:lnTo>
                <a:lnTo>
                  <a:pt x="288671" y="95504"/>
                </a:lnTo>
                <a:lnTo>
                  <a:pt x="263778" y="7874"/>
                </a:lnTo>
                <a:lnTo>
                  <a:pt x="259136" y="2286"/>
                </a:lnTo>
                <a:lnTo>
                  <a:pt x="259429" y="2286"/>
                </a:lnTo>
                <a:lnTo>
                  <a:pt x="257048" y="1650"/>
                </a:lnTo>
                <a:close/>
              </a:path>
              <a:path w="441960" h="149859">
                <a:moveTo>
                  <a:pt x="360834" y="39116"/>
                </a:moveTo>
                <a:lnTo>
                  <a:pt x="336803" y="39116"/>
                </a:lnTo>
                <a:lnTo>
                  <a:pt x="337565" y="42418"/>
                </a:lnTo>
                <a:lnTo>
                  <a:pt x="338074" y="43942"/>
                </a:lnTo>
                <a:lnTo>
                  <a:pt x="338836" y="46736"/>
                </a:lnTo>
                <a:lnTo>
                  <a:pt x="339344" y="48006"/>
                </a:lnTo>
                <a:lnTo>
                  <a:pt x="371348" y="148209"/>
                </a:lnTo>
                <a:lnTo>
                  <a:pt x="395986" y="148209"/>
                </a:lnTo>
                <a:lnTo>
                  <a:pt x="407884" y="109855"/>
                </a:lnTo>
                <a:lnTo>
                  <a:pt x="383032" y="109855"/>
                </a:lnTo>
                <a:lnTo>
                  <a:pt x="382090" y="105029"/>
                </a:lnTo>
                <a:lnTo>
                  <a:pt x="382015" y="104648"/>
                </a:lnTo>
                <a:lnTo>
                  <a:pt x="380779" y="99949"/>
                </a:lnTo>
                <a:lnTo>
                  <a:pt x="379222" y="95504"/>
                </a:lnTo>
                <a:lnTo>
                  <a:pt x="360834" y="39116"/>
                </a:lnTo>
                <a:close/>
              </a:path>
              <a:path w="441960" h="149859">
                <a:moveTo>
                  <a:pt x="343915" y="1650"/>
                </a:moveTo>
                <a:lnTo>
                  <a:pt x="331215" y="1650"/>
                </a:lnTo>
                <a:lnTo>
                  <a:pt x="329311" y="2286"/>
                </a:lnTo>
                <a:lnTo>
                  <a:pt x="327660" y="3556"/>
                </a:lnTo>
                <a:lnTo>
                  <a:pt x="326136" y="4825"/>
                </a:lnTo>
                <a:lnTo>
                  <a:pt x="324992" y="6223"/>
                </a:lnTo>
                <a:lnTo>
                  <a:pt x="324485" y="7874"/>
                </a:lnTo>
                <a:lnTo>
                  <a:pt x="295656" y="95504"/>
                </a:lnTo>
                <a:lnTo>
                  <a:pt x="295021" y="97662"/>
                </a:lnTo>
                <a:lnTo>
                  <a:pt x="294259" y="99949"/>
                </a:lnTo>
                <a:lnTo>
                  <a:pt x="293084" y="104648"/>
                </a:lnTo>
                <a:lnTo>
                  <a:pt x="292353" y="107696"/>
                </a:lnTo>
                <a:lnTo>
                  <a:pt x="291846" y="110617"/>
                </a:lnTo>
                <a:lnTo>
                  <a:pt x="314028" y="110617"/>
                </a:lnTo>
                <a:lnTo>
                  <a:pt x="334263" y="48006"/>
                </a:lnTo>
                <a:lnTo>
                  <a:pt x="334645" y="46736"/>
                </a:lnTo>
                <a:lnTo>
                  <a:pt x="335025" y="45339"/>
                </a:lnTo>
                <a:lnTo>
                  <a:pt x="335534" y="43942"/>
                </a:lnTo>
                <a:lnTo>
                  <a:pt x="335914" y="42418"/>
                </a:lnTo>
                <a:lnTo>
                  <a:pt x="336296" y="40767"/>
                </a:lnTo>
                <a:lnTo>
                  <a:pt x="336803" y="39116"/>
                </a:lnTo>
                <a:lnTo>
                  <a:pt x="360834" y="39116"/>
                </a:lnTo>
                <a:lnTo>
                  <a:pt x="350096" y="6223"/>
                </a:lnTo>
                <a:lnTo>
                  <a:pt x="349250" y="4825"/>
                </a:lnTo>
                <a:lnTo>
                  <a:pt x="348996" y="4445"/>
                </a:lnTo>
                <a:lnTo>
                  <a:pt x="347711" y="3556"/>
                </a:lnTo>
                <a:lnTo>
                  <a:pt x="345990" y="2286"/>
                </a:lnTo>
                <a:lnTo>
                  <a:pt x="346297" y="2286"/>
                </a:lnTo>
                <a:lnTo>
                  <a:pt x="343915" y="1650"/>
                </a:lnTo>
                <a:close/>
              </a:path>
              <a:path w="441960" h="149859">
                <a:moveTo>
                  <a:pt x="441451" y="1650"/>
                </a:moveTo>
                <a:lnTo>
                  <a:pt x="417702" y="1650"/>
                </a:lnTo>
                <a:lnTo>
                  <a:pt x="415798" y="2286"/>
                </a:lnTo>
                <a:lnTo>
                  <a:pt x="411099" y="7874"/>
                </a:lnTo>
                <a:lnTo>
                  <a:pt x="386079" y="95504"/>
                </a:lnTo>
                <a:lnTo>
                  <a:pt x="385543" y="97662"/>
                </a:lnTo>
                <a:lnTo>
                  <a:pt x="385037" y="99949"/>
                </a:lnTo>
                <a:lnTo>
                  <a:pt x="384048" y="104648"/>
                </a:lnTo>
                <a:lnTo>
                  <a:pt x="383032" y="109855"/>
                </a:lnTo>
                <a:lnTo>
                  <a:pt x="407884" y="109855"/>
                </a:lnTo>
                <a:lnTo>
                  <a:pt x="441451" y="1650"/>
                </a:lnTo>
                <a:close/>
              </a:path>
              <a:path w="441960" h="149859">
                <a:moveTo>
                  <a:pt x="92456" y="1650"/>
                </a:moveTo>
                <a:lnTo>
                  <a:pt x="0" y="1650"/>
                </a:lnTo>
                <a:lnTo>
                  <a:pt x="0" y="148209"/>
                </a:lnTo>
                <a:lnTo>
                  <a:pt x="92456" y="148209"/>
                </a:lnTo>
                <a:lnTo>
                  <a:pt x="92456" y="126365"/>
                </a:lnTo>
                <a:lnTo>
                  <a:pt x="27432" y="126365"/>
                </a:lnTo>
                <a:lnTo>
                  <a:pt x="27432" y="84962"/>
                </a:lnTo>
                <a:lnTo>
                  <a:pt x="78612" y="84962"/>
                </a:lnTo>
                <a:lnTo>
                  <a:pt x="78612" y="64008"/>
                </a:lnTo>
                <a:lnTo>
                  <a:pt x="27432" y="64008"/>
                </a:lnTo>
                <a:lnTo>
                  <a:pt x="27432" y="23368"/>
                </a:lnTo>
                <a:lnTo>
                  <a:pt x="92456" y="23368"/>
                </a:lnTo>
                <a:lnTo>
                  <a:pt x="92456" y="1650"/>
                </a:lnTo>
                <a:close/>
              </a:path>
              <a:path w="441960" h="149859">
                <a:moveTo>
                  <a:pt x="179450" y="0"/>
                </a:moveTo>
                <a:lnTo>
                  <a:pt x="142204" y="8614"/>
                </a:lnTo>
                <a:lnTo>
                  <a:pt x="112754" y="38010"/>
                </a:lnTo>
                <a:lnTo>
                  <a:pt x="104266" y="74930"/>
                </a:lnTo>
                <a:lnTo>
                  <a:pt x="104576" y="82883"/>
                </a:lnTo>
                <a:lnTo>
                  <a:pt x="118935" y="123513"/>
                </a:lnTo>
                <a:lnTo>
                  <a:pt x="152233" y="146698"/>
                </a:lnTo>
                <a:lnTo>
                  <a:pt x="174878" y="149860"/>
                </a:lnTo>
                <a:lnTo>
                  <a:pt x="183136" y="149504"/>
                </a:lnTo>
                <a:lnTo>
                  <a:pt x="183517" y="149504"/>
                </a:lnTo>
                <a:lnTo>
                  <a:pt x="191146" y="148447"/>
                </a:lnTo>
                <a:lnTo>
                  <a:pt x="191452" y="148447"/>
                </a:lnTo>
                <a:lnTo>
                  <a:pt x="199310" y="146484"/>
                </a:lnTo>
                <a:lnTo>
                  <a:pt x="228091" y="127000"/>
                </a:lnTo>
                <a:lnTo>
                  <a:pt x="227857" y="126746"/>
                </a:lnTo>
                <a:lnTo>
                  <a:pt x="170434" y="126746"/>
                </a:lnTo>
                <a:lnTo>
                  <a:pt x="164591" y="125475"/>
                </a:lnTo>
                <a:lnTo>
                  <a:pt x="135636" y="96900"/>
                </a:lnTo>
                <a:lnTo>
                  <a:pt x="133270" y="90550"/>
                </a:lnTo>
                <a:lnTo>
                  <a:pt x="132079" y="83185"/>
                </a:lnTo>
                <a:lnTo>
                  <a:pt x="132079" y="66929"/>
                </a:lnTo>
                <a:lnTo>
                  <a:pt x="133223" y="59690"/>
                </a:lnTo>
                <a:lnTo>
                  <a:pt x="135636" y="53340"/>
                </a:lnTo>
                <a:lnTo>
                  <a:pt x="137922" y="46990"/>
                </a:lnTo>
                <a:lnTo>
                  <a:pt x="172338" y="23241"/>
                </a:lnTo>
                <a:lnTo>
                  <a:pt x="225878" y="23241"/>
                </a:lnTo>
                <a:lnTo>
                  <a:pt x="228853" y="19050"/>
                </a:lnTo>
                <a:lnTo>
                  <a:pt x="195140" y="1412"/>
                </a:lnTo>
                <a:lnTo>
                  <a:pt x="195450" y="1412"/>
                </a:lnTo>
                <a:lnTo>
                  <a:pt x="187540" y="355"/>
                </a:lnTo>
                <a:lnTo>
                  <a:pt x="187931" y="355"/>
                </a:lnTo>
                <a:lnTo>
                  <a:pt x="179450" y="0"/>
                </a:lnTo>
                <a:close/>
              </a:path>
              <a:path w="441960" h="149859">
                <a:moveTo>
                  <a:pt x="215328" y="113792"/>
                </a:moveTo>
                <a:lnTo>
                  <a:pt x="211836" y="113792"/>
                </a:lnTo>
                <a:lnTo>
                  <a:pt x="210312" y="114554"/>
                </a:lnTo>
                <a:lnTo>
                  <a:pt x="209550" y="115062"/>
                </a:lnTo>
                <a:lnTo>
                  <a:pt x="208914" y="115697"/>
                </a:lnTo>
                <a:lnTo>
                  <a:pt x="207025" y="117475"/>
                </a:lnTo>
                <a:lnTo>
                  <a:pt x="180339" y="126746"/>
                </a:lnTo>
                <a:lnTo>
                  <a:pt x="227857" y="126746"/>
                </a:lnTo>
                <a:lnTo>
                  <a:pt x="217297" y="115316"/>
                </a:lnTo>
                <a:lnTo>
                  <a:pt x="216281" y="114173"/>
                </a:lnTo>
                <a:lnTo>
                  <a:pt x="215328" y="113792"/>
                </a:lnTo>
                <a:close/>
              </a:path>
              <a:path w="441960" h="149859">
                <a:moveTo>
                  <a:pt x="225878" y="23241"/>
                </a:moveTo>
                <a:lnTo>
                  <a:pt x="185165" y="23241"/>
                </a:lnTo>
                <a:lnTo>
                  <a:pt x="189991" y="23875"/>
                </a:lnTo>
                <a:lnTo>
                  <a:pt x="193801" y="25019"/>
                </a:lnTo>
                <a:lnTo>
                  <a:pt x="197612" y="26289"/>
                </a:lnTo>
                <a:lnTo>
                  <a:pt x="200787" y="27559"/>
                </a:lnTo>
                <a:lnTo>
                  <a:pt x="203200" y="28956"/>
                </a:lnTo>
                <a:lnTo>
                  <a:pt x="205739" y="30353"/>
                </a:lnTo>
                <a:lnTo>
                  <a:pt x="209423" y="32893"/>
                </a:lnTo>
                <a:lnTo>
                  <a:pt x="211074" y="34162"/>
                </a:lnTo>
                <a:lnTo>
                  <a:pt x="212598" y="34798"/>
                </a:lnTo>
                <a:lnTo>
                  <a:pt x="215646" y="34798"/>
                </a:lnTo>
                <a:lnTo>
                  <a:pt x="216915" y="34417"/>
                </a:lnTo>
                <a:lnTo>
                  <a:pt x="217677" y="33909"/>
                </a:lnTo>
                <a:lnTo>
                  <a:pt x="218566" y="33274"/>
                </a:lnTo>
                <a:lnTo>
                  <a:pt x="219770" y="31829"/>
                </a:lnTo>
                <a:lnTo>
                  <a:pt x="225878" y="23241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45352" y="1419986"/>
            <a:ext cx="738631" cy="15100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7032370" y="1418716"/>
            <a:ext cx="3034665" cy="187325"/>
            <a:chOff x="7032370" y="1418716"/>
            <a:chExt cx="3034665" cy="187325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32370" y="1418716"/>
              <a:ext cx="630808" cy="1871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77150" y="1418970"/>
              <a:ext cx="718185" cy="184785"/>
            </a:xfrm>
            <a:custGeom>
              <a:avLst/>
              <a:gdLst/>
              <a:ahLst/>
              <a:cxnLst/>
              <a:rect l="l" t="t" r="r" b="b"/>
              <a:pathLst>
                <a:path w="718184" h="184784">
                  <a:moveTo>
                    <a:pt x="52489" y="78701"/>
                  </a:moveTo>
                  <a:lnTo>
                    <a:pt x="0" y="78701"/>
                  </a:lnTo>
                  <a:lnTo>
                    <a:pt x="0" y="99568"/>
                  </a:lnTo>
                  <a:lnTo>
                    <a:pt x="52489" y="99568"/>
                  </a:lnTo>
                  <a:lnTo>
                    <a:pt x="52489" y="78701"/>
                  </a:lnTo>
                  <a:close/>
                </a:path>
                <a:path w="718184" h="184784">
                  <a:moveTo>
                    <a:pt x="141859" y="113157"/>
                  </a:moveTo>
                  <a:lnTo>
                    <a:pt x="141097" y="109601"/>
                  </a:lnTo>
                  <a:lnTo>
                    <a:pt x="139280" y="105791"/>
                  </a:lnTo>
                  <a:lnTo>
                    <a:pt x="138303" y="103632"/>
                  </a:lnTo>
                  <a:lnTo>
                    <a:pt x="136271" y="101092"/>
                  </a:lnTo>
                  <a:lnTo>
                    <a:pt x="133858" y="99060"/>
                  </a:lnTo>
                  <a:lnTo>
                    <a:pt x="131572" y="96901"/>
                  </a:lnTo>
                  <a:lnTo>
                    <a:pt x="128778" y="95123"/>
                  </a:lnTo>
                  <a:lnTo>
                    <a:pt x="122682" y="92329"/>
                  </a:lnTo>
                  <a:lnTo>
                    <a:pt x="119634" y="91059"/>
                  </a:lnTo>
                  <a:lnTo>
                    <a:pt x="116459" y="90043"/>
                  </a:lnTo>
                  <a:lnTo>
                    <a:pt x="113284" y="88900"/>
                  </a:lnTo>
                  <a:lnTo>
                    <a:pt x="110109" y="88011"/>
                  </a:lnTo>
                  <a:lnTo>
                    <a:pt x="107061" y="86995"/>
                  </a:lnTo>
                  <a:lnTo>
                    <a:pt x="104013" y="86106"/>
                  </a:lnTo>
                  <a:lnTo>
                    <a:pt x="91059" y="76581"/>
                  </a:lnTo>
                  <a:lnTo>
                    <a:pt x="91059" y="70993"/>
                  </a:lnTo>
                  <a:lnTo>
                    <a:pt x="92456" y="68199"/>
                  </a:lnTo>
                  <a:lnTo>
                    <a:pt x="95072" y="66294"/>
                  </a:lnTo>
                  <a:lnTo>
                    <a:pt x="98044" y="64008"/>
                  </a:lnTo>
                  <a:lnTo>
                    <a:pt x="101981" y="62992"/>
                  </a:lnTo>
                  <a:lnTo>
                    <a:pt x="110109" y="62992"/>
                  </a:lnTo>
                  <a:lnTo>
                    <a:pt x="121412" y="66294"/>
                  </a:lnTo>
                  <a:lnTo>
                    <a:pt x="123190" y="67056"/>
                  </a:lnTo>
                  <a:lnTo>
                    <a:pt x="124841" y="67818"/>
                  </a:lnTo>
                  <a:lnTo>
                    <a:pt x="126238" y="68580"/>
                  </a:lnTo>
                  <a:lnTo>
                    <a:pt x="127901" y="69342"/>
                  </a:lnTo>
                  <a:lnTo>
                    <a:pt x="128054" y="69342"/>
                  </a:lnTo>
                  <a:lnTo>
                    <a:pt x="128905" y="69596"/>
                  </a:lnTo>
                  <a:lnTo>
                    <a:pt x="131318" y="69596"/>
                  </a:lnTo>
                  <a:lnTo>
                    <a:pt x="137401" y="62992"/>
                  </a:lnTo>
                  <a:lnTo>
                    <a:pt x="140716" y="57658"/>
                  </a:lnTo>
                  <a:lnTo>
                    <a:pt x="113665" y="44704"/>
                  </a:lnTo>
                  <a:lnTo>
                    <a:pt x="100076" y="44704"/>
                  </a:lnTo>
                  <a:lnTo>
                    <a:pt x="94488" y="45593"/>
                  </a:lnTo>
                  <a:lnTo>
                    <a:pt x="89535" y="47371"/>
                  </a:lnTo>
                  <a:lnTo>
                    <a:pt x="84582" y="49022"/>
                  </a:lnTo>
                  <a:lnTo>
                    <a:pt x="80518" y="51308"/>
                  </a:lnTo>
                  <a:lnTo>
                    <a:pt x="74041" y="57023"/>
                  </a:lnTo>
                  <a:lnTo>
                    <a:pt x="71501" y="60452"/>
                  </a:lnTo>
                  <a:lnTo>
                    <a:pt x="69951" y="64008"/>
                  </a:lnTo>
                  <a:lnTo>
                    <a:pt x="68072" y="68199"/>
                  </a:lnTo>
                  <a:lnTo>
                    <a:pt x="67310" y="72136"/>
                  </a:lnTo>
                  <a:lnTo>
                    <a:pt x="67360" y="81407"/>
                  </a:lnTo>
                  <a:lnTo>
                    <a:pt x="67589" y="82804"/>
                  </a:lnTo>
                  <a:lnTo>
                    <a:pt x="67995" y="85090"/>
                  </a:lnTo>
                  <a:lnTo>
                    <a:pt x="69342" y="88011"/>
                  </a:lnTo>
                  <a:lnTo>
                    <a:pt x="70866" y="91440"/>
                  </a:lnTo>
                  <a:lnTo>
                    <a:pt x="96139" y="106807"/>
                  </a:lnTo>
                  <a:lnTo>
                    <a:pt x="99187" y="107823"/>
                  </a:lnTo>
                  <a:lnTo>
                    <a:pt x="102235" y="108712"/>
                  </a:lnTo>
                  <a:lnTo>
                    <a:pt x="105410" y="109601"/>
                  </a:lnTo>
                  <a:lnTo>
                    <a:pt x="108077" y="110617"/>
                  </a:lnTo>
                  <a:lnTo>
                    <a:pt x="118491" y="119380"/>
                  </a:lnTo>
                  <a:lnTo>
                    <a:pt x="118491" y="123444"/>
                  </a:lnTo>
                  <a:lnTo>
                    <a:pt x="104521" y="134366"/>
                  </a:lnTo>
                  <a:lnTo>
                    <a:pt x="97790" y="134366"/>
                  </a:lnTo>
                  <a:lnTo>
                    <a:pt x="94615" y="133985"/>
                  </a:lnTo>
                  <a:lnTo>
                    <a:pt x="92202" y="133096"/>
                  </a:lnTo>
                  <a:lnTo>
                    <a:pt x="89662" y="132207"/>
                  </a:lnTo>
                  <a:lnTo>
                    <a:pt x="87503" y="131318"/>
                  </a:lnTo>
                  <a:lnTo>
                    <a:pt x="84162" y="129413"/>
                  </a:lnTo>
                  <a:lnTo>
                    <a:pt x="82296" y="128270"/>
                  </a:lnTo>
                  <a:lnTo>
                    <a:pt x="79502" y="126492"/>
                  </a:lnTo>
                  <a:lnTo>
                    <a:pt x="78105" y="126111"/>
                  </a:lnTo>
                  <a:lnTo>
                    <a:pt x="74930" y="126111"/>
                  </a:lnTo>
                  <a:lnTo>
                    <a:pt x="73025" y="126492"/>
                  </a:lnTo>
                  <a:lnTo>
                    <a:pt x="73456" y="126492"/>
                  </a:lnTo>
                  <a:lnTo>
                    <a:pt x="71628" y="127635"/>
                  </a:lnTo>
                  <a:lnTo>
                    <a:pt x="70739" y="128524"/>
                  </a:lnTo>
                  <a:lnTo>
                    <a:pt x="69977" y="129667"/>
                  </a:lnTo>
                  <a:lnTo>
                    <a:pt x="64262" y="139192"/>
                  </a:lnTo>
                  <a:lnTo>
                    <a:pt x="66294" y="140970"/>
                  </a:lnTo>
                  <a:lnTo>
                    <a:pt x="96774" y="152019"/>
                  </a:lnTo>
                  <a:lnTo>
                    <a:pt x="107061" y="152019"/>
                  </a:lnTo>
                  <a:lnTo>
                    <a:pt x="112903" y="151130"/>
                  </a:lnTo>
                  <a:lnTo>
                    <a:pt x="117729" y="149479"/>
                  </a:lnTo>
                  <a:lnTo>
                    <a:pt x="123317" y="147701"/>
                  </a:lnTo>
                  <a:lnTo>
                    <a:pt x="127635" y="145288"/>
                  </a:lnTo>
                  <a:lnTo>
                    <a:pt x="134467" y="139192"/>
                  </a:lnTo>
                  <a:lnTo>
                    <a:pt x="137287" y="135509"/>
                  </a:lnTo>
                  <a:lnTo>
                    <a:pt x="137782" y="134366"/>
                  </a:lnTo>
                  <a:lnTo>
                    <a:pt x="139128" y="131318"/>
                  </a:lnTo>
                  <a:lnTo>
                    <a:pt x="140970" y="127000"/>
                  </a:lnTo>
                  <a:lnTo>
                    <a:pt x="141859" y="122428"/>
                  </a:lnTo>
                  <a:lnTo>
                    <a:pt x="141859" y="113157"/>
                  </a:lnTo>
                  <a:close/>
                </a:path>
                <a:path w="718184" h="184784">
                  <a:moveTo>
                    <a:pt x="254381" y="89027"/>
                  </a:moveTo>
                  <a:lnTo>
                    <a:pt x="253555" y="82042"/>
                  </a:lnTo>
                  <a:lnTo>
                    <a:pt x="253492" y="81407"/>
                  </a:lnTo>
                  <a:lnTo>
                    <a:pt x="251587" y="74930"/>
                  </a:lnTo>
                  <a:lnTo>
                    <a:pt x="249682" y="68326"/>
                  </a:lnTo>
                  <a:lnTo>
                    <a:pt x="247777" y="64135"/>
                  </a:lnTo>
                  <a:lnTo>
                    <a:pt x="247142" y="62738"/>
                  </a:lnTo>
                  <a:lnTo>
                    <a:pt x="245465" y="60579"/>
                  </a:lnTo>
                  <a:lnTo>
                    <a:pt x="243713" y="58293"/>
                  </a:lnTo>
                  <a:lnTo>
                    <a:pt x="240284" y="53721"/>
                  </a:lnTo>
                  <a:lnTo>
                    <a:pt x="236220" y="50292"/>
                  </a:lnTo>
                  <a:lnTo>
                    <a:pt x="231521" y="48006"/>
                  </a:lnTo>
                  <a:lnTo>
                    <a:pt x="228473" y="46443"/>
                  </a:lnTo>
                  <a:lnTo>
                    <a:pt x="228473" y="91440"/>
                  </a:lnTo>
                  <a:lnTo>
                    <a:pt x="228473" y="103505"/>
                  </a:lnTo>
                  <a:lnTo>
                    <a:pt x="227965" y="108712"/>
                  </a:lnTo>
                  <a:lnTo>
                    <a:pt x="207645" y="132842"/>
                  </a:lnTo>
                  <a:lnTo>
                    <a:pt x="199898" y="132842"/>
                  </a:lnTo>
                  <a:lnTo>
                    <a:pt x="196342" y="132080"/>
                  </a:lnTo>
                  <a:lnTo>
                    <a:pt x="193040" y="130683"/>
                  </a:lnTo>
                  <a:lnTo>
                    <a:pt x="189611" y="129286"/>
                  </a:lnTo>
                  <a:lnTo>
                    <a:pt x="186563" y="126873"/>
                  </a:lnTo>
                  <a:lnTo>
                    <a:pt x="183769" y="123317"/>
                  </a:lnTo>
                  <a:lnTo>
                    <a:pt x="183769" y="76708"/>
                  </a:lnTo>
                  <a:lnTo>
                    <a:pt x="202184" y="64135"/>
                  </a:lnTo>
                  <a:lnTo>
                    <a:pt x="210693" y="64135"/>
                  </a:lnTo>
                  <a:lnTo>
                    <a:pt x="213614" y="64770"/>
                  </a:lnTo>
                  <a:lnTo>
                    <a:pt x="216281" y="66040"/>
                  </a:lnTo>
                  <a:lnTo>
                    <a:pt x="218821" y="67183"/>
                  </a:lnTo>
                  <a:lnTo>
                    <a:pt x="228473" y="91440"/>
                  </a:lnTo>
                  <a:lnTo>
                    <a:pt x="228473" y="46443"/>
                  </a:lnTo>
                  <a:lnTo>
                    <a:pt x="226822" y="45593"/>
                  </a:lnTo>
                  <a:lnTo>
                    <a:pt x="221615" y="44450"/>
                  </a:lnTo>
                  <a:lnTo>
                    <a:pt x="208661" y="44450"/>
                  </a:lnTo>
                  <a:lnTo>
                    <a:pt x="202311" y="45974"/>
                  </a:lnTo>
                  <a:lnTo>
                    <a:pt x="191389" y="51816"/>
                  </a:lnTo>
                  <a:lnTo>
                    <a:pt x="186563" y="55753"/>
                  </a:lnTo>
                  <a:lnTo>
                    <a:pt x="182372" y="60579"/>
                  </a:lnTo>
                  <a:lnTo>
                    <a:pt x="180340" y="50927"/>
                  </a:lnTo>
                  <a:lnTo>
                    <a:pt x="180086" y="49403"/>
                  </a:lnTo>
                  <a:lnTo>
                    <a:pt x="179324" y="48260"/>
                  </a:lnTo>
                  <a:lnTo>
                    <a:pt x="177038" y="46736"/>
                  </a:lnTo>
                  <a:lnTo>
                    <a:pt x="175641" y="46355"/>
                  </a:lnTo>
                  <a:lnTo>
                    <a:pt x="158750" y="46355"/>
                  </a:lnTo>
                  <a:lnTo>
                    <a:pt x="158750" y="184277"/>
                  </a:lnTo>
                  <a:lnTo>
                    <a:pt x="183769" y="184277"/>
                  </a:lnTo>
                  <a:lnTo>
                    <a:pt x="183769" y="141732"/>
                  </a:lnTo>
                  <a:lnTo>
                    <a:pt x="187134" y="145034"/>
                  </a:lnTo>
                  <a:lnTo>
                    <a:pt x="190627" y="147320"/>
                  </a:lnTo>
                  <a:lnTo>
                    <a:pt x="194691" y="149225"/>
                  </a:lnTo>
                  <a:lnTo>
                    <a:pt x="198882" y="151003"/>
                  </a:lnTo>
                  <a:lnTo>
                    <a:pt x="203835" y="151892"/>
                  </a:lnTo>
                  <a:lnTo>
                    <a:pt x="216535" y="151892"/>
                  </a:lnTo>
                  <a:lnTo>
                    <a:pt x="222631" y="150495"/>
                  </a:lnTo>
                  <a:lnTo>
                    <a:pt x="228219" y="147701"/>
                  </a:lnTo>
                  <a:lnTo>
                    <a:pt x="233680" y="145034"/>
                  </a:lnTo>
                  <a:lnTo>
                    <a:pt x="237744" y="141732"/>
                  </a:lnTo>
                  <a:lnTo>
                    <a:pt x="238379" y="141224"/>
                  </a:lnTo>
                  <a:lnTo>
                    <a:pt x="242316" y="136398"/>
                  </a:lnTo>
                  <a:lnTo>
                    <a:pt x="245046" y="132842"/>
                  </a:lnTo>
                  <a:lnTo>
                    <a:pt x="246126" y="131445"/>
                  </a:lnTo>
                  <a:lnTo>
                    <a:pt x="249174" y="125730"/>
                  </a:lnTo>
                  <a:lnTo>
                    <a:pt x="251206" y="119126"/>
                  </a:lnTo>
                  <a:lnTo>
                    <a:pt x="253365" y="112522"/>
                  </a:lnTo>
                  <a:lnTo>
                    <a:pt x="254381" y="105283"/>
                  </a:lnTo>
                  <a:lnTo>
                    <a:pt x="254381" y="89027"/>
                  </a:lnTo>
                  <a:close/>
                </a:path>
                <a:path w="718184" h="184784">
                  <a:moveTo>
                    <a:pt x="356362" y="84328"/>
                  </a:moveTo>
                  <a:lnTo>
                    <a:pt x="355346" y="77724"/>
                  </a:lnTo>
                  <a:lnTo>
                    <a:pt x="350774" y="66040"/>
                  </a:lnTo>
                  <a:lnTo>
                    <a:pt x="348653" y="62611"/>
                  </a:lnTo>
                  <a:lnTo>
                    <a:pt x="347726" y="61087"/>
                  </a:lnTo>
                  <a:lnTo>
                    <a:pt x="343789" y="57023"/>
                  </a:lnTo>
                  <a:lnTo>
                    <a:pt x="339725" y="53086"/>
                  </a:lnTo>
                  <a:lnTo>
                    <a:pt x="335026" y="49911"/>
                  </a:lnTo>
                  <a:lnTo>
                    <a:pt x="333883" y="49504"/>
                  </a:lnTo>
                  <a:lnTo>
                    <a:pt x="333883" y="86360"/>
                  </a:lnTo>
                  <a:lnTo>
                    <a:pt x="286893" y="86360"/>
                  </a:lnTo>
                  <a:lnTo>
                    <a:pt x="304673" y="62611"/>
                  </a:lnTo>
                  <a:lnTo>
                    <a:pt x="315595" y="62611"/>
                  </a:lnTo>
                  <a:lnTo>
                    <a:pt x="328650" y="69850"/>
                  </a:lnTo>
                  <a:lnTo>
                    <a:pt x="330327" y="71882"/>
                  </a:lnTo>
                  <a:lnTo>
                    <a:pt x="331724" y="74295"/>
                  </a:lnTo>
                  <a:lnTo>
                    <a:pt x="333502" y="80137"/>
                  </a:lnTo>
                  <a:lnTo>
                    <a:pt x="333768" y="82296"/>
                  </a:lnTo>
                  <a:lnTo>
                    <a:pt x="333883" y="86360"/>
                  </a:lnTo>
                  <a:lnTo>
                    <a:pt x="333883" y="49504"/>
                  </a:lnTo>
                  <a:lnTo>
                    <a:pt x="329438" y="47879"/>
                  </a:lnTo>
                  <a:lnTo>
                    <a:pt x="323977" y="45720"/>
                  </a:lnTo>
                  <a:lnTo>
                    <a:pt x="318008" y="44704"/>
                  </a:lnTo>
                  <a:lnTo>
                    <a:pt x="303657" y="44704"/>
                  </a:lnTo>
                  <a:lnTo>
                    <a:pt x="296672" y="46101"/>
                  </a:lnTo>
                  <a:lnTo>
                    <a:pt x="284353" y="51435"/>
                  </a:lnTo>
                  <a:lnTo>
                    <a:pt x="279019" y="55118"/>
                  </a:lnTo>
                  <a:lnTo>
                    <a:pt x="274828" y="59817"/>
                  </a:lnTo>
                  <a:lnTo>
                    <a:pt x="271589" y="63246"/>
                  </a:lnTo>
                  <a:lnTo>
                    <a:pt x="270421" y="64516"/>
                  </a:lnTo>
                  <a:lnTo>
                    <a:pt x="267208" y="69850"/>
                  </a:lnTo>
                  <a:lnTo>
                    <a:pt x="262636" y="82296"/>
                  </a:lnTo>
                  <a:lnTo>
                    <a:pt x="261493" y="89027"/>
                  </a:lnTo>
                  <a:lnTo>
                    <a:pt x="261493" y="105283"/>
                  </a:lnTo>
                  <a:lnTo>
                    <a:pt x="262763" y="113284"/>
                  </a:lnTo>
                  <a:lnTo>
                    <a:pt x="265430" y="120142"/>
                  </a:lnTo>
                  <a:lnTo>
                    <a:pt x="267970" y="127127"/>
                  </a:lnTo>
                  <a:lnTo>
                    <a:pt x="298704" y="150622"/>
                  </a:lnTo>
                  <a:lnTo>
                    <a:pt x="305435" y="151892"/>
                  </a:lnTo>
                  <a:lnTo>
                    <a:pt x="316230" y="151892"/>
                  </a:lnTo>
                  <a:lnTo>
                    <a:pt x="320040" y="151638"/>
                  </a:lnTo>
                  <a:lnTo>
                    <a:pt x="323977" y="151003"/>
                  </a:lnTo>
                  <a:lnTo>
                    <a:pt x="326834" y="150622"/>
                  </a:lnTo>
                  <a:lnTo>
                    <a:pt x="327240" y="150622"/>
                  </a:lnTo>
                  <a:lnTo>
                    <a:pt x="331597" y="149606"/>
                  </a:lnTo>
                  <a:lnTo>
                    <a:pt x="335407" y="148209"/>
                  </a:lnTo>
                  <a:lnTo>
                    <a:pt x="339090" y="146939"/>
                  </a:lnTo>
                  <a:lnTo>
                    <a:pt x="342773" y="145161"/>
                  </a:lnTo>
                  <a:lnTo>
                    <a:pt x="349631" y="140843"/>
                  </a:lnTo>
                  <a:lnTo>
                    <a:pt x="352679" y="138049"/>
                  </a:lnTo>
                  <a:lnTo>
                    <a:pt x="355473" y="134874"/>
                  </a:lnTo>
                  <a:lnTo>
                    <a:pt x="353555" y="132461"/>
                  </a:lnTo>
                  <a:lnTo>
                    <a:pt x="348234" y="125730"/>
                  </a:lnTo>
                  <a:lnTo>
                    <a:pt x="344678" y="123317"/>
                  </a:lnTo>
                  <a:lnTo>
                    <a:pt x="342138" y="123317"/>
                  </a:lnTo>
                  <a:lnTo>
                    <a:pt x="340067" y="123952"/>
                  </a:lnTo>
                  <a:lnTo>
                    <a:pt x="340271" y="123952"/>
                  </a:lnTo>
                  <a:lnTo>
                    <a:pt x="338594" y="124968"/>
                  </a:lnTo>
                  <a:lnTo>
                    <a:pt x="335280" y="126746"/>
                  </a:lnTo>
                  <a:lnTo>
                    <a:pt x="332994" y="127889"/>
                  </a:lnTo>
                  <a:lnTo>
                    <a:pt x="330835" y="129032"/>
                  </a:lnTo>
                  <a:lnTo>
                    <a:pt x="328295" y="130175"/>
                  </a:lnTo>
                  <a:lnTo>
                    <a:pt x="325374" y="131064"/>
                  </a:lnTo>
                  <a:lnTo>
                    <a:pt x="322453" y="132080"/>
                  </a:lnTo>
                  <a:lnTo>
                    <a:pt x="318897" y="132461"/>
                  </a:lnTo>
                  <a:lnTo>
                    <a:pt x="306578" y="132461"/>
                  </a:lnTo>
                  <a:lnTo>
                    <a:pt x="300316" y="130175"/>
                  </a:lnTo>
                  <a:lnTo>
                    <a:pt x="300088" y="130175"/>
                  </a:lnTo>
                  <a:lnTo>
                    <a:pt x="295021" y="124968"/>
                  </a:lnTo>
                  <a:lnTo>
                    <a:pt x="290068" y="120142"/>
                  </a:lnTo>
                  <a:lnTo>
                    <a:pt x="287147" y="112141"/>
                  </a:lnTo>
                  <a:lnTo>
                    <a:pt x="286385" y="101473"/>
                  </a:lnTo>
                  <a:lnTo>
                    <a:pt x="351790" y="101473"/>
                  </a:lnTo>
                  <a:lnTo>
                    <a:pt x="352679" y="101346"/>
                  </a:lnTo>
                  <a:lnTo>
                    <a:pt x="353441" y="101092"/>
                  </a:lnTo>
                  <a:lnTo>
                    <a:pt x="354203" y="100711"/>
                  </a:lnTo>
                  <a:lnTo>
                    <a:pt x="354838" y="100203"/>
                  </a:lnTo>
                  <a:lnTo>
                    <a:pt x="355219" y="99568"/>
                  </a:lnTo>
                  <a:lnTo>
                    <a:pt x="355727" y="98806"/>
                  </a:lnTo>
                  <a:lnTo>
                    <a:pt x="355981" y="97790"/>
                  </a:lnTo>
                  <a:lnTo>
                    <a:pt x="356108" y="96520"/>
                  </a:lnTo>
                  <a:lnTo>
                    <a:pt x="356362" y="95377"/>
                  </a:lnTo>
                  <a:lnTo>
                    <a:pt x="356362" y="86360"/>
                  </a:lnTo>
                  <a:lnTo>
                    <a:pt x="356362" y="84328"/>
                  </a:lnTo>
                  <a:close/>
                </a:path>
                <a:path w="718184" h="184784">
                  <a:moveTo>
                    <a:pt x="454279" y="134874"/>
                  </a:moveTo>
                  <a:lnTo>
                    <a:pt x="452666" y="132842"/>
                  </a:lnTo>
                  <a:lnTo>
                    <a:pt x="447128" y="125857"/>
                  </a:lnTo>
                  <a:lnTo>
                    <a:pt x="446024" y="124206"/>
                  </a:lnTo>
                  <a:lnTo>
                    <a:pt x="444500" y="123317"/>
                  </a:lnTo>
                  <a:lnTo>
                    <a:pt x="440944" y="123317"/>
                  </a:lnTo>
                  <a:lnTo>
                    <a:pt x="439547" y="123825"/>
                  </a:lnTo>
                  <a:lnTo>
                    <a:pt x="437007" y="125857"/>
                  </a:lnTo>
                  <a:lnTo>
                    <a:pt x="433832" y="128143"/>
                  </a:lnTo>
                  <a:lnTo>
                    <a:pt x="432181" y="129286"/>
                  </a:lnTo>
                  <a:lnTo>
                    <a:pt x="430149" y="130302"/>
                  </a:lnTo>
                  <a:lnTo>
                    <a:pt x="427609" y="131318"/>
                  </a:lnTo>
                  <a:lnTo>
                    <a:pt x="425196" y="132334"/>
                  </a:lnTo>
                  <a:lnTo>
                    <a:pt x="422021" y="132842"/>
                  </a:lnTo>
                  <a:lnTo>
                    <a:pt x="414020" y="132842"/>
                  </a:lnTo>
                  <a:lnTo>
                    <a:pt x="410464" y="132080"/>
                  </a:lnTo>
                  <a:lnTo>
                    <a:pt x="404114" y="129032"/>
                  </a:lnTo>
                  <a:lnTo>
                    <a:pt x="401320" y="126746"/>
                  </a:lnTo>
                  <a:lnTo>
                    <a:pt x="399161" y="123825"/>
                  </a:lnTo>
                  <a:lnTo>
                    <a:pt x="396875" y="120904"/>
                  </a:lnTo>
                  <a:lnTo>
                    <a:pt x="395224" y="117221"/>
                  </a:lnTo>
                  <a:lnTo>
                    <a:pt x="393954" y="112903"/>
                  </a:lnTo>
                  <a:lnTo>
                    <a:pt x="392811" y="108585"/>
                  </a:lnTo>
                  <a:lnTo>
                    <a:pt x="392176" y="103632"/>
                  </a:lnTo>
                  <a:lnTo>
                    <a:pt x="392176" y="92837"/>
                  </a:lnTo>
                  <a:lnTo>
                    <a:pt x="398780" y="73025"/>
                  </a:lnTo>
                  <a:lnTo>
                    <a:pt x="400939" y="69977"/>
                  </a:lnTo>
                  <a:lnTo>
                    <a:pt x="403733" y="67691"/>
                  </a:lnTo>
                  <a:lnTo>
                    <a:pt x="407035" y="66167"/>
                  </a:lnTo>
                  <a:lnTo>
                    <a:pt x="410337" y="64516"/>
                  </a:lnTo>
                  <a:lnTo>
                    <a:pt x="414147" y="63754"/>
                  </a:lnTo>
                  <a:lnTo>
                    <a:pt x="422021" y="63754"/>
                  </a:lnTo>
                  <a:lnTo>
                    <a:pt x="436372" y="69469"/>
                  </a:lnTo>
                  <a:lnTo>
                    <a:pt x="439115" y="71120"/>
                  </a:lnTo>
                  <a:lnTo>
                    <a:pt x="439280" y="71120"/>
                  </a:lnTo>
                  <a:lnTo>
                    <a:pt x="440055" y="71374"/>
                  </a:lnTo>
                  <a:lnTo>
                    <a:pt x="442722" y="71374"/>
                  </a:lnTo>
                  <a:lnTo>
                    <a:pt x="443738" y="71120"/>
                  </a:lnTo>
                  <a:lnTo>
                    <a:pt x="444500" y="70612"/>
                  </a:lnTo>
                  <a:lnTo>
                    <a:pt x="445135" y="69977"/>
                  </a:lnTo>
                  <a:lnTo>
                    <a:pt x="445744" y="69469"/>
                  </a:lnTo>
                  <a:lnTo>
                    <a:pt x="446659" y="68326"/>
                  </a:lnTo>
                  <a:lnTo>
                    <a:pt x="449961" y="63754"/>
                  </a:lnTo>
                  <a:lnTo>
                    <a:pt x="453263" y="59182"/>
                  </a:lnTo>
                  <a:lnTo>
                    <a:pt x="448564" y="54610"/>
                  </a:lnTo>
                  <a:lnTo>
                    <a:pt x="443357" y="50927"/>
                  </a:lnTo>
                  <a:lnTo>
                    <a:pt x="437515" y="48514"/>
                  </a:lnTo>
                  <a:lnTo>
                    <a:pt x="431965" y="46101"/>
                  </a:lnTo>
                  <a:lnTo>
                    <a:pt x="432358" y="46101"/>
                  </a:lnTo>
                  <a:lnTo>
                    <a:pt x="424815" y="44704"/>
                  </a:lnTo>
                  <a:lnTo>
                    <a:pt x="408940" y="44704"/>
                  </a:lnTo>
                  <a:lnTo>
                    <a:pt x="375500" y="64516"/>
                  </a:lnTo>
                  <a:lnTo>
                    <a:pt x="369951" y="76962"/>
                  </a:lnTo>
                  <a:lnTo>
                    <a:pt x="367665" y="83439"/>
                  </a:lnTo>
                  <a:lnTo>
                    <a:pt x="366649" y="90551"/>
                  </a:lnTo>
                  <a:lnTo>
                    <a:pt x="366649" y="106680"/>
                  </a:lnTo>
                  <a:lnTo>
                    <a:pt x="367792" y="114300"/>
                  </a:lnTo>
                  <a:lnTo>
                    <a:pt x="370332" y="120904"/>
                  </a:lnTo>
                  <a:lnTo>
                    <a:pt x="372745" y="127508"/>
                  </a:lnTo>
                  <a:lnTo>
                    <a:pt x="376047" y="133223"/>
                  </a:lnTo>
                  <a:lnTo>
                    <a:pt x="380365" y="137795"/>
                  </a:lnTo>
                  <a:lnTo>
                    <a:pt x="384556" y="142367"/>
                  </a:lnTo>
                  <a:lnTo>
                    <a:pt x="389509" y="145796"/>
                  </a:lnTo>
                  <a:lnTo>
                    <a:pt x="400812" y="150622"/>
                  </a:lnTo>
                  <a:lnTo>
                    <a:pt x="406908" y="151892"/>
                  </a:lnTo>
                  <a:lnTo>
                    <a:pt x="416941" y="151892"/>
                  </a:lnTo>
                  <a:lnTo>
                    <a:pt x="420624" y="151638"/>
                  </a:lnTo>
                  <a:lnTo>
                    <a:pt x="424307" y="151003"/>
                  </a:lnTo>
                  <a:lnTo>
                    <a:pt x="427164" y="150622"/>
                  </a:lnTo>
                  <a:lnTo>
                    <a:pt x="427609" y="150622"/>
                  </a:lnTo>
                  <a:lnTo>
                    <a:pt x="431673" y="149606"/>
                  </a:lnTo>
                  <a:lnTo>
                    <a:pt x="435102" y="148209"/>
                  </a:lnTo>
                  <a:lnTo>
                    <a:pt x="438658" y="146939"/>
                  </a:lnTo>
                  <a:lnTo>
                    <a:pt x="441960" y="145161"/>
                  </a:lnTo>
                  <a:lnTo>
                    <a:pt x="445262" y="143002"/>
                  </a:lnTo>
                  <a:lnTo>
                    <a:pt x="448437" y="140843"/>
                  </a:lnTo>
                  <a:lnTo>
                    <a:pt x="451485" y="138049"/>
                  </a:lnTo>
                  <a:lnTo>
                    <a:pt x="454279" y="134874"/>
                  </a:lnTo>
                  <a:close/>
                </a:path>
                <a:path w="718184" h="184784">
                  <a:moveTo>
                    <a:pt x="493268" y="46355"/>
                  </a:moveTo>
                  <a:lnTo>
                    <a:pt x="468122" y="46355"/>
                  </a:lnTo>
                  <a:lnTo>
                    <a:pt x="468122" y="150368"/>
                  </a:lnTo>
                  <a:lnTo>
                    <a:pt x="493268" y="150368"/>
                  </a:lnTo>
                  <a:lnTo>
                    <a:pt x="493268" y="46355"/>
                  </a:lnTo>
                  <a:close/>
                </a:path>
                <a:path w="718184" h="184784">
                  <a:moveTo>
                    <a:pt x="496951" y="13843"/>
                  </a:moveTo>
                  <a:lnTo>
                    <a:pt x="496570" y="11684"/>
                  </a:lnTo>
                  <a:lnTo>
                    <a:pt x="495681" y="9779"/>
                  </a:lnTo>
                  <a:lnTo>
                    <a:pt x="494792" y="7747"/>
                  </a:lnTo>
                  <a:lnTo>
                    <a:pt x="493649" y="6096"/>
                  </a:lnTo>
                  <a:lnTo>
                    <a:pt x="492125" y="4699"/>
                  </a:lnTo>
                  <a:lnTo>
                    <a:pt x="490728" y="3302"/>
                  </a:lnTo>
                  <a:lnTo>
                    <a:pt x="488950" y="2159"/>
                  </a:lnTo>
                  <a:lnTo>
                    <a:pt x="487045" y="1270"/>
                  </a:lnTo>
                  <a:lnTo>
                    <a:pt x="485013" y="508"/>
                  </a:lnTo>
                  <a:lnTo>
                    <a:pt x="482981" y="0"/>
                  </a:lnTo>
                  <a:lnTo>
                    <a:pt x="478536" y="0"/>
                  </a:lnTo>
                  <a:lnTo>
                    <a:pt x="469646" y="4699"/>
                  </a:lnTo>
                  <a:lnTo>
                    <a:pt x="468122" y="6096"/>
                  </a:lnTo>
                  <a:lnTo>
                    <a:pt x="467106" y="7747"/>
                  </a:lnTo>
                  <a:lnTo>
                    <a:pt x="466217" y="9779"/>
                  </a:lnTo>
                  <a:lnTo>
                    <a:pt x="465328" y="11684"/>
                  </a:lnTo>
                  <a:lnTo>
                    <a:pt x="464947" y="13843"/>
                  </a:lnTo>
                  <a:lnTo>
                    <a:pt x="464947" y="18161"/>
                  </a:lnTo>
                  <a:lnTo>
                    <a:pt x="465328" y="20193"/>
                  </a:lnTo>
                  <a:lnTo>
                    <a:pt x="467106" y="24003"/>
                  </a:lnTo>
                  <a:lnTo>
                    <a:pt x="468122" y="25654"/>
                  </a:lnTo>
                  <a:lnTo>
                    <a:pt x="469646" y="27051"/>
                  </a:lnTo>
                  <a:lnTo>
                    <a:pt x="471043" y="28575"/>
                  </a:lnTo>
                  <a:lnTo>
                    <a:pt x="472694" y="29591"/>
                  </a:lnTo>
                  <a:lnTo>
                    <a:pt x="476504" y="31369"/>
                  </a:lnTo>
                  <a:lnTo>
                    <a:pt x="478536" y="31750"/>
                  </a:lnTo>
                  <a:lnTo>
                    <a:pt x="482981" y="31750"/>
                  </a:lnTo>
                  <a:lnTo>
                    <a:pt x="492125" y="27051"/>
                  </a:lnTo>
                  <a:lnTo>
                    <a:pt x="493649" y="25654"/>
                  </a:lnTo>
                  <a:lnTo>
                    <a:pt x="494792" y="24003"/>
                  </a:lnTo>
                  <a:lnTo>
                    <a:pt x="496570" y="20193"/>
                  </a:lnTo>
                  <a:lnTo>
                    <a:pt x="496951" y="18161"/>
                  </a:lnTo>
                  <a:lnTo>
                    <a:pt x="496951" y="13843"/>
                  </a:lnTo>
                  <a:close/>
                </a:path>
                <a:path w="718184" h="184784">
                  <a:moveTo>
                    <a:pt x="575056" y="3175"/>
                  </a:moveTo>
                  <a:lnTo>
                    <a:pt x="570865" y="1905"/>
                  </a:lnTo>
                  <a:lnTo>
                    <a:pt x="566420" y="1270"/>
                  </a:lnTo>
                  <a:lnTo>
                    <a:pt x="555625" y="1270"/>
                  </a:lnTo>
                  <a:lnTo>
                    <a:pt x="550164" y="2159"/>
                  </a:lnTo>
                  <a:lnTo>
                    <a:pt x="545465" y="3937"/>
                  </a:lnTo>
                  <a:lnTo>
                    <a:pt x="540639" y="5588"/>
                  </a:lnTo>
                  <a:lnTo>
                    <a:pt x="522859" y="47244"/>
                  </a:lnTo>
                  <a:lnTo>
                    <a:pt x="507365" y="47244"/>
                  </a:lnTo>
                  <a:lnTo>
                    <a:pt x="507365" y="59309"/>
                  </a:lnTo>
                  <a:lnTo>
                    <a:pt x="507873" y="60706"/>
                  </a:lnTo>
                  <a:lnTo>
                    <a:pt x="509143" y="61722"/>
                  </a:lnTo>
                  <a:lnTo>
                    <a:pt x="510286" y="62738"/>
                  </a:lnTo>
                  <a:lnTo>
                    <a:pt x="511810" y="63500"/>
                  </a:lnTo>
                  <a:lnTo>
                    <a:pt x="513842" y="63754"/>
                  </a:lnTo>
                  <a:lnTo>
                    <a:pt x="522859" y="65151"/>
                  </a:lnTo>
                  <a:lnTo>
                    <a:pt x="522859" y="150368"/>
                  </a:lnTo>
                  <a:lnTo>
                    <a:pt x="547878" y="150368"/>
                  </a:lnTo>
                  <a:lnTo>
                    <a:pt x="547878" y="65151"/>
                  </a:lnTo>
                  <a:lnTo>
                    <a:pt x="574167" y="65151"/>
                  </a:lnTo>
                  <a:lnTo>
                    <a:pt x="574167" y="47244"/>
                  </a:lnTo>
                  <a:lnTo>
                    <a:pt x="546989" y="47244"/>
                  </a:lnTo>
                  <a:lnTo>
                    <a:pt x="546989" y="36576"/>
                  </a:lnTo>
                  <a:lnTo>
                    <a:pt x="562991" y="20066"/>
                  </a:lnTo>
                  <a:lnTo>
                    <a:pt x="568071" y="20066"/>
                  </a:lnTo>
                  <a:lnTo>
                    <a:pt x="570103" y="19812"/>
                  </a:lnTo>
                  <a:lnTo>
                    <a:pt x="574852" y="8128"/>
                  </a:lnTo>
                  <a:lnTo>
                    <a:pt x="574954" y="5588"/>
                  </a:lnTo>
                  <a:lnTo>
                    <a:pt x="575056" y="3175"/>
                  </a:lnTo>
                  <a:close/>
                </a:path>
                <a:path w="718184" h="184784">
                  <a:moveTo>
                    <a:pt x="612140" y="46355"/>
                  </a:moveTo>
                  <a:lnTo>
                    <a:pt x="586994" y="46355"/>
                  </a:lnTo>
                  <a:lnTo>
                    <a:pt x="586994" y="150368"/>
                  </a:lnTo>
                  <a:lnTo>
                    <a:pt x="612140" y="150368"/>
                  </a:lnTo>
                  <a:lnTo>
                    <a:pt x="612140" y="46355"/>
                  </a:lnTo>
                  <a:close/>
                </a:path>
                <a:path w="718184" h="184784">
                  <a:moveTo>
                    <a:pt x="615823" y="13843"/>
                  </a:moveTo>
                  <a:lnTo>
                    <a:pt x="615442" y="11684"/>
                  </a:lnTo>
                  <a:lnTo>
                    <a:pt x="614553" y="9779"/>
                  </a:lnTo>
                  <a:lnTo>
                    <a:pt x="613664" y="7747"/>
                  </a:lnTo>
                  <a:lnTo>
                    <a:pt x="612521" y="6096"/>
                  </a:lnTo>
                  <a:lnTo>
                    <a:pt x="610997" y="4699"/>
                  </a:lnTo>
                  <a:lnTo>
                    <a:pt x="609600" y="3302"/>
                  </a:lnTo>
                  <a:lnTo>
                    <a:pt x="607822" y="2159"/>
                  </a:lnTo>
                  <a:lnTo>
                    <a:pt x="605917" y="1270"/>
                  </a:lnTo>
                  <a:lnTo>
                    <a:pt x="603885" y="508"/>
                  </a:lnTo>
                  <a:lnTo>
                    <a:pt x="601853" y="0"/>
                  </a:lnTo>
                  <a:lnTo>
                    <a:pt x="597408" y="0"/>
                  </a:lnTo>
                  <a:lnTo>
                    <a:pt x="588518" y="4699"/>
                  </a:lnTo>
                  <a:lnTo>
                    <a:pt x="586994" y="6096"/>
                  </a:lnTo>
                  <a:lnTo>
                    <a:pt x="585978" y="7747"/>
                  </a:lnTo>
                  <a:lnTo>
                    <a:pt x="585089" y="9779"/>
                  </a:lnTo>
                  <a:lnTo>
                    <a:pt x="584200" y="11684"/>
                  </a:lnTo>
                  <a:lnTo>
                    <a:pt x="583819" y="13843"/>
                  </a:lnTo>
                  <a:lnTo>
                    <a:pt x="583819" y="18161"/>
                  </a:lnTo>
                  <a:lnTo>
                    <a:pt x="584200" y="20193"/>
                  </a:lnTo>
                  <a:lnTo>
                    <a:pt x="585978" y="24003"/>
                  </a:lnTo>
                  <a:lnTo>
                    <a:pt x="586994" y="25654"/>
                  </a:lnTo>
                  <a:lnTo>
                    <a:pt x="588518" y="27051"/>
                  </a:lnTo>
                  <a:lnTo>
                    <a:pt x="589915" y="28575"/>
                  </a:lnTo>
                  <a:lnTo>
                    <a:pt x="591566" y="29591"/>
                  </a:lnTo>
                  <a:lnTo>
                    <a:pt x="595376" y="31369"/>
                  </a:lnTo>
                  <a:lnTo>
                    <a:pt x="597408" y="31750"/>
                  </a:lnTo>
                  <a:lnTo>
                    <a:pt x="601853" y="31750"/>
                  </a:lnTo>
                  <a:lnTo>
                    <a:pt x="610997" y="27051"/>
                  </a:lnTo>
                  <a:lnTo>
                    <a:pt x="612521" y="25654"/>
                  </a:lnTo>
                  <a:lnTo>
                    <a:pt x="613664" y="24003"/>
                  </a:lnTo>
                  <a:lnTo>
                    <a:pt x="615442" y="20193"/>
                  </a:lnTo>
                  <a:lnTo>
                    <a:pt x="615823" y="18161"/>
                  </a:lnTo>
                  <a:lnTo>
                    <a:pt x="615823" y="13843"/>
                  </a:lnTo>
                  <a:close/>
                </a:path>
                <a:path w="718184" h="184784">
                  <a:moveTo>
                    <a:pt x="717931" y="134874"/>
                  </a:moveTo>
                  <a:lnTo>
                    <a:pt x="716318" y="132842"/>
                  </a:lnTo>
                  <a:lnTo>
                    <a:pt x="710780" y="125857"/>
                  </a:lnTo>
                  <a:lnTo>
                    <a:pt x="709676" y="124206"/>
                  </a:lnTo>
                  <a:lnTo>
                    <a:pt x="708152" y="123317"/>
                  </a:lnTo>
                  <a:lnTo>
                    <a:pt x="704596" y="123317"/>
                  </a:lnTo>
                  <a:lnTo>
                    <a:pt x="703199" y="123825"/>
                  </a:lnTo>
                  <a:lnTo>
                    <a:pt x="700659" y="125857"/>
                  </a:lnTo>
                  <a:lnTo>
                    <a:pt x="697484" y="128143"/>
                  </a:lnTo>
                  <a:lnTo>
                    <a:pt x="695833" y="129286"/>
                  </a:lnTo>
                  <a:lnTo>
                    <a:pt x="693801" y="130302"/>
                  </a:lnTo>
                  <a:lnTo>
                    <a:pt x="691261" y="131318"/>
                  </a:lnTo>
                  <a:lnTo>
                    <a:pt x="688848" y="132334"/>
                  </a:lnTo>
                  <a:lnTo>
                    <a:pt x="685673" y="132842"/>
                  </a:lnTo>
                  <a:lnTo>
                    <a:pt x="677672" y="132842"/>
                  </a:lnTo>
                  <a:lnTo>
                    <a:pt x="674116" y="132080"/>
                  </a:lnTo>
                  <a:lnTo>
                    <a:pt x="667766" y="129032"/>
                  </a:lnTo>
                  <a:lnTo>
                    <a:pt x="664972" y="126746"/>
                  </a:lnTo>
                  <a:lnTo>
                    <a:pt x="662813" y="123825"/>
                  </a:lnTo>
                  <a:lnTo>
                    <a:pt x="660527" y="120904"/>
                  </a:lnTo>
                  <a:lnTo>
                    <a:pt x="658876" y="117221"/>
                  </a:lnTo>
                  <a:lnTo>
                    <a:pt x="657606" y="112903"/>
                  </a:lnTo>
                  <a:lnTo>
                    <a:pt x="656463" y="108585"/>
                  </a:lnTo>
                  <a:lnTo>
                    <a:pt x="655828" y="103632"/>
                  </a:lnTo>
                  <a:lnTo>
                    <a:pt x="655828" y="92837"/>
                  </a:lnTo>
                  <a:lnTo>
                    <a:pt x="662432" y="73025"/>
                  </a:lnTo>
                  <a:lnTo>
                    <a:pt x="664591" y="69977"/>
                  </a:lnTo>
                  <a:lnTo>
                    <a:pt x="667385" y="67691"/>
                  </a:lnTo>
                  <a:lnTo>
                    <a:pt x="670687" y="66167"/>
                  </a:lnTo>
                  <a:lnTo>
                    <a:pt x="673989" y="64516"/>
                  </a:lnTo>
                  <a:lnTo>
                    <a:pt x="677799" y="63754"/>
                  </a:lnTo>
                  <a:lnTo>
                    <a:pt x="685673" y="63754"/>
                  </a:lnTo>
                  <a:lnTo>
                    <a:pt x="700024" y="69469"/>
                  </a:lnTo>
                  <a:lnTo>
                    <a:pt x="702767" y="71120"/>
                  </a:lnTo>
                  <a:lnTo>
                    <a:pt x="702932" y="71120"/>
                  </a:lnTo>
                  <a:lnTo>
                    <a:pt x="703707" y="71374"/>
                  </a:lnTo>
                  <a:lnTo>
                    <a:pt x="706374" y="71374"/>
                  </a:lnTo>
                  <a:lnTo>
                    <a:pt x="707390" y="71120"/>
                  </a:lnTo>
                  <a:lnTo>
                    <a:pt x="708152" y="70612"/>
                  </a:lnTo>
                  <a:lnTo>
                    <a:pt x="708787" y="69977"/>
                  </a:lnTo>
                  <a:lnTo>
                    <a:pt x="709396" y="69469"/>
                  </a:lnTo>
                  <a:lnTo>
                    <a:pt x="710311" y="68326"/>
                  </a:lnTo>
                  <a:lnTo>
                    <a:pt x="713613" y="63754"/>
                  </a:lnTo>
                  <a:lnTo>
                    <a:pt x="716915" y="59182"/>
                  </a:lnTo>
                  <a:lnTo>
                    <a:pt x="712216" y="54610"/>
                  </a:lnTo>
                  <a:lnTo>
                    <a:pt x="707009" y="50927"/>
                  </a:lnTo>
                  <a:lnTo>
                    <a:pt x="701167" y="48514"/>
                  </a:lnTo>
                  <a:lnTo>
                    <a:pt x="695617" y="46101"/>
                  </a:lnTo>
                  <a:lnTo>
                    <a:pt x="696010" y="46101"/>
                  </a:lnTo>
                  <a:lnTo>
                    <a:pt x="688467" y="44704"/>
                  </a:lnTo>
                  <a:lnTo>
                    <a:pt x="672592" y="44704"/>
                  </a:lnTo>
                  <a:lnTo>
                    <a:pt x="639152" y="64516"/>
                  </a:lnTo>
                  <a:lnTo>
                    <a:pt x="633603" y="76962"/>
                  </a:lnTo>
                  <a:lnTo>
                    <a:pt x="631317" y="83439"/>
                  </a:lnTo>
                  <a:lnTo>
                    <a:pt x="630301" y="90551"/>
                  </a:lnTo>
                  <a:lnTo>
                    <a:pt x="630301" y="106680"/>
                  </a:lnTo>
                  <a:lnTo>
                    <a:pt x="631444" y="114300"/>
                  </a:lnTo>
                  <a:lnTo>
                    <a:pt x="633984" y="120904"/>
                  </a:lnTo>
                  <a:lnTo>
                    <a:pt x="636397" y="127508"/>
                  </a:lnTo>
                  <a:lnTo>
                    <a:pt x="639699" y="133223"/>
                  </a:lnTo>
                  <a:lnTo>
                    <a:pt x="644017" y="137795"/>
                  </a:lnTo>
                  <a:lnTo>
                    <a:pt x="648208" y="142367"/>
                  </a:lnTo>
                  <a:lnTo>
                    <a:pt x="653161" y="145796"/>
                  </a:lnTo>
                  <a:lnTo>
                    <a:pt x="664464" y="150622"/>
                  </a:lnTo>
                  <a:lnTo>
                    <a:pt x="670560" y="151892"/>
                  </a:lnTo>
                  <a:lnTo>
                    <a:pt x="680593" y="151892"/>
                  </a:lnTo>
                  <a:lnTo>
                    <a:pt x="684276" y="151638"/>
                  </a:lnTo>
                  <a:lnTo>
                    <a:pt x="687959" y="151003"/>
                  </a:lnTo>
                  <a:lnTo>
                    <a:pt x="690816" y="150622"/>
                  </a:lnTo>
                  <a:lnTo>
                    <a:pt x="691261" y="150622"/>
                  </a:lnTo>
                  <a:lnTo>
                    <a:pt x="695325" y="149606"/>
                  </a:lnTo>
                  <a:lnTo>
                    <a:pt x="698754" y="148209"/>
                  </a:lnTo>
                  <a:lnTo>
                    <a:pt x="702310" y="146939"/>
                  </a:lnTo>
                  <a:lnTo>
                    <a:pt x="705612" y="145161"/>
                  </a:lnTo>
                  <a:lnTo>
                    <a:pt x="708914" y="143002"/>
                  </a:lnTo>
                  <a:lnTo>
                    <a:pt x="712089" y="140843"/>
                  </a:lnTo>
                  <a:lnTo>
                    <a:pt x="715137" y="138049"/>
                  </a:lnTo>
                  <a:lnTo>
                    <a:pt x="717931" y="134874"/>
                  </a:lnTo>
                  <a:close/>
                </a:path>
              </a:pathLst>
            </a:custGeom>
            <a:solidFill>
              <a:srgbClr val="4A4F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34196" y="1418970"/>
              <a:ext cx="1632457" cy="186943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1019555" y="1877567"/>
            <a:ext cx="4403090" cy="4218305"/>
            <a:chOff x="1019555" y="1877567"/>
            <a:chExt cx="4403090" cy="4218305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10511" y="1877567"/>
              <a:ext cx="3073908" cy="421790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15667" y="2240279"/>
              <a:ext cx="532130" cy="113030"/>
            </a:xfrm>
            <a:custGeom>
              <a:avLst/>
              <a:gdLst/>
              <a:ahLst/>
              <a:cxnLst/>
              <a:rect l="l" t="t" r="r" b="b"/>
              <a:pathLst>
                <a:path w="532130" h="113030">
                  <a:moveTo>
                    <a:pt x="531876" y="0"/>
                  </a:moveTo>
                  <a:lnTo>
                    <a:pt x="0" y="0"/>
                  </a:lnTo>
                  <a:lnTo>
                    <a:pt x="0" y="112775"/>
                  </a:lnTo>
                  <a:lnTo>
                    <a:pt x="531876" y="112775"/>
                  </a:lnTo>
                  <a:lnTo>
                    <a:pt x="531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9555" y="3506723"/>
              <a:ext cx="2787396" cy="143560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5463" y="3532632"/>
              <a:ext cx="2680716" cy="132892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52088" y="4177283"/>
              <a:ext cx="1531619" cy="2788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77995" y="4203191"/>
              <a:ext cx="1424939" cy="17221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280153" y="4110989"/>
              <a:ext cx="1132840" cy="360045"/>
            </a:xfrm>
            <a:custGeom>
              <a:avLst/>
              <a:gdLst/>
              <a:ahLst/>
              <a:cxnLst/>
              <a:rect l="l" t="t" r="r" b="b"/>
              <a:pathLst>
                <a:path w="1132839" h="360045">
                  <a:moveTo>
                    <a:pt x="0" y="179832"/>
                  </a:moveTo>
                  <a:lnTo>
                    <a:pt x="17291" y="135554"/>
                  </a:lnTo>
                  <a:lnTo>
                    <a:pt x="66337" y="95294"/>
                  </a:lnTo>
                  <a:lnTo>
                    <a:pt x="101441" y="77092"/>
                  </a:lnTo>
                  <a:lnTo>
                    <a:pt x="142891" y="60400"/>
                  </a:lnTo>
                  <a:lnTo>
                    <a:pt x="190156" y="45387"/>
                  </a:lnTo>
                  <a:lnTo>
                    <a:pt x="242707" y="32221"/>
                  </a:lnTo>
                  <a:lnTo>
                    <a:pt x="300013" y="21071"/>
                  </a:lnTo>
                  <a:lnTo>
                    <a:pt x="361542" y="12105"/>
                  </a:lnTo>
                  <a:lnTo>
                    <a:pt x="426764" y="5492"/>
                  </a:lnTo>
                  <a:lnTo>
                    <a:pt x="495149" y="1401"/>
                  </a:lnTo>
                  <a:lnTo>
                    <a:pt x="566166" y="0"/>
                  </a:lnTo>
                  <a:lnTo>
                    <a:pt x="637182" y="1401"/>
                  </a:lnTo>
                  <a:lnTo>
                    <a:pt x="705567" y="5492"/>
                  </a:lnTo>
                  <a:lnTo>
                    <a:pt x="770789" y="12105"/>
                  </a:lnTo>
                  <a:lnTo>
                    <a:pt x="832318" y="21071"/>
                  </a:lnTo>
                  <a:lnTo>
                    <a:pt x="889624" y="32221"/>
                  </a:lnTo>
                  <a:lnTo>
                    <a:pt x="942175" y="45387"/>
                  </a:lnTo>
                  <a:lnTo>
                    <a:pt x="989440" y="60400"/>
                  </a:lnTo>
                  <a:lnTo>
                    <a:pt x="1030890" y="77092"/>
                  </a:lnTo>
                  <a:lnTo>
                    <a:pt x="1065994" y="95294"/>
                  </a:lnTo>
                  <a:lnTo>
                    <a:pt x="1115040" y="135554"/>
                  </a:lnTo>
                  <a:lnTo>
                    <a:pt x="1132332" y="179832"/>
                  </a:lnTo>
                  <a:lnTo>
                    <a:pt x="1127920" y="202388"/>
                  </a:lnTo>
                  <a:lnTo>
                    <a:pt x="1094221" y="244826"/>
                  </a:lnTo>
                  <a:lnTo>
                    <a:pt x="1030890" y="282571"/>
                  </a:lnTo>
                  <a:lnTo>
                    <a:pt x="989440" y="299263"/>
                  </a:lnTo>
                  <a:lnTo>
                    <a:pt x="942175" y="314276"/>
                  </a:lnTo>
                  <a:lnTo>
                    <a:pt x="889624" y="327442"/>
                  </a:lnTo>
                  <a:lnTo>
                    <a:pt x="832318" y="338592"/>
                  </a:lnTo>
                  <a:lnTo>
                    <a:pt x="770789" y="347558"/>
                  </a:lnTo>
                  <a:lnTo>
                    <a:pt x="705567" y="354171"/>
                  </a:lnTo>
                  <a:lnTo>
                    <a:pt x="637182" y="358262"/>
                  </a:lnTo>
                  <a:lnTo>
                    <a:pt x="566166" y="359664"/>
                  </a:lnTo>
                  <a:lnTo>
                    <a:pt x="495149" y="358262"/>
                  </a:lnTo>
                  <a:lnTo>
                    <a:pt x="426764" y="354171"/>
                  </a:lnTo>
                  <a:lnTo>
                    <a:pt x="361542" y="347558"/>
                  </a:lnTo>
                  <a:lnTo>
                    <a:pt x="300013" y="338592"/>
                  </a:lnTo>
                  <a:lnTo>
                    <a:pt x="242707" y="327442"/>
                  </a:lnTo>
                  <a:lnTo>
                    <a:pt x="190156" y="314276"/>
                  </a:lnTo>
                  <a:lnTo>
                    <a:pt x="142891" y="299263"/>
                  </a:lnTo>
                  <a:lnTo>
                    <a:pt x="101441" y="282571"/>
                  </a:lnTo>
                  <a:lnTo>
                    <a:pt x="66337" y="264369"/>
                  </a:lnTo>
                  <a:lnTo>
                    <a:pt x="17291" y="224109"/>
                  </a:lnTo>
                  <a:lnTo>
                    <a:pt x="0" y="179832"/>
                  </a:lnTo>
                  <a:close/>
                </a:path>
              </a:pathLst>
            </a:custGeom>
            <a:ln w="19812">
              <a:solidFill>
                <a:srgbClr val="9D1F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350253" y="2548254"/>
            <a:ext cx="41275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[59</a:t>
            </a:r>
            <a:r>
              <a:rPr dirty="0" sz="1200" spc="-9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years</a:t>
            </a:r>
            <a:r>
              <a:rPr dirty="0" sz="1200" spc="-9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old</a:t>
            </a:r>
            <a:r>
              <a:rPr dirty="0" sz="1200" spc="-1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hemodialysis</a:t>
            </a:r>
            <a:r>
              <a:rPr dirty="0" sz="12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patient’s</a:t>
            </a:r>
            <a:r>
              <a:rPr dirty="0" sz="1200" spc="-8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adjusted</a:t>
            </a:r>
            <a:r>
              <a:rPr dirty="0" sz="1200" spc="-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SMI</a:t>
            </a:r>
            <a:r>
              <a:rPr dirty="0" sz="1200" spc="-1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Calculation]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00953" y="3195345"/>
            <a:ext cx="1337945" cy="1511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50000"/>
              </a:lnSpc>
              <a:spcBef>
                <a:spcPts val="100"/>
              </a:spcBef>
            </a:pPr>
            <a:r>
              <a:rPr dirty="0" sz="1300">
                <a:latin typeface="Tahoma"/>
                <a:cs typeface="Tahoma"/>
              </a:rPr>
              <a:t>Right</a:t>
            </a:r>
            <a:r>
              <a:rPr dirty="0" sz="1300" spc="-12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arm</a:t>
            </a:r>
            <a:r>
              <a:rPr dirty="0" sz="1300" spc="-13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2.73</a:t>
            </a:r>
            <a:r>
              <a:rPr dirty="0" sz="1300" spc="-13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kg </a:t>
            </a:r>
            <a:r>
              <a:rPr dirty="0" sz="1300">
                <a:latin typeface="Tahoma"/>
                <a:cs typeface="Tahoma"/>
              </a:rPr>
              <a:t>Left</a:t>
            </a:r>
            <a:r>
              <a:rPr dirty="0" sz="1300" spc="-13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arm</a:t>
            </a:r>
            <a:r>
              <a:rPr dirty="0" sz="1300" spc="-11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3.00</a:t>
            </a:r>
            <a:r>
              <a:rPr dirty="0" sz="1300" spc="-13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kg </a:t>
            </a:r>
            <a:r>
              <a:rPr dirty="0" sz="1300">
                <a:latin typeface="Tahoma"/>
                <a:cs typeface="Tahoma"/>
              </a:rPr>
              <a:t>Right</a:t>
            </a:r>
            <a:r>
              <a:rPr dirty="0" sz="1300" spc="-125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leg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6.22</a:t>
            </a:r>
            <a:r>
              <a:rPr dirty="0" sz="1300" spc="-13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kg </a:t>
            </a:r>
            <a:r>
              <a:rPr dirty="0" sz="1300">
                <a:latin typeface="Tahoma"/>
                <a:cs typeface="Tahoma"/>
              </a:rPr>
              <a:t>Left</a:t>
            </a:r>
            <a:r>
              <a:rPr dirty="0" sz="1300" spc="-135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leg</a:t>
            </a:r>
            <a:r>
              <a:rPr dirty="0" sz="1300" spc="-114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6.64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kg </a:t>
            </a:r>
            <a:r>
              <a:rPr dirty="0" sz="1300" spc="-114" b="1">
                <a:solidFill>
                  <a:srgbClr val="9F112C"/>
                </a:solidFill>
                <a:latin typeface="Tahoma"/>
                <a:cs typeface="Tahoma"/>
              </a:rPr>
              <a:t>SMI</a:t>
            </a:r>
            <a:r>
              <a:rPr dirty="0" sz="1300" spc="-9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300" spc="-320" b="1">
                <a:solidFill>
                  <a:srgbClr val="9F112C"/>
                </a:solidFill>
                <a:latin typeface="Tahoma"/>
                <a:cs typeface="Tahoma"/>
              </a:rPr>
              <a:t>=</a:t>
            </a:r>
            <a:r>
              <a:rPr dirty="0" sz="1300" spc="-12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300" spc="-100" b="1">
                <a:solidFill>
                  <a:srgbClr val="9F112C"/>
                </a:solidFill>
                <a:latin typeface="Tahoma"/>
                <a:cs typeface="Tahoma"/>
              </a:rPr>
              <a:t>7.3</a:t>
            </a:r>
            <a:r>
              <a:rPr dirty="0" sz="1300" spc="-125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9F112C"/>
                </a:solidFill>
                <a:latin typeface="Tahoma"/>
                <a:cs typeface="Tahoma"/>
              </a:rPr>
              <a:t>kg/m</a:t>
            </a:r>
            <a:r>
              <a:rPr dirty="0" baseline="26143" sz="1275" spc="-30" b="1">
                <a:solidFill>
                  <a:srgbClr val="9F112C"/>
                </a:solidFill>
                <a:latin typeface="Tahoma"/>
                <a:cs typeface="Tahoma"/>
              </a:rPr>
              <a:t>2</a:t>
            </a:r>
            <a:endParaRPr baseline="26143" sz="1275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75804" y="3806952"/>
            <a:ext cx="668020" cy="448309"/>
          </a:xfrm>
          <a:custGeom>
            <a:avLst/>
            <a:gdLst/>
            <a:ahLst/>
            <a:cxnLst/>
            <a:rect l="l" t="t" r="r" b="b"/>
            <a:pathLst>
              <a:path w="668020" h="448310">
                <a:moveTo>
                  <a:pt x="338963" y="0"/>
                </a:moveTo>
                <a:lnTo>
                  <a:pt x="338963" y="112014"/>
                </a:lnTo>
                <a:lnTo>
                  <a:pt x="0" y="112014"/>
                </a:lnTo>
                <a:lnTo>
                  <a:pt x="0" y="336042"/>
                </a:lnTo>
                <a:lnTo>
                  <a:pt x="338963" y="336042"/>
                </a:lnTo>
                <a:lnTo>
                  <a:pt x="338963" y="448056"/>
                </a:lnTo>
                <a:lnTo>
                  <a:pt x="667512" y="224028"/>
                </a:lnTo>
                <a:lnTo>
                  <a:pt x="33896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759317" y="3195345"/>
            <a:ext cx="2585720" cy="1511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50000"/>
              </a:lnSpc>
              <a:spcBef>
                <a:spcPts val="100"/>
              </a:spcBef>
            </a:pPr>
            <a:r>
              <a:rPr dirty="0" sz="1300">
                <a:latin typeface="Tahoma"/>
                <a:cs typeface="Tahoma"/>
              </a:rPr>
              <a:t>Right</a:t>
            </a:r>
            <a:r>
              <a:rPr dirty="0" sz="1300" spc="-12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arm</a:t>
            </a:r>
            <a:r>
              <a:rPr dirty="0" sz="1300" spc="-13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2.73</a:t>
            </a:r>
            <a:r>
              <a:rPr dirty="0" sz="1300" spc="-13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kg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–</a:t>
            </a:r>
            <a:r>
              <a:rPr dirty="0" sz="1300" spc="-12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excessive</a:t>
            </a:r>
            <a:r>
              <a:rPr dirty="0" sz="1300" spc="-145">
                <a:latin typeface="Tahoma"/>
                <a:cs typeface="Tahoma"/>
              </a:rPr>
              <a:t> </a:t>
            </a:r>
            <a:r>
              <a:rPr dirty="0" sz="1300" spc="60">
                <a:latin typeface="Tahoma"/>
                <a:cs typeface="Tahoma"/>
              </a:rPr>
              <a:t>ECW </a:t>
            </a:r>
            <a:r>
              <a:rPr dirty="0" sz="1300">
                <a:latin typeface="Tahoma"/>
                <a:cs typeface="Tahoma"/>
              </a:rPr>
              <a:t>Left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arm</a:t>
            </a:r>
            <a:r>
              <a:rPr dirty="0" sz="1300" spc="-114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3.00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kg</a:t>
            </a:r>
            <a:r>
              <a:rPr dirty="0" sz="1300" spc="-1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–</a:t>
            </a:r>
            <a:r>
              <a:rPr dirty="0" sz="1300" spc="-12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excessive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 spc="60">
                <a:latin typeface="Tahoma"/>
                <a:cs typeface="Tahoma"/>
              </a:rPr>
              <a:t>ECW </a:t>
            </a:r>
            <a:r>
              <a:rPr dirty="0" sz="1300">
                <a:latin typeface="Tahoma"/>
                <a:cs typeface="Tahoma"/>
              </a:rPr>
              <a:t>Right</a:t>
            </a:r>
            <a:r>
              <a:rPr dirty="0" sz="1300" spc="-125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leg</a:t>
            </a:r>
            <a:r>
              <a:rPr dirty="0" sz="1300" spc="-13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6.22</a:t>
            </a:r>
            <a:r>
              <a:rPr dirty="0" sz="1300" spc="-135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kg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–</a:t>
            </a:r>
            <a:r>
              <a:rPr dirty="0" sz="1300" spc="-12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excessive</a:t>
            </a:r>
            <a:r>
              <a:rPr dirty="0" sz="1300" spc="-145">
                <a:latin typeface="Tahoma"/>
                <a:cs typeface="Tahoma"/>
              </a:rPr>
              <a:t> </a:t>
            </a:r>
            <a:r>
              <a:rPr dirty="0" sz="1300" spc="60">
                <a:latin typeface="Tahoma"/>
                <a:cs typeface="Tahoma"/>
              </a:rPr>
              <a:t>ECW </a:t>
            </a:r>
            <a:r>
              <a:rPr dirty="0" sz="1300">
                <a:latin typeface="Tahoma"/>
                <a:cs typeface="Tahoma"/>
              </a:rPr>
              <a:t>Left</a:t>
            </a:r>
            <a:r>
              <a:rPr dirty="0" sz="1300" spc="-140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leg</a:t>
            </a:r>
            <a:r>
              <a:rPr dirty="0" sz="1300" spc="-12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6.64</a:t>
            </a:r>
            <a:r>
              <a:rPr dirty="0" sz="1300" spc="-145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kg</a:t>
            </a:r>
            <a:r>
              <a:rPr dirty="0" sz="1300" spc="-1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–</a:t>
            </a:r>
            <a:r>
              <a:rPr dirty="0" sz="1300" spc="-11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excessive</a:t>
            </a:r>
            <a:r>
              <a:rPr dirty="0" sz="1300" spc="-150">
                <a:latin typeface="Tahoma"/>
                <a:cs typeface="Tahoma"/>
              </a:rPr>
              <a:t> </a:t>
            </a:r>
            <a:r>
              <a:rPr dirty="0" sz="1300" spc="60">
                <a:latin typeface="Tahoma"/>
                <a:cs typeface="Tahoma"/>
              </a:rPr>
              <a:t>ECW </a:t>
            </a:r>
            <a:r>
              <a:rPr dirty="0" sz="1300" spc="-85" b="1">
                <a:solidFill>
                  <a:srgbClr val="9F112C"/>
                </a:solidFill>
                <a:latin typeface="Tahoma"/>
                <a:cs typeface="Tahoma"/>
              </a:rPr>
              <a:t>Adjusted</a:t>
            </a:r>
            <a:r>
              <a:rPr dirty="0" sz="1300" spc="-114" b="1">
                <a:solidFill>
                  <a:srgbClr val="9F112C"/>
                </a:solidFill>
                <a:latin typeface="Tahoma"/>
                <a:cs typeface="Tahoma"/>
              </a:rPr>
              <a:t> SMI</a:t>
            </a:r>
            <a:r>
              <a:rPr dirty="0" sz="1300" spc="-7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300" spc="-200">
                <a:solidFill>
                  <a:srgbClr val="9F112C"/>
                </a:solidFill>
                <a:latin typeface="Tahoma"/>
                <a:cs typeface="Tahoma"/>
              </a:rPr>
              <a:t>=</a:t>
            </a:r>
            <a:r>
              <a:rPr dirty="0" sz="1300" spc="140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300" spc="-100" b="1">
                <a:solidFill>
                  <a:srgbClr val="9F112C"/>
                </a:solidFill>
                <a:latin typeface="Tahoma"/>
                <a:cs typeface="Tahoma"/>
              </a:rPr>
              <a:t>6.4</a:t>
            </a:r>
            <a:r>
              <a:rPr dirty="0" sz="1300" spc="-120" b="1">
                <a:solidFill>
                  <a:srgbClr val="9F112C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9F112C"/>
                </a:solidFill>
                <a:latin typeface="Tahoma"/>
                <a:cs typeface="Tahoma"/>
              </a:rPr>
              <a:t>kg/m</a:t>
            </a:r>
            <a:r>
              <a:rPr dirty="0" baseline="26143" sz="1275" spc="-30" b="1">
                <a:solidFill>
                  <a:srgbClr val="9F112C"/>
                </a:solidFill>
                <a:latin typeface="Tahoma"/>
                <a:cs typeface="Tahoma"/>
              </a:rPr>
              <a:t>2</a:t>
            </a:r>
            <a:endParaRPr baseline="26143" sz="1275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30926" y="5071719"/>
            <a:ext cx="193230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1200" spc="-70" b="1">
                <a:solidFill>
                  <a:srgbClr val="7E7E7E"/>
                </a:solidFill>
                <a:latin typeface="Tahoma"/>
                <a:cs typeface="Tahoma"/>
              </a:rPr>
              <a:t>Overestimated</a:t>
            </a:r>
            <a:r>
              <a:rPr dirty="0" sz="1200" spc="-55" b="1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7E7E7E"/>
                </a:solidFill>
                <a:latin typeface="Tahoma"/>
                <a:cs typeface="Tahoma"/>
              </a:rPr>
              <a:t>muscle</a:t>
            </a:r>
            <a:r>
              <a:rPr dirty="0" sz="1200" spc="-50" b="1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7E7E7E"/>
                </a:solidFill>
                <a:latin typeface="Tahoma"/>
                <a:cs typeface="Tahoma"/>
              </a:rPr>
              <a:t>mass </a:t>
            </a:r>
            <a:r>
              <a:rPr dirty="0" sz="1200" spc="-80" b="1">
                <a:solidFill>
                  <a:srgbClr val="7E7E7E"/>
                </a:solidFill>
                <a:latin typeface="Tahoma"/>
                <a:cs typeface="Tahoma"/>
              </a:rPr>
              <a:t>due</a:t>
            </a:r>
            <a:r>
              <a:rPr dirty="0" sz="1200" spc="-85" b="1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1200" spc="-55" b="1">
                <a:solidFill>
                  <a:srgbClr val="7E7E7E"/>
                </a:solidFill>
                <a:latin typeface="Tahoma"/>
                <a:cs typeface="Tahoma"/>
              </a:rPr>
              <a:t>to</a:t>
            </a:r>
            <a:r>
              <a:rPr dirty="0" sz="1200" spc="-70" b="1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1200" spc="-85" b="1">
                <a:solidFill>
                  <a:srgbClr val="7E7E7E"/>
                </a:solidFill>
                <a:latin typeface="Tahoma"/>
                <a:cs typeface="Tahoma"/>
              </a:rPr>
              <a:t>excessive </a:t>
            </a:r>
            <a:r>
              <a:rPr dirty="0" sz="1200" spc="-20" b="1">
                <a:solidFill>
                  <a:srgbClr val="7E7E7E"/>
                </a:solidFill>
                <a:latin typeface="Tahoma"/>
                <a:cs typeface="Tahoma"/>
              </a:rPr>
              <a:t>water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84717" y="5065196"/>
            <a:ext cx="2266950" cy="57531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200" spc="-85" b="1">
                <a:solidFill>
                  <a:srgbClr val="7E7E7E"/>
                </a:solidFill>
                <a:latin typeface="Tahoma"/>
                <a:cs typeface="Tahoma"/>
              </a:rPr>
              <a:t>Based</a:t>
            </a:r>
            <a:r>
              <a:rPr dirty="0" sz="1200" spc="-75" b="1">
                <a:solidFill>
                  <a:srgbClr val="7E7E7E"/>
                </a:solidFill>
                <a:latin typeface="Tahoma"/>
                <a:cs typeface="Tahoma"/>
              </a:rPr>
              <a:t> on</a:t>
            </a:r>
            <a:r>
              <a:rPr dirty="0" sz="1200" spc="-90" b="1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1200" spc="-85" b="1">
                <a:solidFill>
                  <a:srgbClr val="7E7E7E"/>
                </a:solidFill>
                <a:latin typeface="Tahoma"/>
                <a:cs typeface="Tahoma"/>
              </a:rPr>
              <a:t>50s </a:t>
            </a:r>
            <a:r>
              <a:rPr dirty="0" sz="1200" spc="-90" b="1">
                <a:solidFill>
                  <a:srgbClr val="7E7E7E"/>
                </a:solidFill>
                <a:latin typeface="Tahoma"/>
                <a:cs typeface="Tahoma"/>
              </a:rPr>
              <a:t>average </a:t>
            </a:r>
            <a:r>
              <a:rPr dirty="0" sz="1200" spc="-20" b="1">
                <a:solidFill>
                  <a:srgbClr val="7E7E7E"/>
                </a:solidFill>
                <a:latin typeface="Tahoma"/>
                <a:cs typeface="Tahoma"/>
              </a:rPr>
              <a:t>ECW</a:t>
            </a:r>
            <a:r>
              <a:rPr dirty="0" sz="1200" spc="-100" b="1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1200" spc="-35" b="1">
                <a:solidFill>
                  <a:srgbClr val="7E7E7E"/>
                </a:solidFill>
                <a:latin typeface="Tahoma"/>
                <a:cs typeface="Tahoma"/>
              </a:rPr>
              <a:t>Ratio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90" b="1">
                <a:solidFill>
                  <a:srgbClr val="7E7E7E"/>
                </a:solidFill>
                <a:latin typeface="Tahoma"/>
                <a:cs typeface="Tahoma"/>
              </a:rPr>
              <a:t>Removal</a:t>
            </a:r>
            <a:r>
              <a:rPr dirty="0" sz="1200" spc="-75" b="1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7E7E7E"/>
                </a:solidFill>
                <a:latin typeface="Tahoma"/>
                <a:cs typeface="Tahoma"/>
              </a:rPr>
              <a:t>of </a:t>
            </a:r>
            <a:r>
              <a:rPr dirty="0" sz="1200" spc="-80" b="1">
                <a:solidFill>
                  <a:srgbClr val="7E7E7E"/>
                </a:solidFill>
                <a:latin typeface="Tahoma"/>
                <a:cs typeface="Tahoma"/>
              </a:rPr>
              <a:t>Excessive</a:t>
            </a:r>
            <a:r>
              <a:rPr dirty="0" sz="1200" spc="-75" b="1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7E7E7E"/>
                </a:solidFill>
                <a:latin typeface="Tahoma"/>
                <a:cs typeface="Tahoma"/>
              </a:rPr>
              <a:t>ECW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4077" y="6476200"/>
            <a:ext cx="281813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7F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95628" cy="11049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793613" y="2734436"/>
            <a:ext cx="439420" cy="168910"/>
          </a:xfrm>
          <a:custGeom>
            <a:avLst/>
            <a:gdLst/>
            <a:ahLst/>
            <a:cxnLst/>
            <a:rect l="l" t="t" r="r" b="b"/>
            <a:pathLst>
              <a:path w="439420" h="168910">
                <a:moveTo>
                  <a:pt x="240837" y="72898"/>
                </a:moveTo>
                <a:lnTo>
                  <a:pt x="198627" y="72898"/>
                </a:lnTo>
                <a:lnTo>
                  <a:pt x="202691" y="74422"/>
                </a:lnTo>
                <a:lnTo>
                  <a:pt x="208407" y="80645"/>
                </a:lnTo>
                <a:lnTo>
                  <a:pt x="209803" y="85725"/>
                </a:lnTo>
                <a:lnTo>
                  <a:pt x="209803" y="97789"/>
                </a:lnTo>
                <a:lnTo>
                  <a:pt x="200062" y="98008"/>
                </a:lnTo>
                <a:lnTo>
                  <a:pt x="191214" y="98679"/>
                </a:lnTo>
                <a:lnTo>
                  <a:pt x="149606" y="114173"/>
                </a:lnTo>
                <a:lnTo>
                  <a:pt x="140588" y="131445"/>
                </a:lnTo>
                <a:lnTo>
                  <a:pt x="140588" y="140970"/>
                </a:lnTo>
                <a:lnTo>
                  <a:pt x="141248" y="145034"/>
                </a:lnTo>
                <a:lnTo>
                  <a:pt x="141350" y="145668"/>
                </a:lnTo>
                <a:lnTo>
                  <a:pt x="143128" y="149733"/>
                </a:lnTo>
                <a:lnTo>
                  <a:pt x="144779" y="153924"/>
                </a:lnTo>
                <a:lnTo>
                  <a:pt x="147065" y="157225"/>
                </a:lnTo>
                <a:lnTo>
                  <a:pt x="150240" y="160020"/>
                </a:lnTo>
                <a:lnTo>
                  <a:pt x="153288" y="162813"/>
                </a:lnTo>
                <a:lnTo>
                  <a:pt x="157099" y="164846"/>
                </a:lnTo>
                <a:lnTo>
                  <a:pt x="165862" y="167639"/>
                </a:lnTo>
                <a:lnTo>
                  <a:pt x="170814" y="168401"/>
                </a:lnTo>
                <a:lnTo>
                  <a:pt x="180212" y="168401"/>
                </a:lnTo>
                <a:lnTo>
                  <a:pt x="205104" y="159638"/>
                </a:lnTo>
                <a:lnTo>
                  <a:pt x="207899" y="157734"/>
                </a:lnTo>
                <a:lnTo>
                  <a:pt x="210692" y="155448"/>
                </a:lnTo>
                <a:lnTo>
                  <a:pt x="213740" y="153035"/>
                </a:lnTo>
                <a:lnTo>
                  <a:pt x="244348" y="153035"/>
                </a:lnTo>
                <a:lnTo>
                  <a:pt x="244348" y="145034"/>
                </a:lnTo>
                <a:lnTo>
                  <a:pt x="183134" y="145034"/>
                </a:lnTo>
                <a:lnTo>
                  <a:pt x="179959" y="144145"/>
                </a:lnTo>
                <a:lnTo>
                  <a:pt x="177673" y="142493"/>
                </a:lnTo>
                <a:lnTo>
                  <a:pt x="175513" y="140842"/>
                </a:lnTo>
                <a:lnTo>
                  <a:pt x="174371" y="137922"/>
                </a:lnTo>
                <a:lnTo>
                  <a:pt x="174472" y="131445"/>
                </a:lnTo>
                <a:lnTo>
                  <a:pt x="192277" y="120014"/>
                </a:lnTo>
                <a:lnTo>
                  <a:pt x="196850" y="118999"/>
                </a:lnTo>
                <a:lnTo>
                  <a:pt x="202691" y="118617"/>
                </a:lnTo>
                <a:lnTo>
                  <a:pt x="244348" y="118617"/>
                </a:lnTo>
                <a:lnTo>
                  <a:pt x="244348" y="85725"/>
                </a:lnTo>
                <a:lnTo>
                  <a:pt x="243705" y="81787"/>
                </a:lnTo>
                <a:lnTo>
                  <a:pt x="243622" y="81279"/>
                </a:lnTo>
                <a:lnTo>
                  <a:pt x="243518" y="80645"/>
                </a:lnTo>
                <a:lnTo>
                  <a:pt x="243414" y="80010"/>
                </a:lnTo>
                <a:lnTo>
                  <a:pt x="243332" y="79501"/>
                </a:lnTo>
                <a:lnTo>
                  <a:pt x="240837" y="72898"/>
                </a:lnTo>
                <a:close/>
              </a:path>
              <a:path w="439420" h="168910">
                <a:moveTo>
                  <a:pt x="244348" y="153035"/>
                </a:moveTo>
                <a:lnTo>
                  <a:pt x="213740" y="153035"/>
                </a:lnTo>
                <a:lnTo>
                  <a:pt x="217424" y="162433"/>
                </a:lnTo>
                <a:lnTo>
                  <a:pt x="218914" y="164464"/>
                </a:lnTo>
                <a:lnTo>
                  <a:pt x="219056" y="164464"/>
                </a:lnTo>
                <a:lnTo>
                  <a:pt x="220472" y="165226"/>
                </a:lnTo>
                <a:lnTo>
                  <a:pt x="222503" y="166242"/>
                </a:lnTo>
                <a:lnTo>
                  <a:pt x="222884" y="166242"/>
                </a:lnTo>
                <a:lnTo>
                  <a:pt x="225424" y="166750"/>
                </a:lnTo>
                <a:lnTo>
                  <a:pt x="244348" y="166750"/>
                </a:lnTo>
                <a:lnTo>
                  <a:pt x="244348" y="153035"/>
                </a:lnTo>
                <a:close/>
              </a:path>
              <a:path w="439420" h="168910">
                <a:moveTo>
                  <a:pt x="244348" y="118617"/>
                </a:moveTo>
                <a:lnTo>
                  <a:pt x="209803" y="118617"/>
                </a:lnTo>
                <a:lnTo>
                  <a:pt x="209803" y="134747"/>
                </a:lnTo>
                <a:lnTo>
                  <a:pt x="206375" y="138429"/>
                </a:lnTo>
                <a:lnTo>
                  <a:pt x="202819" y="140970"/>
                </a:lnTo>
                <a:lnTo>
                  <a:pt x="199389" y="142621"/>
                </a:lnTo>
                <a:lnTo>
                  <a:pt x="195961" y="144145"/>
                </a:lnTo>
                <a:lnTo>
                  <a:pt x="192024" y="145034"/>
                </a:lnTo>
                <a:lnTo>
                  <a:pt x="244348" y="145034"/>
                </a:lnTo>
                <a:lnTo>
                  <a:pt x="244348" y="118617"/>
                </a:lnTo>
                <a:close/>
              </a:path>
              <a:path w="439420" h="168910">
                <a:moveTo>
                  <a:pt x="205104" y="45720"/>
                </a:moveTo>
                <a:lnTo>
                  <a:pt x="197992" y="45720"/>
                </a:lnTo>
                <a:lnTo>
                  <a:pt x="190589" y="46007"/>
                </a:lnTo>
                <a:lnTo>
                  <a:pt x="151548" y="60063"/>
                </a:lnTo>
                <a:lnTo>
                  <a:pt x="146050" y="64515"/>
                </a:lnTo>
                <a:lnTo>
                  <a:pt x="153415" y="77342"/>
                </a:lnTo>
                <a:lnTo>
                  <a:pt x="154812" y="78866"/>
                </a:lnTo>
                <a:lnTo>
                  <a:pt x="156463" y="80010"/>
                </a:lnTo>
                <a:lnTo>
                  <a:pt x="158439" y="81279"/>
                </a:lnTo>
                <a:lnTo>
                  <a:pt x="158648" y="81279"/>
                </a:lnTo>
                <a:lnTo>
                  <a:pt x="160274" y="81787"/>
                </a:lnTo>
                <a:lnTo>
                  <a:pt x="165481" y="81787"/>
                </a:lnTo>
                <a:lnTo>
                  <a:pt x="167894" y="81279"/>
                </a:lnTo>
                <a:lnTo>
                  <a:pt x="169799" y="80390"/>
                </a:lnTo>
                <a:lnTo>
                  <a:pt x="171831" y="79501"/>
                </a:lnTo>
                <a:lnTo>
                  <a:pt x="173862" y="78486"/>
                </a:lnTo>
                <a:lnTo>
                  <a:pt x="175895" y="77342"/>
                </a:lnTo>
                <a:lnTo>
                  <a:pt x="178053" y="76200"/>
                </a:lnTo>
                <a:lnTo>
                  <a:pt x="180466" y="75184"/>
                </a:lnTo>
                <a:lnTo>
                  <a:pt x="183134" y="74167"/>
                </a:lnTo>
                <a:lnTo>
                  <a:pt x="185800" y="73278"/>
                </a:lnTo>
                <a:lnTo>
                  <a:pt x="189229" y="72898"/>
                </a:lnTo>
                <a:lnTo>
                  <a:pt x="240837" y="72898"/>
                </a:lnTo>
                <a:lnTo>
                  <a:pt x="239013" y="68072"/>
                </a:lnTo>
                <a:lnTo>
                  <a:pt x="235965" y="63118"/>
                </a:lnTo>
                <a:lnTo>
                  <a:pt x="227964" y="54863"/>
                </a:lnTo>
                <a:lnTo>
                  <a:pt x="223012" y="51562"/>
                </a:lnTo>
                <a:lnTo>
                  <a:pt x="217297" y="49275"/>
                </a:lnTo>
                <a:lnTo>
                  <a:pt x="211619" y="46878"/>
                </a:lnTo>
                <a:lnTo>
                  <a:pt x="205104" y="45720"/>
                </a:lnTo>
                <a:close/>
              </a:path>
              <a:path w="439420" h="168910">
                <a:moveTo>
                  <a:pt x="292481" y="48005"/>
                </a:moveTo>
                <a:lnTo>
                  <a:pt x="269748" y="48005"/>
                </a:lnTo>
                <a:lnTo>
                  <a:pt x="269748" y="166624"/>
                </a:lnTo>
                <a:lnTo>
                  <a:pt x="305181" y="166624"/>
                </a:lnTo>
                <a:lnTo>
                  <a:pt x="305181" y="93852"/>
                </a:lnTo>
                <a:lnTo>
                  <a:pt x="309542" y="87352"/>
                </a:lnTo>
                <a:lnTo>
                  <a:pt x="314642" y="82708"/>
                </a:lnTo>
                <a:lnTo>
                  <a:pt x="320320" y="80010"/>
                </a:lnTo>
                <a:lnTo>
                  <a:pt x="319879" y="80010"/>
                </a:lnTo>
                <a:lnTo>
                  <a:pt x="327151" y="78993"/>
                </a:lnTo>
                <a:lnTo>
                  <a:pt x="342188" y="78993"/>
                </a:lnTo>
                <a:lnTo>
                  <a:pt x="342900" y="78486"/>
                </a:lnTo>
                <a:lnTo>
                  <a:pt x="343535" y="77342"/>
                </a:lnTo>
                <a:lnTo>
                  <a:pt x="343788" y="75691"/>
                </a:lnTo>
                <a:lnTo>
                  <a:pt x="345238" y="67437"/>
                </a:lnTo>
                <a:lnTo>
                  <a:pt x="303022" y="67437"/>
                </a:lnTo>
                <a:lnTo>
                  <a:pt x="300989" y="56387"/>
                </a:lnTo>
                <a:lnTo>
                  <a:pt x="300841" y="55499"/>
                </a:lnTo>
                <a:lnTo>
                  <a:pt x="300736" y="54863"/>
                </a:lnTo>
                <a:lnTo>
                  <a:pt x="300354" y="53593"/>
                </a:lnTo>
                <a:lnTo>
                  <a:pt x="299974" y="52450"/>
                </a:lnTo>
                <a:lnTo>
                  <a:pt x="299529" y="51562"/>
                </a:lnTo>
                <a:lnTo>
                  <a:pt x="298958" y="50546"/>
                </a:lnTo>
                <a:lnTo>
                  <a:pt x="298069" y="49911"/>
                </a:lnTo>
                <a:lnTo>
                  <a:pt x="297307" y="49275"/>
                </a:lnTo>
                <a:lnTo>
                  <a:pt x="296290" y="48767"/>
                </a:lnTo>
                <a:lnTo>
                  <a:pt x="294004" y="48260"/>
                </a:lnTo>
                <a:lnTo>
                  <a:pt x="292481" y="48005"/>
                </a:lnTo>
                <a:close/>
              </a:path>
              <a:path w="439420" h="168910">
                <a:moveTo>
                  <a:pt x="334941" y="79755"/>
                </a:moveTo>
                <a:lnTo>
                  <a:pt x="331215" y="79755"/>
                </a:lnTo>
                <a:lnTo>
                  <a:pt x="339851" y="80010"/>
                </a:lnTo>
                <a:lnTo>
                  <a:pt x="336126" y="80010"/>
                </a:lnTo>
                <a:lnTo>
                  <a:pt x="334941" y="79755"/>
                </a:lnTo>
                <a:close/>
              </a:path>
              <a:path w="439420" h="168910">
                <a:moveTo>
                  <a:pt x="342188" y="78993"/>
                </a:moveTo>
                <a:lnTo>
                  <a:pt x="329819" y="78993"/>
                </a:lnTo>
                <a:lnTo>
                  <a:pt x="331977" y="79248"/>
                </a:lnTo>
                <a:lnTo>
                  <a:pt x="333756" y="79501"/>
                </a:lnTo>
                <a:lnTo>
                  <a:pt x="334941" y="79755"/>
                </a:lnTo>
                <a:lnTo>
                  <a:pt x="340995" y="79755"/>
                </a:lnTo>
                <a:lnTo>
                  <a:pt x="342188" y="78993"/>
                </a:lnTo>
                <a:close/>
              </a:path>
              <a:path w="439420" h="168910">
                <a:moveTo>
                  <a:pt x="340740" y="45720"/>
                </a:moveTo>
                <a:lnTo>
                  <a:pt x="328929" y="45720"/>
                </a:lnTo>
                <a:lnTo>
                  <a:pt x="322961" y="47751"/>
                </a:lnTo>
                <a:lnTo>
                  <a:pt x="312165" y="55499"/>
                </a:lnTo>
                <a:lnTo>
                  <a:pt x="307339" y="60833"/>
                </a:lnTo>
                <a:lnTo>
                  <a:pt x="303022" y="67437"/>
                </a:lnTo>
                <a:lnTo>
                  <a:pt x="345238" y="67437"/>
                </a:lnTo>
                <a:lnTo>
                  <a:pt x="348204" y="50546"/>
                </a:lnTo>
                <a:lnTo>
                  <a:pt x="348316" y="49911"/>
                </a:lnTo>
                <a:lnTo>
                  <a:pt x="348361" y="49657"/>
                </a:lnTo>
                <a:lnTo>
                  <a:pt x="345059" y="47116"/>
                </a:lnTo>
                <a:lnTo>
                  <a:pt x="340740" y="45720"/>
                </a:lnTo>
                <a:close/>
              </a:path>
              <a:path w="439420" h="168910">
                <a:moveTo>
                  <a:pt x="58674" y="0"/>
                </a:moveTo>
                <a:lnTo>
                  <a:pt x="0" y="0"/>
                </a:lnTo>
                <a:lnTo>
                  <a:pt x="0" y="166624"/>
                </a:lnTo>
                <a:lnTo>
                  <a:pt x="38608" y="166624"/>
                </a:lnTo>
                <a:lnTo>
                  <a:pt x="38608" y="110871"/>
                </a:lnTo>
                <a:lnTo>
                  <a:pt x="58674" y="110871"/>
                </a:lnTo>
                <a:lnTo>
                  <a:pt x="97027" y="104012"/>
                </a:lnTo>
                <a:lnTo>
                  <a:pt x="119937" y="81787"/>
                </a:lnTo>
                <a:lnTo>
                  <a:pt x="38608" y="81787"/>
                </a:lnTo>
                <a:lnTo>
                  <a:pt x="38608" y="28955"/>
                </a:lnTo>
                <a:lnTo>
                  <a:pt x="120259" y="28955"/>
                </a:lnTo>
                <a:lnTo>
                  <a:pt x="119252" y="26288"/>
                </a:lnTo>
                <a:lnTo>
                  <a:pt x="115188" y="20574"/>
                </a:lnTo>
                <a:lnTo>
                  <a:pt x="109727" y="15748"/>
                </a:lnTo>
                <a:lnTo>
                  <a:pt x="104266" y="10795"/>
                </a:lnTo>
                <a:lnTo>
                  <a:pt x="67200" y="261"/>
                </a:lnTo>
                <a:lnTo>
                  <a:pt x="58674" y="0"/>
                </a:lnTo>
                <a:close/>
              </a:path>
              <a:path w="439420" h="168910">
                <a:moveTo>
                  <a:pt x="120259" y="28955"/>
                </a:moveTo>
                <a:lnTo>
                  <a:pt x="63626" y="28955"/>
                </a:lnTo>
                <a:lnTo>
                  <a:pt x="67817" y="29590"/>
                </a:lnTo>
                <a:lnTo>
                  <a:pt x="71374" y="30734"/>
                </a:lnTo>
                <a:lnTo>
                  <a:pt x="85344" y="44068"/>
                </a:lnTo>
                <a:lnTo>
                  <a:pt x="86487" y="47116"/>
                </a:lnTo>
                <a:lnTo>
                  <a:pt x="87122" y="50673"/>
                </a:lnTo>
                <a:lnTo>
                  <a:pt x="87122" y="63118"/>
                </a:lnTo>
                <a:lnTo>
                  <a:pt x="84836" y="69723"/>
                </a:lnTo>
                <a:lnTo>
                  <a:pt x="80390" y="74549"/>
                </a:lnTo>
                <a:lnTo>
                  <a:pt x="76073" y="79375"/>
                </a:lnTo>
                <a:lnTo>
                  <a:pt x="68834" y="81787"/>
                </a:lnTo>
                <a:lnTo>
                  <a:pt x="119937" y="81787"/>
                </a:lnTo>
                <a:lnTo>
                  <a:pt x="121665" y="77342"/>
                </a:lnTo>
                <a:lnTo>
                  <a:pt x="124333" y="70358"/>
                </a:lnTo>
                <a:lnTo>
                  <a:pt x="125660" y="63118"/>
                </a:lnTo>
                <a:lnTo>
                  <a:pt x="125729" y="46736"/>
                </a:lnTo>
                <a:lnTo>
                  <a:pt x="124460" y="39624"/>
                </a:lnTo>
                <a:lnTo>
                  <a:pt x="121792" y="33020"/>
                </a:lnTo>
                <a:lnTo>
                  <a:pt x="120259" y="28955"/>
                </a:lnTo>
                <a:close/>
              </a:path>
              <a:path w="439420" h="168910">
                <a:moveTo>
                  <a:pt x="406526" y="72516"/>
                </a:moveTo>
                <a:lnTo>
                  <a:pt x="371094" y="72516"/>
                </a:lnTo>
                <a:lnTo>
                  <a:pt x="371176" y="139573"/>
                </a:lnTo>
                <a:lnTo>
                  <a:pt x="400176" y="168401"/>
                </a:lnTo>
                <a:lnTo>
                  <a:pt x="411861" y="168401"/>
                </a:lnTo>
                <a:lnTo>
                  <a:pt x="416977" y="167639"/>
                </a:lnTo>
                <a:lnTo>
                  <a:pt x="417390" y="167639"/>
                </a:lnTo>
                <a:lnTo>
                  <a:pt x="423545" y="165862"/>
                </a:lnTo>
                <a:lnTo>
                  <a:pt x="429260" y="164084"/>
                </a:lnTo>
                <a:lnTo>
                  <a:pt x="434339" y="161543"/>
                </a:lnTo>
                <a:lnTo>
                  <a:pt x="438912" y="158114"/>
                </a:lnTo>
                <a:lnTo>
                  <a:pt x="427905" y="140842"/>
                </a:lnTo>
                <a:lnTo>
                  <a:pt x="411734" y="140842"/>
                </a:lnTo>
                <a:lnTo>
                  <a:pt x="409828" y="139953"/>
                </a:lnTo>
                <a:lnTo>
                  <a:pt x="408631" y="138429"/>
                </a:lnTo>
                <a:lnTo>
                  <a:pt x="407162" y="136398"/>
                </a:lnTo>
                <a:lnTo>
                  <a:pt x="406526" y="134112"/>
                </a:lnTo>
                <a:lnTo>
                  <a:pt x="406526" y="72516"/>
                </a:lnTo>
                <a:close/>
              </a:path>
              <a:path w="439420" h="168910">
                <a:moveTo>
                  <a:pt x="421639" y="138684"/>
                </a:moveTo>
                <a:lnTo>
                  <a:pt x="421512" y="138684"/>
                </a:lnTo>
                <a:lnTo>
                  <a:pt x="420497" y="139191"/>
                </a:lnTo>
                <a:lnTo>
                  <a:pt x="419862" y="139573"/>
                </a:lnTo>
                <a:lnTo>
                  <a:pt x="418718" y="139953"/>
                </a:lnTo>
                <a:lnTo>
                  <a:pt x="418846" y="139953"/>
                </a:lnTo>
                <a:lnTo>
                  <a:pt x="418338" y="140208"/>
                </a:lnTo>
                <a:lnTo>
                  <a:pt x="417575" y="140462"/>
                </a:lnTo>
                <a:lnTo>
                  <a:pt x="416242" y="140842"/>
                </a:lnTo>
                <a:lnTo>
                  <a:pt x="427905" y="140842"/>
                </a:lnTo>
                <a:lnTo>
                  <a:pt x="427482" y="140208"/>
                </a:lnTo>
                <a:lnTo>
                  <a:pt x="426952" y="139573"/>
                </a:lnTo>
                <a:lnTo>
                  <a:pt x="426529" y="139191"/>
                </a:lnTo>
                <a:lnTo>
                  <a:pt x="420369" y="139191"/>
                </a:lnTo>
                <a:lnTo>
                  <a:pt x="421639" y="138684"/>
                </a:lnTo>
                <a:close/>
              </a:path>
              <a:path w="439420" h="168910">
                <a:moveTo>
                  <a:pt x="425576" y="138429"/>
                </a:moveTo>
                <a:lnTo>
                  <a:pt x="421978" y="138429"/>
                </a:lnTo>
                <a:lnTo>
                  <a:pt x="421639" y="138684"/>
                </a:lnTo>
                <a:lnTo>
                  <a:pt x="425894" y="138684"/>
                </a:lnTo>
                <a:lnTo>
                  <a:pt x="425576" y="138429"/>
                </a:lnTo>
                <a:close/>
              </a:path>
              <a:path w="439420" h="168910">
                <a:moveTo>
                  <a:pt x="406526" y="13588"/>
                </a:moveTo>
                <a:lnTo>
                  <a:pt x="383666" y="13588"/>
                </a:lnTo>
                <a:lnTo>
                  <a:pt x="381126" y="15493"/>
                </a:lnTo>
                <a:lnTo>
                  <a:pt x="373252" y="48005"/>
                </a:lnTo>
                <a:lnTo>
                  <a:pt x="354329" y="51688"/>
                </a:lnTo>
                <a:lnTo>
                  <a:pt x="354329" y="67817"/>
                </a:lnTo>
                <a:lnTo>
                  <a:pt x="354964" y="69596"/>
                </a:lnTo>
                <a:lnTo>
                  <a:pt x="356362" y="70738"/>
                </a:lnTo>
                <a:lnTo>
                  <a:pt x="357632" y="71882"/>
                </a:lnTo>
                <a:lnTo>
                  <a:pt x="359156" y="72516"/>
                </a:lnTo>
                <a:lnTo>
                  <a:pt x="435356" y="72516"/>
                </a:lnTo>
                <a:lnTo>
                  <a:pt x="435356" y="48260"/>
                </a:lnTo>
                <a:lnTo>
                  <a:pt x="406526" y="48260"/>
                </a:lnTo>
                <a:lnTo>
                  <a:pt x="406526" y="13588"/>
                </a:lnTo>
                <a:close/>
              </a:path>
            </a:pathLst>
          </a:custGeom>
          <a:solidFill>
            <a:srgbClr val="9E0A2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8151" y="2732658"/>
            <a:ext cx="118237" cy="17017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739385" y="3194761"/>
            <a:ext cx="2711450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110">
                <a:solidFill>
                  <a:srgbClr val="393938"/>
                </a:solidFill>
              </a:rPr>
              <a:t>Clinical</a:t>
            </a:r>
            <a:r>
              <a:rPr dirty="0" sz="3400" spc="-270">
                <a:solidFill>
                  <a:srgbClr val="393938"/>
                </a:solidFill>
              </a:rPr>
              <a:t> </a:t>
            </a:r>
            <a:r>
              <a:rPr dirty="0" sz="3400" spc="-180">
                <a:solidFill>
                  <a:srgbClr val="393938"/>
                </a:solidFill>
              </a:rPr>
              <a:t>Cases</a:t>
            </a:r>
            <a:endParaRPr sz="3400"/>
          </a:p>
        </p:txBody>
      </p:sp>
      <p:sp>
        <p:nvSpPr>
          <p:cNvPr id="8" name="object 8"/>
          <p:cNvSpPr txBox="1"/>
          <p:nvPr/>
        </p:nvSpPr>
        <p:spPr>
          <a:xfrm>
            <a:off x="4071873" y="3861942"/>
            <a:ext cx="40481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Three</a:t>
            </a:r>
            <a:r>
              <a:rPr dirty="0" sz="1400" spc="-10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crucial</a:t>
            </a:r>
            <a:r>
              <a:rPr dirty="0" sz="1400" spc="-10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elements</a:t>
            </a:r>
            <a:r>
              <a:rPr dirty="0" sz="1400" spc="-85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for</a:t>
            </a:r>
            <a:r>
              <a:rPr dirty="0" sz="1400" spc="-10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393938"/>
                </a:solidFill>
                <a:latin typeface="Tahoma"/>
                <a:cs typeface="Tahoma"/>
              </a:rPr>
              <a:t>effective</a:t>
            </a:r>
            <a:r>
              <a:rPr dirty="0" sz="1400" spc="-80">
                <a:solidFill>
                  <a:srgbClr val="39393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393938"/>
                </a:solidFill>
                <a:latin typeface="Tahoma"/>
                <a:cs typeface="Tahoma"/>
              </a:rPr>
              <a:t>implementation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4123" y="5207506"/>
            <a:ext cx="2817876" cy="165049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435051" y="570103"/>
            <a:ext cx="2321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03</a:t>
            </a:r>
            <a:r>
              <a:rPr dirty="0" sz="2400" spc="-8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Clinical</a:t>
            </a:r>
            <a:r>
              <a:rPr dirty="0" baseline="1157" sz="3600" spc="-397">
                <a:solidFill>
                  <a:srgbClr val="393938"/>
                </a:solidFill>
              </a:rPr>
              <a:t> </a:t>
            </a:r>
            <a:r>
              <a:rPr dirty="0" baseline="1157" sz="3600" spc="-202">
                <a:solidFill>
                  <a:srgbClr val="393938"/>
                </a:solidFill>
              </a:rPr>
              <a:t>Cases</a:t>
            </a:r>
            <a:endParaRPr baseline="1157" sz="3600"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0584" y="1051686"/>
            <a:ext cx="1066965" cy="14947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0371" y="1451736"/>
            <a:ext cx="2151087" cy="14008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535679" y="261742"/>
            <a:ext cx="4099560" cy="5876290"/>
            <a:chOff x="3535679" y="261742"/>
            <a:chExt cx="4099560" cy="587629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35679" y="261742"/>
              <a:ext cx="4099560" cy="58762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75887" y="734567"/>
              <a:ext cx="561340" cy="134620"/>
            </a:xfrm>
            <a:custGeom>
              <a:avLst/>
              <a:gdLst/>
              <a:ahLst/>
              <a:cxnLst/>
              <a:rect l="l" t="t" r="r" b="b"/>
              <a:pathLst>
                <a:path w="561339" h="134619">
                  <a:moveTo>
                    <a:pt x="56083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560832" y="134112"/>
                  </a:lnTo>
                  <a:lnTo>
                    <a:pt x="5608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75887" y="1741931"/>
              <a:ext cx="2473960" cy="407034"/>
            </a:xfrm>
            <a:custGeom>
              <a:avLst/>
              <a:gdLst/>
              <a:ahLst/>
              <a:cxnLst/>
              <a:rect l="l" t="t" r="r" b="b"/>
              <a:pathLst>
                <a:path w="2473960" h="407035">
                  <a:moveTo>
                    <a:pt x="2473452" y="0"/>
                  </a:moveTo>
                  <a:lnTo>
                    <a:pt x="0" y="0"/>
                  </a:lnTo>
                  <a:lnTo>
                    <a:pt x="0" y="406908"/>
                  </a:lnTo>
                  <a:lnTo>
                    <a:pt x="2473452" y="406908"/>
                  </a:lnTo>
                  <a:lnTo>
                    <a:pt x="2473452" y="0"/>
                  </a:lnTo>
                  <a:close/>
                </a:path>
              </a:pathLst>
            </a:custGeom>
            <a:solidFill>
              <a:srgbClr val="C00000">
                <a:alpha val="2392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75887" y="1741931"/>
              <a:ext cx="2473960" cy="407034"/>
            </a:xfrm>
            <a:custGeom>
              <a:avLst/>
              <a:gdLst/>
              <a:ahLst/>
              <a:cxnLst/>
              <a:rect l="l" t="t" r="r" b="b"/>
              <a:pathLst>
                <a:path w="2473960" h="407035">
                  <a:moveTo>
                    <a:pt x="0" y="406908"/>
                  </a:moveTo>
                  <a:lnTo>
                    <a:pt x="2473452" y="406908"/>
                  </a:lnTo>
                  <a:lnTo>
                    <a:pt x="2473452" y="0"/>
                  </a:lnTo>
                  <a:lnTo>
                    <a:pt x="0" y="0"/>
                  </a:lnTo>
                  <a:lnTo>
                    <a:pt x="0" y="40690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64579" y="3573779"/>
              <a:ext cx="1381125" cy="147955"/>
            </a:xfrm>
            <a:custGeom>
              <a:avLst/>
              <a:gdLst/>
              <a:ahLst/>
              <a:cxnLst/>
              <a:rect l="l" t="t" r="r" b="b"/>
              <a:pathLst>
                <a:path w="1381125" h="147954">
                  <a:moveTo>
                    <a:pt x="1380744" y="0"/>
                  </a:moveTo>
                  <a:lnTo>
                    <a:pt x="0" y="0"/>
                  </a:lnTo>
                  <a:lnTo>
                    <a:pt x="0" y="147828"/>
                  </a:lnTo>
                  <a:lnTo>
                    <a:pt x="1380744" y="147828"/>
                  </a:lnTo>
                  <a:lnTo>
                    <a:pt x="1380744" y="0"/>
                  </a:lnTo>
                  <a:close/>
                </a:path>
              </a:pathLst>
            </a:custGeom>
            <a:solidFill>
              <a:srgbClr val="C00000">
                <a:alpha val="2392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64579" y="3573779"/>
              <a:ext cx="1381125" cy="147955"/>
            </a:xfrm>
            <a:custGeom>
              <a:avLst/>
              <a:gdLst/>
              <a:ahLst/>
              <a:cxnLst/>
              <a:rect l="l" t="t" r="r" b="b"/>
              <a:pathLst>
                <a:path w="1381125" h="147954">
                  <a:moveTo>
                    <a:pt x="0" y="147828"/>
                  </a:moveTo>
                  <a:lnTo>
                    <a:pt x="1380744" y="147828"/>
                  </a:lnTo>
                  <a:lnTo>
                    <a:pt x="1380744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72200" y="3858767"/>
              <a:ext cx="1381125" cy="147955"/>
            </a:xfrm>
            <a:custGeom>
              <a:avLst/>
              <a:gdLst/>
              <a:ahLst/>
              <a:cxnLst/>
              <a:rect l="l" t="t" r="r" b="b"/>
              <a:pathLst>
                <a:path w="1381125" h="147954">
                  <a:moveTo>
                    <a:pt x="1380744" y="0"/>
                  </a:moveTo>
                  <a:lnTo>
                    <a:pt x="0" y="0"/>
                  </a:lnTo>
                  <a:lnTo>
                    <a:pt x="0" y="147828"/>
                  </a:lnTo>
                  <a:lnTo>
                    <a:pt x="1380744" y="147828"/>
                  </a:lnTo>
                  <a:lnTo>
                    <a:pt x="1380744" y="0"/>
                  </a:lnTo>
                  <a:close/>
                </a:path>
              </a:pathLst>
            </a:custGeom>
            <a:solidFill>
              <a:srgbClr val="C00000">
                <a:alpha val="2392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72200" y="3858767"/>
              <a:ext cx="1381125" cy="147955"/>
            </a:xfrm>
            <a:custGeom>
              <a:avLst/>
              <a:gdLst/>
              <a:ahLst/>
              <a:cxnLst/>
              <a:rect l="l" t="t" r="r" b="b"/>
              <a:pathLst>
                <a:path w="1381125" h="147954">
                  <a:moveTo>
                    <a:pt x="0" y="147828"/>
                  </a:moveTo>
                  <a:lnTo>
                    <a:pt x="1380744" y="147828"/>
                  </a:lnTo>
                  <a:lnTo>
                    <a:pt x="1380744" y="0"/>
                  </a:lnTo>
                  <a:lnTo>
                    <a:pt x="0" y="0"/>
                  </a:lnTo>
                  <a:lnTo>
                    <a:pt x="0" y="14782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04935" y="1830832"/>
            <a:ext cx="2068195" cy="16471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99856" y="2044445"/>
            <a:ext cx="1902333" cy="16446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404859" y="2514600"/>
            <a:ext cx="2162810" cy="923925"/>
          </a:xfrm>
          <a:prstGeom prst="rect">
            <a:avLst/>
          </a:prstGeom>
          <a:solidFill>
            <a:srgbClr val="9F112C"/>
          </a:solidFill>
        </p:spPr>
        <p:txBody>
          <a:bodyPr wrap="square" lIns="0" tIns="996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785"/>
              </a:spcBef>
            </a:pPr>
            <a:r>
              <a:rPr dirty="0" sz="1200" spc="-110" b="1">
                <a:solidFill>
                  <a:srgbClr val="FFFFFF"/>
                </a:solidFill>
                <a:latin typeface="Tahoma"/>
                <a:cs typeface="Tahoma"/>
              </a:rPr>
              <a:t>Low</a:t>
            </a:r>
            <a:r>
              <a:rPr dirty="0" sz="12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30" b="1">
                <a:solidFill>
                  <a:srgbClr val="FFFFFF"/>
                </a:solidFill>
                <a:latin typeface="Tahoma"/>
                <a:cs typeface="Tahoma"/>
              </a:rPr>
              <a:t>SMI</a:t>
            </a:r>
            <a:r>
              <a:rPr dirty="0" sz="1200" spc="-1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(7.0)</a:t>
            </a:r>
            <a:endParaRPr sz="12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  <a:spcBef>
                <a:spcPts val="720"/>
              </a:spcBef>
            </a:pPr>
            <a:r>
              <a:rPr dirty="0" sz="1200" spc="-100" b="1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dirty="0" sz="120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5" b="1">
                <a:solidFill>
                  <a:srgbClr val="FFFFFF"/>
                </a:solidFill>
                <a:latin typeface="Tahoma"/>
                <a:cs typeface="Tahoma"/>
              </a:rPr>
              <a:t>ECW</a:t>
            </a:r>
            <a:r>
              <a:rPr dirty="0" sz="12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(0.432)</a:t>
            </a:r>
            <a:endParaRPr sz="1200">
              <a:latin typeface="Tahoma"/>
              <a:cs typeface="Tahoma"/>
            </a:endParaRPr>
          </a:p>
          <a:p>
            <a:pPr algn="ctr" marL="5715">
              <a:lnSpc>
                <a:spcPct val="100000"/>
              </a:lnSpc>
              <a:spcBef>
                <a:spcPts val="720"/>
              </a:spcBef>
            </a:pPr>
            <a:r>
              <a:rPr dirty="0" sz="1200" spc="-114" b="1">
                <a:solidFill>
                  <a:srgbClr val="FFFFFF"/>
                </a:solidFill>
                <a:latin typeface="Tahoma"/>
                <a:cs typeface="Tahoma"/>
              </a:rPr>
              <a:t>Low</a:t>
            </a:r>
            <a:r>
              <a:rPr dirty="0" sz="1200" spc="-1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FFFFFF"/>
                </a:solidFill>
                <a:latin typeface="Tahoma"/>
                <a:cs typeface="Tahoma"/>
              </a:rPr>
              <a:t>PhA</a:t>
            </a:r>
            <a:r>
              <a:rPr dirty="0" sz="120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(2.5)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478518" y="3714750"/>
            <a:ext cx="76200" cy="256540"/>
          </a:xfrm>
          <a:custGeom>
            <a:avLst/>
            <a:gdLst/>
            <a:ahLst/>
            <a:cxnLst/>
            <a:rect l="l" t="t" r="r" b="b"/>
            <a:pathLst>
              <a:path w="76200" h="256539">
                <a:moveTo>
                  <a:pt x="28193" y="180086"/>
                </a:moveTo>
                <a:lnTo>
                  <a:pt x="0" y="180086"/>
                </a:lnTo>
                <a:lnTo>
                  <a:pt x="38100" y="256286"/>
                </a:lnTo>
                <a:lnTo>
                  <a:pt x="69850" y="192786"/>
                </a:lnTo>
                <a:lnTo>
                  <a:pt x="28193" y="192786"/>
                </a:lnTo>
                <a:lnTo>
                  <a:pt x="28193" y="180086"/>
                </a:lnTo>
                <a:close/>
              </a:path>
              <a:path w="76200" h="256539">
                <a:moveTo>
                  <a:pt x="48005" y="0"/>
                </a:moveTo>
                <a:lnTo>
                  <a:pt x="28193" y="0"/>
                </a:lnTo>
                <a:lnTo>
                  <a:pt x="28193" y="192786"/>
                </a:lnTo>
                <a:lnTo>
                  <a:pt x="48005" y="192786"/>
                </a:lnTo>
                <a:lnTo>
                  <a:pt x="48005" y="0"/>
                </a:lnTo>
                <a:close/>
              </a:path>
              <a:path w="76200" h="256539">
                <a:moveTo>
                  <a:pt x="76200" y="180086"/>
                </a:moveTo>
                <a:lnTo>
                  <a:pt x="48005" y="180086"/>
                </a:lnTo>
                <a:lnTo>
                  <a:pt x="48005" y="192786"/>
                </a:lnTo>
                <a:lnTo>
                  <a:pt x="69850" y="192786"/>
                </a:lnTo>
                <a:lnTo>
                  <a:pt x="76200" y="180086"/>
                </a:lnTo>
                <a:close/>
              </a:path>
            </a:pathLst>
          </a:custGeom>
          <a:solidFill>
            <a:srgbClr val="A43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962900" y="4299203"/>
            <a:ext cx="3107690" cy="940435"/>
          </a:xfrm>
          <a:prstGeom prst="rect">
            <a:avLst/>
          </a:prstGeom>
          <a:solidFill>
            <a:srgbClr val="4A4F5A"/>
          </a:solidFill>
        </p:spPr>
        <p:txBody>
          <a:bodyPr wrap="square" lIns="0" tIns="749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9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6350">
              <a:lnSpc>
                <a:spcPct val="100000"/>
              </a:lnSpc>
            </a:pPr>
            <a:r>
              <a:rPr dirty="0" sz="1200" spc="-125" b="1">
                <a:solidFill>
                  <a:srgbClr val="FFFFFF"/>
                </a:solidFill>
                <a:latin typeface="Tahoma"/>
                <a:cs typeface="Tahoma"/>
              </a:rPr>
              <a:t>Intensive</a:t>
            </a:r>
            <a:r>
              <a:rPr dirty="0" sz="1200" spc="-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nutrition</a:t>
            </a:r>
            <a:r>
              <a:rPr dirty="0" sz="12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therapy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ahoma"/>
                <a:cs typeface="Tahoma"/>
              </a:rPr>
              <a:t>needed</a:t>
            </a:r>
            <a:endParaRPr sz="1200">
              <a:latin typeface="Tahoma"/>
              <a:cs typeface="Tahoma"/>
            </a:endParaRPr>
          </a:p>
          <a:p>
            <a:pPr algn="ctr" marL="33655">
              <a:lnSpc>
                <a:spcPct val="100000"/>
              </a:lnSpc>
              <a:spcBef>
                <a:spcPts val="720"/>
              </a:spcBef>
            </a:pP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due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muscle</a:t>
            </a:r>
            <a:r>
              <a:rPr dirty="0" sz="12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2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cellular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nutritional</a:t>
            </a:r>
            <a:r>
              <a:rPr dirty="0" sz="12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deficiency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4077" y="6476200"/>
            <a:ext cx="281813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35051" y="570103"/>
            <a:ext cx="2321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03</a:t>
            </a:r>
            <a:r>
              <a:rPr dirty="0" sz="2400" spc="-8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Clinical</a:t>
            </a:r>
            <a:r>
              <a:rPr dirty="0" baseline="1157" sz="3600" spc="-397">
                <a:solidFill>
                  <a:srgbClr val="393938"/>
                </a:solidFill>
              </a:rPr>
              <a:t> </a:t>
            </a:r>
            <a:r>
              <a:rPr dirty="0" baseline="1157" sz="3600" spc="-202">
                <a:solidFill>
                  <a:srgbClr val="393938"/>
                </a:solidFill>
              </a:rPr>
              <a:t>Cases</a:t>
            </a:r>
            <a:endParaRPr baseline="1157" sz="3600"/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2604" y="1051686"/>
            <a:ext cx="1545005" cy="14947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40371" y="1451736"/>
            <a:ext cx="1764030" cy="140335"/>
            <a:chOff x="1140371" y="1451736"/>
            <a:chExt cx="1764030" cy="14033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0371" y="1485391"/>
              <a:ext cx="212940" cy="1064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1538" y="1451736"/>
              <a:ext cx="1512697" cy="140080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2918586" y="1108204"/>
            <a:ext cx="4218305" cy="5039995"/>
            <a:chOff x="2918586" y="1108204"/>
            <a:chExt cx="4218305" cy="5039995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0117" y="1108204"/>
              <a:ext cx="4156632" cy="50396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31997" y="1453134"/>
              <a:ext cx="3296920" cy="2131060"/>
            </a:xfrm>
            <a:custGeom>
              <a:avLst/>
              <a:gdLst/>
              <a:ahLst/>
              <a:cxnLst/>
              <a:rect l="l" t="t" r="r" b="b"/>
              <a:pathLst>
                <a:path w="3296920" h="2131060">
                  <a:moveTo>
                    <a:pt x="0" y="2130552"/>
                  </a:moveTo>
                  <a:lnTo>
                    <a:pt x="559308" y="2130552"/>
                  </a:lnTo>
                  <a:lnTo>
                    <a:pt x="559308" y="1563624"/>
                  </a:lnTo>
                  <a:lnTo>
                    <a:pt x="0" y="1563624"/>
                  </a:lnTo>
                  <a:lnTo>
                    <a:pt x="0" y="2130552"/>
                  </a:lnTo>
                  <a:close/>
                </a:path>
                <a:path w="3296920" h="2131060">
                  <a:moveTo>
                    <a:pt x="1060703" y="1252727"/>
                  </a:moveTo>
                  <a:lnTo>
                    <a:pt x="1067702" y="1209397"/>
                  </a:lnTo>
                  <a:lnTo>
                    <a:pt x="1087185" y="1171748"/>
                  </a:lnTo>
                  <a:lnTo>
                    <a:pt x="1116884" y="1142049"/>
                  </a:lnTo>
                  <a:lnTo>
                    <a:pt x="1154533" y="1122566"/>
                  </a:lnTo>
                  <a:lnTo>
                    <a:pt x="1197864" y="1115567"/>
                  </a:lnTo>
                  <a:lnTo>
                    <a:pt x="1241194" y="1122566"/>
                  </a:lnTo>
                  <a:lnTo>
                    <a:pt x="1278843" y="1142049"/>
                  </a:lnTo>
                  <a:lnTo>
                    <a:pt x="1308542" y="1171748"/>
                  </a:lnTo>
                  <a:lnTo>
                    <a:pt x="1328025" y="1209397"/>
                  </a:lnTo>
                  <a:lnTo>
                    <a:pt x="1335024" y="1252727"/>
                  </a:lnTo>
                  <a:lnTo>
                    <a:pt x="1328025" y="1296058"/>
                  </a:lnTo>
                  <a:lnTo>
                    <a:pt x="1308542" y="1333707"/>
                  </a:lnTo>
                  <a:lnTo>
                    <a:pt x="1278843" y="1363406"/>
                  </a:lnTo>
                  <a:lnTo>
                    <a:pt x="1241194" y="1382889"/>
                  </a:lnTo>
                  <a:lnTo>
                    <a:pt x="1197864" y="1389888"/>
                  </a:lnTo>
                  <a:lnTo>
                    <a:pt x="1154533" y="1382889"/>
                  </a:lnTo>
                  <a:lnTo>
                    <a:pt x="1116884" y="1363406"/>
                  </a:lnTo>
                  <a:lnTo>
                    <a:pt x="1087185" y="1333707"/>
                  </a:lnTo>
                  <a:lnTo>
                    <a:pt x="1067702" y="1296058"/>
                  </a:lnTo>
                  <a:lnTo>
                    <a:pt x="1060703" y="1252727"/>
                  </a:lnTo>
                  <a:close/>
                </a:path>
                <a:path w="3296920" h="2131060">
                  <a:moveTo>
                    <a:pt x="3022091" y="137160"/>
                  </a:moveTo>
                  <a:lnTo>
                    <a:pt x="3029090" y="93829"/>
                  </a:lnTo>
                  <a:lnTo>
                    <a:pt x="3048573" y="56180"/>
                  </a:lnTo>
                  <a:lnTo>
                    <a:pt x="3078272" y="26481"/>
                  </a:lnTo>
                  <a:lnTo>
                    <a:pt x="3115921" y="6998"/>
                  </a:lnTo>
                  <a:lnTo>
                    <a:pt x="3159252" y="0"/>
                  </a:lnTo>
                  <a:lnTo>
                    <a:pt x="3202582" y="6998"/>
                  </a:lnTo>
                  <a:lnTo>
                    <a:pt x="3240231" y="26481"/>
                  </a:lnTo>
                  <a:lnTo>
                    <a:pt x="3269930" y="56180"/>
                  </a:lnTo>
                  <a:lnTo>
                    <a:pt x="3289413" y="93829"/>
                  </a:lnTo>
                  <a:lnTo>
                    <a:pt x="3296412" y="137160"/>
                  </a:lnTo>
                  <a:lnTo>
                    <a:pt x="3289413" y="180490"/>
                  </a:lnTo>
                  <a:lnTo>
                    <a:pt x="3269930" y="218139"/>
                  </a:lnTo>
                  <a:lnTo>
                    <a:pt x="3240231" y="247838"/>
                  </a:lnTo>
                  <a:lnTo>
                    <a:pt x="3202582" y="267321"/>
                  </a:lnTo>
                  <a:lnTo>
                    <a:pt x="3159252" y="274319"/>
                  </a:lnTo>
                  <a:lnTo>
                    <a:pt x="3115921" y="267321"/>
                  </a:lnTo>
                  <a:lnTo>
                    <a:pt x="3078272" y="247838"/>
                  </a:lnTo>
                  <a:lnTo>
                    <a:pt x="3048573" y="218139"/>
                  </a:lnTo>
                  <a:lnTo>
                    <a:pt x="3029090" y="180490"/>
                  </a:lnTo>
                  <a:lnTo>
                    <a:pt x="3022091" y="137160"/>
                  </a:lnTo>
                  <a:close/>
                </a:path>
                <a:path w="3296920" h="2131060">
                  <a:moveTo>
                    <a:pt x="1999488" y="2130552"/>
                  </a:moveTo>
                  <a:lnTo>
                    <a:pt x="2560320" y="2130552"/>
                  </a:lnTo>
                  <a:lnTo>
                    <a:pt x="2560320" y="1563624"/>
                  </a:lnTo>
                  <a:lnTo>
                    <a:pt x="1999488" y="1563624"/>
                  </a:lnTo>
                  <a:lnTo>
                    <a:pt x="1999488" y="2130552"/>
                  </a:lnTo>
                  <a:close/>
                </a:path>
              </a:pathLst>
            </a:custGeom>
            <a:ln w="25908">
              <a:solidFill>
                <a:srgbClr val="9213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18586" y="2854833"/>
              <a:ext cx="772033" cy="1176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0741" y="2850896"/>
              <a:ext cx="806196" cy="956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251697" y="2293366"/>
            <a:ext cx="21729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4" b="1">
                <a:solidFill>
                  <a:srgbClr val="646D7C"/>
                </a:solidFill>
                <a:latin typeface="Tahoma"/>
                <a:cs typeface="Tahoma"/>
              </a:rPr>
              <a:t>Advanced</a:t>
            </a:r>
            <a:r>
              <a:rPr dirty="0" sz="1400" spc="-95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120" b="1">
                <a:solidFill>
                  <a:srgbClr val="646D7C"/>
                </a:solidFill>
                <a:latin typeface="Tahoma"/>
                <a:cs typeface="Tahoma"/>
              </a:rPr>
              <a:t>pancreatic</a:t>
            </a:r>
            <a:r>
              <a:rPr dirty="0" sz="1400" spc="-95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80" b="1">
                <a:solidFill>
                  <a:srgbClr val="646D7C"/>
                </a:solidFill>
                <a:latin typeface="Tahoma"/>
                <a:cs typeface="Tahoma"/>
              </a:rPr>
              <a:t>cancer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26323" y="2753867"/>
            <a:ext cx="2840990" cy="923925"/>
          </a:xfrm>
          <a:prstGeom prst="rect">
            <a:avLst/>
          </a:prstGeom>
          <a:solidFill>
            <a:srgbClr val="9F112C"/>
          </a:solidFill>
        </p:spPr>
        <p:txBody>
          <a:bodyPr wrap="square" lIns="0" tIns="9969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785"/>
              </a:spcBef>
            </a:pPr>
            <a:r>
              <a:rPr dirty="0" sz="1200" spc="-110" b="1">
                <a:solidFill>
                  <a:srgbClr val="FFFFFF"/>
                </a:solidFill>
                <a:latin typeface="Tahoma"/>
                <a:cs typeface="Tahoma"/>
              </a:rPr>
              <a:t>Low</a:t>
            </a:r>
            <a:r>
              <a:rPr dirty="0" sz="12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FFFFFF"/>
                </a:solidFill>
                <a:latin typeface="Tahoma"/>
                <a:cs typeface="Tahoma"/>
              </a:rPr>
              <a:t>PhA</a:t>
            </a:r>
            <a:r>
              <a:rPr dirty="0" sz="1200" spc="-1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(1.8)</a:t>
            </a:r>
            <a:endParaRPr sz="12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  <a:spcBef>
                <a:spcPts val="720"/>
              </a:spcBef>
            </a:pPr>
            <a:r>
              <a:rPr dirty="0" sz="1200" spc="-100" b="1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dirty="0" sz="120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5" b="1">
                <a:solidFill>
                  <a:srgbClr val="FFFFFF"/>
                </a:solidFill>
                <a:latin typeface="Tahoma"/>
                <a:cs typeface="Tahoma"/>
              </a:rPr>
              <a:t>ECW</a:t>
            </a:r>
            <a:r>
              <a:rPr dirty="0" sz="12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(0.453)</a:t>
            </a:r>
            <a:endParaRPr sz="1200">
              <a:latin typeface="Tahoma"/>
              <a:cs typeface="Tahoma"/>
            </a:endParaRPr>
          </a:p>
          <a:p>
            <a:pPr algn="ctr" marL="635">
              <a:lnSpc>
                <a:spcPct val="100000"/>
              </a:lnSpc>
              <a:spcBef>
                <a:spcPts val="720"/>
              </a:spcBef>
            </a:pP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Reduced</a:t>
            </a:r>
            <a:r>
              <a:rPr dirty="0" sz="12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cell</a:t>
            </a:r>
            <a:r>
              <a:rPr dirty="0" sz="12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membrane</a:t>
            </a:r>
            <a:r>
              <a:rPr dirty="0"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function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309354" y="3886961"/>
            <a:ext cx="76200" cy="256540"/>
          </a:xfrm>
          <a:custGeom>
            <a:avLst/>
            <a:gdLst/>
            <a:ahLst/>
            <a:cxnLst/>
            <a:rect l="l" t="t" r="r" b="b"/>
            <a:pathLst>
              <a:path w="76200" h="256539">
                <a:moveTo>
                  <a:pt x="28194" y="180086"/>
                </a:moveTo>
                <a:lnTo>
                  <a:pt x="0" y="180086"/>
                </a:lnTo>
                <a:lnTo>
                  <a:pt x="38100" y="256286"/>
                </a:lnTo>
                <a:lnTo>
                  <a:pt x="69850" y="192786"/>
                </a:lnTo>
                <a:lnTo>
                  <a:pt x="28194" y="192786"/>
                </a:lnTo>
                <a:lnTo>
                  <a:pt x="28194" y="180086"/>
                </a:lnTo>
                <a:close/>
              </a:path>
              <a:path w="76200" h="256539">
                <a:moveTo>
                  <a:pt x="48005" y="0"/>
                </a:moveTo>
                <a:lnTo>
                  <a:pt x="28194" y="0"/>
                </a:lnTo>
                <a:lnTo>
                  <a:pt x="28194" y="192786"/>
                </a:lnTo>
                <a:lnTo>
                  <a:pt x="48005" y="192786"/>
                </a:lnTo>
                <a:lnTo>
                  <a:pt x="48005" y="0"/>
                </a:lnTo>
                <a:close/>
              </a:path>
              <a:path w="76200" h="256539">
                <a:moveTo>
                  <a:pt x="76200" y="180086"/>
                </a:moveTo>
                <a:lnTo>
                  <a:pt x="48005" y="180086"/>
                </a:lnTo>
                <a:lnTo>
                  <a:pt x="48005" y="192786"/>
                </a:lnTo>
                <a:lnTo>
                  <a:pt x="69850" y="192786"/>
                </a:lnTo>
                <a:lnTo>
                  <a:pt x="76200" y="180086"/>
                </a:lnTo>
                <a:close/>
              </a:path>
            </a:pathLst>
          </a:custGeom>
          <a:solidFill>
            <a:srgbClr val="A43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272528" y="4351020"/>
            <a:ext cx="4148454" cy="1262380"/>
          </a:xfrm>
          <a:prstGeom prst="rect">
            <a:avLst/>
          </a:prstGeom>
          <a:solidFill>
            <a:srgbClr val="4A4F5A"/>
          </a:solidFill>
        </p:spPr>
        <p:txBody>
          <a:bodyPr wrap="square" lIns="0" tIns="136525" rIns="0" bIns="0" rtlCol="0" vert="horz">
            <a:spAutoFit/>
          </a:bodyPr>
          <a:lstStyle/>
          <a:p>
            <a:pPr algn="ctr" marL="11430">
              <a:lnSpc>
                <a:spcPct val="100000"/>
              </a:lnSpc>
              <a:spcBef>
                <a:spcPts val="1075"/>
              </a:spcBef>
            </a:pP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dirty="0" sz="12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patient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has</a:t>
            </a:r>
            <a:r>
              <a:rPr dirty="0" sz="12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dirty="0" sz="12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pancreatic</a:t>
            </a:r>
            <a:r>
              <a:rPr dirty="0" sz="12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cancer</a:t>
            </a:r>
            <a:endParaRPr sz="1200">
              <a:latin typeface="Tahoma"/>
              <a:cs typeface="Tahoma"/>
            </a:endParaRPr>
          </a:p>
          <a:p>
            <a:pPr algn="ctr" marL="904875" marR="891540" indent="1270">
              <a:lnSpc>
                <a:spcPct val="150000"/>
              </a:lnSpc>
              <a:spcBef>
                <a:spcPts val="5"/>
              </a:spcBef>
            </a:pP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2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20" b="1">
                <a:solidFill>
                  <a:srgbClr val="FFFFFF"/>
                </a:solidFill>
                <a:latin typeface="Tahoma"/>
                <a:cs typeface="Tahoma"/>
              </a:rPr>
              <a:t>metastasis</a:t>
            </a:r>
            <a:r>
              <a:rPr dirty="0" sz="1200" spc="-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20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dirty="0" sz="1200" spc="-11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ahoma"/>
                <a:cs typeface="Tahoma"/>
              </a:rPr>
              <a:t>organs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, </a:t>
            </a: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making</a:t>
            </a:r>
            <a:r>
              <a:rPr dirty="0" sz="12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surgical</a:t>
            </a:r>
            <a:r>
              <a:rPr dirty="0" sz="12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treatment</a:t>
            </a:r>
            <a:r>
              <a:rPr dirty="0"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impossible</a:t>
            </a:r>
            <a:endParaRPr sz="1200">
              <a:latin typeface="Tahoma"/>
              <a:cs typeface="Tahoma"/>
            </a:endParaRPr>
          </a:p>
          <a:p>
            <a:pPr algn="ctr" marL="6985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He</a:t>
            </a:r>
            <a:r>
              <a:rPr dirty="0" sz="12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currently</a:t>
            </a:r>
            <a:r>
              <a:rPr dirty="0" sz="12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undergoing</a:t>
            </a:r>
            <a:r>
              <a:rPr dirty="0" sz="12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FFFFFF"/>
                </a:solidFill>
                <a:latin typeface="Tahoma"/>
                <a:cs typeface="Tahoma"/>
              </a:rPr>
              <a:t>radiation</a:t>
            </a:r>
            <a:r>
              <a:rPr dirty="0" sz="1200" spc="-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2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Tahoma"/>
                <a:cs typeface="Tahoma"/>
              </a:rPr>
              <a:t>chemotherapy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6212"/>
            <a:ext cx="282701" cy="10029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35051" y="570103"/>
            <a:ext cx="2321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03</a:t>
            </a:r>
            <a:r>
              <a:rPr dirty="0" sz="2400" spc="-8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Clinical</a:t>
            </a:r>
            <a:r>
              <a:rPr dirty="0" baseline="1157" sz="3600" spc="-397">
                <a:solidFill>
                  <a:srgbClr val="393938"/>
                </a:solidFill>
              </a:rPr>
              <a:t> </a:t>
            </a:r>
            <a:r>
              <a:rPr dirty="0" baseline="1157" sz="3600" spc="-202">
                <a:solidFill>
                  <a:srgbClr val="393938"/>
                </a:solidFill>
              </a:rPr>
              <a:t>Cases</a:t>
            </a:r>
            <a:endParaRPr baseline="1157" sz="3600"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0584" y="1051686"/>
            <a:ext cx="1066965" cy="14947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371" y="1451736"/>
            <a:ext cx="1763864" cy="14008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120010" y="2124837"/>
            <a:ext cx="25342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5" b="1">
                <a:solidFill>
                  <a:srgbClr val="646D7C"/>
                </a:solidFill>
                <a:latin typeface="Tahoma"/>
                <a:cs typeface="Tahoma"/>
              </a:rPr>
              <a:t>Liver</a:t>
            </a:r>
            <a:r>
              <a:rPr dirty="0" sz="1400" spc="-140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110" b="1">
                <a:solidFill>
                  <a:srgbClr val="646D7C"/>
                </a:solidFill>
                <a:latin typeface="Tahoma"/>
                <a:cs typeface="Tahoma"/>
              </a:rPr>
              <a:t>Cancer</a:t>
            </a:r>
            <a:r>
              <a:rPr dirty="0" sz="1400" spc="-130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110" b="1">
                <a:solidFill>
                  <a:srgbClr val="646D7C"/>
                </a:solidFill>
                <a:latin typeface="Tahoma"/>
                <a:cs typeface="Tahoma"/>
              </a:rPr>
              <a:t>Patient</a:t>
            </a:r>
            <a:r>
              <a:rPr dirty="0" sz="1400" spc="-150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125" b="1">
                <a:solidFill>
                  <a:srgbClr val="646D7C"/>
                </a:solidFill>
                <a:latin typeface="Tahoma"/>
                <a:cs typeface="Tahoma"/>
              </a:rPr>
              <a:t>with</a:t>
            </a:r>
            <a:r>
              <a:rPr dirty="0" sz="1400" spc="-150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70" b="1">
                <a:solidFill>
                  <a:srgbClr val="646D7C"/>
                </a:solidFill>
                <a:latin typeface="Tahoma"/>
                <a:cs typeface="Tahoma"/>
              </a:rPr>
              <a:t>Ascites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8611" y="2606039"/>
            <a:ext cx="3043555" cy="646430"/>
          </a:xfrm>
          <a:prstGeom prst="rect">
            <a:avLst/>
          </a:prstGeom>
          <a:solidFill>
            <a:srgbClr val="9F112C"/>
          </a:solidFill>
        </p:spPr>
        <p:txBody>
          <a:bodyPr wrap="square" lIns="0" tIns="8890" rIns="0" bIns="0" rtlCol="0" vert="horz">
            <a:spAutoFit/>
          </a:bodyPr>
          <a:lstStyle/>
          <a:p>
            <a:pPr marL="135890" marR="128270" indent="229870">
              <a:lnSpc>
                <a:spcPct val="150000"/>
              </a:lnSpc>
              <a:spcBef>
                <a:spcPts val="70"/>
              </a:spcBef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12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years</a:t>
            </a:r>
            <a:r>
              <a:rPr dirty="0"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since</a:t>
            </a:r>
            <a:r>
              <a:rPr dirty="0" sz="12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liver</a:t>
            </a:r>
            <a:r>
              <a:rPr dirty="0"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cancer</a:t>
            </a:r>
            <a:r>
              <a:rPr dirty="0" sz="12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diagnosis Symptoms</a:t>
            </a:r>
            <a:r>
              <a:rPr dirty="0" sz="12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2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edema</a:t>
            </a:r>
            <a:r>
              <a:rPr dirty="0" sz="1200" spc="-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2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FFFFFF"/>
                </a:solidFill>
                <a:latin typeface="Tahoma"/>
                <a:cs typeface="Tahoma"/>
              </a:rPr>
              <a:t>ascites</a:t>
            </a:r>
            <a:r>
              <a:rPr dirty="0" sz="12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overserved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32226" y="3487673"/>
            <a:ext cx="76200" cy="256540"/>
          </a:xfrm>
          <a:custGeom>
            <a:avLst/>
            <a:gdLst/>
            <a:ahLst/>
            <a:cxnLst/>
            <a:rect l="l" t="t" r="r" b="b"/>
            <a:pathLst>
              <a:path w="76200" h="256539">
                <a:moveTo>
                  <a:pt x="28194" y="180086"/>
                </a:moveTo>
                <a:lnTo>
                  <a:pt x="0" y="180086"/>
                </a:lnTo>
                <a:lnTo>
                  <a:pt x="38100" y="256286"/>
                </a:lnTo>
                <a:lnTo>
                  <a:pt x="69850" y="192786"/>
                </a:lnTo>
                <a:lnTo>
                  <a:pt x="28194" y="192786"/>
                </a:lnTo>
                <a:lnTo>
                  <a:pt x="28194" y="180086"/>
                </a:lnTo>
                <a:close/>
              </a:path>
              <a:path w="76200" h="256539">
                <a:moveTo>
                  <a:pt x="48006" y="0"/>
                </a:moveTo>
                <a:lnTo>
                  <a:pt x="28194" y="0"/>
                </a:lnTo>
                <a:lnTo>
                  <a:pt x="28194" y="192786"/>
                </a:lnTo>
                <a:lnTo>
                  <a:pt x="48006" y="192786"/>
                </a:lnTo>
                <a:lnTo>
                  <a:pt x="48006" y="0"/>
                </a:lnTo>
                <a:close/>
              </a:path>
              <a:path w="76200" h="256539">
                <a:moveTo>
                  <a:pt x="76200" y="180086"/>
                </a:moveTo>
                <a:lnTo>
                  <a:pt x="48006" y="180086"/>
                </a:lnTo>
                <a:lnTo>
                  <a:pt x="48006" y="192786"/>
                </a:lnTo>
                <a:lnTo>
                  <a:pt x="69850" y="192786"/>
                </a:lnTo>
                <a:lnTo>
                  <a:pt x="76200" y="180086"/>
                </a:lnTo>
                <a:close/>
              </a:path>
            </a:pathLst>
          </a:custGeom>
          <a:solidFill>
            <a:srgbClr val="A43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67255" y="3944111"/>
            <a:ext cx="3404870" cy="876300"/>
          </a:xfrm>
          <a:prstGeom prst="rect">
            <a:avLst/>
          </a:prstGeom>
          <a:solidFill>
            <a:srgbClr val="4A4F5A"/>
          </a:solidFill>
        </p:spPr>
        <p:txBody>
          <a:bodyPr wrap="square" lIns="0" tIns="126364" rIns="0" bIns="0" rtlCol="0" vert="horz">
            <a:spAutoFit/>
          </a:bodyPr>
          <a:lstStyle/>
          <a:p>
            <a:pPr marL="598805" marR="193675" indent="-391795">
              <a:lnSpc>
                <a:spcPct val="150000"/>
              </a:lnSpc>
              <a:spcBef>
                <a:spcPts val="994"/>
              </a:spcBef>
            </a:pP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Undergoing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treatment</a:t>
            </a:r>
            <a:r>
              <a:rPr dirty="0"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2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albumin</a:t>
            </a:r>
            <a:r>
              <a:rPr dirty="0" sz="12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2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diuretics, Along</a:t>
            </a:r>
            <a:r>
              <a:rPr dirty="0" sz="12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2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fluid</a:t>
            </a:r>
            <a:r>
              <a:rPr dirty="0" sz="12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ahoma"/>
                <a:cs typeface="Tahoma"/>
              </a:rPr>
              <a:t>intake</a:t>
            </a:r>
            <a:r>
              <a:rPr dirty="0" sz="12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adjustments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7122" y="5308853"/>
            <a:ext cx="4102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970F0F"/>
                </a:solidFill>
                <a:latin typeface="Tahoma"/>
                <a:cs typeface="Tahoma"/>
              </a:rPr>
              <a:t>Monitoring</a:t>
            </a:r>
            <a:r>
              <a:rPr dirty="0" sz="1200" spc="-125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970F0F"/>
                </a:solidFill>
                <a:latin typeface="Tahoma"/>
                <a:cs typeface="Tahoma"/>
              </a:rPr>
              <a:t>improvement</a:t>
            </a:r>
            <a:r>
              <a:rPr dirty="0" sz="1200" spc="-95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970F0F"/>
                </a:solidFill>
                <a:latin typeface="Tahoma"/>
                <a:cs typeface="Tahoma"/>
              </a:rPr>
              <a:t>through</a:t>
            </a:r>
            <a:r>
              <a:rPr dirty="0" sz="1200" spc="-125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 spc="-130" b="1">
                <a:solidFill>
                  <a:srgbClr val="970F0F"/>
                </a:solidFill>
                <a:latin typeface="Tahoma"/>
                <a:cs typeface="Tahoma"/>
              </a:rPr>
              <a:t>Segmental</a:t>
            </a:r>
            <a:r>
              <a:rPr dirty="0" sz="1200" spc="-7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 spc="-45" b="1">
                <a:solidFill>
                  <a:srgbClr val="970F0F"/>
                </a:solidFill>
                <a:latin typeface="Tahoma"/>
                <a:cs typeface="Tahoma"/>
              </a:rPr>
              <a:t>ECW</a:t>
            </a:r>
            <a:r>
              <a:rPr dirty="0" sz="1200" spc="-12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970F0F"/>
                </a:solidFill>
                <a:latin typeface="Tahoma"/>
                <a:cs typeface="Tahoma"/>
              </a:rPr>
              <a:t>ratio</a:t>
            </a:r>
            <a:r>
              <a:rPr dirty="0" sz="1200" spc="-11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970F0F"/>
                </a:solidFill>
                <a:latin typeface="Tahoma"/>
                <a:cs typeface="Tahoma"/>
              </a:rPr>
              <a:t>analysis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30596" y="873252"/>
            <a:ext cx="5577840" cy="5226050"/>
            <a:chOff x="5530596" y="873252"/>
            <a:chExt cx="5577840" cy="5226050"/>
          </a:xfrm>
        </p:grpSpPr>
        <p:sp>
          <p:nvSpPr>
            <p:cNvPr id="19" name="object 19"/>
            <p:cNvSpPr/>
            <p:nvPr/>
          </p:nvSpPr>
          <p:spPr>
            <a:xfrm>
              <a:off x="5540502" y="4821173"/>
              <a:ext cx="688340" cy="594360"/>
            </a:xfrm>
            <a:custGeom>
              <a:avLst/>
              <a:gdLst/>
              <a:ahLst/>
              <a:cxnLst/>
              <a:rect l="l" t="t" r="r" b="b"/>
              <a:pathLst>
                <a:path w="688339" h="594360">
                  <a:moveTo>
                    <a:pt x="688213" y="0"/>
                  </a:moveTo>
                  <a:lnTo>
                    <a:pt x="344043" y="0"/>
                  </a:lnTo>
                  <a:lnTo>
                    <a:pt x="344043" y="594232"/>
                  </a:lnTo>
                  <a:lnTo>
                    <a:pt x="0" y="594232"/>
                  </a:lnTo>
                </a:path>
              </a:pathLst>
            </a:custGeom>
            <a:ln w="19812">
              <a:solidFill>
                <a:srgbClr val="9000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3140" y="873252"/>
              <a:ext cx="5035296" cy="52212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65164" y="1490472"/>
              <a:ext cx="626745" cy="134620"/>
            </a:xfrm>
            <a:custGeom>
              <a:avLst/>
              <a:gdLst/>
              <a:ahLst/>
              <a:cxnLst/>
              <a:rect l="l" t="t" r="r" b="b"/>
              <a:pathLst>
                <a:path w="626745" h="134619">
                  <a:moveTo>
                    <a:pt x="626363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626363" y="134112"/>
                  </a:lnTo>
                  <a:lnTo>
                    <a:pt x="626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36308" y="5963411"/>
              <a:ext cx="2127504" cy="10667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933182" y="4876037"/>
              <a:ext cx="1268095" cy="1210310"/>
            </a:xfrm>
            <a:custGeom>
              <a:avLst/>
              <a:gdLst/>
              <a:ahLst/>
              <a:cxnLst/>
              <a:rect l="l" t="t" r="r" b="b"/>
              <a:pathLst>
                <a:path w="1268095" h="1210310">
                  <a:moveTo>
                    <a:pt x="0" y="1210056"/>
                  </a:moveTo>
                  <a:lnTo>
                    <a:pt x="1267968" y="1210056"/>
                  </a:lnTo>
                  <a:lnTo>
                    <a:pt x="1267968" y="0"/>
                  </a:lnTo>
                  <a:lnTo>
                    <a:pt x="0" y="0"/>
                  </a:lnTo>
                  <a:lnTo>
                    <a:pt x="0" y="1210056"/>
                  </a:lnTo>
                  <a:close/>
                </a:path>
              </a:pathLst>
            </a:custGeom>
            <a:ln w="25908">
              <a:solidFill>
                <a:srgbClr val="9213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20712" y="1127760"/>
              <a:ext cx="711707" cy="161544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1283188" y="6477685"/>
            <a:ext cx="283210" cy="99060"/>
            <a:chOff x="11283188" y="6477685"/>
            <a:chExt cx="283210" cy="99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3188" y="6477685"/>
              <a:ext cx="113664" cy="895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18189" y="6489801"/>
              <a:ext cx="147700" cy="867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35051" y="570103"/>
            <a:ext cx="2321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03</a:t>
            </a:r>
            <a:r>
              <a:rPr dirty="0" sz="2400" spc="-8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Clinical</a:t>
            </a:r>
            <a:r>
              <a:rPr dirty="0" baseline="1157" sz="3600" spc="-397">
                <a:solidFill>
                  <a:srgbClr val="393938"/>
                </a:solidFill>
              </a:rPr>
              <a:t> </a:t>
            </a:r>
            <a:r>
              <a:rPr dirty="0" baseline="1157" sz="3600" spc="-202">
                <a:solidFill>
                  <a:srgbClr val="393938"/>
                </a:solidFill>
              </a:rPr>
              <a:t>Cases</a:t>
            </a:r>
            <a:endParaRPr baseline="1157" sz="3600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0584" y="1052702"/>
            <a:ext cx="1201077" cy="14846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140371" y="1451736"/>
            <a:ext cx="1907539" cy="140335"/>
            <a:chOff x="1140371" y="1451736"/>
            <a:chExt cx="1907539" cy="14033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0371" y="1485391"/>
              <a:ext cx="212940" cy="1064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1538" y="1451736"/>
              <a:ext cx="1655953" cy="1400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216276" y="2515362"/>
            <a:ext cx="30441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0" b="1">
                <a:solidFill>
                  <a:srgbClr val="646D7C"/>
                </a:solidFill>
                <a:latin typeface="Tahoma"/>
                <a:cs typeface="Tahoma"/>
              </a:rPr>
              <a:t>Patient</a:t>
            </a:r>
            <a:r>
              <a:rPr dirty="0" sz="1400" spc="-145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125" b="1">
                <a:solidFill>
                  <a:srgbClr val="646D7C"/>
                </a:solidFill>
                <a:latin typeface="Tahoma"/>
                <a:cs typeface="Tahoma"/>
              </a:rPr>
              <a:t>with</a:t>
            </a:r>
            <a:r>
              <a:rPr dirty="0" sz="1400" spc="-140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145" b="1">
                <a:solidFill>
                  <a:srgbClr val="646D7C"/>
                </a:solidFill>
                <a:latin typeface="Tahoma"/>
                <a:cs typeface="Tahoma"/>
              </a:rPr>
              <a:t>Lymphedema</a:t>
            </a:r>
            <a:r>
              <a:rPr dirty="0" sz="1400" spc="-120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105" b="1">
                <a:solidFill>
                  <a:srgbClr val="646D7C"/>
                </a:solidFill>
                <a:latin typeface="Tahoma"/>
                <a:cs typeface="Tahoma"/>
              </a:rPr>
              <a:t>after</a:t>
            </a:r>
            <a:r>
              <a:rPr dirty="0" sz="1400" spc="-130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646D7C"/>
                </a:solidFill>
                <a:latin typeface="Tahoma"/>
                <a:cs typeface="Tahoma"/>
              </a:rPr>
              <a:t>surgery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3955" y="2993135"/>
            <a:ext cx="3621404" cy="923925"/>
          </a:xfrm>
          <a:prstGeom prst="rect">
            <a:avLst/>
          </a:prstGeom>
          <a:solidFill>
            <a:srgbClr val="9F112C"/>
          </a:solidFill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1200" spc="-100" b="1">
                <a:solidFill>
                  <a:srgbClr val="FFFFFF"/>
                </a:solidFill>
                <a:latin typeface="Tahoma"/>
                <a:cs typeface="Tahoma"/>
              </a:rPr>
              <a:t>Lymphedema</a:t>
            </a:r>
            <a:r>
              <a:rPr dirty="0" sz="12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0" b="1">
                <a:solidFill>
                  <a:srgbClr val="FFFFFF"/>
                </a:solidFill>
                <a:latin typeface="Tahoma"/>
                <a:cs typeface="Tahoma"/>
              </a:rPr>
              <a:t>occurred</a:t>
            </a:r>
            <a:r>
              <a:rPr dirty="0" sz="12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0" b="1">
                <a:solidFill>
                  <a:srgbClr val="FFFFFF"/>
                </a:solidFill>
                <a:latin typeface="Tahoma"/>
                <a:cs typeface="Tahoma"/>
              </a:rPr>
              <a:t>in </a:t>
            </a:r>
            <a:r>
              <a:rPr dirty="0" sz="1200" spc="-75" b="1">
                <a:solidFill>
                  <a:srgbClr val="FFFFFF"/>
                </a:solidFill>
                <a:latin typeface="Tahoma"/>
                <a:cs typeface="Tahoma"/>
              </a:rPr>
              <a:t>the right</a:t>
            </a:r>
            <a:r>
              <a:rPr dirty="0" sz="12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arm</a:t>
            </a:r>
            <a:endParaRPr sz="1200">
              <a:latin typeface="Tahoma"/>
              <a:cs typeface="Tahoma"/>
            </a:endParaRPr>
          </a:p>
          <a:p>
            <a:pPr algn="ctr" marL="102870" marR="95885">
              <a:lnSpc>
                <a:spcPct val="150000"/>
              </a:lnSpc>
              <a:spcBef>
                <a:spcPts val="5"/>
              </a:spcBef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following</a:t>
            </a:r>
            <a:r>
              <a:rPr dirty="0" sz="12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axillary</a:t>
            </a: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lymph</a:t>
            </a:r>
            <a:r>
              <a:rPr dirty="0" sz="12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dirty="0"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removal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after</a:t>
            </a:r>
            <a:r>
              <a:rPr dirty="0" sz="12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surgery The</a:t>
            </a:r>
            <a:r>
              <a:rPr dirty="0" sz="12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arm</a:t>
            </a:r>
            <a:r>
              <a:rPr dirty="0" sz="12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2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hand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gradually</a:t>
            </a:r>
            <a:r>
              <a:rPr dirty="0" sz="12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80" b="1">
                <a:solidFill>
                  <a:srgbClr val="FFFFFF"/>
                </a:solidFill>
                <a:latin typeface="Tahoma"/>
                <a:cs typeface="Tahoma"/>
              </a:rPr>
              <a:t>swelled,</a:t>
            </a:r>
            <a:r>
              <a:rPr dirty="0" sz="12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5" b="1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Tahoma"/>
                <a:cs typeface="Tahoma"/>
              </a:rPr>
              <a:t>pain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7129" y="4179570"/>
            <a:ext cx="76200" cy="256540"/>
          </a:xfrm>
          <a:custGeom>
            <a:avLst/>
            <a:gdLst/>
            <a:ahLst/>
            <a:cxnLst/>
            <a:rect l="l" t="t" r="r" b="b"/>
            <a:pathLst>
              <a:path w="76200" h="256539">
                <a:moveTo>
                  <a:pt x="28194" y="180085"/>
                </a:moveTo>
                <a:lnTo>
                  <a:pt x="0" y="180085"/>
                </a:lnTo>
                <a:lnTo>
                  <a:pt x="38100" y="256285"/>
                </a:lnTo>
                <a:lnTo>
                  <a:pt x="69850" y="192785"/>
                </a:lnTo>
                <a:lnTo>
                  <a:pt x="28194" y="192785"/>
                </a:lnTo>
                <a:lnTo>
                  <a:pt x="28194" y="180085"/>
                </a:lnTo>
                <a:close/>
              </a:path>
              <a:path w="76200" h="256539">
                <a:moveTo>
                  <a:pt x="48006" y="0"/>
                </a:moveTo>
                <a:lnTo>
                  <a:pt x="28194" y="0"/>
                </a:lnTo>
                <a:lnTo>
                  <a:pt x="28194" y="192785"/>
                </a:lnTo>
                <a:lnTo>
                  <a:pt x="48006" y="192785"/>
                </a:lnTo>
                <a:lnTo>
                  <a:pt x="48006" y="0"/>
                </a:lnTo>
                <a:close/>
              </a:path>
              <a:path w="76200" h="256539">
                <a:moveTo>
                  <a:pt x="76200" y="180085"/>
                </a:moveTo>
                <a:lnTo>
                  <a:pt x="48006" y="180085"/>
                </a:lnTo>
                <a:lnTo>
                  <a:pt x="48006" y="192785"/>
                </a:lnTo>
                <a:lnTo>
                  <a:pt x="69850" y="192785"/>
                </a:lnTo>
                <a:lnTo>
                  <a:pt x="76200" y="180085"/>
                </a:lnTo>
                <a:close/>
              </a:path>
            </a:pathLst>
          </a:custGeom>
          <a:solidFill>
            <a:srgbClr val="A43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051304" y="4672584"/>
            <a:ext cx="3403600" cy="879475"/>
          </a:xfrm>
          <a:prstGeom prst="rect">
            <a:avLst/>
          </a:prstGeom>
          <a:solidFill>
            <a:srgbClr val="4A4F5A"/>
          </a:solidFill>
        </p:spPr>
        <p:txBody>
          <a:bodyPr wrap="square" lIns="0" tIns="14604" rIns="0" bIns="0" rtlCol="0" vert="horz">
            <a:spAutoFit/>
          </a:bodyPr>
          <a:lstStyle/>
          <a:p>
            <a:pPr algn="ctr" marL="443865" marR="429259">
              <a:lnSpc>
                <a:spcPts val="2160"/>
              </a:lnSpc>
              <a:spcBef>
                <a:spcPts val="114"/>
              </a:spcBef>
            </a:pP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Undergoing</a:t>
            </a:r>
            <a:r>
              <a:rPr dirty="0"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rehabilitation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therapy</a:t>
            </a: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while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r>
              <a:rPr dirty="0" sz="12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improvement</a:t>
            </a:r>
            <a:r>
              <a:rPr dirty="0" sz="12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through 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Segmental</a:t>
            </a:r>
            <a:r>
              <a:rPr dirty="0" sz="12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FFFFFF"/>
                </a:solidFill>
                <a:latin typeface="Tahoma"/>
                <a:cs typeface="Tahoma"/>
              </a:rPr>
              <a:t>ECW</a:t>
            </a:r>
            <a:r>
              <a:rPr dirty="0" sz="12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ratio</a:t>
            </a:r>
            <a:r>
              <a:rPr dirty="0" sz="12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50052" y="1017475"/>
            <a:ext cx="4800600" cy="5077460"/>
            <a:chOff x="5750052" y="1017475"/>
            <a:chExt cx="4800600" cy="507746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50052" y="1017475"/>
              <a:ext cx="4800008" cy="50678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29884" y="1530095"/>
              <a:ext cx="515620" cy="132715"/>
            </a:xfrm>
            <a:custGeom>
              <a:avLst/>
              <a:gdLst/>
              <a:ahLst/>
              <a:cxnLst/>
              <a:rect l="l" t="t" r="r" b="b"/>
              <a:pathLst>
                <a:path w="515620" h="132714">
                  <a:moveTo>
                    <a:pt x="515112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515112" y="132587"/>
                  </a:lnTo>
                  <a:lnTo>
                    <a:pt x="515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16268" y="5972555"/>
              <a:ext cx="2087879" cy="10363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27698" y="4883657"/>
              <a:ext cx="398145" cy="1198245"/>
            </a:xfrm>
            <a:custGeom>
              <a:avLst/>
              <a:gdLst/>
              <a:ahLst/>
              <a:cxnLst/>
              <a:rect l="l" t="t" r="r" b="b"/>
              <a:pathLst>
                <a:path w="398145" h="1198245">
                  <a:moveTo>
                    <a:pt x="0" y="1197863"/>
                  </a:moveTo>
                  <a:lnTo>
                    <a:pt x="397764" y="1197863"/>
                  </a:lnTo>
                  <a:lnTo>
                    <a:pt x="397764" y="0"/>
                  </a:lnTo>
                  <a:lnTo>
                    <a:pt x="0" y="0"/>
                  </a:lnTo>
                  <a:lnTo>
                    <a:pt x="0" y="1197863"/>
                  </a:lnTo>
                  <a:close/>
                </a:path>
              </a:pathLst>
            </a:custGeom>
            <a:ln w="25908">
              <a:solidFill>
                <a:srgbClr val="9213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79336" y="1144523"/>
              <a:ext cx="711707" cy="161544"/>
            </a:xfrm>
            <a:prstGeom prst="rect">
              <a:avLst/>
            </a:prstGeom>
          </p:spPr>
        </p:pic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6200"/>
            <a:ext cx="282701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435051" y="570103"/>
            <a:ext cx="2321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03</a:t>
            </a:r>
            <a:r>
              <a:rPr dirty="0" sz="2400" spc="-8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Clinical</a:t>
            </a:r>
            <a:r>
              <a:rPr dirty="0" baseline="1157" sz="3600" spc="-397">
                <a:solidFill>
                  <a:srgbClr val="393938"/>
                </a:solidFill>
              </a:rPr>
              <a:t> </a:t>
            </a:r>
            <a:r>
              <a:rPr dirty="0" baseline="1157" sz="3600" spc="-202">
                <a:solidFill>
                  <a:srgbClr val="393938"/>
                </a:solidFill>
              </a:rPr>
              <a:t>Cases</a:t>
            </a:r>
            <a:endParaRPr baseline="1157" sz="3600"/>
          </a:p>
        </p:txBody>
      </p:sp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20584" y="1050289"/>
            <a:ext cx="2502192" cy="18618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388363" y="1481055"/>
            <a:ext cx="3371215" cy="4627245"/>
            <a:chOff x="1388363" y="1481055"/>
            <a:chExt cx="3371215" cy="46272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8363" y="1481055"/>
              <a:ext cx="3371088" cy="46267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43327" y="2607563"/>
              <a:ext cx="231647" cy="2209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46375" y="4706111"/>
              <a:ext cx="231647" cy="2209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7619" y="4738115"/>
              <a:ext cx="231648" cy="220979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227065" y="2351023"/>
            <a:ext cx="1373632" cy="13995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5717" y="2603754"/>
            <a:ext cx="2218436" cy="1647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56988" y="2909316"/>
            <a:ext cx="2161540" cy="923925"/>
          </a:xfrm>
          <a:prstGeom prst="rect">
            <a:avLst/>
          </a:prstGeom>
          <a:solidFill>
            <a:srgbClr val="9F112C"/>
          </a:solidFill>
        </p:spPr>
        <p:txBody>
          <a:bodyPr wrap="square" lIns="0" tIns="99695" rIns="0" bIns="0" rtlCol="0" vert="horz">
            <a:spAutoFit/>
          </a:bodyPr>
          <a:lstStyle/>
          <a:p>
            <a:pPr marL="187960">
              <a:lnSpc>
                <a:spcPct val="100000"/>
              </a:lnSpc>
              <a:spcBef>
                <a:spcPts val="785"/>
              </a:spcBef>
            </a:pP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Decrease</a:t>
            </a:r>
            <a:r>
              <a:rPr dirty="0" sz="12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20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0" b="1">
                <a:solidFill>
                  <a:srgbClr val="FFFFFF"/>
                </a:solidFill>
                <a:latin typeface="Tahoma"/>
                <a:cs typeface="Tahoma"/>
              </a:rPr>
              <a:t>PhA</a:t>
            </a:r>
            <a:r>
              <a:rPr dirty="0" sz="12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(7.1</a:t>
            </a:r>
            <a:r>
              <a:rPr dirty="0" sz="12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Malgun Gothic"/>
                <a:cs typeface="Malgun Gothic"/>
              </a:rPr>
              <a:t>→</a:t>
            </a:r>
            <a:r>
              <a:rPr dirty="0" sz="1200" spc="-17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6.5)</a:t>
            </a:r>
            <a:endParaRPr sz="1200">
              <a:latin typeface="Tahoma"/>
              <a:cs typeface="Tahoma"/>
            </a:endParaRPr>
          </a:p>
          <a:p>
            <a:pPr marL="198120">
              <a:lnSpc>
                <a:spcPct val="100000"/>
              </a:lnSpc>
              <a:spcBef>
                <a:spcPts val="720"/>
              </a:spcBef>
            </a:pP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Decrease</a:t>
            </a:r>
            <a:r>
              <a:rPr dirty="0" sz="1200" spc="-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20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30" b="1">
                <a:solidFill>
                  <a:srgbClr val="FFFFFF"/>
                </a:solidFill>
                <a:latin typeface="Tahoma"/>
                <a:cs typeface="Tahoma"/>
              </a:rPr>
              <a:t>SMI</a:t>
            </a:r>
            <a:r>
              <a:rPr dirty="0" sz="120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(8.2</a:t>
            </a:r>
            <a:r>
              <a:rPr dirty="0" sz="12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Malgun Gothic"/>
                <a:cs typeface="Malgun Gothic"/>
              </a:rPr>
              <a:t>→</a:t>
            </a:r>
            <a:r>
              <a:rPr dirty="0" sz="1200" spc="-17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7.4)</a:t>
            </a:r>
            <a:endParaRPr sz="1200">
              <a:latin typeface="Tahoma"/>
              <a:cs typeface="Tahoma"/>
            </a:endParaRPr>
          </a:p>
          <a:p>
            <a:pPr marL="132715">
              <a:lnSpc>
                <a:spcPct val="100000"/>
              </a:lnSpc>
              <a:spcBef>
                <a:spcPts val="720"/>
              </a:spcBef>
            </a:pP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Decrease</a:t>
            </a:r>
            <a:r>
              <a:rPr dirty="0" sz="12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20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 b="1">
                <a:solidFill>
                  <a:srgbClr val="FFFFFF"/>
                </a:solidFill>
                <a:latin typeface="Tahoma"/>
                <a:cs typeface="Tahoma"/>
              </a:rPr>
              <a:t>BCM</a:t>
            </a:r>
            <a:r>
              <a:rPr dirty="0" sz="12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Tahoma"/>
                <a:cs typeface="Tahoma"/>
              </a:rPr>
              <a:t>(35</a:t>
            </a:r>
            <a:r>
              <a:rPr dirty="0" sz="12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Malgun Gothic"/>
                <a:cs typeface="Malgun Gothic"/>
              </a:rPr>
              <a:t>→</a:t>
            </a:r>
            <a:r>
              <a:rPr dirty="0" sz="1200" spc="-15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31.3)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30646" y="4053078"/>
            <a:ext cx="76200" cy="256540"/>
          </a:xfrm>
          <a:custGeom>
            <a:avLst/>
            <a:gdLst/>
            <a:ahLst/>
            <a:cxnLst/>
            <a:rect l="l" t="t" r="r" b="b"/>
            <a:pathLst>
              <a:path w="76200" h="256539">
                <a:moveTo>
                  <a:pt x="28193" y="180086"/>
                </a:moveTo>
                <a:lnTo>
                  <a:pt x="0" y="180086"/>
                </a:lnTo>
                <a:lnTo>
                  <a:pt x="38100" y="256286"/>
                </a:lnTo>
                <a:lnTo>
                  <a:pt x="69850" y="192786"/>
                </a:lnTo>
                <a:lnTo>
                  <a:pt x="28193" y="192786"/>
                </a:lnTo>
                <a:lnTo>
                  <a:pt x="28193" y="180086"/>
                </a:lnTo>
                <a:close/>
              </a:path>
              <a:path w="76200" h="256539">
                <a:moveTo>
                  <a:pt x="48005" y="0"/>
                </a:moveTo>
                <a:lnTo>
                  <a:pt x="28193" y="0"/>
                </a:lnTo>
                <a:lnTo>
                  <a:pt x="28193" y="192786"/>
                </a:lnTo>
                <a:lnTo>
                  <a:pt x="48005" y="192786"/>
                </a:lnTo>
                <a:lnTo>
                  <a:pt x="48005" y="0"/>
                </a:lnTo>
                <a:close/>
              </a:path>
              <a:path w="76200" h="256539">
                <a:moveTo>
                  <a:pt x="76200" y="180086"/>
                </a:moveTo>
                <a:lnTo>
                  <a:pt x="48005" y="180086"/>
                </a:lnTo>
                <a:lnTo>
                  <a:pt x="48005" y="192786"/>
                </a:lnTo>
                <a:lnTo>
                  <a:pt x="69850" y="192786"/>
                </a:lnTo>
                <a:lnTo>
                  <a:pt x="76200" y="180086"/>
                </a:lnTo>
                <a:close/>
              </a:path>
            </a:pathLst>
          </a:custGeom>
          <a:solidFill>
            <a:srgbClr val="A43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774691" y="4480559"/>
            <a:ext cx="2369820" cy="1186180"/>
          </a:xfrm>
          <a:prstGeom prst="rect">
            <a:avLst/>
          </a:prstGeom>
          <a:solidFill>
            <a:srgbClr val="4A4F5A"/>
          </a:solidFill>
        </p:spPr>
        <p:txBody>
          <a:bodyPr wrap="square" lIns="0" tIns="144145" rIns="0" bIns="0" rtlCol="0" vert="horz">
            <a:spAutoFit/>
          </a:bodyPr>
          <a:lstStyle/>
          <a:p>
            <a:pPr algn="ctr" marL="121920" marR="107314" indent="-3175">
              <a:lnSpc>
                <a:spcPct val="150000"/>
              </a:lnSpc>
              <a:spcBef>
                <a:spcPts val="1135"/>
              </a:spcBef>
            </a:pPr>
            <a:r>
              <a:rPr dirty="0" sz="1200" spc="-125" b="1">
                <a:solidFill>
                  <a:srgbClr val="FFFFFF"/>
                </a:solidFill>
                <a:latin typeface="Tahoma"/>
                <a:cs typeface="Tahoma"/>
              </a:rPr>
              <a:t>Intensive</a:t>
            </a:r>
            <a:r>
              <a:rPr dirty="0" sz="1200" spc="-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nutrition</a:t>
            </a:r>
            <a:r>
              <a:rPr dirty="0" sz="12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ahoma"/>
                <a:cs typeface="Tahoma"/>
              </a:rPr>
              <a:t>therapy </a:t>
            </a:r>
            <a:r>
              <a:rPr dirty="0" sz="1200" spc="-114" b="1">
                <a:solidFill>
                  <a:srgbClr val="FFFFFF"/>
                </a:solidFill>
                <a:latin typeface="Tahoma"/>
                <a:cs typeface="Tahoma"/>
              </a:rPr>
              <a:t>needed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due</a:t>
            </a:r>
            <a:r>
              <a:rPr dirty="0" sz="12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2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rapid</a:t>
            </a:r>
            <a:r>
              <a:rPr dirty="0" sz="12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deterioration in</a:t>
            </a:r>
            <a:r>
              <a:rPr dirty="0" sz="12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nutrition</a:t>
            </a:r>
            <a:r>
              <a:rPr dirty="0" sz="12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status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161276" y="1481055"/>
            <a:ext cx="4566285" cy="4627245"/>
            <a:chOff x="7161276" y="1481055"/>
            <a:chExt cx="4566285" cy="462724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61276" y="1481055"/>
              <a:ext cx="3371087" cy="46267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23860" y="2667000"/>
              <a:ext cx="231648" cy="2209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822180" y="2849879"/>
              <a:ext cx="516890" cy="76200"/>
            </a:xfrm>
            <a:custGeom>
              <a:avLst/>
              <a:gdLst/>
              <a:ahLst/>
              <a:cxnLst/>
              <a:rect l="l" t="t" r="r" b="b"/>
              <a:pathLst>
                <a:path w="516890" h="76200">
                  <a:moveTo>
                    <a:pt x="440436" y="0"/>
                  </a:moveTo>
                  <a:lnTo>
                    <a:pt x="440436" y="76200"/>
                  </a:lnTo>
                  <a:lnTo>
                    <a:pt x="503936" y="44450"/>
                  </a:lnTo>
                  <a:lnTo>
                    <a:pt x="453136" y="44450"/>
                  </a:lnTo>
                  <a:lnTo>
                    <a:pt x="453136" y="31750"/>
                  </a:lnTo>
                  <a:lnTo>
                    <a:pt x="503936" y="31750"/>
                  </a:lnTo>
                  <a:lnTo>
                    <a:pt x="440436" y="0"/>
                  </a:lnTo>
                  <a:close/>
                </a:path>
                <a:path w="516890" h="76200">
                  <a:moveTo>
                    <a:pt x="440436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40436" y="44450"/>
                  </a:lnTo>
                  <a:lnTo>
                    <a:pt x="440436" y="31750"/>
                  </a:lnTo>
                  <a:close/>
                </a:path>
                <a:path w="516890" h="76200">
                  <a:moveTo>
                    <a:pt x="503936" y="31750"/>
                  </a:moveTo>
                  <a:lnTo>
                    <a:pt x="453136" y="31750"/>
                  </a:lnTo>
                  <a:lnTo>
                    <a:pt x="453136" y="44450"/>
                  </a:lnTo>
                  <a:lnTo>
                    <a:pt x="503936" y="44450"/>
                  </a:lnTo>
                  <a:lnTo>
                    <a:pt x="516636" y="38100"/>
                  </a:lnTo>
                  <a:lnTo>
                    <a:pt x="503936" y="31750"/>
                  </a:lnTo>
                  <a:close/>
                </a:path>
              </a:pathLst>
            </a:custGeom>
            <a:solidFill>
              <a:srgbClr val="921F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52684" y="2812414"/>
              <a:ext cx="1174750" cy="1163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52684" y="2964814"/>
              <a:ext cx="961263" cy="9423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543413" y="3117214"/>
              <a:ext cx="905255" cy="1163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37576" y="4841747"/>
              <a:ext cx="231648" cy="2209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96627" y="4858511"/>
              <a:ext cx="231648" cy="220979"/>
            </a:xfrm>
            <a:prstGeom prst="rect">
              <a:avLst/>
            </a:prstGeom>
          </p:spPr>
        </p:pic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6200"/>
            <a:ext cx="282701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35051" y="570103"/>
            <a:ext cx="2321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03</a:t>
            </a:r>
            <a:r>
              <a:rPr dirty="0" sz="2400" spc="-8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Clinical</a:t>
            </a:r>
            <a:r>
              <a:rPr dirty="0" baseline="1157" sz="3600" spc="-397">
                <a:solidFill>
                  <a:srgbClr val="393938"/>
                </a:solidFill>
              </a:rPr>
              <a:t> </a:t>
            </a:r>
            <a:r>
              <a:rPr dirty="0" baseline="1157" sz="3600" spc="-202">
                <a:solidFill>
                  <a:srgbClr val="393938"/>
                </a:solidFill>
              </a:rPr>
              <a:t>Cases</a:t>
            </a:r>
            <a:endParaRPr baseline="1157" sz="3600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266" y="1051686"/>
            <a:ext cx="1337411" cy="14947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140371" y="1451736"/>
            <a:ext cx="1907539" cy="140335"/>
            <a:chOff x="1140371" y="1451736"/>
            <a:chExt cx="1907539" cy="14033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0371" y="1485391"/>
              <a:ext cx="212940" cy="1064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1538" y="1451736"/>
              <a:ext cx="1655953" cy="14008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509509" y="1697812"/>
            <a:ext cx="2861310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Patient</a:t>
            </a:r>
            <a:r>
              <a:rPr dirty="0" sz="1600" spc="-22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646D7C"/>
                </a:solidFill>
                <a:latin typeface="Tahoma"/>
                <a:cs typeface="Tahoma"/>
              </a:rPr>
              <a:t>undergoing</a:t>
            </a:r>
            <a:r>
              <a:rPr dirty="0" sz="1600" spc="-24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treatment</a:t>
            </a:r>
            <a:r>
              <a:rPr dirty="0" sz="1600" spc="-24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646D7C"/>
                </a:solidFill>
                <a:latin typeface="Tahoma"/>
                <a:cs typeface="Tahoma"/>
              </a:rPr>
              <a:t>for</a:t>
            </a:r>
            <a:endParaRPr sz="1600">
              <a:latin typeface="Tahoma"/>
              <a:cs typeface="Tahoma"/>
            </a:endParaRPr>
          </a:p>
          <a:p>
            <a:pPr algn="ctr" marL="33655">
              <a:lnSpc>
                <a:spcPct val="100000"/>
              </a:lnSpc>
              <a:spcBef>
                <a:spcPts val="5"/>
              </a:spcBef>
            </a:pPr>
            <a:r>
              <a:rPr dirty="0" sz="1600" spc="-150" b="1">
                <a:solidFill>
                  <a:srgbClr val="646D7C"/>
                </a:solidFill>
                <a:latin typeface="Tahoma"/>
                <a:cs typeface="Tahoma"/>
              </a:rPr>
              <a:t>Stage</a:t>
            </a:r>
            <a:r>
              <a:rPr dirty="0" sz="1600" spc="-225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646D7C"/>
                </a:solidFill>
                <a:latin typeface="Tahoma"/>
                <a:cs typeface="Tahoma"/>
              </a:rPr>
              <a:t>4</a:t>
            </a:r>
            <a:r>
              <a:rPr dirty="0" sz="1600" spc="-200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646D7C"/>
                </a:solidFill>
                <a:latin typeface="Tahoma"/>
                <a:cs typeface="Tahoma"/>
              </a:rPr>
              <a:t>ovarian</a:t>
            </a:r>
            <a:r>
              <a:rPr dirty="0" sz="1600" spc="-229" b="1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646D7C"/>
                </a:solidFill>
                <a:latin typeface="Tahoma"/>
                <a:cs typeface="Tahoma"/>
              </a:rPr>
              <a:t>cancer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73877" y="2717673"/>
            <a:ext cx="12255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95" b="1">
                <a:solidFill>
                  <a:srgbClr val="970F0F"/>
                </a:solidFill>
                <a:latin typeface="Tahoma"/>
                <a:cs typeface="Tahoma"/>
              </a:rPr>
              <a:t>Meets</a:t>
            </a:r>
            <a:r>
              <a:rPr dirty="0" sz="1400" spc="-185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970F0F"/>
                </a:solidFill>
                <a:latin typeface="Tahoma"/>
                <a:cs typeface="Tahoma"/>
              </a:rPr>
              <a:t>2</a:t>
            </a:r>
            <a:r>
              <a:rPr dirty="0" sz="1400" spc="-175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970F0F"/>
                </a:solidFill>
                <a:latin typeface="Tahoma"/>
                <a:cs typeface="Tahoma"/>
              </a:rPr>
              <a:t>criteria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98614" y="2620517"/>
            <a:ext cx="269875" cy="511175"/>
          </a:xfrm>
          <a:custGeom>
            <a:avLst/>
            <a:gdLst/>
            <a:ahLst/>
            <a:cxnLst/>
            <a:rect l="l" t="t" r="r" b="b"/>
            <a:pathLst>
              <a:path w="269875" h="511175">
                <a:moveTo>
                  <a:pt x="89915" y="6096"/>
                </a:moveTo>
                <a:lnTo>
                  <a:pt x="269875" y="6096"/>
                </a:lnTo>
              </a:path>
              <a:path w="269875" h="511175">
                <a:moveTo>
                  <a:pt x="89915" y="502920"/>
                </a:moveTo>
                <a:lnTo>
                  <a:pt x="269875" y="502920"/>
                </a:lnTo>
              </a:path>
              <a:path w="269875" h="511175">
                <a:moveTo>
                  <a:pt x="89915" y="0"/>
                </a:moveTo>
                <a:lnTo>
                  <a:pt x="89915" y="511175"/>
                </a:lnTo>
              </a:path>
              <a:path w="269875" h="511175">
                <a:moveTo>
                  <a:pt x="0" y="259080"/>
                </a:moveTo>
                <a:lnTo>
                  <a:pt x="90042" y="259080"/>
                </a:lnTo>
              </a:path>
            </a:pathLst>
          </a:custGeom>
          <a:ln w="19812">
            <a:solidFill>
              <a:srgbClr val="970F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7470647" y="2389632"/>
            <a:ext cx="3023870" cy="1765935"/>
            <a:chOff x="7470647" y="2389632"/>
            <a:chExt cx="3023870" cy="1765935"/>
          </a:xfrm>
        </p:grpSpPr>
        <p:sp>
          <p:nvSpPr>
            <p:cNvPr id="15" name="object 15"/>
            <p:cNvSpPr/>
            <p:nvPr/>
          </p:nvSpPr>
          <p:spPr>
            <a:xfrm>
              <a:off x="7470647" y="2389632"/>
              <a:ext cx="3023870" cy="474345"/>
            </a:xfrm>
            <a:custGeom>
              <a:avLst/>
              <a:gdLst/>
              <a:ahLst/>
              <a:cxnLst/>
              <a:rect l="l" t="t" r="r" b="b"/>
              <a:pathLst>
                <a:path w="3023870" h="474344">
                  <a:moveTo>
                    <a:pt x="3023616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3023616" y="473963"/>
                  </a:lnTo>
                  <a:lnTo>
                    <a:pt x="3023616" y="0"/>
                  </a:lnTo>
                  <a:close/>
                </a:path>
              </a:pathLst>
            </a:custGeom>
            <a:solidFill>
              <a:srgbClr val="4A4F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17049" y="2493010"/>
              <a:ext cx="384048" cy="2819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961881" y="3845814"/>
              <a:ext cx="76200" cy="309245"/>
            </a:xfrm>
            <a:custGeom>
              <a:avLst/>
              <a:gdLst/>
              <a:ahLst/>
              <a:cxnLst/>
              <a:rect l="l" t="t" r="r" b="b"/>
              <a:pathLst>
                <a:path w="76200" h="309245">
                  <a:moveTo>
                    <a:pt x="28194" y="233044"/>
                  </a:moveTo>
                  <a:lnTo>
                    <a:pt x="0" y="233044"/>
                  </a:lnTo>
                  <a:lnTo>
                    <a:pt x="38100" y="309244"/>
                  </a:lnTo>
                  <a:lnTo>
                    <a:pt x="69850" y="245744"/>
                  </a:lnTo>
                  <a:lnTo>
                    <a:pt x="28194" y="245744"/>
                  </a:lnTo>
                  <a:lnTo>
                    <a:pt x="28194" y="233044"/>
                  </a:lnTo>
                  <a:close/>
                </a:path>
                <a:path w="76200" h="309245">
                  <a:moveTo>
                    <a:pt x="48006" y="0"/>
                  </a:moveTo>
                  <a:lnTo>
                    <a:pt x="28194" y="0"/>
                  </a:lnTo>
                  <a:lnTo>
                    <a:pt x="28194" y="245744"/>
                  </a:lnTo>
                  <a:lnTo>
                    <a:pt x="48006" y="245744"/>
                  </a:lnTo>
                  <a:lnTo>
                    <a:pt x="48006" y="0"/>
                  </a:lnTo>
                  <a:close/>
                </a:path>
                <a:path w="76200" h="309245">
                  <a:moveTo>
                    <a:pt x="76200" y="233044"/>
                  </a:moveTo>
                  <a:lnTo>
                    <a:pt x="48006" y="233044"/>
                  </a:lnTo>
                  <a:lnTo>
                    <a:pt x="48006" y="245744"/>
                  </a:lnTo>
                  <a:lnTo>
                    <a:pt x="69850" y="245744"/>
                  </a:lnTo>
                  <a:lnTo>
                    <a:pt x="76200" y="233044"/>
                  </a:lnTo>
                  <a:close/>
                </a:path>
              </a:pathLst>
            </a:custGeom>
            <a:solidFill>
              <a:srgbClr val="A436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470648" y="2881883"/>
              <a:ext cx="3023870" cy="967740"/>
            </a:xfrm>
            <a:custGeom>
              <a:avLst/>
              <a:gdLst/>
              <a:ahLst/>
              <a:cxnLst/>
              <a:rect l="l" t="t" r="r" b="b"/>
              <a:pathLst>
                <a:path w="3023870" h="967739">
                  <a:moveTo>
                    <a:pt x="3023616" y="493776"/>
                  </a:moveTo>
                  <a:lnTo>
                    <a:pt x="0" y="493776"/>
                  </a:lnTo>
                  <a:lnTo>
                    <a:pt x="0" y="967740"/>
                  </a:lnTo>
                  <a:lnTo>
                    <a:pt x="3023616" y="967740"/>
                  </a:lnTo>
                  <a:lnTo>
                    <a:pt x="3023616" y="493776"/>
                  </a:lnTo>
                  <a:close/>
                </a:path>
                <a:path w="3023870" h="967739">
                  <a:moveTo>
                    <a:pt x="3023616" y="0"/>
                  </a:moveTo>
                  <a:lnTo>
                    <a:pt x="0" y="0"/>
                  </a:lnTo>
                  <a:lnTo>
                    <a:pt x="0" y="472440"/>
                  </a:lnTo>
                  <a:lnTo>
                    <a:pt x="3023616" y="472440"/>
                  </a:lnTo>
                  <a:lnTo>
                    <a:pt x="3023616" y="0"/>
                  </a:lnTo>
                  <a:close/>
                </a:path>
              </a:pathLst>
            </a:custGeom>
            <a:solidFill>
              <a:srgbClr val="4A4F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470647" y="2389632"/>
            <a:ext cx="3023870" cy="146050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925194">
              <a:lnSpc>
                <a:spcPct val="100000"/>
              </a:lnSpc>
              <a:spcBef>
                <a:spcPts val="975"/>
              </a:spcBef>
            </a:pPr>
            <a:r>
              <a:rPr dirty="0" sz="1600" spc="-10">
                <a:solidFill>
                  <a:srgbClr val="FFFFFF"/>
                </a:solidFill>
                <a:latin typeface="Tahoma"/>
                <a:cs typeface="Tahoma"/>
              </a:rPr>
              <a:t>SMI</a:t>
            </a:r>
            <a:r>
              <a:rPr dirty="0" sz="1600" spc="-2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7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1600" spc="-2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Tahoma"/>
                <a:cs typeface="Tahoma"/>
              </a:rPr>
              <a:t>5.5kg/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Tahoma"/>
              <a:cs typeface="Tahoma"/>
            </a:endParaRPr>
          </a:p>
          <a:p>
            <a:pPr algn="ctr" marR="51435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Tahoma"/>
                <a:cs typeface="Tahoma"/>
              </a:rPr>
              <a:t>GRIP</a:t>
            </a:r>
            <a:r>
              <a:rPr dirty="0" sz="1600" spc="-2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ahoma"/>
                <a:cs typeface="Tahoma"/>
              </a:rPr>
              <a:t>strength</a:t>
            </a:r>
            <a:r>
              <a:rPr dirty="0" sz="1600" spc="-2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7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1600" spc="-2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Tahoma"/>
                <a:cs typeface="Tahoma"/>
              </a:rPr>
              <a:t>15.7kg</a:t>
            </a:r>
            <a:endParaRPr sz="1600">
              <a:latin typeface="Tahoma"/>
              <a:cs typeface="Tahoma"/>
            </a:endParaRPr>
          </a:p>
          <a:p>
            <a:pPr algn="ctr" marR="51435">
              <a:lnSpc>
                <a:spcPct val="100000"/>
              </a:lnSpc>
              <a:spcBef>
                <a:spcPts val="1925"/>
              </a:spcBef>
            </a:pPr>
            <a:r>
              <a:rPr dirty="0" sz="1600" spc="-30">
                <a:solidFill>
                  <a:srgbClr val="FFFFFF"/>
                </a:solidFill>
                <a:latin typeface="Tahoma"/>
                <a:cs typeface="Tahoma"/>
              </a:rPr>
              <a:t>Sit-</a:t>
            </a:r>
            <a:r>
              <a:rPr dirty="0" sz="1600" spc="-25">
                <a:solidFill>
                  <a:srgbClr val="FFFFFF"/>
                </a:solidFill>
                <a:latin typeface="Tahoma"/>
                <a:cs typeface="Tahoma"/>
              </a:rPr>
              <a:t>to-stand</a:t>
            </a:r>
            <a:r>
              <a:rPr dirty="0" sz="1600" spc="-2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7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1600" spc="-2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FFFFFF"/>
                </a:solidFill>
                <a:latin typeface="Tahoma"/>
                <a:cs typeface="Tahoma"/>
              </a:rPr>
              <a:t>8</a:t>
            </a:r>
            <a:r>
              <a:rPr dirty="0" sz="1600" spc="-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Tahoma"/>
                <a:cs typeface="Tahoma"/>
              </a:rPr>
              <a:t>sec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56931" y="4236211"/>
            <a:ext cx="20967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25" b="1">
                <a:solidFill>
                  <a:srgbClr val="970F0F"/>
                </a:solidFill>
                <a:latin typeface="Tahoma"/>
                <a:cs typeface="Tahoma"/>
              </a:rPr>
              <a:t>Diagnosed </a:t>
            </a:r>
            <a:r>
              <a:rPr dirty="0" sz="1400" spc="-120" b="1">
                <a:solidFill>
                  <a:srgbClr val="970F0F"/>
                </a:solidFill>
                <a:latin typeface="Tahoma"/>
                <a:cs typeface="Tahoma"/>
              </a:rPr>
              <a:t>with</a:t>
            </a:r>
            <a:r>
              <a:rPr dirty="0" sz="1400" spc="-15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105" b="1">
                <a:solidFill>
                  <a:srgbClr val="970F0F"/>
                </a:solidFill>
                <a:latin typeface="Tahoma"/>
                <a:cs typeface="Tahoma"/>
              </a:rPr>
              <a:t>Sarcopenia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45079" y="1644395"/>
            <a:ext cx="5499100" cy="4470400"/>
            <a:chOff x="2545079" y="1644395"/>
            <a:chExt cx="5499100" cy="4470400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45079" y="1644395"/>
              <a:ext cx="3355847" cy="446989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604516" y="2040635"/>
              <a:ext cx="1955800" cy="97790"/>
            </a:xfrm>
            <a:custGeom>
              <a:avLst/>
              <a:gdLst/>
              <a:ahLst/>
              <a:cxnLst/>
              <a:rect l="l" t="t" r="r" b="b"/>
              <a:pathLst>
                <a:path w="1955800" h="97789">
                  <a:moveTo>
                    <a:pt x="198120" y="0"/>
                  </a:moveTo>
                  <a:lnTo>
                    <a:pt x="0" y="0"/>
                  </a:lnTo>
                  <a:lnTo>
                    <a:pt x="0" y="97536"/>
                  </a:lnTo>
                  <a:lnTo>
                    <a:pt x="198120" y="97536"/>
                  </a:lnTo>
                  <a:lnTo>
                    <a:pt x="198120" y="0"/>
                  </a:lnTo>
                  <a:close/>
                </a:path>
                <a:path w="1955800" h="97789">
                  <a:moveTo>
                    <a:pt x="1955279" y="0"/>
                  </a:moveTo>
                  <a:lnTo>
                    <a:pt x="1464564" y="0"/>
                  </a:lnTo>
                  <a:lnTo>
                    <a:pt x="1464564" y="97536"/>
                  </a:lnTo>
                  <a:lnTo>
                    <a:pt x="1955279" y="97536"/>
                  </a:lnTo>
                  <a:lnTo>
                    <a:pt x="1955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6431" y="5062728"/>
              <a:ext cx="222504" cy="22250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70447" y="4872227"/>
              <a:ext cx="2138172" cy="111252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98564" y="5045964"/>
              <a:ext cx="1245107" cy="9525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868923" y="5045964"/>
              <a:ext cx="2127885" cy="173990"/>
            </a:xfrm>
            <a:custGeom>
              <a:avLst/>
              <a:gdLst/>
              <a:ahLst/>
              <a:cxnLst/>
              <a:rect l="l" t="t" r="r" b="b"/>
              <a:pathLst>
                <a:path w="2127884" h="173989">
                  <a:moveTo>
                    <a:pt x="0" y="173736"/>
                  </a:moveTo>
                  <a:lnTo>
                    <a:pt x="2127504" y="173736"/>
                  </a:lnTo>
                  <a:lnTo>
                    <a:pt x="2127504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12192">
              <a:solidFill>
                <a:srgbClr val="940A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7685"/>
            <a:ext cx="282701" cy="9881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35051" y="570103"/>
            <a:ext cx="2321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03</a:t>
            </a:r>
            <a:r>
              <a:rPr dirty="0" sz="2400" spc="-85"/>
              <a:t> </a:t>
            </a:r>
            <a:r>
              <a:rPr dirty="0" baseline="1157" sz="3600" spc="-179">
                <a:solidFill>
                  <a:srgbClr val="393938"/>
                </a:solidFill>
              </a:rPr>
              <a:t>Clinical</a:t>
            </a:r>
            <a:r>
              <a:rPr dirty="0" baseline="1157" sz="3600" spc="-397">
                <a:solidFill>
                  <a:srgbClr val="393938"/>
                </a:solidFill>
              </a:rPr>
              <a:t> </a:t>
            </a:r>
            <a:r>
              <a:rPr dirty="0" baseline="1157" sz="3600" spc="-202">
                <a:solidFill>
                  <a:srgbClr val="393938"/>
                </a:solidFill>
              </a:rPr>
              <a:t>Cases</a:t>
            </a:r>
            <a:endParaRPr baseline="1157" sz="3600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0584" y="1050289"/>
            <a:ext cx="1609509" cy="18618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140371" y="1451736"/>
            <a:ext cx="1794510" cy="140335"/>
            <a:chOff x="1140371" y="1451736"/>
            <a:chExt cx="1794510" cy="14033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0371" y="1485391"/>
              <a:ext cx="212940" cy="1064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1538" y="1451736"/>
              <a:ext cx="1543177" cy="14008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342132" y="890820"/>
            <a:ext cx="3900170" cy="5295265"/>
            <a:chOff x="3342132" y="890820"/>
            <a:chExt cx="3900170" cy="529526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42132" y="890820"/>
              <a:ext cx="3899882" cy="529509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06140" y="1312163"/>
              <a:ext cx="2611120" cy="151130"/>
            </a:xfrm>
            <a:custGeom>
              <a:avLst/>
              <a:gdLst/>
              <a:ahLst/>
              <a:cxnLst/>
              <a:rect l="l" t="t" r="r" b="b"/>
              <a:pathLst>
                <a:path w="2611120" h="151130">
                  <a:moveTo>
                    <a:pt x="278879" y="4572"/>
                  </a:moveTo>
                  <a:lnTo>
                    <a:pt x="0" y="4572"/>
                  </a:lnTo>
                  <a:lnTo>
                    <a:pt x="0" y="150876"/>
                  </a:lnTo>
                  <a:lnTo>
                    <a:pt x="278879" y="150876"/>
                  </a:lnTo>
                  <a:lnTo>
                    <a:pt x="278879" y="4572"/>
                  </a:lnTo>
                  <a:close/>
                </a:path>
                <a:path w="2611120" h="151130">
                  <a:moveTo>
                    <a:pt x="2610612" y="0"/>
                  </a:moveTo>
                  <a:lnTo>
                    <a:pt x="1763268" y="0"/>
                  </a:lnTo>
                  <a:lnTo>
                    <a:pt x="1763268" y="146304"/>
                  </a:lnTo>
                  <a:lnTo>
                    <a:pt x="2610612" y="146304"/>
                  </a:lnTo>
                  <a:lnTo>
                    <a:pt x="2610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0560" y="2604516"/>
              <a:ext cx="217932" cy="2164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20611" y="1973580"/>
              <a:ext cx="217932" cy="2164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88180" y="5012435"/>
              <a:ext cx="217932" cy="2179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22136" y="5012435"/>
              <a:ext cx="217932" cy="21793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736585" y="1631695"/>
            <a:ext cx="28606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1945" marR="5080" indent="-3098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Patient</a:t>
            </a:r>
            <a:r>
              <a:rPr dirty="0" sz="1600" spc="-229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646D7C"/>
                </a:solidFill>
                <a:latin typeface="Tahoma"/>
                <a:cs typeface="Tahoma"/>
              </a:rPr>
              <a:t>undergoing</a:t>
            </a:r>
            <a:r>
              <a:rPr dirty="0" sz="1600" spc="-24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treatment</a:t>
            </a:r>
            <a:r>
              <a:rPr dirty="0" sz="1600" spc="-23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646D7C"/>
                </a:solidFill>
                <a:latin typeface="Tahoma"/>
                <a:cs typeface="Tahoma"/>
              </a:rPr>
              <a:t>for </a:t>
            </a:r>
            <a:r>
              <a:rPr dirty="0" sz="1600" spc="-50">
                <a:solidFill>
                  <a:srgbClr val="646D7C"/>
                </a:solidFill>
                <a:latin typeface="Tahoma"/>
                <a:cs typeface="Tahoma"/>
              </a:rPr>
              <a:t>Stage</a:t>
            </a:r>
            <a:r>
              <a:rPr dirty="0" sz="1600" spc="-21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646D7C"/>
                </a:solidFill>
                <a:latin typeface="Tahoma"/>
                <a:cs typeface="Tahoma"/>
              </a:rPr>
              <a:t>3</a:t>
            </a:r>
            <a:r>
              <a:rPr dirty="0" sz="1600" spc="-19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646D7C"/>
                </a:solidFill>
                <a:latin typeface="Tahoma"/>
                <a:cs typeface="Tahoma"/>
              </a:rPr>
              <a:t>Esophageal</a:t>
            </a:r>
            <a:r>
              <a:rPr dirty="0" sz="1600" spc="-22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646D7C"/>
                </a:solidFill>
                <a:latin typeface="Tahoma"/>
                <a:cs typeface="Tahoma"/>
              </a:rPr>
              <a:t>cancer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00059" y="2560320"/>
            <a:ext cx="2162810" cy="1199515"/>
          </a:xfrm>
          <a:prstGeom prst="rect">
            <a:avLst/>
          </a:prstGeom>
          <a:solidFill>
            <a:srgbClr val="9F112C"/>
          </a:solidFill>
        </p:spPr>
        <p:txBody>
          <a:bodyPr wrap="square" lIns="0" tIns="7620" rIns="0" bIns="0" rtlCol="0" vert="horz">
            <a:spAutoFit/>
          </a:bodyPr>
          <a:lstStyle/>
          <a:p>
            <a:pPr algn="ctr" marL="120014" marR="106680" indent="635">
              <a:lnSpc>
                <a:spcPct val="150000"/>
              </a:lnSpc>
              <a:spcBef>
                <a:spcPts val="60"/>
              </a:spcBef>
            </a:pPr>
            <a:r>
              <a:rPr dirty="0" sz="1200" spc="-130" b="1">
                <a:solidFill>
                  <a:srgbClr val="FFFFFF"/>
                </a:solidFill>
                <a:latin typeface="Tahoma"/>
                <a:cs typeface="Tahoma"/>
              </a:rPr>
              <a:t>Involves</a:t>
            </a:r>
            <a:r>
              <a:rPr dirty="0" sz="12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20" b="1">
                <a:solidFill>
                  <a:srgbClr val="FFFFFF"/>
                </a:solidFill>
                <a:latin typeface="Tahoma"/>
                <a:cs typeface="Tahoma"/>
              </a:rPr>
              <a:t>issues</a:t>
            </a:r>
            <a:r>
              <a:rPr dirty="0" sz="12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FFFFFF"/>
                </a:solidFill>
                <a:latin typeface="Tahoma"/>
                <a:cs typeface="Tahoma"/>
              </a:rPr>
              <a:t>immunity </a:t>
            </a:r>
            <a:r>
              <a:rPr dirty="0" sz="1200" spc="-125" b="1">
                <a:solidFill>
                  <a:srgbClr val="FFFFFF"/>
                </a:solidFill>
                <a:latin typeface="Tahoma"/>
                <a:cs typeface="Tahoma"/>
              </a:rPr>
              <a:t>Edema</a:t>
            </a:r>
            <a:r>
              <a:rPr dirty="0" sz="1200" spc="-1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90" b="1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2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FFFFFF"/>
                </a:solidFill>
                <a:latin typeface="Tahoma"/>
                <a:cs typeface="Tahoma"/>
              </a:rPr>
              <a:t>circulation</a:t>
            </a:r>
            <a:r>
              <a:rPr dirty="0" sz="120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FFFFFF"/>
                </a:solidFill>
                <a:latin typeface="Tahoma"/>
                <a:cs typeface="Tahoma"/>
              </a:rPr>
              <a:t>problems </a:t>
            </a:r>
            <a:r>
              <a:rPr dirty="0" sz="1200" spc="-90" b="1">
                <a:solidFill>
                  <a:srgbClr val="FFFFFF"/>
                </a:solidFill>
                <a:latin typeface="Tahoma"/>
                <a:cs typeface="Tahoma"/>
              </a:rPr>
              <a:t>Nutritional</a:t>
            </a:r>
            <a:r>
              <a:rPr dirty="0" sz="12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ahoma"/>
                <a:cs typeface="Tahoma"/>
              </a:rPr>
              <a:t>deficiency Sarcopenia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82861" y="3894582"/>
            <a:ext cx="76200" cy="256540"/>
          </a:xfrm>
          <a:custGeom>
            <a:avLst/>
            <a:gdLst/>
            <a:ahLst/>
            <a:cxnLst/>
            <a:rect l="l" t="t" r="r" b="b"/>
            <a:pathLst>
              <a:path w="76200" h="256539">
                <a:moveTo>
                  <a:pt x="28194" y="180086"/>
                </a:moveTo>
                <a:lnTo>
                  <a:pt x="0" y="180086"/>
                </a:lnTo>
                <a:lnTo>
                  <a:pt x="38100" y="256286"/>
                </a:lnTo>
                <a:lnTo>
                  <a:pt x="69850" y="192786"/>
                </a:lnTo>
                <a:lnTo>
                  <a:pt x="28194" y="192786"/>
                </a:lnTo>
                <a:lnTo>
                  <a:pt x="28194" y="180086"/>
                </a:lnTo>
                <a:close/>
              </a:path>
              <a:path w="76200" h="256539">
                <a:moveTo>
                  <a:pt x="48006" y="0"/>
                </a:moveTo>
                <a:lnTo>
                  <a:pt x="28194" y="0"/>
                </a:lnTo>
                <a:lnTo>
                  <a:pt x="28194" y="192786"/>
                </a:lnTo>
                <a:lnTo>
                  <a:pt x="48006" y="192786"/>
                </a:lnTo>
                <a:lnTo>
                  <a:pt x="48006" y="0"/>
                </a:lnTo>
                <a:close/>
              </a:path>
              <a:path w="76200" h="256539">
                <a:moveTo>
                  <a:pt x="76200" y="180086"/>
                </a:moveTo>
                <a:lnTo>
                  <a:pt x="48006" y="180086"/>
                </a:lnTo>
                <a:lnTo>
                  <a:pt x="48006" y="192786"/>
                </a:lnTo>
                <a:lnTo>
                  <a:pt x="69850" y="192786"/>
                </a:lnTo>
                <a:lnTo>
                  <a:pt x="76200" y="180086"/>
                </a:lnTo>
                <a:close/>
              </a:path>
            </a:pathLst>
          </a:custGeom>
          <a:solidFill>
            <a:srgbClr val="A43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799831" y="4283964"/>
            <a:ext cx="2863850" cy="1187450"/>
          </a:xfrm>
          <a:prstGeom prst="rect">
            <a:avLst/>
          </a:prstGeom>
          <a:solidFill>
            <a:srgbClr val="4A4F5A"/>
          </a:solidFill>
        </p:spPr>
        <p:txBody>
          <a:bodyPr wrap="square" lIns="0" tIns="144780" rIns="0" bIns="0" rtlCol="0" vert="horz">
            <a:spAutoFit/>
          </a:bodyPr>
          <a:lstStyle/>
          <a:p>
            <a:pPr marL="401320" marR="244475" indent="-143510">
              <a:lnSpc>
                <a:spcPct val="150000"/>
              </a:lnSpc>
              <a:spcBef>
                <a:spcPts val="1140"/>
              </a:spcBef>
            </a:pPr>
            <a:r>
              <a:rPr dirty="0" sz="1200" spc="-114" b="1">
                <a:solidFill>
                  <a:srgbClr val="FFFFFF"/>
                </a:solidFill>
                <a:latin typeface="Tahoma"/>
                <a:cs typeface="Tahoma"/>
              </a:rPr>
              <a:t>Undergoing</a:t>
            </a:r>
            <a:r>
              <a:rPr dirty="0" sz="12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intensive</a:t>
            </a:r>
            <a:r>
              <a:rPr dirty="0" sz="120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chemotherapy </a:t>
            </a:r>
            <a:r>
              <a:rPr dirty="0" sz="1200" spc="-110" b="1">
                <a:solidFill>
                  <a:srgbClr val="FFFFFF"/>
                </a:solidFill>
                <a:latin typeface="Tahoma"/>
                <a:cs typeface="Tahoma"/>
              </a:rPr>
              <a:t>Combined</a:t>
            </a:r>
            <a:r>
              <a:rPr dirty="0" sz="1200" spc="-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5" b="1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2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40" b="1">
                <a:solidFill>
                  <a:srgbClr val="FFFFFF"/>
                </a:solidFill>
                <a:latin typeface="Tahoma"/>
                <a:cs typeface="Tahoma"/>
              </a:rPr>
              <a:t>immunotherapy </a:t>
            </a:r>
            <a:r>
              <a:rPr dirty="0" sz="1200" spc="-95" b="1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r>
              <a:rPr dirty="0" sz="1200" spc="-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20" b="1">
                <a:solidFill>
                  <a:srgbClr val="FFFFFF"/>
                </a:solidFill>
                <a:latin typeface="Tahoma"/>
                <a:cs typeface="Tahoma"/>
              </a:rPr>
              <a:t>improvement</a:t>
            </a:r>
            <a:r>
              <a:rPr dirty="0" sz="12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ahoma"/>
                <a:cs typeface="Tahoma"/>
              </a:rPr>
              <a:t>status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7685"/>
            <a:ext cx="282701" cy="9881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90727" y="612648"/>
            <a:ext cx="312420" cy="312420"/>
            <a:chOff x="490727" y="612648"/>
            <a:chExt cx="312420" cy="312420"/>
          </a:xfrm>
        </p:grpSpPr>
        <p:sp>
          <p:nvSpPr>
            <p:cNvPr id="10" name="object 10"/>
            <p:cNvSpPr/>
            <p:nvPr/>
          </p:nvSpPr>
          <p:spPr>
            <a:xfrm>
              <a:off x="490727" y="61264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209" y="0"/>
                  </a:moveTo>
                  <a:lnTo>
                    <a:pt x="117170" y="4921"/>
                  </a:lnTo>
                  <a:lnTo>
                    <a:pt x="75539" y="22478"/>
                  </a:lnTo>
                  <a:lnTo>
                    <a:pt x="79413" y="24891"/>
                  </a:lnTo>
                  <a:lnTo>
                    <a:pt x="81445" y="26542"/>
                  </a:lnTo>
                  <a:lnTo>
                    <a:pt x="88036" y="33147"/>
                  </a:lnTo>
                  <a:lnTo>
                    <a:pt x="91274" y="38735"/>
                  </a:lnTo>
                  <a:lnTo>
                    <a:pt x="93090" y="44957"/>
                  </a:lnTo>
                  <a:lnTo>
                    <a:pt x="95186" y="43687"/>
                  </a:lnTo>
                  <a:lnTo>
                    <a:pt x="109264" y="37087"/>
                  </a:lnTo>
                  <a:lnTo>
                    <a:pt x="124212" y="32226"/>
                  </a:lnTo>
                  <a:lnTo>
                    <a:pt x="139902" y="29221"/>
                  </a:lnTo>
                  <a:lnTo>
                    <a:pt x="156209" y="28193"/>
                  </a:lnTo>
                  <a:lnTo>
                    <a:pt x="206039" y="38248"/>
                  </a:lnTo>
                  <a:lnTo>
                    <a:pt x="246730" y="65674"/>
                  </a:lnTo>
                  <a:lnTo>
                    <a:pt x="274165" y="106364"/>
                  </a:lnTo>
                  <a:lnTo>
                    <a:pt x="284226" y="156210"/>
                  </a:lnTo>
                  <a:lnTo>
                    <a:pt x="274165" y="206055"/>
                  </a:lnTo>
                  <a:lnTo>
                    <a:pt x="246730" y="246745"/>
                  </a:lnTo>
                  <a:lnTo>
                    <a:pt x="206039" y="274171"/>
                  </a:lnTo>
                  <a:lnTo>
                    <a:pt x="156209" y="284225"/>
                  </a:lnTo>
                  <a:lnTo>
                    <a:pt x="106380" y="274171"/>
                  </a:lnTo>
                  <a:lnTo>
                    <a:pt x="65689" y="246745"/>
                  </a:lnTo>
                  <a:lnTo>
                    <a:pt x="38254" y="206055"/>
                  </a:lnTo>
                  <a:lnTo>
                    <a:pt x="28193" y="156210"/>
                  </a:lnTo>
                  <a:lnTo>
                    <a:pt x="29221" y="139898"/>
                  </a:lnTo>
                  <a:lnTo>
                    <a:pt x="32219" y="124206"/>
                  </a:lnTo>
                  <a:lnTo>
                    <a:pt x="37066" y="109275"/>
                  </a:lnTo>
                  <a:lnTo>
                    <a:pt x="43637" y="95250"/>
                  </a:lnTo>
                  <a:lnTo>
                    <a:pt x="45148" y="92710"/>
                  </a:lnTo>
                  <a:lnTo>
                    <a:pt x="39090" y="90931"/>
                  </a:lnTo>
                  <a:lnTo>
                    <a:pt x="33464" y="87629"/>
                  </a:lnTo>
                  <a:lnTo>
                    <a:pt x="25234" y="79121"/>
                  </a:lnTo>
                  <a:lnTo>
                    <a:pt x="22720" y="75056"/>
                  </a:lnTo>
                  <a:lnTo>
                    <a:pt x="13030" y="93630"/>
                  </a:lnTo>
                  <a:lnTo>
                    <a:pt x="5927" y="113411"/>
                  </a:lnTo>
                  <a:lnTo>
                    <a:pt x="1516" y="134334"/>
                  </a:lnTo>
                  <a:lnTo>
                    <a:pt x="0" y="156210"/>
                  </a:lnTo>
                  <a:lnTo>
                    <a:pt x="7963" y="205569"/>
                  </a:lnTo>
                  <a:lnTo>
                    <a:pt x="30139" y="248448"/>
                  </a:lnTo>
                  <a:lnTo>
                    <a:pt x="63954" y="282269"/>
                  </a:lnTo>
                  <a:lnTo>
                    <a:pt x="106836" y="304452"/>
                  </a:lnTo>
                  <a:lnTo>
                    <a:pt x="156209" y="312419"/>
                  </a:lnTo>
                  <a:lnTo>
                    <a:pt x="205583" y="304452"/>
                  </a:lnTo>
                  <a:lnTo>
                    <a:pt x="248465" y="282269"/>
                  </a:lnTo>
                  <a:lnTo>
                    <a:pt x="282280" y="248448"/>
                  </a:lnTo>
                  <a:lnTo>
                    <a:pt x="304456" y="205569"/>
                  </a:lnTo>
                  <a:lnTo>
                    <a:pt x="312420" y="156210"/>
                  </a:lnTo>
                  <a:lnTo>
                    <a:pt x="304456" y="106850"/>
                  </a:lnTo>
                  <a:lnTo>
                    <a:pt x="282280" y="63971"/>
                  </a:lnTo>
                  <a:lnTo>
                    <a:pt x="248465" y="30150"/>
                  </a:lnTo>
                  <a:lnTo>
                    <a:pt x="205583" y="7967"/>
                  </a:lnTo>
                  <a:lnTo>
                    <a:pt x="156209" y="0"/>
                  </a:lnTo>
                  <a:close/>
                </a:path>
              </a:pathLst>
            </a:custGeom>
            <a:solidFill>
              <a:srgbClr val="D5D9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18347" y="640111"/>
              <a:ext cx="55880" cy="55880"/>
            </a:xfrm>
            <a:custGeom>
              <a:avLst/>
              <a:gdLst/>
              <a:ahLst/>
              <a:cxnLst/>
              <a:rect l="l" t="t" r="r" b="b"/>
              <a:pathLst>
                <a:path w="55879" h="55879">
                  <a:moveTo>
                    <a:pt x="27809" y="0"/>
                  </a:moveTo>
                  <a:lnTo>
                    <a:pt x="17343" y="2024"/>
                  </a:lnTo>
                  <a:lnTo>
                    <a:pt x="8143" y="8096"/>
                  </a:lnTo>
                  <a:lnTo>
                    <a:pt x="2035" y="17319"/>
                  </a:lnTo>
                  <a:lnTo>
                    <a:pt x="0" y="27781"/>
                  </a:lnTo>
                  <a:lnTo>
                    <a:pt x="2035" y="38242"/>
                  </a:lnTo>
                  <a:lnTo>
                    <a:pt x="8143" y="47466"/>
                  </a:lnTo>
                  <a:lnTo>
                    <a:pt x="17343" y="53609"/>
                  </a:lnTo>
                  <a:lnTo>
                    <a:pt x="27809" y="55657"/>
                  </a:lnTo>
                  <a:lnTo>
                    <a:pt x="38276" y="53609"/>
                  </a:lnTo>
                  <a:lnTo>
                    <a:pt x="47475" y="47466"/>
                  </a:lnTo>
                  <a:lnTo>
                    <a:pt x="53583" y="38242"/>
                  </a:lnTo>
                  <a:lnTo>
                    <a:pt x="55619" y="27781"/>
                  </a:lnTo>
                  <a:lnTo>
                    <a:pt x="53583" y="17319"/>
                  </a:lnTo>
                  <a:lnTo>
                    <a:pt x="47475" y="8096"/>
                  </a:lnTo>
                  <a:lnTo>
                    <a:pt x="38276" y="2024"/>
                  </a:lnTo>
                  <a:lnTo>
                    <a:pt x="27809" y="0"/>
                  </a:lnTo>
                  <a:close/>
                </a:path>
              </a:pathLst>
            </a:custGeom>
            <a:solidFill>
              <a:srgbClr val="9E0A2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06881" y="604520"/>
            <a:ext cx="113347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20"/>
              <a:t>Summary</a:t>
            </a: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55964" y="3293364"/>
            <a:ext cx="2921508" cy="77571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8657843" y="3621023"/>
            <a:ext cx="117475" cy="2089785"/>
            <a:chOff x="8657843" y="3621023"/>
            <a:chExt cx="117475" cy="2089785"/>
          </a:xfrm>
        </p:grpSpPr>
        <p:sp>
          <p:nvSpPr>
            <p:cNvPr id="13" name="object 13"/>
            <p:cNvSpPr/>
            <p:nvPr/>
          </p:nvSpPr>
          <p:spPr>
            <a:xfrm>
              <a:off x="8714993" y="3734561"/>
              <a:ext cx="3810" cy="1960245"/>
            </a:xfrm>
            <a:custGeom>
              <a:avLst/>
              <a:gdLst/>
              <a:ahLst/>
              <a:cxnLst/>
              <a:rect l="l" t="t" r="r" b="b"/>
              <a:pathLst>
                <a:path w="3809" h="1960245">
                  <a:moveTo>
                    <a:pt x="0" y="0"/>
                  </a:moveTo>
                  <a:lnTo>
                    <a:pt x="3428" y="1959648"/>
                  </a:lnTo>
                </a:path>
              </a:pathLst>
            </a:custGeom>
            <a:ln w="32004">
              <a:solidFill>
                <a:srgbClr val="9096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7843" y="3621023"/>
              <a:ext cx="114300" cy="1203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57843" y="4594859"/>
              <a:ext cx="114300" cy="1203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60891" y="5580888"/>
              <a:ext cx="114300" cy="120395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55964" y="4267200"/>
            <a:ext cx="2921508" cy="77571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55964" y="5228844"/>
            <a:ext cx="2921508" cy="775716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222247" y="1118616"/>
            <a:ext cx="7852409" cy="5053965"/>
            <a:chOff x="1222247" y="1118616"/>
            <a:chExt cx="7852409" cy="5053965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2247" y="1118616"/>
              <a:ext cx="4215384" cy="50535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938777" y="3160014"/>
              <a:ext cx="1446530" cy="1056640"/>
            </a:xfrm>
            <a:custGeom>
              <a:avLst/>
              <a:gdLst/>
              <a:ahLst/>
              <a:cxnLst/>
              <a:rect l="l" t="t" r="r" b="b"/>
              <a:pathLst>
                <a:path w="1446529" h="1056639">
                  <a:moveTo>
                    <a:pt x="0" y="1056132"/>
                  </a:moveTo>
                  <a:lnTo>
                    <a:pt x="1234439" y="1056132"/>
                  </a:lnTo>
                  <a:lnTo>
                    <a:pt x="1234439" y="883919"/>
                  </a:lnTo>
                  <a:lnTo>
                    <a:pt x="0" y="883919"/>
                  </a:lnTo>
                  <a:lnTo>
                    <a:pt x="0" y="1056132"/>
                  </a:lnTo>
                  <a:close/>
                </a:path>
                <a:path w="1446529" h="1056639">
                  <a:moveTo>
                    <a:pt x="0" y="153924"/>
                  </a:moveTo>
                  <a:lnTo>
                    <a:pt x="1339596" y="153924"/>
                  </a:lnTo>
                  <a:lnTo>
                    <a:pt x="1339596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  <a:path w="1446529" h="1056639">
                  <a:moveTo>
                    <a:pt x="1286256" y="649224"/>
                  </a:moveTo>
                  <a:lnTo>
                    <a:pt x="1446530" y="649478"/>
                  </a:lnTo>
                </a:path>
              </a:pathLst>
            </a:custGeom>
            <a:ln w="19812">
              <a:solidFill>
                <a:srgbClr val="9D1F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385053" y="3594354"/>
              <a:ext cx="0" cy="217170"/>
            </a:xfrm>
            <a:custGeom>
              <a:avLst/>
              <a:gdLst/>
              <a:ahLst/>
              <a:cxnLst/>
              <a:rect l="l" t="t" r="r" b="b"/>
              <a:pathLst>
                <a:path w="0" h="217170">
                  <a:moveTo>
                    <a:pt x="0" y="216916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8F22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377433" y="3556254"/>
              <a:ext cx="590550" cy="76200"/>
            </a:xfrm>
            <a:custGeom>
              <a:avLst/>
              <a:gdLst/>
              <a:ahLst/>
              <a:cxnLst/>
              <a:rect l="l" t="t" r="r" b="b"/>
              <a:pathLst>
                <a:path w="590550" h="76200">
                  <a:moveTo>
                    <a:pt x="514350" y="0"/>
                  </a:moveTo>
                  <a:lnTo>
                    <a:pt x="514350" y="76200"/>
                  </a:lnTo>
                  <a:lnTo>
                    <a:pt x="570737" y="48006"/>
                  </a:lnTo>
                  <a:lnTo>
                    <a:pt x="527050" y="48006"/>
                  </a:lnTo>
                  <a:lnTo>
                    <a:pt x="527050" y="28194"/>
                  </a:lnTo>
                  <a:lnTo>
                    <a:pt x="570738" y="28194"/>
                  </a:lnTo>
                  <a:lnTo>
                    <a:pt x="514350" y="0"/>
                  </a:lnTo>
                  <a:close/>
                </a:path>
                <a:path w="590550" h="76200">
                  <a:moveTo>
                    <a:pt x="514350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514350" y="48006"/>
                  </a:lnTo>
                  <a:lnTo>
                    <a:pt x="514350" y="28194"/>
                  </a:lnTo>
                  <a:close/>
                </a:path>
                <a:path w="590550" h="76200">
                  <a:moveTo>
                    <a:pt x="570738" y="28194"/>
                  </a:moveTo>
                  <a:lnTo>
                    <a:pt x="527050" y="28194"/>
                  </a:lnTo>
                  <a:lnTo>
                    <a:pt x="527050" y="48006"/>
                  </a:lnTo>
                  <a:lnTo>
                    <a:pt x="570737" y="48006"/>
                  </a:lnTo>
                  <a:lnTo>
                    <a:pt x="590550" y="38100"/>
                  </a:lnTo>
                  <a:lnTo>
                    <a:pt x="570738" y="28194"/>
                  </a:lnTo>
                  <a:close/>
                </a:path>
              </a:pathLst>
            </a:custGeom>
            <a:solidFill>
              <a:srgbClr val="9D1F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2815" y="4267155"/>
              <a:ext cx="2211342" cy="59290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70447" y="4274820"/>
              <a:ext cx="2132076" cy="5135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23788" y="4977892"/>
              <a:ext cx="936625" cy="13830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17819" y="5243575"/>
              <a:ext cx="2619629" cy="14071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373885" y="1934718"/>
              <a:ext cx="3851275" cy="2908300"/>
            </a:xfrm>
            <a:custGeom>
              <a:avLst/>
              <a:gdLst/>
              <a:ahLst/>
              <a:cxnLst/>
              <a:rect l="l" t="t" r="r" b="b"/>
              <a:pathLst>
                <a:path w="3851275" h="2908300">
                  <a:moveTo>
                    <a:pt x="7619" y="2907791"/>
                  </a:moveTo>
                  <a:lnTo>
                    <a:pt x="2523743" y="2907791"/>
                  </a:lnTo>
                  <a:lnTo>
                    <a:pt x="2523743" y="1737359"/>
                  </a:lnTo>
                  <a:lnTo>
                    <a:pt x="7619" y="1737359"/>
                  </a:lnTo>
                  <a:lnTo>
                    <a:pt x="7619" y="2907791"/>
                  </a:lnTo>
                  <a:close/>
                </a:path>
                <a:path w="3851275" h="2908300">
                  <a:moveTo>
                    <a:pt x="0" y="455675"/>
                  </a:moveTo>
                  <a:lnTo>
                    <a:pt x="2491740" y="455675"/>
                  </a:lnTo>
                  <a:lnTo>
                    <a:pt x="2491740" y="0"/>
                  </a:lnTo>
                  <a:lnTo>
                    <a:pt x="0" y="0"/>
                  </a:lnTo>
                  <a:lnTo>
                    <a:pt x="0" y="455675"/>
                  </a:lnTo>
                  <a:close/>
                </a:path>
                <a:path w="3851275" h="2908300">
                  <a:moveTo>
                    <a:pt x="2564891" y="1962911"/>
                  </a:moveTo>
                  <a:lnTo>
                    <a:pt x="3851147" y="1962911"/>
                  </a:lnTo>
                  <a:lnTo>
                    <a:pt x="3851147" y="1807463"/>
                  </a:lnTo>
                  <a:lnTo>
                    <a:pt x="2564891" y="1807463"/>
                  </a:lnTo>
                  <a:lnTo>
                    <a:pt x="2564891" y="1962911"/>
                  </a:lnTo>
                  <a:close/>
                </a:path>
              </a:pathLst>
            </a:custGeom>
            <a:ln w="19812">
              <a:solidFill>
                <a:srgbClr val="9D1F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46391" y="1427734"/>
              <a:ext cx="741552" cy="11442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55408" y="1697482"/>
              <a:ext cx="280670" cy="111760"/>
            </a:xfrm>
            <a:custGeom>
              <a:avLst/>
              <a:gdLst/>
              <a:ahLst/>
              <a:cxnLst/>
              <a:rect l="l" t="t" r="r" b="b"/>
              <a:pathLst>
                <a:path w="280670" h="111760">
                  <a:moveTo>
                    <a:pt x="129032" y="30860"/>
                  </a:moveTo>
                  <a:lnTo>
                    <a:pt x="117221" y="30860"/>
                  </a:lnTo>
                  <a:lnTo>
                    <a:pt x="112014" y="31750"/>
                  </a:lnTo>
                  <a:lnTo>
                    <a:pt x="102362" y="35559"/>
                  </a:lnTo>
                  <a:lnTo>
                    <a:pt x="98298" y="38226"/>
                  </a:lnTo>
                  <a:lnTo>
                    <a:pt x="94996" y="41655"/>
                  </a:lnTo>
                  <a:lnTo>
                    <a:pt x="91567" y="45084"/>
                  </a:lnTo>
                  <a:lnTo>
                    <a:pt x="89026" y="49275"/>
                  </a:lnTo>
                  <a:lnTo>
                    <a:pt x="87122" y="54228"/>
                  </a:lnTo>
                  <a:lnTo>
                    <a:pt x="85217" y="59308"/>
                  </a:lnTo>
                  <a:lnTo>
                    <a:pt x="84327" y="64769"/>
                  </a:lnTo>
                  <a:lnTo>
                    <a:pt x="84327" y="77215"/>
                  </a:lnTo>
                  <a:lnTo>
                    <a:pt x="85217" y="82803"/>
                  </a:lnTo>
                  <a:lnTo>
                    <a:pt x="89026" y="92709"/>
                  </a:lnTo>
                  <a:lnTo>
                    <a:pt x="91567" y="96900"/>
                  </a:lnTo>
                  <a:lnTo>
                    <a:pt x="94996" y="100456"/>
                  </a:lnTo>
                  <a:lnTo>
                    <a:pt x="98298" y="104012"/>
                  </a:lnTo>
                  <a:lnTo>
                    <a:pt x="102362" y="106679"/>
                  </a:lnTo>
                  <a:lnTo>
                    <a:pt x="107188" y="108584"/>
                  </a:lnTo>
                  <a:lnTo>
                    <a:pt x="112014" y="110362"/>
                  </a:lnTo>
                  <a:lnTo>
                    <a:pt x="117221" y="111378"/>
                  </a:lnTo>
                  <a:lnTo>
                    <a:pt x="129032" y="111378"/>
                  </a:lnTo>
                  <a:lnTo>
                    <a:pt x="151130" y="100456"/>
                  </a:lnTo>
                  <a:lnTo>
                    <a:pt x="154559" y="96900"/>
                  </a:lnTo>
                  <a:lnTo>
                    <a:pt x="116459" y="96900"/>
                  </a:lnTo>
                  <a:lnTo>
                    <a:pt x="111633" y="94741"/>
                  </a:lnTo>
                  <a:lnTo>
                    <a:pt x="105373" y="85978"/>
                  </a:lnTo>
                  <a:lnTo>
                    <a:pt x="104551" y="82803"/>
                  </a:lnTo>
                  <a:lnTo>
                    <a:pt x="103759" y="79501"/>
                  </a:lnTo>
                  <a:lnTo>
                    <a:pt x="103759" y="62737"/>
                  </a:lnTo>
                  <a:lnTo>
                    <a:pt x="105283" y="56387"/>
                  </a:lnTo>
                  <a:lnTo>
                    <a:pt x="111633" y="47497"/>
                  </a:lnTo>
                  <a:lnTo>
                    <a:pt x="116459" y="45212"/>
                  </a:lnTo>
                  <a:lnTo>
                    <a:pt x="154635" y="45212"/>
                  </a:lnTo>
                  <a:lnTo>
                    <a:pt x="154559" y="45084"/>
                  </a:lnTo>
                  <a:lnTo>
                    <a:pt x="151130" y="41655"/>
                  </a:lnTo>
                  <a:lnTo>
                    <a:pt x="147827" y="38226"/>
                  </a:lnTo>
                  <a:lnTo>
                    <a:pt x="143764" y="35559"/>
                  </a:lnTo>
                  <a:lnTo>
                    <a:pt x="139065" y="33654"/>
                  </a:lnTo>
                  <a:lnTo>
                    <a:pt x="134239" y="31750"/>
                  </a:lnTo>
                  <a:lnTo>
                    <a:pt x="129032" y="30860"/>
                  </a:lnTo>
                  <a:close/>
                </a:path>
                <a:path w="280670" h="111760">
                  <a:moveTo>
                    <a:pt x="154635" y="45212"/>
                  </a:moveTo>
                  <a:lnTo>
                    <a:pt x="129667" y="45212"/>
                  </a:lnTo>
                  <a:lnTo>
                    <a:pt x="134776" y="47497"/>
                  </a:lnTo>
                  <a:lnTo>
                    <a:pt x="134580" y="47497"/>
                  </a:lnTo>
                  <a:lnTo>
                    <a:pt x="137541" y="51815"/>
                  </a:lnTo>
                  <a:lnTo>
                    <a:pt x="140716" y="56260"/>
                  </a:lnTo>
                  <a:lnTo>
                    <a:pt x="142240" y="62737"/>
                  </a:lnTo>
                  <a:lnTo>
                    <a:pt x="142240" y="79501"/>
                  </a:lnTo>
                  <a:lnTo>
                    <a:pt x="140716" y="85978"/>
                  </a:lnTo>
                  <a:lnTo>
                    <a:pt x="137541" y="90296"/>
                  </a:lnTo>
                  <a:lnTo>
                    <a:pt x="134493" y="94741"/>
                  </a:lnTo>
                  <a:lnTo>
                    <a:pt x="129667" y="96900"/>
                  </a:lnTo>
                  <a:lnTo>
                    <a:pt x="154559" y="96900"/>
                  </a:lnTo>
                  <a:lnTo>
                    <a:pt x="157099" y="92709"/>
                  </a:lnTo>
                  <a:lnTo>
                    <a:pt x="159004" y="87756"/>
                  </a:lnTo>
                  <a:lnTo>
                    <a:pt x="160782" y="82803"/>
                  </a:lnTo>
                  <a:lnTo>
                    <a:pt x="161671" y="77215"/>
                  </a:lnTo>
                  <a:lnTo>
                    <a:pt x="161671" y="64769"/>
                  </a:lnTo>
                  <a:lnTo>
                    <a:pt x="160782" y="59308"/>
                  </a:lnTo>
                  <a:lnTo>
                    <a:pt x="159004" y="54228"/>
                  </a:lnTo>
                  <a:lnTo>
                    <a:pt x="157099" y="49275"/>
                  </a:lnTo>
                  <a:lnTo>
                    <a:pt x="154635" y="45212"/>
                  </a:lnTo>
                  <a:close/>
                </a:path>
                <a:path w="280670" h="111760">
                  <a:moveTo>
                    <a:pt x="175641" y="91947"/>
                  </a:moveTo>
                  <a:lnTo>
                    <a:pt x="173227" y="91947"/>
                  </a:lnTo>
                  <a:lnTo>
                    <a:pt x="171704" y="92328"/>
                  </a:lnTo>
                  <a:lnTo>
                    <a:pt x="172021" y="92328"/>
                  </a:lnTo>
                  <a:lnTo>
                    <a:pt x="171450" y="92709"/>
                  </a:lnTo>
                  <a:lnTo>
                    <a:pt x="170688" y="93090"/>
                  </a:lnTo>
                  <a:lnTo>
                    <a:pt x="170052" y="93852"/>
                  </a:lnTo>
                  <a:lnTo>
                    <a:pt x="169545" y="94614"/>
                  </a:lnTo>
                  <a:lnTo>
                    <a:pt x="165226" y="101853"/>
                  </a:lnTo>
                  <a:lnTo>
                    <a:pt x="166750" y="103250"/>
                  </a:lnTo>
                  <a:lnTo>
                    <a:pt x="187578" y="111378"/>
                  </a:lnTo>
                  <a:lnTo>
                    <a:pt x="197358" y="111378"/>
                  </a:lnTo>
                  <a:lnTo>
                    <a:pt x="220426" y="98297"/>
                  </a:lnTo>
                  <a:lnTo>
                    <a:pt x="190373" y="98297"/>
                  </a:lnTo>
                  <a:lnTo>
                    <a:pt x="188849" y="98043"/>
                  </a:lnTo>
                  <a:lnTo>
                    <a:pt x="188468" y="98043"/>
                  </a:lnTo>
                  <a:lnTo>
                    <a:pt x="184276" y="96646"/>
                  </a:lnTo>
                  <a:lnTo>
                    <a:pt x="182752" y="95884"/>
                  </a:lnTo>
                  <a:lnTo>
                    <a:pt x="179959" y="94360"/>
                  </a:lnTo>
                  <a:lnTo>
                    <a:pt x="178816" y="93598"/>
                  </a:lnTo>
                  <a:lnTo>
                    <a:pt x="177901" y="93090"/>
                  </a:lnTo>
                  <a:lnTo>
                    <a:pt x="176657" y="92328"/>
                  </a:lnTo>
                  <a:lnTo>
                    <a:pt x="175641" y="91947"/>
                  </a:lnTo>
                  <a:close/>
                </a:path>
                <a:path w="280670" h="111760">
                  <a:moveTo>
                    <a:pt x="222046" y="94614"/>
                  </a:moveTo>
                  <a:lnTo>
                    <a:pt x="203816" y="94614"/>
                  </a:lnTo>
                  <a:lnTo>
                    <a:pt x="201930" y="96265"/>
                  </a:lnTo>
                  <a:lnTo>
                    <a:pt x="200533" y="96900"/>
                  </a:lnTo>
                  <a:lnTo>
                    <a:pt x="199009" y="97408"/>
                  </a:lnTo>
                  <a:lnTo>
                    <a:pt x="197358" y="98043"/>
                  </a:lnTo>
                  <a:lnTo>
                    <a:pt x="195452" y="98297"/>
                  </a:lnTo>
                  <a:lnTo>
                    <a:pt x="220426" y="98297"/>
                  </a:lnTo>
                  <a:lnTo>
                    <a:pt x="222046" y="94614"/>
                  </a:lnTo>
                  <a:close/>
                </a:path>
                <a:path w="280670" h="111760">
                  <a:moveTo>
                    <a:pt x="202311" y="30860"/>
                  </a:moveTo>
                  <a:lnTo>
                    <a:pt x="192150" y="30860"/>
                  </a:lnTo>
                  <a:lnTo>
                    <a:pt x="187833" y="31495"/>
                  </a:lnTo>
                  <a:lnTo>
                    <a:pt x="180467" y="34035"/>
                  </a:lnTo>
                  <a:lnTo>
                    <a:pt x="177419" y="35813"/>
                  </a:lnTo>
                  <a:lnTo>
                    <a:pt x="175006" y="37972"/>
                  </a:lnTo>
                  <a:lnTo>
                    <a:pt x="172466" y="40131"/>
                  </a:lnTo>
                  <a:lnTo>
                    <a:pt x="170688" y="42671"/>
                  </a:lnTo>
                  <a:lnTo>
                    <a:pt x="169418" y="45465"/>
                  </a:lnTo>
                  <a:lnTo>
                    <a:pt x="168479" y="47625"/>
                  </a:lnTo>
                  <a:lnTo>
                    <a:pt x="168174" y="48259"/>
                  </a:lnTo>
                  <a:lnTo>
                    <a:pt x="167513" y="51434"/>
                  </a:lnTo>
                  <a:lnTo>
                    <a:pt x="167557" y="58419"/>
                  </a:lnTo>
                  <a:lnTo>
                    <a:pt x="167733" y="59435"/>
                  </a:lnTo>
                  <a:lnTo>
                    <a:pt x="168081" y="61213"/>
                  </a:lnTo>
                  <a:lnTo>
                    <a:pt x="169103" y="63372"/>
                  </a:lnTo>
                  <a:lnTo>
                    <a:pt x="170073" y="65658"/>
                  </a:lnTo>
                  <a:lnTo>
                    <a:pt x="179577" y="73787"/>
                  </a:lnTo>
                  <a:lnTo>
                    <a:pt x="181991" y="74929"/>
                  </a:lnTo>
                  <a:lnTo>
                    <a:pt x="184276" y="75818"/>
                  </a:lnTo>
                  <a:lnTo>
                    <a:pt x="186690" y="76707"/>
                  </a:lnTo>
                  <a:lnTo>
                    <a:pt x="191516" y="78231"/>
                  </a:lnTo>
                  <a:lnTo>
                    <a:pt x="193801" y="78993"/>
                  </a:lnTo>
                  <a:lnTo>
                    <a:pt x="205994" y="86994"/>
                  </a:lnTo>
                  <a:lnTo>
                    <a:pt x="205994" y="90042"/>
                  </a:lnTo>
                  <a:lnTo>
                    <a:pt x="205740" y="91185"/>
                  </a:lnTo>
                  <a:lnTo>
                    <a:pt x="204893" y="93090"/>
                  </a:lnTo>
                  <a:lnTo>
                    <a:pt x="204628" y="93598"/>
                  </a:lnTo>
                  <a:lnTo>
                    <a:pt x="204057" y="94360"/>
                  </a:lnTo>
                  <a:lnTo>
                    <a:pt x="222158" y="94360"/>
                  </a:lnTo>
                  <a:lnTo>
                    <a:pt x="222885" y="92709"/>
                  </a:lnTo>
                  <a:lnTo>
                    <a:pt x="223520" y="89153"/>
                  </a:lnTo>
                  <a:lnTo>
                    <a:pt x="223520" y="82295"/>
                  </a:lnTo>
                  <a:lnTo>
                    <a:pt x="223012" y="79628"/>
                  </a:lnTo>
                  <a:lnTo>
                    <a:pt x="221869" y="77342"/>
                  </a:lnTo>
                  <a:lnTo>
                    <a:pt x="220852" y="75183"/>
                  </a:lnTo>
                  <a:lnTo>
                    <a:pt x="204470" y="64896"/>
                  </a:lnTo>
                  <a:lnTo>
                    <a:pt x="202057" y="64007"/>
                  </a:lnTo>
                  <a:lnTo>
                    <a:pt x="199771" y="63372"/>
                  </a:lnTo>
                  <a:lnTo>
                    <a:pt x="197358" y="62610"/>
                  </a:lnTo>
                  <a:lnTo>
                    <a:pt x="195072" y="61975"/>
                  </a:lnTo>
                  <a:lnTo>
                    <a:pt x="185293" y="54737"/>
                  </a:lnTo>
                  <a:lnTo>
                    <a:pt x="185293" y="50545"/>
                  </a:lnTo>
                  <a:lnTo>
                    <a:pt x="186436" y="48259"/>
                  </a:lnTo>
                  <a:lnTo>
                    <a:pt x="186641" y="48259"/>
                  </a:lnTo>
                  <a:lnTo>
                    <a:pt x="188468" y="46862"/>
                  </a:lnTo>
                  <a:lnTo>
                    <a:pt x="190447" y="45465"/>
                  </a:lnTo>
                  <a:lnTo>
                    <a:pt x="190140" y="45465"/>
                  </a:lnTo>
                  <a:lnTo>
                    <a:pt x="193548" y="44576"/>
                  </a:lnTo>
                  <a:lnTo>
                    <a:pt x="220150" y="44576"/>
                  </a:lnTo>
                  <a:lnTo>
                    <a:pt x="222758" y="40512"/>
                  </a:lnTo>
                  <a:lnTo>
                    <a:pt x="219710" y="37591"/>
                  </a:lnTo>
                  <a:lnTo>
                    <a:pt x="216154" y="35305"/>
                  </a:lnTo>
                  <a:lnTo>
                    <a:pt x="207264" y="31750"/>
                  </a:lnTo>
                  <a:lnTo>
                    <a:pt x="202311" y="30860"/>
                  </a:lnTo>
                  <a:close/>
                </a:path>
                <a:path w="280670" h="111760">
                  <a:moveTo>
                    <a:pt x="217254" y="48767"/>
                  </a:moveTo>
                  <a:lnTo>
                    <a:pt x="211836" y="48767"/>
                  </a:lnTo>
                  <a:lnTo>
                    <a:pt x="212851" y="49275"/>
                  </a:lnTo>
                  <a:lnTo>
                    <a:pt x="213868" y="49529"/>
                  </a:lnTo>
                  <a:lnTo>
                    <a:pt x="215646" y="49529"/>
                  </a:lnTo>
                  <a:lnTo>
                    <a:pt x="216916" y="49021"/>
                  </a:lnTo>
                  <a:lnTo>
                    <a:pt x="217254" y="48767"/>
                  </a:lnTo>
                  <a:close/>
                </a:path>
                <a:path w="280670" h="111760">
                  <a:moveTo>
                    <a:pt x="210693" y="48259"/>
                  </a:moveTo>
                  <a:lnTo>
                    <a:pt x="186641" y="48259"/>
                  </a:lnTo>
                  <a:lnTo>
                    <a:pt x="185976" y="48767"/>
                  </a:lnTo>
                  <a:lnTo>
                    <a:pt x="211836" y="48767"/>
                  </a:lnTo>
                  <a:lnTo>
                    <a:pt x="210693" y="48259"/>
                  </a:lnTo>
                  <a:close/>
                </a:path>
                <a:path w="280670" h="111760">
                  <a:moveTo>
                    <a:pt x="220150" y="44576"/>
                  </a:moveTo>
                  <a:lnTo>
                    <a:pt x="199644" y="44576"/>
                  </a:lnTo>
                  <a:lnTo>
                    <a:pt x="201675" y="44830"/>
                  </a:lnTo>
                  <a:lnTo>
                    <a:pt x="205232" y="45846"/>
                  </a:lnTo>
                  <a:lnTo>
                    <a:pt x="206756" y="46354"/>
                  </a:lnTo>
                  <a:lnTo>
                    <a:pt x="209550" y="47625"/>
                  </a:lnTo>
                  <a:lnTo>
                    <a:pt x="210693" y="48259"/>
                  </a:lnTo>
                  <a:lnTo>
                    <a:pt x="217859" y="48259"/>
                  </a:lnTo>
                  <a:lnTo>
                    <a:pt x="218440" y="47243"/>
                  </a:lnTo>
                  <a:lnTo>
                    <a:pt x="220150" y="44576"/>
                  </a:lnTo>
                  <a:close/>
                </a:path>
                <a:path w="280670" h="111760">
                  <a:moveTo>
                    <a:pt x="43307" y="0"/>
                  </a:moveTo>
                  <a:lnTo>
                    <a:pt x="0" y="0"/>
                  </a:lnTo>
                  <a:lnTo>
                    <a:pt x="0" y="110235"/>
                  </a:lnTo>
                  <a:lnTo>
                    <a:pt x="20574" y="110235"/>
                  </a:lnTo>
                  <a:lnTo>
                    <a:pt x="20574" y="71373"/>
                  </a:lnTo>
                  <a:lnTo>
                    <a:pt x="43180" y="71373"/>
                  </a:lnTo>
                  <a:lnTo>
                    <a:pt x="73494" y="55371"/>
                  </a:lnTo>
                  <a:lnTo>
                    <a:pt x="20574" y="55371"/>
                  </a:lnTo>
                  <a:lnTo>
                    <a:pt x="20574" y="15875"/>
                  </a:lnTo>
                  <a:lnTo>
                    <a:pt x="73997" y="15875"/>
                  </a:lnTo>
                  <a:lnTo>
                    <a:pt x="71882" y="12953"/>
                  </a:lnTo>
                  <a:lnTo>
                    <a:pt x="64897" y="6730"/>
                  </a:lnTo>
                  <a:lnTo>
                    <a:pt x="60451" y="4317"/>
                  </a:lnTo>
                  <a:lnTo>
                    <a:pt x="55118" y="2666"/>
                  </a:lnTo>
                  <a:lnTo>
                    <a:pt x="49657" y="888"/>
                  </a:lnTo>
                  <a:lnTo>
                    <a:pt x="43307" y="0"/>
                  </a:lnTo>
                  <a:close/>
                </a:path>
                <a:path w="280670" h="111760">
                  <a:moveTo>
                    <a:pt x="73997" y="15875"/>
                  </a:moveTo>
                  <a:lnTo>
                    <a:pt x="39750" y="15875"/>
                  </a:lnTo>
                  <a:lnTo>
                    <a:pt x="42925" y="16382"/>
                  </a:lnTo>
                  <a:lnTo>
                    <a:pt x="45847" y="17271"/>
                  </a:lnTo>
                  <a:lnTo>
                    <a:pt x="58166" y="32257"/>
                  </a:lnTo>
                  <a:lnTo>
                    <a:pt x="58166" y="38226"/>
                  </a:lnTo>
                  <a:lnTo>
                    <a:pt x="45847" y="53975"/>
                  </a:lnTo>
                  <a:lnTo>
                    <a:pt x="42925" y="54990"/>
                  </a:lnTo>
                  <a:lnTo>
                    <a:pt x="39750" y="55371"/>
                  </a:lnTo>
                  <a:lnTo>
                    <a:pt x="73494" y="55371"/>
                  </a:lnTo>
                  <a:lnTo>
                    <a:pt x="74295" y="54228"/>
                  </a:lnTo>
                  <a:lnTo>
                    <a:pt x="77850" y="45338"/>
                  </a:lnTo>
                  <a:lnTo>
                    <a:pt x="78646" y="41020"/>
                  </a:lnTo>
                  <a:lnTo>
                    <a:pt x="78667" y="29590"/>
                  </a:lnTo>
                  <a:lnTo>
                    <a:pt x="77850" y="25272"/>
                  </a:lnTo>
                  <a:lnTo>
                    <a:pt x="74549" y="16637"/>
                  </a:lnTo>
                  <a:lnTo>
                    <a:pt x="73997" y="15875"/>
                  </a:lnTo>
                  <a:close/>
                </a:path>
                <a:path w="280670" h="111760">
                  <a:moveTo>
                    <a:pt x="257937" y="46100"/>
                  </a:moveTo>
                  <a:lnTo>
                    <a:pt x="239141" y="46100"/>
                  </a:lnTo>
                  <a:lnTo>
                    <a:pt x="239141" y="96519"/>
                  </a:lnTo>
                  <a:lnTo>
                    <a:pt x="240919" y="101853"/>
                  </a:lnTo>
                  <a:lnTo>
                    <a:pt x="248285" y="109473"/>
                  </a:lnTo>
                  <a:lnTo>
                    <a:pt x="253492" y="111378"/>
                  </a:lnTo>
                  <a:lnTo>
                    <a:pt x="264033" y="111378"/>
                  </a:lnTo>
                  <a:lnTo>
                    <a:pt x="280670" y="104520"/>
                  </a:lnTo>
                  <a:lnTo>
                    <a:pt x="275631" y="96265"/>
                  </a:lnTo>
                  <a:lnTo>
                    <a:pt x="262636" y="96265"/>
                  </a:lnTo>
                  <a:lnTo>
                    <a:pt x="260985" y="95630"/>
                  </a:lnTo>
                  <a:lnTo>
                    <a:pt x="259830" y="94360"/>
                  </a:lnTo>
                  <a:lnTo>
                    <a:pt x="258572" y="92837"/>
                  </a:lnTo>
                  <a:lnTo>
                    <a:pt x="257937" y="90931"/>
                  </a:lnTo>
                  <a:lnTo>
                    <a:pt x="257937" y="46100"/>
                  </a:lnTo>
                  <a:close/>
                </a:path>
                <a:path w="280670" h="111760">
                  <a:moveTo>
                    <a:pt x="274320" y="94360"/>
                  </a:moveTo>
                  <a:lnTo>
                    <a:pt x="270764" y="94360"/>
                  </a:lnTo>
                  <a:lnTo>
                    <a:pt x="270044" y="94741"/>
                  </a:lnTo>
                  <a:lnTo>
                    <a:pt x="269621" y="94995"/>
                  </a:lnTo>
                  <a:lnTo>
                    <a:pt x="268986" y="95250"/>
                  </a:lnTo>
                  <a:lnTo>
                    <a:pt x="268350" y="95630"/>
                  </a:lnTo>
                  <a:lnTo>
                    <a:pt x="266446" y="96265"/>
                  </a:lnTo>
                  <a:lnTo>
                    <a:pt x="275631" y="96265"/>
                  </a:lnTo>
                  <a:lnTo>
                    <a:pt x="274700" y="94741"/>
                  </a:lnTo>
                  <a:lnTo>
                    <a:pt x="274320" y="94360"/>
                  </a:lnTo>
                  <a:close/>
                </a:path>
                <a:path w="280670" h="111760">
                  <a:moveTo>
                    <a:pt x="278511" y="32765"/>
                  </a:moveTo>
                  <a:lnTo>
                    <a:pt x="239244" y="32765"/>
                  </a:lnTo>
                  <a:lnTo>
                    <a:pt x="227457" y="34670"/>
                  </a:lnTo>
                  <a:lnTo>
                    <a:pt x="227457" y="43433"/>
                  </a:lnTo>
                  <a:lnTo>
                    <a:pt x="227838" y="44450"/>
                  </a:lnTo>
                  <a:lnTo>
                    <a:pt x="228600" y="45084"/>
                  </a:lnTo>
                  <a:lnTo>
                    <a:pt x="229235" y="45846"/>
                  </a:lnTo>
                  <a:lnTo>
                    <a:pt x="230124" y="46100"/>
                  </a:lnTo>
                  <a:lnTo>
                    <a:pt x="278511" y="46100"/>
                  </a:lnTo>
                  <a:lnTo>
                    <a:pt x="278511" y="32765"/>
                  </a:lnTo>
                  <a:close/>
                </a:path>
                <a:path w="280670" h="111760">
                  <a:moveTo>
                    <a:pt x="257937" y="8127"/>
                  </a:moveTo>
                  <a:lnTo>
                    <a:pt x="247015" y="8127"/>
                  </a:lnTo>
                  <a:lnTo>
                    <a:pt x="246125" y="8381"/>
                  </a:lnTo>
                  <a:lnTo>
                    <a:pt x="240006" y="32765"/>
                  </a:lnTo>
                  <a:lnTo>
                    <a:pt x="257937" y="32765"/>
                  </a:lnTo>
                  <a:lnTo>
                    <a:pt x="257937" y="8127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42301" y="1695450"/>
              <a:ext cx="1832102" cy="1397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282945" y="3249930"/>
              <a:ext cx="147955" cy="1270"/>
            </a:xfrm>
            <a:custGeom>
              <a:avLst/>
              <a:gdLst/>
              <a:ahLst/>
              <a:cxnLst/>
              <a:rect l="l" t="t" r="r" b="b"/>
              <a:pathLst>
                <a:path w="147954" h="1270">
                  <a:moveTo>
                    <a:pt x="0" y="0"/>
                  </a:moveTo>
                  <a:lnTo>
                    <a:pt x="147700" y="1143"/>
                  </a:lnTo>
                </a:path>
              </a:pathLst>
            </a:custGeom>
            <a:ln w="19811">
              <a:solidFill>
                <a:srgbClr val="9D1F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430774" y="2309622"/>
              <a:ext cx="0" cy="946150"/>
            </a:xfrm>
            <a:custGeom>
              <a:avLst/>
              <a:gdLst/>
              <a:ahLst/>
              <a:cxnLst/>
              <a:rect l="l" t="t" r="r" b="b"/>
              <a:pathLst>
                <a:path w="0" h="946150">
                  <a:moveTo>
                    <a:pt x="0" y="945768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8F22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423153" y="2273046"/>
              <a:ext cx="544195" cy="76200"/>
            </a:xfrm>
            <a:custGeom>
              <a:avLst/>
              <a:gdLst/>
              <a:ahLst/>
              <a:cxnLst/>
              <a:rect l="l" t="t" r="r" b="b"/>
              <a:pathLst>
                <a:path w="544195" h="76200">
                  <a:moveTo>
                    <a:pt x="467868" y="0"/>
                  </a:moveTo>
                  <a:lnTo>
                    <a:pt x="467868" y="76200"/>
                  </a:lnTo>
                  <a:lnTo>
                    <a:pt x="524256" y="48005"/>
                  </a:lnTo>
                  <a:lnTo>
                    <a:pt x="480568" y="48005"/>
                  </a:lnTo>
                  <a:lnTo>
                    <a:pt x="480568" y="28193"/>
                  </a:lnTo>
                  <a:lnTo>
                    <a:pt x="524255" y="28193"/>
                  </a:lnTo>
                  <a:lnTo>
                    <a:pt x="467868" y="0"/>
                  </a:lnTo>
                  <a:close/>
                </a:path>
                <a:path w="544195" h="76200">
                  <a:moveTo>
                    <a:pt x="467868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467868" y="48005"/>
                  </a:lnTo>
                  <a:lnTo>
                    <a:pt x="467868" y="28193"/>
                  </a:lnTo>
                  <a:close/>
                </a:path>
                <a:path w="544195" h="76200">
                  <a:moveTo>
                    <a:pt x="524255" y="28193"/>
                  </a:moveTo>
                  <a:lnTo>
                    <a:pt x="480568" y="28193"/>
                  </a:lnTo>
                  <a:lnTo>
                    <a:pt x="480568" y="48005"/>
                  </a:lnTo>
                  <a:lnTo>
                    <a:pt x="524256" y="48005"/>
                  </a:lnTo>
                  <a:lnTo>
                    <a:pt x="544068" y="38100"/>
                  </a:lnTo>
                  <a:lnTo>
                    <a:pt x="524255" y="28193"/>
                  </a:lnTo>
                  <a:close/>
                </a:path>
              </a:pathLst>
            </a:custGeom>
            <a:solidFill>
              <a:srgbClr val="9D1F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180838" y="4139945"/>
              <a:ext cx="139700" cy="635"/>
            </a:xfrm>
            <a:custGeom>
              <a:avLst/>
              <a:gdLst/>
              <a:ahLst/>
              <a:cxnLst/>
              <a:rect l="l" t="t" r="r" b="b"/>
              <a:pathLst>
                <a:path w="139700" h="635">
                  <a:moveTo>
                    <a:pt x="0" y="380"/>
                  </a:moveTo>
                  <a:lnTo>
                    <a:pt x="139573" y="0"/>
                  </a:lnTo>
                </a:path>
              </a:pathLst>
            </a:custGeom>
            <a:ln w="19812">
              <a:solidFill>
                <a:srgbClr val="9D1F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319521" y="4138422"/>
              <a:ext cx="0" cy="267335"/>
            </a:xfrm>
            <a:custGeom>
              <a:avLst/>
              <a:gdLst/>
              <a:ahLst/>
              <a:cxnLst/>
              <a:rect l="l" t="t" r="r" b="b"/>
              <a:pathLst>
                <a:path w="0" h="267335">
                  <a:moveTo>
                    <a:pt x="0" y="0"/>
                  </a:moveTo>
                  <a:lnTo>
                    <a:pt x="0" y="266953"/>
                  </a:lnTo>
                </a:path>
              </a:pathLst>
            </a:custGeom>
            <a:ln w="19812">
              <a:solidFill>
                <a:srgbClr val="8F22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313426" y="4367022"/>
              <a:ext cx="514350" cy="76200"/>
            </a:xfrm>
            <a:custGeom>
              <a:avLst/>
              <a:gdLst/>
              <a:ahLst/>
              <a:cxnLst/>
              <a:rect l="l" t="t" r="r" b="b"/>
              <a:pathLst>
                <a:path w="514350" h="76200">
                  <a:moveTo>
                    <a:pt x="437896" y="0"/>
                  </a:moveTo>
                  <a:lnTo>
                    <a:pt x="437896" y="76200"/>
                  </a:lnTo>
                  <a:lnTo>
                    <a:pt x="494284" y="48005"/>
                  </a:lnTo>
                  <a:lnTo>
                    <a:pt x="450596" y="48005"/>
                  </a:lnTo>
                  <a:lnTo>
                    <a:pt x="450596" y="28193"/>
                  </a:lnTo>
                  <a:lnTo>
                    <a:pt x="494284" y="28193"/>
                  </a:lnTo>
                  <a:lnTo>
                    <a:pt x="437896" y="0"/>
                  </a:lnTo>
                  <a:close/>
                </a:path>
                <a:path w="514350" h="76200">
                  <a:moveTo>
                    <a:pt x="437896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437896" y="48005"/>
                  </a:lnTo>
                  <a:lnTo>
                    <a:pt x="437896" y="28193"/>
                  </a:lnTo>
                  <a:close/>
                </a:path>
                <a:path w="514350" h="76200">
                  <a:moveTo>
                    <a:pt x="494284" y="28193"/>
                  </a:moveTo>
                  <a:lnTo>
                    <a:pt x="450596" y="28193"/>
                  </a:lnTo>
                  <a:lnTo>
                    <a:pt x="450596" y="48005"/>
                  </a:lnTo>
                  <a:lnTo>
                    <a:pt x="494284" y="48005"/>
                  </a:lnTo>
                  <a:lnTo>
                    <a:pt x="514096" y="38100"/>
                  </a:lnTo>
                  <a:lnTo>
                    <a:pt x="494284" y="28193"/>
                  </a:lnTo>
                  <a:close/>
                </a:path>
              </a:pathLst>
            </a:custGeom>
            <a:solidFill>
              <a:srgbClr val="9D1F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07596" y="2193083"/>
              <a:ext cx="2311925" cy="27574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15227" y="2209800"/>
              <a:ext cx="2232660" cy="18745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65625" y="2135886"/>
              <a:ext cx="645160" cy="1270"/>
            </a:xfrm>
            <a:custGeom>
              <a:avLst/>
              <a:gdLst/>
              <a:ahLst/>
              <a:cxnLst/>
              <a:rect l="l" t="t" r="r" b="b"/>
              <a:pathLst>
                <a:path w="645160" h="1269">
                  <a:moveTo>
                    <a:pt x="0" y="0"/>
                  </a:moveTo>
                  <a:lnTo>
                    <a:pt x="644906" y="762"/>
                  </a:lnTo>
                </a:path>
              </a:pathLst>
            </a:custGeom>
            <a:ln w="19812">
              <a:solidFill>
                <a:srgbClr val="9D1F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510277" y="1498854"/>
              <a:ext cx="0" cy="641350"/>
            </a:xfrm>
            <a:custGeom>
              <a:avLst/>
              <a:gdLst/>
              <a:ahLst/>
              <a:cxnLst/>
              <a:rect l="l" t="t" r="r" b="b"/>
              <a:pathLst>
                <a:path w="0" h="641350">
                  <a:moveTo>
                    <a:pt x="0" y="641223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8F22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478274" y="1462278"/>
              <a:ext cx="2375535" cy="76200"/>
            </a:xfrm>
            <a:custGeom>
              <a:avLst/>
              <a:gdLst/>
              <a:ahLst/>
              <a:cxnLst/>
              <a:rect l="l" t="t" r="r" b="b"/>
              <a:pathLst>
                <a:path w="2375534" h="76200">
                  <a:moveTo>
                    <a:pt x="2299207" y="0"/>
                  </a:moveTo>
                  <a:lnTo>
                    <a:pt x="2299207" y="76200"/>
                  </a:lnTo>
                  <a:lnTo>
                    <a:pt x="2355595" y="48006"/>
                  </a:lnTo>
                  <a:lnTo>
                    <a:pt x="2311907" y="48006"/>
                  </a:lnTo>
                  <a:lnTo>
                    <a:pt x="2311907" y="28194"/>
                  </a:lnTo>
                  <a:lnTo>
                    <a:pt x="2355596" y="28194"/>
                  </a:lnTo>
                  <a:lnTo>
                    <a:pt x="2299207" y="0"/>
                  </a:lnTo>
                  <a:close/>
                </a:path>
                <a:path w="2375534" h="76200">
                  <a:moveTo>
                    <a:pt x="2299207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2299207" y="48006"/>
                  </a:lnTo>
                  <a:lnTo>
                    <a:pt x="2299207" y="28194"/>
                  </a:lnTo>
                  <a:close/>
                </a:path>
                <a:path w="2375534" h="76200">
                  <a:moveTo>
                    <a:pt x="2355596" y="28194"/>
                  </a:moveTo>
                  <a:lnTo>
                    <a:pt x="2311907" y="28194"/>
                  </a:lnTo>
                  <a:lnTo>
                    <a:pt x="2311907" y="48006"/>
                  </a:lnTo>
                  <a:lnTo>
                    <a:pt x="2355595" y="48006"/>
                  </a:lnTo>
                  <a:lnTo>
                    <a:pt x="2375407" y="38100"/>
                  </a:lnTo>
                  <a:lnTo>
                    <a:pt x="2355596" y="28194"/>
                  </a:lnTo>
                  <a:close/>
                </a:path>
              </a:pathLst>
            </a:custGeom>
            <a:solidFill>
              <a:srgbClr val="9D1F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091682" y="2587752"/>
              <a:ext cx="431800" cy="112395"/>
            </a:xfrm>
            <a:custGeom>
              <a:avLst/>
              <a:gdLst/>
              <a:ahLst/>
              <a:cxnLst/>
              <a:rect l="l" t="t" r="r" b="b"/>
              <a:pathLst>
                <a:path w="431800" h="112394">
                  <a:moveTo>
                    <a:pt x="348488" y="32385"/>
                  </a:moveTo>
                  <a:lnTo>
                    <a:pt x="337184" y="32385"/>
                  </a:lnTo>
                  <a:lnTo>
                    <a:pt x="332104" y="33400"/>
                  </a:lnTo>
                  <a:lnTo>
                    <a:pt x="327532" y="35306"/>
                  </a:lnTo>
                  <a:lnTo>
                    <a:pt x="322960" y="37084"/>
                  </a:lnTo>
                  <a:lnTo>
                    <a:pt x="305942" y="66167"/>
                  </a:lnTo>
                  <a:lnTo>
                    <a:pt x="305942" y="78359"/>
                  </a:lnTo>
                  <a:lnTo>
                    <a:pt x="327532" y="109093"/>
                  </a:lnTo>
                  <a:lnTo>
                    <a:pt x="332104" y="110998"/>
                  </a:lnTo>
                  <a:lnTo>
                    <a:pt x="337184" y="111887"/>
                  </a:lnTo>
                  <a:lnTo>
                    <a:pt x="348488" y="111887"/>
                  </a:lnTo>
                  <a:lnTo>
                    <a:pt x="353567" y="110998"/>
                  </a:lnTo>
                  <a:lnTo>
                    <a:pt x="358139" y="109093"/>
                  </a:lnTo>
                  <a:lnTo>
                    <a:pt x="362584" y="107314"/>
                  </a:lnTo>
                  <a:lnTo>
                    <a:pt x="366521" y="104648"/>
                  </a:lnTo>
                  <a:lnTo>
                    <a:pt x="369579" y="101346"/>
                  </a:lnTo>
                  <a:lnTo>
                    <a:pt x="338963" y="101346"/>
                  </a:lnTo>
                  <a:lnTo>
                    <a:pt x="335533" y="100711"/>
                  </a:lnTo>
                  <a:lnTo>
                    <a:pt x="332739" y="99313"/>
                  </a:lnTo>
                  <a:lnTo>
                    <a:pt x="329945" y="98044"/>
                  </a:lnTo>
                  <a:lnTo>
                    <a:pt x="327532" y="96138"/>
                  </a:lnTo>
                  <a:lnTo>
                    <a:pt x="319913" y="76835"/>
                  </a:lnTo>
                  <a:lnTo>
                    <a:pt x="319913" y="67690"/>
                  </a:lnTo>
                  <a:lnTo>
                    <a:pt x="338963" y="43052"/>
                  </a:lnTo>
                  <a:lnTo>
                    <a:pt x="369470" y="43052"/>
                  </a:lnTo>
                  <a:lnTo>
                    <a:pt x="366521" y="39750"/>
                  </a:lnTo>
                  <a:lnTo>
                    <a:pt x="362584" y="37084"/>
                  </a:lnTo>
                  <a:lnTo>
                    <a:pt x="358139" y="35306"/>
                  </a:lnTo>
                  <a:lnTo>
                    <a:pt x="353567" y="33400"/>
                  </a:lnTo>
                  <a:lnTo>
                    <a:pt x="348488" y="32385"/>
                  </a:lnTo>
                  <a:close/>
                </a:path>
                <a:path w="431800" h="112394">
                  <a:moveTo>
                    <a:pt x="369470" y="43052"/>
                  </a:moveTo>
                  <a:lnTo>
                    <a:pt x="350392" y="43052"/>
                  </a:lnTo>
                  <a:lnTo>
                    <a:pt x="356107" y="45720"/>
                  </a:lnTo>
                  <a:lnTo>
                    <a:pt x="360010" y="50926"/>
                  </a:lnTo>
                  <a:lnTo>
                    <a:pt x="363508" y="55752"/>
                  </a:lnTo>
                  <a:lnTo>
                    <a:pt x="363600" y="55880"/>
                  </a:lnTo>
                  <a:lnTo>
                    <a:pt x="365505" y="63119"/>
                  </a:lnTo>
                  <a:lnTo>
                    <a:pt x="365505" y="81407"/>
                  </a:lnTo>
                  <a:lnTo>
                    <a:pt x="363703" y="88137"/>
                  </a:lnTo>
                  <a:lnTo>
                    <a:pt x="363511" y="88646"/>
                  </a:lnTo>
                  <a:lnTo>
                    <a:pt x="359917" y="93725"/>
                  </a:lnTo>
                  <a:lnTo>
                    <a:pt x="356107" y="98806"/>
                  </a:lnTo>
                  <a:lnTo>
                    <a:pt x="350392" y="101346"/>
                  </a:lnTo>
                  <a:lnTo>
                    <a:pt x="369583" y="101346"/>
                  </a:lnTo>
                  <a:lnTo>
                    <a:pt x="372871" y="97662"/>
                  </a:lnTo>
                  <a:lnTo>
                    <a:pt x="375209" y="93725"/>
                  </a:lnTo>
                  <a:lnTo>
                    <a:pt x="376089" y="91186"/>
                  </a:lnTo>
                  <a:lnTo>
                    <a:pt x="376935" y="88646"/>
                  </a:lnTo>
                  <a:lnTo>
                    <a:pt x="378713" y="83820"/>
                  </a:lnTo>
                  <a:lnTo>
                    <a:pt x="379475" y="78359"/>
                  </a:lnTo>
                  <a:lnTo>
                    <a:pt x="379475" y="66167"/>
                  </a:lnTo>
                  <a:lnTo>
                    <a:pt x="378713" y="60706"/>
                  </a:lnTo>
                  <a:lnTo>
                    <a:pt x="376981" y="55880"/>
                  </a:lnTo>
                  <a:lnTo>
                    <a:pt x="375284" y="50926"/>
                  </a:lnTo>
                  <a:lnTo>
                    <a:pt x="372871" y="46736"/>
                  </a:lnTo>
                  <a:lnTo>
                    <a:pt x="369470" y="43052"/>
                  </a:lnTo>
                  <a:close/>
                </a:path>
                <a:path w="431800" h="112394">
                  <a:moveTo>
                    <a:pt x="94741" y="33655"/>
                  </a:moveTo>
                  <a:lnTo>
                    <a:pt x="81152" y="33655"/>
                  </a:lnTo>
                  <a:lnTo>
                    <a:pt x="81152" y="87249"/>
                  </a:lnTo>
                  <a:lnTo>
                    <a:pt x="81579" y="90550"/>
                  </a:lnTo>
                  <a:lnTo>
                    <a:pt x="81660" y="91186"/>
                  </a:lnTo>
                  <a:lnTo>
                    <a:pt x="82803" y="94869"/>
                  </a:lnTo>
                  <a:lnTo>
                    <a:pt x="83819" y="98425"/>
                  </a:lnTo>
                  <a:lnTo>
                    <a:pt x="85470" y="101473"/>
                  </a:lnTo>
                  <a:lnTo>
                    <a:pt x="102742" y="112013"/>
                  </a:lnTo>
                  <a:lnTo>
                    <a:pt x="112394" y="112013"/>
                  </a:lnTo>
                  <a:lnTo>
                    <a:pt x="117093" y="110998"/>
                  </a:lnTo>
                  <a:lnTo>
                    <a:pt x="125243" y="106552"/>
                  </a:lnTo>
                  <a:lnTo>
                    <a:pt x="129158" y="103377"/>
                  </a:lnTo>
                  <a:lnTo>
                    <a:pt x="131169" y="101219"/>
                  </a:lnTo>
                  <a:lnTo>
                    <a:pt x="105537" y="101219"/>
                  </a:lnTo>
                  <a:lnTo>
                    <a:pt x="101472" y="99695"/>
                  </a:lnTo>
                  <a:lnTo>
                    <a:pt x="98908" y="96520"/>
                  </a:lnTo>
                  <a:lnTo>
                    <a:pt x="96012" y="93218"/>
                  </a:lnTo>
                  <a:lnTo>
                    <a:pt x="94741" y="88773"/>
                  </a:lnTo>
                  <a:lnTo>
                    <a:pt x="94741" y="33655"/>
                  </a:lnTo>
                  <a:close/>
                </a:path>
                <a:path w="431800" h="112394">
                  <a:moveTo>
                    <a:pt x="145414" y="99695"/>
                  </a:moveTo>
                  <a:lnTo>
                    <a:pt x="132587" y="99695"/>
                  </a:lnTo>
                  <a:lnTo>
                    <a:pt x="133603" y="108076"/>
                  </a:lnTo>
                  <a:lnTo>
                    <a:pt x="133749" y="108585"/>
                  </a:lnTo>
                  <a:lnTo>
                    <a:pt x="134270" y="109982"/>
                  </a:lnTo>
                  <a:lnTo>
                    <a:pt x="135540" y="110998"/>
                  </a:lnTo>
                  <a:lnTo>
                    <a:pt x="145414" y="110998"/>
                  </a:lnTo>
                  <a:lnTo>
                    <a:pt x="145414" y="99695"/>
                  </a:lnTo>
                  <a:close/>
                </a:path>
                <a:path w="431800" h="112394">
                  <a:moveTo>
                    <a:pt x="145414" y="33655"/>
                  </a:moveTo>
                  <a:lnTo>
                    <a:pt x="131825" y="33655"/>
                  </a:lnTo>
                  <a:lnTo>
                    <a:pt x="131825" y="90550"/>
                  </a:lnTo>
                  <a:lnTo>
                    <a:pt x="128904" y="93980"/>
                  </a:lnTo>
                  <a:lnTo>
                    <a:pt x="125602" y="96520"/>
                  </a:lnTo>
                  <a:lnTo>
                    <a:pt x="122173" y="98425"/>
                  </a:lnTo>
                  <a:lnTo>
                    <a:pt x="118617" y="100330"/>
                  </a:lnTo>
                  <a:lnTo>
                    <a:pt x="114934" y="101219"/>
                  </a:lnTo>
                  <a:lnTo>
                    <a:pt x="131169" y="101219"/>
                  </a:lnTo>
                  <a:lnTo>
                    <a:pt x="132587" y="99695"/>
                  </a:lnTo>
                  <a:lnTo>
                    <a:pt x="145414" y="99695"/>
                  </a:lnTo>
                  <a:lnTo>
                    <a:pt x="145414" y="33655"/>
                  </a:lnTo>
                  <a:close/>
                </a:path>
                <a:path w="431800" h="112394">
                  <a:moveTo>
                    <a:pt x="173735" y="33655"/>
                  </a:moveTo>
                  <a:lnTo>
                    <a:pt x="163702" y="33655"/>
                  </a:lnTo>
                  <a:lnTo>
                    <a:pt x="163702" y="110871"/>
                  </a:lnTo>
                  <a:lnTo>
                    <a:pt x="177291" y="110871"/>
                  </a:lnTo>
                  <a:lnTo>
                    <a:pt x="177291" y="53339"/>
                  </a:lnTo>
                  <a:lnTo>
                    <a:pt x="179704" y="50164"/>
                  </a:lnTo>
                  <a:lnTo>
                    <a:pt x="182231" y="47878"/>
                  </a:lnTo>
                  <a:lnTo>
                    <a:pt x="185165" y="45974"/>
                  </a:lnTo>
                  <a:lnTo>
                    <a:pt x="187669" y="44450"/>
                  </a:lnTo>
                  <a:lnTo>
                    <a:pt x="176402" y="44450"/>
                  </a:lnTo>
                  <a:lnTo>
                    <a:pt x="175683" y="37973"/>
                  </a:lnTo>
                  <a:lnTo>
                    <a:pt x="175640" y="37592"/>
                  </a:lnTo>
                  <a:lnTo>
                    <a:pt x="175513" y="36449"/>
                  </a:lnTo>
                  <a:lnTo>
                    <a:pt x="175107" y="34925"/>
                  </a:lnTo>
                  <a:lnTo>
                    <a:pt x="175005" y="34544"/>
                  </a:lnTo>
                  <a:lnTo>
                    <a:pt x="173735" y="33655"/>
                  </a:lnTo>
                  <a:close/>
                </a:path>
                <a:path w="431800" h="112394">
                  <a:moveTo>
                    <a:pt x="216387" y="43307"/>
                  </a:moveTo>
                  <a:lnTo>
                    <a:pt x="199262" y="43307"/>
                  </a:lnTo>
                  <a:lnTo>
                    <a:pt x="202945" y="44831"/>
                  </a:lnTo>
                  <a:lnTo>
                    <a:pt x="205358" y="47878"/>
                  </a:lnTo>
                  <a:lnTo>
                    <a:pt x="207263" y="50164"/>
                  </a:lnTo>
                  <a:lnTo>
                    <a:pt x="207934" y="51053"/>
                  </a:lnTo>
                  <a:lnTo>
                    <a:pt x="208569" y="53339"/>
                  </a:lnTo>
                  <a:lnTo>
                    <a:pt x="209168" y="55625"/>
                  </a:lnTo>
                  <a:lnTo>
                    <a:pt x="209168" y="110871"/>
                  </a:lnTo>
                  <a:lnTo>
                    <a:pt x="222757" y="110871"/>
                  </a:lnTo>
                  <a:lnTo>
                    <a:pt x="222757" y="58674"/>
                  </a:lnTo>
                  <a:lnTo>
                    <a:pt x="223138" y="56007"/>
                  </a:lnTo>
                  <a:lnTo>
                    <a:pt x="224027" y="53721"/>
                  </a:lnTo>
                  <a:lnTo>
                    <a:pt x="224916" y="51308"/>
                  </a:lnTo>
                  <a:lnTo>
                    <a:pt x="226187" y="49402"/>
                  </a:lnTo>
                  <a:lnTo>
                    <a:pt x="227075" y="48513"/>
                  </a:lnTo>
                  <a:lnTo>
                    <a:pt x="217931" y="48513"/>
                  </a:lnTo>
                  <a:lnTo>
                    <a:pt x="216570" y="43687"/>
                  </a:lnTo>
                  <a:lnTo>
                    <a:pt x="216387" y="43307"/>
                  </a:lnTo>
                  <a:close/>
                </a:path>
                <a:path w="431800" h="112394">
                  <a:moveTo>
                    <a:pt x="264191" y="43307"/>
                  </a:moveTo>
                  <a:lnTo>
                    <a:pt x="244347" y="43307"/>
                  </a:lnTo>
                  <a:lnTo>
                    <a:pt x="248157" y="44831"/>
                  </a:lnTo>
                  <a:lnTo>
                    <a:pt x="250718" y="47878"/>
                  </a:lnTo>
                  <a:lnTo>
                    <a:pt x="253491" y="51053"/>
                  </a:lnTo>
                  <a:lnTo>
                    <a:pt x="254762" y="55625"/>
                  </a:lnTo>
                  <a:lnTo>
                    <a:pt x="254762" y="110871"/>
                  </a:lnTo>
                  <a:lnTo>
                    <a:pt x="268350" y="110871"/>
                  </a:lnTo>
                  <a:lnTo>
                    <a:pt x="268227" y="56007"/>
                  </a:lnTo>
                  <a:lnTo>
                    <a:pt x="267950" y="53721"/>
                  </a:lnTo>
                  <a:lnTo>
                    <a:pt x="267842" y="52832"/>
                  </a:lnTo>
                  <a:lnTo>
                    <a:pt x="266618" y="49402"/>
                  </a:lnTo>
                  <a:lnTo>
                    <a:pt x="265666" y="46355"/>
                  </a:lnTo>
                  <a:lnTo>
                    <a:pt x="265548" y="45974"/>
                  </a:lnTo>
                  <a:lnTo>
                    <a:pt x="265469" y="45720"/>
                  </a:lnTo>
                  <a:lnTo>
                    <a:pt x="265223" y="45212"/>
                  </a:lnTo>
                  <a:lnTo>
                    <a:pt x="264191" y="43307"/>
                  </a:lnTo>
                  <a:close/>
                </a:path>
                <a:path w="431800" h="112394">
                  <a:moveTo>
                    <a:pt x="246633" y="32385"/>
                  </a:moveTo>
                  <a:lnTo>
                    <a:pt x="240029" y="32385"/>
                  </a:lnTo>
                  <a:lnTo>
                    <a:pt x="237616" y="32765"/>
                  </a:lnTo>
                  <a:lnTo>
                    <a:pt x="234473" y="33527"/>
                  </a:lnTo>
                  <a:lnTo>
                    <a:pt x="232663" y="33909"/>
                  </a:lnTo>
                  <a:lnTo>
                    <a:pt x="217931" y="48513"/>
                  </a:lnTo>
                  <a:lnTo>
                    <a:pt x="227075" y="48513"/>
                  </a:lnTo>
                  <a:lnTo>
                    <a:pt x="229234" y="46355"/>
                  </a:lnTo>
                  <a:lnTo>
                    <a:pt x="231012" y="45212"/>
                  </a:lnTo>
                  <a:lnTo>
                    <a:pt x="232917" y="44450"/>
                  </a:lnTo>
                  <a:lnTo>
                    <a:pt x="234950" y="43687"/>
                  </a:lnTo>
                  <a:lnTo>
                    <a:pt x="237108" y="43307"/>
                  </a:lnTo>
                  <a:lnTo>
                    <a:pt x="264191" y="43307"/>
                  </a:lnTo>
                  <a:lnTo>
                    <a:pt x="263778" y="42545"/>
                  </a:lnTo>
                  <a:lnTo>
                    <a:pt x="259333" y="37592"/>
                  </a:lnTo>
                  <a:lnTo>
                    <a:pt x="256844" y="35813"/>
                  </a:lnTo>
                  <a:lnTo>
                    <a:pt x="256984" y="35813"/>
                  </a:lnTo>
                  <a:lnTo>
                    <a:pt x="250316" y="33147"/>
                  </a:lnTo>
                  <a:lnTo>
                    <a:pt x="246633" y="32385"/>
                  </a:lnTo>
                  <a:close/>
                </a:path>
                <a:path w="431800" h="112394">
                  <a:moveTo>
                    <a:pt x="203580" y="32385"/>
                  </a:moveTo>
                  <a:lnTo>
                    <a:pt x="193675" y="32385"/>
                  </a:lnTo>
                  <a:lnTo>
                    <a:pt x="189610" y="33527"/>
                  </a:lnTo>
                  <a:lnTo>
                    <a:pt x="186054" y="35813"/>
                  </a:lnTo>
                  <a:lnTo>
                    <a:pt x="182498" y="37973"/>
                  </a:lnTo>
                  <a:lnTo>
                    <a:pt x="179323" y="40894"/>
                  </a:lnTo>
                  <a:lnTo>
                    <a:pt x="176402" y="44450"/>
                  </a:lnTo>
                  <a:lnTo>
                    <a:pt x="187669" y="44450"/>
                  </a:lnTo>
                  <a:lnTo>
                    <a:pt x="188087" y="44196"/>
                  </a:lnTo>
                  <a:lnTo>
                    <a:pt x="191134" y="43307"/>
                  </a:lnTo>
                  <a:lnTo>
                    <a:pt x="216387" y="43307"/>
                  </a:lnTo>
                  <a:lnTo>
                    <a:pt x="214248" y="39624"/>
                  </a:lnTo>
                  <a:lnTo>
                    <a:pt x="207771" y="33909"/>
                  </a:lnTo>
                  <a:lnTo>
                    <a:pt x="203580" y="32385"/>
                  </a:lnTo>
                  <a:close/>
                </a:path>
                <a:path w="431800" h="112394">
                  <a:moveTo>
                    <a:pt x="8762" y="88773"/>
                  </a:moveTo>
                  <a:lnTo>
                    <a:pt x="7112" y="88773"/>
                  </a:lnTo>
                  <a:lnTo>
                    <a:pt x="6350" y="89026"/>
                  </a:lnTo>
                  <a:lnTo>
                    <a:pt x="5841" y="89408"/>
                  </a:lnTo>
                  <a:lnTo>
                    <a:pt x="5206" y="89788"/>
                  </a:lnTo>
                  <a:lnTo>
                    <a:pt x="4603" y="90424"/>
                  </a:lnTo>
                  <a:lnTo>
                    <a:pt x="4317" y="90805"/>
                  </a:lnTo>
                  <a:lnTo>
                    <a:pt x="0" y="97789"/>
                  </a:lnTo>
                  <a:lnTo>
                    <a:pt x="4190" y="102235"/>
                  </a:lnTo>
                  <a:lnTo>
                    <a:pt x="9143" y="105663"/>
                  </a:lnTo>
                  <a:lnTo>
                    <a:pt x="20827" y="110744"/>
                  </a:lnTo>
                  <a:lnTo>
                    <a:pt x="27177" y="112013"/>
                  </a:lnTo>
                  <a:lnTo>
                    <a:pt x="40004" y="112013"/>
                  </a:lnTo>
                  <a:lnTo>
                    <a:pt x="63535" y="99822"/>
                  </a:lnTo>
                  <a:lnTo>
                    <a:pt x="30479" y="99822"/>
                  </a:lnTo>
                  <a:lnTo>
                    <a:pt x="27635" y="99313"/>
                  </a:lnTo>
                  <a:lnTo>
                    <a:pt x="27248" y="99313"/>
                  </a:lnTo>
                  <a:lnTo>
                    <a:pt x="21081" y="96900"/>
                  </a:lnTo>
                  <a:lnTo>
                    <a:pt x="10032" y="89408"/>
                  </a:lnTo>
                  <a:lnTo>
                    <a:pt x="8762" y="88773"/>
                  </a:lnTo>
                  <a:close/>
                </a:path>
                <a:path w="431800" h="112394">
                  <a:moveTo>
                    <a:pt x="44576" y="381"/>
                  </a:moveTo>
                  <a:lnTo>
                    <a:pt x="33146" y="381"/>
                  </a:lnTo>
                  <a:lnTo>
                    <a:pt x="27631" y="1397"/>
                  </a:lnTo>
                  <a:lnTo>
                    <a:pt x="27998" y="1397"/>
                  </a:lnTo>
                  <a:lnTo>
                    <a:pt x="19938" y="4572"/>
                  </a:lnTo>
                  <a:lnTo>
                    <a:pt x="16382" y="6858"/>
                  </a:lnTo>
                  <a:lnTo>
                    <a:pt x="13588" y="9651"/>
                  </a:lnTo>
                  <a:lnTo>
                    <a:pt x="10667" y="12446"/>
                  </a:lnTo>
                  <a:lnTo>
                    <a:pt x="8508" y="15621"/>
                  </a:lnTo>
                  <a:lnTo>
                    <a:pt x="6984" y="19303"/>
                  </a:lnTo>
                  <a:lnTo>
                    <a:pt x="5561" y="22987"/>
                  </a:lnTo>
                  <a:lnTo>
                    <a:pt x="4825" y="26543"/>
                  </a:lnTo>
                  <a:lnTo>
                    <a:pt x="4825" y="35306"/>
                  </a:lnTo>
                  <a:lnTo>
                    <a:pt x="21613" y="56261"/>
                  </a:lnTo>
                  <a:lnTo>
                    <a:pt x="24383" y="57531"/>
                  </a:lnTo>
                  <a:lnTo>
                    <a:pt x="27558" y="58674"/>
                  </a:lnTo>
                  <a:lnTo>
                    <a:pt x="30860" y="59817"/>
                  </a:lnTo>
                  <a:lnTo>
                    <a:pt x="34162" y="60833"/>
                  </a:lnTo>
                  <a:lnTo>
                    <a:pt x="40512" y="62864"/>
                  </a:lnTo>
                  <a:lnTo>
                    <a:pt x="43560" y="63753"/>
                  </a:lnTo>
                  <a:lnTo>
                    <a:pt x="46354" y="65024"/>
                  </a:lnTo>
                  <a:lnTo>
                    <a:pt x="48767" y="66421"/>
                  </a:lnTo>
                  <a:lnTo>
                    <a:pt x="51307" y="67818"/>
                  </a:lnTo>
                  <a:lnTo>
                    <a:pt x="53212" y="69596"/>
                  </a:lnTo>
                  <a:lnTo>
                    <a:pt x="54737" y="71755"/>
                  </a:lnTo>
                  <a:lnTo>
                    <a:pt x="56260" y="73787"/>
                  </a:lnTo>
                  <a:lnTo>
                    <a:pt x="57022" y="76581"/>
                  </a:lnTo>
                  <a:lnTo>
                    <a:pt x="57022" y="82803"/>
                  </a:lnTo>
                  <a:lnTo>
                    <a:pt x="56514" y="85598"/>
                  </a:lnTo>
                  <a:lnTo>
                    <a:pt x="54482" y="90424"/>
                  </a:lnTo>
                  <a:lnTo>
                    <a:pt x="52958" y="92583"/>
                  </a:lnTo>
                  <a:lnTo>
                    <a:pt x="50917" y="94361"/>
                  </a:lnTo>
                  <a:lnTo>
                    <a:pt x="49148" y="96012"/>
                  </a:lnTo>
                  <a:lnTo>
                    <a:pt x="46862" y="97409"/>
                  </a:lnTo>
                  <a:lnTo>
                    <a:pt x="44068" y="98298"/>
                  </a:lnTo>
                  <a:lnTo>
                    <a:pt x="41401" y="99313"/>
                  </a:lnTo>
                  <a:lnTo>
                    <a:pt x="38226" y="99822"/>
                  </a:lnTo>
                  <a:lnTo>
                    <a:pt x="63535" y="99822"/>
                  </a:lnTo>
                  <a:lnTo>
                    <a:pt x="70865" y="73151"/>
                  </a:lnTo>
                  <a:lnTo>
                    <a:pt x="70154" y="69596"/>
                  </a:lnTo>
                  <a:lnTo>
                    <a:pt x="70103" y="69342"/>
                  </a:lnTo>
                  <a:lnTo>
                    <a:pt x="68643" y="66421"/>
                  </a:lnTo>
                  <a:lnTo>
                    <a:pt x="67055" y="63119"/>
                  </a:lnTo>
                  <a:lnTo>
                    <a:pt x="65150" y="60578"/>
                  </a:lnTo>
                  <a:lnTo>
                    <a:pt x="62610" y="58420"/>
                  </a:lnTo>
                  <a:lnTo>
                    <a:pt x="60197" y="56261"/>
                  </a:lnTo>
                  <a:lnTo>
                    <a:pt x="57403" y="54483"/>
                  </a:lnTo>
                  <a:lnTo>
                    <a:pt x="54228" y="53086"/>
                  </a:lnTo>
                  <a:lnTo>
                    <a:pt x="51180" y="51688"/>
                  </a:lnTo>
                  <a:lnTo>
                    <a:pt x="48005" y="50419"/>
                  </a:lnTo>
                  <a:lnTo>
                    <a:pt x="44703" y="49402"/>
                  </a:lnTo>
                  <a:lnTo>
                    <a:pt x="41401" y="48260"/>
                  </a:lnTo>
                  <a:lnTo>
                    <a:pt x="38226" y="47117"/>
                  </a:lnTo>
                  <a:lnTo>
                    <a:pt x="35051" y="46100"/>
                  </a:lnTo>
                  <a:lnTo>
                    <a:pt x="32003" y="45085"/>
                  </a:lnTo>
                  <a:lnTo>
                    <a:pt x="18541" y="32765"/>
                  </a:lnTo>
                  <a:lnTo>
                    <a:pt x="18541" y="27305"/>
                  </a:lnTo>
                  <a:lnTo>
                    <a:pt x="18922" y="25146"/>
                  </a:lnTo>
                  <a:lnTo>
                    <a:pt x="19812" y="22987"/>
                  </a:lnTo>
                  <a:lnTo>
                    <a:pt x="20700" y="20955"/>
                  </a:lnTo>
                  <a:lnTo>
                    <a:pt x="21789" y="19431"/>
                  </a:lnTo>
                  <a:lnTo>
                    <a:pt x="21880" y="19303"/>
                  </a:lnTo>
                  <a:lnTo>
                    <a:pt x="35432" y="12700"/>
                  </a:lnTo>
                  <a:lnTo>
                    <a:pt x="67917" y="12700"/>
                  </a:lnTo>
                  <a:lnTo>
                    <a:pt x="68452" y="11684"/>
                  </a:lnTo>
                  <a:lnTo>
                    <a:pt x="64642" y="8000"/>
                  </a:lnTo>
                  <a:lnTo>
                    <a:pt x="60325" y="5207"/>
                  </a:lnTo>
                  <a:lnTo>
                    <a:pt x="50164" y="1397"/>
                  </a:lnTo>
                  <a:lnTo>
                    <a:pt x="44576" y="381"/>
                  </a:lnTo>
                  <a:close/>
                </a:path>
                <a:path w="431800" h="112394">
                  <a:moveTo>
                    <a:pt x="67917" y="12700"/>
                  </a:moveTo>
                  <a:lnTo>
                    <a:pt x="42290" y="12700"/>
                  </a:lnTo>
                  <a:lnTo>
                    <a:pt x="46185" y="13208"/>
                  </a:lnTo>
                  <a:lnTo>
                    <a:pt x="45574" y="13208"/>
                  </a:lnTo>
                  <a:lnTo>
                    <a:pt x="55752" y="17907"/>
                  </a:lnTo>
                  <a:lnTo>
                    <a:pt x="57276" y="18796"/>
                  </a:lnTo>
                  <a:lnTo>
                    <a:pt x="59562" y="20574"/>
                  </a:lnTo>
                  <a:lnTo>
                    <a:pt x="60578" y="20955"/>
                  </a:lnTo>
                  <a:lnTo>
                    <a:pt x="62229" y="20955"/>
                  </a:lnTo>
                  <a:lnTo>
                    <a:pt x="62864" y="20827"/>
                  </a:lnTo>
                  <a:lnTo>
                    <a:pt x="63880" y="20065"/>
                  </a:lnTo>
                  <a:lnTo>
                    <a:pt x="64388" y="19431"/>
                  </a:lnTo>
                  <a:lnTo>
                    <a:pt x="65171" y="17907"/>
                  </a:lnTo>
                  <a:lnTo>
                    <a:pt x="67917" y="12700"/>
                  </a:lnTo>
                  <a:close/>
                </a:path>
                <a:path w="431800" h="112394">
                  <a:moveTo>
                    <a:pt x="430911" y="35178"/>
                  </a:moveTo>
                  <a:lnTo>
                    <a:pt x="383158" y="35178"/>
                  </a:lnTo>
                  <a:lnTo>
                    <a:pt x="383158" y="41783"/>
                  </a:lnTo>
                  <a:lnTo>
                    <a:pt x="395350" y="45212"/>
                  </a:lnTo>
                  <a:lnTo>
                    <a:pt x="395350" y="110871"/>
                  </a:lnTo>
                  <a:lnTo>
                    <a:pt x="409066" y="110871"/>
                  </a:lnTo>
                  <a:lnTo>
                    <a:pt x="409066" y="44958"/>
                  </a:lnTo>
                  <a:lnTo>
                    <a:pt x="430911" y="44958"/>
                  </a:lnTo>
                  <a:lnTo>
                    <a:pt x="430911" y="35178"/>
                  </a:lnTo>
                  <a:close/>
                </a:path>
                <a:path w="431800" h="112394">
                  <a:moveTo>
                    <a:pt x="425322" y="0"/>
                  </a:moveTo>
                  <a:lnTo>
                    <a:pt x="417829" y="0"/>
                  </a:lnTo>
                  <a:lnTo>
                    <a:pt x="414146" y="635"/>
                  </a:lnTo>
                  <a:lnTo>
                    <a:pt x="410971" y="1905"/>
                  </a:lnTo>
                  <a:lnTo>
                    <a:pt x="407669" y="3048"/>
                  </a:lnTo>
                  <a:lnTo>
                    <a:pt x="395350" y="23240"/>
                  </a:lnTo>
                  <a:lnTo>
                    <a:pt x="395350" y="35178"/>
                  </a:lnTo>
                  <a:lnTo>
                    <a:pt x="408558" y="35178"/>
                  </a:lnTo>
                  <a:lnTo>
                    <a:pt x="408558" y="24764"/>
                  </a:lnTo>
                  <a:lnTo>
                    <a:pt x="408939" y="21971"/>
                  </a:lnTo>
                  <a:lnTo>
                    <a:pt x="409701" y="19812"/>
                  </a:lnTo>
                  <a:lnTo>
                    <a:pt x="410463" y="17525"/>
                  </a:lnTo>
                  <a:lnTo>
                    <a:pt x="411479" y="15748"/>
                  </a:lnTo>
                  <a:lnTo>
                    <a:pt x="412876" y="14350"/>
                  </a:lnTo>
                  <a:lnTo>
                    <a:pt x="414146" y="12953"/>
                  </a:lnTo>
                  <a:lnTo>
                    <a:pt x="415797" y="12064"/>
                  </a:lnTo>
                  <a:lnTo>
                    <a:pt x="419608" y="10795"/>
                  </a:lnTo>
                  <a:lnTo>
                    <a:pt x="421766" y="10540"/>
                  </a:lnTo>
                  <a:lnTo>
                    <a:pt x="428752" y="10540"/>
                  </a:lnTo>
                  <a:lnTo>
                    <a:pt x="429894" y="10160"/>
                  </a:lnTo>
                  <a:lnTo>
                    <a:pt x="430707" y="10160"/>
                  </a:lnTo>
                  <a:lnTo>
                    <a:pt x="431164" y="9398"/>
                  </a:lnTo>
                  <a:lnTo>
                    <a:pt x="431228" y="7238"/>
                  </a:lnTo>
                  <a:lnTo>
                    <a:pt x="431355" y="4952"/>
                  </a:lnTo>
                  <a:lnTo>
                    <a:pt x="431461" y="3048"/>
                  </a:lnTo>
                  <a:lnTo>
                    <a:pt x="431545" y="1524"/>
                  </a:lnTo>
                  <a:lnTo>
                    <a:pt x="428878" y="635"/>
                  </a:lnTo>
                  <a:lnTo>
                    <a:pt x="429291" y="635"/>
                  </a:lnTo>
                  <a:lnTo>
                    <a:pt x="425322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59676" y="2585338"/>
              <a:ext cx="1861312" cy="11442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03365" y="2853055"/>
              <a:ext cx="1892173" cy="113411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81007" y="2958210"/>
            <a:ext cx="2559177" cy="190626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068948" y="3534028"/>
            <a:ext cx="707135" cy="13855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077330" y="3800475"/>
            <a:ext cx="1140078" cy="11442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6212"/>
            <a:ext cx="282701" cy="10029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90727" y="612648"/>
            <a:ext cx="312420" cy="312420"/>
            <a:chOff x="490727" y="612648"/>
            <a:chExt cx="312420" cy="312420"/>
          </a:xfrm>
        </p:grpSpPr>
        <p:sp>
          <p:nvSpPr>
            <p:cNvPr id="10" name="object 10"/>
            <p:cNvSpPr/>
            <p:nvPr/>
          </p:nvSpPr>
          <p:spPr>
            <a:xfrm>
              <a:off x="490727" y="61264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209" y="0"/>
                  </a:moveTo>
                  <a:lnTo>
                    <a:pt x="117170" y="4921"/>
                  </a:lnTo>
                  <a:lnTo>
                    <a:pt x="75539" y="22478"/>
                  </a:lnTo>
                  <a:lnTo>
                    <a:pt x="79413" y="24891"/>
                  </a:lnTo>
                  <a:lnTo>
                    <a:pt x="81445" y="26542"/>
                  </a:lnTo>
                  <a:lnTo>
                    <a:pt x="88036" y="33147"/>
                  </a:lnTo>
                  <a:lnTo>
                    <a:pt x="91274" y="38735"/>
                  </a:lnTo>
                  <a:lnTo>
                    <a:pt x="93090" y="44957"/>
                  </a:lnTo>
                  <a:lnTo>
                    <a:pt x="95186" y="43687"/>
                  </a:lnTo>
                  <a:lnTo>
                    <a:pt x="109264" y="37087"/>
                  </a:lnTo>
                  <a:lnTo>
                    <a:pt x="124212" y="32226"/>
                  </a:lnTo>
                  <a:lnTo>
                    <a:pt x="139902" y="29221"/>
                  </a:lnTo>
                  <a:lnTo>
                    <a:pt x="156209" y="28193"/>
                  </a:lnTo>
                  <a:lnTo>
                    <a:pt x="206039" y="38248"/>
                  </a:lnTo>
                  <a:lnTo>
                    <a:pt x="246730" y="65674"/>
                  </a:lnTo>
                  <a:lnTo>
                    <a:pt x="274165" y="106364"/>
                  </a:lnTo>
                  <a:lnTo>
                    <a:pt x="284226" y="156210"/>
                  </a:lnTo>
                  <a:lnTo>
                    <a:pt x="274165" y="206055"/>
                  </a:lnTo>
                  <a:lnTo>
                    <a:pt x="246730" y="246745"/>
                  </a:lnTo>
                  <a:lnTo>
                    <a:pt x="206039" y="274171"/>
                  </a:lnTo>
                  <a:lnTo>
                    <a:pt x="156209" y="284225"/>
                  </a:lnTo>
                  <a:lnTo>
                    <a:pt x="106380" y="274171"/>
                  </a:lnTo>
                  <a:lnTo>
                    <a:pt x="65689" y="246745"/>
                  </a:lnTo>
                  <a:lnTo>
                    <a:pt x="38254" y="206055"/>
                  </a:lnTo>
                  <a:lnTo>
                    <a:pt x="28193" y="156210"/>
                  </a:lnTo>
                  <a:lnTo>
                    <a:pt x="29221" y="139898"/>
                  </a:lnTo>
                  <a:lnTo>
                    <a:pt x="32219" y="124206"/>
                  </a:lnTo>
                  <a:lnTo>
                    <a:pt x="37066" y="109275"/>
                  </a:lnTo>
                  <a:lnTo>
                    <a:pt x="43637" y="95250"/>
                  </a:lnTo>
                  <a:lnTo>
                    <a:pt x="45148" y="92710"/>
                  </a:lnTo>
                  <a:lnTo>
                    <a:pt x="39090" y="90931"/>
                  </a:lnTo>
                  <a:lnTo>
                    <a:pt x="33464" y="87629"/>
                  </a:lnTo>
                  <a:lnTo>
                    <a:pt x="25234" y="79121"/>
                  </a:lnTo>
                  <a:lnTo>
                    <a:pt x="22720" y="75056"/>
                  </a:lnTo>
                  <a:lnTo>
                    <a:pt x="13030" y="93630"/>
                  </a:lnTo>
                  <a:lnTo>
                    <a:pt x="5927" y="113411"/>
                  </a:lnTo>
                  <a:lnTo>
                    <a:pt x="1516" y="134334"/>
                  </a:lnTo>
                  <a:lnTo>
                    <a:pt x="0" y="156210"/>
                  </a:lnTo>
                  <a:lnTo>
                    <a:pt x="7963" y="205569"/>
                  </a:lnTo>
                  <a:lnTo>
                    <a:pt x="30139" y="248448"/>
                  </a:lnTo>
                  <a:lnTo>
                    <a:pt x="63954" y="282269"/>
                  </a:lnTo>
                  <a:lnTo>
                    <a:pt x="106836" y="304452"/>
                  </a:lnTo>
                  <a:lnTo>
                    <a:pt x="156209" y="312419"/>
                  </a:lnTo>
                  <a:lnTo>
                    <a:pt x="205583" y="304452"/>
                  </a:lnTo>
                  <a:lnTo>
                    <a:pt x="248465" y="282269"/>
                  </a:lnTo>
                  <a:lnTo>
                    <a:pt x="282280" y="248448"/>
                  </a:lnTo>
                  <a:lnTo>
                    <a:pt x="304456" y="205569"/>
                  </a:lnTo>
                  <a:lnTo>
                    <a:pt x="312420" y="156210"/>
                  </a:lnTo>
                  <a:lnTo>
                    <a:pt x="304456" y="106850"/>
                  </a:lnTo>
                  <a:lnTo>
                    <a:pt x="282280" y="63971"/>
                  </a:lnTo>
                  <a:lnTo>
                    <a:pt x="248465" y="30150"/>
                  </a:lnTo>
                  <a:lnTo>
                    <a:pt x="205583" y="7967"/>
                  </a:lnTo>
                  <a:lnTo>
                    <a:pt x="156209" y="0"/>
                  </a:lnTo>
                  <a:close/>
                </a:path>
              </a:pathLst>
            </a:custGeom>
            <a:solidFill>
              <a:srgbClr val="D5D9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18347" y="640111"/>
              <a:ext cx="55880" cy="55880"/>
            </a:xfrm>
            <a:custGeom>
              <a:avLst/>
              <a:gdLst/>
              <a:ahLst/>
              <a:cxnLst/>
              <a:rect l="l" t="t" r="r" b="b"/>
              <a:pathLst>
                <a:path w="55879" h="55879">
                  <a:moveTo>
                    <a:pt x="27809" y="0"/>
                  </a:moveTo>
                  <a:lnTo>
                    <a:pt x="17343" y="2024"/>
                  </a:lnTo>
                  <a:lnTo>
                    <a:pt x="8143" y="8096"/>
                  </a:lnTo>
                  <a:lnTo>
                    <a:pt x="2035" y="17319"/>
                  </a:lnTo>
                  <a:lnTo>
                    <a:pt x="0" y="27781"/>
                  </a:lnTo>
                  <a:lnTo>
                    <a:pt x="2035" y="38242"/>
                  </a:lnTo>
                  <a:lnTo>
                    <a:pt x="8143" y="47466"/>
                  </a:lnTo>
                  <a:lnTo>
                    <a:pt x="17343" y="53609"/>
                  </a:lnTo>
                  <a:lnTo>
                    <a:pt x="27809" y="55657"/>
                  </a:lnTo>
                  <a:lnTo>
                    <a:pt x="38276" y="53609"/>
                  </a:lnTo>
                  <a:lnTo>
                    <a:pt x="47475" y="47466"/>
                  </a:lnTo>
                  <a:lnTo>
                    <a:pt x="53583" y="38242"/>
                  </a:lnTo>
                  <a:lnTo>
                    <a:pt x="55619" y="27781"/>
                  </a:lnTo>
                  <a:lnTo>
                    <a:pt x="53583" y="17319"/>
                  </a:lnTo>
                  <a:lnTo>
                    <a:pt x="47475" y="8096"/>
                  </a:lnTo>
                  <a:lnTo>
                    <a:pt x="38276" y="2024"/>
                  </a:lnTo>
                  <a:lnTo>
                    <a:pt x="27809" y="0"/>
                  </a:lnTo>
                  <a:close/>
                </a:path>
              </a:pathLst>
            </a:custGeom>
            <a:solidFill>
              <a:srgbClr val="9E0A2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06881" y="604520"/>
            <a:ext cx="113347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20"/>
              <a:t>Summary</a:t>
            </a: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4572" y="2912745"/>
            <a:ext cx="4897120" cy="331431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716523" y="188976"/>
            <a:ext cx="5058410" cy="6035040"/>
            <a:chOff x="5716523" y="188976"/>
            <a:chExt cx="5058410" cy="603504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6523" y="188976"/>
              <a:ext cx="5058156" cy="60350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82055" y="303276"/>
              <a:ext cx="500380" cy="205740"/>
            </a:xfrm>
            <a:custGeom>
              <a:avLst/>
              <a:gdLst/>
              <a:ahLst/>
              <a:cxnLst/>
              <a:rect l="l" t="t" r="r" b="b"/>
              <a:pathLst>
                <a:path w="500379" h="205740">
                  <a:moveTo>
                    <a:pt x="499872" y="0"/>
                  </a:moveTo>
                  <a:lnTo>
                    <a:pt x="0" y="0"/>
                  </a:lnTo>
                  <a:lnTo>
                    <a:pt x="0" y="205739"/>
                  </a:lnTo>
                  <a:lnTo>
                    <a:pt x="499872" y="205739"/>
                  </a:lnTo>
                  <a:lnTo>
                    <a:pt x="499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7685"/>
            <a:ext cx="282701" cy="9881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Test</a:t>
            </a:r>
            <a:r>
              <a:rPr dirty="0" spc="-195"/>
              <a:t> </a:t>
            </a:r>
            <a:r>
              <a:rPr dirty="0" spc="-75"/>
              <a:t>Procedure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90727" y="612648"/>
            <a:ext cx="312420" cy="312420"/>
            <a:chOff x="490727" y="612648"/>
            <a:chExt cx="312420" cy="312420"/>
          </a:xfrm>
        </p:grpSpPr>
        <p:sp>
          <p:nvSpPr>
            <p:cNvPr id="10" name="object 10"/>
            <p:cNvSpPr/>
            <p:nvPr/>
          </p:nvSpPr>
          <p:spPr>
            <a:xfrm>
              <a:off x="490727" y="61264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209" y="0"/>
                  </a:moveTo>
                  <a:lnTo>
                    <a:pt x="117170" y="4921"/>
                  </a:lnTo>
                  <a:lnTo>
                    <a:pt x="75539" y="22478"/>
                  </a:lnTo>
                  <a:lnTo>
                    <a:pt x="79413" y="24891"/>
                  </a:lnTo>
                  <a:lnTo>
                    <a:pt x="81445" y="26542"/>
                  </a:lnTo>
                  <a:lnTo>
                    <a:pt x="88036" y="33147"/>
                  </a:lnTo>
                  <a:lnTo>
                    <a:pt x="91274" y="38735"/>
                  </a:lnTo>
                  <a:lnTo>
                    <a:pt x="93090" y="44957"/>
                  </a:lnTo>
                  <a:lnTo>
                    <a:pt x="95186" y="43687"/>
                  </a:lnTo>
                  <a:lnTo>
                    <a:pt x="109264" y="37087"/>
                  </a:lnTo>
                  <a:lnTo>
                    <a:pt x="124212" y="32226"/>
                  </a:lnTo>
                  <a:lnTo>
                    <a:pt x="139902" y="29221"/>
                  </a:lnTo>
                  <a:lnTo>
                    <a:pt x="156209" y="28193"/>
                  </a:lnTo>
                  <a:lnTo>
                    <a:pt x="206039" y="38248"/>
                  </a:lnTo>
                  <a:lnTo>
                    <a:pt x="246730" y="65674"/>
                  </a:lnTo>
                  <a:lnTo>
                    <a:pt x="274165" y="106364"/>
                  </a:lnTo>
                  <a:lnTo>
                    <a:pt x="284226" y="156210"/>
                  </a:lnTo>
                  <a:lnTo>
                    <a:pt x="274165" y="206055"/>
                  </a:lnTo>
                  <a:lnTo>
                    <a:pt x="246730" y="246745"/>
                  </a:lnTo>
                  <a:lnTo>
                    <a:pt x="206039" y="274171"/>
                  </a:lnTo>
                  <a:lnTo>
                    <a:pt x="156209" y="284225"/>
                  </a:lnTo>
                  <a:lnTo>
                    <a:pt x="106380" y="274171"/>
                  </a:lnTo>
                  <a:lnTo>
                    <a:pt x="65689" y="246745"/>
                  </a:lnTo>
                  <a:lnTo>
                    <a:pt x="38254" y="206055"/>
                  </a:lnTo>
                  <a:lnTo>
                    <a:pt x="28193" y="156210"/>
                  </a:lnTo>
                  <a:lnTo>
                    <a:pt x="29221" y="139898"/>
                  </a:lnTo>
                  <a:lnTo>
                    <a:pt x="32219" y="124206"/>
                  </a:lnTo>
                  <a:lnTo>
                    <a:pt x="37066" y="109275"/>
                  </a:lnTo>
                  <a:lnTo>
                    <a:pt x="43637" y="95250"/>
                  </a:lnTo>
                  <a:lnTo>
                    <a:pt x="45148" y="92710"/>
                  </a:lnTo>
                  <a:lnTo>
                    <a:pt x="39090" y="90931"/>
                  </a:lnTo>
                  <a:lnTo>
                    <a:pt x="33464" y="87629"/>
                  </a:lnTo>
                  <a:lnTo>
                    <a:pt x="25234" y="79121"/>
                  </a:lnTo>
                  <a:lnTo>
                    <a:pt x="22720" y="75056"/>
                  </a:lnTo>
                  <a:lnTo>
                    <a:pt x="13030" y="93630"/>
                  </a:lnTo>
                  <a:lnTo>
                    <a:pt x="5927" y="113411"/>
                  </a:lnTo>
                  <a:lnTo>
                    <a:pt x="1516" y="134334"/>
                  </a:lnTo>
                  <a:lnTo>
                    <a:pt x="0" y="156210"/>
                  </a:lnTo>
                  <a:lnTo>
                    <a:pt x="7963" y="205569"/>
                  </a:lnTo>
                  <a:lnTo>
                    <a:pt x="30139" y="248448"/>
                  </a:lnTo>
                  <a:lnTo>
                    <a:pt x="63954" y="282269"/>
                  </a:lnTo>
                  <a:lnTo>
                    <a:pt x="106836" y="304452"/>
                  </a:lnTo>
                  <a:lnTo>
                    <a:pt x="156209" y="312419"/>
                  </a:lnTo>
                  <a:lnTo>
                    <a:pt x="205583" y="304452"/>
                  </a:lnTo>
                  <a:lnTo>
                    <a:pt x="248465" y="282269"/>
                  </a:lnTo>
                  <a:lnTo>
                    <a:pt x="282280" y="248448"/>
                  </a:lnTo>
                  <a:lnTo>
                    <a:pt x="304456" y="205569"/>
                  </a:lnTo>
                  <a:lnTo>
                    <a:pt x="312420" y="156210"/>
                  </a:lnTo>
                  <a:lnTo>
                    <a:pt x="304456" y="106850"/>
                  </a:lnTo>
                  <a:lnTo>
                    <a:pt x="282280" y="63971"/>
                  </a:lnTo>
                  <a:lnTo>
                    <a:pt x="248465" y="30150"/>
                  </a:lnTo>
                  <a:lnTo>
                    <a:pt x="205583" y="7967"/>
                  </a:lnTo>
                  <a:lnTo>
                    <a:pt x="156209" y="0"/>
                  </a:lnTo>
                  <a:close/>
                </a:path>
              </a:pathLst>
            </a:custGeom>
            <a:solidFill>
              <a:srgbClr val="D5D9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18347" y="640111"/>
              <a:ext cx="55880" cy="55880"/>
            </a:xfrm>
            <a:custGeom>
              <a:avLst/>
              <a:gdLst/>
              <a:ahLst/>
              <a:cxnLst/>
              <a:rect l="l" t="t" r="r" b="b"/>
              <a:pathLst>
                <a:path w="55879" h="55879">
                  <a:moveTo>
                    <a:pt x="27809" y="0"/>
                  </a:moveTo>
                  <a:lnTo>
                    <a:pt x="17343" y="2024"/>
                  </a:lnTo>
                  <a:lnTo>
                    <a:pt x="8143" y="8096"/>
                  </a:lnTo>
                  <a:lnTo>
                    <a:pt x="2035" y="17319"/>
                  </a:lnTo>
                  <a:lnTo>
                    <a:pt x="0" y="27781"/>
                  </a:lnTo>
                  <a:lnTo>
                    <a:pt x="2035" y="38242"/>
                  </a:lnTo>
                  <a:lnTo>
                    <a:pt x="8143" y="47466"/>
                  </a:lnTo>
                  <a:lnTo>
                    <a:pt x="17343" y="53609"/>
                  </a:lnTo>
                  <a:lnTo>
                    <a:pt x="27809" y="55657"/>
                  </a:lnTo>
                  <a:lnTo>
                    <a:pt x="38276" y="53609"/>
                  </a:lnTo>
                  <a:lnTo>
                    <a:pt x="47475" y="47466"/>
                  </a:lnTo>
                  <a:lnTo>
                    <a:pt x="53583" y="38242"/>
                  </a:lnTo>
                  <a:lnTo>
                    <a:pt x="55619" y="27781"/>
                  </a:lnTo>
                  <a:lnTo>
                    <a:pt x="53583" y="17319"/>
                  </a:lnTo>
                  <a:lnTo>
                    <a:pt x="47475" y="8096"/>
                  </a:lnTo>
                  <a:lnTo>
                    <a:pt x="38276" y="2024"/>
                  </a:lnTo>
                  <a:lnTo>
                    <a:pt x="27809" y="0"/>
                  </a:lnTo>
                  <a:close/>
                </a:path>
              </a:pathLst>
            </a:custGeom>
            <a:solidFill>
              <a:srgbClr val="9E0A2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47472" y="1197610"/>
            <a:ext cx="11553825" cy="4532630"/>
            <a:chOff x="347472" y="1197610"/>
            <a:chExt cx="11553825" cy="4532630"/>
          </a:xfrm>
        </p:grpSpPr>
        <p:sp>
          <p:nvSpPr>
            <p:cNvPr id="13" name="object 13"/>
            <p:cNvSpPr/>
            <p:nvPr/>
          </p:nvSpPr>
          <p:spPr>
            <a:xfrm>
              <a:off x="7638288" y="2365248"/>
              <a:ext cx="1905" cy="588010"/>
            </a:xfrm>
            <a:custGeom>
              <a:avLst/>
              <a:gdLst/>
              <a:ahLst/>
              <a:cxnLst/>
              <a:rect l="l" t="t" r="r" b="b"/>
              <a:pathLst>
                <a:path w="1904" h="588010">
                  <a:moveTo>
                    <a:pt x="1523" y="0"/>
                  </a:moveTo>
                  <a:lnTo>
                    <a:pt x="0" y="587755"/>
                  </a:lnTo>
                </a:path>
              </a:pathLst>
            </a:custGeom>
            <a:ln w="6096">
              <a:solidFill>
                <a:srgbClr val="4A4F5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25424" y="2331720"/>
              <a:ext cx="11176000" cy="3398520"/>
            </a:xfrm>
            <a:custGeom>
              <a:avLst/>
              <a:gdLst/>
              <a:ahLst/>
              <a:cxnLst/>
              <a:rect l="l" t="t" r="r" b="b"/>
              <a:pathLst>
                <a:path w="11176000" h="3398520">
                  <a:moveTo>
                    <a:pt x="9476232" y="0"/>
                  </a:moveTo>
                  <a:lnTo>
                    <a:pt x="9476232" y="849629"/>
                  </a:lnTo>
                  <a:lnTo>
                    <a:pt x="0" y="849629"/>
                  </a:lnTo>
                  <a:lnTo>
                    <a:pt x="849630" y="1699259"/>
                  </a:lnTo>
                  <a:lnTo>
                    <a:pt x="0" y="2548890"/>
                  </a:lnTo>
                  <a:lnTo>
                    <a:pt x="9476232" y="2548890"/>
                  </a:lnTo>
                  <a:lnTo>
                    <a:pt x="9476232" y="3398519"/>
                  </a:lnTo>
                  <a:lnTo>
                    <a:pt x="11175492" y="1699259"/>
                  </a:lnTo>
                  <a:lnTo>
                    <a:pt x="9476232" y="0"/>
                  </a:lnTo>
                  <a:close/>
                </a:path>
              </a:pathLst>
            </a:custGeom>
            <a:solidFill>
              <a:srgbClr val="F7F7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2992" y="1217676"/>
              <a:ext cx="2409443" cy="13548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03086" y="1207770"/>
              <a:ext cx="2429510" cy="1374775"/>
            </a:xfrm>
            <a:custGeom>
              <a:avLst/>
              <a:gdLst/>
              <a:ahLst/>
              <a:cxnLst/>
              <a:rect l="l" t="t" r="r" b="b"/>
              <a:pathLst>
                <a:path w="2429509" h="1374775">
                  <a:moveTo>
                    <a:pt x="0" y="1374648"/>
                  </a:moveTo>
                  <a:lnTo>
                    <a:pt x="2429256" y="1374648"/>
                  </a:lnTo>
                  <a:lnTo>
                    <a:pt x="2429256" y="0"/>
                  </a:lnTo>
                  <a:lnTo>
                    <a:pt x="0" y="0"/>
                  </a:lnTo>
                  <a:lnTo>
                    <a:pt x="0" y="1374648"/>
                  </a:lnTo>
                  <a:close/>
                </a:path>
              </a:pathLst>
            </a:custGeom>
            <a:ln w="1981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472" y="3691127"/>
              <a:ext cx="1450848" cy="6507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215" y="3834383"/>
              <a:ext cx="1002791" cy="38557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6908" y="3730752"/>
              <a:ext cx="1332230" cy="533400"/>
            </a:xfrm>
            <a:custGeom>
              <a:avLst/>
              <a:gdLst/>
              <a:ahLst/>
              <a:cxnLst/>
              <a:rect l="l" t="t" r="r" b="b"/>
              <a:pathLst>
                <a:path w="1332230" h="533400">
                  <a:moveTo>
                    <a:pt x="1065276" y="0"/>
                  </a:moveTo>
                  <a:lnTo>
                    <a:pt x="0" y="0"/>
                  </a:lnTo>
                  <a:lnTo>
                    <a:pt x="266700" y="266700"/>
                  </a:lnTo>
                  <a:lnTo>
                    <a:pt x="0" y="533400"/>
                  </a:lnTo>
                  <a:lnTo>
                    <a:pt x="1065276" y="533400"/>
                  </a:lnTo>
                  <a:lnTo>
                    <a:pt x="1331976" y="266700"/>
                  </a:lnTo>
                  <a:lnTo>
                    <a:pt x="1065276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4462271" y="2764535"/>
            <a:ext cx="1475740" cy="658495"/>
            <a:chOff x="4462271" y="2764535"/>
            <a:chExt cx="1475740" cy="658495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62271" y="2764535"/>
              <a:ext cx="1475231" cy="65836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19827" y="2912363"/>
              <a:ext cx="984503" cy="38557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521707" y="2804159"/>
              <a:ext cx="1356360" cy="541020"/>
            </a:xfrm>
            <a:custGeom>
              <a:avLst/>
              <a:gdLst/>
              <a:ahLst/>
              <a:cxnLst/>
              <a:rect l="l" t="t" r="r" b="b"/>
              <a:pathLst>
                <a:path w="1356360" h="541020">
                  <a:moveTo>
                    <a:pt x="1085850" y="0"/>
                  </a:moveTo>
                  <a:lnTo>
                    <a:pt x="0" y="0"/>
                  </a:lnTo>
                  <a:lnTo>
                    <a:pt x="270509" y="270510"/>
                  </a:lnTo>
                  <a:lnTo>
                    <a:pt x="0" y="541019"/>
                  </a:lnTo>
                  <a:lnTo>
                    <a:pt x="1085850" y="541019"/>
                  </a:lnTo>
                  <a:lnTo>
                    <a:pt x="1356359" y="270510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843653" y="2977387"/>
            <a:ext cx="7391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Doctor</a:t>
            </a:r>
            <a:r>
              <a:rPr dirty="0" sz="1000" spc="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room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82996" y="2764535"/>
            <a:ext cx="1473835" cy="670560"/>
            <a:chOff x="5682996" y="2764535"/>
            <a:chExt cx="1473835" cy="670560"/>
          </a:xfrm>
        </p:grpSpPr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82996" y="2764535"/>
              <a:ext cx="1473707" cy="65836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42076" y="2775203"/>
              <a:ext cx="981455" cy="65989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742432" y="2804159"/>
              <a:ext cx="1355090" cy="541020"/>
            </a:xfrm>
            <a:custGeom>
              <a:avLst/>
              <a:gdLst/>
              <a:ahLst/>
              <a:cxnLst/>
              <a:rect l="l" t="t" r="r" b="b"/>
              <a:pathLst>
                <a:path w="1355090" h="541020">
                  <a:moveTo>
                    <a:pt x="1084325" y="0"/>
                  </a:moveTo>
                  <a:lnTo>
                    <a:pt x="0" y="0"/>
                  </a:lnTo>
                  <a:lnTo>
                    <a:pt x="270509" y="270510"/>
                  </a:lnTo>
                  <a:lnTo>
                    <a:pt x="0" y="541019"/>
                  </a:lnTo>
                  <a:lnTo>
                    <a:pt x="1084325" y="541019"/>
                  </a:lnTo>
                  <a:lnTo>
                    <a:pt x="1354836" y="270510"/>
                  </a:lnTo>
                  <a:lnTo>
                    <a:pt x="1084325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150990" y="2840227"/>
            <a:ext cx="5664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Payment/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65646" y="2977387"/>
            <a:ext cx="735965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219075">
              <a:lnSpc>
                <a:spcPts val="1080"/>
              </a:lnSpc>
              <a:spcBef>
                <a:spcPts val="229"/>
              </a:spcBef>
            </a:pP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Next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appointment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902195" y="2764535"/>
            <a:ext cx="1475740" cy="658495"/>
            <a:chOff x="6902195" y="2764535"/>
            <a:chExt cx="1475740" cy="658495"/>
          </a:xfrm>
        </p:grpSpPr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02195" y="2764535"/>
              <a:ext cx="1475231" cy="65836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43571" y="2843783"/>
              <a:ext cx="847344" cy="52273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961631" y="2804159"/>
              <a:ext cx="1356360" cy="541020"/>
            </a:xfrm>
            <a:custGeom>
              <a:avLst/>
              <a:gdLst/>
              <a:ahLst/>
              <a:cxnLst/>
              <a:rect l="l" t="t" r="r" b="b"/>
              <a:pathLst>
                <a:path w="1356359" h="541020">
                  <a:moveTo>
                    <a:pt x="1085850" y="0"/>
                  </a:moveTo>
                  <a:lnTo>
                    <a:pt x="0" y="0"/>
                  </a:lnTo>
                  <a:lnTo>
                    <a:pt x="270510" y="270510"/>
                  </a:lnTo>
                  <a:lnTo>
                    <a:pt x="0" y="541019"/>
                  </a:lnTo>
                  <a:lnTo>
                    <a:pt x="1085850" y="541019"/>
                  </a:lnTo>
                  <a:lnTo>
                    <a:pt x="1356360" y="270510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7367143" y="2908807"/>
            <a:ext cx="575945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35890" marR="5080" indent="-123825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solidFill>
                  <a:srgbClr val="FFFFFF"/>
                </a:solidFill>
                <a:latin typeface="Tahoma"/>
                <a:cs typeface="Tahoma"/>
              </a:rPr>
              <a:t>BWA</a:t>
            </a:r>
            <a:r>
              <a:rPr dirty="0" sz="10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60" b="1">
                <a:solidFill>
                  <a:srgbClr val="FFFFFF"/>
                </a:solidFill>
                <a:latin typeface="Tahoma"/>
                <a:cs typeface="Tahoma"/>
              </a:rPr>
              <a:t>test </a:t>
            </a:r>
            <a:r>
              <a:rPr dirty="0" sz="1000" spc="-20" b="1">
                <a:solidFill>
                  <a:srgbClr val="FFFFFF"/>
                </a:solidFill>
                <a:latin typeface="Tahoma"/>
                <a:cs typeface="Tahoma"/>
              </a:rPr>
              <a:t>room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122919" y="2764535"/>
            <a:ext cx="1475740" cy="658495"/>
            <a:chOff x="8122919" y="2764535"/>
            <a:chExt cx="1475740" cy="658495"/>
          </a:xfrm>
        </p:grpSpPr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22919" y="2764535"/>
              <a:ext cx="1475231" cy="65836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17635" y="2912363"/>
              <a:ext cx="711707" cy="38557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182355" y="2804159"/>
              <a:ext cx="1356360" cy="541020"/>
            </a:xfrm>
            <a:custGeom>
              <a:avLst/>
              <a:gdLst/>
              <a:ahLst/>
              <a:cxnLst/>
              <a:rect l="l" t="t" r="r" b="b"/>
              <a:pathLst>
                <a:path w="1356359" h="541020">
                  <a:moveTo>
                    <a:pt x="1085850" y="0"/>
                  </a:moveTo>
                  <a:lnTo>
                    <a:pt x="0" y="0"/>
                  </a:lnTo>
                  <a:lnTo>
                    <a:pt x="270510" y="270510"/>
                  </a:lnTo>
                  <a:lnTo>
                    <a:pt x="0" y="541019"/>
                  </a:lnTo>
                  <a:lnTo>
                    <a:pt x="1085850" y="541019"/>
                  </a:lnTo>
                  <a:lnTo>
                    <a:pt x="1356360" y="270510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8642350" y="2977387"/>
            <a:ext cx="4660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Lab</a:t>
            </a:r>
            <a:r>
              <a:rPr dirty="0" sz="10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9343643" y="2764535"/>
            <a:ext cx="1475740" cy="658495"/>
            <a:chOff x="9343643" y="2764535"/>
            <a:chExt cx="1475740" cy="658495"/>
          </a:xfrm>
        </p:grpSpPr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43643" y="2764535"/>
              <a:ext cx="1475231" cy="65836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25583" y="2912363"/>
              <a:ext cx="937259" cy="38557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403079" y="2804159"/>
              <a:ext cx="1356360" cy="541020"/>
            </a:xfrm>
            <a:custGeom>
              <a:avLst/>
              <a:gdLst/>
              <a:ahLst/>
              <a:cxnLst/>
              <a:rect l="l" t="t" r="r" b="b"/>
              <a:pathLst>
                <a:path w="1356359" h="541020">
                  <a:moveTo>
                    <a:pt x="1085850" y="0"/>
                  </a:moveTo>
                  <a:lnTo>
                    <a:pt x="0" y="0"/>
                  </a:lnTo>
                  <a:lnTo>
                    <a:pt x="270510" y="270510"/>
                  </a:lnTo>
                  <a:lnTo>
                    <a:pt x="0" y="541019"/>
                  </a:lnTo>
                  <a:lnTo>
                    <a:pt x="1085850" y="541019"/>
                  </a:lnTo>
                  <a:lnTo>
                    <a:pt x="1356360" y="270510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9750043" y="2977387"/>
            <a:ext cx="692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Going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home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7847" y="3900297"/>
            <a:ext cx="7569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Appointment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46860" y="3691128"/>
            <a:ext cx="1450975" cy="650875"/>
            <a:chOff x="1546860" y="3691128"/>
            <a:chExt cx="1450975" cy="65087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6860" y="3691128"/>
              <a:ext cx="1450848" cy="6507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6148" y="3765804"/>
              <a:ext cx="707136" cy="52273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606296" y="3730752"/>
              <a:ext cx="1332230" cy="533400"/>
            </a:xfrm>
            <a:custGeom>
              <a:avLst/>
              <a:gdLst/>
              <a:ahLst/>
              <a:cxnLst/>
              <a:rect l="l" t="t" r="r" b="b"/>
              <a:pathLst>
                <a:path w="1332230" h="533400">
                  <a:moveTo>
                    <a:pt x="1065276" y="0"/>
                  </a:moveTo>
                  <a:lnTo>
                    <a:pt x="0" y="0"/>
                  </a:lnTo>
                  <a:lnTo>
                    <a:pt x="266699" y="266700"/>
                  </a:lnTo>
                  <a:lnTo>
                    <a:pt x="0" y="533400"/>
                  </a:lnTo>
                  <a:lnTo>
                    <a:pt x="1065276" y="533400"/>
                  </a:lnTo>
                  <a:lnTo>
                    <a:pt x="1331976" y="266700"/>
                  </a:lnTo>
                  <a:lnTo>
                    <a:pt x="1065276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069083" y="3831716"/>
            <a:ext cx="434340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6034" marR="5080" indent="-13970">
              <a:lnSpc>
                <a:spcPts val="1080"/>
              </a:lnSpc>
              <a:spcBef>
                <a:spcPts val="229"/>
              </a:spcBef>
            </a:pP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Clinical Arrival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746248" y="3691128"/>
            <a:ext cx="1450975" cy="650875"/>
            <a:chOff x="2746248" y="3691128"/>
            <a:chExt cx="1450975" cy="65087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6248" y="3691128"/>
              <a:ext cx="1450848" cy="65074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9900" y="3834384"/>
              <a:ext cx="949451" cy="38557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05684" y="3730752"/>
              <a:ext cx="1332230" cy="533400"/>
            </a:xfrm>
            <a:custGeom>
              <a:avLst/>
              <a:gdLst/>
              <a:ahLst/>
              <a:cxnLst/>
              <a:rect l="l" t="t" r="r" b="b"/>
              <a:pathLst>
                <a:path w="1332229" h="533400">
                  <a:moveTo>
                    <a:pt x="1065276" y="0"/>
                  </a:moveTo>
                  <a:lnTo>
                    <a:pt x="0" y="0"/>
                  </a:lnTo>
                  <a:lnTo>
                    <a:pt x="266700" y="266700"/>
                  </a:lnTo>
                  <a:lnTo>
                    <a:pt x="0" y="533400"/>
                  </a:lnTo>
                  <a:lnTo>
                    <a:pt x="1065276" y="533400"/>
                  </a:lnTo>
                  <a:lnTo>
                    <a:pt x="1331976" y="266700"/>
                  </a:lnTo>
                  <a:lnTo>
                    <a:pt x="1065276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133089" y="3900297"/>
            <a:ext cx="7042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Registration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462271" y="4631435"/>
            <a:ext cx="1475740" cy="658495"/>
            <a:chOff x="4462271" y="4631435"/>
            <a:chExt cx="1475740" cy="658495"/>
          </a:xfrm>
        </p:grpSpPr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62271" y="4631435"/>
              <a:ext cx="1475231" cy="658367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19827" y="4779263"/>
              <a:ext cx="984503" cy="385572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521707" y="4671059"/>
              <a:ext cx="1356360" cy="541020"/>
            </a:xfrm>
            <a:custGeom>
              <a:avLst/>
              <a:gdLst/>
              <a:ahLst/>
              <a:cxnLst/>
              <a:rect l="l" t="t" r="r" b="b"/>
              <a:pathLst>
                <a:path w="1356360" h="541020">
                  <a:moveTo>
                    <a:pt x="1085850" y="0"/>
                  </a:moveTo>
                  <a:lnTo>
                    <a:pt x="0" y="0"/>
                  </a:lnTo>
                  <a:lnTo>
                    <a:pt x="270509" y="270509"/>
                  </a:lnTo>
                  <a:lnTo>
                    <a:pt x="0" y="541019"/>
                  </a:lnTo>
                  <a:lnTo>
                    <a:pt x="1085850" y="541019"/>
                  </a:lnTo>
                  <a:lnTo>
                    <a:pt x="1356359" y="270509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4843653" y="4844922"/>
            <a:ext cx="7391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Doctor</a:t>
            </a:r>
            <a:r>
              <a:rPr dirty="0" sz="1000" spc="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room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682996" y="4631435"/>
            <a:ext cx="1473835" cy="658495"/>
            <a:chOff x="5682996" y="4631435"/>
            <a:chExt cx="1473835" cy="658495"/>
          </a:xfrm>
        </p:grpSpPr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82996" y="4631435"/>
              <a:ext cx="1473707" cy="65836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47232" y="4779263"/>
              <a:ext cx="772667" cy="38557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742432" y="4671059"/>
              <a:ext cx="1355090" cy="541020"/>
            </a:xfrm>
            <a:custGeom>
              <a:avLst/>
              <a:gdLst/>
              <a:ahLst/>
              <a:cxnLst/>
              <a:rect l="l" t="t" r="r" b="b"/>
              <a:pathLst>
                <a:path w="1355090" h="541020">
                  <a:moveTo>
                    <a:pt x="1084325" y="0"/>
                  </a:moveTo>
                  <a:lnTo>
                    <a:pt x="0" y="0"/>
                  </a:lnTo>
                  <a:lnTo>
                    <a:pt x="270509" y="270509"/>
                  </a:lnTo>
                  <a:lnTo>
                    <a:pt x="0" y="541019"/>
                  </a:lnTo>
                  <a:lnTo>
                    <a:pt x="1084325" y="541019"/>
                  </a:lnTo>
                  <a:lnTo>
                    <a:pt x="1354836" y="270509"/>
                  </a:lnTo>
                  <a:lnTo>
                    <a:pt x="1084325" y="0"/>
                  </a:lnTo>
                  <a:close/>
                </a:path>
              </a:pathLst>
            </a:custGeom>
            <a:solidFill>
              <a:srgbClr val="96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6170803" y="4844922"/>
            <a:ext cx="527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 b="1">
                <a:solidFill>
                  <a:srgbClr val="FFFFFF"/>
                </a:solidFill>
                <a:latin typeface="Tahoma"/>
                <a:cs typeface="Tahoma"/>
              </a:rPr>
              <a:t>Dietitian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902195" y="4631435"/>
            <a:ext cx="1475740" cy="670560"/>
            <a:chOff x="6902195" y="4631435"/>
            <a:chExt cx="1475740" cy="670560"/>
          </a:xfrm>
        </p:grpSpPr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02195" y="4631435"/>
              <a:ext cx="1475231" cy="658367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53655" y="4642103"/>
              <a:ext cx="1001268" cy="65989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961631" y="4671059"/>
              <a:ext cx="1356360" cy="541020"/>
            </a:xfrm>
            <a:custGeom>
              <a:avLst/>
              <a:gdLst/>
              <a:ahLst/>
              <a:cxnLst/>
              <a:rect l="l" t="t" r="r" b="b"/>
              <a:pathLst>
                <a:path w="1356359" h="541020">
                  <a:moveTo>
                    <a:pt x="1085850" y="0"/>
                  </a:moveTo>
                  <a:lnTo>
                    <a:pt x="0" y="0"/>
                  </a:lnTo>
                  <a:lnTo>
                    <a:pt x="270510" y="270509"/>
                  </a:lnTo>
                  <a:lnTo>
                    <a:pt x="0" y="541019"/>
                  </a:lnTo>
                  <a:lnTo>
                    <a:pt x="1085850" y="541019"/>
                  </a:lnTo>
                  <a:lnTo>
                    <a:pt x="1356360" y="270509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7277227" y="4707077"/>
            <a:ext cx="755650" cy="45275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ctr" marL="12700" marR="5080" indent="-1270">
              <a:lnSpc>
                <a:spcPct val="90100"/>
              </a:lnSpc>
              <a:spcBef>
                <a:spcPts val="215"/>
              </a:spcBef>
            </a:pPr>
            <a:r>
              <a:rPr dirty="0" sz="1000" spc="-10" b="1">
                <a:solidFill>
                  <a:srgbClr val="FFFFFF"/>
                </a:solidFill>
                <a:latin typeface="Tahoma"/>
                <a:cs typeface="Tahoma"/>
              </a:rPr>
              <a:t>Payment/ </a:t>
            </a:r>
            <a:r>
              <a:rPr dirty="0" sz="1000" spc="-20" b="1">
                <a:solidFill>
                  <a:srgbClr val="FFFFFF"/>
                </a:solidFill>
                <a:latin typeface="Tahoma"/>
                <a:cs typeface="Tahoma"/>
              </a:rPr>
              <a:t>Next </a:t>
            </a:r>
            <a:r>
              <a:rPr dirty="0" sz="1000" spc="-70" b="1">
                <a:solidFill>
                  <a:srgbClr val="FFFFFF"/>
                </a:solidFill>
                <a:latin typeface="Tahoma"/>
                <a:cs typeface="Tahoma"/>
              </a:rPr>
              <a:t>appointment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847338" y="3067050"/>
            <a:ext cx="4060825" cy="2355850"/>
            <a:chOff x="3847338" y="3067050"/>
            <a:chExt cx="4060825" cy="2355850"/>
          </a:xfrm>
        </p:grpSpPr>
        <p:pic>
          <p:nvPicPr>
            <p:cNvPr id="83" name="object 8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73111" y="3393947"/>
              <a:ext cx="534924" cy="18287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44767" y="5239511"/>
              <a:ext cx="534923" cy="18288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847338" y="3067049"/>
              <a:ext cx="875665" cy="1873250"/>
            </a:xfrm>
            <a:custGeom>
              <a:avLst/>
              <a:gdLst/>
              <a:ahLst/>
              <a:cxnLst/>
              <a:rect l="l" t="t" r="r" b="b"/>
              <a:pathLst>
                <a:path w="875664" h="1873250">
                  <a:moveTo>
                    <a:pt x="867537" y="1872996"/>
                  </a:moveTo>
                  <a:lnTo>
                    <a:pt x="852678" y="1841627"/>
                  </a:lnTo>
                  <a:lnTo>
                    <a:pt x="831088" y="1796034"/>
                  </a:lnTo>
                  <a:lnTo>
                    <a:pt x="813663" y="1818259"/>
                  </a:lnTo>
                  <a:lnTo>
                    <a:pt x="12192" y="1190117"/>
                  </a:lnTo>
                  <a:lnTo>
                    <a:pt x="0" y="1205611"/>
                  </a:lnTo>
                  <a:lnTo>
                    <a:pt x="801497" y="1833778"/>
                  </a:lnTo>
                  <a:lnTo>
                    <a:pt x="784098" y="1855978"/>
                  </a:lnTo>
                  <a:lnTo>
                    <a:pt x="867537" y="1872996"/>
                  </a:lnTo>
                  <a:close/>
                </a:path>
                <a:path w="875664" h="1873250">
                  <a:moveTo>
                    <a:pt x="875157" y="0"/>
                  </a:moveTo>
                  <a:lnTo>
                    <a:pt x="791718" y="17145"/>
                  </a:lnTo>
                  <a:lnTo>
                    <a:pt x="809167" y="39357"/>
                  </a:lnTo>
                  <a:lnTo>
                    <a:pt x="7620" y="670179"/>
                  </a:lnTo>
                  <a:lnTo>
                    <a:pt x="19812" y="685673"/>
                  </a:lnTo>
                  <a:lnTo>
                    <a:pt x="821461" y="54991"/>
                  </a:lnTo>
                  <a:lnTo>
                    <a:pt x="838835" y="77089"/>
                  </a:lnTo>
                  <a:lnTo>
                    <a:pt x="860310" y="31496"/>
                  </a:lnTo>
                  <a:lnTo>
                    <a:pt x="875157" y="0"/>
                  </a:lnTo>
                  <a:close/>
                </a:path>
              </a:pathLst>
            </a:custGeom>
            <a:solidFill>
              <a:srgbClr val="9D1F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36187" y="3211195"/>
              <a:ext cx="355218" cy="29514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95928" y="4489703"/>
              <a:ext cx="356616" cy="320039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6969632" y="3559835"/>
            <a:ext cx="3549015" cy="482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Helps</a:t>
            </a:r>
            <a:r>
              <a:rPr dirty="0" sz="1000" spc="-8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646D7C"/>
                </a:solidFill>
                <a:latin typeface="Tahoma"/>
                <a:cs typeface="Tahoma"/>
              </a:rPr>
              <a:t>diagnose</a:t>
            </a:r>
            <a:r>
              <a:rPr dirty="0" sz="1000" spc="-3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961B2E"/>
                </a:solidFill>
                <a:latin typeface="Tahoma"/>
                <a:cs typeface="Tahoma"/>
              </a:rPr>
              <a:t>sarcopenia</a:t>
            </a:r>
            <a:r>
              <a:rPr dirty="0" sz="1000" spc="-6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646D7C"/>
                </a:solidFill>
                <a:latin typeface="Tahoma"/>
                <a:cs typeface="Tahoma"/>
              </a:rPr>
              <a:t>and</a:t>
            </a:r>
            <a:r>
              <a:rPr dirty="0" sz="1000" spc="-7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961B2E"/>
                </a:solidFill>
                <a:latin typeface="Tahoma"/>
                <a:cs typeface="Tahoma"/>
              </a:rPr>
              <a:t>cachexia</a:t>
            </a:r>
            <a:r>
              <a:rPr dirty="0" sz="1000" spc="-80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in</a:t>
            </a:r>
            <a:r>
              <a:rPr dirty="0" sz="1000" spc="-9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D7C"/>
                </a:solidFill>
                <a:latin typeface="Tahoma"/>
                <a:cs typeface="Tahoma"/>
              </a:rPr>
              <a:t>cancer</a:t>
            </a:r>
            <a:r>
              <a:rPr dirty="0" sz="1000" spc="-8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D7C"/>
                </a:solidFill>
                <a:latin typeface="Tahoma"/>
                <a:cs typeface="Tahoma"/>
              </a:rPr>
              <a:t>patients</a:t>
            </a:r>
            <a:endParaRPr sz="10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Supports</a:t>
            </a:r>
            <a:r>
              <a:rPr dirty="0" sz="1000" spc="-9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clinicians</a:t>
            </a:r>
            <a:r>
              <a:rPr dirty="0" sz="1000" spc="-11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in</a:t>
            </a:r>
            <a:r>
              <a:rPr dirty="0" sz="1000" spc="-114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646D7C"/>
                </a:solidFill>
                <a:latin typeface="Tahoma"/>
                <a:cs typeface="Tahoma"/>
              </a:rPr>
              <a:t>making</a:t>
            </a:r>
            <a:r>
              <a:rPr dirty="0" sz="1000" spc="-6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informed</a:t>
            </a:r>
            <a:r>
              <a:rPr dirty="0" sz="1000" spc="-7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treatment</a:t>
            </a:r>
            <a:r>
              <a:rPr dirty="0" sz="1000" spc="-3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D7C"/>
                </a:solidFill>
                <a:latin typeface="Tahoma"/>
                <a:cs typeface="Tahoma"/>
              </a:rPr>
              <a:t>decisions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8122919" y="4631435"/>
            <a:ext cx="1475740" cy="658495"/>
            <a:chOff x="8122919" y="4631435"/>
            <a:chExt cx="1475740" cy="658495"/>
          </a:xfrm>
        </p:grpSpPr>
        <p:pic>
          <p:nvPicPr>
            <p:cNvPr id="73" name="object 7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22919" y="4631435"/>
              <a:ext cx="1475231" cy="65836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90787" y="4779263"/>
              <a:ext cx="565403" cy="38557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8182355" y="4671059"/>
              <a:ext cx="1356360" cy="541020"/>
            </a:xfrm>
            <a:custGeom>
              <a:avLst/>
              <a:gdLst/>
              <a:ahLst/>
              <a:cxnLst/>
              <a:rect l="l" t="t" r="r" b="b"/>
              <a:pathLst>
                <a:path w="1356359" h="541020">
                  <a:moveTo>
                    <a:pt x="1085850" y="0"/>
                  </a:moveTo>
                  <a:lnTo>
                    <a:pt x="0" y="0"/>
                  </a:lnTo>
                  <a:lnTo>
                    <a:pt x="270510" y="270509"/>
                  </a:lnTo>
                  <a:lnTo>
                    <a:pt x="0" y="541019"/>
                  </a:lnTo>
                  <a:lnTo>
                    <a:pt x="1085850" y="541019"/>
                  </a:lnTo>
                  <a:lnTo>
                    <a:pt x="1356360" y="270509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8715502" y="4844922"/>
            <a:ext cx="3194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IVNT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343643" y="4631435"/>
            <a:ext cx="1475740" cy="658495"/>
            <a:chOff x="9343643" y="4631435"/>
            <a:chExt cx="1475740" cy="658495"/>
          </a:xfrm>
        </p:grpSpPr>
        <p:pic>
          <p:nvPicPr>
            <p:cNvPr id="78" name="object 7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43643" y="4631435"/>
              <a:ext cx="1475231" cy="65836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25583" y="4779263"/>
              <a:ext cx="937259" cy="385572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9403079" y="4671059"/>
              <a:ext cx="1356360" cy="541020"/>
            </a:xfrm>
            <a:custGeom>
              <a:avLst/>
              <a:gdLst/>
              <a:ahLst/>
              <a:cxnLst/>
              <a:rect l="l" t="t" r="r" b="b"/>
              <a:pathLst>
                <a:path w="1356359" h="541020">
                  <a:moveTo>
                    <a:pt x="1085850" y="0"/>
                  </a:moveTo>
                  <a:lnTo>
                    <a:pt x="0" y="0"/>
                  </a:lnTo>
                  <a:lnTo>
                    <a:pt x="270510" y="270509"/>
                  </a:lnTo>
                  <a:lnTo>
                    <a:pt x="0" y="541019"/>
                  </a:lnTo>
                  <a:lnTo>
                    <a:pt x="1085850" y="541019"/>
                  </a:lnTo>
                  <a:lnTo>
                    <a:pt x="1356360" y="270509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646D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9750043" y="4844922"/>
            <a:ext cx="692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Going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home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770626" y="5428894"/>
            <a:ext cx="3950335" cy="482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23215" algn="l"/>
              </a:tabLst>
            </a:pPr>
            <a:r>
              <a:rPr dirty="0" sz="1000" spc="-10">
                <a:solidFill>
                  <a:srgbClr val="646D7C"/>
                </a:solidFill>
                <a:latin typeface="Tahoma"/>
                <a:cs typeface="Tahoma"/>
              </a:rPr>
              <a:t>InBody</a:t>
            </a:r>
            <a:r>
              <a:rPr dirty="0" sz="1000" spc="-6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D7C"/>
                </a:solidFill>
                <a:latin typeface="Tahoma"/>
                <a:cs typeface="Tahoma"/>
              </a:rPr>
              <a:t>data</a:t>
            </a:r>
            <a:r>
              <a:rPr dirty="0" sz="1000" spc="-6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D7C"/>
                </a:solidFill>
                <a:latin typeface="Tahoma"/>
                <a:cs typeface="Tahoma"/>
              </a:rPr>
              <a:t>helps</a:t>
            </a:r>
            <a:r>
              <a:rPr dirty="0" sz="1000" spc="-8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961B2E"/>
                </a:solidFill>
                <a:latin typeface="Tahoma"/>
                <a:cs typeface="Tahoma"/>
              </a:rPr>
              <a:t>create</a:t>
            </a:r>
            <a:r>
              <a:rPr dirty="0" sz="1000" spc="-6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961B2E"/>
                </a:solidFill>
                <a:latin typeface="Tahoma"/>
                <a:cs typeface="Tahoma"/>
              </a:rPr>
              <a:t>personalized</a:t>
            </a:r>
            <a:r>
              <a:rPr dirty="0" sz="1000" spc="-5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961B2E"/>
                </a:solidFill>
                <a:latin typeface="Tahoma"/>
                <a:cs typeface="Tahoma"/>
              </a:rPr>
              <a:t>nutritional</a:t>
            </a:r>
            <a:r>
              <a:rPr dirty="0" sz="1000" spc="-8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961B2E"/>
                </a:solidFill>
                <a:latin typeface="Tahoma"/>
                <a:cs typeface="Tahoma"/>
              </a:rPr>
              <a:t>interventions</a:t>
            </a:r>
            <a:endParaRPr sz="1000">
              <a:latin typeface="Tahoma"/>
              <a:cs typeface="Tahoma"/>
            </a:endParaRPr>
          </a:p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646D7C"/>
              </a:buClr>
              <a:buFont typeface="Arial"/>
              <a:buChar char="•"/>
              <a:tabLst>
                <a:tab pos="323215" algn="l"/>
              </a:tabLst>
            </a:pPr>
            <a:r>
              <a:rPr dirty="0" sz="1000" spc="-20">
                <a:solidFill>
                  <a:srgbClr val="961B2E"/>
                </a:solidFill>
                <a:latin typeface="Tahoma"/>
                <a:cs typeface="Tahoma"/>
              </a:rPr>
              <a:t>Enhances</a:t>
            </a:r>
            <a:r>
              <a:rPr dirty="0" sz="1000" spc="-6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961B2E"/>
                </a:solidFill>
                <a:latin typeface="Tahoma"/>
                <a:cs typeface="Tahoma"/>
              </a:rPr>
              <a:t>patient</a:t>
            </a:r>
            <a:r>
              <a:rPr dirty="0" sz="1000" spc="-4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961B2E"/>
                </a:solidFill>
                <a:latin typeface="Tahoma"/>
                <a:cs typeface="Tahoma"/>
              </a:rPr>
              <a:t>outcomes</a:t>
            </a:r>
            <a:r>
              <a:rPr dirty="0" sz="1000" spc="-35">
                <a:solidFill>
                  <a:srgbClr val="961B2E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D7C"/>
                </a:solidFill>
                <a:latin typeface="Tahoma"/>
                <a:cs typeface="Tahoma"/>
              </a:rPr>
              <a:t>through</a:t>
            </a:r>
            <a:r>
              <a:rPr dirty="0" sz="1000" spc="-65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better</a:t>
            </a:r>
            <a:r>
              <a:rPr dirty="0" sz="1000" spc="-2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6D7C"/>
                </a:solidFill>
                <a:latin typeface="Tahoma"/>
                <a:cs typeface="Tahoma"/>
              </a:rPr>
              <a:t>nutrition</a:t>
            </a:r>
            <a:r>
              <a:rPr dirty="0" sz="1000" spc="-60">
                <a:solidFill>
                  <a:srgbClr val="646D7C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D7C"/>
                </a:solidFill>
                <a:latin typeface="Tahoma"/>
                <a:cs typeface="Tahoma"/>
              </a:rPr>
              <a:t>management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6200"/>
            <a:ext cx="282701" cy="10030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53340"/>
          </a:xfrm>
          <a:custGeom>
            <a:avLst/>
            <a:gdLst/>
            <a:ahLst/>
            <a:cxnLst/>
            <a:rect l="l" t="t" r="r" b="b"/>
            <a:pathLst>
              <a:path w="12192000" h="53340">
                <a:moveTo>
                  <a:pt x="12192000" y="0"/>
                </a:moveTo>
                <a:lnTo>
                  <a:pt x="0" y="0"/>
                </a:lnTo>
                <a:lnTo>
                  <a:pt x="0" y="53340"/>
                </a:lnTo>
                <a:lnTo>
                  <a:pt x="12192000" y="5334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46D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84505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Test</a:t>
            </a:r>
            <a:r>
              <a:rPr dirty="0" spc="-195"/>
              <a:t> </a:t>
            </a:r>
            <a:r>
              <a:rPr dirty="0" spc="-75"/>
              <a:t>Procedure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90727" y="612648"/>
            <a:ext cx="312420" cy="312420"/>
            <a:chOff x="490727" y="612648"/>
            <a:chExt cx="312420" cy="312420"/>
          </a:xfrm>
        </p:grpSpPr>
        <p:sp>
          <p:nvSpPr>
            <p:cNvPr id="10" name="object 10"/>
            <p:cNvSpPr/>
            <p:nvPr/>
          </p:nvSpPr>
          <p:spPr>
            <a:xfrm>
              <a:off x="490727" y="612648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209" y="0"/>
                  </a:moveTo>
                  <a:lnTo>
                    <a:pt x="117170" y="4921"/>
                  </a:lnTo>
                  <a:lnTo>
                    <a:pt x="75539" y="22478"/>
                  </a:lnTo>
                  <a:lnTo>
                    <a:pt x="79413" y="24891"/>
                  </a:lnTo>
                  <a:lnTo>
                    <a:pt x="81445" y="26542"/>
                  </a:lnTo>
                  <a:lnTo>
                    <a:pt x="88036" y="33147"/>
                  </a:lnTo>
                  <a:lnTo>
                    <a:pt x="91274" y="38735"/>
                  </a:lnTo>
                  <a:lnTo>
                    <a:pt x="93090" y="44957"/>
                  </a:lnTo>
                  <a:lnTo>
                    <a:pt x="95186" y="43687"/>
                  </a:lnTo>
                  <a:lnTo>
                    <a:pt x="109264" y="37087"/>
                  </a:lnTo>
                  <a:lnTo>
                    <a:pt x="124212" y="32226"/>
                  </a:lnTo>
                  <a:lnTo>
                    <a:pt x="139902" y="29221"/>
                  </a:lnTo>
                  <a:lnTo>
                    <a:pt x="156209" y="28193"/>
                  </a:lnTo>
                  <a:lnTo>
                    <a:pt x="206039" y="38248"/>
                  </a:lnTo>
                  <a:lnTo>
                    <a:pt x="246730" y="65674"/>
                  </a:lnTo>
                  <a:lnTo>
                    <a:pt x="274165" y="106364"/>
                  </a:lnTo>
                  <a:lnTo>
                    <a:pt x="284226" y="156210"/>
                  </a:lnTo>
                  <a:lnTo>
                    <a:pt x="274165" y="206055"/>
                  </a:lnTo>
                  <a:lnTo>
                    <a:pt x="246730" y="246745"/>
                  </a:lnTo>
                  <a:lnTo>
                    <a:pt x="206039" y="274171"/>
                  </a:lnTo>
                  <a:lnTo>
                    <a:pt x="156209" y="284225"/>
                  </a:lnTo>
                  <a:lnTo>
                    <a:pt x="106380" y="274171"/>
                  </a:lnTo>
                  <a:lnTo>
                    <a:pt x="65689" y="246745"/>
                  </a:lnTo>
                  <a:lnTo>
                    <a:pt x="38254" y="206055"/>
                  </a:lnTo>
                  <a:lnTo>
                    <a:pt x="28193" y="156210"/>
                  </a:lnTo>
                  <a:lnTo>
                    <a:pt x="29221" y="139898"/>
                  </a:lnTo>
                  <a:lnTo>
                    <a:pt x="32219" y="124206"/>
                  </a:lnTo>
                  <a:lnTo>
                    <a:pt x="37066" y="109275"/>
                  </a:lnTo>
                  <a:lnTo>
                    <a:pt x="43637" y="95250"/>
                  </a:lnTo>
                  <a:lnTo>
                    <a:pt x="45148" y="92710"/>
                  </a:lnTo>
                  <a:lnTo>
                    <a:pt x="39090" y="90931"/>
                  </a:lnTo>
                  <a:lnTo>
                    <a:pt x="33464" y="87629"/>
                  </a:lnTo>
                  <a:lnTo>
                    <a:pt x="25234" y="79121"/>
                  </a:lnTo>
                  <a:lnTo>
                    <a:pt x="22720" y="75056"/>
                  </a:lnTo>
                  <a:lnTo>
                    <a:pt x="13030" y="93630"/>
                  </a:lnTo>
                  <a:lnTo>
                    <a:pt x="5927" y="113411"/>
                  </a:lnTo>
                  <a:lnTo>
                    <a:pt x="1516" y="134334"/>
                  </a:lnTo>
                  <a:lnTo>
                    <a:pt x="0" y="156210"/>
                  </a:lnTo>
                  <a:lnTo>
                    <a:pt x="7963" y="205569"/>
                  </a:lnTo>
                  <a:lnTo>
                    <a:pt x="30139" y="248448"/>
                  </a:lnTo>
                  <a:lnTo>
                    <a:pt x="63954" y="282269"/>
                  </a:lnTo>
                  <a:lnTo>
                    <a:pt x="106836" y="304452"/>
                  </a:lnTo>
                  <a:lnTo>
                    <a:pt x="156209" y="312419"/>
                  </a:lnTo>
                  <a:lnTo>
                    <a:pt x="205583" y="304452"/>
                  </a:lnTo>
                  <a:lnTo>
                    <a:pt x="248465" y="282269"/>
                  </a:lnTo>
                  <a:lnTo>
                    <a:pt x="282280" y="248448"/>
                  </a:lnTo>
                  <a:lnTo>
                    <a:pt x="304456" y="205569"/>
                  </a:lnTo>
                  <a:lnTo>
                    <a:pt x="312420" y="156210"/>
                  </a:lnTo>
                  <a:lnTo>
                    <a:pt x="304456" y="106850"/>
                  </a:lnTo>
                  <a:lnTo>
                    <a:pt x="282280" y="63971"/>
                  </a:lnTo>
                  <a:lnTo>
                    <a:pt x="248465" y="30150"/>
                  </a:lnTo>
                  <a:lnTo>
                    <a:pt x="205583" y="7967"/>
                  </a:lnTo>
                  <a:lnTo>
                    <a:pt x="156209" y="0"/>
                  </a:lnTo>
                  <a:close/>
                </a:path>
              </a:pathLst>
            </a:custGeom>
            <a:solidFill>
              <a:srgbClr val="D5D9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18347" y="640111"/>
              <a:ext cx="55880" cy="55880"/>
            </a:xfrm>
            <a:custGeom>
              <a:avLst/>
              <a:gdLst/>
              <a:ahLst/>
              <a:cxnLst/>
              <a:rect l="l" t="t" r="r" b="b"/>
              <a:pathLst>
                <a:path w="55879" h="55879">
                  <a:moveTo>
                    <a:pt x="27809" y="0"/>
                  </a:moveTo>
                  <a:lnTo>
                    <a:pt x="17343" y="2024"/>
                  </a:lnTo>
                  <a:lnTo>
                    <a:pt x="8143" y="8096"/>
                  </a:lnTo>
                  <a:lnTo>
                    <a:pt x="2035" y="17319"/>
                  </a:lnTo>
                  <a:lnTo>
                    <a:pt x="0" y="27781"/>
                  </a:lnTo>
                  <a:lnTo>
                    <a:pt x="2035" y="38242"/>
                  </a:lnTo>
                  <a:lnTo>
                    <a:pt x="8143" y="47466"/>
                  </a:lnTo>
                  <a:lnTo>
                    <a:pt x="17343" y="53609"/>
                  </a:lnTo>
                  <a:lnTo>
                    <a:pt x="27809" y="55657"/>
                  </a:lnTo>
                  <a:lnTo>
                    <a:pt x="38276" y="53609"/>
                  </a:lnTo>
                  <a:lnTo>
                    <a:pt x="47475" y="47466"/>
                  </a:lnTo>
                  <a:lnTo>
                    <a:pt x="53583" y="38242"/>
                  </a:lnTo>
                  <a:lnTo>
                    <a:pt x="55619" y="27781"/>
                  </a:lnTo>
                  <a:lnTo>
                    <a:pt x="53583" y="17319"/>
                  </a:lnTo>
                  <a:lnTo>
                    <a:pt x="47475" y="8096"/>
                  </a:lnTo>
                  <a:lnTo>
                    <a:pt x="38276" y="2024"/>
                  </a:lnTo>
                  <a:lnTo>
                    <a:pt x="27809" y="0"/>
                  </a:lnTo>
                  <a:close/>
                </a:path>
              </a:pathLst>
            </a:custGeom>
            <a:solidFill>
              <a:srgbClr val="9E0A2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1313497" y="720851"/>
            <a:ext cx="4555490" cy="5440680"/>
            <a:chOff x="1313497" y="720851"/>
            <a:chExt cx="4555490" cy="544068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4107" y="720851"/>
              <a:ext cx="1194815" cy="54406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18260" y="1866899"/>
              <a:ext cx="3961129" cy="3279775"/>
            </a:xfrm>
            <a:custGeom>
              <a:avLst/>
              <a:gdLst/>
              <a:ahLst/>
              <a:cxnLst/>
              <a:rect l="l" t="t" r="r" b="b"/>
              <a:pathLst>
                <a:path w="3961129" h="3279775">
                  <a:moveTo>
                    <a:pt x="3846194" y="0"/>
                  </a:moveTo>
                  <a:lnTo>
                    <a:pt x="114681" y="0"/>
                  </a:lnTo>
                  <a:lnTo>
                    <a:pt x="70026" y="9007"/>
                  </a:lnTo>
                  <a:lnTo>
                    <a:pt x="33575" y="33575"/>
                  </a:lnTo>
                  <a:lnTo>
                    <a:pt x="9007" y="70026"/>
                  </a:lnTo>
                  <a:lnTo>
                    <a:pt x="0" y="114680"/>
                  </a:lnTo>
                  <a:lnTo>
                    <a:pt x="0" y="3164967"/>
                  </a:lnTo>
                  <a:lnTo>
                    <a:pt x="9007" y="3209621"/>
                  </a:lnTo>
                  <a:lnTo>
                    <a:pt x="33575" y="3246072"/>
                  </a:lnTo>
                  <a:lnTo>
                    <a:pt x="70026" y="3270640"/>
                  </a:lnTo>
                  <a:lnTo>
                    <a:pt x="114681" y="3279648"/>
                  </a:lnTo>
                  <a:lnTo>
                    <a:pt x="3846194" y="3279648"/>
                  </a:lnTo>
                  <a:lnTo>
                    <a:pt x="3890849" y="3270640"/>
                  </a:lnTo>
                  <a:lnTo>
                    <a:pt x="3927300" y="3246072"/>
                  </a:lnTo>
                  <a:lnTo>
                    <a:pt x="3951868" y="3209621"/>
                  </a:lnTo>
                  <a:lnTo>
                    <a:pt x="3960876" y="3164967"/>
                  </a:lnTo>
                  <a:lnTo>
                    <a:pt x="3960876" y="114680"/>
                  </a:lnTo>
                  <a:lnTo>
                    <a:pt x="3951868" y="70026"/>
                  </a:lnTo>
                  <a:lnTo>
                    <a:pt x="3927300" y="33575"/>
                  </a:lnTo>
                  <a:lnTo>
                    <a:pt x="3890849" y="9007"/>
                  </a:lnTo>
                  <a:lnTo>
                    <a:pt x="3846194" y="0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18260" y="1866899"/>
              <a:ext cx="3961129" cy="3279775"/>
            </a:xfrm>
            <a:custGeom>
              <a:avLst/>
              <a:gdLst/>
              <a:ahLst/>
              <a:cxnLst/>
              <a:rect l="l" t="t" r="r" b="b"/>
              <a:pathLst>
                <a:path w="3961129" h="3279775">
                  <a:moveTo>
                    <a:pt x="0" y="114680"/>
                  </a:moveTo>
                  <a:lnTo>
                    <a:pt x="9007" y="70026"/>
                  </a:lnTo>
                  <a:lnTo>
                    <a:pt x="33575" y="33575"/>
                  </a:lnTo>
                  <a:lnTo>
                    <a:pt x="70026" y="9007"/>
                  </a:lnTo>
                  <a:lnTo>
                    <a:pt x="114681" y="0"/>
                  </a:lnTo>
                  <a:lnTo>
                    <a:pt x="3846194" y="0"/>
                  </a:lnTo>
                  <a:lnTo>
                    <a:pt x="3890849" y="9007"/>
                  </a:lnTo>
                  <a:lnTo>
                    <a:pt x="3927300" y="33575"/>
                  </a:lnTo>
                  <a:lnTo>
                    <a:pt x="3951868" y="70026"/>
                  </a:lnTo>
                  <a:lnTo>
                    <a:pt x="3960876" y="114680"/>
                  </a:lnTo>
                  <a:lnTo>
                    <a:pt x="3960876" y="3164967"/>
                  </a:lnTo>
                  <a:lnTo>
                    <a:pt x="3951868" y="3209621"/>
                  </a:lnTo>
                  <a:lnTo>
                    <a:pt x="3927300" y="3246072"/>
                  </a:lnTo>
                  <a:lnTo>
                    <a:pt x="3890849" y="3270640"/>
                  </a:lnTo>
                  <a:lnTo>
                    <a:pt x="3846194" y="3279648"/>
                  </a:lnTo>
                  <a:lnTo>
                    <a:pt x="114681" y="3279648"/>
                  </a:lnTo>
                  <a:lnTo>
                    <a:pt x="70026" y="3270640"/>
                  </a:lnTo>
                  <a:lnTo>
                    <a:pt x="33575" y="3246072"/>
                  </a:lnTo>
                  <a:lnTo>
                    <a:pt x="9007" y="3209621"/>
                  </a:lnTo>
                  <a:lnTo>
                    <a:pt x="0" y="3164967"/>
                  </a:lnTo>
                  <a:lnTo>
                    <a:pt x="0" y="114680"/>
                  </a:lnTo>
                  <a:close/>
                </a:path>
              </a:pathLst>
            </a:custGeom>
            <a:ln w="9144">
              <a:solidFill>
                <a:srgbClr val="D5D9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6139" y="2744723"/>
              <a:ext cx="1760219" cy="21671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4188" y="2740151"/>
              <a:ext cx="1761743" cy="216408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06677" y="2012695"/>
            <a:ext cx="338582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65" b="1">
                <a:solidFill>
                  <a:srgbClr val="970F0F"/>
                </a:solidFill>
                <a:latin typeface="Tahoma"/>
                <a:cs typeface="Tahoma"/>
              </a:rPr>
              <a:t>[BWA</a:t>
            </a:r>
            <a:r>
              <a:rPr dirty="0" sz="1400" spc="-9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970F0F"/>
                </a:solidFill>
                <a:latin typeface="Tahoma"/>
                <a:cs typeface="Tahoma"/>
              </a:rPr>
              <a:t>test</a:t>
            </a:r>
            <a:r>
              <a:rPr dirty="0" sz="1400" spc="-11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95" b="1">
                <a:solidFill>
                  <a:srgbClr val="970F0F"/>
                </a:solidFill>
                <a:latin typeface="Tahoma"/>
                <a:cs typeface="Tahoma"/>
              </a:rPr>
              <a:t>room</a:t>
            </a:r>
            <a:r>
              <a:rPr dirty="0" sz="1400" spc="-120" b="1">
                <a:solidFill>
                  <a:srgbClr val="970F0F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970F0F"/>
                </a:solidFill>
                <a:latin typeface="Tahoma"/>
                <a:cs typeface="Tahoma"/>
              </a:rPr>
              <a:t>example]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80"/>
              </a:spcBef>
            </a:pPr>
            <a:r>
              <a:rPr dirty="0" sz="1400" spc="-10" b="1">
                <a:solidFill>
                  <a:srgbClr val="4A4F5A"/>
                </a:solidFill>
                <a:latin typeface="Tahoma"/>
                <a:cs typeface="Tahoma"/>
              </a:rPr>
              <a:t>BWA</a:t>
            </a:r>
            <a:r>
              <a:rPr dirty="0" sz="1400" spc="-11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45" b="1">
                <a:solidFill>
                  <a:srgbClr val="4A4F5A"/>
                </a:solidFill>
                <a:latin typeface="Tahoma"/>
                <a:cs typeface="Tahoma"/>
              </a:rPr>
              <a:t>+</a:t>
            </a:r>
            <a:r>
              <a:rPr dirty="0" sz="1400" spc="-11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4A4F5A"/>
                </a:solidFill>
                <a:latin typeface="Tahoma"/>
                <a:cs typeface="Tahoma"/>
              </a:rPr>
              <a:t>Hand</a:t>
            </a:r>
            <a:r>
              <a:rPr dirty="0" sz="1400" spc="-11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4A4F5A"/>
                </a:solidFill>
                <a:latin typeface="Tahoma"/>
                <a:cs typeface="Tahoma"/>
              </a:rPr>
              <a:t>Grip</a:t>
            </a:r>
            <a:r>
              <a:rPr dirty="0" sz="1400" spc="-135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0" b="1">
                <a:solidFill>
                  <a:srgbClr val="4A4F5A"/>
                </a:solidFill>
                <a:latin typeface="Tahoma"/>
                <a:cs typeface="Tahoma"/>
              </a:rPr>
              <a:t>Strength</a:t>
            </a:r>
            <a:r>
              <a:rPr dirty="0" sz="1400" spc="-15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345" b="1">
                <a:solidFill>
                  <a:srgbClr val="4A4F5A"/>
                </a:solidFill>
                <a:latin typeface="Tahoma"/>
                <a:cs typeface="Tahoma"/>
              </a:rPr>
              <a:t>+</a:t>
            </a:r>
            <a:r>
              <a:rPr dirty="0" sz="1400" spc="-11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4A4F5A"/>
                </a:solidFill>
                <a:latin typeface="Tahoma"/>
                <a:cs typeface="Tahoma"/>
              </a:rPr>
              <a:t>Sit</a:t>
            </a:r>
            <a:r>
              <a:rPr dirty="0" sz="1400" spc="-14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105" b="1">
                <a:solidFill>
                  <a:srgbClr val="4A4F5A"/>
                </a:solidFill>
                <a:latin typeface="Tahoma"/>
                <a:cs typeface="Tahoma"/>
              </a:rPr>
              <a:t>and</a:t>
            </a:r>
            <a:r>
              <a:rPr dirty="0" sz="1400" spc="-90" b="1">
                <a:solidFill>
                  <a:srgbClr val="4A4F5A"/>
                </a:solidFill>
                <a:latin typeface="Tahoma"/>
                <a:cs typeface="Tahoma"/>
              </a:rPr>
              <a:t> </a:t>
            </a:r>
            <a:r>
              <a:rPr dirty="0" sz="1400" spc="-40" b="1">
                <a:solidFill>
                  <a:srgbClr val="4A4F5A"/>
                </a:solidFill>
                <a:latin typeface="Tahoma"/>
                <a:cs typeface="Tahoma"/>
              </a:rPr>
              <a:t>Stand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68923" y="720851"/>
            <a:ext cx="3627120" cy="5440680"/>
            <a:chOff x="5868923" y="720851"/>
            <a:chExt cx="3627120" cy="544068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8923" y="720851"/>
              <a:ext cx="3627120" cy="54406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589519" y="947927"/>
              <a:ext cx="381000" cy="187960"/>
            </a:xfrm>
            <a:custGeom>
              <a:avLst/>
              <a:gdLst/>
              <a:ahLst/>
              <a:cxnLst/>
              <a:rect l="l" t="t" r="r" b="b"/>
              <a:pathLst>
                <a:path w="381000" h="187959">
                  <a:moveTo>
                    <a:pt x="381000" y="0"/>
                  </a:moveTo>
                  <a:lnTo>
                    <a:pt x="0" y="0"/>
                  </a:lnTo>
                  <a:lnTo>
                    <a:pt x="0" y="187451"/>
                  </a:lnTo>
                  <a:lnTo>
                    <a:pt x="381000" y="187451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77127" y="3698747"/>
              <a:ext cx="1696720" cy="250190"/>
            </a:xfrm>
            <a:custGeom>
              <a:avLst/>
              <a:gdLst/>
              <a:ahLst/>
              <a:cxnLst/>
              <a:rect l="l" t="t" r="r" b="b"/>
              <a:pathLst>
                <a:path w="1696720" h="250189">
                  <a:moveTo>
                    <a:pt x="1654555" y="0"/>
                  </a:moveTo>
                  <a:lnTo>
                    <a:pt x="41656" y="0"/>
                  </a:lnTo>
                  <a:lnTo>
                    <a:pt x="25449" y="3276"/>
                  </a:lnTo>
                  <a:lnTo>
                    <a:pt x="12207" y="12207"/>
                  </a:lnTo>
                  <a:lnTo>
                    <a:pt x="3276" y="25449"/>
                  </a:lnTo>
                  <a:lnTo>
                    <a:pt x="0" y="41656"/>
                  </a:lnTo>
                  <a:lnTo>
                    <a:pt x="0" y="208279"/>
                  </a:lnTo>
                  <a:lnTo>
                    <a:pt x="3276" y="224486"/>
                  </a:lnTo>
                  <a:lnTo>
                    <a:pt x="12207" y="237728"/>
                  </a:lnTo>
                  <a:lnTo>
                    <a:pt x="25449" y="246659"/>
                  </a:lnTo>
                  <a:lnTo>
                    <a:pt x="41656" y="249935"/>
                  </a:lnTo>
                  <a:lnTo>
                    <a:pt x="1654555" y="249935"/>
                  </a:lnTo>
                  <a:lnTo>
                    <a:pt x="1670762" y="246659"/>
                  </a:lnTo>
                  <a:lnTo>
                    <a:pt x="1684004" y="237728"/>
                  </a:lnTo>
                  <a:lnTo>
                    <a:pt x="1692935" y="224486"/>
                  </a:lnTo>
                  <a:lnTo>
                    <a:pt x="1696212" y="208279"/>
                  </a:lnTo>
                  <a:lnTo>
                    <a:pt x="1696212" y="41656"/>
                  </a:lnTo>
                  <a:lnTo>
                    <a:pt x="1692935" y="25449"/>
                  </a:lnTo>
                  <a:lnTo>
                    <a:pt x="1684004" y="12207"/>
                  </a:lnTo>
                  <a:lnTo>
                    <a:pt x="1670762" y="3276"/>
                  </a:lnTo>
                  <a:lnTo>
                    <a:pt x="1654555" y="0"/>
                  </a:lnTo>
                  <a:close/>
                </a:path>
              </a:pathLst>
            </a:custGeom>
            <a:solidFill>
              <a:srgbClr val="9100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77127" y="3698747"/>
              <a:ext cx="1696720" cy="250190"/>
            </a:xfrm>
            <a:custGeom>
              <a:avLst/>
              <a:gdLst/>
              <a:ahLst/>
              <a:cxnLst/>
              <a:rect l="l" t="t" r="r" b="b"/>
              <a:pathLst>
                <a:path w="1696720" h="250189">
                  <a:moveTo>
                    <a:pt x="0" y="41656"/>
                  </a:moveTo>
                  <a:lnTo>
                    <a:pt x="3276" y="25449"/>
                  </a:lnTo>
                  <a:lnTo>
                    <a:pt x="12207" y="12207"/>
                  </a:lnTo>
                  <a:lnTo>
                    <a:pt x="25449" y="3276"/>
                  </a:lnTo>
                  <a:lnTo>
                    <a:pt x="41656" y="0"/>
                  </a:lnTo>
                  <a:lnTo>
                    <a:pt x="1654555" y="0"/>
                  </a:lnTo>
                  <a:lnTo>
                    <a:pt x="1670762" y="3276"/>
                  </a:lnTo>
                  <a:lnTo>
                    <a:pt x="1684004" y="12207"/>
                  </a:lnTo>
                  <a:lnTo>
                    <a:pt x="1692935" y="25449"/>
                  </a:lnTo>
                  <a:lnTo>
                    <a:pt x="1696212" y="41656"/>
                  </a:lnTo>
                  <a:lnTo>
                    <a:pt x="1696212" y="208279"/>
                  </a:lnTo>
                  <a:lnTo>
                    <a:pt x="1692935" y="224486"/>
                  </a:lnTo>
                  <a:lnTo>
                    <a:pt x="1684004" y="237728"/>
                  </a:lnTo>
                  <a:lnTo>
                    <a:pt x="1670762" y="246659"/>
                  </a:lnTo>
                  <a:lnTo>
                    <a:pt x="1654555" y="249935"/>
                  </a:lnTo>
                  <a:lnTo>
                    <a:pt x="41656" y="249935"/>
                  </a:lnTo>
                  <a:lnTo>
                    <a:pt x="25449" y="246659"/>
                  </a:lnTo>
                  <a:lnTo>
                    <a:pt x="12207" y="237728"/>
                  </a:lnTo>
                  <a:lnTo>
                    <a:pt x="3276" y="224486"/>
                  </a:lnTo>
                  <a:lnTo>
                    <a:pt x="0" y="208279"/>
                  </a:lnTo>
                  <a:lnTo>
                    <a:pt x="0" y="4165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881115" y="1208532"/>
            <a:ext cx="3545204" cy="498475"/>
          </a:xfrm>
          <a:prstGeom prst="rect">
            <a:avLst/>
          </a:prstGeom>
          <a:solidFill>
            <a:srgbClr val="F3F3F3"/>
          </a:solidFill>
          <a:ln w="12192">
            <a:solidFill>
              <a:srgbClr val="F3F3F3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Times New Roman"/>
              <a:cs typeface="Times New Roman"/>
            </a:endParaRPr>
          </a:p>
          <a:p>
            <a:pPr marL="274955">
              <a:lnSpc>
                <a:spcPct val="100000"/>
              </a:lnSpc>
            </a:pPr>
            <a:r>
              <a:rPr dirty="0" sz="1100" spc="-80" b="1">
                <a:solidFill>
                  <a:srgbClr val="1DB5A6"/>
                </a:solidFill>
                <a:latin typeface="Tahoma"/>
                <a:cs typeface="Tahoma"/>
              </a:rPr>
              <a:t>Beginning</a:t>
            </a:r>
            <a:r>
              <a:rPr dirty="0" sz="1100" spc="-70" b="1">
                <a:solidFill>
                  <a:srgbClr val="1DB5A6"/>
                </a:solidFill>
                <a:latin typeface="Tahoma"/>
                <a:cs typeface="Tahoma"/>
              </a:rPr>
              <a:t> </a:t>
            </a:r>
            <a:r>
              <a:rPr dirty="0" sz="1100" spc="-55" b="1">
                <a:solidFill>
                  <a:srgbClr val="1DB5A6"/>
                </a:solidFill>
                <a:latin typeface="Tahoma"/>
                <a:cs typeface="Tahoma"/>
              </a:rPr>
              <a:t>of</a:t>
            </a:r>
            <a:r>
              <a:rPr dirty="0" sz="1100" spc="-65" b="1">
                <a:solidFill>
                  <a:srgbClr val="1DB5A6"/>
                </a:solidFill>
                <a:latin typeface="Tahoma"/>
                <a:cs typeface="Tahoma"/>
              </a:rPr>
              <a:t> </a:t>
            </a:r>
            <a:r>
              <a:rPr dirty="0" sz="1100" spc="-45" b="1">
                <a:solidFill>
                  <a:srgbClr val="1DB5A6"/>
                </a:solidFill>
                <a:latin typeface="Tahoma"/>
                <a:cs typeface="Tahoma"/>
              </a:rPr>
              <a:t>Cell</a:t>
            </a:r>
            <a:r>
              <a:rPr dirty="0" sz="1100" spc="-70" b="1">
                <a:solidFill>
                  <a:srgbClr val="1DB5A6"/>
                </a:solidFill>
                <a:latin typeface="Tahoma"/>
                <a:cs typeface="Tahoma"/>
              </a:rPr>
              <a:t> </a:t>
            </a:r>
            <a:r>
              <a:rPr dirty="0" sz="1100" spc="-100" b="1">
                <a:solidFill>
                  <a:srgbClr val="1DB5A6"/>
                </a:solidFill>
                <a:latin typeface="Tahoma"/>
                <a:cs typeface="Tahoma"/>
              </a:rPr>
              <a:t>Immunity</a:t>
            </a:r>
            <a:r>
              <a:rPr dirty="0" sz="1100" spc="-60" b="1">
                <a:solidFill>
                  <a:srgbClr val="1DB5A6"/>
                </a:solidFill>
                <a:latin typeface="Tahoma"/>
                <a:cs typeface="Tahoma"/>
              </a:rPr>
              <a:t> </a:t>
            </a:r>
            <a:r>
              <a:rPr dirty="0" sz="1100" spc="-55" b="1">
                <a:solidFill>
                  <a:srgbClr val="1DB5A6"/>
                </a:solidFill>
                <a:latin typeface="Tahoma"/>
                <a:cs typeface="Tahoma"/>
              </a:rPr>
              <a:t>Nutrition</a:t>
            </a:r>
            <a:r>
              <a:rPr dirty="0" sz="1100" spc="-95" b="1">
                <a:solidFill>
                  <a:srgbClr val="1DB5A6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DB5A6"/>
                </a:solidFill>
                <a:latin typeface="Tahoma"/>
                <a:cs typeface="Tahoma"/>
              </a:rPr>
              <a:t>Evaluation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920230" y="1714245"/>
            <a:ext cx="817880" cy="304165"/>
            <a:chOff x="6920230" y="1714245"/>
            <a:chExt cx="817880" cy="304165"/>
          </a:xfrm>
        </p:grpSpPr>
        <p:sp>
          <p:nvSpPr>
            <p:cNvPr id="74" name="object 74"/>
            <p:cNvSpPr/>
            <p:nvPr/>
          </p:nvSpPr>
          <p:spPr>
            <a:xfrm>
              <a:off x="6926580" y="1720595"/>
              <a:ext cx="805180" cy="291465"/>
            </a:xfrm>
            <a:custGeom>
              <a:avLst/>
              <a:gdLst/>
              <a:ahLst/>
              <a:cxnLst/>
              <a:rect l="l" t="t" r="r" b="b"/>
              <a:pathLst>
                <a:path w="805179" h="291464">
                  <a:moveTo>
                    <a:pt x="804672" y="0"/>
                  </a:moveTo>
                  <a:lnTo>
                    <a:pt x="0" y="0"/>
                  </a:lnTo>
                  <a:lnTo>
                    <a:pt x="0" y="291084"/>
                  </a:lnTo>
                  <a:lnTo>
                    <a:pt x="804672" y="291084"/>
                  </a:lnTo>
                  <a:lnTo>
                    <a:pt x="804672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926580" y="1720595"/>
              <a:ext cx="805180" cy="291465"/>
            </a:xfrm>
            <a:custGeom>
              <a:avLst/>
              <a:gdLst/>
              <a:ahLst/>
              <a:cxnLst/>
              <a:rect l="l" t="t" r="r" b="b"/>
              <a:pathLst>
                <a:path w="805179" h="291464">
                  <a:moveTo>
                    <a:pt x="0" y="291084"/>
                  </a:moveTo>
                  <a:lnTo>
                    <a:pt x="804672" y="291084"/>
                  </a:lnTo>
                  <a:lnTo>
                    <a:pt x="804672" y="0"/>
                  </a:lnTo>
                  <a:lnTo>
                    <a:pt x="0" y="0"/>
                  </a:lnTo>
                  <a:lnTo>
                    <a:pt x="0" y="291084"/>
                  </a:lnTo>
                  <a:close/>
                </a:path>
              </a:pathLst>
            </a:custGeom>
            <a:ln w="12192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6280784" y="1770633"/>
            <a:ext cx="137096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60" b="1">
                <a:solidFill>
                  <a:srgbClr val="91001F"/>
                </a:solidFill>
                <a:latin typeface="Tahoma"/>
                <a:cs typeface="Tahoma"/>
              </a:rPr>
              <a:t>Body</a:t>
            </a:r>
            <a:r>
              <a:rPr dirty="0" sz="1100" spc="-95" b="1">
                <a:solidFill>
                  <a:srgbClr val="91001F"/>
                </a:solidFill>
                <a:latin typeface="Tahoma"/>
                <a:cs typeface="Tahoma"/>
              </a:rPr>
              <a:t> </a:t>
            </a:r>
            <a:r>
              <a:rPr dirty="0" sz="1100" spc="-45" b="1">
                <a:solidFill>
                  <a:srgbClr val="91001F"/>
                </a:solidFill>
                <a:latin typeface="Tahoma"/>
                <a:cs typeface="Tahoma"/>
              </a:rPr>
              <a:t>Water</a:t>
            </a:r>
            <a:r>
              <a:rPr dirty="0" sz="1100" spc="-85" b="1">
                <a:solidFill>
                  <a:srgbClr val="91001F"/>
                </a:solidFill>
                <a:latin typeface="Tahoma"/>
                <a:cs typeface="Tahoma"/>
              </a:rPr>
              <a:t> </a:t>
            </a:r>
            <a:r>
              <a:rPr dirty="0" sz="1100" spc="-40" b="1">
                <a:solidFill>
                  <a:srgbClr val="91001F"/>
                </a:solidFill>
                <a:latin typeface="Tahoma"/>
                <a:cs typeface="Tahoma"/>
              </a:rPr>
              <a:t>Analyzer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547859" y="720851"/>
            <a:ext cx="1813560" cy="5440680"/>
            <a:chOff x="9547859" y="720851"/>
            <a:chExt cx="1813560" cy="544068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47859" y="720851"/>
              <a:ext cx="1813559" cy="54406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402823" y="839723"/>
              <a:ext cx="287020" cy="184785"/>
            </a:xfrm>
            <a:custGeom>
              <a:avLst/>
              <a:gdLst/>
              <a:ahLst/>
              <a:cxnLst/>
              <a:rect l="l" t="t" r="r" b="b"/>
              <a:pathLst>
                <a:path w="287020" h="184784">
                  <a:moveTo>
                    <a:pt x="286511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286511" y="184403"/>
                  </a:lnTo>
                  <a:lnTo>
                    <a:pt x="286511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128503" y="3799331"/>
              <a:ext cx="833755" cy="512445"/>
            </a:xfrm>
            <a:custGeom>
              <a:avLst/>
              <a:gdLst/>
              <a:ahLst/>
              <a:cxnLst/>
              <a:rect l="l" t="t" r="r" b="b"/>
              <a:pathLst>
                <a:path w="833754" h="512445">
                  <a:moveTo>
                    <a:pt x="833627" y="0"/>
                  </a:moveTo>
                  <a:lnTo>
                    <a:pt x="0" y="0"/>
                  </a:lnTo>
                  <a:lnTo>
                    <a:pt x="0" y="512064"/>
                  </a:lnTo>
                  <a:lnTo>
                    <a:pt x="833627" y="512064"/>
                  </a:lnTo>
                  <a:lnTo>
                    <a:pt x="833627" y="0"/>
                  </a:lnTo>
                  <a:close/>
                </a:path>
              </a:pathLst>
            </a:custGeom>
            <a:solidFill>
              <a:srgbClr val="1DB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666731" y="4338828"/>
              <a:ext cx="1531620" cy="173990"/>
            </a:xfrm>
            <a:custGeom>
              <a:avLst/>
              <a:gdLst/>
              <a:ahLst/>
              <a:cxnLst/>
              <a:rect l="l" t="t" r="r" b="b"/>
              <a:pathLst>
                <a:path w="1531620" h="173989">
                  <a:moveTo>
                    <a:pt x="1502664" y="0"/>
                  </a:moveTo>
                  <a:lnTo>
                    <a:pt x="28956" y="0"/>
                  </a:lnTo>
                  <a:lnTo>
                    <a:pt x="17680" y="2274"/>
                  </a:lnTo>
                  <a:lnTo>
                    <a:pt x="8477" y="8477"/>
                  </a:lnTo>
                  <a:lnTo>
                    <a:pt x="2274" y="17680"/>
                  </a:lnTo>
                  <a:lnTo>
                    <a:pt x="0" y="28956"/>
                  </a:lnTo>
                  <a:lnTo>
                    <a:pt x="0" y="144780"/>
                  </a:lnTo>
                  <a:lnTo>
                    <a:pt x="2274" y="156055"/>
                  </a:lnTo>
                  <a:lnTo>
                    <a:pt x="8477" y="165258"/>
                  </a:lnTo>
                  <a:lnTo>
                    <a:pt x="17680" y="171461"/>
                  </a:lnTo>
                  <a:lnTo>
                    <a:pt x="28956" y="173736"/>
                  </a:lnTo>
                  <a:lnTo>
                    <a:pt x="1502664" y="173736"/>
                  </a:lnTo>
                  <a:lnTo>
                    <a:pt x="1513939" y="171461"/>
                  </a:lnTo>
                  <a:lnTo>
                    <a:pt x="1523142" y="165258"/>
                  </a:lnTo>
                  <a:lnTo>
                    <a:pt x="1529345" y="156055"/>
                  </a:lnTo>
                  <a:lnTo>
                    <a:pt x="1531620" y="144780"/>
                  </a:lnTo>
                  <a:lnTo>
                    <a:pt x="1531620" y="28956"/>
                  </a:lnTo>
                  <a:lnTo>
                    <a:pt x="1529345" y="17680"/>
                  </a:lnTo>
                  <a:lnTo>
                    <a:pt x="1523142" y="8477"/>
                  </a:lnTo>
                  <a:lnTo>
                    <a:pt x="1513939" y="2274"/>
                  </a:lnTo>
                  <a:lnTo>
                    <a:pt x="1502664" y="0"/>
                  </a:lnTo>
                  <a:close/>
                </a:path>
              </a:pathLst>
            </a:custGeom>
            <a:solidFill>
              <a:srgbClr val="9100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666731" y="4338828"/>
              <a:ext cx="1531620" cy="173990"/>
            </a:xfrm>
            <a:custGeom>
              <a:avLst/>
              <a:gdLst/>
              <a:ahLst/>
              <a:cxnLst/>
              <a:rect l="l" t="t" r="r" b="b"/>
              <a:pathLst>
                <a:path w="1531620" h="173989">
                  <a:moveTo>
                    <a:pt x="0" y="28956"/>
                  </a:moveTo>
                  <a:lnTo>
                    <a:pt x="2274" y="17680"/>
                  </a:lnTo>
                  <a:lnTo>
                    <a:pt x="8477" y="8477"/>
                  </a:lnTo>
                  <a:lnTo>
                    <a:pt x="17680" y="2274"/>
                  </a:lnTo>
                  <a:lnTo>
                    <a:pt x="28956" y="0"/>
                  </a:lnTo>
                  <a:lnTo>
                    <a:pt x="1502664" y="0"/>
                  </a:lnTo>
                  <a:lnTo>
                    <a:pt x="1513939" y="2274"/>
                  </a:lnTo>
                  <a:lnTo>
                    <a:pt x="1523142" y="8477"/>
                  </a:lnTo>
                  <a:lnTo>
                    <a:pt x="1529345" y="17680"/>
                  </a:lnTo>
                  <a:lnTo>
                    <a:pt x="1531620" y="28956"/>
                  </a:lnTo>
                  <a:lnTo>
                    <a:pt x="1531620" y="144780"/>
                  </a:lnTo>
                  <a:lnTo>
                    <a:pt x="1529345" y="156055"/>
                  </a:lnTo>
                  <a:lnTo>
                    <a:pt x="1523142" y="165258"/>
                  </a:lnTo>
                  <a:lnTo>
                    <a:pt x="1513939" y="171461"/>
                  </a:lnTo>
                  <a:lnTo>
                    <a:pt x="1502664" y="173736"/>
                  </a:lnTo>
                  <a:lnTo>
                    <a:pt x="28956" y="173736"/>
                  </a:lnTo>
                  <a:lnTo>
                    <a:pt x="17680" y="171461"/>
                  </a:lnTo>
                  <a:lnTo>
                    <a:pt x="8477" y="165258"/>
                  </a:lnTo>
                  <a:lnTo>
                    <a:pt x="2274" y="156055"/>
                  </a:lnTo>
                  <a:lnTo>
                    <a:pt x="0" y="144780"/>
                  </a:lnTo>
                  <a:lnTo>
                    <a:pt x="0" y="28956"/>
                  </a:lnTo>
                  <a:close/>
                </a:path>
              </a:pathLst>
            </a:custGeom>
            <a:ln w="12191">
              <a:solidFill>
                <a:srgbClr val="1DB5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9660381" y="2727705"/>
            <a:ext cx="1544320" cy="250825"/>
            <a:chOff x="9660381" y="2727705"/>
            <a:chExt cx="1544320" cy="250825"/>
          </a:xfrm>
        </p:grpSpPr>
        <p:sp>
          <p:nvSpPr>
            <p:cNvPr id="38" name="object 38"/>
            <p:cNvSpPr/>
            <p:nvPr/>
          </p:nvSpPr>
          <p:spPr>
            <a:xfrm>
              <a:off x="9666731" y="2734055"/>
              <a:ext cx="1531620" cy="238125"/>
            </a:xfrm>
            <a:custGeom>
              <a:avLst/>
              <a:gdLst/>
              <a:ahLst/>
              <a:cxnLst/>
              <a:rect l="l" t="t" r="r" b="b"/>
              <a:pathLst>
                <a:path w="1531620" h="238125">
                  <a:moveTo>
                    <a:pt x="1491996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198120"/>
                  </a:lnTo>
                  <a:lnTo>
                    <a:pt x="3119" y="213526"/>
                  </a:lnTo>
                  <a:lnTo>
                    <a:pt x="11620" y="226123"/>
                  </a:lnTo>
                  <a:lnTo>
                    <a:pt x="24217" y="234624"/>
                  </a:lnTo>
                  <a:lnTo>
                    <a:pt x="39624" y="237744"/>
                  </a:lnTo>
                  <a:lnTo>
                    <a:pt x="1491996" y="237744"/>
                  </a:lnTo>
                  <a:lnTo>
                    <a:pt x="1507402" y="234624"/>
                  </a:lnTo>
                  <a:lnTo>
                    <a:pt x="1519999" y="226123"/>
                  </a:lnTo>
                  <a:lnTo>
                    <a:pt x="1528500" y="213526"/>
                  </a:lnTo>
                  <a:lnTo>
                    <a:pt x="1531620" y="198120"/>
                  </a:lnTo>
                  <a:lnTo>
                    <a:pt x="1531620" y="39624"/>
                  </a:lnTo>
                  <a:lnTo>
                    <a:pt x="1528500" y="24217"/>
                  </a:lnTo>
                  <a:lnTo>
                    <a:pt x="1519999" y="11620"/>
                  </a:lnTo>
                  <a:lnTo>
                    <a:pt x="1507402" y="3119"/>
                  </a:lnTo>
                  <a:lnTo>
                    <a:pt x="1491996" y="0"/>
                  </a:lnTo>
                  <a:close/>
                </a:path>
              </a:pathLst>
            </a:custGeom>
            <a:solidFill>
              <a:srgbClr val="9100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666731" y="2734055"/>
              <a:ext cx="1531620" cy="238125"/>
            </a:xfrm>
            <a:custGeom>
              <a:avLst/>
              <a:gdLst/>
              <a:ahLst/>
              <a:cxnLst/>
              <a:rect l="l" t="t" r="r" b="b"/>
              <a:pathLst>
                <a:path w="1531620" h="238125">
                  <a:moveTo>
                    <a:pt x="0" y="39624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491996" y="0"/>
                  </a:lnTo>
                  <a:lnTo>
                    <a:pt x="1507402" y="3119"/>
                  </a:lnTo>
                  <a:lnTo>
                    <a:pt x="1519999" y="11620"/>
                  </a:lnTo>
                  <a:lnTo>
                    <a:pt x="1528500" y="24217"/>
                  </a:lnTo>
                  <a:lnTo>
                    <a:pt x="1531620" y="39624"/>
                  </a:lnTo>
                  <a:lnTo>
                    <a:pt x="1531620" y="198120"/>
                  </a:lnTo>
                  <a:lnTo>
                    <a:pt x="1528500" y="213526"/>
                  </a:lnTo>
                  <a:lnTo>
                    <a:pt x="1519999" y="226123"/>
                  </a:lnTo>
                  <a:lnTo>
                    <a:pt x="1507402" y="234624"/>
                  </a:lnTo>
                  <a:lnTo>
                    <a:pt x="1491996" y="237744"/>
                  </a:lnTo>
                  <a:lnTo>
                    <a:pt x="39624" y="237744"/>
                  </a:lnTo>
                  <a:lnTo>
                    <a:pt x="24217" y="234624"/>
                  </a:lnTo>
                  <a:lnTo>
                    <a:pt x="11620" y="226123"/>
                  </a:lnTo>
                  <a:lnTo>
                    <a:pt x="3119" y="213526"/>
                  </a:lnTo>
                  <a:lnTo>
                    <a:pt x="0" y="198120"/>
                  </a:lnTo>
                  <a:lnTo>
                    <a:pt x="0" y="39624"/>
                  </a:lnTo>
                  <a:close/>
                </a:path>
              </a:pathLst>
            </a:custGeom>
            <a:ln w="12192">
              <a:solidFill>
                <a:srgbClr val="1DB5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9854945" y="2747898"/>
            <a:ext cx="1156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 marR="5080" indent="-139065">
              <a:lnSpc>
                <a:spcPct val="100000"/>
              </a:lnSpc>
              <a:spcBef>
                <a:spcPts val="100"/>
              </a:spcBef>
            </a:pPr>
            <a:r>
              <a:rPr dirty="0" sz="600" spc="-10" b="1">
                <a:solidFill>
                  <a:srgbClr val="FFFFFF"/>
                </a:solidFill>
                <a:latin typeface="Tahoma"/>
                <a:cs typeface="Tahoma"/>
              </a:rPr>
              <a:t>BWA</a:t>
            </a:r>
            <a:r>
              <a:rPr dirty="0" sz="6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55" b="1">
                <a:solidFill>
                  <a:srgbClr val="FFFFFF"/>
                </a:solidFill>
                <a:latin typeface="Tahoma"/>
                <a:cs typeface="Tahoma"/>
              </a:rPr>
              <a:t>2.0</a:t>
            </a:r>
            <a:r>
              <a:rPr dirty="0" sz="600" spc="-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45" b="1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dirty="0" sz="6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40" b="1">
                <a:solidFill>
                  <a:srgbClr val="FFFFFF"/>
                </a:solidFill>
                <a:latin typeface="Tahoma"/>
                <a:cs typeface="Tahoma"/>
              </a:rPr>
              <a:t>Health</a:t>
            </a:r>
            <a:r>
              <a:rPr dirty="0" sz="6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40" b="1">
                <a:solidFill>
                  <a:srgbClr val="FFFFFF"/>
                </a:solidFill>
                <a:latin typeface="Tahoma"/>
                <a:cs typeface="Tahoma"/>
              </a:rPr>
              <a:t>Technology</a:t>
            </a:r>
            <a:r>
              <a:rPr dirty="0" sz="600" spc="5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40" b="1">
                <a:solidFill>
                  <a:srgbClr val="FFFFFF"/>
                </a:solidFill>
                <a:latin typeface="Tahoma"/>
                <a:cs typeface="Tahoma"/>
              </a:rPr>
              <a:t>Approved</a:t>
            </a:r>
            <a:r>
              <a:rPr dirty="0" sz="6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75" b="1">
                <a:solidFill>
                  <a:srgbClr val="FFFFFF"/>
                </a:solidFill>
                <a:latin typeface="Tahoma"/>
                <a:cs typeface="Tahoma"/>
              </a:rPr>
              <a:t>*No.</a:t>
            </a:r>
            <a:r>
              <a:rPr dirty="0" sz="600" spc="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50" b="1">
                <a:solidFill>
                  <a:srgbClr val="FFFFFF"/>
                </a:solidFill>
                <a:latin typeface="Tahoma"/>
                <a:cs typeface="Tahoma"/>
              </a:rPr>
              <a:t>2021-</a:t>
            </a:r>
            <a:r>
              <a:rPr dirty="0" sz="600" spc="-25" b="1">
                <a:solidFill>
                  <a:srgbClr val="FFFFFF"/>
                </a:solidFill>
                <a:latin typeface="Tahoma"/>
                <a:cs typeface="Tahoma"/>
              </a:rPr>
              <a:t>218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084819" y="2971800"/>
            <a:ext cx="1130935" cy="680085"/>
          </a:xfrm>
          <a:custGeom>
            <a:avLst/>
            <a:gdLst/>
            <a:ahLst/>
            <a:cxnLst/>
            <a:rect l="l" t="t" r="r" b="b"/>
            <a:pathLst>
              <a:path w="1130934" h="680085">
                <a:moveTo>
                  <a:pt x="1130807" y="0"/>
                </a:moveTo>
                <a:lnTo>
                  <a:pt x="0" y="0"/>
                </a:lnTo>
                <a:lnTo>
                  <a:pt x="0" y="679704"/>
                </a:lnTo>
                <a:lnTo>
                  <a:pt x="1130807" y="679704"/>
                </a:lnTo>
                <a:lnTo>
                  <a:pt x="1130807" y="0"/>
                </a:lnTo>
                <a:close/>
              </a:path>
            </a:pathLst>
          </a:custGeom>
          <a:solidFill>
            <a:srgbClr val="1DB5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8051038" y="2984068"/>
            <a:ext cx="1130300" cy="64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800"/>
              </a:lnSpc>
              <a:spcBef>
                <a:spcPts val="100"/>
              </a:spcBef>
            </a:pPr>
            <a:r>
              <a:rPr dirty="0" sz="650">
                <a:solidFill>
                  <a:srgbClr val="FFFFFF"/>
                </a:solidFill>
                <a:latin typeface="Tahoma"/>
                <a:cs typeface="Tahoma"/>
              </a:rPr>
              <a:t>Cell</a:t>
            </a:r>
            <a:r>
              <a:rPr dirty="0" sz="65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">
                <a:solidFill>
                  <a:srgbClr val="FFFFFF"/>
                </a:solidFill>
                <a:latin typeface="Tahoma"/>
                <a:cs typeface="Tahoma"/>
              </a:rPr>
              <a:t>Membrane</a:t>
            </a:r>
            <a:r>
              <a:rPr dirty="0" sz="6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Tahoma"/>
                <a:cs typeface="Tahoma"/>
              </a:rPr>
              <a:t>Immunity</a:t>
            </a:r>
            <a:r>
              <a:rPr dirty="0" sz="65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r>
              <a:rPr dirty="0" sz="650" spc="5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">
                <a:solidFill>
                  <a:srgbClr val="FFFFFF"/>
                </a:solidFill>
                <a:latin typeface="Tahoma"/>
                <a:cs typeface="Tahoma"/>
              </a:rPr>
              <a:t>Intracellular</a:t>
            </a:r>
            <a:r>
              <a:rPr dirty="0" sz="65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" spc="10">
                <a:solidFill>
                  <a:srgbClr val="FFFFFF"/>
                </a:solidFill>
                <a:latin typeface="Tahoma"/>
                <a:cs typeface="Tahoma"/>
              </a:rPr>
              <a:t>Nutrition</a:t>
            </a:r>
            <a:r>
              <a:rPr dirty="0" sz="65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550">
                <a:solidFill>
                  <a:srgbClr val="FFFFFF"/>
                </a:solidFill>
                <a:latin typeface="Tahoma"/>
                <a:cs typeface="Tahoma"/>
              </a:rPr>
              <a:t>Body</a:t>
            </a:r>
            <a:r>
              <a:rPr dirty="0" sz="55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50">
                <a:solidFill>
                  <a:srgbClr val="FFFFFF"/>
                </a:solidFill>
                <a:latin typeface="Tahoma"/>
                <a:cs typeface="Tahoma"/>
              </a:rPr>
              <a:t>Water</a:t>
            </a:r>
            <a:r>
              <a:rPr dirty="0" sz="550" spc="-10">
                <a:solidFill>
                  <a:srgbClr val="FFFFFF"/>
                </a:solidFill>
                <a:latin typeface="Tahoma"/>
                <a:cs typeface="Tahoma"/>
              </a:rPr>
              <a:t> Balance(Edema)</a:t>
            </a:r>
            <a:r>
              <a:rPr dirty="0" sz="55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Tahoma"/>
                <a:cs typeface="Tahoma"/>
              </a:rPr>
              <a:t>Check</a:t>
            </a:r>
            <a:endParaRPr sz="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650" spc="-10">
                <a:solidFill>
                  <a:srgbClr val="FFFFFF"/>
                </a:solidFill>
                <a:latin typeface="Tahoma"/>
                <a:cs typeface="Tahoma"/>
              </a:rPr>
              <a:t>Sarcopenia</a:t>
            </a:r>
            <a:r>
              <a:rPr dirty="0" sz="6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Tahoma"/>
                <a:cs typeface="Tahoma"/>
              </a:rPr>
              <a:t>Diagnosis</a:t>
            </a:r>
            <a:endParaRPr sz="6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77128" y="3698747"/>
            <a:ext cx="1696720" cy="25019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600" spc="-10" b="1">
                <a:solidFill>
                  <a:srgbClr val="FFFFFF"/>
                </a:solidFill>
                <a:latin typeface="Tahoma"/>
                <a:cs typeface="Tahoma"/>
              </a:rPr>
              <a:t>BWA</a:t>
            </a:r>
            <a:r>
              <a:rPr dirty="0" sz="600" spc="-55" b="1">
                <a:solidFill>
                  <a:srgbClr val="FFFFFF"/>
                </a:solidFill>
                <a:latin typeface="Tahoma"/>
                <a:cs typeface="Tahoma"/>
              </a:rPr>
              <a:t> 2.0</a:t>
            </a:r>
            <a:r>
              <a:rPr dirty="0" sz="6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45" b="1">
                <a:solidFill>
                  <a:srgbClr val="FFFFFF"/>
                </a:solidFill>
                <a:latin typeface="Tahoma"/>
                <a:cs typeface="Tahoma"/>
              </a:rPr>
              <a:t>New </a:t>
            </a:r>
            <a:r>
              <a:rPr dirty="0" sz="600" spc="-40" b="1">
                <a:solidFill>
                  <a:srgbClr val="FFFFFF"/>
                </a:solidFill>
                <a:latin typeface="Tahoma"/>
                <a:cs typeface="Tahoma"/>
              </a:rPr>
              <a:t>Health</a:t>
            </a:r>
            <a:r>
              <a:rPr dirty="0" sz="6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40" b="1">
                <a:solidFill>
                  <a:srgbClr val="FFFFFF"/>
                </a:solidFill>
                <a:latin typeface="Tahoma"/>
                <a:cs typeface="Tahoma"/>
              </a:rPr>
              <a:t>Technology</a:t>
            </a:r>
            <a:r>
              <a:rPr dirty="0" sz="600" spc="-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Tahoma"/>
                <a:cs typeface="Tahoma"/>
              </a:rPr>
              <a:t>Approved</a:t>
            </a:r>
            <a:endParaRPr sz="6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</a:pPr>
            <a:r>
              <a:rPr dirty="0" sz="600" spc="-75" b="1">
                <a:solidFill>
                  <a:srgbClr val="FFFFFF"/>
                </a:solidFill>
                <a:latin typeface="Tahoma"/>
                <a:cs typeface="Tahoma"/>
              </a:rPr>
              <a:t>*No.</a:t>
            </a:r>
            <a:r>
              <a:rPr dirty="0" sz="600" spc="-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50" b="1">
                <a:solidFill>
                  <a:srgbClr val="FFFFFF"/>
                </a:solidFill>
                <a:latin typeface="Tahoma"/>
                <a:cs typeface="Tahoma"/>
              </a:rPr>
              <a:t>2021-</a:t>
            </a:r>
            <a:r>
              <a:rPr dirty="0" sz="600" spc="-25" b="1">
                <a:solidFill>
                  <a:srgbClr val="FFFFFF"/>
                </a:solidFill>
                <a:latin typeface="Tahoma"/>
                <a:cs typeface="Tahoma"/>
              </a:rPr>
              <a:t>218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724902" y="3693921"/>
            <a:ext cx="1628139" cy="259715"/>
            <a:chOff x="7724902" y="3693921"/>
            <a:chExt cx="1628139" cy="259715"/>
          </a:xfrm>
        </p:grpSpPr>
        <p:sp>
          <p:nvSpPr>
            <p:cNvPr id="32" name="object 32"/>
            <p:cNvSpPr/>
            <p:nvPr/>
          </p:nvSpPr>
          <p:spPr>
            <a:xfrm>
              <a:off x="7731252" y="3700271"/>
              <a:ext cx="1615440" cy="247015"/>
            </a:xfrm>
            <a:custGeom>
              <a:avLst/>
              <a:gdLst/>
              <a:ahLst/>
              <a:cxnLst/>
              <a:rect l="l" t="t" r="r" b="b"/>
              <a:pathLst>
                <a:path w="1615440" h="247014">
                  <a:moveTo>
                    <a:pt x="1574292" y="0"/>
                  </a:moveTo>
                  <a:lnTo>
                    <a:pt x="41148" y="0"/>
                  </a:lnTo>
                  <a:lnTo>
                    <a:pt x="25128" y="3232"/>
                  </a:lnTo>
                  <a:lnTo>
                    <a:pt x="12049" y="12049"/>
                  </a:lnTo>
                  <a:lnTo>
                    <a:pt x="3232" y="25128"/>
                  </a:lnTo>
                  <a:lnTo>
                    <a:pt x="0" y="41147"/>
                  </a:lnTo>
                  <a:lnTo>
                    <a:pt x="0" y="205739"/>
                  </a:lnTo>
                  <a:lnTo>
                    <a:pt x="3232" y="221759"/>
                  </a:lnTo>
                  <a:lnTo>
                    <a:pt x="12049" y="234838"/>
                  </a:lnTo>
                  <a:lnTo>
                    <a:pt x="25128" y="243655"/>
                  </a:lnTo>
                  <a:lnTo>
                    <a:pt x="41148" y="246887"/>
                  </a:lnTo>
                  <a:lnTo>
                    <a:pt x="1574292" y="246887"/>
                  </a:lnTo>
                  <a:lnTo>
                    <a:pt x="1590311" y="243655"/>
                  </a:lnTo>
                  <a:lnTo>
                    <a:pt x="1603390" y="234838"/>
                  </a:lnTo>
                  <a:lnTo>
                    <a:pt x="1612207" y="221759"/>
                  </a:lnTo>
                  <a:lnTo>
                    <a:pt x="1615440" y="205739"/>
                  </a:lnTo>
                  <a:lnTo>
                    <a:pt x="1615440" y="41147"/>
                  </a:lnTo>
                  <a:lnTo>
                    <a:pt x="1612207" y="25128"/>
                  </a:lnTo>
                  <a:lnTo>
                    <a:pt x="1603390" y="12049"/>
                  </a:lnTo>
                  <a:lnTo>
                    <a:pt x="1590311" y="3232"/>
                  </a:lnTo>
                  <a:lnTo>
                    <a:pt x="1574292" y="0"/>
                  </a:lnTo>
                  <a:close/>
                </a:path>
              </a:pathLst>
            </a:custGeom>
            <a:solidFill>
              <a:srgbClr val="9100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731252" y="3700271"/>
              <a:ext cx="1615440" cy="247015"/>
            </a:xfrm>
            <a:custGeom>
              <a:avLst/>
              <a:gdLst/>
              <a:ahLst/>
              <a:cxnLst/>
              <a:rect l="l" t="t" r="r" b="b"/>
              <a:pathLst>
                <a:path w="1615440" h="247014">
                  <a:moveTo>
                    <a:pt x="0" y="41147"/>
                  </a:moveTo>
                  <a:lnTo>
                    <a:pt x="3232" y="25128"/>
                  </a:lnTo>
                  <a:lnTo>
                    <a:pt x="12049" y="12049"/>
                  </a:lnTo>
                  <a:lnTo>
                    <a:pt x="25128" y="3232"/>
                  </a:lnTo>
                  <a:lnTo>
                    <a:pt x="41148" y="0"/>
                  </a:lnTo>
                  <a:lnTo>
                    <a:pt x="1574292" y="0"/>
                  </a:lnTo>
                  <a:lnTo>
                    <a:pt x="1590311" y="3232"/>
                  </a:lnTo>
                  <a:lnTo>
                    <a:pt x="1603390" y="12049"/>
                  </a:lnTo>
                  <a:lnTo>
                    <a:pt x="1612207" y="25128"/>
                  </a:lnTo>
                  <a:lnTo>
                    <a:pt x="1615440" y="41147"/>
                  </a:lnTo>
                  <a:lnTo>
                    <a:pt x="1615440" y="205739"/>
                  </a:lnTo>
                  <a:lnTo>
                    <a:pt x="1612207" y="221759"/>
                  </a:lnTo>
                  <a:lnTo>
                    <a:pt x="1603390" y="234838"/>
                  </a:lnTo>
                  <a:lnTo>
                    <a:pt x="1590311" y="243655"/>
                  </a:lnTo>
                  <a:lnTo>
                    <a:pt x="1574292" y="246887"/>
                  </a:lnTo>
                  <a:lnTo>
                    <a:pt x="41148" y="246887"/>
                  </a:lnTo>
                  <a:lnTo>
                    <a:pt x="25128" y="243655"/>
                  </a:lnTo>
                  <a:lnTo>
                    <a:pt x="12049" y="234838"/>
                  </a:lnTo>
                  <a:lnTo>
                    <a:pt x="3232" y="221759"/>
                  </a:lnTo>
                  <a:lnTo>
                    <a:pt x="0" y="205739"/>
                  </a:lnTo>
                  <a:lnTo>
                    <a:pt x="0" y="41147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731252" y="3700271"/>
            <a:ext cx="1615440" cy="24701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495"/>
              </a:spcBef>
            </a:pPr>
            <a:r>
              <a:rPr dirty="0" sz="800" b="1">
                <a:solidFill>
                  <a:srgbClr val="FFFFFF"/>
                </a:solidFill>
                <a:latin typeface="Tahoma"/>
                <a:cs typeface="Tahoma"/>
              </a:rPr>
              <a:t>BWA</a:t>
            </a:r>
            <a:r>
              <a:rPr dirty="0" sz="8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20" b="1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095356" y="3802126"/>
            <a:ext cx="86423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FFFFFF"/>
                </a:solidFill>
                <a:latin typeface="Tahoma"/>
                <a:cs typeface="Tahoma"/>
              </a:rPr>
              <a:t>Cell</a:t>
            </a:r>
            <a:r>
              <a:rPr dirty="0" sz="5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00">
                <a:solidFill>
                  <a:srgbClr val="FFFFFF"/>
                </a:solidFill>
                <a:latin typeface="Tahoma"/>
                <a:cs typeface="Tahoma"/>
              </a:rPr>
              <a:t>Membrane</a:t>
            </a:r>
            <a:r>
              <a:rPr dirty="0" sz="5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Tahoma"/>
                <a:cs typeface="Tahoma"/>
              </a:rPr>
              <a:t>Immunity</a:t>
            </a:r>
            <a:r>
              <a:rPr dirty="0" sz="5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095356" y="3916426"/>
            <a:ext cx="912494" cy="382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FFFFFF"/>
                </a:solidFill>
                <a:latin typeface="Tahoma"/>
                <a:cs typeface="Tahoma"/>
              </a:rPr>
              <a:t>Intracellular</a:t>
            </a:r>
            <a:r>
              <a:rPr dirty="0" sz="5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00" spc="10">
                <a:solidFill>
                  <a:srgbClr val="FFFFFF"/>
                </a:solidFill>
                <a:latin typeface="Tahoma"/>
                <a:cs typeface="Tahoma"/>
              </a:rPr>
              <a:t>Nutrition</a:t>
            </a:r>
            <a:r>
              <a:rPr dirty="0" sz="5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450">
                <a:solidFill>
                  <a:srgbClr val="FFFFFF"/>
                </a:solidFill>
                <a:latin typeface="Tahoma"/>
                <a:cs typeface="Tahoma"/>
              </a:rPr>
              <a:t>Body</a:t>
            </a:r>
            <a:r>
              <a:rPr dirty="0" sz="4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">
                <a:solidFill>
                  <a:srgbClr val="FFFFFF"/>
                </a:solidFill>
                <a:latin typeface="Tahoma"/>
                <a:cs typeface="Tahoma"/>
              </a:rPr>
              <a:t>Water</a:t>
            </a:r>
            <a:r>
              <a:rPr dirty="0" sz="4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Tahoma"/>
                <a:cs typeface="Tahoma"/>
              </a:rPr>
              <a:t>Balance(Edema)</a:t>
            </a:r>
            <a:r>
              <a:rPr dirty="0" sz="45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50" spc="-20">
                <a:solidFill>
                  <a:srgbClr val="FFFFFF"/>
                </a:solidFill>
                <a:latin typeface="Tahoma"/>
                <a:cs typeface="Tahoma"/>
              </a:rPr>
              <a:t>Check</a:t>
            </a:r>
            <a:endParaRPr sz="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500">
                <a:solidFill>
                  <a:srgbClr val="FFFFFF"/>
                </a:solidFill>
                <a:latin typeface="Tahoma"/>
                <a:cs typeface="Tahoma"/>
              </a:rPr>
              <a:t>Sarcopenia</a:t>
            </a:r>
            <a:r>
              <a:rPr dirty="0" sz="5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Tahoma"/>
                <a:cs typeface="Tahoma"/>
              </a:rPr>
              <a:t>Diagnosis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194805" y="4244085"/>
            <a:ext cx="2974340" cy="1401445"/>
            <a:chOff x="6194805" y="4244085"/>
            <a:chExt cx="2974340" cy="1401445"/>
          </a:xfrm>
        </p:grpSpPr>
        <p:sp>
          <p:nvSpPr>
            <p:cNvPr id="57" name="object 57"/>
            <p:cNvSpPr/>
            <p:nvPr/>
          </p:nvSpPr>
          <p:spPr>
            <a:xfrm>
              <a:off x="6201155" y="4250435"/>
              <a:ext cx="588645" cy="550545"/>
            </a:xfrm>
            <a:custGeom>
              <a:avLst/>
              <a:gdLst/>
              <a:ahLst/>
              <a:cxnLst/>
              <a:rect l="l" t="t" r="r" b="b"/>
              <a:pathLst>
                <a:path w="588645" h="550545">
                  <a:moveTo>
                    <a:pt x="294132" y="0"/>
                  </a:moveTo>
                  <a:lnTo>
                    <a:pt x="246425" y="3601"/>
                  </a:lnTo>
                  <a:lnTo>
                    <a:pt x="201168" y="14026"/>
                  </a:lnTo>
                  <a:lnTo>
                    <a:pt x="158966" y="30710"/>
                  </a:lnTo>
                  <a:lnTo>
                    <a:pt x="120426" y="53083"/>
                  </a:lnTo>
                  <a:lnTo>
                    <a:pt x="86153" y="80581"/>
                  </a:lnTo>
                  <a:lnTo>
                    <a:pt x="56753" y="112635"/>
                  </a:lnTo>
                  <a:lnTo>
                    <a:pt x="32832" y="148679"/>
                  </a:lnTo>
                  <a:lnTo>
                    <a:pt x="14996" y="188146"/>
                  </a:lnTo>
                  <a:lnTo>
                    <a:pt x="3850" y="230469"/>
                  </a:lnTo>
                  <a:lnTo>
                    <a:pt x="0" y="275081"/>
                  </a:lnTo>
                  <a:lnTo>
                    <a:pt x="3850" y="319694"/>
                  </a:lnTo>
                  <a:lnTo>
                    <a:pt x="14996" y="362017"/>
                  </a:lnTo>
                  <a:lnTo>
                    <a:pt x="32832" y="401484"/>
                  </a:lnTo>
                  <a:lnTo>
                    <a:pt x="56753" y="437528"/>
                  </a:lnTo>
                  <a:lnTo>
                    <a:pt x="86153" y="469582"/>
                  </a:lnTo>
                  <a:lnTo>
                    <a:pt x="120426" y="497080"/>
                  </a:lnTo>
                  <a:lnTo>
                    <a:pt x="158966" y="519453"/>
                  </a:lnTo>
                  <a:lnTo>
                    <a:pt x="201167" y="536137"/>
                  </a:lnTo>
                  <a:lnTo>
                    <a:pt x="246425" y="546562"/>
                  </a:lnTo>
                  <a:lnTo>
                    <a:pt x="294132" y="550163"/>
                  </a:lnTo>
                  <a:lnTo>
                    <a:pt x="341838" y="546562"/>
                  </a:lnTo>
                  <a:lnTo>
                    <a:pt x="387096" y="536137"/>
                  </a:lnTo>
                  <a:lnTo>
                    <a:pt x="429297" y="519453"/>
                  </a:lnTo>
                  <a:lnTo>
                    <a:pt x="467837" y="497080"/>
                  </a:lnTo>
                  <a:lnTo>
                    <a:pt x="502110" y="469582"/>
                  </a:lnTo>
                  <a:lnTo>
                    <a:pt x="531510" y="437528"/>
                  </a:lnTo>
                  <a:lnTo>
                    <a:pt x="555431" y="401484"/>
                  </a:lnTo>
                  <a:lnTo>
                    <a:pt x="573267" y="362017"/>
                  </a:lnTo>
                  <a:lnTo>
                    <a:pt x="584413" y="319694"/>
                  </a:lnTo>
                  <a:lnTo>
                    <a:pt x="588264" y="275081"/>
                  </a:lnTo>
                  <a:lnTo>
                    <a:pt x="584413" y="230469"/>
                  </a:lnTo>
                  <a:lnTo>
                    <a:pt x="573267" y="188146"/>
                  </a:lnTo>
                  <a:lnTo>
                    <a:pt x="555431" y="148679"/>
                  </a:lnTo>
                  <a:lnTo>
                    <a:pt x="531510" y="112635"/>
                  </a:lnTo>
                  <a:lnTo>
                    <a:pt x="502110" y="80581"/>
                  </a:lnTo>
                  <a:lnTo>
                    <a:pt x="467837" y="53083"/>
                  </a:lnTo>
                  <a:lnTo>
                    <a:pt x="429297" y="30710"/>
                  </a:lnTo>
                  <a:lnTo>
                    <a:pt x="387096" y="14026"/>
                  </a:lnTo>
                  <a:lnTo>
                    <a:pt x="341838" y="3601"/>
                  </a:lnTo>
                  <a:lnTo>
                    <a:pt x="2941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201155" y="4250435"/>
              <a:ext cx="588645" cy="550545"/>
            </a:xfrm>
            <a:custGeom>
              <a:avLst/>
              <a:gdLst/>
              <a:ahLst/>
              <a:cxnLst/>
              <a:rect l="l" t="t" r="r" b="b"/>
              <a:pathLst>
                <a:path w="588645" h="550545">
                  <a:moveTo>
                    <a:pt x="0" y="275081"/>
                  </a:moveTo>
                  <a:lnTo>
                    <a:pt x="3850" y="230469"/>
                  </a:lnTo>
                  <a:lnTo>
                    <a:pt x="14996" y="188146"/>
                  </a:lnTo>
                  <a:lnTo>
                    <a:pt x="32832" y="148679"/>
                  </a:lnTo>
                  <a:lnTo>
                    <a:pt x="56753" y="112635"/>
                  </a:lnTo>
                  <a:lnTo>
                    <a:pt x="86153" y="80581"/>
                  </a:lnTo>
                  <a:lnTo>
                    <a:pt x="120426" y="53083"/>
                  </a:lnTo>
                  <a:lnTo>
                    <a:pt x="158966" y="30710"/>
                  </a:lnTo>
                  <a:lnTo>
                    <a:pt x="201168" y="14026"/>
                  </a:lnTo>
                  <a:lnTo>
                    <a:pt x="246425" y="3601"/>
                  </a:lnTo>
                  <a:lnTo>
                    <a:pt x="294132" y="0"/>
                  </a:lnTo>
                  <a:lnTo>
                    <a:pt x="341838" y="3601"/>
                  </a:lnTo>
                  <a:lnTo>
                    <a:pt x="387096" y="14026"/>
                  </a:lnTo>
                  <a:lnTo>
                    <a:pt x="429297" y="30710"/>
                  </a:lnTo>
                  <a:lnTo>
                    <a:pt x="467837" y="53083"/>
                  </a:lnTo>
                  <a:lnTo>
                    <a:pt x="502110" y="80581"/>
                  </a:lnTo>
                  <a:lnTo>
                    <a:pt x="531510" y="112635"/>
                  </a:lnTo>
                  <a:lnTo>
                    <a:pt x="555431" y="148679"/>
                  </a:lnTo>
                  <a:lnTo>
                    <a:pt x="573267" y="188146"/>
                  </a:lnTo>
                  <a:lnTo>
                    <a:pt x="584413" y="230469"/>
                  </a:lnTo>
                  <a:lnTo>
                    <a:pt x="588264" y="275081"/>
                  </a:lnTo>
                  <a:lnTo>
                    <a:pt x="584413" y="319694"/>
                  </a:lnTo>
                  <a:lnTo>
                    <a:pt x="573267" y="362017"/>
                  </a:lnTo>
                  <a:lnTo>
                    <a:pt x="555431" y="401484"/>
                  </a:lnTo>
                  <a:lnTo>
                    <a:pt x="531510" y="437528"/>
                  </a:lnTo>
                  <a:lnTo>
                    <a:pt x="502110" y="469582"/>
                  </a:lnTo>
                  <a:lnTo>
                    <a:pt x="467837" y="497080"/>
                  </a:lnTo>
                  <a:lnTo>
                    <a:pt x="429297" y="519453"/>
                  </a:lnTo>
                  <a:lnTo>
                    <a:pt x="387096" y="536137"/>
                  </a:lnTo>
                  <a:lnTo>
                    <a:pt x="341838" y="546562"/>
                  </a:lnTo>
                  <a:lnTo>
                    <a:pt x="294132" y="550163"/>
                  </a:lnTo>
                  <a:lnTo>
                    <a:pt x="246425" y="546562"/>
                  </a:lnTo>
                  <a:lnTo>
                    <a:pt x="201167" y="536137"/>
                  </a:lnTo>
                  <a:lnTo>
                    <a:pt x="158966" y="519453"/>
                  </a:lnTo>
                  <a:lnTo>
                    <a:pt x="120426" y="497080"/>
                  </a:lnTo>
                  <a:lnTo>
                    <a:pt x="86153" y="469582"/>
                  </a:lnTo>
                  <a:lnTo>
                    <a:pt x="56753" y="437528"/>
                  </a:lnTo>
                  <a:lnTo>
                    <a:pt x="32832" y="401484"/>
                  </a:lnTo>
                  <a:lnTo>
                    <a:pt x="14996" y="362017"/>
                  </a:lnTo>
                  <a:lnTo>
                    <a:pt x="3850" y="319694"/>
                  </a:lnTo>
                  <a:lnTo>
                    <a:pt x="0" y="2750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746747" y="5088635"/>
              <a:ext cx="588645" cy="550545"/>
            </a:xfrm>
            <a:custGeom>
              <a:avLst/>
              <a:gdLst/>
              <a:ahLst/>
              <a:cxnLst/>
              <a:rect l="l" t="t" r="r" b="b"/>
              <a:pathLst>
                <a:path w="588645" h="550545">
                  <a:moveTo>
                    <a:pt x="294131" y="0"/>
                  </a:moveTo>
                  <a:lnTo>
                    <a:pt x="246425" y="3601"/>
                  </a:lnTo>
                  <a:lnTo>
                    <a:pt x="201167" y="14026"/>
                  </a:lnTo>
                  <a:lnTo>
                    <a:pt x="158966" y="30710"/>
                  </a:lnTo>
                  <a:lnTo>
                    <a:pt x="120426" y="53083"/>
                  </a:lnTo>
                  <a:lnTo>
                    <a:pt x="86153" y="80581"/>
                  </a:lnTo>
                  <a:lnTo>
                    <a:pt x="56753" y="112635"/>
                  </a:lnTo>
                  <a:lnTo>
                    <a:pt x="32832" y="148679"/>
                  </a:lnTo>
                  <a:lnTo>
                    <a:pt x="14996" y="188146"/>
                  </a:lnTo>
                  <a:lnTo>
                    <a:pt x="3850" y="230469"/>
                  </a:lnTo>
                  <a:lnTo>
                    <a:pt x="0" y="275081"/>
                  </a:lnTo>
                  <a:lnTo>
                    <a:pt x="3850" y="319694"/>
                  </a:lnTo>
                  <a:lnTo>
                    <a:pt x="14996" y="362017"/>
                  </a:lnTo>
                  <a:lnTo>
                    <a:pt x="32832" y="401484"/>
                  </a:lnTo>
                  <a:lnTo>
                    <a:pt x="56753" y="437528"/>
                  </a:lnTo>
                  <a:lnTo>
                    <a:pt x="86153" y="469582"/>
                  </a:lnTo>
                  <a:lnTo>
                    <a:pt x="120426" y="497080"/>
                  </a:lnTo>
                  <a:lnTo>
                    <a:pt x="158966" y="519453"/>
                  </a:lnTo>
                  <a:lnTo>
                    <a:pt x="201168" y="536137"/>
                  </a:lnTo>
                  <a:lnTo>
                    <a:pt x="246425" y="546562"/>
                  </a:lnTo>
                  <a:lnTo>
                    <a:pt x="294131" y="550163"/>
                  </a:lnTo>
                  <a:lnTo>
                    <a:pt x="341838" y="546562"/>
                  </a:lnTo>
                  <a:lnTo>
                    <a:pt x="387096" y="536137"/>
                  </a:lnTo>
                  <a:lnTo>
                    <a:pt x="429297" y="519453"/>
                  </a:lnTo>
                  <a:lnTo>
                    <a:pt x="467837" y="497080"/>
                  </a:lnTo>
                  <a:lnTo>
                    <a:pt x="502110" y="469582"/>
                  </a:lnTo>
                  <a:lnTo>
                    <a:pt x="531510" y="437528"/>
                  </a:lnTo>
                  <a:lnTo>
                    <a:pt x="555431" y="401484"/>
                  </a:lnTo>
                  <a:lnTo>
                    <a:pt x="573267" y="362017"/>
                  </a:lnTo>
                  <a:lnTo>
                    <a:pt x="584413" y="319694"/>
                  </a:lnTo>
                  <a:lnTo>
                    <a:pt x="588263" y="275081"/>
                  </a:lnTo>
                  <a:lnTo>
                    <a:pt x="584413" y="230469"/>
                  </a:lnTo>
                  <a:lnTo>
                    <a:pt x="573267" y="188146"/>
                  </a:lnTo>
                  <a:lnTo>
                    <a:pt x="555431" y="148679"/>
                  </a:lnTo>
                  <a:lnTo>
                    <a:pt x="531510" y="112635"/>
                  </a:lnTo>
                  <a:lnTo>
                    <a:pt x="502110" y="80581"/>
                  </a:lnTo>
                  <a:lnTo>
                    <a:pt x="467837" y="53083"/>
                  </a:lnTo>
                  <a:lnTo>
                    <a:pt x="429297" y="30710"/>
                  </a:lnTo>
                  <a:lnTo>
                    <a:pt x="387095" y="14026"/>
                  </a:lnTo>
                  <a:lnTo>
                    <a:pt x="341838" y="3601"/>
                  </a:lnTo>
                  <a:lnTo>
                    <a:pt x="294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746747" y="5088635"/>
              <a:ext cx="588645" cy="550545"/>
            </a:xfrm>
            <a:custGeom>
              <a:avLst/>
              <a:gdLst/>
              <a:ahLst/>
              <a:cxnLst/>
              <a:rect l="l" t="t" r="r" b="b"/>
              <a:pathLst>
                <a:path w="588645" h="550545">
                  <a:moveTo>
                    <a:pt x="0" y="275081"/>
                  </a:moveTo>
                  <a:lnTo>
                    <a:pt x="3850" y="230469"/>
                  </a:lnTo>
                  <a:lnTo>
                    <a:pt x="14996" y="188146"/>
                  </a:lnTo>
                  <a:lnTo>
                    <a:pt x="32832" y="148679"/>
                  </a:lnTo>
                  <a:lnTo>
                    <a:pt x="56753" y="112635"/>
                  </a:lnTo>
                  <a:lnTo>
                    <a:pt x="86153" y="80581"/>
                  </a:lnTo>
                  <a:lnTo>
                    <a:pt x="120426" y="53083"/>
                  </a:lnTo>
                  <a:lnTo>
                    <a:pt x="158966" y="30710"/>
                  </a:lnTo>
                  <a:lnTo>
                    <a:pt x="201167" y="14026"/>
                  </a:lnTo>
                  <a:lnTo>
                    <a:pt x="246425" y="3601"/>
                  </a:lnTo>
                  <a:lnTo>
                    <a:pt x="294131" y="0"/>
                  </a:lnTo>
                  <a:lnTo>
                    <a:pt x="341838" y="3601"/>
                  </a:lnTo>
                  <a:lnTo>
                    <a:pt x="387095" y="14026"/>
                  </a:lnTo>
                  <a:lnTo>
                    <a:pt x="429297" y="30710"/>
                  </a:lnTo>
                  <a:lnTo>
                    <a:pt x="467837" y="53083"/>
                  </a:lnTo>
                  <a:lnTo>
                    <a:pt x="502110" y="80581"/>
                  </a:lnTo>
                  <a:lnTo>
                    <a:pt x="531510" y="112635"/>
                  </a:lnTo>
                  <a:lnTo>
                    <a:pt x="555431" y="148679"/>
                  </a:lnTo>
                  <a:lnTo>
                    <a:pt x="573267" y="188146"/>
                  </a:lnTo>
                  <a:lnTo>
                    <a:pt x="584413" y="230469"/>
                  </a:lnTo>
                  <a:lnTo>
                    <a:pt x="588263" y="275081"/>
                  </a:lnTo>
                  <a:lnTo>
                    <a:pt x="584413" y="319694"/>
                  </a:lnTo>
                  <a:lnTo>
                    <a:pt x="573267" y="362017"/>
                  </a:lnTo>
                  <a:lnTo>
                    <a:pt x="555431" y="401484"/>
                  </a:lnTo>
                  <a:lnTo>
                    <a:pt x="531510" y="437528"/>
                  </a:lnTo>
                  <a:lnTo>
                    <a:pt x="502110" y="469582"/>
                  </a:lnTo>
                  <a:lnTo>
                    <a:pt x="467837" y="497080"/>
                  </a:lnTo>
                  <a:lnTo>
                    <a:pt x="429297" y="519453"/>
                  </a:lnTo>
                  <a:lnTo>
                    <a:pt x="387096" y="536137"/>
                  </a:lnTo>
                  <a:lnTo>
                    <a:pt x="341838" y="546562"/>
                  </a:lnTo>
                  <a:lnTo>
                    <a:pt x="294131" y="550163"/>
                  </a:lnTo>
                  <a:lnTo>
                    <a:pt x="246425" y="546562"/>
                  </a:lnTo>
                  <a:lnTo>
                    <a:pt x="201168" y="536137"/>
                  </a:lnTo>
                  <a:lnTo>
                    <a:pt x="158966" y="519453"/>
                  </a:lnTo>
                  <a:lnTo>
                    <a:pt x="120426" y="497080"/>
                  </a:lnTo>
                  <a:lnTo>
                    <a:pt x="86153" y="469582"/>
                  </a:lnTo>
                  <a:lnTo>
                    <a:pt x="56753" y="437528"/>
                  </a:lnTo>
                  <a:lnTo>
                    <a:pt x="32832" y="401484"/>
                  </a:lnTo>
                  <a:lnTo>
                    <a:pt x="14996" y="362017"/>
                  </a:lnTo>
                  <a:lnTo>
                    <a:pt x="3850" y="319694"/>
                  </a:lnTo>
                  <a:lnTo>
                    <a:pt x="0" y="2750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084820" y="5088635"/>
              <a:ext cx="586740" cy="550545"/>
            </a:xfrm>
            <a:custGeom>
              <a:avLst/>
              <a:gdLst/>
              <a:ahLst/>
              <a:cxnLst/>
              <a:rect l="l" t="t" r="r" b="b"/>
              <a:pathLst>
                <a:path w="586740" h="550545">
                  <a:moveTo>
                    <a:pt x="293370" y="0"/>
                  </a:moveTo>
                  <a:lnTo>
                    <a:pt x="245777" y="3601"/>
                  </a:lnTo>
                  <a:lnTo>
                    <a:pt x="200631" y="14026"/>
                  </a:lnTo>
                  <a:lnTo>
                    <a:pt x="158537" y="30710"/>
                  </a:lnTo>
                  <a:lnTo>
                    <a:pt x="120097" y="53083"/>
                  </a:lnTo>
                  <a:lnTo>
                    <a:pt x="85915" y="80581"/>
                  </a:lnTo>
                  <a:lnTo>
                    <a:pt x="56595" y="112635"/>
                  </a:lnTo>
                  <a:lnTo>
                    <a:pt x="32740" y="148679"/>
                  </a:lnTo>
                  <a:lnTo>
                    <a:pt x="14953" y="188146"/>
                  </a:lnTo>
                  <a:lnTo>
                    <a:pt x="3838" y="230469"/>
                  </a:lnTo>
                  <a:lnTo>
                    <a:pt x="0" y="275081"/>
                  </a:lnTo>
                  <a:lnTo>
                    <a:pt x="3838" y="319694"/>
                  </a:lnTo>
                  <a:lnTo>
                    <a:pt x="14953" y="362017"/>
                  </a:lnTo>
                  <a:lnTo>
                    <a:pt x="32740" y="401484"/>
                  </a:lnTo>
                  <a:lnTo>
                    <a:pt x="56595" y="437528"/>
                  </a:lnTo>
                  <a:lnTo>
                    <a:pt x="85915" y="469582"/>
                  </a:lnTo>
                  <a:lnTo>
                    <a:pt x="120097" y="497080"/>
                  </a:lnTo>
                  <a:lnTo>
                    <a:pt x="158537" y="519453"/>
                  </a:lnTo>
                  <a:lnTo>
                    <a:pt x="200631" y="536137"/>
                  </a:lnTo>
                  <a:lnTo>
                    <a:pt x="245777" y="546562"/>
                  </a:lnTo>
                  <a:lnTo>
                    <a:pt x="293370" y="550163"/>
                  </a:lnTo>
                  <a:lnTo>
                    <a:pt x="340962" y="546562"/>
                  </a:lnTo>
                  <a:lnTo>
                    <a:pt x="386108" y="536137"/>
                  </a:lnTo>
                  <a:lnTo>
                    <a:pt x="428202" y="519453"/>
                  </a:lnTo>
                  <a:lnTo>
                    <a:pt x="466642" y="497080"/>
                  </a:lnTo>
                  <a:lnTo>
                    <a:pt x="500824" y="469582"/>
                  </a:lnTo>
                  <a:lnTo>
                    <a:pt x="530144" y="437528"/>
                  </a:lnTo>
                  <a:lnTo>
                    <a:pt x="553999" y="401484"/>
                  </a:lnTo>
                  <a:lnTo>
                    <a:pt x="571786" y="362017"/>
                  </a:lnTo>
                  <a:lnTo>
                    <a:pt x="582901" y="319694"/>
                  </a:lnTo>
                  <a:lnTo>
                    <a:pt x="586739" y="275081"/>
                  </a:lnTo>
                  <a:lnTo>
                    <a:pt x="582901" y="230469"/>
                  </a:lnTo>
                  <a:lnTo>
                    <a:pt x="571786" y="188146"/>
                  </a:lnTo>
                  <a:lnTo>
                    <a:pt x="553999" y="148679"/>
                  </a:lnTo>
                  <a:lnTo>
                    <a:pt x="530144" y="112635"/>
                  </a:lnTo>
                  <a:lnTo>
                    <a:pt x="500824" y="80581"/>
                  </a:lnTo>
                  <a:lnTo>
                    <a:pt x="466642" y="53083"/>
                  </a:lnTo>
                  <a:lnTo>
                    <a:pt x="428202" y="30710"/>
                  </a:lnTo>
                  <a:lnTo>
                    <a:pt x="386108" y="14026"/>
                  </a:lnTo>
                  <a:lnTo>
                    <a:pt x="340962" y="3601"/>
                  </a:lnTo>
                  <a:lnTo>
                    <a:pt x="2933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084820" y="5088635"/>
              <a:ext cx="586740" cy="550545"/>
            </a:xfrm>
            <a:custGeom>
              <a:avLst/>
              <a:gdLst/>
              <a:ahLst/>
              <a:cxnLst/>
              <a:rect l="l" t="t" r="r" b="b"/>
              <a:pathLst>
                <a:path w="586740" h="550545">
                  <a:moveTo>
                    <a:pt x="0" y="275081"/>
                  </a:moveTo>
                  <a:lnTo>
                    <a:pt x="3838" y="230469"/>
                  </a:lnTo>
                  <a:lnTo>
                    <a:pt x="14953" y="188146"/>
                  </a:lnTo>
                  <a:lnTo>
                    <a:pt x="32740" y="148679"/>
                  </a:lnTo>
                  <a:lnTo>
                    <a:pt x="56595" y="112635"/>
                  </a:lnTo>
                  <a:lnTo>
                    <a:pt x="85915" y="80581"/>
                  </a:lnTo>
                  <a:lnTo>
                    <a:pt x="120097" y="53083"/>
                  </a:lnTo>
                  <a:lnTo>
                    <a:pt x="158537" y="30710"/>
                  </a:lnTo>
                  <a:lnTo>
                    <a:pt x="200631" y="14026"/>
                  </a:lnTo>
                  <a:lnTo>
                    <a:pt x="245777" y="3601"/>
                  </a:lnTo>
                  <a:lnTo>
                    <a:pt x="293370" y="0"/>
                  </a:lnTo>
                  <a:lnTo>
                    <a:pt x="340962" y="3601"/>
                  </a:lnTo>
                  <a:lnTo>
                    <a:pt x="386108" y="14026"/>
                  </a:lnTo>
                  <a:lnTo>
                    <a:pt x="428202" y="30710"/>
                  </a:lnTo>
                  <a:lnTo>
                    <a:pt x="466642" y="53083"/>
                  </a:lnTo>
                  <a:lnTo>
                    <a:pt x="500824" y="80581"/>
                  </a:lnTo>
                  <a:lnTo>
                    <a:pt x="530144" y="112635"/>
                  </a:lnTo>
                  <a:lnTo>
                    <a:pt x="553999" y="148679"/>
                  </a:lnTo>
                  <a:lnTo>
                    <a:pt x="571786" y="188146"/>
                  </a:lnTo>
                  <a:lnTo>
                    <a:pt x="582901" y="230469"/>
                  </a:lnTo>
                  <a:lnTo>
                    <a:pt x="586739" y="275081"/>
                  </a:lnTo>
                  <a:lnTo>
                    <a:pt x="582901" y="319694"/>
                  </a:lnTo>
                  <a:lnTo>
                    <a:pt x="571786" y="362017"/>
                  </a:lnTo>
                  <a:lnTo>
                    <a:pt x="553999" y="401484"/>
                  </a:lnTo>
                  <a:lnTo>
                    <a:pt x="530144" y="437528"/>
                  </a:lnTo>
                  <a:lnTo>
                    <a:pt x="500824" y="469582"/>
                  </a:lnTo>
                  <a:lnTo>
                    <a:pt x="466642" y="497080"/>
                  </a:lnTo>
                  <a:lnTo>
                    <a:pt x="428202" y="519453"/>
                  </a:lnTo>
                  <a:lnTo>
                    <a:pt x="386108" y="536137"/>
                  </a:lnTo>
                  <a:lnTo>
                    <a:pt x="340962" y="546562"/>
                  </a:lnTo>
                  <a:lnTo>
                    <a:pt x="293370" y="550163"/>
                  </a:lnTo>
                  <a:lnTo>
                    <a:pt x="245777" y="546562"/>
                  </a:lnTo>
                  <a:lnTo>
                    <a:pt x="200631" y="536137"/>
                  </a:lnTo>
                  <a:lnTo>
                    <a:pt x="158537" y="519453"/>
                  </a:lnTo>
                  <a:lnTo>
                    <a:pt x="120097" y="497080"/>
                  </a:lnTo>
                  <a:lnTo>
                    <a:pt x="85915" y="469582"/>
                  </a:lnTo>
                  <a:lnTo>
                    <a:pt x="56595" y="437528"/>
                  </a:lnTo>
                  <a:lnTo>
                    <a:pt x="32740" y="401484"/>
                  </a:lnTo>
                  <a:lnTo>
                    <a:pt x="14953" y="362017"/>
                  </a:lnTo>
                  <a:lnTo>
                    <a:pt x="3838" y="319694"/>
                  </a:lnTo>
                  <a:lnTo>
                    <a:pt x="0" y="2750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575548" y="4265675"/>
              <a:ext cx="586740" cy="550545"/>
            </a:xfrm>
            <a:custGeom>
              <a:avLst/>
              <a:gdLst/>
              <a:ahLst/>
              <a:cxnLst/>
              <a:rect l="l" t="t" r="r" b="b"/>
              <a:pathLst>
                <a:path w="586740" h="550545">
                  <a:moveTo>
                    <a:pt x="293370" y="0"/>
                  </a:moveTo>
                  <a:lnTo>
                    <a:pt x="245777" y="3601"/>
                  </a:lnTo>
                  <a:lnTo>
                    <a:pt x="200631" y="14026"/>
                  </a:lnTo>
                  <a:lnTo>
                    <a:pt x="158537" y="30710"/>
                  </a:lnTo>
                  <a:lnTo>
                    <a:pt x="120097" y="53083"/>
                  </a:lnTo>
                  <a:lnTo>
                    <a:pt x="85915" y="80581"/>
                  </a:lnTo>
                  <a:lnTo>
                    <a:pt x="56595" y="112635"/>
                  </a:lnTo>
                  <a:lnTo>
                    <a:pt x="32740" y="148679"/>
                  </a:lnTo>
                  <a:lnTo>
                    <a:pt x="14953" y="188146"/>
                  </a:lnTo>
                  <a:lnTo>
                    <a:pt x="3838" y="230469"/>
                  </a:lnTo>
                  <a:lnTo>
                    <a:pt x="0" y="275081"/>
                  </a:lnTo>
                  <a:lnTo>
                    <a:pt x="3838" y="319694"/>
                  </a:lnTo>
                  <a:lnTo>
                    <a:pt x="14953" y="362017"/>
                  </a:lnTo>
                  <a:lnTo>
                    <a:pt x="32740" y="401484"/>
                  </a:lnTo>
                  <a:lnTo>
                    <a:pt x="56595" y="437528"/>
                  </a:lnTo>
                  <a:lnTo>
                    <a:pt x="85915" y="469582"/>
                  </a:lnTo>
                  <a:lnTo>
                    <a:pt x="120097" y="497080"/>
                  </a:lnTo>
                  <a:lnTo>
                    <a:pt x="158537" y="519453"/>
                  </a:lnTo>
                  <a:lnTo>
                    <a:pt x="200631" y="536137"/>
                  </a:lnTo>
                  <a:lnTo>
                    <a:pt x="245777" y="546562"/>
                  </a:lnTo>
                  <a:lnTo>
                    <a:pt x="293370" y="550163"/>
                  </a:lnTo>
                  <a:lnTo>
                    <a:pt x="340962" y="546562"/>
                  </a:lnTo>
                  <a:lnTo>
                    <a:pt x="386108" y="536137"/>
                  </a:lnTo>
                  <a:lnTo>
                    <a:pt x="428202" y="519453"/>
                  </a:lnTo>
                  <a:lnTo>
                    <a:pt x="466642" y="497080"/>
                  </a:lnTo>
                  <a:lnTo>
                    <a:pt x="500824" y="469582"/>
                  </a:lnTo>
                  <a:lnTo>
                    <a:pt x="530144" y="437528"/>
                  </a:lnTo>
                  <a:lnTo>
                    <a:pt x="553999" y="401484"/>
                  </a:lnTo>
                  <a:lnTo>
                    <a:pt x="571786" y="362017"/>
                  </a:lnTo>
                  <a:lnTo>
                    <a:pt x="582901" y="319694"/>
                  </a:lnTo>
                  <a:lnTo>
                    <a:pt x="586740" y="275081"/>
                  </a:lnTo>
                  <a:lnTo>
                    <a:pt x="582901" y="230469"/>
                  </a:lnTo>
                  <a:lnTo>
                    <a:pt x="571786" y="188146"/>
                  </a:lnTo>
                  <a:lnTo>
                    <a:pt x="553999" y="148679"/>
                  </a:lnTo>
                  <a:lnTo>
                    <a:pt x="530144" y="112635"/>
                  </a:lnTo>
                  <a:lnTo>
                    <a:pt x="500824" y="80581"/>
                  </a:lnTo>
                  <a:lnTo>
                    <a:pt x="466642" y="53083"/>
                  </a:lnTo>
                  <a:lnTo>
                    <a:pt x="428202" y="30710"/>
                  </a:lnTo>
                  <a:lnTo>
                    <a:pt x="386108" y="14026"/>
                  </a:lnTo>
                  <a:lnTo>
                    <a:pt x="340962" y="3601"/>
                  </a:lnTo>
                  <a:lnTo>
                    <a:pt x="2933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575548" y="4265675"/>
              <a:ext cx="586740" cy="550545"/>
            </a:xfrm>
            <a:custGeom>
              <a:avLst/>
              <a:gdLst/>
              <a:ahLst/>
              <a:cxnLst/>
              <a:rect l="l" t="t" r="r" b="b"/>
              <a:pathLst>
                <a:path w="586740" h="550545">
                  <a:moveTo>
                    <a:pt x="0" y="275081"/>
                  </a:moveTo>
                  <a:lnTo>
                    <a:pt x="3838" y="230469"/>
                  </a:lnTo>
                  <a:lnTo>
                    <a:pt x="14953" y="188146"/>
                  </a:lnTo>
                  <a:lnTo>
                    <a:pt x="32740" y="148679"/>
                  </a:lnTo>
                  <a:lnTo>
                    <a:pt x="56595" y="112635"/>
                  </a:lnTo>
                  <a:lnTo>
                    <a:pt x="85915" y="80581"/>
                  </a:lnTo>
                  <a:lnTo>
                    <a:pt x="120097" y="53083"/>
                  </a:lnTo>
                  <a:lnTo>
                    <a:pt x="158537" y="30710"/>
                  </a:lnTo>
                  <a:lnTo>
                    <a:pt x="200631" y="14026"/>
                  </a:lnTo>
                  <a:lnTo>
                    <a:pt x="245777" y="3601"/>
                  </a:lnTo>
                  <a:lnTo>
                    <a:pt x="293370" y="0"/>
                  </a:lnTo>
                  <a:lnTo>
                    <a:pt x="340962" y="3601"/>
                  </a:lnTo>
                  <a:lnTo>
                    <a:pt x="386108" y="14026"/>
                  </a:lnTo>
                  <a:lnTo>
                    <a:pt x="428202" y="30710"/>
                  </a:lnTo>
                  <a:lnTo>
                    <a:pt x="466642" y="53083"/>
                  </a:lnTo>
                  <a:lnTo>
                    <a:pt x="500824" y="80581"/>
                  </a:lnTo>
                  <a:lnTo>
                    <a:pt x="530144" y="112635"/>
                  </a:lnTo>
                  <a:lnTo>
                    <a:pt x="553999" y="148679"/>
                  </a:lnTo>
                  <a:lnTo>
                    <a:pt x="571786" y="188146"/>
                  </a:lnTo>
                  <a:lnTo>
                    <a:pt x="582901" y="230469"/>
                  </a:lnTo>
                  <a:lnTo>
                    <a:pt x="586740" y="275081"/>
                  </a:lnTo>
                  <a:lnTo>
                    <a:pt x="582901" y="319694"/>
                  </a:lnTo>
                  <a:lnTo>
                    <a:pt x="571786" y="362017"/>
                  </a:lnTo>
                  <a:lnTo>
                    <a:pt x="553999" y="401484"/>
                  </a:lnTo>
                  <a:lnTo>
                    <a:pt x="530144" y="437528"/>
                  </a:lnTo>
                  <a:lnTo>
                    <a:pt x="500824" y="469582"/>
                  </a:lnTo>
                  <a:lnTo>
                    <a:pt x="466642" y="497080"/>
                  </a:lnTo>
                  <a:lnTo>
                    <a:pt x="428202" y="519453"/>
                  </a:lnTo>
                  <a:lnTo>
                    <a:pt x="386108" y="536137"/>
                  </a:lnTo>
                  <a:lnTo>
                    <a:pt x="340962" y="546562"/>
                  </a:lnTo>
                  <a:lnTo>
                    <a:pt x="293370" y="550163"/>
                  </a:lnTo>
                  <a:lnTo>
                    <a:pt x="245777" y="546562"/>
                  </a:lnTo>
                  <a:lnTo>
                    <a:pt x="200631" y="536137"/>
                  </a:lnTo>
                  <a:lnTo>
                    <a:pt x="158537" y="519453"/>
                  </a:lnTo>
                  <a:lnTo>
                    <a:pt x="120097" y="497080"/>
                  </a:lnTo>
                  <a:lnTo>
                    <a:pt x="85915" y="469582"/>
                  </a:lnTo>
                  <a:lnTo>
                    <a:pt x="56595" y="437528"/>
                  </a:lnTo>
                  <a:lnTo>
                    <a:pt x="32740" y="401484"/>
                  </a:lnTo>
                  <a:lnTo>
                    <a:pt x="14953" y="362017"/>
                  </a:lnTo>
                  <a:lnTo>
                    <a:pt x="3838" y="319694"/>
                  </a:lnTo>
                  <a:lnTo>
                    <a:pt x="0" y="27508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6199378" y="4370959"/>
            <a:ext cx="590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00" spc="-35" b="1">
                <a:latin typeface="Tahoma"/>
                <a:cs typeface="Tahoma"/>
              </a:rPr>
              <a:t>Analysis</a:t>
            </a:r>
            <a:r>
              <a:rPr dirty="0" sz="500" spc="5" b="1">
                <a:latin typeface="Tahoma"/>
                <a:cs typeface="Tahoma"/>
              </a:rPr>
              <a:t> </a:t>
            </a:r>
            <a:r>
              <a:rPr dirty="0" sz="500" spc="-20" b="1">
                <a:latin typeface="Tahoma"/>
                <a:cs typeface="Tahoma"/>
              </a:rPr>
              <a:t>Cell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45" b="1">
                <a:latin typeface="Tahoma"/>
                <a:cs typeface="Tahoma"/>
              </a:rPr>
              <a:t>Immunity/Nutrition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40" b="1">
                <a:latin typeface="Tahoma"/>
                <a:cs typeface="Tahoma"/>
              </a:rPr>
              <a:t>during</a:t>
            </a:r>
            <a:r>
              <a:rPr dirty="0" sz="500" spc="-5" b="1">
                <a:latin typeface="Tahoma"/>
                <a:cs typeface="Tahoma"/>
              </a:rPr>
              <a:t> </a:t>
            </a:r>
            <a:r>
              <a:rPr dirty="0" sz="500" spc="-10" b="1">
                <a:latin typeface="Tahoma"/>
                <a:cs typeface="Tahoma"/>
              </a:rPr>
              <a:t>Anticancer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10" b="1">
                <a:latin typeface="Tahoma"/>
                <a:cs typeface="Tahoma"/>
              </a:rPr>
              <a:t>Treatment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188702" y="4351401"/>
            <a:ext cx="4883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Tahoma"/>
                <a:cs typeface="Tahoma"/>
              </a:rPr>
              <a:t>BWA</a:t>
            </a:r>
            <a:r>
              <a:rPr dirty="0" sz="8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25" b="1">
                <a:solidFill>
                  <a:srgbClr val="FFFFFF"/>
                </a:solidFill>
                <a:latin typeface="Tahoma"/>
                <a:cs typeface="Tahoma"/>
              </a:rPr>
              <a:t>Test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567673" y="4412741"/>
            <a:ext cx="58166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00" spc="-40" b="1">
                <a:latin typeface="Tahoma"/>
                <a:cs typeface="Tahoma"/>
              </a:rPr>
              <a:t>Identify</a:t>
            </a:r>
            <a:r>
              <a:rPr dirty="0" sz="500" spc="-20" b="1">
                <a:latin typeface="Tahoma"/>
                <a:cs typeface="Tahoma"/>
              </a:rPr>
              <a:t> </a:t>
            </a:r>
            <a:r>
              <a:rPr dirty="0" sz="500" spc="-40" b="1">
                <a:latin typeface="Tahoma"/>
                <a:cs typeface="Tahoma"/>
              </a:rPr>
              <a:t>the</a:t>
            </a:r>
            <a:r>
              <a:rPr dirty="0" sz="500" spc="-20" b="1">
                <a:latin typeface="Tahoma"/>
                <a:cs typeface="Tahoma"/>
              </a:rPr>
              <a:t> </a:t>
            </a:r>
            <a:r>
              <a:rPr dirty="0" sz="500" spc="-10" b="1">
                <a:latin typeface="Tahoma"/>
                <a:cs typeface="Tahoma"/>
              </a:rPr>
              <a:t>Edema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35" b="1">
                <a:latin typeface="Tahoma"/>
                <a:cs typeface="Tahoma"/>
              </a:rPr>
              <a:t>Site</a:t>
            </a:r>
            <a:r>
              <a:rPr dirty="0" sz="500" spc="-55" b="1">
                <a:latin typeface="Tahoma"/>
                <a:cs typeface="Tahoma"/>
              </a:rPr>
              <a:t> </a:t>
            </a:r>
            <a:r>
              <a:rPr dirty="0" sz="500" spc="-40" b="1">
                <a:latin typeface="Tahoma"/>
                <a:cs typeface="Tahoma"/>
              </a:rPr>
              <a:t>and</a:t>
            </a:r>
            <a:r>
              <a:rPr dirty="0" sz="500" spc="-25" b="1">
                <a:latin typeface="Tahoma"/>
                <a:cs typeface="Tahoma"/>
              </a:rPr>
              <a:t> </a:t>
            </a:r>
            <a:r>
              <a:rPr dirty="0" sz="500" spc="-30" b="1">
                <a:latin typeface="Tahoma"/>
                <a:cs typeface="Tahoma"/>
              </a:rPr>
              <a:t>Circulation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10" b="1">
                <a:latin typeface="Tahoma"/>
                <a:cs typeface="Tahoma"/>
              </a:rPr>
              <a:t>Status</a:t>
            </a:r>
            <a:endParaRPr sz="50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619233" y="1119886"/>
            <a:ext cx="1626870" cy="4643120"/>
            <a:chOff x="9619233" y="1119886"/>
            <a:chExt cx="1626870" cy="4643120"/>
          </a:xfrm>
        </p:grpSpPr>
        <p:sp>
          <p:nvSpPr>
            <p:cNvPr id="46" name="object 46"/>
            <p:cNvSpPr/>
            <p:nvPr/>
          </p:nvSpPr>
          <p:spPr>
            <a:xfrm>
              <a:off x="9625583" y="1126236"/>
              <a:ext cx="1614170" cy="175260"/>
            </a:xfrm>
            <a:custGeom>
              <a:avLst/>
              <a:gdLst/>
              <a:ahLst/>
              <a:cxnLst/>
              <a:rect l="l" t="t" r="r" b="b"/>
              <a:pathLst>
                <a:path w="1614170" h="175259">
                  <a:moveTo>
                    <a:pt x="1613916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1613916" y="175260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625583" y="1126236"/>
              <a:ext cx="1614170" cy="175260"/>
            </a:xfrm>
            <a:custGeom>
              <a:avLst/>
              <a:gdLst/>
              <a:ahLst/>
              <a:cxnLst/>
              <a:rect l="l" t="t" r="r" b="b"/>
              <a:pathLst>
                <a:path w="1614170" h="175259">
                  <a:moveTo>
                    <a:pt x="0" y="175260"/>
                  </a:moveTo>
                  <a:lnTo>
                    <a:pt x="1613916" y="175260"/>
                  </a:lnTo>
                  <a:lnTo>
                    <a:pt x="1613916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12192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948671" y="5312664"/>
              <a:ext cx="483234" cy="424180"/>
            </a:xfrm>
            <a:custGeom>
              <a:avLst/>
              <a:gdLst/>
              <a:ahLst/>
              <a:cxnLst/>
              <a:rect l="l" t="t" r="r" b="b"/>
              <a:pathLst>
                <a:path w="483234" h="424179">
                  <a:moveTo>
                    <a:pt x="241553" y="0"/>
                  </a:moveTo>
                  <a:lnTo>
                    <a:pt x="192888" y="4304"/>
                  </a:lnTo>
                  <a:lnTo>
                    <a:pt x="147554" y="16650"/>
                  </a:lnTo>
                  <a:lnTo>
                    <a:pt x="106523" y="36185"/>
                  </a:lnTo>
                  <a:lnTo>
                    <a:pt x="70770" y="62055"/>
                  </a:lnTo>
                  <a:lnTo>
                    <a:pt x="41268" y="93408"/>
                  </a:lnTo>
                  <a:lnTo>
                    <a:pt x="18990" y="129391"/>
                  </a:lnTo>
                  <a:lnTo>
                    <a:pt x="4909" y="169151"/>
                  </a:lnTo>
                  <a:lnTo>
                    <a:pt x="0" y="211836"/>
                  </a:lnTo>
                  <a:lnTo>
                    <a:pt x="4909" y="254527"/>
                  </a:lnTo>
                  <a:lnTo>
                    <a:pt x="18990" y="294291"/>
                  </a:lnTo>
                  <a:lnTo>
                    <a:pt x="41268" y="330274"/>
                  </a:lnTo>
                  <a:lnTo>
                    <a:pt x="70770" y="361626"/>
                  </a:lnTo>
                  <a:lnTo>
                    <a:pt x="106523" y="387493"/>
                  </a:lnTo>
                  <a:lnTo>
                    <a:pt x="147554" y="407024"/>
                  </a:lnTo>
                  <a:lnTo>
                    <a:pt x="192888" y="419368"/>
                  </a:lnTo>
                  <a:lnTo>
                    <a:pt x="241553" y="423672"/>
                  </a:lnTo>
                  <a:lnTo>
                    <a:pt x="290219" y="419368"/>
                  </a:lnTo>
                  <a:lnTo>
                    <a:pt x="335553" y="407024"/>
                  </a:lnTo>
                  <a:lnTo>
                    <a:pt x="376584" y="387493"/>
                  </a:lnTo>
                  <a:lnTo>
                    <a:pt x="412337" y="361626"/>
                  </a:lnTo>
                  <a:lnTo>
                    <a:pt x="441839" y="330274"/>
                  </a:lnTo>
                  <a:lnTo>
                    <a:pt x="464117" y="294291"/>
                  </a:lnTo>
                  <a:lnTo>
                    <a:pt x="478198" y="254527"/>
                  </a:lnTo>
                  <a:lnTo>
                    <a:pt x="483107" y="211836"/>
                  </a:lnTo>
                  <a:lnTo>
                    <a:pt x="478198" y="169151"/>
                  </a:lnTo>
                  <a:lnTo>
                    <a:pt x="464117" y="129391"/>
                  </a:lnTo>
                  <a:lnTo>
                    <a:pt x="441839" y="93408"/>
                  </a:lnTo>
                  <a:lnTo>
                    <a:pt x="412337" y="62055"/>
                  </a:lnTo>
                  <a:lnTo>
                    <a:pt x="376584" y="36185"/>
                  </a:lnTo>
                  <a:lnTo>
                    <a:pt x="335553" y="16650"/>
                  </a:lnTo>
                  <a:lnTo>
                    <a:pt x="290219" y="4304"/>
                  </a:lnTo>
                  <a:lnTo>
                    <a:pt x="2415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948671" y="5312664"/>
              <a:ext cx="483234" cy="424180"/>
            </a:xfrm>
            <a:custGeom>
              <a:avLst/>
              <a:gdLst/>
              <a:ahLst/>
              <a:cxnLst/>
              <a:rect l="l" t="t" r="r" b="b"/>
              <a:pathLst>
                <a:path w="483234" h="424179">
                  <a:moveTo>
                    <a:pt x="0" y="211836"/>
                  </a:moveTo>
                  <a:lnTo>
                    <a:pt x="4909" y="169151"/>
                  </a:lnTo>
                  <a:lnTo>
                    <a:pt x="18990" y="129391"/>
                  </a:lnTo>
                  <a:lnTo>
                    <a:pt x="41268" y="93408"/>
                  </a:lnTo>
                  <a:lnTo>
                    <a:pt x="70770" y="62055"/>
                  </a:lnTo>
                  <a:lnTo>
                    <a:pt x="106523" y="36185"/>
                  </a:lnTo>
                  <a:lnTo>
                    <a:pt x="147554" y="16650"/>
                  </a:lnTo>
                  <a:lnTo>
                    <a:pt x="192888" y="4304"/>
                  </a:lnTo>
                  <a:lnTo>
                    <a:pt x="241553" y="0"/>
                  </a:lnTo>
                  <a:lnTo>
                    <a:pt x="290219" y="4304"/>
                  </a:lnTo>
                  <a:lnTo>
                    <a:pt x="335553" y="16650"/>
                  </a:lnTo>
                  <a:lnTo>
                    <a:pt x="376584" y="36185"/>
                  </a:lnTo>
                  <a:lnTo>
                    <a:pt x="412337" y="62055"/>
                  </a:lnTo>
                  <a:lnTo>
                    <a:pt x="441839" y="93408"/>
                  </a:lnTo>
                  <a:lnTo>
                    <a:pt x="464117" y="129391"/>
                  </a:lnTo>
                  <a:lnTo>
                    <a:pt x="478198" y="169151"/>
                  </a:lnTo>
                  <a:lnTo>
                    <a:pt x="483107" y="211836"/>
                  </a:lnTo>
                  <a:lnTo>
                    <a:pt x="478198" y="254527"/>
                  </a:lnTo>
                  <a:lnTo>
                    <a:pt x="464117" y="294291"/>
                  </a:lnTo>
                  <a:lnTo>
                    <a:pt x="441839" y="330274"/>
                  </a:lnTo>
                  <a:lnTo>
                    <a:pt x="412337" y="361626"/>
                  </a:lnTo>
                  <a:lnTo>
                    <a:pt x="376584" y="387493"/>
                  </a:lnTo>
                  <a:lnTo>
                    <a:pt x="335553" y="407024"/>
                  </a:lnTo>
                  <a:lnTo>
                    <a:pt x="290219" y="419368"/>
                  </a:lnTo>
                  <a:lnTo>
                    <a:pt x="241553" y="423672"/>
                  </a:lnTo>
                  <a:lnTo>
                    <a:pt x="192888" y="419368"/>
                  </a:lnTo>
                  <a:lnTo>
                    <a:pt x="147554" y="407024"/>
                  </a:lnTo>
                  <a:lnTo>
                    <a:pt x="106523" y="387493"/>
                  </a:lnTo>
                  <a:lnTo>
                    <a:pt x="70770" y="361626"/>
                  </a:lnTo>
                  <a:lnTo>
                    <a:pt x="41268" y="330274"/>
                  </a:lnTo>
                  <a:lnTo>
                    <a:pt x="18990" y="294291"/>
                  </a:lnTo>
                  <a:lnTo>
                    <a:pt x="4909" y="254527"/>
                  </a:lnTo>
                  <a:lnTo>
                    <a:pt x="0" y="21183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0509503" y="5364480"/>
              <a:ext cx="457200" cy="391795"/>
            </a:xfrm>
            <a:custGeom>
              <a:avLst/>
              <a:gdLst/>
              <a:ahLst/>
              <a:cxnLst/>
              <a:rect l="l" t="t" r="r" b="b"/>
              <a:pathLst>
                <a:path w="457200" h="391795">
                  <a:moveTo>
                    <a:pt x="228600" y="0"/>
                  </a:moveTo>
                  <a:lnTo>
                    <a:pt x="176188" y="5169"/>
                  </a:lnTo>
                  <a:lnTo>
                    <a:pt x="128073" y="19896"/>
                  </a:lnTo>
                  <a:lnTo>
                    <a:pt x="85628" y="43007"/>
                  </a:lnTo>
                  <a:lnTo>
                    <a:pt x="50225" y="73329"/>
                  </a:lnTo>
                  <a:lnTo>
                    <a:pt x="23237" y="109690"/>
                  </a:lnTo>
                  <a:lnTo>
                    <a:pt x="6038" y="150915"/>
                  </a:lnTo>
                  <a:lnTo>
                    <a:pt x="0" y="195834"/>
                  </a:lnTo>
                  <a:lnTo>
                    <a:pt x="6038" y="240736"/>
                  </a:lnTo>
                  <a:lnTo>
                    <a:pt x="23237" y="281955"/>
                  </a:lnTo>
                  <a:lnTo>
                    <a:pt x="50225" y="318316"/>
                  </a:lnTo>
                  <a:lnTo>
                    <a:pt x="85628" y="348644"/>
                  </a:lnTo>
                  <a:lnTo>
                    <a:pt x="128073" y="371762"/>
                  </a:lnTo>
                  <a:lnTo>
                    <a:pt x="176188" y="386495"/>
                  </a:lnTo>
                  <a:lnTo>
                    <a:pt x="228600" y="391668"/>
                  </a:lnTo>
                  <a:lnTo>
                    <a:pt x="281011" y="386495"/>
                  </a:lnTo>
                  <a:lnTo>
                    <a:pt x="329126" y="371762"/>
                  </a:lnTo>
                  <a:lnTo>
                    <a:pt x="371571" y="348644"/>
                  </a:lnTo>
                  <a:lnTo>
                    <a:pt x="406974" y="318316"/>
                  </a:lnTo>
                  <a:lnTo>
                    <a:pt x="433962" y="281955"/>
                  </a:lnTo>
                  <a:lnTo>
                    <a:pt x="451161" y="240736"/>
                  </a:lnTo>
                  <a:lnTo>
                    <a:pt x="457200" y="195834"/>
                  </a:lnTo>
                  <a:lnTo>
                    <a:pt x="451161" y="150915"/>
                  </a:lnTo>
                  <a:lnTo>
                    <a:pt x="433962" y="109690"/>
                  </a:lnTo>
                  <a:lnTo>
                    <a:pt x="406974" y="73329"/>
                  </a:lnTo>
                  <a:lnTo>
                    <a:pt x="371571" y="43007"/>
                  </a:lnTo>
                  <a:lnTo>
                    <a:pt x="329126" y="19896"/>
                  </a:lnTo>
                  <a:lnTo>
                    <a:pt x="281011" y="516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0509503" y="5364480"/>
              <a:ext cx="457200" cy="391795"/>
            </a:xfrm>
            <a:custGeom>
              <a:avLst/>
              <a:gdLst/>
              <a:ahLst/>
              <a:cxnLst/>
              <a:rect l="l" t="t" r="r" b="b"/>
              <a:pathLst>
                <a:path w="457200" h="391795">
                  <a:moveTo>
                    <a:pt x="0" y="195834"/>
                  </a:moveTo>
                  <a:lnTo>
                    <a:pt x="6038" y="150915"/>
                  </a:lnTo>
                  <a:lnTo>
                    <a:pt x="23237" y="109690"/>
                  </a:lnTo>
                  <a:lnTo>
                    <a:pt x="50225" y="73329"/>
                  </a:lnTo>
                  <a:lnTo>
                    <a:pt x="85628" y="43007"/>
                  </a:lnTo>
                  <a:lnTo>
                    <a:pt x="128073" y="19896"/>
                  </a:lnTo>
                  <a:lnTo>
                    <a:pt x="176188" y="5169"/>
                  </a:lnTo>
                  <a:lnTo>
                    <a:pt x="228600" y="0"/>
                  </a:lnTo>
                  <a:lnTo>
                    <a:pt x="281011" y="5169"/>
                  </a:lnTo>
                  <a:lnTo>
                    <a:pt x="329126" y="19896"/>
                  </a:lnTo>
                  <a:lnTo>
                    <a:pt x="371571" y="43007"/>
                  </a:lnTo>
                  <a:lnTo>
                    <a:pt x="406974" y="73329"/>
                  </a:lnTo>
                  <a:lnTo>
                    <a:pt x="433962" y="109690"/>
                  </a:lnTo>
                  <a:lnTo>
                    <a:pt x="451161" y="150915"/>
                  </a:lnTo>
                  <a:lnTo>
                    <a:pt x="457200" y="195834"/>
                  </a:lnTo>
                  <a:lnTo>
                    <a:pt x="451161" y="240736"/>
                  </a:lnTo>
                  <a:lnTo>
                    <a:pt x="433962" y="281955"/>
                  </a:lnTo>
                  <a:lnTo>
                    <a:pt x="406974" y="318316"/>
                  </a:lnTo>
                  <a:lnTo>
                    <a:pt x="371571" y="348644"/>
                  </a:lnTo>
                  <a:lnTo>
                    <a:pt x="329126" y="371762"/>
                  </a:lnTo>
                  <a:lnTo>
                    <a:pt x="281011" y="386495"/>
                  </a:lnTo>
                  <a:lnTo>
                    <a:pt x="228600" y="391668"/>
                  </a:lnTo>
                  <a:lnTo>
                    <a:pt x="176188" y="386495"/>
                  </a:lnTo>
                  <a:lnTo>
                    <a:pt x="128073" y="371762"/>
                  </a:lnTo>
                  <a:lnTo>
                    <a:pt x="85628" y="348644"/>
                  </a:lnTo>
                  <a:lnTo>
                    <a:pt x="50225" y="318316"/>
                  </a:lnTo>
                  <a:lnTo>
                    <a:pt x="23237" y="281955"/>
                  </a:lnTo>
                  <a:lnTo>
                    <a:pt x="6038" y="240736"/>
                  </a:lnTo>
                  <a:lnTo>
                    <a:pt x="0" y="19583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0509503" y="4773168"/>
              <a:ext cx="439420" cy="452755"/>
            </a:xfrm>
            <a:custGeom>
              <a:avLst/>
              <a:gdLst/>
              <a:ahLst/>
              <a:cxnLst/>
              <a:rect l="l" t="t" r="r" b="b"/>
              <a:pathLst>
                <a:path w="439420" h="452754">
                  <a:moveTo>
                    <a:pt x="219455" y="0"/>
                  </a:moveTo>
                  <a:lnTo>
                    <a:pt x="175240" y="4598"/>
                  </a:lnTo>
                  <a:lnTo>
                    <a:pt x="134052" y="17787"/>
                  </a:lnTo>
                  <a:lnTo>
                    <a:pt x="96775" y="38656"/>
                  </a:lnTo>
                  <a:lnTo>
                    <a:pt x="64293" y="66293"/>
                  </a:lnTo>
                  <a:lnTo>
                    <a:pt x="37491" y="99789"/>
                  </a:lnTo>
                  <a:lnTo>
                    <a:pt x="17252" y="138231"/>
                  </a:lnTo>
                  <a:lnTo>
                    <a:pt x="4460" y="180710"/>
                  </a:lnTo>
                  <a:lnTo>
                    <a:pt x="0" y="226313"/>
                  </a:lnTo>
                  <a:lnTo>
                    <a:pt x="4460" y="271917"/>
                  </a:lnTo>
                  <a:lnTo>
                    <a:pt x="17252" y="314396"/>
                  </a:lnTo>
                  <a:lnTo>
                    <a:pt x="37491" y="352838"/>
                  </a:lnTo>
                  <a:lnTo>
                    <a:pt x="64293" y="386333"/>
                  </a:lnTo>
                  <a:lnTo>
                    <a:pt x="96775" y="413971"/>
                  </a:lnTo>
                  <a:lnTo>
                    <a:pt x="134052" y="434840"/>
                  </a:lnTo>
                  <a:lnTo>
                    <a:pt x="175240" y="448029"/>
                  </a:lnTo>
                  <a:lnTo>
                    <a:pt x="219455" y="452627"/>
                  </a:lnTo>
                  <a:lnTo>
                    <a:pt x="263671" y="448029"/>
                  </a:lnTo>
                  <a:lnTo>
                    <a:pt x="304859" y="434840"/>
                  </a:lnTo>
                  <a:lnTo>
                    <a:pt x="342136" y="413971"/>
                  </a:lnTo>
                  <a:lnTo>
                    <a:pt x="374618" y="386333"/>
                  </a:lnTo>
                  <a:lnTo>
                    <a:pt x="401420" y="352838"/>
                  </a:lnTo>
                  <a:lnTo>
                    <a:pt x="421659" y="314396"/>
                  </a:lnTo>
                  <a:lnTo>
                    <a:pt x="434451" y="271917"/>
                  </a:lnTo>
                  <a:lnTo>
                    <a:pt x="438912" y="226313"/>
                  </a:lnTo>
                  <a:lnTo>
                    <a:pt x="434451" y="180710"/>
                  </a:lnTo>
                  <a:lnTo>
                    <a:pt x="421659" y="138231"/>
                  </a:lnTo>
                  <a:lnTo>
                    <a:pt x="401420" y="99789"/>
                  </a:lnTo>
                  <a:lnTo>
                    <a:pt x="374618" y="66293"/>
                  </a:lnTo>
                  <a:lnTo>
                    <a:pt x="342136" y="38656"/>
                  </a:lnTo>
                  <a:lnTo>
                    <a:pt x="304859" y="17787"/>
                  </a:lnTo>
                  <a:lnTo>
                    <a:pt x="263671" y="4598"/>
                  </a:lnTo>
                  <a:lnTo>
                    <a:pt x="2194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0509503" y="4773168"/>
              <a:ext cx="439420" cy="452755"/>
            </a:xfrm>
            <a:custGeom>
              <a:avLst/>
              <a:gdLst/>
              <a:ahLst/>
              <a:cxnLst/>
              <a:rect l="l" t="t" r="r" b="b"/>
              <a:pathLst>
                <a:path w="439420" h="452754">
                  <a:moveTo>
                    <a:pt x="0" y="226313"/>
                  </a:moveTo>
                  <a:lnTo>
                    <a:pt x="4460" y="180710"/>
                  </a:lnTo>
                  <a:lnTo>
                    <a:pt x="17252" y="138231"/>
                  </a:lnTo>
                  <a:lnTo>
                    <a:pt x="37491" y="99789"/>
                  </a:lnTo>
                  <a:lnTo>
                    <a:pt x="64293" y="66293"/>
                  </a:lnTo>
                  <a:lnTo>
                    <a:pt x="96775" y="38656"/>
                  </a:lnTo>
                  <a:lnTo>
                    <a:pt x="134052" y="17787"/>
                  </a:lnTo>
                  <a:lnTo>
                    <a:pt x="175240" y="4598"/>
                  </a:lnTo>
                  <a:lnTo>
                    <a:pt x="219455" y="0"/>
                  </a:lnTo>
                  <a:lnTo>
                    <a:pt x="263671" y="4598"/>
                  </a:lnTo>
                  <a:lnTo>
                    <a:pt x="304859" y="17787"/>
                  </a:lnTo>
                  <a:lnTo>
                    <a:pt x="342136" y="38656"/>
                  </a:lnTo>
                  <a:lnTo>
                    <a:pt x="374618" y="66293"/>
                  </a:lnTo>
                  <a:lnTo>
                    <a:pt x="401420" y="99789"/>
                  </a:lnTo>
                  <a:lnTo>
                    <a:pt x="421659" y="138231"/>
                  </a:lnTo>
                  <a:lnTo>
                    <a:pt x="434451" y="180710"/>
                  </a:lnTo>
                  <a:lnTo>
                    <a:pt x="438912" y="226313"/>
                  </a:lnTo>
                  <a:lnTo>
                    <a:pt x="434451" y="271917"/>
                  </a:lnTo>
                  <a:lnTo>
                    <a:pt x="421659" y="314396"/>
                  </a:lnTo>
                  <a:lnTo>
                    <a:pt x="401420" y="352838"/>
                  </a:lnTo>
                  <a:lnTo>
                    <a:pt x="374618" y="386333"/>
                  </a:lnTo>
                  <a:lnTo>
                    <a:pt x="342136" y="413971"/>
                  </a:lnTo>
                  <a:lnTo>
                    <a:pt x="304859" y="434840"/>
                  </a:lnTo>
                  <a:lnTo>
                    <a:pt x="263671" y="448029"/>
                  </a:lnTo>
                  <a:lnTo>
                    <a:pt x="219455" y="452627"/>
                  </a:lnTo>
                  <a:lnTo>
                    <a:pt x="175240" y="448029"/>
                  </a:lnTo>
                  <a:lnTo>
                    <a:pt x="134052" y="434840"/>
                  </a:lnTo>
                  <a:lnTo>
                    <a:pt x="96775" y="413971"/>
                  </a:lnTo>
                  <a:lnTo>
                    <a:pt x="64293" y="386333"/>
                  </a:lnTo>
                  <a:lnTo>
                    <a:pt x="37491" y="352838"/>
                  </a:lnTo>
                  <a:lnTo>
                    <a:pt x="17252" y="314396"/>
                  </a:lnTo>
                  <a:lnTo>
                    <a:pt x="4460" y="271917"/>
                  </a:lnTo>
                  <a:lnTo>
                    <a:pt x="0" y="22631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963911" y="4815839"/>
              <a:ext cx="454659" cy="360045"/>
            </a:xfrm>
            <a:custGeom>
              <a:avLst/>
              <a:gdLst/>
              <a:ahLst/>
              <a:cxnLst/>
              <a:rect l="l" t="t" r="r" b="b"/>
              <a:pathLst>
                <a:path w="454659" h="360045">
                  <a:moveTo>
                    <a:pt x="227076" y="0"/>
                  </a:moveTo>
                  <a:lnTo>
                    <a:pt x="175028" y="4749"/>
                  </a:lnTo>
                  <a:lnTo>
                    <a:pt x="127240" y="18279"/>
                  </a:lnTo>
                  <a:lnTo>
                    <a:pt x="85077" y="39508"/>
                  </a:lnTo>
                  <a:lnTo>
                    <a:pt x="49905" y="67358"/>
                  </a:lnTo>
                  <a:lnTo>
                    <a:pt x="23091" y="100748"/>
                  </a:lnTo>
                  <a:lnTo>
                    <a:pt x="6000" y="138599"/>
                  </a:lnTo>
                  <a:lnTo>
                    <a:pt x="0" y="179832"/>
                  </a:lnTo>
                  <a:lnTo>
                    <a:pt x="6000" y="221064"/>
                  </a:lnTo>
                  <a:lnTo>
                    <a:pt x="23091" y="258915"/>
                  </a:lnTo>
                  <a:lnTo>
                    <a:pt x="49905" y="292305"/>
                  </a:lnTo>
                  <a:lnTo>
                    <a:pt x="85077" y="320155"/>
                  </a:lnTo>
                  <a:lnTo>
                    <a:pt x="127240" y="341384"/>
                  </a:lnTo>
                  <a:lnTo>
                    <a:pt x="175028" y="354914"/>
                  </a:lnTo>
                  <a:lnTo>
                    <a:pt x="227076" y="359664"/>
                  </a:lnTo>
                  <a:lnTo>
                    <a:pt x="279123" y="354914"/>
                  </a:lnTo>
                  <a:lnTo>
                    <a:pt x="326911" y="341384"/>
                  </a:lnTo>
                  <a:lnTo>
                    <a:pt x="369074" y="320155"/>
                  </a:lnTo>
                  <a:lnTo>
                    <a:pt x="404246" y="292305"/>
                  </a:lnTo>
                  <a:lnTo>
                    <a:pt x="431060" y="258915"/>
                  </a:lnTo>
                  <a:lnTo>
                    <a:pt x="448151" y="221064"/>
                  </a:lnTo>
                  <a:lnTo>
                    <a:pt x="454152" y="179832"/>
                  </a:lnTo>
                  <a:lnTo>
                    <a:pt x="448151" y="138599"/>
                  </a:lnTo>
                  <a:lnTo>
                    <a:pt x="431060" y="100748"/>
                  </a:lnTo>
                  <a:lnTo>
                    <a:pt x="404246" y="67358"/>
                  </a:lnTo>
                  <a:lnTo>
                    <a:pt x="369074" y="39508"/>
                  </a:lnTo>
                  <a:lnTo>
                    <a:pt x="326911" y="18279"/>
                  </a:lnTo>
                  <a:lnTo>
                    <a:pt x="279123" y="4749"/>
                  </a:lnTo>
                  <a:lnTo>
                    <a:pt x="227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963911" y="4815839"/>
              <a:ext cx="454659" cy="360045"/>
            </a:xfrm>
            <a:custGeom>
              <a:avLst/>
              <a:gdLst/>
              <a:ahLst/>
              <a:cxnLst/>
              <a:rect l="l" t="t" r="r" b="b"/>
              <a:pathLst>
                <a:path w="454659" h="360045">
                  <a:moveTo>
                    <a:pt x="0" y="179832"/>
                  </a:moveTo>
                  <a:lnTo>
                    <a:pt x="6000" y="138599"/>
                  </a:lnTo>
                  <a:lnTo>
                    <a:pt x="23091" y="100748"/>
                  </a:lnTo>
                  <a:lnTo>
                    <a:pt x="49905" y="67358"/>
                  </a:lnTo>
                  <a:lnTo>
                    <a:pt x="85077" y="39508"/>
                  </a:lnTo>
                  <a:lnTo>
                    <a:pt x="127240" y="18279"/>
                  </a:lnTo>
                  <a:lnTo>
                    <a:pt x="175028" y="4749"/>
                  </a:lnTo>
                  <a:lnTo>
                    <a:pt x="227076" y="0"/>
                  </a:lnTo>
                  <a:lnTo>
                    <a:pt x="279123" y="4749"/>
                  </a:lnTo>
                  <a:lnTo>
                    <a:pt x="326911" y="18279"/>
                  </a:lnTo>
                  <a:lnTo>
                    <a:pt x="369074" y="39508"/>
                  </a:lnTo>
                  <a:lnTo>
                    <a:pt x="404246" y="67358"/>
                  </a:lnTo>
                  <a:lnTo>
                    <a:pt x="431060" y="100748"/>
                  </a:lnTo>
                  <a:lnTo>
                    <a:pt x="448151" y="138599"/>
                  </a:lnTo>
                  <a:lnTo>
                    <a:pt x="454152" y="179832"/>
                  </a:lnTo>
                  <a:lnTo>
                    <a:pt x="448151" y="221064"/>
                  </a:lnTo>
                  <a:lnTo>
                    <a:pt x="431060" y="258915"/>
                  </a:lnTo>
                  <a:lnTo>
                    <a:pt x="404246" y="292305"/>
                  </a:lnTo>
                  <a:lnTo>
                    <a:pt x="369074" y="320155"/>
                  </a:lnTo>
                  <a:lnTo>
                    <a:pt x="326911" y="341384"/>
                  </a:lnTo>
                  <a:lnTo>
                    <a:pt x="279123" y="354914"/>
                  </a:lnTo>
                  <a:lnTo>
                    <a:pt x="227076" y="359664"/>
                  </a:lnTo>
                  <a:lnTo>
                    <a:pt x="175028" y="354914"/>
                  </a:lnTo>
                  <a:lnTo>
                    <a:pt x="127240" y="341384"/>
                  </a:lnTo>
                  <a:lnTo>
                    <a:pt x="85077" y="320155"/>
                  </a:lnTo>
                  <a:lnTo>
                    <a:pt x="49905" y="292305"/>
                  </a:lnTo>
                  <a:lnTo>
                    <a:pt x="23091" y="258915"/>
                  </a:lnTo>
                  <a:lnTo>
                    <a:pt x="6000" y="221064"/>
                  </a:lnTo>
                  <a:lnTo>
                    <a:pt x="0" y="17983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9991470" y="4818379"/>
            <a:ext cx="39433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450" spc="-35" b="1">
                <a:latin typeface="Tahoma"/>
                <a:cs typeface="Tahoma"/>
              </a:rPr>
              <a:t>Analysis</a:t>
            </a:r>
            <a:r>
              <a:rPr dirty="0" sz="450" spc="15" b="1">
                <a:latin typeface="Tahoma"/>
                <a:cs typeface="Tahoma"/>
              </a:rPr>
              <a:t> </a:t>
            </a:r>
            <a:r>
              <a:rPr dirty="0" sz="450" spc="-20" b="1">
                <a:latin typeface="Tahoma"/>
                <a:cs typeface="Tahoma"/>
              </a:rPr>
              <a:t>Cell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45" b="1">
                <a:latin typeface="Tahoma"/>
                <a:cs typeface="Tahoma"/>
              </a:rPr>
              <a:t>Immunity/Nut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25" b="1">
                <a:latin typeface="Tahoma"/>
                <a:cs typeface="Tahoma"/>
              </a:rPr>
              <a:t>rition</a:t>
            </a:r>
            <a:r>
              <a:rPr dirty="0" sz="450" spc="-30" b="1">
                <a:latin typeface="Tahoma"/>
                <a:cs typeface="Tahoma"/>
              </a:rPr>
              <a:t> </a:t>
            </a:r>
            <a:r>
              <a:rPr dirty="0" sz="450" spc="-10" b="1">
                <a:latin typeface="Tahoma"/>
                <a:cs typeface="Tahoma"/>
              </a:rPr>
              <a:t>during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10" b="1">
                <a:latin typeface="Tahoma"/>
                <a:cs typeface="Tahoma"/>
              </a:rPr>
              <a:t>Anticancer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10" b="1">
                <a:latin typeface="Tahoma"/>
                <a:cs typeface="Tahoma"/>
              </a:rPr>
              <a:t>Treatment</a:t>
            </a:r>
            <a:endParaRPr sz="45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570591" y="4850638"/>
            <a:ext cx="362585" cy="301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450" spc="-35" b="1">
                <a:latin typeface="Tahoma"/>
                <a:cs typeface="Tahoma"/>
              </a:rPr>
              <a:t>Identify</a:t>
            </a:r>
            <a:r>
              <a:rPr dirty="0" sz="450" spc="-15" b="1">
                <a:latin typeface="Tahoma"/>
                <a:cs typeface="Tahoma"/>
              </a:rPr>
              <a:t> </a:t>
            </a:r>
            <a:r>
              <a:rPr dirty="0" sz="450" spc="-25" b="1">
                <a:latin typeface="Tahoma"/>
                <a:cs typeface="Tahoma"/>
              </a:rPr>
              <a:t>the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40" b="1">
                <a:latin typeface="Tahoma"/>
                <a:cs typeface="Tahoma"/>
              </a:rPr>
              <a:t>Edema</a:t>
            </a:r>
            <a:r>
              <a:rPr dirty="0" sz="450" spc="-20" b="1">
                <a:latin typeface="Tahoma"/>
                <a:cs typeface="Tahoma"/>
              </a:rPr>
              <a:t> </a:t>
            </a:r>
            <a:r>
              <a:rPr dirty="0" sz="450" spc="-35" b="1">
                <a:latin typeface="Tahoma"/>
                <a:cs typeface="Tahoma"/>
              </a:rPr>
              <a:t>Site</a:t>
            </a:r>
            <a:r>
              <a:rPr dirty="0" sz="450" spc="-15" b="1">
                <a:latin typeface="Tahoma"/>
                <a:cs typeface="Tahoma"/>
              </a:rPr>
              <a:t> </a:t>
            </a:r>
            <a:r>
              <a:rPr dirty="0" sz="450" spc="-50" b="1">
                <a:latin typeface="Tahoma"/>
                <a:cs typeface="Tahoma"/>
              </a:rPr>
              <a:t>&amp;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10" b="1">
                <a:latin typeface="Tahoma"/>
                <a:cs typeface="Tahoma"/>
              </a:rPr>
              <a:t>Circulation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10" b="1">
                <a:latin typeface="Tahoma"/>
                <a:cs typeface="Tahoma"/>
              </a:rPr>
              <a:t>Status</a:t>
            </a:r>
            <a:endParaRPr sz="45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95643" y="5198745"/>
            <a:ext cx="4978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00" spc="-30" b="1">
                <a:latin typeface="Tahoma"/>
                <a:cs typeface="Tahoma"/>
              </a:rPr>
              <a:t>Clinical </a:t>
            </a:r>
            <a:r>
              <a:rPr dirty="0" sz="500" spc="-10" b="1">
                <a:latin typeface="Tahoma"/>
                <a:cs typeface="Tahoma"/>
              </a:rPr>
              <a:t>Follow-</a:t>
            </a:r>
            <a:r>
              <a:rPr dirty="0" sz="500" spc="-25" b="1">
                <a:latin typeface="Tahoma"/>
                <a:cs typeface="Tahoma"/>
              </a:rPr>
              <a:t>Up</a:t>
            </a:r>
            <a:r>
              <a:rPr dirty="0" sz="500" spc="-50" b="1">
                <a:latin typeface="Tahoma"/>
                <a:cs typeface="Tahoma"/>
              </a:rPr>
              <a:t> </a:t>
            </a:r>
            <a:r>
              <a:rPr dirty="0" sz="500" spc="-45" b="1">
                <a:latin typeface="Tahoma"/>
                <a:cs typeface="Tahoma"/>
              </a:rPr>
              <a:t>Management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40" b="1">
                <a:latin typeface="Tahoma"/>
                <a:cs typeface="Tahoma"/>
              </a:rPr>
              <a:t>while</a:t>
            </a:r>
            <a:r>
              <a:rPr dirty="0" sz="500" spc="-15" b="1">
                <a:latin typeface="Tahoma"/>
                <a:cs typeface="Tahoma"/>
              </a:rPr>
              <a:t> Immunity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10" b="1">
                <a:latin typeface="Tahoma"/>
                <a:cs typeface="Tahoma"/>
              </a:rPr>
              <a:t>Treatment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082788" y="5258816"/>
            <a:ext cx="579755" cy="254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500" spc="-30" b="1">
                <a:latin typeface="Tahoma"/>
                <a:cs typeface="Tahoma"/>
              </a:rPr>
              <a:t>Metabolic</a:t>
            </a:r>
            <a:r>
              <a:rPr dirty="0" sz="500" spc="10" b="1">
                <a:latin typeface="Tahoma"/>
                <a:cs typeface="Tahoma"/>
              </a:rPr>
              <a:t> </a:t>
            </a:r>
            <a:r>
              <a:rPr dirty="0" sz="500" spc="-35" b="1">
                <a:latin typeface="Tahoma"/>
                <a:cs typeface="Tahoma"/>
              </a:rPr>
              <a:t>Function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40" b="1">
                <a:latin typeface="Tahoma"/>
                <a:cs typeface="Tahoma"/>
              </a:rPr>
              <a:t>and</a:t>
            </a:r>
            <a:r>
              <a:rPr dirty="0" sz="500" spc="-35" b="1">
                <a:latin typeface="Tahoma"/>
                <a:cs typeface="Tahoma"/>
              </a:rPr>
              <a:t> </a:t>
            </a:r>
            <a:r>
              <a:rPr dirty="0" sz="500" spc="-10" b="1">
                <a:latin typeface="Tahoma"/>
                <a:cs typeface="Tahoma"/>
              </a:rPr>
              <a:t>Sarcopenia</a:t>
            </a:r>
            <a:r>
              <a:rPr dirty="0" sz="500" spc="500" b="1">
                <a:latin typeface="Tahoma"/>
                <a:cs typeface="Tahoma"/>
              </a:rPr>
              <a:t> </a:t>
            </a:r>
            <a:r>
              <a:rPr dirty="0" sz="500" spc="-10" b="1">
                <a:latin typeface="Tahoma"/>
                <a:cs typeface="Tahoma"/>
              </a:rPr>
              <a:t>Prevention</a:t>
            </a:r>
            <a:endParaRPr sz="50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950322" y="5393182"/>
            <a:ext cx="51371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450" spc="-30" b="1">
                <a:latin typeface="Tahoma"/>
                <a:cs typeface="Tahoma"/>
              </a:rPr>
              <a:t>Clinical</a:t>
            </a:r>
            <a:r>
              <a:rPr dirty="0" sz="450" spc="50" b="1">
                <a:latin typeface="Tahoma"/>
                <a:cs typeface="Tahoma"/>
              </a:rPr>
              <a:t> </a:t>
            </a:r>
            <a:r>
              <a:rPr dirty="0" sz="450" spc="-30" b="1">
                <a:latin typeface="Tahoma"/>
                <a:cs typeface="Tahoma"/>
              </a:rPr>
              <a:t>Follow-</a:t>
            </a:r>
            <a:r>
              <a:rPr dirty="0" sz="450" spc="-25" b="1">
                <a:latin typeface="Tahoma"/>
                <a:cs typeface="Tahoma"/>
              </a:rPr>
              <a:t>Up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40" b="1">
                <a:latin typeface="Tahoma"/>
                <a:cs typeface="Tahoma"/>
              </a:rPr>
              <a:t>Management</a:t>
            </a:r>
            <a:r>
              <a:rPr dirty="0" sz="450" spc="10" b="1">
                <a:latin typeface="Tahoma"/>
                <a:cs typeface="Tahoma"/>
              </a:rPr>
              <a:t> </a:t>
            </a:r>
            <a:r>
              <a:rPr dirty="0" sz="450" spc="-30" b="1">
                <a:latin typeface="Tahoma"/>
                <a:cs typeface="Tahoma"/>
              </a:rPr>
              <a:t>while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10" b="1">
                <a:latin typeface="Tahoma"/>
                <a:cs typeface="Tahoma"/>
              </a:rPr>
              <a:t>Immunity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10" b="1">
                <a:latin typeface="Tahoma"/>
                <a:cs typeface="Tahoma"/>
              </a:rPr>
              <a:t>Treatment</a:t>
            </a:r>
            <a:endParaRPr sz="45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596118" y="5396865"/>
            <a:ext cx="31432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450" spc="-10" b="1">
                <a:latin typeface="Tahoma"/>
                <a:cs typeface="Tahoma"/>
              </a:rPr>
              <a:t>Metabolic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10" b="1">
                <a:latin typeface="Tahoma"/>
                <a:cs typeface="Tahoma"/>
              </a:rPr>
              <a:t>Function&amp;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35" b="1">
                <a:latin typeface="Tahoma"/>
                <a:cs typeface="Tahoma"/>
              </a:rPr>
              <a:t>Sarcopenia</a:t>
            </a:r>
            <a:r>
              <a:rPr dirty="0" sz="450" spc="500" b="1">
                <a:latin typeface="Tahoma"/>
                <a:cs typeface="Tahoma"/>
              </a:rPr>
              <a:t> </a:t>
            </a:r>
            <a:r>
              <a:rPr dirty="0" sz="450" spc="-30" b="1">
                <a:latin typeface="Tahoma"/>
                <a:cs typeface="Tahoma"/>
              </a:rPr>
              <a:t>Prevention</a:t>
            </a:r>
            <a:endParaRPr sz="450">
              <a:latin typeface="Tahoma"/>
              <a:cs typeface="Tahom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771131" y="5908547"/>
            <a:ext cx="1896110" cy="220979"/>
            <a:chOff x="6771131" y="5908547"/>
            <a:chExt cx="1896110" cy="220979"/>
          </a:xfrm>
        </p:grpSpPr>
        <p:sp>
          <p:nvSpPr>
            <p:cNvPr id="78" name="object 78"/>
            <p:cNvSpPr/>
            <p:nvPr/>
          </p:nvSpPr>
          <p:spPr>
            <a:xfrm>
              <a:off x="6777227" y="5914643"/>
              <a:ext cx="1884045" cy="208915"/>
            </a:xfrm>
            <a:custGeom>
              <a:avLst/>
              <a:gdLst/>
              <a:ahLst/>
              <a:cxnLst/>
              <a:rect l="l" t="t" r="r" b="b"/>
              <a:pathLst>
                <a:path w="1884045" h="208914">
                  <a:moveTo>
                    <a:pt x="1883664" y="0"/>
                  </a:moveTo>
                  <a:lnTo>
                    <a:pt x="0" y="0"/>
                  </a:lnTo>
                  <a:lnTo>
                    <a:pt x="0" y="208787"/>
                  </a:lnTo>
                  <a:lnTo>
                    <a:pt x="1883664" y="208787"/>
                  </a:lnTo>
                  <a:lnTo>
                    <a:pt x="1883664" y="0"/>
                  </a:lnTo>
                  <a:close/>
                </a:path>
              </a:pathLst>
            </a:custGeom>
            <a:solidFill>
              <a:srgbClr val="1DB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777227" y="5914643"/>
              <a:ext cx="1884045" cy="208915"/>
            </a:xfrm>
            <a:custGeom>
              <a:avLst/>
              <a:gdLst/>
              <a:ahLst/>
              <a:cxnLst/>
              <a:rect l="l" t="t" r="r" b="b"/>
              <a:pathLst>
                <a:path w="1884045" h="208914">
                  <a:moveTo>
                    <a:pt x="0" y="208787"/>
                  </a:moveTo>
                  <a:lnTo>
                    <a:pt x="1883664" y="208787"/>
                  </a:lnTo>
                  <a:lnTo>
                    <a:pt x="1883664" y="0"/>
                  </a:lnTo>
                  <a:lnTo>
                    <a:pt x="0" y="0"/>
                  </a:lnTo>
                  <a:lnTo>
                    <a:pt x="0" y="208787"/>
                  </a:lnTo>
                  <a:close/>
                </a:path>
              </a:pathLst>
            </a:custGeom>
            <a:ln w="12191">
              <a:solidFill>
                <a:srgbClr val="1DB5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6468617" y="5887313"/>
            <a:ext cx="2407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Consult</a:t>
            </a:r>
            <a:r>
              <a:rPr dirty="0" sz="12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doctor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right</a:t>
            </a:r>
            <a:r>
              <a:rPr dirty="0"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now!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9752076" y="6030467"/>
            <a:ext cx="1513840" cy="106680"/>
            <a:chOff x="9752076" y="6030467"/>
            <a:chExt cx="1513840" cy="106680"/>
          </a:xfrm>
        </p:grpSpPr>
        <p:sp>
          <p:nvSpPr>
            <p:cNvPr id="81" name="object 81"/>
            <p:cNvSpPr/>
            <p:nvPr/>
          </p:nvSpPr>
          <p:spPr>
            <a:xfrm>
              <a:off x="9758172" y="6036563"/>
              <a:ext cx="1501140" cy="94615"/>
            </a:xfrm>
            <a:custGeom>
              <a:avLst/>
              <a:gdLst/>
              <a:ahLst/>
              <a:cxnLst/>
              <a:rect l="l" t="t" r="r" b="b"/>
              <a:pathLst>
                <a:path w="1501140" h="94614">
                  <a:moveTo>
                    <a:pt x="1501140" y="0"/>
                  </a:moveTo>
                  <a:lnTo>
                    <a:pt x="0" y="0"/>
                  </a:lnTo>
                  <a:lnTo>
                    <a:pt x="0" y="94488"/>
                  </a:lnTo>
                  <a:lnTo>
                    <a:pt x="1501140" y="94488"/>
                  </a:lnTo>
                  <a:lnTo>
                    <a:pt x="1501140" y="0"/>
                  </a:lnTo>
                  <a:close/>
                </a:path>
              </a:pathLst>
            </a:custGeom>
            <a:solidFill>
              <a:srgbClr val="1DB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9758172" y="6036563"/>
              <a:ext cx="1501140" cy="94615"/>
            </a:xfrm>
            <a:custGeom>
              <a:avLst/>
              <a:gdLst/>
              <a:ahLst/>
              <a:cxnLst/>
              <a:rect l="l" t="t" r="r" b="b"/>
              <a:pathLst>
                <a:path w="1501140" h="94614">
                  <a:moveTo>
                    <a:pt x="0" y="94488"/>
                  </a:moveTo>
                  <a:lnTo>
                    <a:pt x="1501140" y="94488"/>
                  </a:lnTo>
                  <a:lnTo>
                    <a:pt x="1501140" y="0"/>
                  </a:lnTo>
                  <a:lnTo>
                    <a:pt x="0" y="0"/>
                  </a:lnTo>
                  <a:lnTo>
                    <a:pt x="0" y="94488"/>
                  </a:lnTo>
                  <a:close/>
                </a:path>
              </a:pathLst>
            </a:custGeom>
            <a:ln w="12191">
              <a:solidFill>
                <a:srgbClr val="1DB5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23163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12192000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DDDF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2714" y="623239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 h="0">
                <a:moveTo>
                  <a:pt x="766952" y="0"/>
                </a:moveTo>
                <a:lnTo>
                  <a:pt x="0" y="0"/>
                </a:lnTo>
              </a:path>
            </a:pathLst>
          </a:custGeom>
          <a:ln w="22860">
            <a:solidFill>
              <a:srgbClr val="ACB3B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604" y="6443821"/>
            <a:ext cx="653088" cy="193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4123" y="6497802"/>
            <a:ext cx="320421" cy="754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3188" y="6476288"/>
            <a:ext cx="282701" cy="10021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1452" y="558199"/>
            <a:ext cx="720686" cy="20948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027010" y="2963036"/>
            <a:ext cx="2624455" cy="520700"/>
          </a:xfrm>
          <a:custGeom>
            <a:avLst/>
            <a:gdLst/>
            <a:ahLst/>
            <a:cxnLst/>
            <a:rect l="l" t="t" r="r" b="b"/>
            <a:pathLst>
              <a:path w="2624454" h="520700">
                <a:moveTo>
                  <a:pt x="912664" y="181737"/>
                </a:moveTo>
                <a:lnTo>
                  <a:pt x="807631" y="181737"/>
                </a:lnTo>
                <a:lnTo>
                  <a:pt x="818751" y="182637"/>
                </a:lnTo>
                <a:lnTo>
                  <a:pt x="828490" y="185324"/>
                </a:lnTo>
                <a:lnTo>
                  <a:pt x="855381" y="226071"/>
                </a:lnTo>
                <a:lnTo>
                  <a:pt x="856145" y="257175"/>
                </a:lnTo>
                <a:lnTo>
                  <a:pt x="832191" y="257720"/>
                </a:lnTo>
                <a:lnTo>
                  <a:pt x="810250" y="259349"/>
                </a:lnTo>
                <a:lnTo>
                  <a:pt x="772452" y="265811"/>
                </a:lnTo>
                <a:lnTo>
                  <a:pt x="729428" y="281187"/>
                </a:lnTo>
                <a:lnTo>
                  <a:pt x="694545" y="308832"/>
                </a:lnTo>
                <a:lnTo>
                  <a:pt x="680758" y="349503"/>
                </a:lnTo>
                <a:lnTo>
                  <a:pt x="681141" y="359100"/>
                </a:lnTo>
                <a:lnTo>
                  <a:pt x="682146" y="366902"/>
                </a:lnTo>
                <a:lnTo>
                  <a:pt x="682272" y="367877"/>
                </a:lnTo>
                <a:lnTo>
                  <a:pt x="699304" y="403856"/>
                </a:lnTo>
                <a:lnTo>
                  <a:pt x="731558" y="424179"/>
                </a:lnTo>
                <a:lnTo>
                  <a:pt x="765848" y="429260"/>
                </a:lnTo>
                <a:lnTo>
                  <a:pt x="773563" y="429093"/>
                </a:lnTo>
                <a:lnTo>
                  <a:pt x="812996" y="421378"/>
                </a:lnTo>
                <a:lnTo>
                  <a:pt x="846282" y="402318"/>
                </a:lnTo>
                <a:lnTo>
                  <a:pt x="862749" y="388620"/>
                </a:lnTo>
                <a:lnTo>
                  <a:pt x="925106" y="388620"/>
                </a:lnTo>
                <a:lnTo>
                  <a:pt x="925106" y="380618"/>
                </a:lnTo>
                <a:lnTo>
                  <a:pt x="787946" y="380618"/>
                </a:lnTo>
                <a:lnTo>
                  <a:pt x="779496" y="380118"/>
                </a:lnTo>
                <a:lnTo>
                  <a:pt x="772364" y="378713"/>
                </a:lnTo>
                <a:lnTo>
                  <a:pt x="772138" y="378713"/>
                </a:lnTo>
                <a:lnTo>
                  <a:pt x="765121" y="376118"/>
                </a:lnTo>
                <a:lnTo>
                  <a:pt x="759244" y="372617"/>
                </a:lnTo>
                <a:lnTo>
                  <a:pt x="754410" y="367877"/>
                </a:lnTo>
                <a:lnTo>
                  <a:pt x="750957" y="361838"/>
                </a:lnTo>
                <a:lnTo>
                  <a:pt x="748947" y="354711"/>
                </a:lnTo>
                <a:lnTo>
                  <a:pt x="748885" y="354490"/>
                </a:lnTo>
                <a:lnTo>
                  <a:pt x="748195" y="345821"/>
                </a:lnTo>
                <a:lnTo>
                  <a:pt x="748195" y="339471"/>
                </a:lnTo>
                <a:lnTo>
                  <a:pt x="749973" y="333628"/>
                </a:lnTo>
                <a:lnTo>
                  <a:pt x="753529" y="328295"/>
                </a:lnTo>
                <a:lnTo>
                  <a:pt x="756958" y="322834"/>
                </a:lnTo>
                <a:lnTo>
                  <a:pt x="794776" y="306339"/>
                </a:lnTo>
                <a:lnTo>
                  <a:pt x="841355" y="300595"/>
                </a:lnTo>
                <a:lnTo>
                  <a:pt x="856145" y="300354"/>
                </a:lnTo>
                <a:lnTo>
                  <a:pt x="925106" y="300354"/>
                </a:lnTo>
                <a:lnTo>
                  <a:pt x="925106" y="239522"/>
                </a:lnTo>
                <a:lnTo>
                  <a:pt x="917740" y="193801"/>
                </a:lnTo>
                <a:lnTo>
                  <a:pt x="913693" y="183703"/>
                </a:lnTo>
                <a:lnTo>
                  <a:pt x="912664" y="181737"/>
                </a:lnTo>
                <a:close/>
              </a:path>
              <a:path w="2624454" h="520700">
                <a:moveTo>
                  <a:pt x="925106" y="388620"/>
                </a:moveTo>
                <a:lnTo>
                  <a:pt x="862749" y="388620"/>
                </a:lnTo>
                <a:lnTo>
                  <a:pt x="869021" y="409193"/>
                </a:lnTo>
                <a:lnTo>
                  <a:pt x="871004" y="415543"/>
                </a:lnTo>
                <a:lnTo>
                  <a:pt x="873798" y="419608"/>
                </a:lnTo>
                <a:lnTo>
                  <a:pt x="881418" y="423672"/>
                </a:lnTo>
                <a:lnTo>
                  <a:pt x="886625" y="424688"/>
                </a:lnTo>
                <a:lnTo>
                  <a:pt x="925106" y="424688"/>
                </a:lnTo>
                <a:lnTo>
                  <a:pt x="925106" y="388620"/>
                </a:lnTo>
                <a:close/>
              </a:path>
              <a:path w="2624454" h="520700">
                <a:moveTo>
                  <a:pt x="925106" y="300354"/>
                </a:moveTo>
                <a:lnTo>
                  <a:pt x="856145" y="300354"/>
                </a:lnTo>
                <a:lnTo>
                  <a:pt x="856024" y="349503"/>
                </a:lnTo>
                <a:lnTo>
                  <a:pt x="851065" y="354711"/>
                </a:lnTo>
                <a:lnTo>
                  <a:pt x="845985" y="359283"/>
                </a:lnTo>
                <a:lnTo>
                  <a:pt x="835825" y="366902"/>
                </a:lnTo>
                <a:lnTo>
                  <a:pt x="830618" y="370204"/>
                </a:lnTo>
                <a:lnTo>
                  <a:pt x="825157" y="372745"/>
                </a:lnTo>
                <a:lnTo>
                  <a:pt x="819823" y="375412"/>
                </a:lnTo>
                <a:lnTo>
                  <a:pt x="813981" y="377316"/>
                </a:lnTo>
                <a:lnTo>
                  <a:pt x="807885" y="378713"/>
                </a:lnTo>
                <a:lnTo>
                  <a:pt x="801789" y="379984"/>
                </a:lnTo>
                <a:lnTo>
                  <a:pt x="795185" y="380618"/>
                </a:lnTo>
                <a:lnTo>
                  <a:pt x="925106" y="380618"/>
                </a:lnTo>
                <a:lnTo>
                  <a:pt x="925106" y="300354"/>
                </a:lnTo>
                <a:close/>
              </a:path>
              <a:path w="2624454" h="520700">
                <a:moveTo>
                  <a:pt x="816521" y="125984"/>
                </a:moveTo>
                <a:lnTo>
                  <a:pt x="782092" y="128887"/>
                </a:lnTo>
                <a:lnTo>
                  <a:pt x="750258" y="137588"/>
                </a:lnTo>
                <a:lnTo>
                  <a:pt x="721044" y="152076"/>
                </a:lnTo>
                <a:lnTo>
                  <a:pt x="694474" y="172338"/>
                </a:lnTo>
                <a:lnTo>
                  <a:pt x="707229" y="194817"/>
                </a:lnTo>
                <a:lnTo>
                  <a:pt x="723176" y="207772"/>
                </a:lnTo>
                <a:lnTo>
                  <a:pt x="733590" y="207772"/>
                </a:lnTo>
                <a:lnTo>
                  <a:pt x="738323" y="206501"/>
                </a:lnTo>
                <a:lnTo>
                  <a:pt x="738567" y="206501"/>
                </a:lnTo>
                <a:lnTo>
                  <a:pt x="743623" y="203708"/>
                </a:lnTo>
                <a:lnTo>
                  <a:pt x="753529" y="198120"/>
                </a:lnTo>
                <a:lnTo>
                  <a:pt x="759244" y="194817"/>
                </a:lnTo>
                <a:lnTo>
                  <a:pt x="764832" y="191388"/>
                </a:lnTo>
                <a:lnTo>
                  <a:pt x="771436" y="188467"/>
                </a:lnTo>
                <a:lnTo>
                  <a:pt x="807631" y="181737"/>
                </a:lnTo>
                <a:lnTo>
                  <a:pt x="912664" y="181737"/>
                </a:lnTo>
                <a:lnTo>
                  <a:pt x="908802" y="174355"/>
                </a:lnTo>
                <a:lnTo>
                  <a:pt x="880973" y="144557"/>
                </a:lnTo>
                <a:lnTo>
                  <a:pt x="840825" y="128142"/>
                </a:lnTo>
                <a:lnTo>
                  <a:pt x="829024" y="126527"/>
                </a:lnTo>
                <a:lnTo>
                  <a:pt x="816521" y="125984"/>
                </a:lnTo>
                <a:close/>
              </a:path>
              <a:path w="2624454" h="520700">
                <a:moveTo>
                  <a:pt x="2175294" y="126873"/>
                </a:moveTo>
                <a:lnTo>
                  <a:pt x="2129413" y="132820"/>
                </a:lnTo>
                <a:lnTo>
                  <a:pt x="2090727" y="150272"/>
                </a:lnTo>
                <a:lnTo>
                  <a:pt x="2060777" y="177754"/>
                </a:lnTo>
                <a:lnTo>
                  <a:pt x="2040293" y="214884"/>
                </a:lnTo>
                <a:lnTo>
                  <a:pt x="2030524" y="260586"/>
                </a:lnTo>
                <a:lnTo>
                  <a:pt x="2029879" y="277495"/>
                </a:lnTo>
                <a:lnTo>
                  <a:pt x="2030524" y="294497"/>
                </a:lnTo>
                <a:lnTo>
                  <a:pt x="2040293" y="340360"/>
                </a:lnTo>
                <a:lnTo>
                  <a:pt x="2060777" y="377703"/>
                </a:lnTo>
                <a:lnTo>
                  <a:pt x="2090727" y="405511"/>
                </a:lnTo>
                <a:lnTo>
                  <a:pt x="2129413" y="422985"/>
                </a:lnTo>
                <a:lnTo>
                  <a:pt x="2175294" y="428878"/>
                </a:lnTo>
                <a:lnTo>
                  <a:pt x="2191369" y="428232"/>
                </a:lnTo>
                <a:lnTo>
                  <a:pt x="2234857" y="418338"/>
                </a:lnTo>
                <a:lnTo>
                  <a:pt x="2270540" y="397371"/>
                </a:lnTo>
                <a:lnTo>
                  <a:pt x="2291451" y="374650"/>
                </a:lnTo>
                <a:lnTo>
                  <a:pt x="2175294" y="374650"/>
                </a:lnTo>
                <a:lnTo>
                  <a:pt x="2157957" y="373104"/>
                </a:lnTo>
                <a:lnTo>
                  <a:pt x="2120548" y="350012"/>
                </a:lnTo>
                <a:lnTo>
                  <a:pt x="2103886" y="300291"/>
                </a:lnTo>
                <a:lnTo>
                  <a:pt x="2102777" y="278002"/>
                </a:lnTo>
                <a:lnTo>
                  <a:pt x="2103874" y="255855"/>
                </a:lnTo>
                <a:lnTo>
                  <a:pt x="2120430" y="205866"/>
                </a:lnTo>
                <a:lnTo>
                  <a:pt x="2157934" y="182417"/>
                </a:lnTo>
                <a:lnTo>
                  <a:pt x="2175294" y="180848"/>
                </a:lnTo>
                <a:lnTo>
                  <a:pt x="2291501" y="180848"/>
                </a:lnTo>
                <a:lnTo>
                  <a:pt x="2289353" y="177754"/>
                </a:lnTo>
                <a:lnTo>
                  <a:pt x="2259653" y="150272"/>
                </a:lnTo>
                <a:lnTo>
                  <a:pt x="2221139" y="132820"/>
                </a:lnTo>
                <a:lnTo>
                  <a:pt x="2191369" y="127537"/>
                </a:lnTo>
                <a:lnTo>
                  <a:pt x="2175294" y="126873"/>
                </a:lnTo>
                <a:close/>
              </a:path>
              <a:path w="2624454" h="520700">
                <a:moveTo>
                  <a:pt x="2291501" y="180848"/>
                </a:moveTo>
                <a:lnTo>
                  <a:pt x="2175294" y="180848"/>
                </a:lnTo>
                <a:lnTo>
                  <a:pt x="2192399" y="182417"/>
                </a:lnTo>
                <a:lnTo>
                  <a:pt x="2207148" y="187118"/>
                </a:lnTo>
                <a:lnTo>
                  <a:pt x="2237190" y="219602"/>
                </a:lnTo>
                <a:lnTo>
                  <a:pt x="2247024" y="277495"/>
                </a:lnTo>
                <a:lnTo>
                  <a:pt x="2247049" y="278002"/>
                </a:lnTo>
                <a:lnTo>
                  <a:pt x="2245953" y="300291"/>
                </a:lnTo>
                <a:lnTo>
                  <a:pt x="2229523" y="350012"/>
                </a:lnTo>
                <a:lnTo>
                  <a:pt x="2192393" y="373104"/>
                </a:lnTo>
                <a:lnTo>
                  <a:pt x="2175294" y="374650"/>
                </a:lnTo>
                <a:lnTo>
                  <a:pt x="2291451" y="374650"/>
                </a:lnTo>
                <a:lnTo>
                  <a:pt x="2309660" y="340360"/>
                </a:lnTo>
                <a:lnTo>
                  <a:pt x="2319304" y="294497"/>
                </a:lnTo>
                <a:lnTo>
                  <a:pt x="2319927" y="278002"/>
                </a:lnTo>
                <a:lnTo>
                  <a:pt x="2319947" y="277495"/>
                </a:lnTo>
                <a:lnTo>
                  <a:pt x="2314160" y="229292"/>
                </a:lnTo>
                <a:lnTo>
                  <a:pt x="2297198" y="189055"/>
                </a:lnTo>
                <a:lnTo>
                  <a:pt x="2291501" y="180848"/>
                </a:lnTo>
                <a:close/>
              </a:path>
              <a:path w="2624454" h="520700">
                <a:moveTo>
                  <a:pt x="2439327" y="131445"/>
                </a:moveTo>
                <a:lnTo>
                  <a:pt x="2368715" y="131445"/>
                </a:lnTo>
                <a:lnTo>
                  <a:pt x="2368715" y="317753"/>
                </a:lnTo>
                <a:lnTo>
                  <a:pt x="2375192" y="362838"/>
                </a:lnTo>
                <a:lnTo>
                  <a:pt x="2394242" y="398017"/>
                </a:lnTo>
                <a:lnTo>
                  <a:pt x="2425230" y="421132"/>
                </a:lnTo>
                <a:lnTo>
                  <a:pt x="2467648" y="429260"/>
                </a:lnTo>
                <a:lnTo>
                  <a:pt x="2474789" y="429069"/>
                </a:lnTo>
                <a:lnTo>
                  <a:pt x="2525941" y="414400"/>
                </a:lnTo>
                <a:lnTo>
                  <a:pt x="2558199" y="388365"/>
                </a:lnTo>
                <a:lnTo>
                  <a:pt x="2624239" y="388365"/>
                </a:lnTo>
                <a:lnTo>
                  <a:pt x="2624239" y="374014"/>
                </a:lnTo>
                <a:lnTo>
                  <a:pt x="2489111" y="374014"/>
                </a:lnTo>
                <a:lnTo>
                  <a:pt x="2477419" y="373108"/>
                </a:lnTo>
                <a:lnTo>
                  <a:pt x="2442454" y="341582"/>
                </a:lnTo>
                <a:lnTo>
                  <a:pt x="2439327" y="317753"/>
                </a:lnTo>
                <a:lnTo>
                  <a:pt x="2439327" y="131445"/>
                </a:lnTo>
                <a:close/>
              </a:path>
              <a:path w="2624454" h="520700">
                <a:moveTo>
                  <a:pt x="2624239" y="388365"/>
                </a:moveTo>
                <a:lnTo>
                  <a:pt x="2558199" y="388365"/>
                </a:lnTo>
                <a:lnTo>
                  <a:pt x="2562923" y="411241"/>
                </a:lnTo>
                <a:lnTo>
                  <a:pt x="2563025" y="411734"/>
                </a:lnTo>
                <a:lnTo>
                  <a:pt x="2565946" y="420370"/>
                </a:lnTo>
                <a:lnTo>
                  <a:pt x="2571915" y="424688"/>
                </a:lnTo>
                <a:lnTo>
                  <a:pt x="2624239" y="424688"/>
                </a:lnTo>
                <a:lnTo>
                  <a:pt x="2624239" y="388365"/>
                </a:lnTo>
                <a:close/>
              </a:path>
              <a:path w="2624454" h="520700">
                <a:moveTo>
                  <a:pt x="2624239" y="131445"/>
                </a:moveTo>
                <a:lnTo>
                  <a:pt x="2553627" y="131445"/>
                </a:lnTo>
                <a:lnTo>
                  <a:pt x="2553627" y="343535"/>
                </a:lnTo>
                <a:lnTo>
                  <a:pt x="2546386" y="350295"/>
                </a:lnTo>
                <a:lnTo>
                  <a:pt x="2506827" y="371998"/>
                </a:lnTo>
                <a:lnTo>
                  <a:pt x="2489111" y="374014"/>
                </a:lnTo>
                <a:lnTo>
                  <a:pt x="2624239" y="374014"/>
                </a:lnTo>
                <a:lnTo>
                  <a:pt x="2624239" y="131445"/>
                </a:lnTo>
                <a:close/>
              </a:path>
              <a:path w="2624454" h="520700">
                <a:moveTo>
                  <a:pt x="1777022" y="131445"/>
                </a:moveTo>
                <a:lnTo>
                  <a:pt x="1709585" y="131445"/>
                </a:lnTo>
                <a:lnTo>
                  <a:pt x="1828203" y="402971"/>
                </a:lnTo>
                <a:lnTo>
                  <a:pt x="1773339" y="520318"/>
                </a:lnTo>
                <a:lnTo>
                  <a:pt x="1832775" y="520318"/>
                </a:lnTo>
                <a:lnTo>
                  <a:pt x="1837855" y="519049"/>
                </a:lnTo>
                <a:lnTo>
                  <a:pt x="1925081" y="328040"/>
                </a:lnTo>
                <a:lnTo>
                  <a:pt x="1863382" y="328040"/>
                </a:lnTo>
                <a:lnTo>
                  <a:pt x="1862239" y="322707"/>
                </a:lnTo>
                <a:lnTo>
                  <a:pt x="1791373" y="144652"/>
                </a:lnTo>
                <a:lnTo>
                  <a:pt x="1781467" y="132841"/>
                </a:lnTo>
                <a:lnTo>
                  <a:pt x="1777022" y="131445"/>
                </a:lnTo>
                <a:close/>
              </a:path>
              <a:path w="2624454" h="520700">
                <a:moveTo>
                  <a:pt x="2009051" y="131445"/>
                </a:moveTo>
                <a:lnTo>
                  <a:pt x="1948091" y="131445"/>
                </a:lnTo>
                <a:lnTo>
                  <a:pt x="1943760" y="132841"/>
                </a:lnTo>
                <a:lnTo>
                  <a:pt x="1943973" y="132841"/>
                </a:lnTo>
                <a:lnTo>
                  <a:pt x="1940725" y="135127"/>
                </a:lnTo>
                <a:lnTo>
                  <a:pt x="1874177" y="296290"/>
                </a:lnTo>
                <a:lnTo>
                  <a:pt x="1870330" y="306704"/>
                </a:lnTo>
                <a:lnTo>
                  <a:pt x="1868335" y="312038"/>
                </a:lnTo>
                <a:lnTo>
                  <a:pt x="1866517" y="317373"/>
                </a:lnTo>
                <a:lnTo>
                  <a:pt x="1864906" y="322579"/>
                </a:lnTo>
                <a:lnTo>
                  <a:pt x="1863382" y="328040"/>
                </a:lnTo>
                <a:lnTo>
                  <a:pt x="1925081" y="328040"/>
                </a:lnTo>
                <a:lnTo>
                  <a:pt x="2009051" y="131445"/>
                </a:lnTo>
                <a:close/>
              </a:path>
              <a:path w="2624454" h="520700">
                <a:moveTo>
                  <a:pt x="1046314" y="131480"/>
                </a:moveTo>
                <a:lnTo>
                  <a:pt x="994067" y="131480"/>
                </a:lnTo>
                <a:lnTo>
                  <a:pt x="994067" y="424688"/>
                </a:lnTo>
                <a:lnTo>
                  <a:pt x="1064552" y="424688"/>
                </a:lnTo>
                <a:lnTo>
                  <a:pt x="1064552" y="212598"/>
                </a:lnTo>
                <a:lnTo>
                  <a:pt x="1071812" y="205833"/>
                </a:lnTo>
                <a:lnTo>
                  <a:pt x="1111478" y="183816"/>
                </a:lnTo>
                <a:lnTo>
                  <a:pt x="1129195" y="181737"/>
                </a:lnTo>
                <a:lnTo>
                  <a:pt x="1238795" y="181737"/>
                </a:lnTo>
                <a:lnTo>
                  <a:pt x="1235128" y="174069"/>
                </a:lnTo>
                <a:lnTo>
                  <a:pt x="1231164" y="167512"/>
                </a:lnTo>
                <a:lnTo>
                  <a:pt x="1059980" y="167512"/>
                </a:lnTo>
                <a:lnTo>
                  <a:pt x="1055266" y="144811"/>
                </a:lnTo>
                <a:lnTo>
                  <a:pt x="1055154" y="144272"/>
                </a:lnTo>
                <a:lnTo>
                  <a:pt x="1052360" y="135762"/>
                </a:lnTo>
                <a:lnTo>
                  <a:pt x="1046314" y="131480"/>
                </a:lnTo>
                <a:close/>
              </a:path>
              <a:path w="2624454" h="520700">
                <a:moveTo>
                  <a:pt x="1238795" y="181737"/>
                </a:moveTo>
                <a:lnTo>
                  <a:pt x="1129195" y="181737"/>
                </a:lnTo>
                <a:lnTo>
                  <a:pt x="1140815" y="182663"/>
                </a:lnTo>
                <a:lnTo>
                  <a:pt x="1150912" y="185435"/>
                </a:lnTo>
                <a:lnTo>
                  <a:pt x="1178088" y="225329"/>
                </a:lnTo>
                <a:lnTo>
                  <a:pt x="1178852" y="237998"/>
                </a:lnTo>
                <a:lnTo>
                  <a:pt x="1178852" y="424688"/>
                </a:lnTo>
                <a:lnTo>
                  <a:pt x="1249464" y="424688"/>
                </a:lnTo>
                <a:lnTo>
                  <a:pt x="1249464" y="237998"/>
                </a:lnTo>
                <a:lnTo>
                  <a:pt x="1249061" y="225972"/>
                </a:lnTo>
                <a:lnTo>
                  <a:pt x="1247860" y="214471"/>
                </a:lnTo>
                <a:lnTo>
                  <a:pt x="1245874" y="203493"/>
                </a:lnTo>
                <a:lnTo>
                  <a:pt x="1243114" y="193039"/>
                </a:lnTo>
                <a:lnTo>
                  <a:pt x="1239496" y="183203"/>
                </a:lnTo>
                <a:lnTo>
                  <a:pt x="1238795" y="181737"/>
                </a:lnTo>
                <a:close/>
              </a:path>
              <a:path w="2624454" h="520700">
                <a:moveTo>
                  <a:pt x="1150658" y="126873"/>
                </a:moveTo>
                <a:lnTo>
                  <a:pt x="1106970" y="134365"/>
                </a:lnTo>
                <a:lnTo>
                  <a:pt x="1099604" y="138049"/>
                </a:lnTo>
                <a:lnTo>
                  <a:pt x="1092238" y="141604"/>
                </a:lnTo>
                <a:lnTo>
                  <a:pt x="1085380" y="145923"/>
                </a:lnTo>
                <a:lnTo>
                  <a:pt x="1072172" y="155828"/>
                </a:lnTo>
                <a:lnTo>
                  <a:pt x="1065949" y="161416"/>
                </a:lnTo>
                <a:lnTo>
                  <a:pt x="1059980" y="167512"/>
                </a:lnTo>
                <a:lnTo>
                  <a:pt x="1231164" y="167512"/>
                </a:lnTo>
                <a:lnTo>
                  <a:pt x="1202081" y="139501"/>
                </a:lnTo>
                <a:lnTo>
                  <a:pt x="1162306" y="127392"/>
                </a:lnTo>
                <a:lnTo>
                  <a:pt x="1150658" y="126873"/>
                </a:lnTo>
                <a:close/>
              </a:path>
              <a:path w="2624454" h="520700">
                <a:moveTo>
                  <a:pt x="201739" y="74549"/>
                </a:moveTo>
                <a:lnTo>
                  <a:pt x="124879" y="74549"/>
                </a:lnTo>
                <a:lnTo>
                  <a:pt x="124879" y="424688"/>
                </a:lnTo>
                <a:lnTo>
                  <a:pt x="201739" y="424688"/>
                </a:lnTo>
                <a:lnTo>
                  <a:pt x="201739" y="74549"/>
                </a:lnTo>
                <a:close/>
              </a:path>
              <a:path w="2624454" h="520700">
                <a:moveTo>
                  <a:pt x="326047" y="11429"/>
                </a:moveTo>
                <a:lnTo>
                  <a:pt x="0" y="11429"/>
                </a:lnTo>
                <a:lnTo>
                  <a:pt x="0" y="74549"/>
                </a:lnTo>
                <a:lnTo>
                  <a:pt x="326047" y="74549"/>
                </a:lnTo>
                <a:lnTo>
                  <a:pt x="326047" y="11429"/>
                </a:lnTo>
                <a:close/>
              </a:path>
              <a:path w="2624454" h="520700">
                <a:moveTo>
                  <a:pt x="1390053" y="0"/>
                </a:moveTo>
                <a:lnTo>
                  <a:pt x="1319441" y="0"/>
                </a:lnTo>
                <a:lnTo>
                  <a:pt x="1319441" y="424688"/>
                </a:lnTo>
                <a:lnTo>
                  <a:pt x="1390053" y="424688"/>
                </a:lnTo>
                <a:lnTo>
                  <a:pt x="1390053" y="290322"/>
                </a:lnTo>
                <a:lnTo>
                  <a:pt x="1497903" y="290322"/>
                </a:lnTo>
                <a:lnTo>
                  <a:pt x="1472603" y="260096"/>
                </a:lnTo>
                <a:lnTo>
                  <a:pt x="1476667" y="257555"/>
                </a:lnTo>
                <a:lnTo>
                  <a:pt x="1480350" y="254635"/>
                </a:lnTo>
                <a:lnTo>
                  <a:pt x="1487208" y="248030"/>
                </a:lnTo>
                <a:lnTo>
                  <a:pt x="1490510" y="244348"/>
                </a:lnTo>
                <a:lnTo>
                  <a:pt x="1491438" y="243204"/>
                </a:lnTo>
                <a:lnTo>
                  <a:pt x="1390053" y="243204"/>
                </a:lnTo>
                <a:lnTo>
                  <a:pt x="1390053" y="0"/>
                </a:lnTo>
                <a:close/>
              </a:path>
              <a:path w="2624454" h="520700">
                <a:moveTo>
                  <a:pt x="1497903" y="290322"/>
                </a:moveTo>
                <a:lnTo>
                  <a:pt x="1411770" y="290322"/>
                </a:lnTo>
                <a:lnTo>
                  <a:pt x="1416088" y="290957"/>
                </a:lnTo>
                <a:lnTo>
                  <a:pt x="1418882" y="292353"/>
                </a:lnTo>
                <a:lnTo>
                  <a:pt x="1421803" y="293624"/>
                </a:lnTo>
                <a:lnTo>
                  <a:pt x="1424597" y="296545"/>
                </a:lnTo>
                <a:lnTo>
                  <a:pt x="1427518" y="300863"/>
                </a:lnTo>
                <a:lnTo>
                  <a:pt x="1505115" y="416687"/>
                </a:lnTo>
                <a:lnTo>
                  <a:pt x="1508544" y="419862"/>
                </a:lnTo>
                <a:lnTo>
                  <a:pt x="1516164" y="423672"/>
                </a:lnTo>
                <a:lnTo>
                  <a:pt x="1520863" y="424688"/>
                </a:lnTo>
                <a:lnTo>
                  <a:pt x="1590078" y="424688"/>
                </a:lnTo>
                <a:lnTo>
                  <a:pt x="1497903" y="290322"/>
                </a:lnTo>
                <a:close/>
              </a:path>
              <a:path w="2624454" h="520700">
                <a:moveTo>
                  <a:pt x="1584998" y="131445"/>
                </a:moveTo>
                <a:lnTo>
                  <a:pt x="1514513" y="131445"/>
                </a:lnTo>
                <a:lnTo>
                  <a:pt x="1509687" y="132587"/>
                </a:lnTo>
                <a:lnTo>
                  <a:pt x="1506131" y="134747"/>
                </a:lnTo>
                <a:lnTo>
                  <a:pt x="1502448" y="136905"/>
                </a:lnTo>
                <a:lnTo>
                  <a:pt x="1499019" y="139953"/>
                </a:lnTo>
                <a:lnTo>
                  <a:pt x="1495844" y="143763"/>
                </a:lnTo>
                <a:lnTo>
                  <a:pt x="1422946" y="233807"/>
                </a:lnTo>
                <a:lnTo>
                  <a:pt x="1419898" y="237362"/>
                </a:lnTo>
                <a:lnTo>
                  <a:pt x="1416977" y="239902"/>
                </a:lnTo>
                <a:lnTo>
                  <a:pt x="1414310" y="241173"/>
                </a:lnTo>
                <a:lnTo>
                  <a:pt x="1411643" y="242570"/>
                </a:lnTo>
                <a:lnTo>
                  <a:pt x="1407960" y="243204"/>
                </a:lnTo>
                <a:lnTo>
                  <a:pt x="1491438" y="243204"/>
                </a:lnTo>
                <a:lnTo>
                  <a:pt x="1493812" y="240284"/>
                </a:lnTo>
                <a:lnTo>
                  <a:pt x="1584998" y="131445"/>
                </a:lnTo>
                <a:close/>
              </a:path>
              <a:path w="2624454" h="520700">
                <a:moveTo>
                  <a:pt x="441236" y="0"/>
                </a:moveTo>
                <a:lnTo>
                  <a:pt x="370751" y="0"/>
                </a:lnTo>
                <a:lnTo>
                  <a:pt x="370751" y="424688"/>
                </a:lnTo>
                <a:lnTo>
                  <a:pt x="441236" y="424688"/>
                </a:lnTo>
                <a:lnTo>
                  <a:pt x="441236" y="212598"/>
                </a:lnTo>
                <a:lnTo>
                  <a:pt x="448496" y="205833"/>
                </a:lnTo>
                <a:lnTo>
                  <a:pt x="488162" y="183816"/>
                </a:lnTo>
                <a:lnTo>
                  <a:pt x="505879" y="181737"/>
                </a:lnTo>
                <a:lnTo>
                  <a:pt x="615479" y="181737"/>
                </a:lnTo>
                <a:lnTo>
                  <a:pt x="611812" y="174069"/>
                </a:lnTo>
                <a:lnTo>
                  <a:pt x="606707" y="165625"/>
                </a:lnTo>
                <a:lnTo>
                  <a:pt x="604881" y="163195"/>
                </a:lnTo>
                <a:lnTo>
                  <a:pt x="441236" y="163195"/>
                </a:lnTo>
                <a:lnTo>
                  <a:pt x="441236" y="0"/>
                </a:lnTo>
                <a:close/>
              </a:path>
              <a:path w="2624454" h="520700">
                <a:moveTo>
                  <a:pt x="615479" y="181737"/>
                </a:moveTo>
                <a:lnTo>
                  <a:pt x="505879" y="181737"/>
                </a:lnTo>
                <a:lnTo>
                  <a:pt x="517499" y="182663"/>
                </a:lnTo>
                <a:lnTo>
                  <a:pt x="527596" y="185435"/>
                </a:lnTo>
                <a:lnTo>
                  <a:pt x="554772" y="225329"/>
                </a:lnTo>
                <a:lnTo>
                  <a:pt x="555536" y="237998"/>
                </a:lnTo>
                <a:lnTo>
                  <a:pt x="555536" y="424688"/>
                </a:lnTo>
                <a:lnTo>
                  <a:pt x="626148" y="424688"/>
                </a:lnTo>
                <a:lnTo>
                  <a:pt x="626148" y="237998"/>
                </a:lnTo>
                <a:lnTo>
                  <a:pt x="625745" y="225972"/>
                </a:lnTo>
                <a:lnTo>
                  <a:pt x="624544" y="214471"/>
                </a:lnTo>
                <a:lnTo>
                  <a:pt x="622558" y="203493"/>
                </a:lnTo>
                <a:lnTo>
                  <a:pt x="619798" y="193039"/>
                </a:lnTo>
                <a:lnTo>
                  <a:pt x="616180" y="183203"/>
                </a:lnTo>
                <a:lnTo>
                  <a:pt x="615479" y="181737"/>
                </a:lnTo>
                <a:close/>
              </a:path>
              <a:path w="2624454" h="520700">
                <a:moveTo>
                  <a:pt x="527342" y="126873"/>
                </a:moveTo>
                <a:lnTo>
                  <a:pt x="478955" y="136905"/>
                </a:lnTo>
                <a:lnTo>
                  <a:pt x="441236" y="163195"/>
                </a:lnTo>
                <a:lnTo>
                  <a:pt x="604881" y="163195"/>
                </a:lnTo>
                <a:lnTo>
                  <a:pt x="569887" y="135000"/>
                </a:lnTo>
                <a:lnTo>
                  <a:pt x="539708" y="127494"/>
                </a:lnTo>
                <a:lnTo>
                  <a:pt x="541257" y="127494"/>
                </a:lnTo>
                <a:lnTo>
                  <a:pt x="527342" y="126873"/>
                </a:lnTo>
                <a:close/>
              </a:path>
            </a:pathLst>
          </a:custGeom>
          <a:solidFill>
            <a:srgbClr val="3939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8144256" y="4486652"/>
            <a:ext cx="4048125" cy="2371725"/>
            <a:chOff x="8144256" y="4486652"/>
            <a:chExt cx="4048125" cy="2371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5601" y="6476212"/>
              <a:ext cx="280289" cy="1002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44256" y="4486652"/>
              <a:ext cx="4047744" cy="23713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:title>PowerPoint 프레젠테이션</dc:title>
  <dcterms:created xsi:type="dcterms:W3CDTF">2026-10-19T11:01:02Z</dcterms:created>
  <dcterms:modified xsi:type="dcterms:W3CDTF">2026-10-19T11:01:02Z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2025-07-18T00:00:00Z</vt:filetime>
  </property>
  <property fmtid="{D5CDD505-2E9C-101B-9397-08002B2CF9AE}" pid="4" name="Creator">
    <vt:lpwstr>Microsoft® PowerPoint® 2013</vt:lpwstr>
  </property>
  <property fmtid="{D5CDD505-2E9C-101B-9397-08002B2CF9AE}" pid="5" name="LastSaved">
    <vt:filetime>2026-10-19T00:00:00Z</vt:filetime>
  </property>
  <property fmtid="{D5CDD505-2E9C-101B-9397-08002B2CF9AE}" pid="6" name="Producer">
    <vt:lpwstr>3-Heights(TM) PDF Security Shell 4.8.25.2 (http://www.pdf-tools.com)</vt:lpwstr>
  </property>
</Properties>
</file>